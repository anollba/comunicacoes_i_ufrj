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59" r:id="rId5"/>
    <p:sldId id="498" r:id="rId6"/>
    <p:sldId id="510" r:id="rId7"/>
    <p:sldId id="499" r:id="rId8"/>
    <p:sldId id="500" r:id="rId9"/>
    <p:sldId id="506" r:id="rId10"/>
    <p:sldId id="507" r:id="rId11"/>
    <p:sldId id="512" r:id="rId12"/>
    <p:sldId id="508" r:id="rId13"/>
    <p:sldId id="511" r:id="rId14"/>
    <p:sldId id="513" r:id="rId15"/>
    <p:sldId id="514" r:id="rId16"/>
    <p:sldId id="515" r:id="rId17"/>
    <p:sldId id="517" r:id="rId18"/>
    <p:sldId id="518" r:id="rId19"/>
    <p:sldId id="519" r:id="rId20"/>
    <p:sldId id="520" r:id="rId21"/>
    <p:sldId id="521" r:id="rId22"/>
    <p:sldId id="522" r:id="rId23"/>
    <p:sldId id="523" r:id="rId24"/>
    <p:sldId id="524" r:id="rId25"/>
    <p:sldId id="525" r:id="rId26"/>
    <p:sldId id="526" r:id="rId27"/>
    <p:sldId id="527" r:id="rId28"/>
    <p:sldId id="528" r:id="rId29"/>
    <p:sldId id="529" r:id="rId30"/>
    <p:sldId id="530" r:id="rId31"/>
    <p:sldId id="531" r:id="rId32"/>
    <p:sldId id="533" r:id="rId33"/>
    <p:sldId id="532" r:id="rId34"/>
    <p:sldId id="534" r:id="rId35"/>
    <p:sldId id="535" r:id="rId36"/>
    <p:sldId id="536" r:id="rId37"/>
    <p:sldId id="538" r:id="rId38"/>
    <p:sldId id="537" r:id="rId39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6F45CC5-03A4-427B-927A-123D5694A762}">
          <p14:sldIdLst>
            <p14:sldId id="259"/>
          </p14:sldIdLst>
        </p14:section>
        <p14:section name="Seção sem Título" id="{0AF02E1A-BA6A-4459-AB01-C48EDF29A88E}">
          <p14:sldIdLst>
            <p14:sldId id="498"/>
            <p14:sldId id="510"/>
            <p14:sldId id="499"/>
            <p14:sldId id="500"/>
            <p14:sldId id="506"/>
            <p14:sldId id="507"/>
            <p14:sldId id="512"/>
            <p14:sldId id="508"/>
            <p14:sldId id="511"/>
            <p14:sldId id="513"/>
            <p14:sldId id="514"/>
            <p14:sldId id="515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3"/>
            <p14:sldId id="532"/>
            <p14:sldId id="534"/>
            <p14:sldId id="535"/>
            <p14:sldId id="536"/>
            <p14:sldId id="538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B71"/>
    <a:srgbClr val="FFFFFF"/>
    <a:srgbClr val="FF00FF"/>
    <a:srgbClr val="72BF44"/>
    <a:srgbClr val="C9252C"/>
    <a:srgbClr val="DDDDDD"/>
    <a:srgbClr val="221B6F"/>
    <a:srgbClr val="231F20"/>
    <a:srgbClr val="1A203F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368" y="36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26/10/2026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26/10/2026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10.bin"/><Relationship Id="rId26" Type="http://schemas.openxmlformats.org/officeDocument/2006/relationships/image" Target="../media/image15.wmf"/><Relationship Id="rId3" Type="http://schemas.openxmlformats.org/officeDocument/2006/relationships/image" Target="../media/image4.wmf"/><Relationship Id="rId21" Type="http://schemas.openxmlformats.org/officeDocument/2006/relationships/oleObject" Target="../embeddings/oleObject12.bin"/><Relationship Id="rId7" Type="http://schemas.openxmlformats.org/officeDocument/2006/relationships/image" Target="../media/image6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1.wmf"/><Relationship Id="rId25" Type="http://schemas.openxmlformats.org/officeDocument/2006/relationships/oleObject" Target="../embeddings/oleObject14.bin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wmf"/><Relationship Id="rId24" Type="http://schemas.openxmlformats.org/officeDocument/2006/relationships/image" Target="../media/image14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23" Type="http://schemas.openxmlformats.org/officeDocument/2006/relationships/oleObject" Target="../embeddings/oleObject13.bin"/><Relationship Id="rId28" Type="http://schemas.openxmlformats.org/officeDocument/2006/relationships/image" Target="../media/image16.wmf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1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8.bin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9.w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1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9.png"/><Relationship Id="rId4" Type="http://schemas.openxmlformats.org/officeDocument/2006/relationships/image" Target="../media/image2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30.wmf"/><Relationship Id="rId7" Type="http://schemas.openxmlformats.org/officeDocument/2006/relationships/oleObject" Target="../embeddings/oleObject30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wmf"/><Relationship Id="rId10" Type="http://schemas.openxmlformats.org/officeDocument/2006/relationships/image" Target="../media/image34.wmf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8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9" Type="http://schemas.openxmlformats.org/officeDocument/2006/relationships/image" Target="../media/image57.wmf"/><Relationship Id="rId21" Type="http://schemas.openxmlformats.org/officeDocument/2006/relationships/image" Target="../media/image48.wmf"/><Relationship Id="rId34" Type="http://schemas.openxmlformats.org/officeDocument/2006/relationships/oleObject" Target="../embeddings/oleObject52.bin"/><Relationship Id="rId7" Type="http://schemas.openxmlformats.org/officeDocument/2006/relationships/image" Target="../media/image41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29" Type="http://schemas.openxmlformats.org/officeDocument/2006/relationships/image" Target="../media/image52.wmf"/><Relationship Id="rId41" Type="http://schemas.openxmlformats.org/officeDocument/2006/relationships/image" Target="../media/image58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3.w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1.bin"/><Relationship Id="rId37" Type="http://schemas.openxmlformats.org/officeDocument/2006/relationships/image" Target="../media/image56.wmf"/><Relationship Id="rId40" Type="http://schemas.openxmlformats.org/officeDocument/2006/relationships/oleObject" Target="../embeddings/oleObject55.bin"/><Relationship Id="rId5" Type="http://schemas.openxmlformats.org/officeDocument/2006/relationships/image" Target="../media/image40.wmf"/><Relationship Id="rId15" Type="http://schemas.openxmlformats.org/officeDocument/2006/relationships/image" Target="../media/image45.wmf"/><Relationship Id="rId23" Type="http://schemas.openxmlformats.org/officeDocument/2006/relationships/image" Target="../media/image49.wmf"/><Relationship Id="rId28" Type="http://schemas.openxmlformats.org/officeDocument/2006/relationships/oleObject" Target="../embeddings/oleObject49.bin"/><Relationship Id="rId36" Type="http://schemas.openxmlformats.org/officeDocument/2006/relationships/oleObject" Target="../embeddings/oleObject53.bin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47.wmf"/><Relationship Id="rId31" Type="http://schemas.openxmlformats.org/officeDocument/2006/relationships/image" Target="../media/image53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51.wmf"/><Relationship Id="rId30" Type="http://schemas.openxmlformats.org/officeDocument/2006/relationships/oleObject" Target="../embeddings/oleObject50.bin"/><Relationship Id="rId35" Type="http://schemas.openxmlformats.org/officeDocument/2006/relationships/image" Target="../media/image55.wmf"/><Relationship Id="rId8" Type="http://schemas.openxmlformats.org/officeDocument/2006/relationships/oleObject" Target="../embeddings/oleObject39.bin"/><Relationship Id="rId3" Type="http://schemas.openxmlformats.org/officeDocument/2006/relationships/image" Target="../media/image39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46.wmf"/><Relationship Id="rId25" Type="http://schemas.openxmlformats.org/officeDocument/2006/relationships/image" Target="../media/image50.wmf"/><Relationship Id="rId33" Type="http://schemas.openxmlformats.org/officeDocument/2006/relationships/image" Target="../media/image54.wmf"/><Relationship Id="rId38" Type="http://schemas.openxmlformats.org/officeDocument/2006/relationships/oleObject" Target="../embeddings/oleObject5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7" Type="http://schemas.openxmlformats.org/officeDocument/2006/relationships/image" Target="../media/image65.e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64.emf"/><Relationship Id="rId4" Type="http://schemas.openxmlformats.org/officeDocument/2006/relationships/oleObject" Target="../embeddings/oleObject6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71.emf"/><Relationship Id="rId18" Type="http://schemas.openxmlformats.org/officeDocument/2006/relationships/oleObject" Target="../embeddings/oleObject71.bin"/><Relationship Id="rId3" Type="http://schemas.openxmlformats.org/officeDocument/2006/relationships/image" Target="../media/image66.emf"/><Relationship Id="rId21" Type="http://schemas.openxmlformats.org/officeDocument/2006/relationships/image" Target="../media/image75.emf"/><Relationship Id="rId7" Type="http://schemas.openxmlformats.org/officeDocument/2006/relationships/image" Target="../media/image68.e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73.emf"/><Relationship Id="rId2" Type="http://schemas.openxmlformats.org/officeDocument/2006/relationships/oleObject" Target="../embeddings/oleObject63.bin"/><Relationship Id="rId16" Type="http://schemas.openxmlformats.org/officeDocument/2006/relationships/oleObject" Target="../embeddings/oleObject70.bin"/><Relationship Id="rId20" Type="http://schemas.openxmlformats.org/officeDocument/2006/relationships/oleObject" Target="../embeddings/oleObject7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70.emf"/><Relationship Id="rId5" Type="http://schemas.openxmlformats.org/officeDocument/2006/relationships/image" Target="../media/image67.emf"/><Relationship Id="rId15" Type="http://schemas.openxmlformats.org/officeDocument/2006/relationships/image" Target="../media/image72.emf"/><Relationship Id="rId23" Type="http://schemas.openxmlformats.org/officeDocument/2006/relationships/image" Target="../media/image76.emf"/><Relationship Id="rId10" Type="http://schemas.openxmlformats.org/officeDocument/2006/relationships/oleObject" Target="../embeddings/oleObject67.bin"/><Relationship Id="rId19" Type="http://schemas.openxmlformats.org/officeDocument/2006/relationships/image" Target="../media/image74.e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9.emf"/><Relationship Id="rId14" Type="http://schemas.openxmlformats.org/officeDocument/2006/relationships/oleObject" Target="../embeddings/oleObject69.bin"/><Relationship Id="rId22" Type="http://schemas.openxmlformats.org/officeDocument/2006/relationships/oleObject" Target="../embeddings/oleObject7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82.emf"/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12" Type="http://schemas.openxmlformats.org/officeDocument/2006/relationships/oleObject" Target="../embeddings/oleObject79.bin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81.emf"/><Relationship Id="rId5" Type="http://schemas.openxmlformats.org/officeDocument/2006/relationships/image" Target="../media/image78.emf"/><Relationship Id="rId15" Type="http://schemas.openxmlformats.org/officeDocument/2006/relationships/image" Target="../media/image84.png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0.emf"/><Relationship Id="rId14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wmf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2.bin"/><Relationship Id="rId3" Type="http://schemas.openxmlformats.org/officeDocument/2006/relationships/image" Target="../media/image85.wmf"/><Relationship Id="rId21" Type="http://schemas.openxmlformats.org/officeDocument/2006/relationships/image" Target="../media/image94.emf"/><Relationship Id="rId34" Type="http://schemas.openxmlformats.org/officeDocument/2006/relationships/oleObject" Target="../embeddings/oleObject96.bin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92.emf"/><Relationship Id="rId25" Type="http://schemas.openxmlformats.org/officeDocument/2006/relationships/image" Target="../media/image96.emf"/><Relationship Id="rId33" Type="http://schemas.openxmlformats.org/officeDocument/2006/relationships/image" Target="../media/image100.e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29" Type="http://schemas.openxmlformats.org/officeDocument/2006/relationships/image" Target="../media/image98.e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9.wmf"/><Relationship Id="rId24" Type="http://schemas.openxmlformats.org/officeDocument/2006/relationships/oleObject" Target="../embeddings/oleObject91.bin"/><Relationship Id="rId32" Type="http://schemas.openxmlformats.org/officeDocument/2006/relationships/oleObject" Target="../embeddings/oleObject95.bin"/><Relationship Id="rId5" Type="http://schemas.openxmlformats.org/officeDocument/2006/relationships/image" Target="../media/image86.wmf"/><Relationship Id="rId15" Type="http://schemas.openxmlformats.org/officeDocument/2006/relationships/image" Target="../media/image91.wmf"/><Relationship Id="rId23" Type="http://schemas.openxmlformats.org/officeDocument/2006/relationships/image" Target="../media/image95.emf"/><Relationship Id="rId28" Type="http://schemas.openxmlformats.org/officeDocument/2006/relationships/oleObject" Target="../embeddings/oleObject93.bin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93.emf"/><Relationship Id="rId31" Type="http://schemas.openxmlformats.org/officeDocument/2006/relationships/image" Target="../media/image99.e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Relationship Id="rId27" Type="http://schemas.openxmlformats.org/officeDocument/2006/relationships/image" Target="../media/image97.emf"/><Relationship Id="rId30" Type="http://schemas.openxmlformats.org/officeDocument/2006/relationships/oleObject" Target="../embeddings/oleObject94.bin"/><Relationship Id="rId35" Type="http://schemas.openxmlformats.org/officeDocument/2006/relationships/image" Target="../media/image101.emf"/><Relationship Id="rId8" Type="http://schemas.openxmlformats.org/officeDocument/2006/relationships/oleObject" Target="../embeddings/oleObject83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wmf"/><Relationship Id="rId18" Type="http://schemas.openxmlformats.org/officeDocument/2006/relationships/oleObject" Target="../embeddings/oleObject98.bin"/><Relationship Id="rId26" Type="http://schemas.openxmlformats.org/officeDocument/2006/relationships/oleObject" Target="../embeddings/oleObject102.bin"/><Relationship Id="rId3" Type="http://schemas.openxmlformats.org/officeDocument/2006/relationships/image" Target="../media/image85.wmf"/><Relationship Id="rId21" Type="http://schemas.openxmlformats.org/officeDocument/2006/relationships/image" Target="../media/image104.emf"/><Relationship Id="rId34" Type="http://schemas.openxmlformats.org/officeDocument/2006/relationships/oleObject" Target="../embeddings/oleObject106.bin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102.emf"/><Relationship Id="rId25" Type="http://schemas.openxmlformats.org/officeDocument/2006/relationships/image" Target="../media/image106.emf"/><Relationship Id="rId33" Type="http://schemas.openxmlformats.org/officeDocument/2006/relationships/image" Target="../media/image110.e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97.bin"/><Relationship Id="rId20" Type="http://schemas.openxmlformats.org/officeDocument/2006/relationships/oleObject" Target="../embeddings/oleObject99.bin"/><Relationship Id="rId29" Type="http://schemas.openxmlformats.org/officeDocument/2006/relationships/image" Target="../media/image108.e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9.wmf"/><Relationship Id="rId24" Type="http://schemas.openxmlformats.org/officeDocument/2006/relationships/oleObject" Target="../embeddings/oleObject101.bin"/><Relationship Id="rId32" Type="http://schemas.openxmlformats.org/officeDocument/2006/relationships/oleObject" Target="../embeddings/oleObject105.bin"/><Relationship Id="rId5" Type="http://schemas.openxmlformats.org/officeDocument/2006/relationships/image" Target="../media/image86.wmf"/><Relationship Id="rId15" Type="http://schemas.openxmlformats.org/officeDocument/2006/relationships/image" Target="../media/image91.wmf"/><Relationship Id="rId23" Type="http://schemas.openxmlformats.org/officeDocument/2006/relationships/image" Target="../media/image105.emf"/><Relationship Id="rId28" Type="http://schemas.openxmlformats.org/officeDocument/2006/relationships/oleObject" Target="../embeddings/oleObject103.bin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103.emf"/><Relationship Id="rId31" Type="http://schemas.openxmlformats.org/officeDocument/2006/relationships/image" Target="../media/image109.e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100.bin"/><Relationship Id="rId27" Type="http://schemas.openxmlformats.org/officeDocument/2006/relationships/image" Target="../media/image107.emf"/><Relationship Id="rId30" Type="http://schemas.openxmlformats.org/officeDocument/2006/relationships/oleObject" Target="../embeddings/oleObject104.bin"/><Relationship Id="rId35" Type="http://schemas.openxmlformats.org/officeDocument/2006/relationships/image" Target="../media/image111.emf"/><Relationship Id="rId8" Type="http://schemas.openxmlformats.org/officeDocument/2006/relationships/oleObject" Target="../embeddings/oleObject8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7.wmf"/><Relationship Id="rId18" Type="http://schemas.openxmlformats.org/officeDocument/2006/relationships/oleObject" Target="../embeddings/oleObject110.bin"/><Relationship Id="rId3" Type="http://schemas.openxmlformats.org/officeDocument/2006/relationships/image" Target="../media/image88.wmf"/><Relationship Id="rId21" Type="http://schemas.openxmlformats.org/officeDocument/2006/relationships/image" Target="../media/image119.emf"/><Relationship Id="rId7" Type="http://schemas.openxmlformats.org/officeDocument/2006/relationships/image" Target="../media/image90.wmf"/><Relationship Id="rId12" Type="http://schemas.openxmlformats.org/officeDocument/2006/relationships/oleObject" Target="../embeddings/oleObject107.bin"/><Relationship Id="rId17" Type="http://schemas.openxmlformats.org/officeDocument/2006/relationships/image" Target="../media/image117.emf"/><Relationship Id="rId2" Type="http://schemas.openxmlformats.org/officeDocument/2006/relationships/oleObject" Target="../embeddings/oleObject83.bin"/><Relationship Id="rId16" Type="http://schemas.openxmlformats.org/officeDocument/2006/relationships/oleObject" Target="../embeddings/oleObject109.bin"/><Relationship Id="rId20" Type="http://schemas.openxmlformats.org/officeDocument/2006/relationships/oleObject" Target="../embeddings/oleObject11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86.wmf"/><Relationship Id="rId24" Type="http://schemas.openxmlformats.org/officeDocument/2006/relationships/image" Target="../media/image120.emf"/><Relationship Id="rId5" Type="http://schemas.openxmlformats.org/officeDocument/2006/relationships/image" Target="../media/image89.wmf"/><Relationship Id="rId15" Type="http://schemas.openxmlformats.org/officeDocument/2006/relationships/image" Target="../media/image91.wmf"/><Relationship Id="rId23" Type="http://schemas.openxmlformats.org/officeDocument/2006/relationships/oleObject" Target="../embeddings/oleObject113.bin"/><Relationship Id="rId10" Type="http://schemas.openxmlformats.org/officeDocument/2006/relationships/oleObject" Target="../embeddings/oleObject81.bin"/><Relationship Id="rId19" Type="http://schemas.openxmlformats.org/officeDocument/2006/relationships/image" Target="../media/image118.emf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108.bin"/><Relationship Id="rId22" Type="http://schemas.openxmlformats.org/officeDocument/2006/relationships/oleObject" Target="../embeddings/oleObject11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5.wmf"/><Relationship Id="rId12" Type="http://schemas.openxmlformats.org/officeDocument/2006/relationships/oleObject" Target="../embeddings/oleObject119.bin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27.wmf"/><Relationship Id="rId5" Type="http://schemas.openxmlformats.org/officeDocument/2006/relationships/image" Target="../media/image124.w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2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40.wmf"/><Relationship Id="rId3" Type="http://schemas.openxmlformats.org/officeDocument/2006/relationships/oleObject" Target="../embeddings/oleObject122.bin"/><Relationship Id="rId21" Type="http://schemas.openxmlformats.org/officeDocument/2006/relationships/oleObject" Target="../embeddings/oleObject131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37.wmf"/><Relationship Id="rId17" Type="http://schemas.openxmlformats.org/officeDocument/2006/relationships/oleObject" Target="../embeddings/oleObject129.bin"/><Relationship Id="rId2" Type="http://schemas.openxmlformats.org/officeDocument/2006/relationships/image" Target="../media/image132.png"/><Relationship Id="rId16" Type="http://schemas.openxmlformats.org/officeDocument/2006/relationships/image" Target="../media/image139.wmf"/><Relationship Id="rId20" Type="http://schemas.openxmlformats.org/officeDocument/2006/relationships/image" Target="../media/image141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23" Type="http://schemas.openxmlformats.org/officeDocument/2006/relationships/image" Target="../media/image142.png"/><Relationship Id="rId10" Type="http://schemas.openxmlformats.org/officeDocument/2006/relationships/image" Target="../media/image136.wmf"/><Relationship Id="rId19" Type="http://schemas.openxmlformats.org/officeDocument/2006/relationships/oleObject" Target="../embeddings/oleObject130.bin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38.wmf"/><Relationship Id="rId22" Type="http://schemas.openxmlformats.org/officeDocument/2006/relationships/oleObject" Target="../embeddings/oleObject13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44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Pulse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 err="1"/>
              <a:t>Modulation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64B1-CBCF-301C-BF03-CD24FCDE0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10898-B91F-2D7F-9217-6AFE522A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Pulse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 err="1"/>
              <a:t>Modulation</a:t>
            </a:r>
            <a:r>
              <a:rPr lang="pt-BR" dirty="0"/>
              <a:t> (PCM)</a:t>
            </a:r>
            <a:br>
              <a:rPr lang="pt-BR" dirty="0"/>
            </a:br>
            <a:endParaRPr lang="pt-BR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C6E6B96-0E51-E458-CBAA-4D9BF16BB48F}"/>
              </a:ext>
            </a:extLst>
          </p:cNvPr>
          <p:cNvSpPr txBox="1">
            <a:spLocks noChangeArrowheads="1"/>
          </p:cNvSpPr>
          <p:nvPr/>
        </p:nvSpPr>
        <p:spPr>
          <a:xfrm>
            <a:off x="1909731" y="4079876"/>
            <a:ext cx="8299450" cy="21244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0000"/>
              </a:lnSpc>
            </a:pPr>
            <a:endParaRPr lang="en-US" sz="18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1800" dirty="0" err="1"/>
              <a:t>Amostragem</a:t>
            </a:r>
            <a:r>
              <a:rPr lang="en-US" sz="1800" dirty="0"/>
              <a:t> (</a:t>
            </a:r>
            <a:r>
              <a:rPr lang="en-US" sz="1800" dirty="0" err="1"/>
              <a:t>eixo</a:t>
            </a:r>
            <a:r>
              <a:rPr lang="en-US" sz="1800" dirty="0"/>
              <a:t> do tempo)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1800" dirty="0"/>
              <a:t>+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1800" dirty="0" err="1"/>
              <a:t>Quantização</a:t>
            </a:r>
            <a:r>
              <a:rPr lang="en-US" sz="1800" dirty="0"/>
              <a:t> (</a:t>
            </a:r>
            <a:r>
              <a:rPr lang="en-US" sz="1800" dirty="0" err="1"/>
              <a:t>eixo</a:t>
            </a:r>
            <a:r>
              <a:rPr lang="en-US" sz="1800" dirty="0"/>
              <a:t> de </a:t>
            </a:r>
            <a:r>
              <a:rPr lang="en-US" sz="1800" dirty="0" err="1"/>
              <a:t>valores</a:t>
            </a:r>
            <a:r>
              <a:rPr lang="en-US" sz="1800" dirty="0"/>
              <a:t>)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1800" dirty="0"/>
              <a:t>=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70C0"/>
                </a:solidFill>
              </a:rPr>
              <a:t>Pulse code Modulation (PCM)</a:t>
            </a:r>
          </a:p>
        </p:txBody>
      </p:sp>
      <p:sp>
        <p:nvSpPr>
          <p:cNvPr id="7" name="Text Box 75">
            <a:extLst>
              <a:ext uri="{FF2B5EF4-FFF2-40B4-BE49-F238E27FC236}">
                <a16:creationId xmlns:a16="http://schemas.microsoft.com/office/drawing/2014/main" id="{C763845F-3C1D-2BA8-55E5-D58D0D39C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0" y="1192214"/>
            <a:ext cx="127002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>
                <a:solidFill>
                  <a:schemeClr val="hlink"/>
                </a:solidFill>
              </a:rPr>
              <a:t>Sinal analógico</a:t>
            </a:r>
          </a:p>
        </p:txBody>
      </p:sp>
      <p:sp>
        <p:nvSpPr>
          <p:cNvPr id="8" name="Text Box 77">
            <a:extLst>
              <a:ext uri="{FF2B5EF4-FFF2-40B4-BE49-F238E27FC236}">
                <a16:creationId xmlns:a16="http://schemas.microsoft.com/office/drawing/2014/main" id="{CC437BFF-B981-26D3-FF51-356B1040E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9" y="2797176"/>
            <a:ext cx="1020857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574EF"/>
                </a:solidFill>
              </a:rPr>
              <a:t>Sinal</a:t>
            </a:r>
            <a:r>
              <a:rPr lang="en-US" sz="1400" dirty="0">
                <a:solidFill>
                  <a:srgbClr val="0574EF"/>
                </a:solidFill>
              </a:rPr>
              <a:t> digital</a:t>
            </a:r>
          </a:p>
        </p:txBody>
      </p:sp>
      <p:sp>
        <p:nvSpPr>
          <p:cNvPr id="9" name="Line 18">
            <a:extLst>
              <a:ext uri="{FF2B5EF4-FFF2-40B4-BE49-F238E27FC236}">
                <a16:creationId xmlns:a16="http://schemas.microsoft.com/office/drawing/2014/main" id="{A63CF51D-A056-AF32-49E2-BDCB75079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025" y="2466976"/>
            <a:ext cx="41148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" name="Freeform 33">
            <a:extLst>
              <a:ext uri="{FF2B5EF4-FFF2-40B4-BE49-F238E27FC236}">
                <a16:creationId xmlns:a16="http://schemas.microsoft.com/office/drawing/2014/main" id="{9FB8697B-3DD2-E1FD-E74D-0FA75FEA7C2E}"/>
              </a:ext>
            </a:extLst>
          </p:cNvPr>
          <p:cNvSpPr>
            <a:spLocks/>
          </p:cNvSpPr>
          <p:nvPr/>
        </p:nvSpPr>
        <p:spPr bwMode="auto">
          <a:xfrm>
            <a:off x="3784601" y="1250950"/>
            <a:ext cx="3459163" cy="2611438"/>
          </a:xfrm>
          <a:custGeom>
            <a:avLst/>
            <a:gdLst/>
            <a:ahLst/>
            <a:cxnLst>
              <a:cxn ang="0">
                <a:pos x="0" y="526"/>
              </a:cxn>
              <a:cxn ang="0">
                <a:pos x="157" y="1081"/>
              </a:cxn>
              <a:cxn ang="0">
                <a:pos x="440" y="1081"/>
              </a:cxn>
              <a:cxn ang="0">
                <a:pos x="676" y="935"/>
              </a:cxn>
              <a:cxn ang="0">
                <a:pos x="859" y="364"/>
              </a:cxn>
              <a:cxn ang="0">
                <a:pos x="1037" y="113"/>
              </a:cxn>
              <a:cxn ang="0">
                <a:pos x="1288" y="1045"/>
              </a:cxn>
              <a:cxn ang="0">
                <a:pos x="1477" y="882"/>
              </a:cxn>
              <a:cxn ang="0">
                <a:pos x="1660" y="1589"/>
              </a:cxn>
              <a:cxn ang="0">
                <a:pos x="1948" y="547"/>
              </a:cxn>
              <a:cxn ang="0">
                <a:pos x="2179" y="1045"/>
              </a:cxn>
            </a:cxnLst>
            <a:rect l="0" t="0" r="r" b="b"/>
            <a:pathLst>
              <a:path w="2179" h="1645">
                <a:moveTo>
                  <a:pt x="0" y="526"/>
                </a:moveTo>
                <a:cubicBezTo>
                  <a:pt x="42" y="757"/>
                  <a:pt x="84" y="988"/>
                  <a:pt x="157" y="1081"/>
                </a:cubicBezTo>
                <a:cubicBezTo>
                  <a:pt x="230" y="1174"/>
                  <a:pt x="353" y="1105"/>
                  <a:pt x="440" y="1081"/>
                </a:cubicBezTo>
                <a:cubicBezTo>
                  <a:pt x="527" y="1057"/>
                  <a:pt x="606" y="1054"/>
                  <a:pt x="676" y="935"/>
                </a:cubicBezTo>
                <a:cubicBezTo>
                  <a:pt x="746" y="816"/>
                  <a:pt x="799" y="501"/>
                  <a:pt x="859" y="364"/>
                </a:cubicBezTo>
                <a:cubicBezTo>
                  <a:pt x="919" y="227"/>
                  <a:pt x="966" y="0"/>
                  <a:pt x="1037" y="113"/>
                </a:cubicBezTo>
                <a:cubicBezTo>
                  <a:pt x="1108" y="226"/>
                  <a:pt x="1215" y="917"/>
                  <a:pt x="1288" y="1045"/>
                </a:cubicBezTo>
                <a:cubicBezTo>
                  <a:pt x="1361" y="1173"/>
                  <a:pt x="1415" y="791"/>
                  <a:pt x="1477" y="882"/>
                </a:cubicBezTo>
                <a:cubicBezTo>
                  <a:pt x="1539" y="973"/>
                  <a:pt x="1582" y="1645"/>
                  <a:pt x="1660" y="1589"/>
                </a:cubicBezTo>
                <a:cubicBezTo>
                  <a:pt x="1738" y="1533"/>
                  <a:pt x="1862" y="638"/>
                  <a:pt x="1948" y="547"/>
                </a:cubicBezTo>
                <a:cubicBezTo>
                  <a:pt x="2034" y="456"/>
                  <a:pt x="2131" y="941"/>
                  <a:pt x="2179" y="1045"/>
                </a:cubicBezTo>
              </a:path>
            </a:pathLst>
          </a:custGeom>
          <a:noFill/>
          <a:ln w="12700" cap="flat" cmpd="sng">
            <a:solidFill>
              <a:srgbClr val="C9252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1" name="Text Box 74">
            <a:extLst>
              <a:ext uri="{FF2B5EF4-FFF2-40B4-BE49-F238E27FC236}">
                <a16:creationId xmlns:a16="http://schemas.microsoft.com/office/drawing/2014/main" id="{158F7211-9CD2-24C5-FEE2-45CA7610C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100" y="2330451"/>
            <a:ext cx="245580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/>
              <a:t>t</a:t>
            </a:r>
          </a:p>
        </p:txBody>
      </p:sp>
      <p:sp>
        <p:nvSpPr>
          <p:cNvPr id="12" name="Text Box 75">
            <a:extLst>
              <a:ext uri="{FF2B5EF4-FFF2-40B4-BE49-F238E27FC236}">
                <a16:creationId xmlns:a16="http://schemas.microsoft.com/office/drawing/2014/main" id="{BD1CB7B6-9F37-3881-8296-DE864CC5B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0" y="1192214"/>
            <a:ext cx="127002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C00000"/>
                </a:solidFill>
              </a:rPr>
              <a:t>Sinal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analógico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3" name="Text Box 77">
            <a:extLst>
              <a:ext uri="{FF2B5EF4-FFF2-40B4-BE49-F238E27FC236}">
                <a16:creationId xmlns:a16="http://schemas.microsoft.com/office/drawing/2014/main" id="{2A9455EE-3F96-15F3-CE19-EDDD68A61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9" y="2797176"/>
            <a:ext cx="4297395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574EF"/>
                </a:solidFill>
              </a:rPr>
              <a:t>Sinal</a:t>
            </a:r>
            <a:r>
              <a:rPr lang="en-US" sz="1400" dirty="0">
                <a:solidFill>
                  <a:srgbClr val="0574EF"/>
                </a:solidFill>
              </a:rPr>
              <a:t> digital001 111 110 110 110 110 111 111 001 011 …</a:t>
            </a:r>
          </a:p>
        </p:txBody>
      </p:sp>
      <p:cxnSp>
        <p:nvCxnSpPr>
          <p:cNvPr id="14" name="Conector de seta reta 63">
            <a:extLst>
              <a:ext uri="{FF2B5EF4-FFF2-40B4-BE49-F238E27FC236}">
                <a16:creationId xmlns:a16="http://schemas.microsoft.com/office/drawing/2014/main" id="{4CE615EF-6F74-EC7E-4433-587B7E3010B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579847" y="1142813"/>
            <a:ext cx="30131" cy="275291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Conector de seta reta 68">
            <a:extLst>
              <a:ext uri="{FF2B5EF4-FFF2-40B4-BE49-F238E27FC236}">
                <a16:creationId xmlns:a16="http://schemas.microsoft.com/office/drawing/2014/main" id="{121C67F4-6D43-7367-058F-75EB01DA5585}"/>
              </a:ext>
            </a:extLst>
          </p:cNvPr>
          <p:cNvCxnSpPr/>
          <p:nvPr/>
        </p:nvCxnSpPr>
        <p:spPr bwMode="auto">
          <a:xfrm rot="5400000">
            <a:off x="3458368" y="262890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6" name="Conector de seta reta 70">
            <a:extLst>
              <a:ext uri="{FF2B5EF4-FFF2-40B4-BE49-F238E27FC236}">
                <a16:creationId xmlns:a16="http://schemas.microsoft.com/office/drawing/2014/main" id="{BE6A724C-63B2-7542-EBFC-835C7CC3AEC3}"/>
              </a:ext>
            </a:extLst>
          </p:cNvPr>
          <p:cNvCxnSpPr/>
          <p:nvPr/>
        </p:nvCxnSpPr>
        <p:spPr bwMode="auto">
          <a:xfrm rot="5400000">
            <a:off x="3458368" y="294322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7" name="Conector de seta reta 71">
            <a:extLst>
              <a:ext uri="{FF2B5EF4-FFF2-40B4-BE49-F238E27FC236}">
                <a16:creationId xmlns:a16="http://schemas.microsoft.com/office/drawing/2014/main" id="{BFE125F4-E2DC-17B3-5F3D-D90B6C7A0794}"/>
              </a:ext>
            </a:extLst>
          </p:cNvPr>
          <p:cNvCxnSpPr/>
          <p:nvPr/>
        </p:nvCxnSpPr>
        <p:spPr bwMode="auto">
          <a:xfrm rot="5400000">
            <a:off x="3458368" y="325755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8" name="Conector de seta reta 72">
            <a:extLst>
              <a:ext uri="{FF2B5EF4-FFF2-40B4-BE49-F238E27FC236}">
                <a16:creationId xmlns:a16="http://schemas.microsoft.com/office/drawing/2014/main" id="{25755207-CF73-365E-52C3-CDB3D039B893}"/>
              </a:ext>
            </a:extLst>
          </p:cNvPr>
          <p:cNvCxnSpPr/>
          <p:nvPr/>
        </p:nvCxnSpPr>
        <p:spPr bwMode="auto">
          <a:xfrm rot="5400000">
            <a:off x="3458368" y="357187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9" name="Conector de seta reta 73">
            <a:extLst>
              <a:ext uri="{FF2B5EF4-FFF2-40B4-BE49-F238E27FC236}">
                <a16:creationId xmlns:a16="http://schemas.microsoft.com/office/drawing/2014/main" id="{3FC5EF91-B02B-1DF0-936E-D51D04018BD3}"/>
              </a:ext>
            </a:extLst>
          </p:cNvPr>
          <p:cNvCxnSpPr/>
          <p:nvPr/>
        </p:nvCxnSpPr>
        <p:spPr bwMode="auto">
          <a:xfrm rot="5400000">
            <a:off x="3458368" y="169545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0" name="Conector de seta reta 74">
            <a:extLst>
              <a:ext uri="{FF2B5EF4-FFF2-40B4-BE49-F238E27FC236}">
                <a16:creationId xmlns:a16="http://schemas.microsoft.com/office/drawing/2014/main" id="{00E2DBAB-6281-F6AA-529F-F4E465E831EB}"/>
              </a:ext>
            </a:extLst>
          </p:cNvPr>
          <p:cNvCxnSpPr/>
          <p:nvPr/>
        </p:nvCxnSpPr>
        <p:spPr bwMode="auto">
          <a:xfrm rot="5400000">
            <a:off x="3458368" y="200977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1" name="Conector de seta reta 75">
            <a:extLst>
              <a:ext uri="{FF2B5EF4-FFF2-40B4-BE49-F238E27FC236}">
                <a16:creationId xmlns:a16="http://schemas.microsoft.com/office/drawing/2014/main" id="{A61A85D5-A009-B7E3-1119-CA28C2DF088C}"/>
              </a:ext>
            </a:extLst>
          </p:cNvPr>
          <p:cNvCxnSpPr/>
          <p:nvPr/>
        </p:nvCxnSpPr>
        <p:spPr bwMode="auto">
          <a:xfrm rot="5400000">
            <a:off x="3458368" y="232410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AB3238B6-71D3-E8AD-5AD8-F3431B387347}"/>
              </a:ext>
            </a:extLst>
          </p:cNvPr>
          <p:cNvCxnSpPr/>
          <p:nvPr/>
        </p:nvCxnSpPr>
        <p:spPr bwMode="auto">
          <a:xfrm>
            <a:off x="3609976" y="37338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74F4E3D4-DEF6-81D1-D8BD-8AEB830DD247}"/>
              </a:ext>
            </a:extLst>
          </p:cNvPr>
          <p:cNvCxnSpPr/>
          <p:nvPr/>
        </p:nvCxnSpPr>
        <p:spPr bwMode="auto">
          <a:xfrm>
            <a:off x="3629026" y="341947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D96C39FF-87C2-B935-CA06-567524AFB3D9}"/>
              </a:ext>
            </a:extLst>
          </p:cNvPr>
          <p:cNvCxnSpPr/>
          <p:nvPr/>
        </p:nvCxnSpPr>
        <p:spPr bwMode="auto">
          <a:xfrm>
            <a:off x="3619501" y="310515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11C3EB9-813D-958F-6F2D-C356B5051C79}"/>
              </a:ext>
            </a:extLst>
          </p:cNvPr>
          <p:cNvCxnSpPr/>
          <p:nvPr/>
        </p:nvCxnSpPr>
        <p:spPr bwMode="auto">
          <a:xfrm>
            <a:off x="3629026" y="155257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799B03E8-6A8C-9053-DA3C-5FC0C3023AFC}"/>
              </a:ext>
            </a:extLst>
          </p:cNvPr>
          <p:cNvCxnSpPr/>
          <p:nvPr/>
        </p:nvCxnSpPr>
        <p:spPr bwMode="auto">
          <a:xfrm>
            <a:off x="3609976" y="18669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721220E4-0728-14EB-2551-08E9C9E8A05F}"/>
              </a:ext>
            </a:extLst>
          </p:cNvPr>
          <p:cNvCxnSpPr/>
          <p:nvPr/>
        </p:nvCxnSpPr>
        <p:spPr bwMode="auto">
          <a:xfrm>
            <a:off x="3619501" y="21717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6634491-3E72-4837-6BC6-F39771471CFD}"/>
              </a:ext>
            </a:extLst>
          </p:cNvPr>
          <p:cNvCxnSpPr/>
          <p:nvPr/>
        </p:nvCxnSpPr>
        <p:spPr bwMode="auto">
          <a:xfrm>
            <a:off x="3619501" y="279082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Conector de seta reta 84">
            <a:extLst>
              <a:ext uri="{FF2B5EF4-FFF2-40B4-BE49-F238E27FC236}">
                <a16:creationId xmlns:a16="http://schemas.microsoft.com/office/drawing/2014/main" id="{31CBF721-3892-D410-B11F-5A971EFE85E5}"/>
              </a:ext>
            </a:extLst>
          </p:cNvPr>
          <p:cNvCxnSpPr/>
          <p:nvPr/>
        </p:nvCxnSpPr>
        <p:spPr bwMode="auto">
          <a:xfrm rot="5400000" flipH="1" flipV="1">
            <a:off x="3652838" y="2319342"/>
            <a:ext cx="314324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0" name="Conector de seta reta 86">
            <a:extLst>
              <a:ext uri="{FF2B5EF4-FFF2-40B4-BE49-F238E27FC236}">
                <a16:creationId xmlns:a16="http://schemas.microsoft.com/office/drawing/2014/main" id="{FE70527C-0891-03CB-6813-808D6B7B9EE4}"/>
              </a:ext>
            </a:extLst>
          </p:cNvPr>
          <p:cNvCxnSpPr/>
          <p:nvPr/>
        </p:nvCxnSpPr>
        <p:spPr bwMode="auto">
          <a:xfrm rot="16200000" flipH="1">
            <a:off x="3786194" y="2614613"/>
            <a:ext cx="352421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1" name="Conector de seta reta 89">
            <a:extLst>
              <a:ext uri="{FF2B5EF4-FFF2-40B4-BE49-F238E27FC236}">
                <a16:creationId xmlns:a16="http://schemas.microsoft.com/office/drawing/2014/main" id="{A9E85E6A-81AB-2D6F-9849-D297F59CC723}"/>
              </a:ext>
            </a:extLst>
          </p:cNvPr>
          <p:cNvCxnSpPr/>
          <p:nvPr/>
        </p:nvCxnSpPr>
        <p:spPr bwMode="auto">
          <a:xfrm rot="5400000">
            <a:off x="37814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2" name="Conector de seta reta 92">
            <a:extLst>
              <a:ext uri="{FF2B5EF4-FFF2-40B4-BE49-F238E27FC236}">
                <a16:creationId xmlns:a16="http://schemas.microsoft.com/office/drawing/2014/main" id="{E9E30782-E467-7B04-0254-5802E05A68B1}"/>
              </a:ext>
            </a:extLst>
          </p:cNvPr>
          <p:cNvCxnSpPr/>
          <p:nvPr/>
        </p:nvCxnSpPr>
        <p:spPr bwMode="auto">
          <a:xfrm rot="5400000">
            <a:off x="39338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3" name="Conector de seta reta 93">
            <a:extLst>
              <a:ext uri="{FF2B5EF4-FFF2-40B4-BE49-F238E27FC236}">
                <a16:creationId xmlns:a16="http://schemas.microsoft.com/office/drawing/2014/main" id="{B990DDA0-7D9D-06A7-E5B5-05D61C297525}"/>
              </a:ext>
            </a:extLst>
          </p:cNvPr>
          <p:cNvCxnSpPr/>
          <p:nvPr/>
        </p:nvCxnSpPr>
        <p:spPr bwMode="auto">
          <a:xfrm rot="5400000">
            <a:off x="40862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4" name="Conector de seta reta 94">
            <a:extLst>
              <a:ext uri="{FF2B5EF4-FFF2-40B4-BE49-F238E27FC236}">
                <a16:creationId xmlns:a16="http://schemas.microsoft.com/office/drawing/2014/main" id="{82D56B79-DA26-B237-0156-FA74A61F2D88}"/>
              </a:ext>
            </a:extLst>
          </p:cNvPr>
          <p:cNvCxnSpPr/>
          <p:nvPr/>
        </p:nvCxnSpPr>
        <p:spPr bwMode="auto">
          <a:xfrm rot="5400000">
            <a:off x="42386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5" name="Conector de seta reta 95">
            <a:extLst>
              <a:ext uri="{FF2B5EF4-FFF2-40B4-BE49-F238E27FC236}">
                <a16:creationId xmlns:a16="http://schemas.microsoft.com/office/drawing/2014/main" id="{BE828F60-3058-7B33-AD81-3310F72E7309}"/>
              </a:ext>
            </a:extLst>
          </p:cNvPr>
          <p:cNvCxnSpPr/>
          <p:nvPr/>
        </p:nvCxnSpPr>
        <p:spPr bwMode="auto">
          <a:xfrm rot="5400000">
            <a:off x="4548190" y="2624139"/>
            <a:ext cx="35242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6" name="Conector de seta reta 97">
            <a:extLst>
              <a:ext uri="{FF2B5EF4-FFF2-40B4-BE49-F238E27FC236}">
                <a16:creationId xmlns:a16="http://schemas.microsoft.com/office/drawing/2014/main" id="{BF0D81C1-3968-3F64-088F-AE539109F43C}"/>
              </a:ext>
            </a:extLst>
          </p:cNvPr>
          <p:cNvCxnSpPr/>
          <p:nvPr/>
        </p:nvCxnSpPr>
        <p:spPr bwMode="auto">
          <a:xfrm rot="5400000">
            <a:off x="4700590" y="2624139"/>
            <a:ext cx="35242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7" name="Conector de seta reta 98">
            <a:extLst>
              <a:ext uri="{FF2B5EF4-FFF2-40B4-BE49-F238E27FC236}">
                <a16:creationId xmlns:a16="http://schemas.microsoft.com/office/drawing/2014/main" id="{257C8FEC-EAA5-A77F-E9CD-FA63AD9159E5}"/>
              </a:ext>
            </a:extLst>
          </p:cNvPr>
          <p:cNvCxnSpPr/>
          <p:nvPr/>
        </p:nvCxnSpPr>
        <p:spPr bwMode="auto">
          <a:xfrm rot="5400000" flipH="1" flipV="1">
            <a:off x="4881565" y="2300295"/>
            <a:ext cx="304800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8" name="Conector de seta reta 100">
            <a:extLst>
              <a:ext uri="{FF2B5EF4-FFF2-40B4-BE49-F238E27FC236}">
                <a16:creationId xmlns:a16="http://schemas.microsoft.com/office/drawing/2014/main" id="{5DC6EA07-1D68-B375-95C3-DE303EAE8D2D}"/>
              </a:ext>
            </a:extLst>
          </p:cNvPr>
          <p:cNvCxnSpPr/>
          <p:nvPr/>
        </p:nvCxnSpPr>
        <p:spPr bwMode="auto">
          <a:xfrm rot="5400000" flipH="1" flipV="1">
            <a:off x="4743453" y="2000255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9" name="Conector de seta reta 102">
            <a:extLst>
              <a:ext uri="{FF2B5EF4-FFF2-40B4-BE49-F238E27FC236}">
                <a16:creationId xmlns:a16="http://schemas.microsoft.com/office/drawing/2014/main" id="{9343B730-5B79-3A5A-D232-A0E5862C247B}"/>
              </a:ext>
            </a:extLst>
          </p:cNvPr>
          <p:cNvCxnSpPr/>
          <p:nvPr/>
        </p:nvCxnSpPr>
        <p:spPr bwMode="auto">
          <a:xfrm rot="5400000" flipH="1" flipV="1">
            <a:off x="4895853" y="2000255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0" name="Conector de seta reta 103">
            <a:extLst>
              <a:ext uri="{FF2B5EF4-FFF2-40B4-BE49-F238E27FC236}">
                <a16:creationId xmlns:a16="http://schemas.microsoft.com/office/drawing/2014/main" id="{4F67F4C8-051D-6E12-D67F-2096A9012537}"/>
              </a:ext>
            </a:extLst>
          </p:cNvPr>
          <p:cNvCxnSpPr/>
          <p:nvPr/>
        </p:nvCxnSpPr>
        <p:spPr bwMode="auto">
          <a:xfrm rot="5400000" flipH="1" flipV="1">
            <a:off x="5048253" y="1990730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1" name="Conector de seta reta 104">
            <a:extLst>
              <a:ext uri="{FF2B5EF4-FFF2-40B4-BE49-F238E27FC236}">
                <a16:creationId xmlns:a16="http://schemas.microsoft.com/office/drawing/2014/main" id="{3D904796-18E4-4103-5446-2102FB18C5AD}"/>
              </a:ext>
            </a:extLst>
          </p:cNvPr>
          <p:cNvCxnSpPr/>
          <p:nvPr/>
        </p:nvCxnSpPr>
        <p:spPr bwMode="auto">
          <a:xfrm rot="16200000" flipV="1">
            <a:off x="5486400" y="2314576"/>
            <a:ext cx="30480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2" name="Conector de seta reta 106">
            <a:extLst>
              <a:ext uri="{FF2B5EF4-FFF2-40B4-BE49-F238E27FC236}">
                <a16:creationId xmlns:a16="http://schemas.microsoft.com/office/drawing/2014/main" id="{A1F98BB6-1257-DEB7-A7EF-9163CC66B031}"/>
              </a:ext>
            </a:extLst>
          </p:cNvPr>
          <p:cNvCxnSpPr/>
          <p:nvPr/>
        </p:nvCxnSpPr>
        <p:spPr bwMode="auto">
          <a:xfrm rot="16200000" flipH="1">
            <a:off x="5638807" y="2628906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 de seta reta 108">
            <a:extLst>
              <a:ext uri="{FF2B5EF4-FFF2-40B4-BE49-F238E27FC236}">
                <a16:creationId xmlns:a16="http://schemas.microsoft.com/office/drawing/2014/main" id="{15BB0400-1708-B086-C371-220590DCF10D}"/>
              </a:ext>
            </a:extLst>
          </p:cNvPr>
          <p:cNvCxnSpPr/>
          <p:nvPr/>
        </p:nvCxnSpPr>
        <p:spPr bwMode="auto">
          <a:xfrm rot="16200000" flipH="1">
            <a:off x="5791207" y="2628906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4" name="Conector de seta reta 109">
            <a:extLst>
              <a:ext uri="{FF2B5EF4-FFF2-40B4-BE49-F238E27FC236}">
                <a16:creationId xmlns:a16="http://schemas.microsoft.com/office/drawing/2014/main" id="{F57A87F8-E006-4B46-1F33-F6F83F659DC8}"/>
              </a:ext>
            </a:extLst>
          </p:cNvPr>
          <p:cNvCxnSpPr/>
          <p:nvPr/>
        </p:nvCxnSpPr>
        <p:spPr bwMode="auto">
          <a:xfrm rot="16200000" flipH="1">
            <a:off x="5943607" y="2619381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 de seta reta 110">
            <a:extLst>
              <a:ext uri="{FF2B5EF4-FFF2-40B4-BE49-F238E27FC236}">
                <a16:creationId xmlns:a16="http://schemas.microsoft.com/office/drawing/2014/main" id="{3BFEDF55-BB0B-8D98-7DB6-B6806308C62A}"/>
              </a:ext>
            </a:extLst>
          </p:cNvPr>
          <p:cNvCxnSpPr/>
          <p:nvPr/>
        </p:nvCxnSpPr>
        <p:spPr bwMode="auto">
          <a:xfrm rot="16200000" flipH="1">
            <a:off x="5957893" y="2776543"/>
            <a:ext cx="600070" cy="19044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6" name="Conector de seta reta 112">
            <a:extLst>
              <a:ext uri="{FF2B5EF4-FFF2-40B4-BE49-F238E27FC236}">
                <a16:creationId xmlns:a16="http://schemas.microsoft.com/office/drawing/2014/main" id="{7C488774-DC85-4220-491F-ABE6D7FD8D79}"/>
              </a:ext>
            </a:extLst>
          </p:cNvPr>
          <p:cNvCxnSpPr/>
          <p:nvPr/>
        </p:nvCxnSpPr>
        <p:spPr bwMode="auto">
          <a:xfrm rot="16200000" flipH="1">
            <a:off x="5772155" y="3095631"/>
            <a:ext cx="1285870" cy="2856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7" name="Conector de seta reta 114">
            <a:extLst>
              <a:ext uri="{FF2B5EF4-FFF2-40B4-BE49-F238E27FC236}">
                <a16:creationId xmlns:a16="http://schemas.microsoft.com/office/drawing/2014/main" id="{B27D4BAC-0328-F59C-C673-2A4A367AEF31}"/>
              </a:ext>
            </a:extLst>
          </p:cNvPr>
          <p:cNvCxnSpPr/>
          <p:nvPr/>
        </p:nvCxnSpPr>
        <p:spPr bwMode="auto">
          <a:xfrm rot="16200000" flipH="1">
            <a:off x="6086480" y="2943231"/>
            <a:ext cx="942973" cy="952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8" name="Conector de seta reta 116">
            <a:extLst>
              <a:ext uri="{FF2B5EF4-FFF2-40B4-BE49-F238E27FC236}">
                <a16:creationId xmlns:a16="http://schemas.microsoft.com/office/drawing/2014/main" id="{04F95706-DB9E-4328-4270-C88FE9F2CFF6}"/>
              </a:ext>
            </a:extLst>
          </p:cNvPr>
          <p:cNvCxnSpPr/>
          <p:nvPr/>
        </p:nvCxnSpPr>
        <p:spPr bwMode="auto">
          <a:xfrm rot="5400000">
            <a:off x="6543680" y="2638425"/>
            <a:ext cx="323849" cy="6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9" name="Conector de seta reta 118">
            <a:extLst>
              <a:ext uri="{FF2B5EF4-FFF2-40B4-BE49-F238E27FC236}">
                <a16:creationId xmlns:a16="http://schemas.microsoft.com/office/drawing/2014/main" id="{44618681-7C0F-43B5-F081-E195642BFA1A}"/>
              </a:ext>
            </a:extLst>
          </p:cNvPr>
          <p:cNvCxnSpPr/>
          <p:nvPr/>
        </p:nvCxnSpPr>
        <p:spPr bwMode="auto">
          <a:xfrm rot="5400000" flipH="1" flipV="1">
            <a:off x="6705605" y="2314582"/>
            <a:ext cx="314325" cy="951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0" name="Conector de seta reta 120">
            <a:extLst>
              <a:ext uri="{FF2B5EF4-FFF2-40B4-BE49-F238E27FC236}">
                <a16:creationId xmlns:a16="http://schemas.microsoft.com/office/drawing/2014/main" id="{188335CC-4F74-667D-9D91-077F7D1B6217}"/>
              </a:ext>
            </a:extLst>
          </p:cNvPr>
          <p:cNvCxnSpPr/>
          <p:nvPr/>
        </p:nvCxnSpPr>
        <p:spPr bwMode="auto">
          <a:xfrm rot="5400000" flipH="1" flipV="1">
            <a:off x="6858005" y="2324107"/>
            <a:ext cx="314325" cy="951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1" name="Conector de seta reta 121">
            <a:extLst>
              <a:ext uri="{FF2B5EF4-FFF2-40B4-BE49-F238E27FC236}">
                <a16:creationId xmlns:a16="http://schemas.microsoft.com/office/drawing/2014/main" id="{5BB713EA-FE59-C1C2-726D-73FA2182E4A0}"/>
              </a:ext>
            </a:extLst>
          </p:cNvPr>
          <p:cNvCxnSpPr/>
          <p:nvPr/>
        </p:nvCxnSpPr>
        <p:spPr bwMode="auto">
          <a:xfrm rot="16200000" flipH="1">
            <a:off x="7000884" y="2628904"/>
            <a:ext cx="333371" cy="952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4374950-A296-575D-576D-B1A16B0A63BA}"/>
              </a:ext>
            </a:extLst>
          </p:cNvPr>
          <p:cNvSpPr txBox="1"/>
          <p:nvPr/>
        </p:nvSpPr>
        <p:spPr>
          <a:xfrm>
            <a:off x="3051483" y="23275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000</a:t>
            </a:r>
            <a:endParaRPr lang="pt-BR" sz="1600" dirty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7A0CEF0B-D382-7D99-EFD7-1A2EE59CD6F5}"/>
              </a:ext>
            </a:extLst>
          </p:cNvPr>
          <p:cNvSpPr txBox="1"/>
          <p:nvPr/>
        </p:nvSpPr>
        <p:spPr>
          <a:xfrm>
            <a:off x="3049507" y="20287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001</a:t>
            </a:r>
            <a:endParaRPr lang="pt-BR" sz="1600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F814029-1C41-6DDE-22E3-B2365E7E782B}"/>
              </a:ext>
            </a:extLst>
          </p:cNvPr>
          <p:cNvSpPr txBox="1"/>
          <p:nvPr/>
        </p:nvSpPr>
        <p:spPr>
          <a:xfrm>
            <a:off x="3047532" y="1694238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010</a:t>
            </a:r>
            <a:endParaRPr lang="pt-BR" sz="160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6FCFED99-BCBB-79C1-D83C-F968B4563149}"/>
              </a:ext>
            </a:extLst>
          </p:cNvPr>
          <p:cNvSpPr txBox="1"/>
          <p:nvPr/>
        </p:nvSpPr>
        <p:spPr>
          <a:xfrm>
            <a:off x="3053188" y="14072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011</a:t>
            </a:r>
            <a:endParaRPr lang="pt-BR" sz="1600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B64C79ED-46E8-998D-E937-C58516FC09D0}"/>
              </a:ext>
            </a:extLst>
          </p:cNvPr>
          <p:cNvSpPr txBox="1"/>
          <p:nvPr/>
        </p:nvSpPr>
        <p:spPr>
          <a:xfrm>
            <a:off x="3082593" y="26284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111</a:t>
            </a:r>
            <a:endParaRPr lang="pt-BR" sz="160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B2AA8E-4675-E3C2-7C35-6B140AC03645}"/>
              </a:ext>
            </a:extLst>
          </p:cNvPr>
          <p:cNvSpPr txBox="1"/>
          <p:nvPr/>
        </p:nvSpPr>
        <p:spPr>
          <a:xfrm>
            <a:off x="3072988" y="29470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110</a:t>
            </a:r>
            <a:endParaRPr lang="pt-BR" sz="1600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8EC2AA9-62ED-08FF-D739-ECB069F5AC9F}"/>
              </a:ext>
            </a:extLst>
          </p:cNvPr>
          <p:cNvSpPr txBox="1"/>
          <p:nvPr/>
        </p:nvSpPr>
        <p:spPr>
          <a:xfrm>
            <a:off x="3075257" y="32657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101</a:t>
            </a:r>
            <a:endParaRPr lang="pt-BR" sz="1600" dirty="0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8EB5164E-83DA-62AA-92E4-13265B7726D1}"/>
              </a:ext>
            </a:extLst>
          </p:cNvPr>
          <p:cNvSpPr txBox="1"/>
          <p:nvPr/>
        </p:nvSpPr>
        <p:spPr>
          <a:xfrm>
            <a:off x="3085157" y="35606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100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88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AEA4B-E03C-86EC-5F76-19F2A5E5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Taxa de Bits do PCM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8379300-D79D-9E81-8077-9046C9F305B7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4914900" y="947738"/>
            <a:ext cx="2400300" cy="641350"/>
          </a:xfrm>
          <a:prstGeom prst="rect">
            <a:avLst/>
          </a:prstGeom>
          <a:solidFill>
            <a:srgbClr val="0066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altLang="pt-BR" sz="3600" i="1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pt-BR" altLang="pt-BR" sz="3600" i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  <a:r>
              <a:rPr lang="pt-BR" altLang="pt-BR" sz="3600" i="1">
                <a:solidFill>
                  <a:srgbClr val="FFFF00"/>
                </a:solidFill>
                <a:latin typeface="Times New Roman" panose="02020603050405020304" pitchFamily="18" charset="0"/>
              </a:rPr>
              <a:t>  =  f</a:t>
            </a:r>
            <a:r>
              <a:rPr lang="pt-BR" altLang="pt-BR" sz="3600" i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s</a:t>
            </a:r>
            <a:r>
              <a:rPr lang="pt-BR" altLang="pt-BR" sz="3600" i="1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800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pt-BR" altLang="pt-BR" sz="360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3600" i="1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53B32D2-E4F6-F85A-36A9-BE23623E8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2576" y="1766889"/>
            <a:ext cx="34718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altLang="pt-BR">
                <a:solidFill>
                  <a:srgbClr val="0070C0"/>
                </a:solidFill>
              </a:rPr>
              <a:t>Taxa de amostragem  (amostras por segundo)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31C6700-E0F0-BE7E-9373-1020126E9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766889"/>
            <a:ext cx="1828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>
                <a:solidFill>
                  <a:srgbClr val="0070C0"/>
                </a:solidFill>
              </a:rPr>
              <a:t>Taxa de bits (bps) PCM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C5899F1-9343-BFC7-D455-64E7348DE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1766889"/>
            <a:ext cx="23241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pt-BR" altLang="pt-BR">
                <a:solidFill>
                  <a:srgbClr val="0070C0"/>
                </a:solidFill>
              </a:rPr>
              <a:t>Número de </a:t>
            </a:r>
          </a:p>
          <a:p>
            <a:pPr algn="l">
              <a:spcBef>
                <a:spcPct val="0"/>
              </a:spcBef>
            </a:pPr>
            <a:r>
              <a:rPr lang="pt-BR" altLang="pt-BR">
                <a:solidFill>
                  <a:srgbClr val="0070C0"/>
                </a:solidFill>
              </a:rPr>
              <a:t>bits por amostra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65E56EA2-8565-CF6E-8DA2-3952F67D12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29025" y="1443038"/>
            <a:ext cx="1238250" cy="552450"/>
          </a:xfrm>
          <a:prstGeom prst="line">
            <a:avLst/>
          </a:prstGeom>
          <a:ln>
            <a:headEnd/>
            <a:tailEnd type="triangle" w="med" len="lg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pt-BR">
              <a:solidFill>
                <a:srgbClr val="0070C0"/>
              </a:solidFill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3B97E77E-5AD3-E19F-59F8-4C6D885B90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1624013"/>
            <a:ext cx="376238" cy="228600"/>
          </a:xfrm>
          <a:prstGeom prst="line">
            <a:avLst/>
          </a:prstGeom>
          <a:ln>
            <a:headEnd/>
            <a:tailEnd type="triangle" w="med" len="lg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pt-BR">
              <a:solidFill>
                <a:srgbClr val="0070C0"/>
              </a:solidFill>
            </a:endParaRP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348E5BA9-1586-8F6C-DB08-74FCA495F0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81876" y="1557338"/>
            <a:ext cx="485775" cy="342900"/>
          </a:xfrm>
          <a:prstGeom prst="line">
            <a:avLst/>
          </a:prstGeom>
          <a:ln>
            <a:headEnd/>
            <a:tailEnd type="triangle" w="med" len="lg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pt-BR">
              <a:solidFill>
                <a:srgbClr val="0070C0"/>
              </a:solidFill>
            </a:endParaRPr>
          </a:p>
        </p:txBody>
      </p:sp>
      <p:grpSp>
        <p:nvGrpSpPr>
          <p:cNvPr id="10" name="Group 25">
            <a:extLst>
              <a:ext uri="{FF2B5EF4-FFF2-40B4-BE49-F238E27FC236}">
                <a16:creationId xmlns:a16="http://schemas.microsoft.com/office/drawing/2014/main" id="{DF6F06EE-28AC-F464-F188-40D557E7CFB6}"/>
              </a:ext>
            </a:extLst>
          </p:cNvPr>
          <p:cNvGrpSpPr>
            <a:grpSpLocks/>
          </p:cNvGrpSpPr>
          <p:nvPr/>
        </p:nvGrpSpPr>
        <p:grpSpPr bwMode="auto">
          <a:xfrm>
            <a:off x="4000501" y="3181350"/>
            <a:ext cx="3433763" cy="2933700"/>
            <a:chOff x="1560" y="2004"/>
            <a:chExt cx="2163" cy="1848"/>
          </a:xfrm>
        </p:grpSpPr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83BF307E-DB22-A409-0C22-5C32EA49D585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560" y="2004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r>
                <a:rPr lang="pt-BR" altLang="pt-BR" sz="2800" i="1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  <a:endParaRPr lang="pt-BR" altLang="pt-BR" sz="280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86AD56C6-6FE5-3E9C-5EA6-6265A18C9305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259" y="2004"/>
              <a:ext cx="1447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chemeClr val="bg1"/>
                  </a:solidFill>
                </a:rPr>
                <a:t>3.300 Hz</a:t>
              </a:r>
            </a:p>
          </p:txBody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A0C5F66C-1AE5-9C47-3B3D-4BCE0EEA1B11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560" y="2376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f</a:t>
              </a:r>
              <a:r>
                <a:rPr lang="pt-BR" altLang="pt-BR" sz="2800" i="1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pt-BR" altLang="pt-BR" sz="280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4FFDCA48-6575-0CA8-7962-C1E4F7EACCF9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259" y="2376"/>
              <a:ext cx="146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chemeClr val="bg1"/>
                  </a:solidFill>
                </a:rPr>
                <a:t>8 kHz</a:t>
              </a:r>
            </a:p>
          </p:txBody>
        </p:sp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8A3E11F4-FE09-316C-8F38-A77D6619CB2F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560" y="2748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606F93D5-7F31-872A-6EF3-B9F60FD5F4E8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259" y="2748"/>
              <a:ext cx="146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chemeClr val="bg1"/>
                  </a:solidFill>
                </a:rPr>
                <a:t>12 bits</a:t>
              </a:r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E3B0A220-B796-EB43-2198-C1C3367BEBC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560" y="3120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C0F9975F-542E-89DE-BFE2-7C5C4881D407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259" y="3120"/>
              <a:ext cx="146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chemeClr val="bg1"/>
                  </a:solidFill>
                </a:rPr>
                <a:t>4.096 níveis</a:t>
              </a:r>
            </a:p>
          </p:txBody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B558432D-021E-6B38-C83B-1C94DDB58817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560" y="3492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R</a:t>
              </a:r>
              <a:r>
                <a:rPr lang="pt-BR" altLang="pt-BR" sz="2800" i="1" baseline="-25000">
                  <a:solidFill>
                    <a:srgbClr val="FFFF00"/>
                  </a:solidFill>
                  <a:latin typeface="Times New Roman" panose="02020603050405020304" pitchFamily="18" charset="0"/>
                </a:rPr>
                <a:t>b</a:t>
              </a:r>
              <a:endParaRPr lang="pt-BR" altLang="pt-BR" sz="2800" i="1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AutoShape 20">
              <a:extLst>
                <a:ext uri="{FF2B5EF4-FFF2-40B4-BE49-F238E27FC236}">
                  <a16:creationId xmlns:a16="http://schemas.microsoft.com/office/drawing/2014/main" id="{6694FCE9-849D-4EB2-901B-D7D4AD7752E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259" y="3492"/>
              <a:ext cx="1457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rgbClr val="FFFF00"/>
                  </a:solidFill>
                </a:rPr>
                <a:t>96 kbps</a:t>
              </a:r>
            </a:p>
          </p:txBody>
        </p:sp>
      </p:grpSp>
      <p:sp>
        <p:nvSpPr>
          <p:cNvPr id="21" name="Text Box 21">
            <a:extLst>
              <a:ext uri="{FF2B5EF4-FFF2-40B4-BE49-F238E27FC236}">
                <a16:creationId xmlns:a16="http://schemas.microsoft.com/office/drawing/2014/main" id="{E3324EC0-F93C-A646-15A5-AB80337D6E08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1581150" y="3690939"/>
            <a:ext cx="22669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pt-BR" altLang="pt-BR" dirty="0">
                <a:solidFill>
                  <a:srgbClr val="0070C0"/>
                </a:solidFill>
              </a:rPr>
              <a:t>Ex.: Sinal de voz com banda telefônica,</a:t>
            </a:r>
          </a:p>
          <a:p>
            <a:pPr lvl="1" algn="r"/>
            <a:r>
              <a:rPr lang="pt-BR" altLang="pt-BR" dirty="0" err="1">
                <a:solidFill>
                  <a:srgbClr val="0070C0"/>
                </a:solidFill>
              </a:rPr>
              <a:t>Quantizador</a:t>
            </a:r>
            <a:r>
              <a:rPr lang="pt-BR" altLang="pt-BR" dirty="0">
                <a:solidFill>
                  <a:srgbClr val="0070C0"/>
                </a:solidFill>
              </a:rPr>
              <a:t> uniforme</a:t>
            </a:r>
          </a:p>
        </p:txBody>
      </p: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066DFCCC-6A2F-DE9A-F3F4-66F357998A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798736"/>
              </p:ext>
            </p:extLst>
          </p:nvPr>
        </p:nvGraphicFramePr>
        <p:xfrm>
          <a:off x="7661275" y="3979863"/>
          <a:ext cx="2878138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774360" progId="Equation.3">
                  <p:embed/>
                </p:oleObj>
              </mc:Choice>
              <mc:Fallback>
                <p:oleObj name="Equation" r:id="rId2" imgW="1549080" imgH="774360" progId="Equation.3">
                  <p:embed/>
                  <p:pic>
                    <p:nvPicPr>
                      <p:cNvPr id="195608" name="Object 24">
                        <a:extLst>
                          <a:ext uri="{FF2B5EF4-FFF2-40B4-BE49-F238E27FC236}">
                            <a16:creationId xmlns:a16="http://schemas.microsoft.com/office/drawing/2014/main" id="{D2101414-9F0D-8563-DC8F-6E9A5CDEE5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7661275" y="3979863"/>
                        <a:ext cx="2878138" cy="1619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231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377D9-D61B-DCB9-3C12-8299F9FD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Erro de quantização relativo</a:t>
            </a:r>
            <a:endParaRPr lang="pt-BR" dirty="0"/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957D6C66-7E0B-410E-B900-1726076406DB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228850" y="1606550"/>
            <a:ext cx="4819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endParaRPr lang="pt-BR"/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C9B5E0DF-76C1-2D36-AD9B-9A5C9C62F695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440238" y="1323975"/>
            <a:ext cx="344128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r>
              <a:rPr lang="pt-BR" altLang="pt-BR" sz="2000"/>
              <a:t>. . .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D885F06E-A3EC-27EB-98DD-11B16AF69D63}"/>
              </a:ext>
            </a:extLst>
          </p:cNvPr>
          <p:cNvGrpSpPr>
            <a:grpSpLocks/>
          </p:cNvGrpSpPr>
          <p:nvPr/>
        </p:nvGrpSpPr>
        <p:grpSpPr bwMode="auto">
          <a:xfrm>
            <a:off x="5235576" y="1168401"/>
            <a:ext cx="1273175" cy="542925"/>
            <a:chOff x="2338" y="1186"/>
            <a:chExt cx="802" cy="132"/>
          </a:xfrm>
        </p:grpSpPr>
        <p:sp>
          <p:nvSpPr>
            <p:cNvPr id="6" name="Line 10">
              <a:extLst>
                <a:ext uri="{FF2B5EF4-FFF2-40B4-BE49-F238E27FC236}">
                  <a16:creationId xmlns:a16="http://schemas.microsoft.com/office/drawing/2014/main" id="{133AE095-9CD7-F154-80BF-2115F3C216C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2338" y="1186"/>
              <a:ext cx="0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rIns="18000">
              <a:spAutoFit/>
            </a:bodyPr>
            <a:lstStyle/>
            <a:p>
              <a:endParaRPr lang="pt-BR"/>
            </a:p>
          </p:txBody>
        </p:sp>
        <p:sp>
          <p:nvSpPr>
            <p:cNvPr id="7" name="Line 11">
              <a:extLst>
                <a:ext uri="{FF2B5EF4-FFF2-40B4-BE49-F238E27FC236}">
                  <a16:creationId xmlns:a16="http://schemas.microsoft.com/office/drawing/2014/main" id="{51D07CAC-9692-0C8E-C235-8D9FA2DF9C6C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3140" y="1186"/>
              <a:ext cx="0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rIns="18000">
              <a:spAutoFit/>
            </a:bodyPr>
            <a:lstStyle/>
            <a:p>
              <a:endParaRPr lang="pt-BR"/>
            </a:p>
          </p:txBody>
        </p:sp>
      </p:grpSp>
      <p:grpSp>
        <p:nvGrpSpPr>
          <p:cNvPr id="8" name="Group 16">
            <a:extLst>
              <a:ext uri="{FF2B5EF4-FFF2-40B4-BE49-F238E27FC236}">
                <a16:creationId xmlns:a16="http://schemas.microsoft.com/office/drawing/2014/main" id="{6F4E06CA-EBB4-58A9-1A3C-FB989008DCFE}"/>
              </a:ext>
            </a:extLst>
          </p:cNvPr>
          <p:cNvGrpSpPr>
            <a:grpSpLocks/>
          </p:cNvGrpSpPr>
          <p:nvPr/>
        </p:nvGrpSpPr>
        <p:grpSpPr bwMode="auto">
          <a:xfrm>
            <a:off x="2733676" y="1168401"/>
            <a:ext cx="1273175" cy="542925"/>
            <a:chOff x="762" y="1186"/>
            <a:chExt cx="802" cy="132"/>
          </a:xfrm>
        </p:grpSpPr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94C609DF-7628-C56E-ED5D-37FBD1EF196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762" y="1186"/>
              <a:ext cx="0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rIns="18000">
              <a:spAutoFit/>
            </a:bodyPr>
            <a:lstStyle/>
            <a:p>
              <a:endParaRPr lang="pt-BR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C2CF2A37-974B-D936-CABC-9F77A9FF2A3C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1564" y="1186"/>
              <a:ext cx="0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rIns="18000">
              <a:spAutoFit/>
            </a:bodyPr>
            <a:lstStyle/>
            <a:p>
              <a:endParaRPr lang="pt-BR"/>
            </a:p>
          </p:txBody>
        </p:sp>
      </p:grpSp>
      <p:sp>
        <p:nvSpPr>
          <p:cNvPr id="11" name="Oval 12">
            <a:extLst>
              <a:ext uri="{FF2B5EF4-FFF2-40B4-BE49-F238E27FC236}">
                <a16:creationId xmlns:a16="http://schemas.microsoft.com/office/drawing/2014/main" id="{1F733948-2F4B-E34E-803F-B2DC2DE7A18C}"/>
              </a:ext>
            </a:extLst>
          </p:cNvPr>
          <p:cNvSpPr>
            <a:spLocks noChangeAspect="1" noChangeArrowheads="1"/>
          </p:cNvSpPr>
          <p:nvPr/>
        </p:nvSpPr>
        <p:spPr bwMode="blackWhite">
          <a:xfrm>
            <a:off x="3340100" y="1341320"/>
            <a:ext cx="51208" cy="519351"/>
          </a:xfrm>
          <a:prstGeom prst="ellipse">
            <a:avLst/>
          </a:prstGeom>
          <a:solidFill>
            <a:srgbClr val="CC0000"/>
          </a:solidFill>
          <a:ln w="12700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 anchor="ctr">
            <a:spAutoFit/>
          </a:bodyPr>
          <a:lstStyle/>
          <a:p>
            <a:endParaRPr lang="pt-BR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C392F26C-9DAB-30F7-F2E9-E87D5AD50464}"/>
              </a:ext>
            </a:extLst>
          </p:cNvPr>
          <p:cNvSpPr>
            <a:spLocks noChangeAspect="1" noChangeArrowheads="1"/>
          </p:cNvSpPr>
          <p:nvPr/>
        </p:nvSpPr>
        <p:spPr bwMode="blackWhite">
          <a:xfrm>
            <a:off x="5842000" y="1341320"/>
            <a:ext cx="51208" cy="519351"/>
          </a:xfrm>
          <a:prstGeom prst="ellipse">
            <a:avLst/>
          </a:prstGeom>
          <a:solidFill>
            <a:srgbClr val="CC0000"/>
          </a:solidFill>
          <a:ln w="12700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 anchor="ctr">
            <a:spAutoFit/>
          </a:bodyPr>
          <a:lstStyle/>
          <a:p>
            <a:endParaRPr lang="pt-BR"/>
          </a:p>
        </p:txBody>
      </p:sp>
      <p:graphicFrame>
        <p:nvGraphicFramePr>
          <p:cNvPr id="13" name="Object 17">
            <a:extLst>
              <a:ext uri="{FF2B5EF4-FFF2-40B4-BE49-F238E27FC236}">
                <a16:creationId xmlns:a16="http://schemas.microsoft.com/office/drawing/2014/main" id="{06051D63-D55A-1032-DC89-8063C634A7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6751" y="1644650"/>
          <a:ext cx="3270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040" imgH="190440" progId="Equation.DSMT4">
                  <p:embed/>
                </p:oleObj>
              </mc:Choice>
              <mc:Fallback>
                <p:oleObj name="Equation" r:id="rId2" imgW="203040" imgH="190440" progId="Equation.DSMT4">
                  <p:embed/>
                  <p:pic>
                    <p:nvPicPr>
                      <p:cNvPr id="474129" name="Object 17">
                        <a:extLst>
                          <a:ext uri="{FF2B5EF4-FFF2-40B4-BE49-F238E27FC236}">
                            <a16:creationId xmlns:a16="http://schemas.microsoft.com/office/drawing/2014/main" id="{2A4F7CA9-C37C-C83A-91BD-6641044E19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1" y="1644650"/>
                        <a:ext cx="327025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ED0A9972-3D3F-01A5-81B3-45ECC8E18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6" y="1733550"/>
          <a:ext cx="34766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90440" progId="Equation.DSMT4">
                  <p:embed/>
                </p:oleObj>
              </mc:Choice>
              <mc:Fallback>
                <p:oleObj name="Equation" r:id="rId4" imgW="215640" imgH="190440" progId="Equation.DSMT4">
                  <p:embed/>
                  <p:pic>
                    <p:nvPicPr>
                      <p:cNvPr id="474130" name="Object 18">
                        <a:extLst>
                          <a:ext uri="{FF2B5EF4-FFF2-40B4-BE49-F238E27FC236}">
                            <a16:creationId xmlns:a16="http://schemas.microsoft.com/office/drawing/2014/main" id="{B78A6F6A-8DC2-3B55-E4C5-0D283AE82D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6" y="1733550"/>
                        <a:ext cx="347663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>
            <a:extLst>
              <a:ext uri="{FF2B5EF4-FFF2-40B4-BE49-F238E27FC236}">
                <a16:creationId xmlns:a16="http://schemas.microsoft.com/office/drawing/2014/main" id="{45E7273E-5E31-9AB7-7BB3-31FB7237FF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76" y="1733550"/>
          <a:ext cx="34766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190440" progId="Equation.DSMT4">
                  <p:embed/>
                </p:oleObj>
              </mc:Choice>
              <mc:Fallback>
                <p:oleObj name="Equation" r:id="rId6" imgW="215640" imgH="190440" progId="Equation.DSMT4">
                  <p:embed/>
                  <p:pic>
                    <p:nvPicPr>
                      <p:cNvPr id="474131" name="Object 19">
                        <a:extLst>
                          <a:ext uri="{FF2B5EF4-FFF2-40B4-BE49-F238E27FC236}">
                            <a16:creationId xmlns:a16="http://schemas.microsoft.com/office/drawing/2014/main" id="{CA08B422-F95B-5077-4234-27225D438A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6" y="1733550"/>
                        <a:ext cx="347663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0">
            <a:extLst>
              <a:ext uri="{FF2B5EF4-FFF2-40B4-BE49-F238E27FC236}">
                <a16:creationId xmlns:a16="http://schemas.microsoft.com/office/drawing/2014/main" id="{874CB5E8-5C65-D266-50F9-F5E04AD385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5788" y="1644650"/>
          <a:ext cx="43021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190440" progId="Equation.DSMT4">
                  <p:embed/>
                </p:oleObj>
              </mc:Choice>
              <mc:Fallback>
                <p:oleObj name="Equation" r:id="rId8" imgW="266400" imgH="190440" progId="Equation.DSMT4">
                  <p:embed/>
                  <p:pic>
                    <p:nvPicPr>
                      <p:cNvPr id="474132" name="Object 20">
                        <a:extLst>
                          <a:ext uri="{FF2B5EF4-FFF2-40B4-BE49-F238E27FC236}">
                            <a16:creationId xmlns:a16="http://schemas.microsoft.com/office/drawing/2014/main" id="{B93DC6B2-B8D5-6F1B-313A-91B9D9F06D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5788" y="1644650"/>
                        <a:ext cx="430212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1">
            <a:extLst>
              <a:ext uri="{FF2B5EF4-FFF2-40B4-BE49-F238E27FC236}">
                <a16:creationId xmlns:a16="http://schemas.microsoft.com/office/drawing/2014/main" id="{825A7F2D-884C-3B75-D465-A65F49A1EA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4913" y="1733550"/>
          <a:ext cx="4508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360" imgH="190440" progId="Equation.DSMT4">
                  <p:embed/>
                </p:oleObj>
              </mc:Choice>
              <mc:Fallback>
                <p:oleObj name="Equation" r:id="rId10" imgW="279360" imgH="190440" progId="Equation.DSMT4">
                  <p:embed/>
                  <p:pic>
                    <p:nvPicPr>
                      <p:cNvPr id="474133" name="Object 21">
                        <a:extLst>
                          <a:ext uri="{FF2B5EF4-FFF2-40B4-BE49-F238E27FC236}">
                            <a16:creationId xmlns:a16="http://schemas.microsoft.com/office/drawing/2014/main" id="{AF49B50C-B89C-EF7D-0858-772909476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3" y="1733550"/>
                        <a:ext cx="4508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>
            <a:extLst>
              <a:ext uri="{FF2B5EF4-FFF2-40B4-BE49-F238E27FC236}">
                <a16:creationId xmlns:a16="http://schemas.microsoft.com/office/drawing/2014/main" id="{205F9B74-97F4-1DD9-BCA9-C6C06B2A19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4913" y="1733550"/>
          <a:ext cx="4508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190440" progId="Equation.DSMT4">
                  <p:embed/>
                </p:oleObj>
              </mc:Choice>
              <mc:Fallback>
                <p:oleObj name="Equation" r:id="rId12" imgW="279360" imgH="190440" progId="Equation.DSMT4">
                  <p:embed/>
                  <p:pic>
                    <p:nvPicPr>
                      <p:cNvPr id="474134" name="Object 22">
                        <a:extLst>
                          <a:ext uri="{FF2B5EF4-FFF2-40B4-BE49-F238E27FC236}">
                            <a16:creationId xmlns:a16="http://schemas.microsoft.com/office/drawing/2014/main" id="{13CE4485-89E8-598F-2A15-AC338892CD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913" y="1733550"/>
                        <a:ext cx="4508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81D3B8E8-351B-8E2C-F474-2CDFEDDC9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1201" y="1495425"/>
          <a:ext cx="225425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39680" progId="Equation.DSMT4">
                  <p:embed/>
                </p:oleObj>
              </mc:Choice>
              <mc:Fallback>
                <p:oleObj name="Equation" r:id="rId14" imgW="139680" imgH="139680" progId="Equation.DSMT4">
                  <p:embed/>
                  <p:pic>
                    <p:nvPicPr>
                      <p:cNvPr id="474135" name="Object 23">
                        <a:extLst>
                          <a:ext uri="{FF2B5EF4-FFF2-40B4-BE49-F238E27FC236}">
                            <a16:creationId xmlns:a16="http://schemas.microsoft.com/office/drawing/2014/main" id="{3A6B8B78-9DA2-225E-8FFC-D2C5A42B45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1" y="1495425"/>
                        <a:ext cx="225425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25">
            <a:extLst>
              <a:ext uri="{FF2B5EF4-FFF2-40B4-BE49-F238E27FC236}">
                <a16:creationId xmlns:a16="http://schemas.microsoft.com/office/drawing/2014/main" id="{FF2024B7-4978-9B42-0BDD-E795A8E675D3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746376" y="1257300"/>
            <a:ext cx="1254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endParaRPr lang="pt-BR"/>
          </a:p>
        </p:txBody>
      </p: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0FFE31D7-B88D-57AF-5CE8-A0AAA3953A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1201" y="1119188"/>
          <a:ext cx="24447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164880" progId="Equation.DSMT4">
                  <p:embed/>
                </p:oleObj>
              </mc:Choice>
              <mc:Fallback>
                <p:oleObj name="Equation" r:id="rId16" imgW="152280" imgH="164880" progId="Equation.DSMT4">
                  <p:embed/>
                  <p:pic>
                    <p:nvPicPr>
                      <p:cNvPr id="474136" name="Object 24">
                        <a:extLst>
                          <a:ext uri="{FF2B5EF4-FFF2-40B4-BE49-F238E27FC236}">
                            <a16:creationId xmlns:a16="http://schemas.microsoft.com/office/drawing/2014/main" id="{F3FD97A0-3C8F-D072-294D-E0B5B1C921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1" y="1119188"/>
                        <a:ext cx="244475" cy="265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Line 26">
            <a:extLst>
              <a:ext uri="{FF2B5EF4-FFF2-40B4-BE49-F238E27FC236}">
                <a16:creationId xmlns:a16="http://schemas.microsoft.com/office/drawing/2014/main" id="{44EE0846-86D4-14EC-FAB9-EA5AA1C9B438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248276" y="1265238"/>
            <a:ext cx="1254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endParaRPr lang="pt-BR"/>
          </a:p>
        </p:txBody>
      </p:sp>
      <p:graphicFrame>
        <p:nvGraphicFramePr>
          <p:cNvPr id="23" name="Object 27">
            <a:extLst>
              <a:ext uri="{FF2B5EF4-FFF2-40B4-BE49-F238E27FC236}">
                <a16:creationId xmlns:a16="http://schemas.microsoft.com/office/drawing/2014/main" id="{9408A77E-58F8-4E97-409D-360E478A11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53101" y="1127126"/>
          <a:ext cx="244475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280" imgH="164880" progId="Equation.DSMT4">
                  <p:embed/>
                </p:oleObj>
              </mc:Choice>
              <mc:Fallback>
                <p:oleObj name="Equation" r:id="rId18" imgW="152280" imgH="164880" progId="Equation.DSMT4">
                  <p:embed/>
                  <p:pic>
                    <p:nvPicPr>
                      <p:cNvPr id="474139" name="Object 27">
                        <a:extLst>
                          <a:ext uri="{FF2B5EF4-FFF2-40B4-BE49-F238E27FC236}">
                            <a16:creationId xmlns:a16="http://schemas.microsoft.com/office/drawing/2014/main" id="{95261756-B77A-433E-D6C3-476A607B82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1" y="1127126"/>
                        <a:ext cx="244475" cy="265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8">
            <a:extLst>
              <a:ext uri="{FF2B5EF4-FFF2-40B4-BE49-F238E27FC236}">
                <a16:creationId xmlns:a16="http://schemas.microsoft.com/office/drawing/2014/main" id="{AE6FF7BC-A7A2-A461-DA4E-956368C54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6301" y="2438400"/>
          <a:ext cx="18780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39600" imgH="431640" progId="Equation.DSMT4">
                  <p:embed/>
                </p:oleObj>
              </mc:Choice>
              <mc:Fallback>
                <p:oleObj name="Equation" r:id="rId19" imgW="939600" imgH="431640" progId="Equation.DSMT4">
                  <p:embed/>
                  <p:pic>
                    <p:nvPicPr>
                      <p:cNvPr id="474140" name="Object 28">
                        <a:extLst>
                          <a:ext uri="{FF2B5EF4-FFF2-40B4-BE49-F238E27FC236}">
                            <a16:creationId xmlns:a16="http://schemas.microsoft.com/office/drawing/2014/main" id="{A438B39A-4F95-B27F-B80E-FC36074DC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1" y="2438400"/>
                        <a:ext cx="18780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9">
            <a:extLst>
              <a:ext uri="{FF2B5EF4-FFF2-40B4-BE49-F238E27FC236}">
                <a16:creationId xmlns:a16="http://schemas.microsoft.com/office/drawing/2014/main" id="{AAD67EC4-F688-F3D6-C05F-3B6BDC2746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3101" y="2413000"/>
          <a:ext cx="18526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27000" imgH="444240" progId="Equation.DSMT4">
                  <p:embed/>
                </p:oleObj>
              </mc:Choice>
              <mc:Fallback>
                <p:oleObj name="Equation" r:id="rId21" imgW="927000" imgH="444240" progId="Equation.DSMT4">
                  <p:embed/>
                  <p:pic>
                    <p:nvPicPr>
                      <p:cNvPr id="474141" name="Object 29">
                        <a:extLst>
                          <a:ext uri="{FF2B5EF4-FFF2-40B4-BE49-F238E27FC236}">
                            <a16:creationId xmlns:a16="http://schemas.microsoft.com/office/drawing/2014/main" id="{1C50908D-8718-136D-A022-2085D643E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1" y="2413000"/>
                        <a:ext cx="18526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0">
            <a:extLst>
              <a:ext uri="{FF2B5EF4-FFF2-40B4-BE49-F238E27FC236}">
                <a16:creationId xmlns:a16="http://schemas.microsoft.com/office/drawing/2014/main" id="{EB5119E7-ACAF-BC3E-4D76-BA5A52F953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1" y="2374900"/>
          <a:ext cx="21066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54080" imgH="507960" progId="Equation.DSMT4">
                  <p:embed/>
                </p:oleObj>
              </mc:Choice>
              <mc:Fallback>
                <p:oleObj name="Equation" r:id="rId23" imgW="1054080" imgH="507960" progId="Equation.DSMT4">
                  <p:embed/>
                  <p:pic>
                    <p:nvPicPr>
                      <p:cNvPr id="474142" name="Object 30">
                        <a:extLst>
                          <a:ext uri="{FF2B5EF4-FFF2-40B4-BE49-F238E27FC236}">
                            <a16:creationId xmlns:a16="http://schemas.microsoft.com/office/drawing/2014/main" id="{E39A4B32-17DC-5540-AC8C-7A79F7B194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2374900"/>
                        <a:ext cx="21066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1">
            <a:extLst>
              <a:ext uri="{FF2B5EF4-FFF2-40B4-BE49-F238E27FC236}">
                <a16:creationId xmlns:a16="http://schemas.microsoft.com/office/drawing/2014/main" id="{0221EF59-6774-0057-31EF-46EE3F233C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7301" y="3479800"/>
          <a:ext cx="149701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49160" imgH="355320" progId="Equation.DSMT4">
                  <p:embed/>
                </p:oleObj>
              </mc:Choice>
              <mc:Fallback>
                <p:oleObj name="Equation" r:id="rId25" imgW="749160" imgH="355320" progId="Equation.DSMT4">
                  <p:embed/>
                  <p:pic>
                    <p:nvPicPr>
                      <p:cNvPr id="474143" name="Object 31">
                        <a:extLst>
                          <a:ext uri="{FF2B5EF4-FFF2-40B4-BE49-F238E27FC236}">
                            <a16:creationId xmlns:a16="http://schemas.microsoft.com/office/drawing/2014/main" id="{686EC304-40DF-E884-043D-73E36067D8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1" y="3479800"/>
                        <a:ext cx="149701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2">
            <a:extLst>
              <a:ext uri="{FF2B5EF4-FFF2-40B4-BE49-F238E27FC236}">
                <a16:creationId xmlns:a16="http://schemas.microsoft.com/office/drawing/2014/main" id="{9EC72076-D4F8-A87F-D393-002907110039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216401" y="3578225"/>
            <a:ext cx="32794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l"/>
            <a:r>
              <a:rPr lang="pt-BR" altLang="pt-BR" i="1">
                <a:latin typeface="Times New Roman" panose="02020603050405020304" pitchFamily="18" charset="0"/>
              </a:rPr>
              <a:t>q</a:t>
            </a:r>
            <a:r>
              <a:rPr lang="pt-BR" altLang="pt-BR" baseline="-25000"/>
              <a:t>max</a:t>
            </a:r>
            <a:r>
              <a:rPr lang="pt-BR" altLang="pt-BR">
                <a:latin typeface="Times New Roman" panose="02020603050405020304" pitchFamily="18" charset="0"/>
              </a:rPr>
              <a:t> </a:t>
            </a:r>
            <a:r>
              <a:rPr lang="pt-BR" altLang="pt-BR"/>
              <a:t>independe da magnitude de </a:t>
            </a:r>
            <a:r>
              <a:rPr lang="pt-BR" altLang="pt-BR" i="1">
                <a:latin typeface="Times New Roman" panose="02020603050405020304" pitchFamily="18" charset="0"/>
              </a:rPr>
              <a:t>x</a:t>
            </a:r>
            <a:endParaRPr lang="pt-BR" altLang="pt-BR"/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52A0D781-D774-BAE4-A365-0D8BE5AF7EF6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941513" y="4743450"/>
            <a:ext cx="639786" cy="36933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r>
              <a:rPr lang="pt-BR" altLang="pt-BR">
                <a:solidFill>
                  <a:srgbClr val="0000CC"/>
                </a:solidFill>
              </a:rPr>
              <a:t>IDEAL:</a:t>
            </a:r>
          </a:p>
        </p:txBody>
      </p:sp>
      <p:graphicFrame>
        <p:nvGraphicFramePr>
          <p:cNvPr id="30" name="Object 34">
            <a:extLst>
              <a:ext uri="{FF2B5EF4-FFF2-40B4-BE49-F238E27FC236}">
                <a16:creationId xmlns:a16="http://schemas.microsoft.com/office/drawing/2014/main" id="{ADFC0458-DC54-B4DE-FCC7-54DE40E514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1363" y="4565650"/>
          <a:ext cx="2690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46040" imgH="457200" progId="Equation.DSMT4">
                  <p:embed/>
                </p:oleObj>
              </mc:Choice>
              <mc:Fallback>
                <p:oleObj name="Equation" r:id="rId27" imgW="1346040" imgH="457200" progId="Equation.DSMT4">
                  <p:embed/>
                  <p:pic>
                    <p:nvPicPr>
                      <p:cNvPr id="474146" name="Object 34">
                        <a:extLst>
                          <a:ext uri="{FF2B5EF4-FFF2-40B4-BE49-F238E27FC236}">
                            <a16:creationId xmlns:a16="http://schemas.microsoft.com/office/drawing/2014/main" id="{BF9CE437-6C78-643A-2021-67BD9E5A34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363" y="4565650"/>
                        <a:ext cx="2690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35">
            <a:extLst>
              <a:ext uri="{FF2B5EF4-FFF2-40B4-BE49-F238E27FC236}">
                <a16:creationId xmlns:a16="http://schemas.microsoft.com/office/drawing/2014/main" id="{26B43B2F-A88E-7250-D84F-FFEA2A473870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138864" y="4746626"/>
            <a:ext cx="37099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>
            <a:spAutoFit/>
          </a:bodyPr>
          <a:lstStyle/>
          <a:p>
            <a:pPr algn="l"/>
            <a:r>
              <a:rPr lang="pt-BR" altLang="pt-BR" i="1" dirty="0" err="1">
                <a:latin typeface="Times New Roman" panose="02020603050405020304" pitchFamily="18" charset="0"/>
              </a:rPr>
              <a:t>q</a:t>
            </a:r>
            <a:r>
              <a:rPr lang="pt-BR" altLang="pt-BR" baseline="-25000" dirty="0" err="1"/>
              <a:t>max</a:t>
            </a:r>
            <a:r>
              <a:rPr lang="pt-BR" altLang="pt-BR" dirty="0">
                <a:latin typeface="Times New Roman" panose="02020603050405020304" pitchFamily="18" charset="0"/>
              </a:rPr>
              <a:t> </a:t>
            </a:r>
            <a:r>
              <a:rPr lang="pt-BR" altLang="pt-BR" dirty="0"/>
              <a:t>relativo (ou percentual) depende da magnitude de </a:t>
            </a:r>
            <a:r>
              <a:rPr lang="pt-BR" altLang="pt-BR" i="1" dirty="0">
                <a:latin typeface="Times New Roman" panose="02020603050405020304" pitchFamily="18" charset="0"/>
              </a:rPr>
              <a:t>x</a:t>
            </a:r>
            <a:endParaRPr lang="pt-BR" altLang="pt-BR" dirty="0"/>
          </a:p>
        </p:txBody>
      </p:sp>
      <p:sp>
        <p:nvSpPr>
          <p:cNvPr id="32" name="Text Box 36">
            <a:extLst>
              <a:ext uri="{FF2B5EF4-FFF2-40B4-BE49-F238E27FC236}">
                <a16:creationId xmlns:a16="http://schemas.microsoft.com/office/drawing/2014/main" id="{02C04EEC-7FE9-9B44-4943-8D56D793C33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067301" y="5829300"/>
            <a:ext cx="3045509" cy="36933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l">
              <a:spcBef>
                <a:spcPct val="20000"/>
              </a:spcBef>
            </a:pPr>
            <a:r>
              <a:rPr lang="pt-BR" altLang="pt-BR">
                <a:solidFill>
                  <a:srgbClr val="0000CC"/>
                </a:solidFill>
              </a:rPr>
              <a:t>QUANTIZADOR NÃO-UNIFORME</a:t>
            </a:r>
          </a:p>
        </p:txBody>
      </p:sp>
      <p:sp>
        <p:nvSpPr>
          <p:cNvPr id="33" name="Freeform 37">
            <a:extLst>
              <a:ext uri="{FF2B5EF4-FFF2-40B4-BE49-F238E27FC236}">
                <a16:creationId xmlns:a16="http://schemas.microsoft.com/office/drawing/2014/main" id="{D8EBCFBF-4715-48DD-F244-3670C5E08D7C}"/>
              </a:ext>
            </a:extLst>
          </p:cNvPr>
          <p:cNvSpPr>
            <a:spLocks/>
          </p:cNvSpPr>
          <p:nvPr/>
        </p:nvSpPr>
        <p:spPr bwMode="blackWhite">
          <a:xfrm>
            <a:off x="4300538" y="5457825"/>
            <a:ext cx="36416" cy="369332"/>
          </a:xfrm>
          <a:custGeom>
            <a:avLst/>
            <a:gdLst>
              <a:gd name="T0" fmla="*/ 0 w 423"/>
              <a:gd name="T1" fmla="*/ 0 h 378"/>
              <a:gd name="T2" fmla="*/ 99 w 423"/>
              <a:gd name="T3" fmla="*/ 276 h 378"/>
              <a:gd name="T4" fmla="*/ 423 w 423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3" h="378">
                <a:moveTo>
                  <a:pt x="0" y="0"/>
                </a:moveTo>
                <a:cubicBezTo>
                  <a:pt x="16" y="46"/>
                  <a:pt x="29" y="213"/>
                  <a:pt x="99" y="276"/>
                </a:cubicBezTo>
                <a:cubicBezTo>
                  <a:pt x="169" y="339"/>
                  <a:pt x="356" y="357"/>
                  <a:pt x="423" y="378"/>
                </a:cubicBezTo>
              </a:path>
            </a:pathLst>
          </a:custGeom>
          <a:noFill/>
          <a:ln w="76200" cap="flat" cmpd="sng">
            <a:solidFill>
              <a:srgbClr val="66CCFF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30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1" grpId="0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CD3EB-2C9B-209C-62EE-E78485A2D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Quantização Não-Uniforme</a:t>
            </a:r>
          </a:p>
        </p:txBody>
      </p:sp>
      <p:sp>
        <p:nvSpPr>
          <p:cNvPr id="34" name="Line 4">
            <a:extLst>
              <a:ext uri="{FF2B5EF4-FFF2-40B4-BE49-F238E27FC236}">
                <a16:creationId xmlns:a16="http://schemas.microsoft.com/office/drawing/2014/main" id="{703B718E-E692-66CA-678B-0D9DD79282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53741" y="1036095"/>
            <a:ext cx="0" cy="2651125"/>
          </a:xfrm>
          <a:prstGeom prst="line">
            <a:avLst/>
          </a:prstGeom>
          <a:noFill/>
          <a:ln w="254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35" name="Group 5">
            <a:extLst>
              <a:ext uri="{FF2B5EF4-FFF2-40B4-BE49-F238E27FC236}">
                <a16:creationId xmlns:a16="http://schemas.microsoft.com/office/drawing/2014/main" id="{4BC0CA02-46AA-E1F4-3440-B8A63B92A5B9}"/>
              </a:ext>
            </a:extLst>
          </p:cNvPr>
          <p:cNvGrpSpPr>
            <a:grpSpLocks/>
          </p:cNvGrpSpPr>
          <p:nvPr/>
        </p:nvGrpSpPr>
        <p:grpSpPr bwMode="auto">
          <a:xfrm>
            <a:off x="5317603" y="2622008"/>
            <a:ext cx="487363" cy="274637"/>
            <a:chOff x="2256" y="1787"/>
            <a:chExt cx="307" cy="173"/>
          </a:xfrm>
        </p:grpSpPr>
        <p:sp>
          <p:nvSpPr>
            <p:cNvPr id="36" name="Text Box 6">
              <a:extLst>
                <a:ext uri="{FF2B5EF4-FFF2-40B4-BE49-F238E27FC236}">
                  <a16:creationId xmlns:a16="http://schemas.microsoft.com/office/drawing/2014/main" id="{CEAFEEBC-67EF-5C58-B630-1A7F6F5EF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787"/>
              <a:ext cx="10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pt-BR" altLang="pt-BR" sz="18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7" name="Line 7">
              <a:extLst>
                <a:ext uri="{FF2B5EF4-FFF2-40B4-BE49-F238E27FC236}">
                  <a16:creationId xmlns:a16="http://schemas.microsoft.com/office/drawing/2014/main" id="{72EF6C08-C7F7-8B57-00E8-04A1D5281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1895"/>
              <a:ext cx="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8" name="Line 8">
            <a:extLst>
              <a:ext uri="{FF2B5EF4-FFF2-40B4-BE49-F238E27FC236}">
                <a16:creationId xmlns:a16="http://schemas.microsoft.com/office/drawing/2014/main" id="{E7E62D49-4A6B-C2C1-9C78-AB6C2D5A0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7828" y="2417220"/>
            <a:ext cx="3697288" cy="1588"/>
          </a:xfrm>
          <a:prstGeom prst="line">
            <a:avLst/>
          </a:prstGeom>
          <a:noFill/>
          <a:ln w="254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9" name="Line 10">
            <a:extLst>
              <a:ext uri="{FF2B5EF4-FFF2-40B4-BE49-F238E27FC236}">
                <a16:creationId xmlns:a16="http://schemas.microsoft.com/office/drawing/2014/main" id="{15F744A4-C4CB-B110-D863-E513E0079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116" y="3604670"/>
            <a:ext cx="3694112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" name="Line 11">
            <a:extLst>
              <a:ext uri="{FF2B5EF4-FFF2-40B4-BE49-F238E27FC236}">
                <a16:creationId xmlns:a16="http://schemas.microsoft.com/office/drawing/2014/main" id="{EB059AED-B30A-68DF-BC28-199FAE11E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116" y="3263990"/>
            <a:ext cx="3694112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1" name="Line 12">
            <a:extLst>
              <a:ext uri="{FF2B5EF4-FFF2-40B4-BE49-F238E27FC236}">
                <a16:creationId xmlns:a16="http://schemas.microsoft.com/office/drawing/2014/main" id="{F81A256B-87F9-A651-B287-383133E81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116" y="2923309"/>
            <a:ext cx="3694112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DB4035C4-0082-290C-5011-6B4431880B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116" y="2582629"/>
            <a:ext cx="3694112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" name="Line 14">
            <a:extLst>
              <a:ext uri="{FF2B5EF4-FFF2-40B4-BE49-F238E27FC236}">
                <a16:creationId xmlns:a16="http://schemas.microsoft.com/office/drawing/2014/main" id="{5F14B6BF-5CF7-0855-837C-B0B2931D7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116" y="2243705"/>
            <a:ext cx="3694112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66E1A52B-1448-73C4-8053-C6729BE16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116" y="1903025"/>
            <a:ext cx="3694112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" name="Line 16">
            <a:extLst>
              <a:ext uri="{FF2B5EF4-FFF2-40B4-BE49-F238E27FC236}">
                <a16:creationId xmlns:a16="http://schemas.microsoft.com/office/drawing/2014/main" id="{5C19662D-D577-7F23-2551-1DFCD4C93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116" y="1562344"/>
            <a:ext cx="3694112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6" name="Line 17">
            <a:extLst>
              <a:ext uri="{FF2B5EF4-FFF2-40B4-BE49-F238E27FC236}">
                <a16:creationId xmlns:a16="http://schemas.microsoft.com/office/drawing/2014/main" id="{DF3F6DD2-2AE4-22E4-E2AD-65ED528C50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116" y="1223420"/>
            <a:ext cx="3694112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47" name="Group 18">
            <a:extLst>
              <a:ext uri="{FF2B5EF4-FFF2-40B4-BE49-F238E27FC236}">
                <a16:creationId xmlns:a16="http://schemas.microsoft.com/office/drawing/2014/main" id="{1574D0CC-D37F-DE24-B3B6-11FD6D2BFDB5}"/>
              </a:ext>
            </a:extLst>
          </p:cNvPr>
          <p:cNvGrpSpPr>
            <a:grpSpLocks/>
          </p:cNvGrpSpPr>
          <p:nvPr/>
        </p:nvGrpSpPr>
        <p:grpSpPr bwMode="auto">
          <a:xfrm>
            <a:off x="2361678" y="896395"/>
            <a:ext cx="3121025" cy="2744788"/>
            <a:chOff x="1398" y="2248"/>
            <a:chExt cx="3630" cy="1729"/>
          </a:xfrm>
        </p:grpSpPr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F66F2042-E425-95CB-5B48-BAA9E5DF5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2248"/>
              <a:ext cx="1210" cy="1729"/>
            </a:xfrm>
            <a:custGeom>
              <a:avLst/>
              <a:gdLst>
                <a:gd name="T0" fmla="*/ 0 w 1210"/>
                <a:gd name="T1" fmla="*/ 956 h 1729"/>
                <a:gd name="T2" fmla="*/ 240 w 1210"/>
                <a:gd name="T3" fmla="*/ 116 h 1729"/>
                <a:gd name="T4" fmla="*/ 450 w 1210"/>
                <a:gd name="T5" fmla="*/ 1652 h 1729"/>
                <a:gd name="T6" fmla="*/ 714 w 1210"/>
                <a:gd name="T7" fmla="*/ 578 h 1729"/>
                <a:gd name="T8" fmla="*/ 882 w 1210"/>
                <a:gd name="T9" fmla="*/ 1148 h 1729"/>
                <a:gd name="T10" fmla="*/ 1062 w 1210"/>
                <a:gd name="T11" fmla="*/ 830 h 1729"/>
                <a:gd name="T12" fmla="*/ 1172 w 1210"/>
                <a:gd name="T13" fmla="*/ 1038 h 1729"/>
                <a:gd name="T14" fmla="*/ 1210 w 1210"/>
                <a:gd name="T15" fmla="*/ 960 h 1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0" h="1729">
                  <a:moveTo>
                    <a:pt x="0" y="956"/>
                  </a:moveTo>
                  <a:cubicBezTo>
                    <a:pt x="40" y="816"/>
                    <a:pt x="165" y="0"/>
                    <a:pt x="240" y="116"/>
                  </a:cubicBezTo>
                  <a:cubicBezTo>
                    <a:pt x="315" y="232"/>
                    <a:pt x="371" y="1575"/>
                    <a:pt x="450" y="1652"/>
                  </a:cubicBezTo>
                  <a:cubicBezTo>
                    <a:pt x="529" y="1729"/>
                    <a:pt x="642" y="662"/>
                    <a:pt x="714" y="578"/>
                  </a:cubicBezTo>
                  <a:cubicBezTo>
                    <a:pt x="786" y="494"/>
                    <a:pt x="824" y="1106"/>
                    <a:pt x="882" y="1148"/>
                  </a:cubicBezTo>
                  <a:cubicBezTo>
                    <a:pt x="940" y="1190"/>
                    <a:pt x="1014" y="848"/>
                    <a:pt x="1062" y="830"/>
                  </a:cubicBezTo>
                  <a:cubicBezTo>
                    <a:pt x="1110" y="812"/>
                    <a:pt x="1147" y="1016"/>
                    <a:pt x="1172" y="1038"/>
                  </a:cubicBezTo>
                  <a:cubicBezTo>
                    <a:pt x="1197" y="1060"/>
                    <a:pt x="1202" y="976"/>
                    <a:pt x="1210" y="960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0F0703CD-8D58-3AED-0435-E432DB07B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298"/>
              <a:ext cx="1210" cy="1665"/>
            </a:xfrm>
            <a:custGeom>
              <a:avLst/>
              <a:gdLst>
                <a:gd name="T0" fmla="*/ 0 w 1210"/>
                <a:gd name="T1" fmla="*/ 906 h 1665"/>
                <a:gd name="T2" fmla="*/ 249 w 1210"/>
                <a:gd name="T3" fmla="*/ 108 h 1665"/>
                <a:gd name="T4" fmla="*/ 459 w 1210"/>
                <a:gd name="T5" fmla="*/ 1554 h 1665"/>
                <a:gd name="T6" fmla="*/ 581 w 1210"/>
                <a:gd name="T7" fmla="*/ 774 h 1665"/>
                <a:gd name="T8" fmla="*/ 665 w 1210"/>
                <a:gd name="T9" fmla="*/ 538 h 1665"/>
                <a:gd name="T10" fmla="*/ 757 w 1210"/>
                <a:gd name="T11" fmla="*/ 670 h 1665"/>
                <a:gd name="T12" fmla="*/ 882 w 1210"/>
                <a:gd name="T13" fmla="*/ 1098 h 1665"/>
                <a:gd name="T14" fmla="*/ 1062 w 1210"/>
                <a:gd name="T15" fmla="*/ 780 h 1665"/>
                <a:gd name="T16" fmla="*/ 1172 w 1210"/>
                <a:gd name="T17" fmla="*/ 988 h 1665"/>
                <a:gd name="T18" fmla="*/ 1210 w 1210"/>
                <a:gd name="T19" fmla="*/ 910 h 1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0" h="1665">
                  <a:moveTo>
                    <a:pt x="0" y="906"/>
                  </a:moveTo>
                  <a:cubicBezTo>
                    <a:pt x="41" y="773"/>
                    <a:pt x="173" y="0"/>
                    <a:pt x="249" y="108"/>
                  </a:cubicBezTo>
                  <a:cubicBezTo>
                    <a:pt x="325" y="216"/>
                    <a:pt x="404" y="1443"/>
                    <a:pt x="459" y="1554"/>
                  </a:cubicBezTo>
                  <a:cubicBezTo>
                    <a:pt x="514" y="1665"/>
                    <a:pt x="547" y="943"/>
                    <a:pt x="581" y="774"/>
                  </a:cubicBezTo>
                  <a:cubicBezTo>
                    <a:pt x="615" y="605"/>
                    <a:pt x="636" y="555"/>
                    <a:pt x="665" y="538"/>
                  </a:cubicBezTo>
                  <a:cubicBezTo>
                    <a:pt x="694" y="521"/>
                    <a:pt x="721" y="577"/>
                    <a:pt x="757" y="670"/>
                  </a:cubicBezTo>
                  <a:cubicBezTo>
                    <a:pt x="793" y="763"/>
                    <a:pt x="831" y="1080"/>
                    <a:pt x="882" y="1098"/>
                  </a:cubicBezTo>
                  <a:cubicBezTo>
                    <a:pt x="933" y="1116"/>
                    <a:pt x="1014" y="798"/>
                    <a:pt x="1062" y="780"/>
                  </a:cubicBezTo>
                  <a:cubicBezTo>
                    <a:pt x="1110" y="762"/>
                    <a:pt x="1147" y="966"/>
                    <a:pt x="1172" y="988"/>
                  </a:cubicBezTo>
                  <a:cubicBezTo>
                    <a:pt x="1197" y="1010"/>
                    <a:pt x="1202" y="926"/>
                    <a:pt x="1210" y="910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A59C73BA-4036-187D-D261-ADBD4B6F5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467"/>
              <a:ext cx="1210" cy="1176"/>
            </a:xfrm>
            <a:custGeom>
              <a:avLst/>
              <a:gdLst>
                <a:gd name="T0" fmla="*/ 0 w 1210"/>
                <a:gd name="T1" fmla="*/ 739 h 1176"/>
                <a:gd name="T2" fmla="*/ 220 w 1210"/>
                <a:gd name="T3" fmla="*/ 65 h 1176"/>
                <a:gd name="T4" fmla="*/ 466 w 1210"/>
                <a:gd name="T5" fmla="*/ 1127 h 1176"/>
                <a:gd name="T6" fmla="*/ 714 w 1210"/>
                <a:gd name="T7" fmla="*/ 361 h 1176"/>
                <a:gd name="T8" fmla="*/ 898 w 1210"/>
                <a:gd name="T9" fmla="*/ 845 h 1176"/>
                <a:gd name="T10" fmla="*/ 1054 w 1210"/>
                <a:gd name="T11" fmla="*/ 665 h 1176"/>
                <a:gd name="T12" fmla="*/ 1172 w 1210"/>
                <a:gd name="T13" fmla="*/ 821 h 1176"/>
                <a:gd name="T14" fmla="*/ 1210 w 1210"/>
                <a:gd name="T15" fmla="*/ 743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0" h="1176">
                  <a:moveTo>
                    <a:pt x="0" y="739"/>
                  </a:moveTo>
                  <a:cubicBezTo>
                    <a:pt x="37" y="627"/>
                    <a:pt x="142" y="0"/>
                    <a:pt x="220" y="65"/>
                  </a:cubicBezTo>
                  <a:cubicBezTo>
                    <a:pt x="298" y="130"/>
                    <a:pt x="384" y="1078"/>
                    <a:pt x="466" y="1127"/>
                  </a:cubicBezTo>
                  <a:cubicBezTo>
                    <a:pt x="548" y="1176"/>
                    <a:pt x="642" y="408"/>
                    <a:pt x="714" y="361"/>
                  </a:cubicBezTo>
                  <a:cubicBezTo>
                    <a:pt x="786" y="314"/>
                    <a:pt x="841" y="794"/>
                    <a:pt x="898" y="845"/>
                  </a:cubicBezTo>
                  <a:cubicBezTo>
                    <a:pt x="955" y="896"/>
                    <a:pt x="1008" y="669"/>
                    <a:pt x="1054" y="665"/>
                  </a:cubicBezTo>
                  <a:cubicBezTo>
                    <a:pt x="1100" y="661"/>
                    <a:pt x="1146" y="808"/>
                    <a:pt x="1172" y="821"/>
                  </a:cubicBezTo>
                  <a:cubicBezTo>
                    <a:pt x="1198" y="834"/>
                    <a:pt x="1202" y="759"/>
                    <a:pt x="1210" y="743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1" name="Group 23">
            <a:extLst>
              <a:ext uri="{FF2B5EF4-FFF2-40B4-BE49-F238E27FC236}">
                <a16:creationId xmlns:a16="http://schemas.microsoft.com/office/drawing/2014/main" id="{44907719-A430-6859-E9AE-04AE85E7847D}"/>
              </a:ext>
            </a:extLst>
          </p:cNvPr>
          <p:cNvGrpSpPr>
            <a:grpSpLocks/>
          </p:cNvGrpSpPr>
          <p:nvPr/>
        </p:nvGrpSpPr>
        <p:grpSpPr bwMode="auto">
          <a:xfrm>
            <a:off x="7060678" y="1655220"/>
            <a:ext cx="3121025" cy="1374775"/>
            <a:chOff x="1398" y="2248"/>
            <a:chExt cx="3630" cy="1729"/>
          </a:xfrm>
        </p:grpSpPr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1F20231E-FEB3-DEBA-79A7-0D369053E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2248"/>
              <a:ext cx="1210" cy="1729"/>
            </a:xfrm>
            <a:custGeom>
              <a:avLst/>
              <a:gdLst>
                <a:gd name="T0" fmla="*/ 0 w 1210"/>
                <a:gd name="T1" fmla="*/ 956 h 1729"/>
                <a:gd name="T2" fmla="*/ 240 w 1210"/>
                <a:gd name="T3" fmla="*/ 116 h 1729"/>
                <a:gd name="T4" fmla="*/ 450 w 1210"/>
                <a:gd name="T5" fmla="*/ 1652 h 1729"/>
                <a:gd name="T6" fmla="*/ 714 w 1210"/>
                <a:gd name="T7" fmla="*/ 578 h 1729"/>
                <a:gd name="T8" fmla="*/ 882 w 1210"/>
                <a:gd name="T9" fmla="*/ 1148 h 1729"/>
                <a:gd name="T10" fmla="*/ 1062 w 1210"/>
                <a:gd name="T11" fmla="*/ 830 h 1729"/>
                <a:gd name="T12" fmla="*/ 1172 w 1210"/>
                <a:gd name="T13" fmla="*/ 1038 h 1729"/>
                <a:gd name="T14" fmla="*/ 1210 w 1210"/>
                <a:gd name="T15" fmla="*/ 960 h 1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0" h="1729">
                  <a:moveTo>
                    <a:pt x="0" y="956"/>
                  </a:moveTo>
                  <a:cubicBezTo>
                    <a:pt x="40" y="816"/>
                    <a:pt x="165" y="0"/>
                    <a:pt x="240" y="116"/>
                  </a:cubicBezTo>
                  <a:cubicBezTo>
                    <a:pt x="315" y="232"/>
                    <a:pt x="371" y="1575"/>
                    <a:pt x="450" y="1652"/>
                  </a:cubicBezTo>
                  <a:cubicBezTo>
                    <a:pt x="529" y="1729"/>
                    <a:pt x="642" y="662"/>
                    <a:pt x="714" y="578"/>
                  </a:cubicBezTo>
                  <a:cubicBezTo>
                    <a:pt x="786" y="494"/>
                    <a:pt x="824" y="1106"/>
                    <a:pt x="882" y="1148"/>
                  </a:cubicBezTo>
                  <a:cubicBezTo>
                    <a:pt x="940" y="1190"/>
                    <a:pt x="1014" y="848"/>
                    <a:pt x="1062" y="830"/>
                  </a:cubicBezTo>
                  <a:cubicBezTo>
                    <a:pt x="1110" y="812"/>
                    <a:pt x="1147" y="1016"/>
                    <a:pt x="1172" y="1038"/>
                  </a:cubicBezTo>
                  <a:cubicBezTo>
                    <a:pt x="1197" y="1060"/>
                    <a:pt x="1202" y="976"/>
                    <a:pt x="1210" y="960"/>
                  </a:cubicBezTo>
                </a:path>
              </a:pathLst>
            </a:custGeom>
            <a:noFill/>
            <a:ln w="3810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8EB11BD2-2DF0-4637-74B0-B74097CC7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298"/>
              <a:ext cx="1210" cy="1665"/>
            </a:xfrm>
            <a:custGeom>
              <a:avLst/>
              <a:gdLst>
                <a:gd name="T0" fmla="*/ 0 w 1210"/>
                <a:gd name="T1" fmla="*/ 906 h 1665"/>
                <a:gd name="T2" fmla="*/ 249 w 1210"/>
                <a:gd name="T3" fmla="*/ 108 h 1665"/>
                <a:gd name="T4" fmla="*/ 459 w 1210"/>
                <a:gd name="T5" fmla="*/ 1554 h 1665"/>
                <a:gd name="T6" fmla="*/ 581 w 1210"/>
                <a:gd name="T7" fmla="*/ 774 h 1665"/>
                <a:gd name="T8" fmla="*/ 665 w 1210"/>
                <a:gd name="T9" fmla="*/ 538 h 1665"/>
                <a:gd name="T10" fmla="*/ 757 w 1210"/>
                <a:gd name="T11" fmla="*/ 670 h 1665"/>
                <a:gd name="T12" fmla="*/ 882 w 1210"/>
                <a:gd name="T13" fmla="*/ 1098 h 1665"/>
                <a:gd name="T14" fmla="*/ 1062 w 1210"/>
                <a:gd name="T15" fmla="*/ 780 h 1665"/>
                <a:gd name="T16" fmla="*/ 1172 w 1210"/>
                <a:gd name="T17" fmla="*/ 988 h 1665"/>
                <a:gd name="T18" fmla="*/ 1210 w 1210"/>
                <a:gd name="T19" fmla="*/ 910 h 1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0" h="1665">
                  <a:moveTo>
                    <a:pt x="0" y="906"/>
                  </a:moveTo>
                  <a:cubicBezTo>
                    <a:pt x="41" y="773"/>
                    <a:pt x="173" y="0"/>
                    <a:pt x="249" y="108"/>
                  </a:cubicBezTo>
                  <a:cubicBezTo>
                    <a:pt x="325" y="216"/>
                    <a:pt x="404" y="1443"/>
                    <a:pt x="459" y="1554"/>
                  </a:cubicBezTo>
                  <a:cubicBezTo>
                    <a:pt x="514" y="1665"/>
                    <a:pt x="547" y="943"/>
                    <a:pt x="581" y="774"/>
                  </a:cubicBezTo>
                  <a:cubicBezTo>
                    <a:pt x="615" y="605"/>
                    <a:pt x="636" y="555"/>
                    <a:pt x="665" y="538"/>
                  </a:cubicBezTo>
                  <a:cubicBezTo>
                    <a:pt x="694" y="521"/>
                    <a:pt x="721" y="577"/>
                    <a:pt x="757" y="670"/>
                  </a:cubicBezTo>
                  <a:cubicBezTo>
                    <a:pt x="793" y="763"/>
                    <a:pt x="831" y="1080"/>
                    <a:pt x="882" y="1098"/>
                  </a:cubicBezTo>
                  <a:cubicBezTo>
                    <a:pt x="933" y="1116"/>
                    <a:pt x="1014" y="798"/>
                    <a:pt x="1062" y="780"/>
                  </a:cubicBezTo>
                  <a:cubicBezTo>
                    <a:pt x="1110" y="762"/>
                    <a:pt x="1147" y="966"/>
                    <a:pt x="1172" y="988"/>
                  </a:cubicBezTo>
                  <a:cubicBezTo>
                    <a:pt x="1197" y="1010"/>
                    <a:pt x="1202" y="926"/>
                    <a:pt x="1210" y="910"/>
                  </a:cubicBezTo>
                </a:path>
              </a:pathLst>
            </a:custGeom>
            <a:noFill/>
            <a:ln w="3810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32D52E62-8C0D-2B6F-E0B2-915CCFC96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467"/>
              <a:ext cx="1210" cy="1176"/>
            </a:xfrm>
            <a:custGeom>
              <a:avLst/>
              <a:gdLst>
                <a:gd name="T0" fmla="*/ 0 w 1210"/>
                <a:gd name="T1" fmla="*/ 739 h 1176"/>
                <a:gd name="T2" fmla="*/ 220 w 1210"/>
                <a:gd name="T3" fmla="*/ 65 h 1176"/>
                <a:gd name="T4" fmla="*/ 466 w 1210"/>
                <a:gd name="T5" fmla="*/ 1127 h 1176"/>
                <a:gd name="T6" fmla="*/ 714 w 1210"/>
                <a:gd name="T7" fmla="*/ 361 h 1176"/>
                <a:gd name="T8" fmla="*/ 898 w 1210"/>
                <a:gd name="T9" fmla="*/ 845 h 1176"/>
                <a:gd name="T10" fmla="*/ 1054 w 1210"/>
                <a:gd name="T11" fmla="*/ 665 h 1176"/>
                <a:gd name="T12" fmla="*/ 1172 w 1210"/>
                <a:gd name="T13" fmla="*/ 821 h 1176"/>
                <a:gd name="T14" fmla="*/ 1210 w 1210"/>
                <a:gd name="T15" fmla="*/ 743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0" h="1176">
                  <a:moveTo>
                    <a:pt x="0" y="739"/>
                  </a:moveTo>
                  <a:cubicBezTo>
                    <a:pt x="37" y="627"/>
                    <a:pt x="142" y="0"/>
                    <a:pt x="220" y="65"/>
                  </a:cubicBezTo>
                  <a:cubicBezTo>
                    <a:pt x="298" y="130"/>
                    <a:pt x="384" y="1078"/>
                    <a:pt x="466" y="1127"/>
                  </a:cubicBezTo>
                  <a:cubicBezTo>
                    <a:pt x="548" y="1176"/>
                    <a:pt x="642" y="408"/>
                    <a:pt x="714" y="361"/>
                  </a:cubicBezTo>
                  <a:cubicBezTo>
                    <a:pt x="786" y="314"/>
                    <a:pt x="841" y="794"/>
                    <a:pt x="898" y="845"/>
                  </a:cubicBezTo>
                  <a:cubicBezTo>
                    <a:pt x="955" y="896"/>
                    <a:pt x="1008" y="669"/>
                    <a:pt x="1054" y="665"/>
                  </a:cubicBezTo>
                  <a:cubicBezTo>
                    <a:pt x="1100" y="661"/>
                    <a:pt x="1146" y="808"/>
                    <a:pt x="1172" y="821"/>
                  </a:cubicBezTo>
                  <a:cubicBezTo>
                    <a:pt x="1198" y="834"/>
                    <a:pt x="1202" y="759"/>
                    <a:pt x="1210" y="743"/>
                  </a:cubicBezTo>
                </a:path>
              </a:pathLst>
            </a:custGeom>
            <a:noFill/>
            <a:ln w="3810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5" name="Line 27">
            <a:extLst>
              <a:ext uri="{FF2B5EF4-FFF2-40B4-BE49-F238E27FC236}">
                <a16:creationId xmlns:a16="http://schemas.microsoft.com/office/drawing/2014/main" id="{BE12A510-05C9-164F-3FF1-ED471D19F7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55916" y="1042445"/>
            <a:ext cx="0" cy="265112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pt-BR"/>
          </a:p>
        </p:txBody>
      </p:sp>
      <p:grpSp>
        <p:nvGrpSpPr>
          <p:cNvPr id="56" name="Group 28">
            <a:extLst>
              <a:ext uri="{FF2B5EF4-FFF2-40B4-BE49-F238E27FC236}">
                <a16:creationId xmlns:a16="http://schemas.microsoft.com/office/drawing/2014/main" id="{3970D58E-0F3B-F528-83BF-89ECF2577682}"/>
              </a:ext>
            </a:extLst>
          </p:cNvPr>
          <p:cNvGrpSpPr>
            <a:grpSpLocks/>
          </p:cNvGrpSpPr>
          <p:nvPr/>
        </p:nvGrpSpPr>
        <p:grpSpPr bwMode="auto">
          <a:xfrm>
            <a:off x="10019778" y="2628358"/>
            <a:ext cx="487363" cy="274637"/>
            <a:chOff x="5218" y="1791"/>
            <a:chExt cx="307" cy="173"/>
          </a:xfrm>
        </p:grpSpPr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1B45BDAA-BF13-D617-0A0A-4A925722C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8" y="1791"/>
              <a:ext cx="10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pt-BR" altLang="pt-BR" sz="18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8" name="Line 30">
              <a:extLst>
                <a:ext uri="{FF2B5EF4-FFF2-40B4-BE49-F238E27FC236}">
                  <a16:creationId xmlns:a16="http://schemas.microsoft.com/office/drawing/2014/main" id="{C280C0E5-489C-9A49-FF43-2B71E68F7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5" y="1899"/>
              <a:ext cx="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9" name="Line 31">
            <a:extLst>
              <a:ext uri="{FF2B5EF4-FFF2-40B4-BE49-F238E27FC236}">
                <a16:creationId xmlns:a16="http://schemas.microsoft.com/office/drawing/2014/main" id="{1922D62C-5587-EBEF-8249-2BF66C91D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0003" y="2423570"/>
            <a:ext cx="3697288" cy="1588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pt-BR"/>
          </a:p>
        </p:txBody>
      </p:sp>
      <p:sp>
        <p:nvSpPr>
          <p:cNvPr id="60" name="Line 33">
            <a:extLst>
              <a:ext uri="{FF2B5EF4-FFF2-40B4-BE49-F238E27FC236}">
                <a16:creationId xmlns:a16="http://schemas.microsoft.com/office/drawing/2014/main" id="{27F96592-8CE4-FF6F-3C69-7A5BD1B25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528" y="3611020"/>
            <a:ext cx="3694113" cy="0"/>
          </a:xfrm>
          <a:prstGeom prst="line">
            <a:avLst/>
          </a:prstGeom>
          <a:ln w="22225"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61" name="Line 34">
            <a:extLst>
              <a:ext uri="{FF2B5EF4-FFF2-40B4-BE49-F238E27FC236}">
                <a16:creationId xmlns:a16="http://schemas.microsoft.com/office/drawing/2014/main" id="{7F187A77-DBB8-F877-2B4A-98E2D5DBEF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528" y="3270340"/>
            <a:ext cx="3694113" cy="0"/>
          </a:xfrm>
          <a:prstGeom prst="line">
            <a:avLst/>
          </a:prstGeom>
          <a:ln w="22225"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62" name="Line 35">
            <a:extLst>
              <a:ext uri="{FF2B5EF4-FFF2-40B4-BE49-F238E27FC236}">
                <a16:creationId xmlns:a16="http://schemas.microsoft.com/office/drawing/2014/main" id="{D726FA4F-8D0B-9A4E-A6D4-FE105158A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528" y="2929659"/>
            <a:ext cx="3694113" cy="0"/>
          </a:xfrm>
          <a:prstGeom prst="line">
            <a:avLst/>
          </a:prstGeom>
          <a:ln w="22225"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63" name="Line 36">
            <a:extLst>
              <a:ext uri="{FF2B5EF4-FFF2-40B4-BE49-F238E27FC236}">
                <a16:creationId xmlns:a16="http://schemas.microsoft.com/office/drawing/2014/main" id="{46A4EEAB-A524-1420-3A49-602FBF87A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528" y="2588979"/>
            <a:ext cx="3694113" cy="0"/>
          </a:xfrm>
          <a:prstGeom prst="line">
            <a:avLst/>
          </a:prstGeom>
          <a:ln w="22225"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64" name="Line 37">
            <a:extLst>
              <a:ext uri="{FF2B5EF4-FFF2-40B4-BE49-F238E27FC236}">
                <a16:creationId xmlns:a16="http://schemas.microsoft.com/office/drawing/2014/main" id="{F0DE183E-B558-ABE5-9C21-5CB56C165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528" y="2250055"/>
            <a:ext cx="3694113" cy="0"/>
          </a:xfrm>
          <a:prstGeom prst="line">
            <a:avLst/>
          </a:prstGeom>
          <a:ln w="22225"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65" name="Line 38">
            <a:extLst>
              <a:ext uri="{FF2B5EF4-FFF2-40B4-BE49-F238E27FC236}">
                <a16:creationId xmlns:a16="http://schemas.microsoft.com/office/drawing/2014/main" id="{6AC2C5F2-E708-B6E0-6D5E-E2A97E853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528" y="1909375"/>
            <a:ext cx="3694113" cy="0"/>
          </a:xfrm>
          <a:prstGeom prst="line">
            <a:avLst/>
          </a:prstGeom>
          <a:ln w="22225"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66" name="Line 39">
            <a:extLst>
              <a:ext uri="{FF2B5EF4-FFF2-40B4-BE49-F238E27FC236}">
                <a16:creationId xmlns:a16="http://schemas.microsoft.com/office/drawing/2014/main" id="{39C199DB-C218-D16E-A122-609171E2E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528" y="1568694"/>
            <a:ext cx="3694113" cy="0"/>
          </a:xfrm>
          <a:prstGeom prst="line">
            <a:avLst/>
          </a:prstGeom>
          <a:ln w="22225"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67" name="Line 40">
            <a:extLst>
              <a:ext uri="{FF2B5EF4-FFF2-40B4-BE49-F238E27FC236}">
                <a16:creationId xmlns:a16="http://schemas.microsoft.com/office/drawing/2014/main" id="{DA18701D-49CF-4C26-8290-A01E757B8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528" y="1229770"/>
            <a:ext cx="3694113" cy="0"/>
          </a:xfrm>
          <a:prstGeom prst="line">
            <a:avLst/>
          </a:prstGeom>
          <a:ln w="22225"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68" name="Line 42">
            <a:extLst>
              <a:ext uri="{FF2B5EF4-FFF2-40B4-BE49-F238E27FC236}">
                <a16:creationId xmlns:a16="http://schemas.microsoft.com/office/drawing/2014/main" id="{43FAF172-594F-5A73-ABFE-E1457CB5724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53741" y="3950745"/>
            <a:ext cx="0" cy="26511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9" name="Text Box 43">
            <a:extLst>
              <a:ext uri="{FF2B5EF4-FFF2-40B4-BE49-F238E27FC236}">
                <a16:creationId xmlns:a16="http://schemas.microsoft.com/office/drawing/2014/main" id="{99D0B93A-D4B5-9B04-936F-8F18F7EF4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7603" y="5536658"/>
            <a:ext cx="1651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pt-BR" altLang="pt-BR" sz="1800" i="1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70" name="Line 44">
            <a:extLst>
              <a:ext uri="{FF2B5EF4-FFF2-40B4-BE49-F238E27FC236}">
                <a16:creationId xmlns:a16="http://schemas.microsoft.com/office/drawing/2014/main" id="{142173A0-E502-840A-462D-CCEE70942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7466" y="5708108"/>
            <a:ext cx="3175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" name="Line 45">
            <a:extLst>
              <a:ext uri="{FF2B5EF4-FFF2-40B4-BE49-F238E27FC236}">
                <a16:creationId xmlns:a16="http://schemas.microsoft.com/office/drawing/2014/main" id="{69828035-EECE-8A22-8CE1-81D711768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7828" y="5331870"/>
            <a:ext cx="3697288" cy="1588"/>
          </a:xfrm>
          <a:prstGeom prst="line">
            <a:avLst/>
          </a:prstGeom>
          <a:noFill/>
          <a:ln w="254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2" name="Line 49">
            <a:extLst>
              <a:ext uri="{FF2B5EF4-FFF2-40B4-BE49-F238E27FC236}">
                <a16:creationId xmlns:a16="http://schemas.microsoft.com/office/drawing/2014/main" id="{65549643-541B-B949-C764-0D056547D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6878" y="5395371"/>
            <a:ext cx="3694113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3" name="Line 50">
            <a:extLst>
              <a:ext uri="{FF2B5EF4-FFF2-40B4-BE49-F238E27FC236}">
                <a16:creationId xmlns:a16="http://schemas.microsoft.com/office/drawing/2014/main" id="{A4A76F81-1C9D-2656-9592-1113AEED2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6878" y="5276308"/>
            <a:ext cx="3694113" cy="0"/>
          </a:xfrm>
          <a:prstGeom prst="line">
            <a:avLst/>
          </a:prstGeom>
          <a:noFill/>
          <a:ln w="28575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74" name="Group 51">
            <a:extLst>
              <a:ext uri="{FF2B5EF4-FFF2-40B4-BE49-F238E27FC236}">
                <a16:creationId xmlns:a16="http://schemas.microsoft.com/office/drawing/2014/main" id="{BD9CC147-5D81-9A77-B735-9EA573A40424}"/>
              </a:ext>
            </a:extLst>
          </p:cNvPr>
          <p:cNvGrpSpPr>
            <a:grpSpLocks/>
          </p:cNvGrpSpPr>
          <p:nvPr/>
        </p:nvGrpSpPr>
        <p:grpSpPr bwMode="auto">
          <a:xfrm>
            <a:off x="2056878" y="5068345"/>
            <a:ext cx="3694113" cy="534988"/>
            <a:chOff x="244" y="1334"/>
            <a:chExt cx="2327" cy="643"/>
          </a:xfrm>
        </p:grpSpPr>
        <p:sp>
          <p:nvSpPr>
            <p:cNvPr id="75" name="Line 52">
              <a:extLst>
                <a:ext uri="{FF2B5EF4-FFF2-40B4-BE49-F238E27FC236}">
                  <a16:creationId xmlns:a16="http://schemas.microsoft.com/office/drawing/2014/main" id="{E0F2EC59-AF1C-13CE-0DF4-480DCC3D1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" y="1977"/>
              <a:ext cx="2327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Line 53">
              <a:extLst>
                <a:ext uri="{FF2B5EF4-FFF2-40B4-BE49-F238E27FC236}">
                  <a16:creationId xmlns:a16="http://schemas.microsoft.com/office/drawing/2014/main" id="{E78BC165-A2DB-66F7-460F-77FBB084B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" y="1334"/>
              <a:ext cx="2327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7" name="Group 54">
            <a:extLst>
              <a:ext uri="{FF2B5EF4-FFF2-40B4-BE49-F238E27FC236}">
                <a16:creationId xmlns:a16="http://schemas.microsoft.com/office/drawing/2014/main" id="{EB70D21B-7F16-2136-E275-E56CD4E7923B}"/>
              </a:ext>
            </a:extLst>
          </p:cNvPr>
          <p:cNvGrpSpPr>
            <a:grpSpLocks/>
          </p:cNvGrpSpPr>
          <p:nvPr/>
        </p:nvGrpSpPr>
        <p:grpSpPr bwMode="auto">
          <a:xfrm>
            <a:off x="2056878" y="4704808"/>
            <a:ext cx="3694113" cy="1277938"/>
            <a:chOff x="244" y="1119"/>
            <a:chExt cx="2327" cy="1072"/>
          </a:xfrm>
        </p:grpSpPr>
        <p:sp>
          <p:nvSpPr>
            <p:cNvPr id="78" name="Line 55">
              <a:extLst>
                <a:ext uri="{FF2B5EF4-FFF2-40B4-BE49-F238E27FC236}">
                  <a16:creationId xmlns:a16="http://schemas.microsoft.com/office/drawing/2014/main" id="{178C1060-9149-CFE6-D16B-0E2522EB3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" y="2191"/>
              <a:ext cx="2327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Line 56">
              <a:extLst>
                <a:ext uri="{FF2B5EF4-FFF2-40B4-BE49-F238E27FC236}">
                  <a16:creationId xmlns:a16="http://schemas.microsoft.com/office/drawing/2014/main" id="{9A0FB790-E642-B893-6C64-5F3A5DDF0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" y="1119"/>
              <a:ext cx="2327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0" name="Group 97">
            <a:extLst>
              <a:ext uri="{FF2B5EF4-FFF2-40B4-BE49-F238E27FC236}">
                <a16:creationId xmlns:a16="http://schemas.microsoft.com/office/drawing/2014/main" id="{FE76CDEF-DB30-07BA-EC05-18BF6E6890C7}"/>
              </a:ext>
            </a:extLst>
          </p:cNvPr>
          <p:cNvGrpSpPr>
            <a:grpSpLocks/>
          </p:cNvGrpSpPr>
          <p:nvPr/>
        </p:nvGrpSpPr>
        <p:grpSpPr bwMode="auto">
          <a:xfrm>
            <a:off x="2056878" y="4138070"/>
            <a:ext cx="3708400" cy="2381250"/>
            <a:chOff x="202" y="2490"/>
            <a:chExt cx="2336" cy="1500"/>
          </a:xfrm>
        </p:grpSpPr>
        <p:sp>
          <p:nvSpPr>
            <p:cNvPr id="81" name="Line 47">
              <a:extLst>
                <a:ext uri="{FF2B5EF4-FFF2-40B4-BE49-F238E27FC236}">
                  <a16:creationId xmlns:a16="http://schemas.microsoft.com/office/drawing/2014/main" id="{6518543C-8F60-A393-4E73-D99F119F9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" y="3990"/>
              <a:ext cx="2327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" name="Line 57">
              <a:extLst>
                <a:ext uri="{FF2B5EF4-FFF2-40B4-BE49-F238E27FC236}">
                  <a16:creationId xmlns:a16="http://schemas.microsoft.com/office/drawing/2014/main" id="{22634198-C58E-293E-7EA4-D3E53BAD0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" y="2490"/>
              <a:ext cx="2327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3" name="Group 58">
            <a:extLst>
              <a:ext uri="{FF2B5EF4-FFF2-40B4-BE49-F238E27FC236}">
                <a16:creationId xmlns:a16="http://schemas.microsoft.com/office/drawing/2014/main" id="{FD03BA5E-A745-8847-4E1A-5488ED8B9101}"/>
              </a:ext>
            </a:extLst>
          </p:cNvPr>
          <p:cNvGrpSpPr>
            <a:grpSpLocks/>
          </p:cNvGrpSpPr>
          <p:nvPr/>
        </p:nvGrpSpPr>
        <p:grpSpPr bwMode="auto">
          <a:xfrm>
            <a:off x="2361678" y="3811045"/>
            <a:ext cx="3121025" cy="2744788"/>
            <a:chOff x="1398" y="2248"/>
            <a:chExt cx="3630" cy="1729"/>
          </a:xfrm>
        </p:grpSpPr>
        <p:sp>
          <p:nvSpPr>
            <p:cNvPr id="84" name="Freeform 59">
              <a:extLst>
                <a:ext uri="{FF2B5EF4-FFF2-40B4-BE49-F238E27FC236}">
                  <a16:creationId xmlns:a16="http://schemas.microsoft.com/office/drawing/2014/main" id="{C76D16C4-AC27-C81F-A9B3-E25174E1D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2248"/>
              <a:ext cx="1210" cy="1729"/>
            </a:xfrm>
            <a:custGeom>
              <a:avLst/>
              <a:gdLst>
                <a:gd name="T0" fmla="*/ 0 w 1210"/>
                <a:gd name="T1" fmla="*/ 956 h 1729"/>
                <a:gd name="T2" fmla="*/ 240 w 1210"/>
                <a:gd name="T3" fmla="*/ 116 h 1729"/>
                <a:gd name="T4" fmla="*/ 450 w 1210"/>
                <a:gd name="T5" fmla="*/ 1652 h 1729"/>
                <a:gd name="T6" fmla="*/ 714 w 1210"/>
                <a:gd name="T7" fmla="*/ 578 h 1729"/>
                <a:gd name="T8" fmla="*/ 882 w 1210"/>
                <a:gd name="T9" fmla="*/ 1148 h 1729"/>
                <a:gd name="T10" fmla="*/ 1062 w 1210"/>
                <a:gd name="T11" fmla="*/ 830 h 1729"/>
                <a:gd name="T12" fmla="*/ 1172 w 1210"/>
                <a:gd name="T13" fmla="*/ 1038 h 1729"/>
                <a:gd name="T14" fmla="*/ 1210 w 1210"/>
                <a:gd name="T15" fmla="*/ 960 h 1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0" h="1729">
                  <a:moveTo>
                    <a:pt x="0" y="956"/>
                  </a:moveTo>
                  <a:cubicBezTo>
                    <a:pt x="40" y="816"/>
                    <a:pt x="165" y="0"/>
                    <a:pt x="240" y="116"/>
                  </a:cubicBezTo>
                  <a:cubicBezTo>
                    <a:pt x="315" y="232"/>
                    <a:pt x="371" y="1575"/>
                    <a:pt x="450" y="1652"/>
                  </a:cubicBezTo>
                  <a:cubicBezTo>
                    <a:pt x="529" y="1729"/>
                    <a:pt x="642" y="662"/>
                    <a:pt x="714" y="578"/>
                  </a:cubicBezTo>
                  <a:cubicBezTo>
                    <a:pt x="786" y="494"/>
                    <a:pt x="824" y="1106"/>
                    <a:pt x="882" y="1148"/>
                  </a:cubicBezTo>
                  <a:cubicBezTo>
                    <a:pt x="940" y="1190"/>
                    <a:pt x="1014" y="848"/>
                    <a:pt x="1062" y="830"/>
                  </a:cubicBezTo>
                  <a:cubicBezTo>
                    <a:pt x="1110" y="812"/>
                    <a:pt x="1147" y="1016"/>
                    <a:pt x="1172" y="1038"/>
                  </a:cubicBezTo>
                  <a:cubicBezTo>
                    <a:pt x="1197" y="1060"/>
                    <a:pt x="1202" y="976"/>
                    <a:pt x="1210" y="960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5" name="Freeform 60">
              <a:extLst>
                <a:ext uri="{FF2B5EF4-FFF2-40B4-BE49-F238E27FC236}">
                  <a16:creationId xmlns:a16="http://schemas.microsoft.com/office/drawing/2014/main" id="{840D3724-6727-0C8F-D3F0-470CE5459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298"/>
              <a:ext cx="1210" cy="1665"/>
            </a:xfrm>
            <a:custGeom>
              <a:avLst/>
              <a:gdLst>
                <a:gd name="T0" fmla="*/ 0 w 1210"/>
                <a:gd name="T1" fmla="*/ 906 h 1665"/>
                <a:gd name="T2" fmla="*/ 249 w 1210"/>
                <a:gd name="T3" fmla="*/ 108 h 1665"/>
                <a:gd name="T4" fmla="*/ 459 w 1210"/>
                <a:gd name="T5" fmla="*/ 1554 h 1665"/>
                <a:gd name="T6" fmla="*/ 581 w 1210"/>
                <a:gd name="T7" fmla="*/ 774 h 1665"/>
                <a:gd name="T8" fmla="*/ 665 w 1210"/>
                <a:gd name="T9" fmla="*/ 538 h 1665"/>
                <a:gd name="T10" fmla="*/ 757 w 1210"/>
                <a:gd name="T11" fmla="*/ 670 h 1665"/>
                <a:gd name="T12" fmla="*/ 882 w 1210"/>
                <a:gd name="T13" fmla="*/ 1098 h 1665"/>
                <a:gd name="T14" fmla="*/ 1062 w 1210"/>
                <a:gd name="T15" fmla="*/ 780 h 1665"/>
                <a:gd name="T16" fmla="*/ 1172 w 1210"/>
                <a:gd name="T17" fmla="*/ 988 h 1665"/>
                <a:gd name="T18" fmla="*/ 1210 w 1210"/>
                <a:gd name="T19" fmla="*/ 910 h 1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0" h="1665">
                  <a:moveTo>
                    <a:pt x="0" y="906"/>
                  </a:moveTo>
                  <a:cubicBezTo>
                    <a:pt x="41" y="773"/>
                    <a:pt x="173" y="0"/>
                    <a:pt x="249" y="108"/>
                  </a:cubicBezTo>
                  <a:cubicBezTo>
                    <a:pt x="325" y="216"/>
                    <a:pt x="404" y="1443"/>
                    <a:pt x="459" y="1554"/>
                  </a:cubicBezTo>
                  <a:cubicBezTo>
                    <a:pt x="514" y="1665"/>
                    <a:pt x="547" y="943"/>
                    <a:pt x="581" y="774"/>
                  </a:cubicBezTo>
                  <a:cubicBezTo>
                    <a:pt x="615" y="605"/>
                    <a:pt x="636" y="555"/>
                    <a:pt x="665" y="538"/>
                  </a:cubicBezTo>
                  <a:cubicBezTo>
                    <a:pt x="694" y="521"/>
                    <a:pt x="721" y="577"/>
                    <a:pt x="757" y="670"/>
                  </a:cubicBezTo>
                  <a:cubicBezTo>
                    <a:pt x="793" y="763"/>
                    <a:pt x="831" y="1080"/>
                    <a:pt x="882" y="1098"/>
                  </a:cubicBezTo>
                  <a:cubicBezTo>
                    <a:pt x="933" y="1116"/>
                    <a:pt x="1014" y="798"/>
                    <a:pt x="1062" y="780"/>
                  </a:cubicBezTo>
                  <a:cubicBezTo>
                    <a:pt x="1110" y="762"/>
                    <a:pt x="1147" y="966"/>
                    <a:pt x="1172" y="988"/>
                  </a:cubicBezTo>
                  <a:cubicBezTo>
                    <a:pt x="1197" y="1010"/>
                    <a:pt x="1202" y="926"/>
                    <a:pt x="1210" y="910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" name="Freeform 61">
              <a:extLst>
                <a:ext uri="{FF2B5EF4-FFF2-40B4-BE49-F238E27FC236}">
                  <a16:creationId xmlns:a16="http://schemas.microsoft.com/office/drawing/2014/main" id="{0CBDB983-C3BE-4A30-2FB0-327B77EC9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467"/>
              <a:ext cx="1210" cy="1176"/>
            </a:xfrm>
            <a:custGeom>
              <a:avLst/>
              <a:gdLst>
                <a:gd name="T0" fmla="*/ 0 w 1210"/>
                <a:gd name="T1" fmla="*/ 739 h 1176"/>
                <a:gd name="T2" fmla="*/ 220 w 1210"/>
                <a:gd name="T3" fmla="*/ 65 h 1176"/>
                <a:gd name="T4" fmla="*/ 466 w 1210"/>
                <a:gd name="T5" fmla="*/ 1127 h 1176"/>
                <a:gd name="T6" fmla="*/ 714 w 1210"/>
                <a:gd name="T7" fmla="*/ 361 h 1176"/>
                <a:gd name="T8" fmla="*/ 898 w 1210"/>
                <a:gd name="T9" fmla="*/ 845 h 1176"/>
                <a:gd name="T10" fmla="*/ 1054 w 1210"/>
                <a:gd name="T11" fmla="*/ 665 h 1176"/>
                <a:gd name="T12" fmla="*/ 1172 w 1210"/>
                <a:gd name="T13" fmla="*/ 821 h 1176"/>
                <a:gd name="T14" fmla="*/ 1210 w 1210"/>
                <a:gd name="T15" fmla="*/ 743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0" h="1176">
                  <a:moveTo>
                    <a:pt x="0" y="739"/>
                  </a:moveTo>
                  <a:cubicBezTo>
                    <a:pt x="37" y="627"/>
                    <a:pt x="142" y="0"/>
                    <a:pt x="220" y="65"/>
                  </a:cubicBezTo>
                  <a:cubicBezTo>
                    <a:pt x="298" y="130"/>
                    <a:pt x="384" y="1078"/>
                    <a:pt x="466" y="1127"/>
                  </a:cubicBezTo>
                  <a:cubicBezTo>
                    <a:pt x="548" y="1176"/>
                    <a:pt x="642" y="408"/>
                    <a:pt x="714" y="361"/>
                  </a:cubicBezTo>
                  <a:cubicBezTo>
                    <a:pt x="786" y="314"/>
                    <a:pt x="841" y="794"/>
                    <a:pt x="898" y="845"/>
                  </a:cubicBezTo>
                  <a:cubicBezTo>
                    <a:pt x="955" y="896"/>
                    <a:pt x="1008" y="669"/>
                    <a:pt x="1054" y="665"/>
                  </a:cubicBezTo>
                  <a:cubicBezTo>
                    <a:pt x="1100" y="661"/>
                    <a:pt x="1146" y="808"/>
                    <a:pt x="1172" y="821"/>
                  </a:cubicBezTo>
                  <a:cubicBezTo>
                    <a:pt x="1198" y="834"/>
                    <a:pt x="1202" y="759"/>
                    <a:pt x="1210" y="743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7" name="Group 63">
            <a:extLst>
              <a:ext uri="{FF2B5EF4-FFF2-40B4-BE49-F238E27FC236}">
                <a16:creationId xmlns:a16="http://schemas.microsoft.com/office/drawing/2014/main" id="{EA154432-4130-0BDF-910B-C75224849860}"/>
              </a:ext>
            </a:extLst>
          </p:cNvPr>
          <p:cNvGrpSpPr>
            <a:grpSpLocks/>
          </p:cNvGrpSpPr>
          <p:nvPr/>
        </p:nvGrpSpPr>
        <p:grpSpPr bwMode="auto">
          <a:xfrm>
            <a:off x="7060679" y="4565108"/>
            <a:ext cx="3121025" cy="1374775"/>
            <a:chOff x="1398" y="2248"/>
            <a:chExt cx="3630" cy="1729"/>
          </a:xfrm>
        </p:grpSpPr>
        <p:sp>
          <p:nvSpPr>
            <p:cNvPr id="88" name="Freeform 64">
              <a:extLst>
                <a:ext uri="{FF2B5EF4-FFF2-40B4-BE49-F238E27FC236}">
                  <a16:creationId xmlns:a16="http://schemas.microsoft.com/office/drawing/2014/main" id="{F6EE9A5F-DB0C-9F48-AF44-A1277E91B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2248"/>
              <a:ext cx="1210" cy="1729"/>
            </a:xfrm>
            <a:custGeom>
              <a:avLst/>
              <a:gdLst>
                <a:gd name="T0" fmla="*/ 0 w 1210"/>
                <a:gd name="T1" fmla="*/ 956 h 1729"/>
                <a:gd name="T2" fmla="*/ 240 w 1210"/>
                <a:gd name="T3" fmla="*/ 116 h 1729"/>
                <a:gd name="T4" fmla="*/ 450 w 1210"/>
                <a:gd name="T5" fmla="*/ 1652 h 1729"/>
                <a:gd name="T6" fmla="*/ 714 w 1210"/>
                <a:gd name="T7" fmla="*/ 578 h 1729"/>
                <a:gd name="T8" fmla="*/ 882 w 1210"/>
                <a:gd name="T9" fmla="*/ 1148 h 1729"/>
                <a:gd name="T10" fmla="*/ 1062 w 1210"/>
                <a:gd name="T11" fmla="*/ 830 h 1729"/>
                <a:gd name="T12" fmla="*/ 1172 w 1210"/>
                <a:gd name="T13" fmla="*/ 1038 h 1729"/>
                <a:gd name="T14" fmla="*/ 1210 w 1210"/>
                <a:gd name="T15" fmla="*/ 960 h 1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0" h="1729">
                  <a:moveTo>
                    <a:pt x="0" y="956"/>
                  </a:moveTo>
                  <a:cubicBezTo>
                    <a:pt x="40" y="816"/>
                    <a:pt x="165" y="0"/>
                    <a:pt x="240" y="116"/>
                  </a:cubicBezTo>
                  <a:cubicBezTo>
                    <a:pt x="315" y="232"/>
                    <a:pt x="371" y="1575"/>
                    <a:pt x="450" y="1652"/>
                  </a:cubicBezTo>
                  <a:cubicBezTo>
                    <a:pt x="529" y="1729"/>
                    <a:pt x="642" y="662"/>
                    <a:pt x="714" y="578"/>
                  </a:cubicBezTo>
                  <a:cubicBezTo>
                    <a:pt x="786" y="494"/>
                    <a:pt x="824" y="1106"/>
                    <a:pt x="882" y="1148"/>
                  </a:cubicBezTo>
                  <a:cubicBezTo>
                    <a:pt x="940" y="1190"/>
                    <a:pt x="1014" y="848"/>
                    <a:pt x="1062" y="830"/>
                  </a:cubicBezTo>
                  <a:cubicBezTo>
                    <a:pt x="1110" y="812"/>
                    <a:pt x="1147" y="1016"/>
                    <a:pt x="1172" y="1038"/>
                  </a:cubicBezTo>
                  <a:cubicBezTo>
                    <a:pt x="1197" y="1060"/>
                    <a:pt x="1202" y="976"/>
                    <a:pt x="1210" y="960"/>
                  </a:cubicBezTo>
                </a:path>
              </a:pathLst>
            </a:custGeom>
            <a:noFill/>
            <a:ln w="3810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9" name="Freeform 65">
              <a:extLst>
                <a:ext uri="{FF2B5EF4-FFF2-40B4-BE49-F238E27FC236}">
                  <a16:creationId xmlns:a16="http://schemas.microsoft.com/office/drawing/2014/main" id="{C86120BB-D59C-3234-2FEE-1C701466E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298"/>
              <a:ext cx="1210" cy="1665"/>
            </a:xfrm>
            <a:custGeom>
              <a:avLst/>
              <a:gdLst>
                <a:gd name="T0" fmla="*/ 0 w 1210"/>
                <a:gd name="T1" fmla="*/ 906 h 1665"/>
                <a:gd name="T2" fmla="*/ 249 w 1210"/>
                <a:gd name="T3" fmla="*/ 108 h 1665"/>
                <a:gd name="T4" fmla="*/ 459 w 1210"/>
                <a:gd name="T5" fmla="*/ 1554 h 1665"/>
                <a:gd name="T6" fmla="*/ 581 w 1210"/>
                <a:gd name="T7" fmla="*/ 774 h 1665"/>
                <a:gd name="T8" fmla="*/ 665 w 1210"/>
                <a:gd name="T9" fmla="*/ 538 h 1665"/>
                <a:gd name="T10" fmla="*/ 757 w 1210"/>
                <a:gd name="T11" fmla="*/ 670 h 1665"/>
                <a:gd name="T12" fmla="*/ 882 w 1210"/>
                <a:gd name="T13" fmla="*/ 1098 h 1665"/>
                <a:gd name="T14" fmla="*/ 1062 w 1210"/>
                <a:gd name="T15" fmla="*/ 780 h 1665"/>
                <a:gd name="T16" fmla="*/ 1172 w 1210"/>
                <a:gd name="T17" fmla="*/ 988 h 1665"/>
                <a:gd name="T18" fmla="*/ 1210 w 1210"/>
                <a:gd name="T19" fmla="*/ 910 h 1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0" h="1665">
                  <a:moveTo>
                    <a:pt x="0" y="906"/>
                  </a:moveTo>
                  <a:cubicBezTo>
                    <a:pt x="41" y="773"/>
                    <a:pt x="173" y="0"/>
                    <a:pt x="249" y="108"/>
                  </a:cubicBezTo>
                  <a:cubicBezTo>
                    <a:pt x="325" y="216"/>
                    <a:pt x="404" y="1443"/>
                    <a:pt x="459" y="1554"/>
                  </a:cubicBezTo>
                  <a:cubicBezTo>
                    <a:pt x="514" y="1665"/>
                    <a:pt x="547" y="943"/>
                    <a:pt x="581" y="774"/>
                  </a:cubicBezTo>
                  <a:cubicBezTo>
                    <a:pt x="615" y="605"/>
                    <a:pt x="636" y="555"/>
                    <a:pt x="665" y="538"/>
                  </a:cubicBezTo>
                  <a:cubicBezTo>
                    <a:pt x="694" y="521"/>
                    <a:pt x="721" y="577"/>
                    <a:pt x="757" y="670"/>
                  </a:cubicBezTo>
                  <a:cubicBezTo>
                    <a:pt x="793" y="763"/>
                    <a:pt x="831" y="1080"/>
                    <a:pt x="882" y="1098"/>
                  </a:cubicBezTo>
                  <a:cubicBezTo>
                    <a:pt x="933" y="1116"/>
                    <a:pt x="1014" y="798"/>
                    <a:pt x="1062" y="780"/>
                  </a:cubicBezTo>
                  <a:cubicBezTo>
                    <a:pt x="1110" y="762"/>
                    <a:pt x="1147" y="966"/>
                    <a:pt x="1172" y="988"/>
                  </a:cubicBezTo>
                  <a:cubicBezTo>
                    <a:pt x="1197" y="1010"/>
                    <a:pt x="1202" y="926"/>
                    <a:pt x="1210" y="910"/>
                  </a:cubicBezTo>
                </a:path>
              </a:pathLst>
            </a:custGeom>
            <a:noFill/>
            <a:ln w="3810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0" name="Freeform 66">
              <a:extLst>
                <a:ext uri="{FF2B5EF4-FFF2-40B4-BE49-F238E27FC236}">
                  <a16:creationId xmlns:a16="http://schemas.microsoft.com/office/drawing/2014/main" id="{0005C705-8DA3-46DE-4688-7468FF286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467"/>
              <a:ext cx="1210" cy="1176"/>
            </a:xfrm>
            <a:custGeom>
              <a:avLst/>
              <a:gdLst>
                <a:gd name="T0" fmla="*/ 0 w 1210"/>
                <a:gd name="T1" fmla="*/ 739 h 1176"/>
                <a:gd name="T2" fmla="*/ 220 w 1210"/>
                <a:gd name="T3" fmla="*/ 65 h 1176"/>
                <a:gd name="T4" fmla="*/ 466 w 1210"/>
                <a:gd name="T5" fmla="*/ 1127 h 1176"/>
                <a:gd name="T6" fmla="*/ 714 w 1210"/>
                <a:gd name="T7" fmla="*/ 361 h 1176"/>
                <a:gd name="T8" fmla="*/ 898 w 1210"/>
                <a:gd name="T9" fmla="*/ 845 h 1176"/>
                <a:gd name="T10" fmla="*/ 1054 w 1210"/>
                <a:gd name="T11" fmla="*/ 665 h 1176"/>
                <a:gd name="T12" fmla="*/ 1172 w 1210"/>
                <a:gd name="T13" fmla="*/ 821 h 1176"/>
                <a:gd name="T14" fmla="*/ 1210 w 1210"/>
                <a:gd name="T15" fmla="*/ 743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0" h="1176">
                  <a:moveTo>
                    <a:pt x="0" y="739"/>
                  </a:moveTo>
                  <a:cubicBezTo>
                    <a:pt x="37" y="627"/>
                    <a:pt x="142" y="0"/>
                    <a:pt x="220" y="65"/>
                  </a:cubicBezTo>
                  <a:cubicBezTo>
                    <a:pt x="298" y="130"/>
                    <a:pt x="384" y="1078"/>
                    <a:pt x="466" y="1127"/>
                  </a:cubicBezTo>
                  <a:cubicBezTo>
                    <a:pt x="548" y="1176"/>
                    <a:pt x="642" y="408"/>
                    <a:pt x="714" y="361"/>
                  </a:cubicBezTo>
                  <a:cubicBezTo>
                    <a:pt x="786" y="314"/>
                    <a:pt x="841" y="794"/>
                    <a:pt x="898" y="845"/>
                  </a:cubicBezTo>
                  <a:cubicBezTo>
                    <a:pt x="955" y="896"/>
                    <a:pt x="1008" y="669"/>
                    <a:pt x="1054" y="665"/>
                  </a:cubicBezTo>
                  <a:cubicBezTo>
                    <a:pt x="1100" y="661"/>
                    <a:pt x="1146" y="808"/>
                    <a:pt x="1172" y="821"/>
                  </a:cubicBezTo>
                  <a:cubicBezTo>
                    <a:pt x="1198" y="834"/>
                    <a:pt x="1202" y="759"/>
                    <a:pt x="1210" y="743"/>
                  </a:cubicBezTo>
                </a:path>
              </a:pathLst>
            </a:custGeom>
            <a:noFill/>
            <a:ln w="3810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1" name="Line 67">
            <a:extLst>
              <a:ext uri="{FF2B5EF4-FFF2-40B4-BE49-F238E27FC236}">
                <a16:creationId xmlns:a16="http://schemas.microsoft.com/office/drawing/2014/main" id="{3F151D93-FF5D-39FE-F0EA-B3B521F1F5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55916" y="3952333"/>
            <a:ext cx="0" cy="2651125"/>
          </a:xfrm>
          <a:prstGeom prst="line">
            <a:avLst/>
          </a:prstGeom>
          <a:noFill/>
          <a:ln w="254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2" name="Text Box 68">
            <a:extLst>
              <a:ext uri="{FF2B5EF4-FFF2-40B4-BE49-F238E27FC236}">
                <a16:creationId xmlns:a16="http://schemas.microsoft.com/office/drawing/2014/main" id="{E97EB7A6-0C80-C0CC-BD0D-3C79AD453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9779" y="5538246"/>
            <a:ext cx="1651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pt-BR" altLang="pt-BR" sz="1800" i="1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93" name="Line 69">
            <a:extLst>
              <a:ext uri="{FF2B5EF4-FFF2-40B4-BE49-F238E27FC236}">
                <a16:creationId xmlns:a16="http://schemas.microsoft.com/office/drawing/2014/main" id="{D840222C-3FED-2FBE-EFA1-7E52EB97D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89641" y="5709696"/>
            <a:ext cx="3175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4" name="Line 70">
            <a:extLst>
              <a:ext uri="{FF2B5EF4-FFF2-40B4-BE49-F238E27FC236}">
                <a16:creationId xmlns:a16="http://schemas.microsoft.com/office/drawing/2014/main" id="{767EEBD5-8C62-693E-1AEA-CD2EEBA5E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0004" y="5333458"/>
            <a:ext cx="3697288" cy="1588"/>
          </a:xfrm>
          <a:prstGeom prst="line">
            <a:avLst/>
          </a:prstGeom>
          <a:noFill/>
          <a:ln w="127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5" name="Line 112">
            <a:extLst>
              <a:ext uri="{FF2B5EF4-FFF2-40B4-BE49-F238E27FC236}">
                <a16:creationId xmlns:a16="http://schemas.microsoft.com/office/drawing/2014/main" id="{8A4E9D24-655E-09F4-5F7B-5656F0B71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241" y="5396959"/>
            <a:ext cx="3694113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6" name="Line 113">
            <a:extLst>
              <a:ext uri="{FF2B5EF4-FFF2-40B4-BE49-F238E27FC236}">
                <a16:creationId xmlns:a16="http://schemas.microsoft.com/office/drawing/2014/main" id="{A8A1990A-2DEA-A2AB-B7DD-BDC7926A0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241" y="5277896"/>
            <a:ext cx="3694113" cy="0"/>
          </a:xfrm>
          <a:prstGeom prst="line">
            <a:avLst/>
          </a:prstGeom>
          <a:noFill/>
          <a:ln w="254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97" name="Group 114">
            <a:extLst>
              <a:ext uri="{FF2B5EF4-FFF2-40B4-BE49-F238E27FC236}">
                <a16:creationId xmlns:a16="http://schemas.microsoft.com/office/drawing/2014/main" id="{57BF2709-FDE2-0A74-6DC5-E3860EA24871}"/>
              </a:ext>
            </a:extLst>
          </p:cNvPr>
          <p:cNvGrpSpPr>
            <a:grpSpLocks/>
          </p:cNvGrpSpPr>
          <p:nvPr/>
        </p:nvGrpSpPr>
        <p:grpSpPr bwMode="auto">
          <a:xfrm>
            <a:off x="6735241" y="5069933"/>
            <a:ext cx="3694113" cy="534988"/>
            <a:chOff x="244" y="1334"/>
            <a:chExt cx="2327" cy="643"/>
          </a:xfrm>
        </p:grpSpPr>
        <p:sp>
          <p:nvSpPr>
            <p:cNvPr id="98" name="Line 115">
              <a:extLst>
                <a:ext uri="{FF2B5EF4-FFF2-40B4-BE49-F238E27FC236}">
                  <a16:creationId xmlns:a16="http://schemas.microsoft.com/office/drawing/2014/main" id="{D8C50754-B932-07B7-3F96-2F74A94E0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" y="1977"/>
              <a:ext cx="2327" cy="0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9" name="Line 116">
              <a:extLst>
                <a:ext uri="{FF2B5EF4-FFF2-40B4-BE49-F238E27FC236}">
                  <a16:creationId xmlns:a16="http://schemas.microsoft.com/office/drawing/2014/main" id="{37AB21C3-290D-287A-6ACD-BC6F3ADDB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" y="1334"/>
              <a:ext cx="2327" cy="0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0" name="Group 117">
            <a:extLst>
              <a:ext uri="{FF2B5EF4-FFF2-40B4-BE49-F238E27FC236}">
                <a16:creationId xmlns:a16="http://schemas.microsoft.com/office/drawing/2014/main" id="{C2D1C376-D23E-4D93-83D1-09AE0D51F36B}"/>
              </a:ext>
            </a:extLst>
          </p:cNvPr>
          <p:cNvGrpSpPr>
            <a:grpSpLocks/>
          </p:cNvGrpSpPr>
          <p:nvPr/>
        </p:nvGrpSpPr>
        <p:grpSpPr bwMode="auto">
          <a:xfrm>
            <a:off x="6735241" y="4706396"/>
            <a:ext cx="3694113" cy="1277938"/>
            <a:chOff x="244" y="1119"/>
            <a:chExt cx="2327" cy="1072"/>
          </a:xfrm>
        </p:grpSpPr>
        <p:sp>
          <p:nvSpPr>
            <p:cNvPr id="101" name="Line 118">
              <a:extLst>
                <a:ext uri="{FF2B5EF4-FFF2-40B4-BE49-F238E27FC236}">
                  <a16:creationId xmlns:a16="http://schemas.microsoft.com/office/drawing/2014/main" id="{9AC5D1B6-D2AF-E867-4047-7464A2931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" y="2191"/>
              <a:ext cx="2327" cy="0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" name="Line 119">
              <a:extLst>
                <a:ext uri="{FF2B5EF4-FFF2-40B4-BE49-F238E27FC236}">
                  <a16:creationId xmlns:a16="http://schemas.microsoft.com/office/drawing/2014/main" id="{770FB61B-5DE6-2ACB-16AE-00F0BEB40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" y="1119"/>
              <a:ext cx="2327" cy="0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3" name="Group 120">
            <a:extLst>
              <a:ext uri="{FF2B5EF4-FFF2-40B4-BE49-F238E27FC236}">
                <a16:creationId xmlns:a16="http://schemas.microsoft.com/office/drawing/2014/main" id="{FB28D822-A8F3-4360-0396-79450E8357D3}"/>
              </a:ext>
            </a:extLst>
          </p:cNvPr>
          <p:cNvGrpSpPr>
            <a:grpSpLocks/>
          </p:cNvGrpSpPr>
          <p:nvPr/>
        </p:nvGrpSpPr>
        <p:grpSpPr bwMode="auto">
          <a:xfrm>
            <a:off x="6735241" y="4139658"/>
            <a:ext cx="3708400" cy="2381250"/>
            <a:chOff x="202" y="2490"/>
            <a:chExt cx="2336" cy="1500"/>
          </a:xfrm>
        </p:grpSpPr>
        <p:sp>
          <p:nvSpPr>
            <p:cNvPr id="104" name="Line 121">
              <a:extLst>
                <a:ext uri="{FF2B5EF4-FFF2-40B4-BE49-F238E27FC236}">
                  <a16:creationId xmlns:a16="http://schemas.microsoft.com/office/drawing/2014/main" id="{B8B8E0CF-184C-1D91-AD45-8AE049753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" y="3990"/>
              <a:ext cx="2327" cy="0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5" name="Line 122">
              <a:extLst>
                <a:ext uri="{FF2B5EF4-FFF2-40B4-BE49-F238E27FC236}">
                  <a16:creationId xmlns:a16="http://schemas.microsoft.com/office/drawing/2014/main" id="{C23B8284-3415-2EDE-B9C2-D3CC7CC4F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" y="2490"/>
              <a:ext cx="2327" cy="0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D02487C2-B81E-114A-0CCF-94DD763FF4F1}"/>
              </a:ext>
            </a:extLst>
          </p:cNvPr>
          <p:cNvSpPr txBox="1"/>
          <p:nvPr/>
        </p:nvSpPr>
        <p:spPr>
          <a:xfrm rot="16200000">
            <a:off x="506925" y="2019810"/>
            <a:ext cx="1566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Uniforme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608F14C9-804A-AD76-635F-3B678EADC7F7}"/>
              </a:ext>
            </a:extLst>
          </p:cNvPr>
          <p:cNvSpPr txBox="1"/>
          <p:nvPr/>
        </p:nvSpPr>
        <p:spPr>
          <a:xfrm rot="16200000">
            <a:off x="143696" y="4818973"/>
            <a:ext cx="2270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Não-Uniforme</a:t>
            </a:r>
          </a:p>
        </p:txBody>
      </p:sp>
    </p:spTree>
    <p:extLst>
      <p:ext uri="{BB962C8B-B14F-4D97-AF65-F5344CB8AC3E}">
        <p14:creationId xmlns:p14="http://schemas.microsoft.com/office/powerpoint/2010/main" val="32543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32347-4BF5-1D1F-9E85-3D368A96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Quantização não-uniforme baseada</a:t>
            </a:r>
            <a:br>
              <a:rPr lang="pt-BR" altLang="pt-BR" dirty="0"/>
            </a:br>
            <a:r>
              <a:rPr lang="pt-BR" altLang="pt-BR" dirty="0" err="1"/>
              <a:t>Compansão</a:t>
            </a:r>
            <a:r>
              <a:rPr lang="pt-BR" altLang="pt-BR" dirty="0"/>
              <a:t> </a:t>
            </a:r>
            <a:endParaRPr lang="pt-BR" dirty="0"/>
          </a:p>
        </p:txBody>
      </p:sp>
      <p:sp>
        <p:nvSpPr>
          <p:cNvPr id="3" name="Line 14">
            <a:extLst>
              <a:ext uri="{FF2B5EF4-FFF2-40B4-BE49-F238E27FC236}">
                <a16:creationId xmlns:a16="http://schemas.microsoft.com/office/drawing/2014/main" id="{2A5330C4-6A59-8A72-9930-28060AB00FC5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495800" y="2797176"/>
            <a:ext cx="973138" cy="3175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" name="AutoShape 15">
            <a:extLst>
              <a:ext uri="{FF2B5EF4-FFF2-40B4-BE49-F238E27FC236}">
                <a16:creationId xmlns:a16="http://schemas.microsoft.com/office/drawing/2014/main" id="{E15BDA6F-8749-473B-AFD3-F12C545C34A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974975" y="2274889"/>
            <a:ext cx="1373188" cy="1042987"/>
          </a:xfrm>
          <a:prstGeom prst="flowChartProcess">
            <a:avLst/>
          </a:prstGeom>
          <a:solidFill>
            <a:srgbClr val="CCFFCC"/>
          </a:solidFill>
          <a:ln w="38100">
            <a:solidFill>
              <a:srgbClr val="0066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pPr>
              <a:spcBef>
                <a:spcPct val="0"/>
              </a:spcBef>
            </a:pPr>
            <a:r>
              <a:rPr lang="pt-BR" altLang="pt-BR" sz="2000"/>
              <a:t>Compressor</a:t>
            </a:r>
          </a:p>
          <a:p>
            <a:pPr>
              <a:spcBef>
                <a:spcPct val="0"/>
              </a:spcBef>
            </a:pPr>
            <a:r>
              <a:rPr lang="pt-BR" altLang="pt-BR" sz="2000"/>
              <a:t>C[</a:t>
            </a:r>
            <a:r>
              <a:rPr lang="pt-BR" altLang="pt-BR" sz="2000" baseline="-25000"/>
              <a:t> </a:t>
            </a:r>
            <a:r>
              <a:rPr lang="pt-BR" altLang="pt-BR" sz="2000"/>
              <a:t>·</a:t>
            </a:r>
            <a:r>
              <a:rPr lang="pt-BR" altLang="pt-BR" sz="2000" baseline="-25000"/>
              <a:t> </a:t>
            </a:r>
            <a:r>
              <a:rPr lang="pt-BR" altLang="pt-BR" sz="2000"/>
              <a:t>]</a:t>
            </a:r>
          </a:p>
        </p:txBody>
      </p:sp>
      <p:sp>
        <p:nvSpPr>
          <p:cNvPr id="5" name="Line 16">
            <a:extLst>
              <a:ext uri="{FF2B5EF4-FFF2-40B4-BE49-F238E27FC236}">
                <a16:creationId xmlns:a16="http://schemas.microsoft.com/office/drawing/2014/main" id="{0D28136E-2E6F-1DDD-EC74-A745A1506794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2071688" y="2786064"/>
            <a:ext cx="906462" cy="1587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9EAC2A66-79EF-0606-A6D1-A3699E50F5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4526" y="2398713"/>
          <a:ext cx="7540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800" imgH="228600" progId="Equation.3">
                  <p:embed/>
                </p:oleObj>
              </mc:Choice>
              <mc:Fallback>
                <p:oleObj name="Equation" r:id="rId2" imgW="469800" imgH="228600" progId="Equation.3">
                  <p:embed/>
                  <p:pic>
                    <p:nvPicPr>
                      <p:cNvPr id="307217" name="Object 17">
                        <a:extLst>
                          <a:ext uri="{FF2B5EF4-FFF2-40B4-BE49-F238E27FC236}">
                            <a16:creationId xmlns:a16="http://schemas.microsoft.com/office/drawing/2014/main" id="{45D4864A-9953-A595-F8CD-6502FC7F53C3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6" y="2398713"/>
                        <a:ext cx="75406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DB2E29CF-6A28-13F0-E108-FA63D75EC2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0263" y="2397125"/>
          <a:ext cx="754062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228600" progId="Equation.3">
                  <p:embed/>
                </p:oleObj>
              </mc:Choice>
              <mc:Fallback>
                <p:oleObj name="Equation" r:id="rId4" imgW="469800" imgH="228600" progId="Equation.3">
                  <p:embed/>
                  <p:pic>
                    <p:nvPicPr>
                      <p:cNvPr id="307218" name="Object 18">
                        <a:extLst>
                          <a:ext uri="{FF2B5EF4-FFF2-40B4-BE49-F238E27FC236}">
                            <a16:creationId xmlns:a16="http://schemas.microsoft.com/office/drawing/2014/main" id="{255E298C-8BE5-F7A7-AF86-87B34AFF3ED8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2397125"/>
                        <a:ext cx="754062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22">
            <a:extLst>
              <a:ext uri="{FF2B5EF4-FFF2-40B4-BE49-F238E27FC236}">
                <a16:creationId xmlns:a16="http://schemas.microsoft.com/office/drawing/2014/main" id="{83E65652-1A65-60F3-5C2D-CA0650845DF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472114" y="2289345"/>
            <a:ext cx="1397677" cy="1015663"/>
          </a:xfrm>
          <a:prstGeom prst="flowChartProcess">
            <a:avLst/>
          </a:prstGeom>
          <a:solidFill>
            <a:srgbClr val="CCFFCC"/>
          </a:solidFill>
          <a:ln w="38100">
            <a:solidFill>
              <a:srgbClr val="0066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pt-BR" altLang="pt-BR" sz="2000"/>
              <a:t>Quantizador</a:t>
            </a:r>
          </a:p>
          <a:p>
            <a:pPr>
              <a:spcBef>
                <a:spcPct val="0"/>
              </a:spcBef>
            </a:pPr>
            <a:r>
              <a:rPr lang="pt-BR" altLang="pt-BR" sz="2000"/>
              <a:t>uniforme</a:t>
            </a:r>
          </a:p>
          <a:p>
            <a:pPr>
              <a:spcBef>
                <a:spcPct val="0"/>
              </a:spcBef>
            </a:pPr>
            <a:r>
              <a:rPr lang="pt-BR" altLang="pt-BR" sz="2000"/>
              <a:t> Q[</a:t>
            </a:r>
            <a:r>
              <a:rPr lang="pt-BR" altLang="pt-BR" sz="2000" baseline="-25000"/>
              <a:t> </a:t>
            </a:r>
            <a:r>
              <a:rPr lang="pt-BR" altLang="pt-BR" sz="2000"/>
              <a:t>·</a:t>
            </a:r>
            <a:r>
              <a:rPr lang="pt-BR" altLang="pt-BR" sz="2000" baseline="-25000"/>
              <a:t> </a:t>
            </a:r>
            <a:r>
              <a:rPr lang="pt-BR" altLang="pt-BR" sz="2000"/>
              <a:t>]</a:t>
            </a:r>
          </a:p>
        </p:txBody>
      </p:sp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C29898B4-0295-EDF8-A2D8-F469B30671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4838" y="2398713"/>
          <a:ext cx="7540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800" imgH="228600" progId="Equation.3">
                  <p:embed/>
                </p:oleObj>
              </mc:Choice>
              <mc:Fallback>
                <p:oleObj name="Equation" r:id="rId6" imgW="469800" imgH="228600" progId="Equation.3">
                  <p:embed/>
                  <p:pic>
                    <p:nvPicPr>
                      <p:cNvPr id="307223" name="Object 23">
                        <a:extLst>
                          <a:ext uri="{FF2B5EF4-FFF2-40B4-BE49-F238E27FC236}">
                            <a16:creationId xmlns:a16="http://schemas.microsoft.com/office/drawing/2014/main" id="{83A5F452-1A8F-6C96-1597-9939AEED3A39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838" y="2398713"/>
                        <a:ext cx="7540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24">
            <a:extLst>
              <a:ext uri="{FF2B5EF4-FFF2-40B4-BE49-F238E27FC236}">
                <a16:creationId xmlns:a16="http://schemas.microsoft.com/office/drawing/2014/main" id="{845D216C-581A-DC95-AE53-3BD6D6812694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9291638" y="2797176"/>
            <a:ext cx="925512" cy="3175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" name="AutoShape 25">
            <a:extLst>
              <a:ext uri="{FF2B5EF4-FFF2-40B4-BE49-F238E27FC236}">
                <a16:creationId xmlns:a16="http://schemas.microsoft.com/office/drawing/2014/main" id="{C3A70B38-EC7D-F9C3-8F2A-500D2E274C2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977188" y="2274889"/>
            <a:ext cx="1301750" cy="1044575"/>
          </a:xfrm>
          <a:prstGeom prst="flowChartProcess">
            <a:avLst/>
          </a:prstGeom>
          <a:solidFill>
            <a:srgbClr val="CCFFCC"/>
          </a:solidFill>
          <a:ln w="38100">
            <a:solidFill>
              <a:srgbClr val="0066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pPr>
              <a:spcBef>
                <a:spcPct val="0"/>
              </a:spcBef>
            </a:pPr>
            <a:r>
              <a:rPr lang="pt-BR" altLang="pt-BR" sz="2000"/>
              <a:t>Codificador</a:t>
            </a:r>
          </a:p>
        </p:txBody>
      </p:sp>
      <p:graphicFrame>
        <p:nvGraphicFramePr>
          <p:cNvPr id="12" name="Object 26">
            <a:extLst>
              <a:ext uri="{FF2B5EF4-FFF2-40B4-BE49-F238E27FC236}">
                <a16:creationId xmlns:a16="http://schemas.microsoft.com/office/drawing/2014/main" id="{12076598-272C-3562-8BB4-8D23EE7A52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39275" y="2438401"/>
          <a:ext cx="50958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203040" progId="Equation.3">
                  <p:embed/>
                </p:oleObj>
              </mc:Choice>
              <mc:Fallback>
                <p:oleObj name="Equation" r:id="rId8" imgW="317160" imgH="203040" progId="Equation.3">
                  <p:embed/>
                  <p:pic>
                    <p:nvPicPr>
                      <p:cNvPr id="307226" name="Object 26">
                        <a:extLst>
                          <a:ext uri="{FF2B5EF4-FFF2-40B4-BE49-F238E27FC236}">
                            <a16:creationId xmlns:a16="http://schemas.microsoft.com/office/drawing/2014/main" id="{3F455DF1-2CCE-96F2-EC3B-D2DEB7BFCFB3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9275" y="2438401"/>
                        <a:ext cx="509588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7">
            <a:extLst>
              <a:ext uri="{FF2B5EF4-FFF2-40B4-BE49-F238E27FC236}">
                <a16:creationId xmlns:a16="http://schemas.microsoft.com/office/drawing/2014/main" id="{60962B90-645E-68F5-A941-C961A2D79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0" y="2854326"/>
            <a:ext cx="9715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2000"/>
              <a:t>Palavra-código binária</a:t>
            </a:r>
          </a:p>
        </p:txBody>
      </p:sp>
      <p:sp>
        <p:nvSpPr>
          <p:cNvPr id="14" name="AutoShape 29">
            <a:extLst>
              <a:ext uri="{FF2B5EF4-FFF2-40B4-BE49-F238E27FC236}">
                <a16:creationId xmlns:a16="http://schemas.microsoft.com/office/drawing/2014/main" id="{F7EF0C65-C2B0-6192-5666-70327275A5C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905251" y="4487863"/>
            <a:ext cx="1533525" cy="742950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pPr>
              <a:spcBef>
                <a:spcPct val="0"/>
              </a:spcBef>
            </a:pPr>
            <a:r>
              <a:rPr lang="pt-BR" altLang="pt-BR" sz="2000"/>
              <a:t>Decodificador</a:t>
            </a:r>
          </a:p>
        </p:txBody>
      </p:sp>
      <p:sp>
        <p:nvSpPr>
          <p:cNvPr id="15" name="Line 30">
            <a:extLst>
              <a:ext uri="{FF2B5EF4-FFF2-40B4-BE49-F238E27FC236}">
                <a16:creationId xmlns:a16="http://schemas.microsoft.com/office/drawing/2014/main" id="{5236342B-5ED6-91CA-491C-028831A60F79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3019426" y="4868863"/>
            <a:ext cx="88741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16" name="Object 31">
            <a:extLst>
              <a:ext uri="{FF2B5EF4-FFF2-40B4-BE49-F238E27FC236}">
                <a16:creationId xmlns:a16="http://schemas.microsoft.com/office/drawing/2014/main" id="{6C351DE7-2076-583A-4229-B8E07321FB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0376" y="4494213"/>
          <a:ext cx="7540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9800" imgH="228600" progId="Equation.3">
                  <p:embed/>
                </p:oleObj>
              </mc:Choice>
              <mc:Fallback>
                <p:oleObj name="Equation" r:id="rId10" imgW="469800" imgH="228600" progId="Equation.3">
                  <p:embed/>
                  <p:pic>
                    <p:nvPicPr>
                      <p:cNvPr id="307231" name="Object 31">
                        <a:extLst>
                          <a:ext uri="{FF2B5EF4-FFF2-40B4-BE49-F238E27FC236}">
                            <a16:creationId xmlns:a16="http://schemas.microsoft.com/office/drawing/2014/main" id="{BBD6B4AA-FD96-B769-27B1-B82AF1512C7C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76" y="4494213"/>
                        <a:ext cx="75406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2">
            <a:extLst>
              <a:ext uri="{FF2B5EF4-FFF2-40B4-BE49-F238E27FC236}">
                <a16:creationId xmlns:a16="http://schemas.microsoft.com/office/drawing/2014/main" id="{1315EF3C-E653-B015-C0AA-FE7F40DF1B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5950" y="4522788"/>
          <a:ext cx="509588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160" imgH="203040" progId="Equation.3">
                  <p:embed/>
                </p:oleObj>
              </mc:Choice>
              <mc:Fallback>
                <p:oleObj name="Equation" r:id="rId12" imgW="317160" imgH="203040" progId="Equation.3">
                  <p:embed/>
                  <p:pic>
                    <p:nvPicPr>
                      <p:cNvPr id="307232" name="Object 32">
                        <a:extLst>
                          <a:ext uri="{FF2B5EF4-FFF2-40B4-BE49-F238E27FC236}">
                            <a16:creationId xmlns:a16="http://schemas.microsoft.com/office/drawing/2014/main" id="{D0673DA4-6C13-1A47-2EDA-657A8DC3E585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950" y="4522788"/>
                        <a:ext cx="509588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33">
            <a:extLst>
              <a:ext uri="{FF2B5EF4-FFF2-40B4-BE49-F238E27FC236}">
                <a16:creationId xmlns:a16="http://schemas.microsoft.com/office/drawing/2014/main" id="{C2996E78-6BEB-5BB6-DFDC-6C7D9A5AFC04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7767639" y="4868863"/>
            <a:ext cx="1182687" cy="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" name="AutoShape 34">
            <a:extLst>
              <a:ext uri="{FF2B5EF4-FFF2-40B4-BE49-F238E27FC236}">
                <a16:creationId xmlns:a16="http://schemas.microsoft.com/office/drawing/2014/main" id="{052A2AAF-3A95-0BD6-4954-BF36FC9B87B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689725" y="4505394"/>
            <a:ext cx="1062842" cy="707886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pt-BR" altLang="pt-BR" sz="2000"/>
              <a:t>Expansor</a:t>
            </a:r>
          </a:p>
          <a:p>
            <a:pPr>
              <a:spcBef>
                <a:spcPct val="0"/>
              </a:spcBef>
            </a:pPr>
            <a:r>
              <a:rPr lang="pt-BR" altLang="pt-BR" sz="2000"/>
              <a:t>C</a:t>
            </a:r>
            <a:r>
              <a:rPr lang="pt-BR" altLang="pt-BR" sz="2000" baseline="30000"/>
              <a:t>-1</a:t>
            </a:r>
            <a:r>
              <a:rPr lang="pt-BR" altLang="pt-BR" sz="2000"/>
              <a:t>[</a:t>
            </a:r>
            <a:r>
              <a:rPr lang="pt-BR" altLang="pt-BR" sz="2000" baseline="-25000"/>
              <a:t> </a:t>
            </a:r>
            <a:r>
              <a:rPr lang="pt-BR" altLang="pt-BR" sz="2000"/>
              <a:t>·</a:t>
            </a:r>
            <a:r>
              <a:rPr lang="pt-BR" altLang="pt-BR" sz="2000" baseline="-25000"/>
              <a:t> </a:t>
            </a:r>
            <a:r>
              <a:rPr lang="pt-BR" altLang="pt-BR" sz="2000"/>
              <a:t>]</a:t>
            </a:r>
          </a:p>
        </p:txBody>
      </p:sp>
      <p:graphicFrame>
        <p:nvGraphicFramePr>
          <p:cNvPr id="20" name="Object 40">
            <a:extLst>
              <a:ext uri="{FF2B5EF4-FFF2-40B4-BE49-F238E27FC236}">
                <a16:creationId xmlns:a16="http://schemas.microsoft.com/office/drawing/2014/main" id="{046BA911-0255-1E55-F282-D6E0CF4B80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78776" y="4494213"/>
          <a:ext cx="7540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69800" imgH="228600" progId="Equation.3">
                  <p:embed/>
                </p:oleObj>
              </mc:Choice>
              <mc:Fallback>
                <p:oleObj name="Equation" r:id="rId14" imgW="469800" imgH="228600" progId="Equation.3">
                  <p:embed/>
                  <p:pic>
                    <p:nvPicPr>
                      <p:cNvPr id="307240" name="Object 40">
                        <a:extLst>
                          <a:ext uri="{FF2B5EF4-FFF2-40B4-BE49-F238E27FC236}">
                            <a16:creationId xmlns:a16="http://schemas.microsoft.com/office/drawing/2014/main" id="{8E39C8D2-A4F4-29BF-5DC1-91069DF04A5A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8776" y="4494213"/>
                        <a:ext cx="75406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1">
            <a:extLst>
              <a:ext uri="{FF2B5EF4-FFF2-40B4-BE49-F238E27FC236}">
                <a16:creationId xmlns:a16="http://schemas.microsoft.com/office/drawing/2014/main" id="{ADD99D43-20B2-D0BA-9E0A-EF3D6DCA712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71688" y="1250628"/>
            <a:ext cx="3646177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28398" dir="20006097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/>
          <a:p>
            <a:pPr algn="l"/>
            <a:r>
              <a:rPr lang="pt-BR" altLang="pt-BR" u="sng" dirty="0"/>
              <a:t>com</a:t>
            </a:r>
            <a:r>
              <a:rPr lang="pt-BR" altLang="pt-BR" dirty="0"/>
              <a:t>pressão + ex</a:t>
            </a:r>
            <a:r>
              <a:rPr lang="pt-BR" altLang="pt-BR" u="sng" dirty="0"/>
              <a:t>pansão</a:t>
            </a:r>
            <a:r>
              <a:rPr lang="pt-BR" altLang="pt-BR" dirty="0"/>
              <a:t> = </a:t>
            </a:r>
            <a:r>
              <a:rPr lang="pt-BR" altLang="pt-BR" dirty="0" err="1"/>
              <a:t>compansão</a:t>
            </a:r>
            <a:endParaRPr lang="pt-BR" altLang="pt-BR" dirty="0"/>
          </a:p>
        </p:txBody>
      </p:sp>
      <p:cxnSp>
        <p:nvCxnSpPr>
          <p:cNvPr id="22" name="AutoShape 43">
            <a:extLst>
              <a:ext uri="{FF2B5EF4-FFF2-40B4-BE49-F238E27FC236}">
                <a16:creationId xmlns:a16="http://schemas.microsoft.com/office/drawing/2014/main" id="{4BC9616F-DF67-1858-ED07-4158FED4DCEF}"/>
              </a:ext>
            </a:extLst>
          </p:cNvPr>
          <p:cNvCxnSpPr>
            <a:cxnSpLocks noChangeShapeType="1"/>
            <a:stCxn id="4" idx="3"/>
            <a:endCxn id="8" idx="1"/>
          </p:cNvCxnSpPr>
          <p:nvPr/>
        </p:nvCxnSpPr>
        <p:spPr bwMode="blackWhite">
          <a:xfrm>
            <a:off x="4348163" y="2796382"/>
            <a:ext cx="1123950" cy="794"/>
          </a:xfrm>
          <a:prstGeom prst="straightConnector1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AutoShape 44">
            <a:extLst>
              <a:ext uri="{FF2B5EF4-FFF2-40B4-BE49-F238E27FC236}">
                <a16:creationId xmlns:a16="http://schemas.microsoft.com/office/drawing/2014/main" id="{FA49F81C-263B-8F83-E9B4-3A4B564FB081}"/>
              </a:ext>
            </a:extLst>
          </p:cNvPr>
          <p:cNvCxnSpPr>
            <a:cxnSpLocks noChangeShapeType="1"/>
            <a:stCxn id="8" idx="3"/>
            <a:endCxn id="11" idx="1"/>
          </p:cNvCxnSpPr>
          <p:nvPr/>
        </p:nvCxnSpPr>
        <p:spPr bwMode="blackWhite">
          <a:xfrm>
            <a:off x="6869790" y="2797176"/>
            <a:ext cx="1107398" cy="0"/>
          </a:xfrm>
          <a:prstGeom prst="straightConnector1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45">
            <a:extLst>
              <a:ext uri="{FF2B5EF4-FFF2-40B4-BE49-F238E27FC236}">
                <a16:creationId xmlns:a16="http://schemas.microsoft.com/office/drawing/2014/main" id="{851F88CB-8B7A-E6D9-95FA-1608FEF4C34E}"/>
              </a:ext>
            </a:extLst>
          </p:cNvPr>
          <p:cNvCxnSpPr>
            <a:cxnSpLocks noChangeShapeType="1"/>
            <a:stCxn id="14" idx="3"/>
            <a:endCxn id="19" idx="1"/>
          </p:cNvCxnSpPr>
          <p:nvPr/>
        </p:nvCxnSpPr>
        <p:spPr bwMode="blackWhite">
          <a:xfrm flipV="1">
            <a:off x="5438775" y="4859338"/>
            <a:ext cx="1250950" cy="1"/>
          </a:xfrm>
          <a:prstGeom prst="straightConnector1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08839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EE1A-544C-9053-E229-D501641F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C9AE2-7082-F6FC-23DF-B5507699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Quantização não-uniforme baseada</a:t>
            </a:r>
            <a:br>
              <a:rPr lang="pt-BR" altLang="pt-BR" dirty="0"/>
            </a:br>
            <a:r>
              <a:rPr lang="pt-BR" altLang="pt-BR" dirty="0" err="1"/>
              <a:t>Compansão</a:t>
            </a:r>
            <a:r>
              <a:rPr lang="pt-BR" altLang="pt-BR" dirty="0"/>
              <a:t> (</a:t>
            </a:r>
            <a:r>
              <a:rPr lang="pt-BR" altLang="pt-BR" dirty="0" err="1"/>
              <a:t>Companding</a:t>
            </a:r>
            <a:r>
              <a:rPr lang="pt-BR" altLang="pt-BR" dirty="0"/>
              <a:t>)</a:t>
            </a:r>
            <a:endParaRPr lang="pt-BR" dirty="0"/>
          </a:p>
        </p:txBody>
      </p:sp>
      <p:grpSp>
        <p:nvGrpSpPr>
          <p:cNvPr id="25" name="Group 40">
            <a:extLst>
              <a:ext uri="{FF2B5EF4-FFF2-40B4-BE49-F238E27FC236}">
                <a16:creationId xmlns:a16="http://schemas.microsoft.com/office/drawing/2014/main" id="{2E38068F-CBC9-EB5F-12CA-5212F92B71D0}"/>
              </a:ext>
            </a:extLst>
          </p:cNvPr>
          <p:cNvGrpSpPr>
            <a:grpSpLocks/>
          </p:cNvGrpSpPr>
          <p:nvPr/>
        </p:nvGrpSpPr>
        <p:grpSpPr bwMode="auto">
          <a:xfrm>
            <a:off x="1332055" y="1387033"/>
            <a:ext cx="6073775" cy="4870450"/>
            <a:chOff x="-48" y="480"/>
            <a:chExt cx="3826" cy="3068"/>
          </a:xfrm>
        </p:grpSpPr>
        <p:pic>
          <p:nvPicPr>
            <p:cNvPr id="26" name="Picture 15">
              <a:extLst>
                <a:ext uri="{FF2B5EF4-FFF2-40B4-BE49-F238E27FC236}">
                  <a16:creationId xmlns:a16="http://schemas.microsoft.com/office/drawing/2014/main" id="{B475147D-F3A8-746E-F30E-A22EF16D5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blackGray">
            <a:xfrm>
              <a:off x="36" y="480"/>
              <a:ext cx="3742" cy="29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96B839E4-CBFB-94CA-5E7A-F8FC9D524BC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2820" y="2759"/>
              <a:ext cx="516" cy="4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E1953DD8-F907-58CB-994E-1AD80963088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1284" y="3120"/>
              <a:ext cx="876" cy="2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" name="Text Box 19">
              <a:extLst>
                <a:ext uri="{FF2B5EF4-FFF2-40B4-BE49-F238E27FC236}">
                  <a16:creationId xmlns:a16="http://schemas.microsoft.com/office/drawing/2014/main" id="{00A797C7-F92C-F04E-5467-6BE5C030B623}"/>
                </a:ext>
              </a:extLst>
            </p:cNvPr>
            <p:cNvSpPr txBox="1">
              <a:spLocks noChangeArrowheads="1"/>
            </p:cNvSpPr>
            <p:nvPr/>
          </p:nvSpPr>
          <p:spPr bwMode="blackGray">
            <a:xfrm>
              <a:off x="1236" y="3102"/>
              <a:ext cx="99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BR" altLang="pt-BR" sz="2000"/>
                <a:t>Não-uniforme</a:t>
              </a:r>
            </a:p>
          </p:txBody>
        </p:sp>
        <p:graphicFrame>
          <p:nvGraphicFramePr>
            <p:cNvPr id="30" name="Object 18">
              <a:extLst>
                <a:ext uri="{FF2B5EF4-FFF2-40B4-BE49-F238E27FC236}">
                  <a16:creationId xmlns:a16="http://schemas.microsoft.com/office/drawing/2014/main" id="{22867DC2-593F-3E9F-FE9D-B999E68AC3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5" y="2757"/>
            <a:ext cx="38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80880" imgH="368280" progId="Equation.3">
                    <p:embed/>
                  </p:oleObj>
                </mc:Choice>
                <mc:Fallback>
                  <p:oleObj name="Equation" r:id="rId3" imgW="380880" imgH="368280" progId="Equation.3">
                    <p:embed/>
                    <p:pic>
                      <p:nvPicPr>
                        <p:cNvPr id="306194" name="Object 18">
                          <a:extLst>
                            <a:ext uri="{FF2B5EF4-FFF2-40B4-BE49-F238E27FC236}">
                              <a16:creationId xmlns:a16="http://schemas.microsoft.com/office/drawing/2014/main" id="{8A4496B4-FEDA-D5F1-A7E4-0DBCF888C4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9775"/>
                        <a:stretch>
                          <a:fillRect/>
                        </a:stretch>
                      </p:blipFill>
                      <p:spPr bwMode="blackGray">
                        <a:xfrm>
                          <a:off x="2905" y="2757"/>
                          <a:ext cx="385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Rectangle 26">
              <a:extLst>
                <a:ext uri="{FF2B5EF4-FFF2-40B4-BE49-F238E27FC236}">
                  <a16:creationId xmlns:a16="http://schemas.microsoft.com/office/drawing/2014/main" id="{1F049CF7-F0A2-6AD8-0047-E2D97479C22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1788" y="2664"/>
              <a:ext cx="52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32" name="Object 16">
              <a:extLst>
                <a:ext uri="{FF2B5EF4-FFF2-40B4-BE49-F238E27FC236}">
                  <a16:creationId xmlns:a16="http://schemas.microsoft.com/office/drawing/2014/main" id="{85F98976-5E29-0213-C06C-C29202366A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04" y="2706"/>
            <a:ext cx="291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5640" imgH="228600" progId="Equation.3">
                    <p:embed/>
                  </p:oleObj>
                </mc:Choice>
                <mc:Fallback>
                  <p:oleObj name="Equation" r:id="rId5" imgW="215640" imgH="228600" progId="Equation.3">
                    <p:embed/>
                    <p:pic>
                      <p:nvPicPr>
                        <p:cNvPr id="306192" name="Object 16">
                          <a:extLst>
                            <a:ext uri="{FF2B5EF4-FFF2-40B4-BE49-F238E27FC236}">
                              <a16:creationId xmlns:a16="http://schemas.microsoft.com/office/drawing/2014/main" id="{F5DEA75F-A541-7D23-5BF5-C0E398E647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-33389"/>
                        <a:stretch>
                          <a:fillRect/>
                        </a:stretch>
                      </p:blipFill>
                      <p:spPr bwMode="blackGray">
                        <a:xfrm>
                          <a:off x="1804" y="2706"/>
                          <a:ext cx="291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08735D9A-3306-636B-0D16-8E9550CCA31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12" y="1800"/>
              <a:ext cx="576" cy="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4" name="Text Box 20">
              <a:extLst>
                <a:ext uri="{FF2B5EF4-FFF2-40B4-BE49-F238E27FC236}">
                  <a16:creationId xmlns:a16="http://schemas.microsoft.com/office/drawing/2014/main" id="{584C8D24-F793-C03A-EC83-943CF312C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8" y="1800"/>
              <a:ext cx="642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Ins="18000">
              <a:spAutoFit/>
            </a:bodyPr>
            <a:lstStyle/>
            <a:p>
              <a:pPr algn="r"/>
              <a:r>
                <a:rPr lang="pt-BR" altLang="pt-BR" sz="2000"/>
                <a:t>Uniforme</a:t>
              </a:r>
            </a:p>
          </p:txBody>
        </p:sp>
        <p:sp>
          <p:nvSpPr>
            <p:cNvPr id="35" name="Rectangle 28">
              <a:extLst>
                <a:ext uri="{FF2B5EF4-FFF2-40B4-BE49-F238E27FC236}">
                  <a16:creationId xmlns:a16="http://schemas.microsoft.com/office/drawing/2014/main" id="{525328EC-2AC2-ACBF-7969-B8F84AF3DC1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816" y="1836"/>
              <a:ext cx="267" cy="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6" name="Line 31">
            <a:extLst>
              <a:ext uri="{FF2B5EF4-FFF2-40B4-BE49-F238E27FC236}">
                <a16:creationId xmlns:a16="http://schemas.microsoft.com/office/drawing/2014/main" id="{78C75C4D-BB47-8827-3FD0-568F91AF9BDA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7218504" y="6215705"/>
            <a:ext cx="973138" cy="3175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7" name="AutoShape 32">
            <a:extLst>
              <a:ext uri="{FF2B5EF4-FFF2-40B4-BE49-F238E27FC236}">
                <a16:creationId xmlns:a16="http://schemas.microsoft.com/office/drawing/2014/main" id="{80D64CA8-B749-9265-83CA-50E176186DF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891354" y="5690242"/>
            <a:ext cx="1328738" cy="1060450"/>
          </a:xfrm>
          <a:prstGeom prst="flowChartProcess">
            <a:avLst/>
          </a:prstGeom>
          <a:solidFill>
            <a:srgbClr val="CCFFCC"/>
          </a:solidFill>
          <a:ln w="38100">
            <a:solidFill>
              <a:srgbClr val="0066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pt-BR" altLang="pt-BR"/>
              <a:t>Compressor C[</a:t>
            </a:r>
            <a:r>
              <a:rPr lang="pt-BR" altLang="pt-BR" baseline="-25000"/>
              <a:t> </a:t>
            </a:r>
            <a:r>
              <a:rPr lang="pt-BR" altLang="pt-BR"/>
              <a:t>·</a:t>
            </a:r>
            <a:r>
              <a:rPr lang="pt-BR" altLang="pt-BR" baseline="-25000"/>
              <a:t> </a:t>
            </a:r>
            <a:r>
              <a:rPr lang="pt-BR" altLang="pt-BR"/>
              <a:t>]</a:t>
            </a:r>
          </a:p>
        </p:txBody>
      </p:sp>
      <p:sp>
        <p:nvSpPr>
          <p:cNvPr id="38" name="Line 33">
            <a:extLst>
              <a:ext uri="{FF2B5EF4-FFF2-40B4-BE49-F238E27FC236}">
                <a16:creationId xmlns:a16="http://schemas.microsoft.com/office/drawing/2014/main" id="{5F0EFE12-9DBC-5D2E-07D6-216A2B3D8C0B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989655" y="6206179"/>
            <a:ext cx="906463" cy="12700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39" name="Object 34">
            <a:extLst>
              <a:ext uri="{FF2B5EF4-FFF2-40B4-BE49-F238E27FC236}">
                <a16:creationId xmlns:a16="http://schemas.microsoft.com/office/drawing/2014/main" id="{1A77DC6B-B92C-F8EF-ADBC-82A91537E2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300080"/>
              </p:ext>
            </p:extLst>
          </p:nvPr>
        </p:nvGraphicFramePr>
        <p:xfrm>
          <a:off x="7291530" y="5855342"/>
          <a:ext cx="7540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9800" imgH="228600" progId="Equation.3">
                  <p:embed/>
                </p:oleObj>
              </mc:Choice>
              <mc:Fallback>
                <p:oleObj name="Equation" r:id="rId7" imgW="469800" imgH="228600" progId="Equation.3">
                  <p:embed/>
                  <p:pic>
                    <p:nvPicPr>
                      <p:cNvPr id="306210" name="Object 34">
                        <a:extLst>
                          <a:ext uri="{FF2B5EF4-FFF2-40B4-BE49-F238E27FC236}">
                            <a16:creationId xmlns:a16="http://schemas.microsoft.com/office/drawing/2014/main" id="{2ED32620-D9E5-8903-E03F-8A5ABAAC34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530" y="5855342"/>
                        <a:ext cx="75406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5">
            <a:extLst>
              <a:ext uri="{FF2B5EF4-FFF2-40B4-BE49-F238E27FC236}">
                <a16:creationId xmlns:a16="http://schemas.microsoft.com/office/drawing/2014/main" id="{B69A2B31-C9A8-8F99-AF60-DCDFA5FA61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835503"/>
              </p:ext>
            </p:extLst>
          </p:nvPr>
        </p:nvGraphicFramePr>
        <p:xfrm>
          <a:off x="4994417" y="5863279"/>
          <a:ext cx="754062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69800" imgH="228600" progId="Equation.3">
                  <p:embed/>
                </p:oleObj>
              </mc:Choice>
              <mc:Fallback>
                <p:oleObj name="Equation" r:id="rId9" imgW="469800" imgH="228600" progId="Equation.3">
                  <p:embed/>
                  <p:pic>
                    <p:nvPicPr>
                      <p:cNvPr id="306211" name="Object 35">
                        <a:extLst>
                          <a:ext uri="{FF2B5EF4-FFF2-40B4-BE49-F238E27FC236}">
                            <a16:creationId xmlns:a16="http://schemas.microsoft.com/office/drawing/2014/main" id="{277B5E93-AC86-D7F4-E8CD-9EBE633296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417" y="5863279"/>
                        <a:ext cx="754062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Line 36">
            <a:extLst>
              <a:ext uri="{FF2B5EF4-FFF2-40B4-BE49-F238E27FC236}">
                <a16:creationId xmlns:a16="http://schemas.microsoft.com/office/drawing/2014/main" id="{25EC508D-4709-148E-8C30-3D4339DB96C5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9537842" y="6215705"/>
            <a:ext cx="925512" cy="3175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2" name="AutoShape 37">
            <a:extLst>
              <a:ext uri="{FF2B5EF4-FFF2-40B4-BE49-F238E27FC236}">
                <a16:creationId xmlns:a16="http://schemas.microsoft.com/office/drawing/2014/main" id="{EE840C57-45D3-0F07-EE08-B000EBF5EA3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210693" y="5690242"/>
            <a:ext cx="1328737" cy="1060450"/>
          </a:xfrm>
          <a:prstGeom prst="flowChartProcess">
            <a:avLst/>
          </a:prstGeom>
          <a:solidFill>
            <a:srgbClr val="CCFFCC"/>
          </a:solidFill>
          <a:ln w="38100">
            <a:solidFill>
              <a:srgbClr val="0066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pt-BR" altLang="pt-BR"/>
              <a:t>Quantizador uniforme</a:t>
            </a:r>
          </a:p>
          <a:p>
            <a:pPr>
              <a:spcBef>
                <a:spcPct val="0"/>
              </a:spcBef>
            </a:pPr>
            <a:r>
              <a:rPr lang="pt-BR" altLang="pt-BR"/>
              <a:t> Q[</a:t>
            </a:r>
            <a:r>
              <a:rPr lang="pt-BR" altLang="pt-BR" baseline="-25000"/>
              <a:t> </a:t>
            </a:r>
            <a:r>
              <a:rPr lang="pt-BR" altLang="pt-BR"/>
              <a:t>·</a:t>
            </a:r>
            <a:r>
              <a:rPr lang="pt-BR" altLang="pt-BR" baseline="-25000"/>
              <a:t> </a:t>
            </a:r>
            <a:r>
              <a:rPr lang="pt-BR" altLang="pt-BR"/>
              <a:t>]</a:t>
            </a:r>
          </a:p>
        </p:txBody>
      </p:sp>
      <p:graphicFrame>
        <p:nvGraphicFramePr>
          <p:cNvPr id="43" name="Object 38">
            <a:extLst>
              <a:ext uri="{FF2B5EF4-FFF2-40B4-BE49-F238E27FC236}">
                <a16:creationId xmlns:a16="http://schemas.microsoft.com/office/drawing/2014/main" id="{EE2FF829-9CDF-5CCD-E46F-F239BA0121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872086"/>
              </p:ext>
            </p:extLst>
          </p:nvPr>
        </p:nvGraphicFramePr>
        <p:xfrm>
          <a:off x="9563242" y="5855342"/>
          <a:ext cx="7540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69800" imgH="228600" progId="Equation.3">
                  <p:embed/>
                </p:oleObj>
              </mc:Choice>
              <mc:Fallback>
                <p:oleObj name="Equation" r:id="rId11" imgW="469800" imgH="228600" progId="Equation.3">
                  <p:embed/>
                  <p:pic>
                    <p:nvPicPr>
                      <p:cNvPr id="306214" name="Object 38">
                        <a:extLst>
                          <a:ext uri="{FF2B5EF4-FFF2-40B4-BE49-F238E27FC236}">
                            <a16:creationId xmlns:a16="http://schemas.microsoft.com/office/drawing/2014/main" id="{67BDECFC-9440-AC5D-2E6D-84C80143BE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3242" y="5855342"/>
                        <a:ext cx="7540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39">
            <a:extLst>
              <a:ext uri="{FF2B5EF4-FFF2-40B4-BE49-F238E27FC236}">
                <a16:creationId xmlns:a16="http://schemas.microsoft.com/office/drawing/2014/main" id="{2F132BDD-D6B1-BF73-15C1-33D3D1C6A6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496293"/>
              </p:ext>
            </p:extLst>
          </p:nvPr>
        </p:nvGraphicFramePr>
        <p:xfrm>
          <a:off x="2659205" y="3523808"/>
          <a:ext cx="487363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600" imgH="253800" progId="Equation.DSMT4">
                  <p:embed/>
                </p:oleObj>
              </mc:Choice>
              <mc:Fallback>
                <p:oleObj name="Equation" r:id="rId13" imgW="228600" imgH="253800" progId="Equation.DSMT4">
                  <p:embed/>
                  <p:pic>
                    <p:nvPicPr>
                      <p:cNvPr id="306215" name="Object 39">
                        <a:extLst>
                          <a:ext uri="{FF2B5EF4-FFF2-40B4-BE49-F238E27FC236}">
                            <a16:creationId xmlns:a16="http://schemas.microsoft.com/office/drawing/2014/main" id="{51B69938-43E7-A02B-09A1-2CFA56145C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695" t="14925" r="-16695" b="14925"/>
                      <a:stretch>
                        <a:fillRect/>
                      </a:stretch>
                    </p:blipFill>
                    <p:spPr bwMode="blackGray">
                      <a:xfrm>
                        <a:off x="2659205" y="3523808"/>
                        <a:ext cx="487363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1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CBBF2-8984-676A-B7CD-75F32F797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Padrão PCM para codificação de voz</a:t>
            </a:r>
            <a:br>
              <a:rPr lang="pt-BR" dirty="0"/>
            </a:br>
            <a:r>
              <a:rPr lang="pt-BR" dirty="0"/>
              <a:t>ITU-T G.711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4A6021-FD7E-07D2-4F4A-481C39834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Amostragem a 8 </a:t>
            </a:r>
            <a:r>
              <a:rPr lang="pt-BR" dirty="0" err="1"/>
              <a:t>ksamples</a:t>
            </a:r>
            <a:r>
              <a:rPr lang="pt-BR" dirty="0"/>
              <a:t>/s</a:t>
            </a:r>
          </a:p>
          <a:p>
            <a:r>
              <a:rPr lang="pt-BR" dirty="0"/>
              <a:t>Quantização não-uniforme com </a:t>
            </a:r>
            <a:r>
              <a:rPr lang="pt-BR" dirty="0" err="1"/>
              <a:t>compansão</a:t>
            </a:r>
            <a:endParaRPr lang="pt-BR" dirty="0"/>
          </a:p>
          <a:p>
            <a:pPr lvl="1"/>
            <a:r>
              <a:rPr lang="pt-BR" dirty="0"/>
              <a:t>8 bits /amostra</a:t>
            </a:r>
          </a:p>
          <a:p>
            <a:pPr lvl="1"/>
            <a:r>
              <a:rPr lang="pt-BR" dirty="0" err="1"/>
              <a:t>Lei-</a:t>
            </a:r>
            <a:r>
              <a:rPr lang="pt-BR" dirty="0" err="1">
                <a:latin typeface="Symbol" panose="05050102010706020507" pitchFamily="18" charset="2"/>
              </a:rPr>
              <a:t>m</a:t>
            </a:r>
            <a:r>
              <a:rPr lang="pt-BR" dirty="0"/>
              <a:t> (EUA, Canadá, Japão)</a:t>
            </a:r>
          </a:p>
          <a:p>
            <a:pPr lvl="1"/>
            <a:r>
              <a:rPr lang="pt-BR" dirty="0" err="1"/>
              <a:t>Lei-A</a:t>
            </a:r>
            <a:r>
              <a:rPr lang="pt-BR" dirty="0"/>
              <a:t> (resto do mundo)</a:t>
            </a:r>
          </a:p>
          <a:p>
            <a:endParaRPr lang="pt-BR" dirty="0"/>
          </a:p>
          <a:p>
            <a:r>
              <a:rPr lang="pt-BR" dirty="0"/>
              <a:t>Taxa de bits = 64 </a:t>
            </a:r>
            <a:r>
              <a:rPr lang="pt-BR" dirty="0" err="1"/>
              <a:t>kbps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417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EFE01-8CBA-342E-0BD3-B6A2D144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Características de compressão </a:t>
            </a:r>
            <a:endParaRPr lang="pt-BR" dirty="0"/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41532D74-BA54-06EA-A916-87647B09F80E}"/>
              </a:ext>
            </a:extLst>
          </p:cNvPr>
          <p:cNvGrpSpPr>
            <a:grpSpLocks/>
          </p:cNvGrpSpPr>
          <p:nvPr/>
        </p:nvGrpSpPr>
        <p:grpSpPr bwMode="auto">
          <a:xfrm>
            <a:off x="1562101" y="1612900"/>
            <a:ext cx="4422775" cy="4706938"/>
            <a:chOff x="24" y="896"/>
            <a:chExt cx="2786" cy="2965"/>
          </a:xfrm>
        </p:grpSpPr>
        <p:pic>
          <p:nvPicPr>
            <p:cNvPr id="4" name="Picture 13">
              <a:extLst>
                <a:ext uri="{FF2B5EF4-FFF2-40B4-BE49-F238E27FC236}">
                  <a16:creationId xmlns:a16="http://schemas.microsoft.com/office/drawing/2014/main" id="{2D95A2A3-C354-0272-690A-EB1D946997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" y="896"/>
              <a:ext cx="2786" cy="2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5" name="Object 15">
              <a:extLst>
                <a:ext uri="{FF2B5EF4-FFF2-40B4-BE49-F238E27FC236}">
                  <a16:creationId xmlns:a16="http://schemas.microsoft.com/office/drawing/2014/main" id="{61245536-0CC3-E20D-F3C2-64033C129F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57" y="3489"/>
            <a:ext cx="38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80880" imgH="368280" progId="Equation.3">
                    <p:embed/>
                  </p:oleObj>
                </mc:Choice>
                <mc:Fallback>
                  <p:oleObj name="Equation" r:id="rId3" imgW="380880" imgH="368280" progId="Equation.3">
                    <p:embed/>
                    <p:pic>
                      <p:nvPicPr>
                        <p:cNvPr id="305167" name="Object 15">
                          <a:extLst>
                            <a:ext uri="{FF2B5EF4-FFF2-40B4-BE49-F238E27FC236}">
                              <a16:creationId xmlns:a16="http://schemas.microsoft.com/office/drawing/2014/main" id="{8CC0A3FA-1824-4320-8211-DBED4227F2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9775"/>
                        <a:stretch>
                          <a:fillRect/>
                        </a:stretch>
                      </p:blipFill>
                      <p:spPr bwMode="auto">
                        <a:xfrm>
                          <a:off x="1357" y="3489"/>
                          <a:ext cx="385" cy="33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7">
            <a:extLst>
              <a:ext uri="{FF2B5EF4-FFF2-40B4-BE49-F238E27FC236}">
                <a16:creationId xmlns:a16="http://schemas.microsoft.com/office/drawing/2014/main" id="{C00670AA-5C71-F187-EC10-3F607F004E2D}"/>
              </a:ext>
            </a:extLst>
          </p:cNvPr>
          <p:cNvGrpSpPr>
            <a:grpSpLocks/>
          </p:cNvGrpSpPr>
          <p:nvPr/>
        </p:nvGrpSpPr>
        <p:grpSpPr bwMode="auto">
          <a:xfrm>
            <a:off x="6162675" y="1476375"/>
            <a:ext cx="4502150" cy="4775200"/>
            <a:chOff x="2922" y="810"/>
            <a:chExt cx="2836" cy="3008"/>
          </a:xfrm>
        </p:grpSpPr>
        <p:pic>
          <p:nvPicPr>
            <p:cNvPr id="7" name="Picture 12">
              <a:extLst>
                <a:ext uri="{FF2B5EF4-FFF2-40B4-BE49-F238E27FC236}">
                  <a16:creationId xmlns:a16="http://schemas.microsoft.com/office/drawing/2014/main" id="{034FBAB8-4216-C17B-4EF3-A76EE38076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2" y="810"/>
              <a:ext cx="2836" cy="30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8" name="Object 16">
              <a:extLst>
                <a:ext uri="{FF2B5EF4-FFF2-40B4-BE49-F238E27FC236}">
                  <a16:creationId xmlns:a16="http://schemas.microsoft.com/office/drawing/2014/main" id="{1359F401-6451-D5B4-2049-225A2CEFF4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9" y="3465"/>
            <a:ext cx="38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0880" imgH="368280" progId="Equation.3">
                    <p:embed/>
                  </p:oleObj>
                </mc:Choice>
                <mc:Fallback>
                  <p:oleObj name="Equation" r:id="rId6" imgW="380880" imgH="368280" progId="Equation.3">
                    <p:embed/>
                    <p:pic>
                      <p:nvPicPr>
                        <p:cNvPr id="305168" name="Object 16">
                          <a:extLst>
                            <a:ext uri="{FF2B5EF4-FFF2-40B4-BE49-F238E27FC236}">
                              <a16:creationId xmlns:a16="http://schemas.microsoft.com/office/drawing/2014/main" id="{88A5739D-45C6-254A-E5D8-4D1993B1E1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9775"/>
                        <a:stretch>
                          <a:fillRect/>
                        </a:stretch>
                      </p:blipFill>
                      <p:spPr bwMode="auto">
                        <a:xfrm>
                          <a:off x="4219" y="3465"/>
                          <a:ext cx="385" cy="33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19">
            <a:extLst>
              <a:ext uri="{FF2B5EF4-FFF2-40B4-BE49-F238E27FC236}">
                <a16:creationId xmlns:a16="http://schemas.microsoft.com/office/drawing/2014/main" id="{609D3A4B-4073-952C-6A13-6FA598D2A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162050"/>
            <a:ext cx="9715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>
                <a:solidFill>
                  <a:schemeClr val="accent2"/>
                </a:solidFill>
              </a:rPr>
              <a:t>Lei</a:t>
            </a:r>
            <a:r>
              <a:rPr lang="pt-BR" altLang="pt-BR">
                <a:solidFill>
                  <a:schemeClr val="accent2"/>
                </a:solidFill>
                <a:latin typeface="Times New Roman" panose="02020603050405020304" pitchFamily="18" charset="0"/>
              </a:rPr>
              <a:t>-</a:t>
            </a:r>
            <a:r>
              <a:rPr lang="pt-BR" altLang="pt-BR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endParaRPr lang="pt-BR" altLang="pt-BR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B2525034-1B90-1B9B-B5B8-9AECD1F32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123950"/>
            <a:ext cx="9715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>
                <a:solidFill>
                  <a:schemeClr val="accent2"/>
                </a:solidFill>
              </a:rPr>
              <a:t>Lei</a:t>
            </a:r>
            <a:r>
              <a:rPr lang="pt-BR" altLang="pt-BR">
                <a:solidFill>
                  <a:schemeClr val="accent2"/>
                </a:solidFill>
                <a:latin typeface="Times New Roman" panose="02020603050405020304" pitchFamily="18" charset="0"/>
              </a:rPr>
              <a:t>-</a:t>
            </a:r>
            <a:r>
              <a:rPr lang="pt-BR" altLang="pt-BR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endParaRPr lang="pt-BR" altLang="pt-BR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81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FC7DA-1DD6-4BFB-01E6-EED41B62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PCM</a:t>
            </a:r>
            <a:br>
              <a:rPr lang="pt-BR" dirty="0"/>
            </a:br>
            <a:r>
              <a:rPr lang="pt-BR" dirty="0"/>
              <a:t>Lei </a:t>
            </a:r>
            <a:r>
              <a:rPr lang="pt-BR" sz="3600" dirty="0">
                <a:latin typeface="Symbol" panose="05050102010706020507" pitchFamily="18" charset="2"/>
              </a:rPr>
              <a:t>m - </a:t>
            </a:r>
            <a:r>
              <a:rPr lang="pt-BR" sz="3600" dirty="0">
                <a:latin typeface="+mn-lt"/>
              </a:rPr>
              <a:t>EUA, Canadá e Japão</a:t>
            </a:r>
            <a:endParaRPr lang="pt-BR" dirty="0">
              <a:latin typeface="Symbol" panose="05050102010706020507" pitchFamily="18" charset="2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65BF1D11-95FC-3105-27FB-2030CAEBD1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843850"/>
              </p:ext>
            </p:extLst>
          </p:nvPr>
        </p:nvGraphicFramePr>
        <p:xfrm>
          <a:off x="1109321" y="1217211"/>
          <a:ext cx="681513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59120" imgH="482400" progId="Equation.3">
                  <p:embed/>
                </p:oleObj>
              </mc:Choice>
              <mc:Fallback>
                <p:oleObj name="Equation" r:id="rId2" imgW="3759120" imgH="482400" progId="Equation.3">
                  <p:embed/>
                  <p:pic>
                    <p:nvPicPr>
                      <p:cNvPr id="315394" name="Object 2">
                        <a:extLst>
                          <a:ext uri="{FF2B5EF4-FFF2-40B4-BE49-F238E27FC236}">
                            <a16:creationId xmlns:a16="http://schemas.microsoft.com/office/drawing/2014/main" id="{14E62BFC-B921-D63B-58FE-93B08409EB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321" y="1217211"/>
                        <a:ext cx="6815138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9AB96013-4DF6-2FDA-946C-C0EC0D702E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288670"/>
              </p:ext>
            </p:extLst>
          </p:nvPr>
        </p:nvGraphicFramePr>
        <p:xfrm>
          <a:off x="1109321" y="5185961"/>
          <a:ext cx="20256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406080" progId="Equation.3">
                  <p:embed/>
                </p:oleObj>
              </mc:Choice>
              <mc:Fallback>
                <p:oleObj name="Equation" r:id="rId4" imgW="1117440" imgH="406080" progId="Equation.3">
                  <p:embed/>
                  <p:pic>
                    <p:nvPicPr>
                      <p:cNvPr id="315396" name="Object 4">
                        <a:extLst>
                          <a:ext uri="{FF2B5EF4-FFF2-40B4-BE49-F238E27FC236}">
                            <a16:creationId xmlns:a16="http://schemas.microsoft.com/office/drawing/2014/main" id="{947CE30C-8B5D-3D35-B269-8F0D0CD9B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321" y="5185961"/>
                        <a:ext cx="202565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C99B3A7D-762F-3073-7E99-8F777BE396FA}"/>
                  </a:ext>
                </a:extLst>
              </p:cNvPr>
              <p:cNvSpPr txBox="1"/>
              <p:nvPr/>
            </p:nvSpPr>
            <p:spPr bwMode="auto">
              <a:xfrm>
                <a:off x="1109663" y="5911849"/>
                <a:ext cx="6599076" cy="420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Valor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m:rPr>
                          <m:nor/>
                        </m:rPr>
                        <a:rPr lang="pt-BR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definido pelo G.711</m:t>
                      </m:r>
                      <m:r>
                        <m:rPr>
                          <m:nor/>
                        </m:rPr>
                        <a:rPr lang="pt-BR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  =  255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C99B3A7D-762F-3073-7E99-8F777BE39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9663" y="5911849"/>
                <a:ext cx="6599076" cy="420287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16">
            <a:extLst>
              <a:ext uri="{FF2B5EF4-FFF2-40B4-BE49-F238E27FC236}">
                <a16:creationId xmlns:a16="http://schemas.microsoft.com/office/drawing/2014/main" id="{A994E8AA-B8D0-E5BE-A6F6-C2E5E345E1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115785"/>
              </p:ext>
            </p:extLst>
          </p:nvPr>
        </p:nvGraphicFramePr>
        <p:xfrm>
          <a:off x="1090272" y="2439586"/>
          <a:ext cx="6189663" cy="145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54200" imgH="812520" progId="Equation.3">
                  <p:embed/>
                </p:oleObj>
              </mc:Choice>
              <mc:Fallback>
                <p:oleObj name="Equation" r:id="rId7" imgW="3454200" imgH="812520" progId="Equation.3">
                  <p:embed/>
                  <p:pic>
                    <p:nvPicPr>
                      <p:cNvPr id="315408" name="Object 16">
                        <a:extLst>
                          <a:ext uri="{FF2B5EF4-FFF2-40B4-BE49-F238E27FC236}">
                            <a16:creationId xmlns:a16="http://schemas.microsoft.com/office/drawing/2014/main" id="{7F196E6F-6857-24DF-8CE8-D926EE0228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272" y="2439586"/>
                        <a:ext cx="6189663" cy="145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>
            <a:extLst>
              <a:ext uri="{FF2B5EF4-FFF2-40B4-BE49-F238E27FC236}">
                <a16:creationId xmlns:a16="http://schemas.microsoft.com/office/drawing/2014/main" id="{939FCDF8-692D-9530-65B7-E7C0016717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232860"/>
              </p:ext>
            </p:extLst>
          </p:nvPr>
        </p:nvGraphicFramePr>
        <p:xfrm>
          <a:off x="1156947" y="4027087"/>
          <a:ext cx="8291513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95680" imgH="431640" progId="Equation.DSMT4">
                  <p:embed/>
                </p:oleObj>
              </mc:Choice>
              <mc:Fallback>
                <p:oleObj name="Equation" r:id="rId9" imgW="4495680" imgH="431640" progId="Equation.DSMT4">
                  <p:embed/>
                  <p:pic>
                    <p:nvPicPr>
                      <p:cNvPr id="315409" name="Object 17">
                        <a:extLst>
                          <a:ext uri="{FF2B5EF4-FFF2-40B4-BE49-F238E27FC236}">
                            <a16:creationId xmlns:a16="http://schemas.microsoft.com/office/drawing/2014/main" id="{E09872CC-2D2E-9CF3-F764-83F5FD3F95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864" t="-14925" r="-864" b="-14925"/>
                      <a:stretch>
                        <a:fillRect/>
                      </a:stretch>
                    </p:blipFill>
                    <p:spPr bwMode="auto">
                      <a:xfrm>
                        <a:off x="1156947" y="4027087"/>
                        <a:ext cx="8291513" cy="10175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762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3FD0-DC04-9CBF-5F64-2861970C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61E1C-378E-2BC3-89BE-88AF438D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PCM</a:t>
            </a:r>
            <a:br>
              <a:rPr lang="pt-BR" dirty="0"/>
            </a:br>
            <a:r>
              <a:rPr lang="pt-BR" dirty="0"/>
              <a:t>Lei A – Resto do Mundo</a:t>
            </a:r>
            <a:endParaRPr lang="pt-BR" dirty="0">
              <a:latin typeface="Symbol" panose="05050102010706020507" pitchFamily="18" charset="2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5709B16-28ED-F1E0-1A73-8A1F19B18F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818177"/>
              </p:ext>
            </p:extLst>
          </p:nvPr>
        </p:nvGraphicFramePr>
        <p:xfrm>
          <a:off x="1281896" y="1400697"/>
          <a:ext cx="6515100" cy="188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3880" imgH="1041120" progId="Equation.3">
                  <p:embed/>
                </p:oleObj>
              </mc:Choice>
              <mc:Fallback>
                <p:oleObj name="Equation" r:id="rId2" imgW="3593880" imgH="1041120" progId="Equation.3">
                  <p:embed/>
                  <p:pic>
                    <p:nvPicPr>
                      <p:cNvPr id="314370" name="Object 2">
                        <a:extLst>
                          <a:ext uri="{FF2B5EF4-FFF2-40B4-BE49-F238E27FC236}">
                            <a16:creationId xmlns:a16="http://schemas.microsoft.com/office/drawing/2014/main" id="{BAD51E90-FC12-24E6-F144-AD4AF76274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896" y="1400697"/>
                        <a:ext cx="6515100" cy="188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A05A39B-8609-6445-95BA-4591263E33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62247"/>
              </p:ext>
            </p:extLst>
          </p:nvPr>
        </p:nvGraphicFramePr>
        <p:xfrm>
          <a:off x="1237447" y="3450160"/>
          <a:ext cx="822007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57520" imgH="431640" progId="Equation.DSMT4">
                  <p:embed/>
                </p:oleObj>
              </mc:Choice>
              <mc:Fallback>
                <p:oleObj name="Equation" r:id="rId4" imgW="4457520" imgH="431640" progId="Equation.DSMT4">
                  <p:embed/>
                  <p:pic>
                    <p:nvPicPr>
                      <p:cNvPr id="314371" name="Object 3">
                        <a:extLst>
                          <a:ext uri="{FF2B5EF4-FFF2-40B4-BE49-F238E27FC236}">
                            <a16:creationId xmlns:a16="http://schemas.microsoft.com/office/drawing/2014/main" id="{72DB17AF-53DC-35CA-6C8A-9EB6B3EFDF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877" t="-15749" r="-877" b="-15749"/>
                      <a:stretch>
                        <a:fillRect/>
                      </a:stretch>
                    </p:blipFill>
                    <p:spPr bwMode="auto">
                      <a:xfrm>
                        <a:off x="1237447" y="3450160"/>
                        <a:ext cx="8220075" cy="10271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0676108-9FAF-337C-B1C7-B5FEBBDF20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533815"/>
              </p:ext>
            </p:extLst>
          </p:nvPr>
        </p:nvGraphicFramePr>
        <p:xfrm>
          <a:off x="1281896" y="4597922"/>
          <a:ext cx="16573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406080" progId="Equation.3">
                  <p:embed/>
                </p:oleObj>
              </mc:Choice>
              <mc:Fallback>
                <p:oleObj name="Equation" r:id="rId6" imgW="914400" imgH="406080" progId="Equation.3">
                  <p:embed/>
                  <p:pic>
                    <p:nvPicPr>
                      <p:cNvPr id="314372" name="Object 4">
                        <a:extLst>
                          <a:ext uri="{FF2B5EF4-FFF2-40B4-BE49-F238E27FC236}">
                            <a16:creationId xmlns:a16="http://schemas.microsoft.com/office/drawing/2014/main" id="{14C2B035-6D27-9E74-ACEF-7264AFDFDE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896" y="4597922"/>
                        <a:ext cx="165735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92A2CC7A-31C8-4CE1-10F5-4C2D7FCF2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026896"/>
              </p:ext>
            </p:extLst>
          </p:nvPr>
        </p:nvGraphicFramePr>
        <p:xfrm>
          <a:off x="1281896" y="5496447"/>
          <a:ext cx="50879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06560" imgH="203040" progId="Equation.3">
                  <p:embed/>
                </p:oleObj>
              </mc:Choice>
              <mc:Fallback>
                <p:oleObj name="Equation" r:id="rId8" imgW="2806560" imgH="203040" progId="Equation.3">
                  <p:embed/>
                  <p:pic>
                    <p:nvPicPr>
                      <p:cNvPr id="314373" name="Object 5">
                        <a:extLst>
                          <a:ext uri="{FF2B5EF4-FFF2-40B4-BE49-F238E27FC236}">
                            <a16:creationId xmlns:a16="http://schemas.microsoft.com/office/drawing/2014/main" id="{5533EAAB-F0BF-05A9-AC97-AC77D67E10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896" y="5496447"/>
                        <a:ext cx="508793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311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6A655-D589-1D64-F31E-BECBB2B8F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Razão Sinal-Ruído de Quantização</a:t>
            </a:r>
            <a:br>
              <a:rPr lang="pt-BR" dirty="0"/>
            </a:br>
            <a:r>
              <a:rPr lang="pt-BR" dirty="0"/>
              <a:t>Com </a:t>
            </a:r>
            <a:r>
              <a:rPr lang="pt-BR" dirty="0" err="1"/>
              <a:t>Compansão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Rectangle 61">
            <a:extLst>
              <a:ext uri="{FF2B5EF4-FFF2-40B4-BE49-F238E27FC236}">
                <a16:creationId xmlns:a16="http://schemas.microsoft.com/office/drawing/2014/main" id="{B5FC91E8-3DAA-8C50-3E22-2F75051DEF60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3067050" y="1390650"/>
            <a:ext cx="6057900" cy="47815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" name="Line 11">
            <a:extLst>
              <a:ext uri="{FF2B5EF4-FFF2-40B4-BE49-F238E27FC236}">
                <a16:creationId xmlns:a16="http://schemas.microsoft.com/office/drawing/2014/main" id="{9ABABE50-BD8D-C0D6-FD61-6BE6F823CD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9400" y="5130800"/>
            <a:ext cx="34671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02830F89-2107-3696-824D-2B5FC34CCE7F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2351088" y="3392488"/>
            <a:ext cx="3451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72DE592F-543A-1ACF-01FB-2E3D91C18696}"/>
              </a:ext>
            </a:extLst>
          </p:cNvPr>
          <p:cNvGrpSpPr>
            <a:grpSpLocks/>
          </p:cNvGrpSpPr>
          <p:nvPr/>
        </p:nvGrpSpPr>
        <p:grpSpPr bwMode="auto">
          <a:xfrm>
            <a:off x="4076700" y="5016500"/>
            <a:ext cx="3467100" cy="127000"/>
            <a:chOff x="1920" y="3168"/>
            <a:chExt cx="2184" cy="96"/>
          </a:xfrm>
        </p:grpSpPr>
        <p:sp>
          <p:nvSpPr>
            <p:cNvPr id="7" name="Line 14">
              <a:extLst>
                <a:ext uri="{FF2B5EF4-FFF2-40B4-BE49-F238E27FC236}">
                  <a16:creationId xmlns:a16="http://schemas.microsoft.com/office/drawing/2014/main" id="{1F7021B0-0655-060A-F293-28971BAC8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4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9F41C5BC-E23D-99C7-640E-4F18851B0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0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Line 16">
              <a:extLst>
                <a:ext uri="{FF2B5EF4-FFF2-40B4-BE49-F238E27FC236}">
                  <a16:creationId xmlns:a16="http://schemas.microsoft.com/office/drawing/2014/main" id="{E8850742-83AB-4936-6179-1623EE14C9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6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1DA7BD4B-CFFD-0B9F-D55E-EC6B37419E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2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04EEDD05-82E2-8639-8CE9-454D59488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Line 19">
              <a:extLst>
                <a:ext uri="{FF2B5EF4-FFF2-40B4-BE49-F238E27FC236}">
                  <a16:creationId xmlns:a16="http://schemas.microsoft.com/office/drawing/2014/main" id="{211B4241-892B-6A3A-E092-1143E6EFB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4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1A97FE2B-68A0-D9BF-49AC-809C3F89CF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14" name="Object 21">
            <a:extLst>
              <a:ext uri="{FF2B5EF4-FFF2-40B4-BE49-F238E27FC236}">
                <a16:creationId xmlns:a16="http://schemas.microsoft.com/office/drawing/2014/main" id="{C6A160E7-B992-417C-7A97-E950961DFD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1750" y="5162550"/>
          <a:ext cx="446088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177480" progId="Equation.3">
                  <p:embed/>
                </p:oleObj>
              </mc:Choice>
              <mc:Fallback>
                <p:oleObj name="Equation" r:id="rId2" imgW="317160" imgH="177480" progId="Equation.3">
                  <p:embed/>
                  <p:pic>
                    <p:nvPicPr>
                      <p:cNvPr id="392213" name="Object 21">
                        <a:extLst>
                          <a:ext uri="{FF2B5EF4-FFF2-40B4-BE49-F238E27FC236}">
                            <a16:creationId xmlns:a16="http://schemas.microsoft.com/office/drawing/2014/main" id="{EC855388-15D5-A0E5-BEAC-A1B7127EBA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0" y="5162550"/>
                        <a:ext cx="446088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2">
            <a:extLst>
              <a:ext uri="{FF2B5EF4-FFF2-40B4-BE49-F238E27FC236}">
                <a16:creationId xmlns:a16="http://schemas.microsoft.com/office/drawing/2014/main" id="{02F25DD2-E951-1838-799B-31596714F6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7214" y="5162550"/>
          <a:ext cx="446087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177480" progId="Equation.3">
                  <p:embed/>
                </p:oleObj>
              </mc:Choice>
              <mc:Fallback>
                <p:oleObj name="Equation" r:id="rId4" imgW="317160" imgH="177480" progId="Equation.3">
                  <p:embed/>
                  <p:pic>
                    <p:nvPicPr>
                      <p:cNvPr id="392214" name="Object 22">
                        <a:extLst>
                          <a:ext uri="{FF2B5EF4-FFF2-40B4-BE49-F238E27FC236}">
                            <a16:creationId xmlns:a16="http://schemas.microsoft.com/office/drawing/2014/main" id="{545A8154-3D13-BC61-6B8B-66CD343D7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4" y="5162550"/>
                        <a:ext cx="446087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">
            <a:extLst>
              <a:ext uri="{FF2B5EF4-FFF2-40B4-BE49-F238E27FC236}">
                <a16:creationId xmlns:a16="http://schemas.microsoft.com/office/drawing/2014/main" id="{E689EAD1-097F-0484-2A2A-AEB071CB2D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6014" y="5162550"/>
          <a:ext cx="446087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160" imgH="177480" progId="Equation.3">
                  <p:embed/>
                </p:oleObj>
              </mc:Choice>
              <mc:Fallback>
                <p:oleObj name="Equation" r:id="rId6" imgW="317160" imgH="177480" progId="Equation.3">
                  <p:embed/>
                  <p:pic>
                    <p:nvPicPr>
                      <p:cNvPr id="392215" name="Object 23">
                        <a:extLst>
                          <a:ext uri="{FF2B5EF4-FFF2-40B4-BE49-F238E27FC236}">
                            <a16:creationId xmlns:a16="http://schemas.microsoft.com/office/drawing/2014/main" id="{F2E01C57-B44F-6E22-1D1D-5F7A3713E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014" y="5162550"/>
                        <a:ext cx="446087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5C248086-2CFB-02C9-C6E6-B310B32D22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2914" y="5162550"/>
          <a:ext cx="446087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177480" progId="Equation.3">
                  <p:embed/>
                </p:oleObj>
              </mc:Choice>
              <mc:Fallback>
                <p:oleObj name="Equation" r:id="rId8" imgW="317160" imgH="177480" progId="Equation.3">
                  <p:embed/>
                  <p:pic>
                    <p:nvPicPr>
                      <p:cNvPr id="392216" name="Object 24">
                        <a:extLst>
                          <a:ext uri="{FF2B5EF4-FFF2-40B4-BE49-F238E27FC236}">
                            <a16:creationId xmlns:a16="http://schemas.microsoft.com/office/drawing/2014/main" id="{BD88DADD-5120-ACE2-AAE2-29FEFDEA23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914" y="5162550"/>
                        <a:ext cx="446087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5">
            <a:extLst>
              <a:ext uri="{FF2B5EF4-FFF2-40B4-BE49-F238E27FC236}">
                <a16:creationId xmlns:a16="http://schemas.microsoft.com/office/drawing/2014/main" id="{56674BC1-C26E-F861-69A3-8C32866A07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7114" y="5162550"/>
          <a:ext cx="446087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7160" imgH="177480" progId="Equation.3">
                  <p:embed/>
                </p:oleObj>
              </mc:Choice>
              <mc:Fallback>
                <p:oleObj name="Equation" r:id="rId10" imgW="317160" imgH="177480" progId="Equation.3">
                  <p:embed/>
                  <p:pic>
                    <p:nvPicPr>
                      <p:cNvPr id="392217" name="Object 25">
                        <a:extLst>
                          <a:ext uri="{FF2B5EF4-FFF2-40B4-BE49-F238E27FC236}">
                            <a16:creationId xmlns:a16="http://schemas.microsoft.com/office/drawing/2014/main" id="{C222B27D-2F37-980F-3AD8-974779B3E7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7114" y="5162550"/>
                        <a:ext cx="446087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6">
            <a:extLst>
              <a:ext uri="{FF2B5EF4-FFF2-40B4-BE49-F238E27FC236}">
                <a16:creationId xmlns:a16="http://schemas.microsoft.com/office/drawing/2014/main" id="{7BF04747-439A-76D4-F85D-E8C7E90F89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1314" y="5162550"/>
          <a:ext cx="428625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4560" imgH="177480" progId="Equation.3">
                  <p:embed/>
                </p:oleObj>
              </mc:Choice>
              <mc:Fallback>
                <p:oleObj name="Equation" r:id="rId12" imgW="304560" imgH="177480" progId="Equation.3">
                  <p:embed/>
                  <p:pic>
                    <p:nvPicPr>
                      <p:cNvPr id="392218" name="Object 26">
                        <a:extLst>
                          <a:ext uri="{FF2B5EF4-FFF2-40B4-BE49-F238E27FC236}">
                            <a16:creationId xmlns:a16="http://schemas.microsoft.com/office/drawing/2014/main" id="{0A4B1E9C-B14C-B493-DD99-F16D460DDC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314" y="5162550"/>
                        <a:ext cx="428625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7">
            <a:extLst>
              <a:ext uri="{FF2B5EF4-FFF2-40B4-BE49-F238E27FC236}">
                <a16:creationId xmlns:a16="http://schemas.microsoft.com/office/drawing/2014/main" id="{39E4AF50-1454-E3E1-95A5-ADE37656E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0" y="5162550"/>
          <a:ext cx="1778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77480" progId="Equation.3">
                  <p:embed/>
                </p:oleObj>
              </mc:Choice>
              <mc:Fallback>
                <p:oleObj name="Equation" r:id="rId14" imgW="126720" imgH="177480" progId="Equation.3">
                  <p:embed/>
                  <p:pic>
                    <p:nvPicPr>
                      <p:cNvPr id="392219" name="Object 27">
                        <a:extLst>
                          <a:ext uri="{FF2B5EF4-FFF2-40B4-BE49-F238E27FC236}">
                            <a16:creationId xmlns:a16="http://schemas.microsoft.com/office/drawing/2014/main" id="{845A60AE-AEAE-7DD7-59FF-520A29470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5162550"/>
                        <a:ext cx="1778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8">
            <a:extLst>
              <a:ext uri="{FF2B5EF4-FFF2-40B4-BE49-F238E27FC236}">
                <a16:creationId xmlns:a16="http://schemas.microsoft.com/office/drawing/2014/main" id="{EF87E644-9BAA-91E6-559A-E3831B869D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5551" y="5454650"/>
          <a:ext cx="19732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71600" imgH="342720" progId="Equation.3">
                  <p:embed/>
                </p:oleObj>
              </mc:Choice>
              <mc:Fallback>
                <p:oleObj name="Equation" r:id="rId16" imgW="1371600" imgH="342720" progId="Equation.3">
                  <p:embed/>
                  <p:pic>
                    <p:nvPicPr>
                      <p:cNvPr id="392220" name="Object 28">
                        <a:extLst>
                          <a:ext uri="{FF2B5EF4-FFF2-40B4-BE49-F238E27FC236}">
                            <a16:creationId xmlns:a16="http://schemas.microsoft.com/office/drawing/2014/main" id="{ACC65645-5190-8290-DE63-3EEA00376D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63" t="-8275" r="-1363" b="-8275"/>
                      <a:stretch>
                        <a:fillRect/>
                      </a:stretch>
                    </p:blipFill>
                    <p:spPr bwMode="auto">
                      <a:xfrm>
                        <a:off x="5035551" y="5454650"/>
                        <a:ext cx="19732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9">
            <a:extLst>
              <a:ext uri="{FF2B5EF4-FFF2-40B4-BE49-F238E27FC236}">
                <a16:creationId xmlns:a16="http://schemas.microsoft.com/office/drawing/2014/main" id="{EDA68653-4899-27F0-5F3C-FDEA935EE3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3500" y="4991100"/>
          <a:ext cx="1778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77480" progId="Equation.3">
                  <p:embed/>
                </p:oleObj>
              </mc:Choice>
              <mc:Fallback>
                <p:oleObj name="Equation" r:id="rId14" imgW="126720" imgH="177480" progId="Equation.3">
                  <p:embed/>
                  <p:pic>
                    <p:nvPicPr>
                      <p:cNvPr id="392221" name="Object 29">
                        <a:extLst>
                          <a:ext uri="{FF2B5EF4-FFF2-40B4-BE49-F238E27FC236}">
                            <a16:creationId xmlns:a16="http://schemas.microsoft.com/office/drawing/2014/main" id="{B2C4CFF7-01EE-A6A1-08F0-664D7FABC2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0" y="4991100"/>
                        <a:ext cx="1778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0">
            <a:extLst>
              <a:ext uri="{FF2B5EF4-FFF2-40B4-BE49-F238E27FC236}">
                <a16:creationId xmlns:a16="http://schemas.microsoft.com/office/drawing/2014/main" id="{8642AF6F-C93E-CDCE-47AD-0FA755D9E3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4600" y="4419600"/>
          <a:ext cx="2667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0440" imgH="177480" progId="Equation.3">
                  <p:embed/>
                </p:oleObj>
              </mc:Choice>
              <mc:Fallback>
                <p:oleObj name="Equation" r:id="rId18" imgW="190440" imgH="177480" progId="Equation.3">
                  <p:embed/>
                  <p:pic>
                    <p:nvPicPr>
                      <p:cNvPr id="392222" name="Object 30">
                        <a:extLst>
                          <a:ext uri="{FF2B5EF4-FFF2-40B4-BE49-F238E27FC236}">
                            <a16:creationId xmlns:a16="http://schemas.microsoft.com/office/drawing/2014/main" id="{3AEFF0B3-3F5E-C13B-FA2E-C10DD0F4E9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4419600"/>
                        <a:ext cx="2667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1">
            <a:extLst>
              <a:ext uri="{FF2B5EF4-FFF2-40B4-BE49-F238E27FC236}">
                <a16:creationId xmlns:a16="http://schemas.microsoft.com/office/drawing/2014/main" id="{41D4627C-8A13-8EE1-48D0-BCB3EF316B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7138" y="3848100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3040" imgH="177480" progId="Equation.3">
                  <p:embed/>
                </p:oleObj>
              </mc:Choice>
              <mc:Fallback>
                <p:oleObj name="Equation" r:id="rId20" imgW="203040" imgH="177480" progId="Equation.3">
                  <p:embed/>
                  <p:pic>
                    <p:nvPicPr>
                      <p:cNvPr id="392223" name="Object 31">
                        <a:extLst>
                          <a:ext uri="{FF2B5EF4-FFF2-40B4-BE49-F238E27FC236}">
                            <a16:creationId xmlns:a16="http://schemas.microsoft.com/office/drawing/2014/main" id="{9FB2FD87-C9E4-0BF8-AA40-104899C094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138" y="3848100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>
            <a:extLst>
              <a:ext uri="{FF2B5EF4-FFF2-40B4-BE49-F238E27FC236}">
                <a16:creationId xmlns:a16="http://schemas.microsoft.com/office/drawing/2014/main" id="{1D7DF091-F4CA-63B8-9B67-5E19C977A8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7138" y="3276600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3040" imgH="177480" progId="Equation.3">
                  <p:embed/>
                </p:oleObj>
              </mc:Choice>
              <mc:Fallback>
                <p:oleObj name="Equation" r:id="rId22" imgW="203040" imgH="177480" progId="Equation.3">
                  <p:embed/>
                  <p:pic>
                    <p:nvPicPr>
                      <p:cNvPr id="392224" name="Object 32">
                        <a:extLst>
                          <a:ext uri="{FF2B5EF4-FFF2-40B4-BE49-F238E27FC236}">
                            <a16:creationId xmlns:a16="http://schemas.microsoft.com/office/drawing/2014/main" id="{B3320B16-9BB3-3C26-6420-0414DD9C5A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138" y="3276600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3">
            <a:extLst>
              <a:ext uri="{FF2B5EF4-FFF2-40B4-BE49-F238E27FC236}">
                <a16:creationId xmlns:a16="http://schemas.microsoft.com/office/drawing/2014/main" id="{1F8D31B1-7781-2EE8-0980-A59796EE8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7138" y="2705100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3040" imgH="177480" progId="Equation.3">
                  <p:embed/>
                </p:oleObj>
              </mc:Choice>
              <mc:Fallback>
                <p:oleObj name="Equation" r:id="rId24" imgW="203040" imgH="177480" progId="Equation.3">
                  <p:embed/>
                  <p:pic>
                    <p:nvPicPr>
                      <p:cNvPr id="392225" name="Object 33">
                        <a:extLst>
                          <a:ext uri="{FF2B5EF4-FFF2-40B4-BE49-F238E27FC236}">
                            <a16:creationId xmlns:a16="http://schemas.microsoft.com/office/drawing/2014/main" id="{30D8E3DD-99B4-1733-3545-1754B6952E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138" y="2705100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4">
            <a:extLst>
              <a:ext uri="{FF2B5EF4-FFF2-40B4-BE49-F238E27FC236}">
                <a16:creationId xmlns:a16="http://schemas.microsoft.com/office/drawing/2014/main" id="{E44514D0-3F2A-5330-5835-E4B5481D8B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7138" y="2133600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3040" imgH="177480" progId="Equation.3">
                  <p:embed/>
                </p:oleObj>
              </mc:Choice>
              <mc:Fallback>
                <p:oleObj name="Equation" r:id="rId26" imgW="203040" imgH="177480" progId="Equation.3">
                  <p:embed/>
                  <p:pic>
                    <p:nvPicPr>
                      <p:cNvPr id="392226" name="Object 34">
                        <a:extLst>
                          <a:ext uri="{FF2B5EF4-FFF2-40B4-BE49-F238E27FC236}">
                            <a16:creationId xmlns:a16="http://schemas.microsoft.com/office/drawing/2014/main" id="{435013F5-15B4-F0CE-E5BF-F6F08E159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138" y="2133600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5">
            <a:extLst>
              <a:ext uri="{FF2B5EF4-FFF2-40B4-BE49-F238E27FC236}">
                <a16:creationId xmlns:a16="http://schemas.microsoft.com/office/drawing/2014/main" id="{4B6BD0F3-7475-6DC6-A342-F6FB4CA947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7138" y="1562100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03040" imgH="177480" progId="Equation.3">
                  <p:embed/>
                </p:oleObj>
              </mc:Choice>
              <mc:Fallback>
                <p:oleObj name="Equation" r:id="rId28" imgW="203040" imgH="177480" progId="Equation.3">
                  <p:embed/>
                  <p:pic>
                    <p:nvPicPr>
                      <p:cNvPr id="392227" name="Object 35">
                        <a:extLst>
                          <a:ext uri="{FF2B5EF4-FFF2-40B4-BE49-F238E27FC236}">
                            <a16:creationId xmlns:a16="http://schemas.microsoft.com/office/drawing/2014/main" id="{6362A978-7AEA-7EA5-F91C-4FDD31A0D0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138" y="1562100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36">
            <a:extLst>
              <a:ext uri="{FF2B5EF4-FFF2-40B4-BE49-F238E27FC236}">
                <a16:creationId xmlns:a16="http://schemas.microsoft.com/office/drawing/2014/main" id="{9B8C37C4-B7A9-CE05-D3EA-E28678BD7411}"/>
              </a:ext>
            </a:extLst>
          </p:cNvPr>
          <p:cNvGrpSpPr>
            <a:grpSpLocks/>
          </p:cNvGrpSpPr>
          <p:nvPr/>
        </p:nvGrpSpPr>
        <p:grpSpPr bwMode="auto">
          <a:xfrm>
            <a:off x="4070350" y="1670050"/>
            <a:ext cx="114300" cy="3460750"/>
            <a:chOff x="1916" y="1076"/>
            <a:chExt cx="72" cy="2180"/>
          </a:xfrm>
        </p:grpSpPr>
        <p:sp>
          <p:nvSpPr>
            <p:cNvPr id="30" name="Line 37">
              <a:extLst>
                <a:ext uri="{FF2B5EF4-FFF2-40B4-BE49-F238E27FC236}">
                  <a16:creationId xmlns:a16="http://schemas.microsoft.com/office/drawing/2014/main" id="{72785E07-0A01-82FA-6573-295097CDC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2892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Line 38">
              <a:extLst>
                <a:ext uri="{FF2B5EF4-FFF2-40B4-BE49-F238E27FC236}">
                  <a16:creationId xmlns:a16="http://schemas.microsoft.com/office/drawing/2014/main" id="{648144C6-CF04-C9B3-AAEE-3C8A86A3D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2529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Line 39">
              <a:extLst>
                <a:ext uri="{FF2B5EF4-FFF2-40B4-BE49-F238E27FC236}">
                  <a16:creationId xmlns:a16="http://schemas.microsoft.com/office/drawing/2014/main" id="{386CAA4E-4A71-A37B-0B8E-664434A75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2166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Line 40">
              <a:extLst>
                <a:ext uri="{FF2B5EF4-FFF2-40B4-BE49-F238E27FC236}">
                  <a16:creationId xmlns:a16="http://schemas.microsoft.com/office/drawing/2014/main" id="{7380FF5A-F803-7584-DEF1-AD9A4198B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802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Line 41">
              <a:extLst>
                <a:ext uri="{FF2B5EF4-FFF2-40B4-BE49-F238E27FC236}">
                  <a16:creationId xmlns:a16="http://schemas.microsoft.com/office/drawing/2014/main" id="{B52A79BE-9408-15D3-D756-B3352E9D3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439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Line 42">
              <a:extLst>
                <a:ext uri="{FF2B5EF4-FFF2-40B4-BE49-F238E27FC236}">
                  <a16:creationId xmlns:a16="http://schemas.microsoft.com/office/drawing/2014/main" id="{B8509B00-6538-631C-E7C6-CD87E2503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3256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Line 43">
              <a:extLst>
                <a:ext uri="{FF2B5EF4-FFF2-40B4-BE49-F238E27FC236}">
                  <a16:creationId xmlns:a16="http://schemas.microsoft.com/office/drawing/2014/main" id="{4ADC0C35-BBEF-6D5D-B2C7-5C9EFB03A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076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Line 44">
            <a:extLst>
              <a:ext uri="{FF2B5EF4-FFF2-40B4-BE49-F238E27FC236}">
                <a16:creationId xmlns:a16="http://schemas.microsoft.com/office/drawing/2014/main" id="{CEB74336-B131-D0BF-E3C9-FDEF0A7FBE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4213" y="2076450"/>
            <a:ext cx="3065462" cy="305435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" name="Text Box 45">
            <a:extLst>
              <a:ext uri="{FF2B5EF4-FFF2-40B4-BE49-F238E27FC236}">
                <a16:creationId xmlns:a16="http://schemas.microsoft.com/office/drawing/2014/main" id="{E1B9D6BE-298C-CE22-E9D3-DCEF364C2D8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894807" y="3201194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i="1">
                <a:latin typeface="Times New Roman" panose="02020603050405020304" pitchFamily="18" charset="0"/>
              </a:rPr>
              <a:t>RSR</a:t>
            </a:r>
            <a:r>
              <a:rPr lang="pt-BR" altLang="pt-BR" i="1" baseline="-25000">
                <a:latin typeface="Times New Roman" panose="02020603050405020304" pitchFamily="18" charset="0"/>
              </a:rPr>
              <a:t>q</a:t>
            </a:r>
            <a:r>
              <a:rPr lang="pt-BR" altLang="pt-BR" i="1">
                <a:latin typeface="Times New Roman" panose="02020603050405020304" pitchFamily="18" charset="0"/>
              </a:rPr>
              <a:t> </a:t>
            </a:r>
            <a:r>
              <a:rPr lang="pt-BR" altLang="pt-BR"/>
              <a:t>(dB)</a:t>
            </a:r>
            <a:endParaRPr lang="pt-BR" altLang="pt-BR" i="1">
              <a:latin typeface="Times New Roman" panose="02020603050405020304" pitchFamily="18" charset="0"/>
            </a:endParaRPr>
          </a:p>
        </p:txBody>
      </p:sp>
      <p:sp>
        <p:nvSpPr>
          <p:cNvPr id="39" name="Freeform 46">
            <a:extLst>
              <a:ext uri="{FF2B5EF4-FFF2-40B4-BE49-F238E27FC236}">
                <a16:creationId xmlns:a16="http://schemas.microsoft.com/office/drawing/2014/main" id="{C22A03AD-A933-D4BC-6D8A-246A9DA075E7}"/>
              </a:ext>
            </a:extLst>
          </p:cNvPr>
          <p:cNvSpPr>
            <a:spLocks/>
          </p:cNvSpPr>
          <p:nvPr/>
        </p:nvSpPr>
        <p:spPr bwMode="auto">
          <a:xfrm>
            <a:off x="5910264" y="2984501"/>
            <a:ext cx="1558925" cy="1185863"/>
          </a:xfrm>
          <a:custGeom>
            <a:avLst/>
            <a:gdLst>
              <a:gd name="T0" fmla="*/ 0 w 982"/>
              <a:gd name="T1" fmla="*/ 466 h 747"/>
              <a:gd name="T2" fmla="*/ 66 w 982"/>
              <a:gd name="T3" fmla="*/ 403 h 747"/>
              <a:gd name="T4" fmla="*/ 294 w 982"/>
              <a:gd name="T5" fmla="*/ 175 h 747"/>
              <a:gd name="T6" fmla="*/ 514 w 982"/>
              <a:gd name="T7" fmla="*/ 27 h 747"/>
              <a:gd name="T8" fmla="*/ 678 w 982"/>
              <a:gd name="T9" fmla="*/ 59 h 747"/>
              <a:gd name="T10" fmla="*/ 842 w 982"/>
              <a:gd name="T11" fmla="*/ 383 h 747"/>
              <a:gd name="T12" fmla="*/ 982 w 982"/>
              <a:gd name="T13" fmla="*/ 747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2" h="747">
                <a:moveTo>
                  <a:pt x="0" y="466"/>
                </a:moveTo>
                <a:cubicBezTo>
                  <a:pt x="11" y="455"/>
                  <a:pt x="17" y="451"/>
                  <a:pt x="66" y="403"/>
                </a:cubicBezTo>
                <a:cubicBezTo>
                  <a:pt x="115" y="355"/>
                  <a:pt x="219" y="238"/>
                  <a:pt x="294" y="175"/>
                </a:cubicBezTo>
                <a:cubicBezTo>
                  <a:pt x="369" y="112"/>
                  <a:pt x="450" y="46"/>
                  <a:pt x="514" y="27"/>
                </a:cubicBezTo>
                <a:cubicBezTo>
                  <a:pt x="578" y="8"/>
                  <a:pt x="623" y="0"/>
                  <a:pt x="678" y="59"/>
                </a:cubicBezTo>
                <a:cubicBezTo>
                  <a:pt x="733" y="118"/>
                  <a:pt x="791" y="268"/>
                  <a:pt x="842" y="383"/>
                </a:cubicBezTo>
                <a:cubicBezTo>
                  <a:pt x="893" y="498"/>
                  <a:pt x="937" y="622"/>
                  <a:pt x="982" y="747"/>
                </a:cubicBezTo>
              </a:path>
            </a:pathLst>
          </a:custGeom>
          <a:noFill/>
          <a:ln w="28575" cap="flat" cmpd="sng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" name="Text Box 47">
            <a:extLst>
              <a:ext uri="{FF2B5EF4-FFF2-40B4-BE49-F238E27FC236}">
                <a16:creationId xmlns:a16="http://schemas.microsoft.com/office/drawing/2014/main" id="{97171FCD-7718-C807-D6FD-8BF50CB65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0789" y="3032125"/>
            <a:ext cx="13795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>
                <a:solidFill>
                  <a:schemeClr val="accent2"/>
                </a:solidFill>
              </a:rPr>
              <a:t>Efeito da sobrecarga</a:t>
            </a:r>
          </a:p>
        </p:txBody>
      </p:sp>
      <p:sp>
        <p:nvSpPr>
          <p:cNvPr id="41" name="Line 48">
            <a:extLst>
              <a:ext uri="{FF2B5EF4-FFF2-40B4-BE49-F238E27FC236}">
                <a16:creationId xmlns:a16="http://schemas.microsoft.com/office/drawing/2014/main" id="{63BF08D2-E0F8-C17B-D539-2AD5CE85ED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3613" y="3384551"/>
            <a:ext cx="322262" cy="3079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2" name="Freeform 49">
            <a:extLst>
              <a:ext uri="{FF2B5EF4-FFF2-40B4-BE49-F238E27FC236}">
                <a16:creationId xmlns:a16="http://schemas.microsoft.com/office/drawing/2014/main" id="{3C2F6753-99D0-F68D-48D4-721A07390F6F}"/>
              </a:ext>
            </a:extLst>
          </p:cNvPr>
          <p:cNvSpPr>
            <a:spLocks/>
          </p:cNvSpPr>
          <p:nvPr/>
        </p:nvSpPr>
        <p:spPr bwMode="auto">
          <a:xfrm>
            <a:off x="4067175" y="2867026"/>
            <a:ext cx="3486150" cy="885825"/>
          </a:xfrm>
          <a:custGeom>
            <a:avLst/>
            <a:gdLst>
              <a:gd name="T0" fmla="*/ 0 w 2196"/>
              <a:gd name="T1" fmla="*/ 558 h 558"/>
              <a:gd name="T2" fmla="*/ 108 w 2196"/>
              <a:gd name="T3" fmla="*/ 486 h 558"/>
              <a:gd name="T4" fmla="*/ 228 w 2196"/>
              <a:gd name="T5" fmla="*/ 408 h 558"/>
              <a:gd name="T6" fmla="*/ 384 w 2196"/>
              <a:gd name="T7" fmla="*/ 312 h 558"/>
              <a:gd name="T8" fmla="*/ 594 w 2196"/>
              <a:gd name="T9" fmla="*/ 204 h 558"/>
              <a:gd name="T10" fmla="*/ 798 w 2196"/>
              <a:gd name="T11" fmla="*/ 126 h 558"/>
              <a:gd name="T12" fmla="*/ 1110 w 2196"/>
              <a:gd name="T13" fmla="*/ 72 h 558"/>
              <a:gd name="T14" fmla="*/ 1398 w 2196"/>
              <a:gd name="T15" fmla="*/ 42 h 558"/>
              <a:gd name="T16" fmla="*/ 2196 w 2196"/>
              <a:gd name="T17" fmla="*/ 0 h 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96" h="558">
                <a:moveTo>
                  <a:pt x="0" y="558"/>
                </a:moveTo>
                <a:cubicBezTo>
                  <a:pt x="35" y="534"/>
                  <a:pt x="70" y="511"/>
                  <a:pt x="108" y="486"/>
                </a:cubicBezTo>
                <a:cubicBezTo>
                  <a:pt x="146" y="461"/>
                  <a:pt x="182" y="437"/>
                  <a:pt x="228" y="408"/>
                </a:cubicBezTo>
                <a:cubicBezTo>
                  <a:pt x="274" y="379"/>
                  <a:pt x="323" y="346"/>
                  <a:pt x="384" y="312"/>
                </a:cubicBezTo>
                <a:cubicBezTo>
                  <a:pt x="445" y="278"/>
                  <a:pt x="525" y="235"/>
                  <a:pt x="594" y="204"/>
                </a:cubicBezTo>
                <a:cubicBezTo>
                  <a:pt x="663" y="173"/>
                  <a:pt x="712" y="148"/>
                  <a:pt x="798" y="126"/>
                </a:cubicBezTo>
                <a:cubicBezTo>
                  <a:pt x="884" y="104"/>
                  <a:pt x="1010" y="86"/>
                  <a:pt x="1110" y="72"/>
                </a:cubicBezTo>
                <a:cubicBezTo>
                  <a:pt x="1210" y="58"/>
                  <a:pt x="1217" y="54"/>
                  <a:pt x="1398" y="42"/>
                </a:cubicBezTo>
                <a:cubicBezTo>
                  <a:pt x="1579" y="30"/>
                  <a:pt x="1887" y="15"/>
                  <a:pt x="2196" y="0"/>
                </a:cubicBezTo>
              </a:path>
            </a:pathLst>
          </a:custGeom>
          <a:noFill/>
          <a:ln w="38100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43" name="Object 50">
            <a:extLst>
              <a:ext uri="{FF2B5EF4-FFF2-40B4-BE49-F238E27FC236}">
                <a16:creationId xmlns:a16="http://schemas.microsoft.com/office/drawing/2014/main" id="{879FE1D8-DB41-07DC-D6BE-6B1B60DA67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1" y="3213101"/>
          <a:ext cx="741363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33160" imgH="203040" progId="Equation.3">
                  <p:embed/>
                </p:oleObj>
              </mc:Choice>
              <mc:Fallback>
                <p:oleObj name="Equation" r:id="rId30" imgW="533160" imgH="203040" progId="Equation.3">
                  <p:embed/>
                  <p:pic>
                    <p:nvPicPr>
                      <p:cNvPr id="392242" name="Object 50">
                        <a:extLst>
                          <a:ext uri="{FF2B5EF4-FFF2-40B4-BE49-F238E27FC236}">
                            <a16:creationId xmlns:a16="http://schemas.microsoft.com/office/drawing/2014/main" id="{0F4B1CC7-3356-B9EE-612A-F23EC19E7C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213101"/>
                        <a:ext cx="741363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1">
            <a:extLst>
              <a:ext uri="{FF2B5EF4-FFF2-40B4-BE49-F238E27FC236}">
                <a16:creationId xmlns:a16="http://schemas.microsoft.com/office/drawing/2014/main" id="{F689B463-836E-EDFF-B501-F821AEC48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6514" y="3717926"/>
          <a:ext cx="5286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80880" imgH="203040" progId="Equation.3">
                  <p:embed/>
                </p:oleObj>
              </mc:Choice>
              <mc:Fallback>
                <p:oleObj name="Equation" r:id="rId32" imgW="380880" imgH="203040" progId="Equation.3">
                  <p:embed/>
                  <p:pic>
                    <p:nvPicPr>
                      <p:cNvPr id="392243" name="Object 51">
                        <a:extLst>
                          <a:ext uri="{FF2B5EF4-FFF2-40B4-BE49-F238E27FC236}">
                            <a16:creationId xmlns:a16="http://schemas.microsoft.com/office/drawing/2014/main" id="{BC3607CD-D7FF-9E75-2F27-B1AC1EC1BB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4" y="3717926"/>
                        <a:ext cx="5286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2">
            <a:extLst>
              <a:ext uri="{FF2B5EF4-FFF2-40B4-BE49-F238E27FC236}">
                <a16:creationId xmlns:a16="http://schemas.microsoft.com/office/drawing/2014/main" id="{A46CDA3B-0D10-B040-C1D2-7F04F37F0B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1868488"/>
          <a:ext cx="14986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079280" imgH="177480" progId="Equation.3">
                  <p:embed/>
                </p:oleObj>
              </mc:Choice>
              <mc:Fallback>
                <p:oleObj name="Equation" r:id="rId34" imgW="1079280" imgH="177480" progId="Equation.3">
                  <p:embed/>
                  <p:pic>
                    <p:nvPicPr>
                      <p:cNvPr id="392244" name="Object 52">
                        <a:extLst>
                          <a:ext uri="{FF2B5EF4-FFF2-40B4-BE49-F238E27FC236}">
                            <a16:creationId xmlns:a16="http://schemas.microsoft.com/office/drawing/2014/main" id="{25E6E437-1D0F-A9DC-E0BA-B8719C3BDE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868488"/>
                        <a:ext cx="149860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Line 53">
            <a:extLst>
              <a:ext uri="{FF2B5EF4-FFF2-40B4-BE49-F238E27FC236}">
                <a16:creationId xmlns:a16="http://schemas.microsoft.com/office/drawing/2014/main" id="{2A4E1BB3-FCBB-58F1-FD3B-9C93EC4B1AA8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076700" y="2890838"/>
            <a:ext cx="2776538" cy="0"/>
          </a:xfrm>
          <a:prstGeom prst="line">
            <a:avLst/>
          </a:prstGeom>
          <a:noFill/>
          <a:ln w="127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7" name="Line 54">
            <a:extLst>
              <a:ext uri="{FF2B5EF4-FFF2-40B4-BE49-F238E27FC236}">
                <a16:creationId xmlns:a16="http://schemas.microsoft.com/office/drawing/2014/main" id="{4C2DEC24-9A5D-5C88-BFD0-D88579BBB3DE}"/>
              </a:ext>
            </a:extLst>
          </p:cNvPr>
          <p:cNvSpPr>
            <a:spLocks noChangeShapeType="1"/>
          </p:cNvSpPr>
          <p:nvPr/>
        </p:nvSpPr>
        <p:spPr bwMode="blackWhite">
          <a:xfrm rot="5400000" flipH="1">
            <a:off x="5676107" y="3942557"/>
            <a:ext cx="2344738" cy="3175"/>
          </a:xfrm>
          <a:prstGeom prst="line">
            <a:avLst/>
          </a:prstGeom>
          <a:noFill/>
          <a:ln w="127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8" name="Freeform 55">
            <a:extLst>
              <a:ext uri="{FF2B5EF4-FFF2-40B4-BE49-F238E27FC236}">
                <a16:creationId xmlns:a16="http://schemas.microsoft.com/office/drawing/2014/main" id="{3829E98B-2FB9-C831-61C5-E4C2F3D482D9}"/>
              </a:ext>
            </a:extLst>
          </p:cNvPr>
          <p:cNvSpPr>
            <a:spLocks/>
          </p:cNvSpPr>
          <p:nvPr/>
        </p:nvSpPr>
        <p:spPr bwMode="blackWhite">
          <a:xfrm>
            <a:off x="6329364" y="2911475"/>
            <a:ext cx="1252537" cy="1098550"/>
          </a:xfrm>
          <a:custGeom>
            <a:avLst/>
            <a:gdLst>
              <a:gd name="T0" fmla="*/ 0 w 789"/>
              <a:gd name="T1" fmla="*/ 11 h 692"/>
              <a:gd name="T2" fmla="*/ 150 w 789"/>
              <a:gd name="T3" fmla="*/ 2 h 692"/>
              <a:gd name="T4" fmla="*/ 330 w 789"/>
              <a:gd name="T5" fmla="*/ 20 h 692"/>
              <a:gd name="T6" fmla="*/ 438 w 789"/>
              <a:gd name="T7" fmla="*/ 62 h 692"/>
              <a:gd name="T8" fmla="*/ 516 w 789"/>
              <a:gd name="T9" fmla="*/ 128 h 692"/>
              <a:gd name="T10" fmla="*/ 627 w 789"/>
              <a:gd name="T11" fmla="*/ 302 h 692"/>
              <a:gd name="T12" fmla="*/ 789 w 789"/>
              <a:gd name="T13" fmla="*/ 692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89" h="692">
                <a:moveTo>
                  <a:pt x="0" y="11"/>
                </a:moveTo>
                <a:cubicBezTo>
                  <a:pt x="47" y="5"/>
                  <a:pt x="95" y="0"/>
                  <a:pt x="150" y="2"/>
                </a:cubicBezTo>
                <a:cubicBezTo>
                  <a:pt x="205" y="4"/>
                  <a:pt x="282" y="10"/>
                  <a:pt x="330" y="20"/>
                </a:cubicBezTo>
                <a:cubicBezTo>
                  <a:pt x="378" y="30"/>
                  <a:pt x="407" y="44"/>
                  <a:pt x="438" y="62"/>
                </a:cubicBezTo>
                <a:cubicBezTo>
                  <a:pt x="469" y="80"/>
                  <a:pt x="485" y="88"/>
                  <a:pt x="516" y="128"/>
                </a:cubicBezTo>
                <a:cubicBezTo>
                  <a:pt x="547" y="168"/>
                  <a:pt x="582" y="208"/>
                  <a:pt x="627" y="302"/>
                </a:cubicBezTo>
                <a:cubicBezTo>
                  <a:pt x="672" y="396"/>
                  <a:pt x="730" y="544"/>
                  <a:pt x="789" y="692"/>
                </a:cubicBezTo>
              </a:path>
            </a:pathLst>
          </a:custGeom>
          <a:noFill/>
          <a:ln w="38100" cap="flat" cmpd="sng">
            <a:solidFill>
              <a:srgbClr val="0000CC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9" name="Line 56">
            <a:extLst>
              <a:ext uri="{FF2B5EF4-FFF2-40B4-BE49-F238E27FC236}">
                <a16:creationId xmlns:a16="http://schemas.microsoft.com/office/drawing/2014/main" id="{E8A95F88-E2E1-68BC-0C8A-A0629E2E36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24725" y="3351214"/>
            <a:ext cx="312738" cy="349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0" name="Line 57">
            <a:extLst>
              <a:ext uri="{FF2B5EF4-FFF2-40B4-BE49-F238E27FC236}">
                <a16:creationId xmlns:a16="http://schemas.microsoft.com/office/drawing/2014/main" id="{4A139A92-D9E9-1B0A-6B0F-19096CB19F19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4652963" y="3390901"/>
            <a:ext cx="0" cy="15525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stealth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51" name="Object 58">
            <a:extLst>
              <a:ext uri="{FF2B5EF4-FFF2-40B4-BE49-F238E27FC236}">
                <a16:creationId xmlns:a16="http://schemas.microsoft.com/office/drawing/2014/main" id="{C6AEF480-5AF1-A826-052A-974A1600C3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6439" y="4016375"/>
          <a:ext cx="2825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03040" imgH="228600" progId="Equation.3">
                  <p:embed/>
                </p:oleObj>
              </mc:Choice>
              <mc:Fallback>
                <p:oleObj name="Equation" r:id="rId36" imgW="203040" imgH="228600" progId="Equation.3">
                  <p:embed/>
                  <p:pic>
                    <p:nvPicPr>
                      <p:cNvPr id="392250" name="Object 58">
                        <a:extLst>
                          <a:ext uri="{FF2B5EF4-FFF2-40B4-BE49-F238E27FC236}">
                            <a16:creationId xmlns:a16="http://schemas.microsoft.com/office/drawing/2014/main" id="{A21048AF-44FA-A1AE-5677-83FDB3A439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439" y="4016375"/>
                        <a:ext cx="282575" cy="317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Line 59">
            <a:extLst>
              <a:ext uri="{FF2B5EF4-FFF2-40B4-BE49-F238E27FC236}">
                <a16:creationId xmlns:a16="http://schemas.microsoft.com/office/drawing/2014/main" id="{7D319FF6-2E54-257B-8310-301F8F64CA9C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064000" y="2763838"/>
            <a:ext cx="2776538" cy="0"/>
          </a:xfrm>
          <a:prstGeom prst="line">
            <a:avLst/>
          </a:prstGeom>
          <a:noFill/>
          <a:ln w="12700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53" name="Object 62">
            <a:extLst>
              <a:ext uri="{FF2B5EF4-FFF2-40B4-BE49-F238E27FC236}">
                <a16:creationId xmlns:a16="http://schemas.microsoft.com/office/drawing/2014/main" id="{B6678F58-65D1-EBAF-A5D5-EB8DBE254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1789" y="2443164"/>
          <a:ext cx="206375" cy="17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90440" imgH="164880" progId="Equation.3">
                  <p:embed/>
                </p:oleObj>
              </mc:Choice>
              <mc:Fallback>
                <p:oleObj name="Equation" r:id="rId38" imgW="190440" imgH="164880" progId="Equation.3">
                  <p:embed/>
                  <p:pic>
                    <p:nvPicPr>
                      <p:cNvPr id="392254" name="Object 62">
                        <a:extLst>
                          <a:ext uri="{FF2B5EF4-FFF2-40B4-BE49-F238E27FC236}">
                            <a16:creationId xmlns:a16="http://schemas.microsoft.com/office/drawing/2014/main" id="{1D3E807C-7444-545D-C276-92241AAFE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9" y="2443164"/>
                        <a:ext cx="206375" cy="179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Line 63">
            <a:extLst>
              <a:ext uri="{FF2B5EF4-FFF2-40B4-BE49-F238E27FC236}">
                <a16:creationId xmlns:a16="http://schemas.microsoft.com/office/drawing/2014/main" id="{05750FBB-25A3-4994-1BA4-D5422304185A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4090988" y="2619375"/>
            <a:ext cx="95250" cy="1333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55" name="Object 64">
            <a:extLst>
              <a:ext uri="{FF2B5EF4-FFF2-40B4-BE49-F238E27FC236}">
                <a16:creationId xmlns:a16="http://schemas.microsoft.com/office/drawing/2014/main" id="{58F8AEC8-A721-4D94-FAFC-E3C1FC7113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4651" y="3009901"/>
          <a:ext cx="220663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03040" imgH="177480" progId="Equation.3">
                  <p:embed/>
                </p:oleObj>
              </mc:Choice>
              <mc:Fallback>
                <p:oleObj name="Equation" r:id="rId40" imgW="203040" imgH="177480" progId="Equation.3">
                  <p:embed/>
                  <p:pic>
                    <p:nvPicPr>
                      <p:cNvPr id="392256" name="Object 64">
                        <a:extLst>
                          <a:ext uri="{FF2B5EF4-FFF2-40B4-BE49-F238E27FC236}">
                            <a16:creationId xmlns:a16="http://schemas.microsoft.com/office/drawing/2014/main" id="{E14E7AD9-1193-8BEF-0FF5-02FBF34E6A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1" y="3009901"/>
                        <a:ext cx="220663" cy="19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Line 65">
            <a:extLst>
              <a:ext uri="{FF2B5EF4-FFF2-40B4-BE49-F238E27FC236}">
                <a16:creationId xmlns:a16="http://schemas.microsoft.com/office/drawing/2014/main" id="{7CA16DF4-3B0D-E553-0F22-3D542EEC96A0}"/>
              </a:ext>
            </a:extLst>
          </p:cNvPr>
          <p:cNvSpPr>
            <a:spLocks noChangeShapeType="1"/>
          </p:cNvSpPr>
          <p:nvPr/>
        </p:nvSpPr>
        <p:spPr bwMode="blackWhite">
          <a:xfrm flipH="1" flipV="1">
            <a:off x="4092575" y="2906713"/>
            <a:ext cx="95250" cy="1333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44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51B77-FF1F-BA93-F26C-774DFC92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Log-PCM: </a:t>
            </a:r>
            <a:r>
              <a:rPr lang="pt-BR" dirty="0" err="1"/>
              <a:t>Lei-A</a:t>
            </a:r>
            <a:r>
              <a:rPr lang="pt-BR" dirty="0"/>
              <a:t> ou </a:t>
            </a:r>
            <a:r>
              <a:rPr lang="pt-BR" dirty="0" err="1"/>
              <a:t>Lei-</a:t>
            </a:r>
            <a:r>
              <a:rPr lang="pt-BR" sz="3600" dirty="0" err="1">
                <a:latin typeface="Symbol" panose="05050102010706020507" pitchFamily="18" charset="2"/>
              </a:rPr>
              <a:t>m</a:t>
            </a:r>
            <a:br>
              <a:rPr lang="pt-BR" sz="3600" dirty="0">
                <a:latin typeface="Symbol" panose="05050102010706020507" pitchFamily="18" charset="2"/>
              </a:rPr>
            </a:br>
            <a:r>
              <a:rPr lang="pt-BR" dirty="0"/>
              <a:t>ITU-T G.711</a:t>
            </a:r>
            <a:endParaRPr lang="pt-BR" dirty="0">
              <a:latin typeface="Symbol" panose="05050102010706020507" pitchFamily="18" charset="2"/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8417633-4CE2-55C1-F4B6-DEFA762745A9}"/>
              </a:ext>
            </a:extLst>
          </p:cNvPr>
          <p:cNvGrpSpPr>
            <a:grpSpLocks/>
          </p:cNvGrpSpPr>
          <p:nvPr/>
        </p:nvGrpSpPr>
        <p:grpSpPr bwMode="auto">
          <a:xfrm>
            <a:off x="2333626" y="1009650"/>
            <a:ext cx="6691313" cy="2933700"/>
            <a:chOff x="828" y="2244"/>
            <a:chExt cx="4215" cy="1848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79C0A1D1-ABC1-CAAB-0CF1-254B277EB59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880" y="2244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r>
                <a:rPr lang="pt-BR" altLang="pt-BR" sz="2800" i="1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  <a:endParaRPr lang="pt-BR" altLang="pt-BR" sz="280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" name="AutoShape 6">
              <a:extLst>
                <a:ext uri="{FF2B5EF4-FFF2-40B4-BE49-F238E27FC236}">
                  <a16:creationId xmlns:a16="http://schemas.microsoft.com/office/drawing/2014/main" id="{3D2277C5-A979-05F2-1365-F78D8CB18F0E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3579" y="2244"/>
              <a:ext cx="1447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chemeClr val="bg1"/>
                  </a:solidFill>
                </a:rPr>
                <a:t>3.300 Hz</a:t>
              </a:r>
            </a:p>
          </p:txBody>
        </p:sp>
        <p:sp>
          <p:nvSpPr>
            <p:cNvPr id="6" name="AutoShape 7">
              <a:extLst>
                <a:ext uri="{FF2B5EF4-FFF2-40B4-BE49-F238E27FC236}">
                  <a16:creationId xmlns:a16="http://schemas.microsoft.com/office/drawing/2014/main" id="{773A7B91-E95C-DE1C-C324-3366B8CCB275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880" y="2616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f</a:t>
              </a:r>
              <a:r>
                <a:rPr lang="pt-BR" altLang="pt-BR" sz="2800" i="1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pt-BR" altLang="pt-BR" sz="280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03DE28D4-A6E9-000E-334C-2A97D3D31257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3579" y="2616"/>
              <a:ext cx="146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chemeClr val="bg1"/>
                  </a:solidFill>
                </a:rPr>
                <a:t>8 kHz</a:t>
              </a: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402051C7-8858-92D0-7D3C-BB8879307486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880" y="2988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rgbClr val="FF66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" name="AutoShape 10">
              <a:extLst>
                <a:ext uri="{FF2B5EF4-FFF2-40B4-BE49-F238E27FC236}">
                  <a16:creationId xmlns:a16="http://schemas.microsoft.com/office/drawing/2014/main" id="{C77FB846-0182-4407-4CC3-6C9FDB134367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3579" y="2988"/>
              <a:ext cx="146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rgbClr val="FF66FF"/>
                  </a:solidFill>
                </a:rPr>
                <a:t>8 bits</a:t>
              </a:r>
            </a:p>
          </p:txBody>
        </p:sp>
        <p:sp>
          <p:nvSpPr>
            <p:cNvPr id="10" name="AutoShape 11">
              <a:extLst>
                <a:ext uri="{FF2B5EF4-FFF2-40B4-BE49-F238E27FC236}">
                  <a16:creationId xmlns:a16="http://schemas.microsoft.com/office/drawing/2014/main" id="{07BDB87E-3EFD-680D-5815-AC59F5F0D23D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880" y="3360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rgbClr val="FF66FF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" name="AutoShape 12">
              <a:extLst>
                <a:ext uri="{FF2B5EF4-FFF2-40B4-BE49-F238E27FC236}">
                  <a16:creationId xmlns:a16="http://schemas.microsoft.com/office/drawing/2014/main" id="{23DE7CFC-47B8-E291-6A17-398ABBAAC3FF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3579" y="3360"/>
              <a:ext cx="146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rgbClr val="FF66FF"/>
                  </a:solidFill>
                </a:rPr>
                <a:t>256 níveis</a:t>
              </a:r>
            </a:p>
          </p:txBody>
        </p:sp>
        <p:sp>
          <p:nvSpPr>
            <p:cNvPr id="12" name="AutoShape 13">
              <a:extLst>
                <a:ext uri="{FF2B5EF4-FFF2-40B4-BE49-F238E27FC236}">
                  <a16:creationId xmlns:a16="http://schemas.microsoft.com/office/drawing/2014/main" id="{9E3FA780-8ACF-7629-9243-98BFABB2A162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880" y="3732"/>
              <a:ext cx="684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R</a:t>
              </a:r>
              <a:r>
                <a:rPr lang="pt-BR" altLang="pt-BR" sz="2800" i="1" baseline="-25000">
                  <a:solidFill>
                    <a:srgbClr val="FFFF00"/>
                  </a:solidFill>
                  <a:latin typeface="Times New Roman" panose="02020603050405020304" pitchFamily="18" charset="0"/>
                </a:rPr>
                <a:t>b</a:t>
              </a:r>
              <a:endParaRPr lang="pt-BR" altLang="pt-BR" sz="2800" i="1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AutoShape 14">
              <a:extLst>
                <a:ext uri="{FF2B5EF4-FFF2-40B4-BE49-F238E27FC236}">
                  <a16:creationId xmlns:a16="http://schemas.microsoft.com/office/drawing/2014/main" id="{A833E136-97A8-9CB5-9A41-56ADC6D51B69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3579" y="3732"/>
              <a:ext cx="1457" cy="360"/>
            </a:xfrm>
            <a:prstGeom prst="flowChartProcess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pt-BR" altLang="pt-BR" sz="2800">
                  <a:solidFill>
                    <a:srgbClr val="FFFF00"/>
                  </a:solidFill>
                </a:rPr>
                <a:t>64 kb/s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4F8D1975-F548-D11D-E53B-6C276A5D7DA3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828" y="2757"/>
              <a:ext cx="187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pt-BR" altLang="pt-BR" dirty="0">
                  <a:solidFill>
                    <a:srgbClr val="0070C0"/>
                  </a:solidFill>
                  <a:latin typeface="Tahoma" panose="020B0604030504040204" pitchFamily="34" charset="0"/>
                </a:rPr>
                <a:t> </a:t>
              </a:r>
              <a:r>
                <a:rPr lang="pt-BR" altLang="pt-BR" dirty="0">
                  <a:solidFill>
                    <a:srgbClr val="0070C0"/>
                  </a:solidFill>
                </a:rPr>
                <a:t>Sinal de voz com banda telefônica</a:t>
              </a:r>
            </a:p>
          </p:txBody>
        </p:sp>
      </p:grpSp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4006F7AC-8BBA-266A-C00B-813651B331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0213" y="4275139"/>
          <a:ext cx="55499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60360" imgH="457200" progId="Equation.3">
                  <p:embed/>
                </p:oleObj>
              </mc:Choice>
              <mc:Fallback>
                <p:oleObj name="Equation" r:id="rId2" imgW="3060360" imgH="457200" progId="Equation.3">
                  <p:embed/>
                  <p:pic>
                    <p:nvPicPr>
                      <p:cNvPr id="233488" name="Object 16">
                        <a:extLst>
                          <a:ext uri="{FF2B5EF4-FFF2-40B4-BE49-F238E27FC236}">
                            <a16:creationId xmlns:a16="http://schemas.microsoft.com/office/drawing/2014/main" id="{1D7524C5-7CF6-15FA-5F1A-A64C1DE9FA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4275139"/>
                        <a:ext cx="5549900" cy="828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59648D6E-3F9B-EAFC-E5B0-663111CD98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7038" y="5314951"/>
          <a:ext cx="56642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24080" imgH="469800" progId="Equation.3">
                  <p:embed/>
                </p:oleObj>
              </mc:Choice>
              <mc:Fallback>
                <p:oleObj name="Equation" r:id="rId4" imgW="3124080" imgH="469800" progId="Equation.3">
                  <p:embed/>
                  <p:pic>
                    <p:nvPicPr>
                      <p:cNvPr id="233489" name="Object 17">
                        <a:extLst>
                          <a:ext uri="{FF2B5EF4-FFF2-40B4-BE49-F238E27FC236}">
                            <a16:creationId xmlns:a16="http://schemas.microsoft.com/office/drawing/2014/main" id="{4F6FE917-CA2A-54A9-50E9-3655861C77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5314951"/>
                        <a:ext cx="5664200" cy="854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A8BB5B31-A712-674D-05E0-D6E14C2C13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2701" y="4522789"/>
          <a:ext cx="10128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190440" progId="Equation.3">
                  <p:embed/>
                </p:oleObj>
              </mc:Choice>
              <mc:Fallback>
                <p:oleObj name="Equation" r:id="rId6" imgW="558720" imgH="190440" progId="Equation.3">
                  <p:embed/>
                  <p:pic>
                    <p:nvPicPr>
                      <p:cNvPr id="233490" name="Object 18">
                        <a:extLst>
                          <a:ext uri="{FF2B5EF4-FFF2-40B4-BE49-F238E27FC236}">
                            <a16:creationId xmlns:a16="http://schemas.microsoft.com/office/drawing/2014/main" id="{9FF0E0A3-303B-DAB9-6810-9542223E29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2701" y="4522789"/>
                        <a:ext cx="1012825" cy="346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>
            <a:extLst>
              <a:ext uri="{FF2B5EF4-FFF2-40B4-BE49-F238E27FC236}">
                <a16:creationId xmlns:a16="http://schemas.microsoft.com/office/drawing/2014/main" id="{1765EA65-0D7E-17D5-9089-EEDAE43B2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9375" y="5546725"/>
          <a:ext cx="9667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0" imgH="203040" progId="Equation.3">
                  <p:embed/>
                </p:oleObj>
              </mc:Choice>
              <mc:Fallback>
                <p:oleObj name="Equation" r:id="rId8" imgW="533160" imgH="203040" progId="Equation.3">
                  <p:embed/>
                  <p:pic>
                    <p:nvPicPr>
                      <p:cNvPr id="233491" name="Object 19">
                        <a:extLst>
                          <a:ext uri="{FF2B5EF4-FFF2-40B4-BE49-F238E27FC236}">
                            <a16:creationId xmlns:a16="http://schemas.microsoft.com/office/drawing/2014/main" id="{8794FC36-77F5-E4B4-69DE-7D3D687D21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75" y="5546725"/>
                        <a:ext cx="966788" cy="369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608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F53A7-5886-03ED-F353-A92C34C5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 de transmissão requerida pelo PCM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229C1412-A9F5-7BAF-748C-EAC6C83B8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1333500"/>
            <a:ext cx="8572500" cy="92333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rgbClr val="DDDDDD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pt-BR" altLang="pt-BR">
                <a:solidFill>
                  <a:schemeClr val="accent2"/>
                </a:solidFill>
              </a:rPr>
              <a:t>Por um canal </a:t>
            </a:r>
            <a:r>
              <a:rPr lang="pt-BR" altLang="pt-BR" u="sng">
                <a:solidFill>
                  <a:schemeClr val="accent2"/>
                </a:solidFill>
              </a:rPr>
              <a:t>não-ruidoso</a:t>
            </a:r>
            <a:r>
              <a:rPr lang="pt-BR" altLang="pt-BR">
                <a:solidFill>
                  <a:schemeClr val="accent2"/>
                </a:solidFill>
              </a:rPr>
              <a:t> com uma largura de banda de transmissão de </a:t>
            </a:r>
            <a:r>
              <a:rPr lang="pt-BR" altLang="pt-BR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pt-BR" altLang="pt-BR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pt-BR" altLang="pt-BR" i="1">
                <a:solidFill>
                  <a:schemeClr val="accent2"/>
                </a:solidFill>
              </a:rPr>
              <a:t> </a:t>
            </a:r>
            <a:r>
              <a:rPr lang="pt-BR" altLang="pt-BR">
                <a:solidFill>
                  <a:schemeClr val="accent2"/>
                </a:solidFill>
              </a:rPr>
              <a:t>Hz é possível transmitir, sem erro, no máximo 2</a:t>
            </a:r>
            <a:r>
              <a:rPr lang="pt-BR" altLang="pt-BR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pt-BR" altLang="pt-BR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pt-BR" altLang="pt-BR" i="1" baseline="-25000">
                <a:solidFill>
                  <a:schemeClr val="accent2"/>
                </a:solidFill>
              </a:rPr>
              <a:t> </a:t>
            </a:r>
            <a:r>
              <a:rPr lang="pt-BR" altLang="pt-BR">
                <a:solidFill>
                  <a:schemeClr val="accent2"/>
                </a:solidFill>
              </a:rPr>
              <a:t> elementos de informação (ou símbolos) independentes por segundo</a:t>
            </a: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AC961451-383E-6B6A-8E72-1F6260E786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3176" y="5249863"/>
          <a:ext cx="290671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4960" imgH="368280" progId="Equation.3">
                  <p:embed/>
                </p:oleObj>
              </mc:Choice>
              <mc:Fallback>
                <p:oleObj name="Equation" r:id="rId2" imgW="1434960" imgH="368280" progId="Equation.3">
                  <p:embed/>
                  <p:pic>
                    <p:nvPicPr>
                      <p:cNvPr id="384006" name="Object 6">
                        <a:extLst>
                          <a:ext uri="{FF2B5EF4-FFF2-40B4-BE49-F238E27FC236}">
                            <a16:creationId xmlns:a16="http://schemas.microsoft.com/office/drawing/2014/main" id="{EDA4F8CA-5E7E-1707-40EC-2A7CF1C8B5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981" t="-9775" r="-981" b="-9775"/>
                      <a:stretch>
                        <a:fillRect/>
                      </a:stretch>
                    </p:blipFill>
                    <p:spPr bwMode="blackWhite">
                      <a:xfrm>
                        <a:off x="2543176" y="5249863"/>
                        <a:ext cx="2906713" cy="874712"/>
                      </a:xfrm>
                      <a:prstGeom prst="rect">
                        <a:avLst/>
                      </a:prstGeom>
                      <a:solidFill>
                        <a:srgbClr val="0033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9">
            <a:extLst>
              <a:ext uri="{FF2B5EF4-FFF2-40B4-BE49-F238E27FC236}">
                <a16:creationId xmlns:a16="http://schemas.microsoft.com/office/drawing/2014/main" id="{B6FA174E-86A3-2C21-6B3D-141FD89A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6" y="3290888"/>
            <a:ext cx="4276725" cy="9233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pt-BR" altLang="pt-BR">
                <a:solidFill>
                  <a:schemeClr val="accent2"/>
                </a:solidFill>
              </a:rPr>
              <a:t>Largura de banda de transmissão mínima teórica requerida para transmitir </a:t>
            </a:r>
            <a:r>
              <a:rPr lang="pt-BR" altLang="pt-BR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pt-BR" altLang="pt-BR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pt-BR" altLang="pt-BR">
                <a:solidFill>
                  <a:schemeClr val="accent2"/>
                </a:solidFill>
              </a:rPr>
              <a:t> símbolos por seg.</a:t>
            </a:r>
            <a:endParaRPr lang="pt-BR" altLang="pt-BR" u="sng">
              <a:solidFill>
                <a:schemeClr val="accent2"/>
              </a:solidFill>
            </a:endParaRPr>
          </a:p>
        </p:txBody>
      </p:sp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0ECE6039-467E-3940-281E-CFA7442CEE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2901" y="2932113"/>
          <a:ext cx="3730625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812520" progId="Equation.DSMT4">
                  <p:embed/>
                </p:oleObj>
              </mc:Choice>
              <mc:Fallback>
                <p:oleObj name="Equation" r:id="rId4" imgW="1841400" imgH="812520" progId="Equation.DSMT4">
                  <p:embed/>
                  <p:pic>
                    <p:nvPicPr>
                      <p:cNvPr id="384011" name="Object 11">
                        <a:extLst>
                          <a:ext uri="{FF2B5EF4-FFF2-40B4-BE49-F238E27FC236}">
                            <a16:creationId xmlns:a16="http://schemas.microsoft.com/office/drawing/2014/main" id="{C7B0F7D8-3673-62A6-C0BB-DB99BDCBC4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981" t="-9775" r="-981" b="-9775"/>
                      <a:stretch>
                        <a:fillRect/>
                      </a:stretch>
                    </p:blipFill>
                    <p:spPr bwMode="blackWhite">
                      <a:xfrm>
                        <a:off x="6692901" y="2932113"/>
                        <a:ext cx="3730625" cy="1930400"/>
                      </a:xfrm>
                      <a:prstGeom prst="rect">
                        <a:avLst/>
                      </a:prstGeom>
                      <a:solidFill>
                        <a:srgbClr val="0033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>
            <a:extLst>
              <a:ext uri="{FF2B5EF4-FFF2-40B4-BE49-F238E27FC236}">
                <a16:creationId xmlns:a16="http://schemas.microsoft.com/office/drawing/2014/main" id="{E1C44BBD-09E4-1606-A010-002935457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66026" y="5148263"/>
          <a:ext cx="28035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19040" progId="Equation.DSMT4">
                  <p:embed/>
                </p:oleObj>
              </mc:Choice>
              <mc:Fallback>
                <p:oleObj name="Equation" r:id="rId6" imgW="1384200" imgH="419040" progId="Equation.DSMT4">
                  <p:embed/>
                  <p:pic>
                    <p:nvPicPr>
                      <p:cNvPr id="384012" name="Object 12">
                        <a:extLst>
                          <a:ext uri="{FF2B5EF4-FFF2-40B4-BE49-F238E27FC236}">
                            <a16:creationId xmlns:a16="http://schemas.microsoft.com/office/drawing/2014/main" id="{C6B7327E-97B8-3A43-A0B0-8E7FA687FF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981" t="-9775" r="-981" b="-9775"/>
                      <a:stretch>
                        <a:fillRect/>
                      </a:stretch>
                    </p:blipFill>
                    <p:spPr bwMode="blackWhite">
                      <a:xfrm>
                        <a:off x="7566026" y="5148263"/>
                        <a:ext cx="2803525" cy="995362"/>
                      </a:xfrm>
                      <a:prstGeom prst="rect">
                        <a:avLst/>
                      </a:prstGeom>
                      <a:solidFill>
                        <a:srgbClr val="0033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13">
            <a:extLst>
              <a:ext uri="{FF2B5EF4-FFF2-40B4-BE49-F238E27FC236}">
                <a16:creationId xmlns:a16="http://schemas.microsoft.com/office/drawing/2014/main" id="{BD9ECE28-6813-2295-D994-357E29FD560F}"/>
              </a:ext>
            </a:extLst>
          </p:cNvPr>
          <p:cNvSpPr>
            <a:spLocks/>
          </p:cNvSpPr>
          <p:nvPr/>
        </p:nvSpPr>
        <p:spPr bwMode="grayWhite">
          <a:xfrm>
            <a:off x="5619751" y="4962525"/>
            <a:ext cx="1825625" cy="850900"/>
          </a:xfrm>
          <a:custGeom>
            <a:avLst/>
            <a:gdLst>
              <a:gd name="T0" fmla="*/ 0 w 1150"/>
              <a:gd name="T1" fmla="*/ 480 h 536"/>
              <a:gd name="T2" fmla="*/ 972 w 1150"/>
              <a:gd name="T3" fmla="*/ 456 h 536"/>
              <a:gd name="T4" fmla="*/ 1068 w 1150"/>
              <a:gd name="T5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0" h="536">
                <a:moveTo>
                  <a:pt x="0" y="480"/>
                </a:moveTo>
                <a:cubicBezTo>
                  <a:pt x="162" y="476"/>
                  <a:pt x="794" y="536"/>
                  <a:pt x="972" y="456"/>
                </a:cubicBezTo>
                <a:cubicBezTo>
                  <a:pt x="1150" y="376"/>
                  <a:pt x="1048" y="95"/>
                  <a:pt x="1068" y="0"/>
                </a:cubicBezTo>
              </a:path>
            </a:pathLst>
          </a:custGeom>
          <a:noFill/>
          <a:ln w="152400" cap="flat" cmpd="sng">
            <a:solidFill>
              <a:srgbClr val="66FF99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A0757F84-74C9-F613-CFE6-276C756AB0E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829050" y="2743200"/>
            <a:ext cx="400050" cy="457200"/>
          </a:xfrm>
          <a:prstGeom prst="downArrow">
            <a:avLst>
              <a:gd name="adj1" fmla="val 50000"/>
              <a:gd name="adj2" fmla="val 28571"/>
            </a:avLst>
          </a:prstGeom>
          <a:solidFill>
            <a:srgbClr val="66FF99"/>
          </a:solidFill>
          <a:ln w="57150" algn="ctr">
            <a:solidFill>
              <a:srgbClr val="66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DA3F1BCE-2BA8-78BD-090A-8CAD095835F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816350" y="4635500"/>
            <a:ext cx="400050" cy="457200"/>
          </a:xfrm>
          <a:prstGeom prst="downArrow">
            <a:avLst>
              <a:gd name="adj1" fmla="val 50000"/>
              <a:gd name="adj2" fmla="val 28571"/>
            </a:avLst>
          </a:prstGeom>
          <a:solidFill>
            <a:srgbClr val="66FF99"/>
          </a:solidFill>
          <a:ln w="57150" algn="ctr">
            <a:solidFill>
              <a:srgbClr val="66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75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50596-87F2-8D45-AF85-F8486134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 de transmissão requerida pelo PCM</a:t>
            </a:r>
          </a:p>
        </p:txBody>
      </p:sp>
      <p:grpSp>
        <p:nvGrpSpPr>
          <p:cNvPr id="3" name="Group 51">
            <a:extLst>
              <a:ext uri="{FF2B5EF4-FFF2-40B4-BE49-F238E27FC236}">
                <a16:creationId xmlns:a16="http://schemas.microsoft.com/office/drawing/2014/main" id="{F6733B1A-0F4B-D1B5-D75C-B80A40AEF12D}"/>
              </a:ext>
            </a:extLst>
          </p:cNvPr>
          <p:cNvGrpSpPr>
            <a:grpSpLocks/>
          </p:cNvGrpSpPr>
          <p:nvPr/>
        </p:nvGrpSpPr>
        <p:grpSpPr bwMode="auto">
          <a:xfrm>
            <a:off x="2398713" y="1171575"/>
            <a:ext cx="7442200" cy="3805238"/>
            <a:chOff x="551" y="726"/>
            <a:chExt cx="4688" cy="2397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71D58191-DF3D-F46F-4089-BF2F6BD2D6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0" y="726"/>
              <a:ext cx="0" cy="2397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4C6C70F0-41AD-9FEB-02D9-14AB63920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4" y="726"/>
              <a:ext cx="0" cy="2397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530E7BE6-D2FE-0FAC-E888-1DE8F90F72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4" y="726"/>
              <a:ext cx="0" cy="2397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0E2F0D27-E9BB-2B97-F1EF-D4C5B09C4F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7" y="726"/>
              <a:ext cx="0" cy="2397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9F300F4C-0CED-7C87-3AB7-BC5CA1D253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9" y="726"/>
              <a:ext cx="0" cy="2397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5C843B3C-9DB8-3D5E-F875-03B9D8560B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9" y="726"/>
              <a:ext cx="0" cy="2397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F8DB388C-2FDC-D1AF-58C9-6FE863A8D5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1" y="740"/>
              <a:ext cx="0" cy="2373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FC6AFA7-9E5A-8A55-ED31-D55FC6FD408A}"/>
              </a:ext>
            </a:extLst>
          </p:cNvPr>
          <p:cNvSpPr>
            <a:spLocks/>
          </p:cNvSpPr>
          <p:nvPr/>
        </p:nvSpPr>
        <p:spPr bwMode="auto">
          <a:xfrm>
            <a:off x="2017714" y="1636714"/>
            <a:ext cx="8232775" cy="3189287"/>
          </a:xfrm>
          <a:custGeom>
            <a:avLst/>
            <a:gdLst>
              <a:gd name="T0" fmla="*/ 0 w 3518"/>
              <a:gd name="T1" fmla="*/ 894 h 1584"/>
              <a:gd name="T2" fmla="*/ 192 w 3518"/>
              <a:gd name="T3" fmla="*/ 586 h 1584"/>
              <a:gd name="T4" fmla="*/ 437 w 3518"/>
              <a:gd name="T5" fmla="*/ 259 h 1584"/>
              <a:gd name="T6" fmla="*/ 626 w 3518"/>
              <a:gd name="T7" fmla="*/ 77 h 1584"/>
              <a:gd name="T8" fmla="*/ 853 w 3518"/>
              <a:gd name="T9" fmla="*/ 13 h 1584"/>
              <a:gd name="T10" fmla="*/ 1088 w 3518"/>
              <a:gd name="T11" fmla="*/ 156 h 1584"/>
              <a:gd name="T12" fmla="*/ 1322 w 3518"/>
              <a:gd name="T13" fmla="*/ 617 h 1584"/>
              <a:gd name="T14" fmla="*/ 1514 w 3518"/>
              <a:gd name="T15" fmla="*/ 1017 h 1584"/>
              <a:gd name="T16" fmla="*/ 1674 w 3518"/>
              <a:gd name="T17" fmla="*/ 1385 h 1584"/>
              <a:gd name="T18" fmla="*/ 1910 w 3518"/>
              <a:gd name="T19" fmla="*/ 1583 h 1584"/>
              <a:gd name="T20" fmla="*/ 2228 w 3518"/>
              <a:gd name="T21" fmla="*/ 1379 h 1584"/>
              <a:gd name="T22" fmla="*/ 2480 w 3518"/>
              <a:gd name="T23" fmla="*/ 1121 h 1584"/>
              <a:gd name="T24" fmla="*/ 2864 w 3518"/>
              <a:gd name="T25" fmla="*/ 989 h 1584"/>
              <a:gd name="T26" fmla="*/ 3176 w 3518"/>
              <a:gd name="T27" fmla="*/ 695 h 1584"/>
              <a:gd name="T28" fmla="*/ 3518 w 3518"/>
              <a:gd name="T29" fmla="*/ 575 h 1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518" h="1584">
                <a:moveTo>
                  <a:pt x="0" y="894"/>
                </a:moveTo>
                <a:cubicBezTo>
                  <a:pt x="59" y="791"/>
                  <a:pt x="119" y="691"/>
                  <a:pt x="192" y="586"/>
                </a:cubicBezTo>
                <a:cubicBezTo>
                  <a:pt x="265" y="481"/>
                  <a:pt x="365" y="344"/>
                  <a:pt x="437" y="259"/>
                </a:cubicBezTo>
                <a:cubicBezTo>
                  <a:pt x="509" y="174"/>
                  <a:pt x="557" y="118"/>
                  <a:pt x="626" y="77"/>
                </a:cubicBezTo>
                <a:cubicBezTo>
                  <a:pt x="695" y="36"/>
                  <a:pt x="776" y="0"/>
                  <a:pt x="853" y="13"/>
                </a:cubicBezTo>
                <a:cubicBezTo>
                  <a:pt x="930" y="26"/>
                  <a:pt x="1010" y="55"/>
                  <a:pt x="1088" y="156"/>
                </a:cubicBezTo>
                <a:cubicBezTo>
                  <a:pt x="1166" y="257"/>
                  <a:pt x="1251" y="474"/>
                  <a:pt x="1322" y="617"/>
                </a:cubicBezTo>
                <a:cubicBezTo>
                  <a:pt x="1393" y="760"/>
                  <a:pt x="1455" y="889"/>
                  <a:pt x="1514" y="1017"/>
                </a:cubicBezTo>
                <a:cubicBezTo>
                  <a:pt x="1573" y="1145"/>
                  <a:pt x="1608" y="1291"/>
                  <a:pt x="1674" y="1385"/>
                </a:cubicBezTo>
                <a:cubicBezTo>
                  <a:pt x="1740" y="1479"/>
                  <a:pt x="1818" y="1584"/>
                  <a:pt x="1910" y="1583"/>
                </a:cubicBezTo>
                <a:cubicBezTo>
                  <a:pt x="2002" y="1582"/>
                  <a:pt x="2133" y="1456"/>
                  <a:pt x="2228" y="1379"/>
                </a:cubicBezTo>
                <a:cubicBezTo>
                  <a:pt x="2323" y="1302"/>
                  <a:pt x="2374" y="1186"/>
                  <a:pt x="2480" y="1121"/>
                </a:cubicBezTo>
                <a:cubicBezTo>
                  <a:pt x="2586" y="1056"/>
                  <a:pt x="2748" y="1060"/>
                  <a:pt x="2864" y="989"/>
                </a:cubicBezTo>
                <a:cubicBezTo>
                  <a:pt x="2980" y="918"/>
                  <a:pt x="3067" y="764"/>
                  <a:pt x="3176" y="695"/>
                </a:cubicBezTo>
                <a:cubicBezTo>
                  <a:pt x="3285" y="626"/>
                  <a:pt x="3447" y="600"/>
                  <a:pt x="3518" y="575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6AB05450-CEC7-8A35-10CD-47B74AF53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3576" y="3260725"/>
            <a:ext cx="84105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25461AC1-B732-A659-F4BF-495CC6623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9" y="2390776"/>
            <a:ext cx="130175" cy="1508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CA1717A8-2678-F6B7-A218-0CA46A952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551" y="4564063"/>
            <a:ext cx="131763" cy="15081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4B6567CE-A8A1-D8BF-B5BC-7D7D33D2A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51" y="2827338"/>
            <a:ext cx="131763" cy="15081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C135C094-128C-3DF2-755C-9D4E9BF92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1636713"/>
            <a:ext cx="130175" cy="15081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2D20721D-8283-C0F4-03C1-537ED1F82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3" y="4210051"/>
            <a:ext cx="131762" cy="1508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0A68C874-56DB-0DAE-2738-163A8473E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3288" y="3616326"/>
            <a:ext cx="131762" cy="1508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3E4C68D6-B69E-159D-2A21-435E8436B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6938" y="2816226"/>
            <a:ext cx="131762" cy="1508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B8E54E4-A7A4-0D5E-DA22-81A852F7ECAC}"/>
              </a:ext>
            </a:extLst>
          </p:cNvPr>
          <p:cNvGrpSpPr>
            <a:grpSpLocks/>
          </p:cNvGrpSpPr>
          <p:nvPr/>
        </p:nvGrpSpPr>
        <p:grpSpPr bwMode="auto">
          <a:xfrm>
            <a:off x="-3276600" y="1727201"/>
            <a:ext cx="13841413" cy="1895475"/>
            <a:chOff x="-3024" y="1076"/>
            <a:chExt cx="8719" cy="1194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C25F27A-064E-4438-28EE-8601B033B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" y="1076"/>
              <a:ext cx="4369" cy="1190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C25F302D-7611-2B92-BCA3-9373B03E38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-3024" y="1080"/>
              <a:ext cx="4369" cy="1190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DA5E6BFE-605E-00DC-28CD-B7BB1AC15C42}"/>
              </a:ext>
            </a:extLst>
          </p:cNvPr>
          <p:cNvGrpSpPr>
            <a:grpSpLocks/>
          </p:cNvGrpSpPr>
          <p:nvPr/>
        </p:nvGrpSpPr>
        <p:grpSpPr bwMode="auto">
          <a:xfrm>
            <a:off x="-2058988" y="2476501"/>
            <a:ext cx="13868401" cy="974725"/>
            <a:chOff x="-2257" y="1548"/>
            <a:chExt cx="8736" cy="614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E0AA806-21CD-4AC6-A505-BD791A85E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1548"/>
              <a:ext cx="4369" cy="614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4092486-5118-4428-195D-51AEE2F069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-2257" y="1548"/>
              <a:ext cx="4369" cy="614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B6784B4-12E5-37D4-C81D-BDCE1BD39262}"/>
              </a:ext>
            </a:extLst>
          </p:cNvPr>
          <p:cNvGrpSpPr>
            <a:grpSpLocks/>
          </p:cNvGrpSpPr>
          <p:nvPr/>
        </p:nvGrpSpPr>
        <p:grpSpPr bwMode="auto">
          <a:xfrm>
            <a:off x="-801688" y="2933701"/>
            <a:ext cx="13862051" cy="1711325"/>
            <a:chOff x="-1465" y="1836"/>
            <a:chExt cx="8732" cy="107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C7DE01C-8797-8D76-8C63-8D08960F9FA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898" y="1836"/>
              <a:ext cx="4369" cy="1078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F24A9D2-1928-3767-1649-DA5C6598D93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-1465" y="1836"/>
              <a:ext cx="4369" cy="1078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A0521D9D-4866-1C6B-24F6-C42B5226A3E0}"/>
              </a:ext>
            </a:extLst>
          </p:cNvPr>
          <p:cNvGrpSpPr>
            <a:grpSpLocks/>
          </p:cNvGrpSpPr>
          <p:nvPr/>
        </p:nvGrpSpPr>
        <p:grpSpPr bwMode="auto">
          <a:xfrm>
            <a:off x="455612" y="3009901"/>
            <a:ext cx="13871576" cy="1279525"/>
            <a:chOff x="-673" y="1884"/>
            <a:chExt cx="8738" cy="806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F7EDBE75-DC07-7850-3168-0FB3431D7E0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96" y="1884"/>
              <a:ext cx="4369" cy="806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A113A32F-F031-532B-F387-DE9D94A7414E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-673" y="1884"/>
              <a:ext cx="4369" cy="806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DE7C2214-3E52-942B-F21F-B2C87EB25FA9}"/>
              </a:ext>
            </a:extLst>
          </p:cNvPr>
          <p:cNvGrpSpPr>
            <a:grpSpLocks/>
          </p:cNvGrpSpPr>
          <p:nvPr/>
        </p:nvGrpSpPr>
        <p:grpSpPr bwMode="auto">
          <a:xfrm>
            <a:off x="1652588" y="3154363"/>
            <a:ext cx="13874750" cy="531812"/>
            <a:chOff x="81" y="1975"/>
            <a:chExt cx="8740" cy="335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4E8D5EEA-A2EA-02F3-68A3-191C62FB107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52" y="1976"/>
              <a:ext cx="4369" cy="334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F4EF30F2-9AAC-5354-B969-757B1770B48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81" y="1975"/>
              <a:ext cx="4369" cy="334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8">
            <a:extLst>
              <a:ext uri="{FF2B5EF4-FFF2-40B4-BE49-F238E27FC236}">
                <a16:creationId xmlns:a16="http://schemas.microsoft.com/office/drawing/2014/main" id="{75A10128-22DB-42FA-8EF8-5657D0B2FB6F}"/>
              </a:ext>
            </a:extLst>
          </p:cNvPr>
          <p:cNvGrpSpPr>
            <a:grpSpLocks/>
          </p:cNvGrpSpPr>
          <p:nvPr/>
        </p:nvGrpSpPr>
        <p:grpSpPr bwMode="auto">
          <a:xfrm>
            <a:off x="-4535488" y="2897189"/>
            <a:ext cx="13869988" cy="441325"/>
            <a:chOff x="-3817" y="1813"/>
            <a:chExt cx="8737" cy="278"/>
          </a:xfrm>
        </p:grpSpPr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EF4724E8-CD16-01C9-ADE3-A4FA738B0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" y="1813"/>
              <a:ext cx="4369" cy="278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66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7C8B04EA-6D43-5C9F-2870-F80C8597433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-3817" y="1813"/>
              <a:ext cx="4369" cy="278"/>
            </a:xfrm>
            <a:custGeom>
              <a:avLst/>
              <a:gdLst>
                <a:gd name="T0" fmla="*/ 0 w 4755"/>
                <a:gd name="T1" fmla="*/ 0 h 1898"/>
                <a:gd name="T2" fmla="*/ 120 w 4755"/>
                <a:gd name="T3" fmla="*/ 46 h 1898"/>
                <a:gd name="T4" fmla="*/ 252 w 4755"/>
                <a:gd name="T5" fmla="*/ 205 h 1898"/>
                <a:gd name="T6" fmla="*/ 399 w 4755"/>
                <a:gd name="T7" fmla="*/ 490 h 1898"/>
                <a:gd name="T8" fmla="*/ 588 w 4755"/>
                <a:gd name="T9" fmla="*/ 925 h 1898"/>
                <a:gd name="T10" fmla="*/ 924 w 4755"/>
                <a:gd name="T11" fmla="*/ 1636 h 1898"/>
                <a:gd name="T12" fmla="*/ 1263 w 4755"/>
                <a:gd name="T13" fmla="*/ 1882 h 1898"/>
                <a:gd name="T14" fmla="*/ 1728 w 4755"/>
                <a:gd name="T15" fmla="*/ 1538 h 1898"/>
                <a:gd name="T16" fmla="*/ 2143 w 4755"/>
                <a:gd name="T17" fmla="*/ 1341 h 1898"/>
                <a:gd name="T18" fmla="*/ 2592 w 4755"/>
                <a:gd name="T19" fmla="*/ 1545 h 1898"/>
                <a:gd name="T20" fmla="*/ 3033 w 4755"/>
                <a:gd name="T21" fmla="*/ 1684 h 1898"/>
                <a:gd name="T22" fmla="*/ 3463 w 4755"/>
                <a:gd name="T23" fmla="*/ 1538 h 1898"/>
                <a:gd name="T24" fmla="*/ 3878 w 4755"/>
                <a:gd name="T25" fmla="*/ 1440 h 1898"/>
                <a:gd name="T26" fmla="*/ 4327 w 4755"/>
                <a:gd name="T27" fmla="*/ 1545 h 1898"/>
                <a:gd name="T28" fmla="*/ 4533 w 4755"/>
                <a:gd name="T29" fmla="*/ 1615 h 1898"/>
                <a:gd name="T30" fmla="*/ 4755 w 4755"/>
                <a:gd name="T31" fmla="*/ 1636 h 1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55" h="1898">
                  <a:moveTo>
                    <a:pt x="0" y="0"/>
                  </a:moveTo>
                  <a:cubicBezTo>
                    <a:pt x="20" y="8"/>
                    <a:pt x="78" y="12"/>
                    <a:pt x="120" y="46"/>
                  </a:cubicBezTo>
                  <a:cubicBezTo>
                    <a:pt x="162" y="80"/>
                    <a:pt x="206" y="131"/>
                    <a:pt x="252" y="205"/>
                  </a:cubicBezTo>
                  <a:cubicBezTo>
                    <a:pt x="298" y="279"/>
                    <a:pt x="343" y="370"/>
                    <a:pt x="399" y="490"/>
                  </a:cubicBezTo>
                  <a:cubicBezTo>
                    <a:pt x="455" y="610"/>
                    <a:pt x="500" y="734"/>
                    <a:pt x="588" y="925"/>
                  </a:cubicBezTo>
                  <a:cubicBezTo>
                    <a:pt x="676" y="1116"/>
                    <a:pt x="812" y="1476"/>
                    <a:pt x="924" y="1636"/>
                  </a:cubicBezTo>
                  <a:cubicBezTo>
                    <a:pt x="1036" y="1796"/>
                    <a:pt x="1129" y="1898"/>
                    <a:pt x="1263" y="1882"/>
                  </a:cubicBezTo>
                  <a:cubicBezTo>
                    <a:pt x="1397" y="1866"/>
                    <a:pt x="1581" y="1628"/>
                    <a:pt x="1728" y="1538"/>
                  </a:cubicBezTo>
                  <a:cubicBezTo>
                    <a:pt x="1875" y="1448"/>
                    <a:pt x="1999" y="1340"/>
                    <a:pt x="2143" y="1341"/>
                  </a:cubicBezTo>
                  <a:cubicBezTo>
                    <a:pt x="2287" y="1342"/>
                    <a:pt x="2444" y="1488"/>
                    <a:pt x="2592" y="1545"/>
                  </a:cubicBezTo>
                  <a:cubicBezTo>
                    <a:pt x="2740" y="1602"/>
                    <a:pt x="2888" y="1685"/>
                    <a:pt x="3033" y="1684"/>
                  </a:cubicBezTo>
                  <a:cubicBezTo>
                    <a:pt x="3178" y="1683"/>
                    <a:pt x="3322" y="1579"/>
                    <a:pt x="3463" y="1538"/>
                  </a:cubicBezTo>
                  <a:cubicBezTo>
                    <a:pt x="3604" y="1497"/>
                    <a:pt x="3734" y="1439"/>
                    <a:pt x="3878" y="1440"/>
                  </a:cubicBezTo>
                  <a:cubicBezTo>
                    <a:pt x="4022" y="1441"/>
                    <a:pt x="4218" y="1516"/>
                    <a:pt x="4327" y="1545"/>
                  </a:cubicBezTo>
                  <a:cubicBezTo>
                    <a:pt x="4436" y="1574"/>
                    <a:pt x="4462" y="1600"/>
                    <a:pt x="4533" y="1615"/>
                  </a:cubicBezTo>
                  <a:cubicBezTo>
                    <a:pt x="4604" y="1630"/>
                    <a:pt x="4709" y="1632"/>
                    <a:pt x="4755" y="1636"/>
                  </a:cubicBezTo>
                </a:path>
              </a:pathLst>
            </a:custGeom>
            <a:noFill/>
            <a:ln w="19050" cmpd="sng">
              <a:solidFill>
                <a:srgbClr val="66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8" name="Line 42">
            <a:extLst>
              <a:ext uri="{FF2B5EF4-FFF2-40B4-BE49-F238E27FC236}">
                <a16:creationId xmlns:a16="http://schemas.microsoft.com/office/drawing/2014/main" id="{CC503194-7EBC-3632-1B43-B1123105AF7B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4603750" y="1746250"/>
            <a:ext cx="317500" cy="2159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9" name="Text Box 43">
            <a:extLst>
              <a:ext uri="{FF2B5EF4-FFF2-40B4-BE49-F238E27FC236}">
                <a16:creationId xmlns:a16="http://schemas.microsoft.com/office/drawing/2014/main" id="{6B508CE4-A78B-FD37-6FA8-CB66FC7ADBD9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836864" y="5975350"/>
            <a:ext cx="5075685" cy="369332"/>
          </a:xfrm>
          <a:prstGeom prst="rect">
            <a:avLst/>
          </a:prstGeom>
          <a:solidFill>
            <a:srgbClr val="006666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>
                <a:solidFill>
                  <a:schemeClr val="bg1"/>
                </a:solidFill>
              </a:rPr>
              <a:t>Portanto, a largura espectral de </a:t>
            </a:r>
            <a:r>
              <a:rPr lang="pt-BR" altLang="pt-BR" i="1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pt-BR" altLang="pt-BR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pt-BR" altLang="pt-BR" i="1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lang="pt-BR" altLang="pt-BR">
                <a:solidFill>
                  <a:schemeClr val="bg1"/>
                </a:solidFill>
                <a:latin typeface="Times New Roman" panose="02020603050405020304" pitchFamily="18" charset="0"/>
              </a:rPr>
              <a:t>) </a:t>
            </a:r>
            <a:r>
              <a:rPr lang="pt-BR" altLang="pt-BR">
                <a:solidFill>
                  <a:schemeClr val="bg1"/>
                </a:solidFill>
              </a:rPr>
              <a:t>é de </a:t>
            </a:r>
            <a:r>
              <a:rPr lang="pt-BR" altLang="pt-BR" i="1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pt-BR" altLang="pt-BR" i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s </a:t>
            </a:r>
            <a:r>
              <a:rPr lang="pt-BR" altLang="pt-BR">
                <a:solidFill>
                  <a:schemeClr val="bg1"/>
                </a:solidFill>
                <a:latin typeface="Times New Roman" panose="02020603050405020304" pitchFamily="18" charset="0"/>
              </a:rPr>
              <a:t>/</a:t>
            </a:r>
            <a:r>
              <a:rPr lang="pt-BR" altLang="pt-BR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>
                <a:solidFill>
                  <a:schemeClr val="bg1"/>
                </a:solidFill>
                <a:latin typeface="Times New Roman" panose="02020603050405020304" pitchFamily="18" charset="0"/>
              </a:rPr>
              <a:t>2 </a:t>
            </a:r>
            <a:r>
              <a:rPr lang="pt-BR" altLang="pt-BR">
                <a:solidFill>
                  <a:schemeClr val="bg1"/>
                </a:solidFill>
              </a:rPr>
              <a:t>hertz.</a:t>
            </a:r>
            <a:endParaRPr lang="pt-BR" altLang="pt-BR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0" name="Object 44">
            <a:extLst>
              <a:ext uri="{FF2B5EF4-FFF2-40B4-BE49-F238E27FC236}">
                <a16:creationId xmlns:a16="http://schemas.microsoft.com/office/drawing/2014/main" id="{FF2BDFD3-2BEB-D9E9-4538-BD8ACF0DD0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48551" y="1895475"/>
          <a:ext cx="106997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380880" progId="Equation.3">
                  <p:embed/>
                </p:oleObj>
              </mc:Choice>
              <mc:Fallback>
                <p:oleObj name="Equation" r:id="rId2" imgW="533160" imgH="380880" progId="Equation.3">
                  <p:embed/>
                  <p:pic>
                    <p:nvPicPr>
                      <p:cNvPr id="396332" name="Object 44">
                        <a:extLst>
                          <a:ext uri="{FF2B5EF4-FFF2-40B4-BE49-F238E27FC236}">
                            <a16:creationId xmlns:a16="http://schemas.microsoft.com/office/drawing/2014/main" id="{D5A03465-3FD4-3731-1EC5-E94478673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448551" y="1895475"/>
                        <a:ext cx="106997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Line 45">
            <a:extLst>
              <a:ext uri="{FF2B5EF4-FFF2-40B4-BE49-F238E27FC236}">
                <a16:creationId xmlns:a16="http://schemas.microsoft.com/office/drawing/2014/main" id="{8A18F324-C452-0968-DBB8-0522C11B0E79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8575675" y="2270125"/>
            <a:ext cx="3175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2" name="Line 46">
            <a:extLst>
              <a:ext uri="{FF2B5EF4-FFF2-40B4-BE49-F238E27FC236}">
                <a16:creationId xmlns:a16="http://schemas.microsoft.com/office/drawing/2014/main" id="{2087A15B-1DB2-210C-B64F-415C0F7A6BE9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8591550" y="2000251"/>
            <a:ext cx="0" cy="595313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" name="Line 47">
            <a:extLst>
              <a:ext uri="{FF2B5EF4-FFF2-40B4-BE49-F238E27FC236}">
                <a16:creationId xmlns:a16="http://schemas.microsoft.com/office/drawing/2014/main" id="{37014F0D-6369-25F0-3AB4-DC3846027970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7058025" y="2266950"/>
            <a:ext cx="3175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4" name="Line 48">
            <a:extLst>
              <a:ext uri="{FF2B5EF4-FFF2-40B4-BE49-F238E27FC236}">
                <a16:creationId xmlns:a16="http://schemas.microsoft.com/office/drawing/2014/main" id="{2FB74E80-7967-F47D-BBBF-3ECDDF8D4CFB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7373938" y="1982788"/>
            <a:ext cx="0" cy="595312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45" name="Object 49">
            <a:extLst>
              <a:ext uri="{FF2B5EF4-FFF2-40B4-BE49-F238E27FC236}">
                <a16:creationId xmlns:a16="http://schemas.microsoft.com/office/drawing/2014/main" id="{74CAD9F8-35B4-1678-A43B-5C921436E4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1725" y="1270000"/>
          <a:ext cx="40147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419040" progId="Equation.3">
                  <p:embed/>
                </p:oleObj>
              </mc:Choice>
              <mc:Fallback>
                <p:oleObj name="Equation" r:id="rId4" imgW="2234880" imgH="419040" progId="Equation.3">
                  <p:embed/>
                  <p:pic>
                    <p:nvPicPr>
                      <p:cNvPr id="396337" name="Object 49">
                        <a:extLst>
                          <a:ext uri="{FF2B5EF4-FFF2-40B4-BE49-F238E27FC236}">
                            <a16:creationId xmlns:a16="http://schemas.microsoft.com/office/drawing/2014/main" id="{DFE0CE0B-6256-CF0F-7784-3A4186EE3B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3" t="859" r="163" b="859"/>
                      <a:stretch>
                        <a:fillRect/>
                      </a:stretch>
                    </p:blipFill>
                    <p:spPr bwMode="invGray">
                      <a:xfrm>
                        <a:off x="4911725" y="1270000"/>
                        <a:ext cx="4014788" cy="742950"/>
                      </a:xfrm>
                      <a:prstGeom prst="rect">
                        <a:avLst/>
                      </a:prstGeom>
                      <a:solidFill>
                        <a:srgbClr val="00003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0">
            <a:extLst>
              <a:ext uri="{FF2B5EF4-FFF2-40B4-BE49-F238E27FC236}">
                <a16:creationId xmlns:a16="http://schemas.microsoft.com/office/drawing/2014/main" id="{533DD289-087B-4F87-2E76-8C1D2248D5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0438" y="768350"/>
          <a:ext cx="330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28600" progId="Equation.3">
                  <p:embed/>
                </p:oleObj>
              </mc:Choice>
              <mc:Fallback>
                <p:oleObj name="Equation" r:id="rId6" imgW="164880" imgH="228600" progId="Equation.3">
                  <p:embed/>
                  <p:pic>
                    <p:nvPicPr>
                      <p:cNvPr id="396338" name="Object 50">
                        <a:extLst>
                          <a:ext uri="{FF2B5EF4-FFF2-40B4-BE49-F238E27FC236}">
                            <a16:creationId xmlns:a16="http://schemas.microsoft.com/office/drawing/2014/main" id="{B4DB4354-8EE2-A809-FA1A-64AC22F82A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768350"/>
                        <a:ext cx="330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2">
            <a:extLst>
              <a:ext uri="{FF2B5EF4-FFF2-40B4-BE49-F238E27FC236}">
                <a16:creationId xmlns:a16="http://schemas.microsoft.com/office/drawing/2014/main" id="{CAAC39F1-5986-C758-7AB8-DC511DFD27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6150" y="768350"/>
          <a:ext cx="330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228600" progId="Equation.3">
                  <p:embed/>
                </p:oleObj>
              </mc:Choice>
              <mc:Fallback>
                <p:oleObj name="Equation" r:id="rId8" imgW="164880" imgH="228600" progId="Equation.3">
                  <p:embed/>
                  <p:pic>
                    <p:nvPicPr>
                      <p:cNvPr id="396340" name="Object 52">
                        <a:extLst>
                          <a:ext uri="{FF2B5EF4-FFF2-40B4-BE49-F238E27FC236}">
                            <a16:creationId xmlns:a16="http://schemas.microsoft.com/office/drawing/2014/main" id="{562D0D18-1C35-691C-AF6F-B11D8239EE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768350"/>
                        <a:ext cx="330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3">
            <a:extLst>
              <a:ext uri="{FF2B5EF4-FFF2-40B4-BE49-F238E27FC236}">
                <a16:creationId xmlns:a16="http://schemas.microsoft.com/office/drawing/2014/main" id="{7DCE0F42-6440-73C2-EF2B-F543614E2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9163" y="793750"/>
          <a:ext cx="3302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15640" progId="Equation.3">
                  <p:embed/>
                </p:oleObj>
              </mc:Choice>
              <mc:Fallback>
                <p:oleObj name="Equation" r:id="rId10" imgW="164880" imgH="215640" progId="Equation.3">
                  <p:embed/>
                  <p:pic>
                    <p:nvPicPr>
                      <p:cNvPr id="396341" name="Object 53">
                        <a:extLst>
                          <a:ext uri="{FF2B5EF4-FFF2-40B4-BE49-F238E27FC236}">
                            <a16:creationId xmlns:a16="http://schemas.microsoft.com/office/drawing/2014/main" id="{E5D9E5B0-C74F-89D6-5493-76F6AB4E4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9163" y="793750"/>
                        <a:ext cx="3302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54">
            <a:extLst>
              <a:ext uri="{FF2B5EF4-FFF2-40B4-BE49-F238E27FC236}">
                <a16:creationId xmlns:a16="http://schemas.microsoft.com/office/drawing/2014/main" id="{3FCB61E3-C167-2856-230E-9BF783B41C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3763" y="768350"/>
          <a:ext cx="330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0" imgH="228600" progId="Equation.3">
                  <p:embed/>
                </p:oleObj>
              </mc:Choice>
              <mc:Fallback>
                <p:oleObj name="Equation" r:id="rId12" imgW="164880" imgH="228600" progId="Equation.3">
                  <p:embed/>
                  <p:pic>
                    <p:nvPicPr>
                      <p:cNvPr id="396342" name="Object 54">
                        <a:extLst>
                          <a:ext uri="{FF2B5EF4-FFF2-40B4-BE49-F238E27FC236}">
                            <a16:creationId xmlns:a16="http://schemas.microsoft.com/office/drawing/2014/main" id="{7105A029-BC3A-9409-2A80-5E492C9266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3763" y="768350"/>
                        <a:ext cx="330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5">
            <a:extLst>
              <a:ext uri="{FF2B5EF4-FFF2-40B4-BE49-F238E27FC236}">
                <a16:creationId xmlns:a16="http://schemas.microsoft.com/office/drawing/2014/main" id="{DDA710A4-0826-B7D4-AA8D-118543FA75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6775" y="793750"/>
          <a:ext cx="3302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15640" progId="Equation.3">
                  <p:embed/>
                </p:oleObj>
              </mc:Choice>
              <mc:Fallback>
                <p:oleObj name="Equation" r:id="rId14" imgW="164880" imgH="215640" progId="Equation.3">
                  <p:embed/>
                  <p:pic>
                    <p:nvPicPr>
                      <p:cNvPr id="396343" name="Object 55">
                        <a:extLst>
                          <a:ext uri="{FF2B5EF4-FFF2-40B4-BE49-F238E27FC236}">
                            <a16:creationId xmlns:a16="http://schemas.microsoft.com/office/drawing/2014/main" id="{A3E8A279-08F8-6F62-21BA-E0E64522C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6775" y="793750"/>
                        <a:ext cx="3302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6">
            <a:extLst>
              <a:ext uri="{FF2B5EF4-FFF2-40B4-BE49-F238E27FC236}">
                <a16:creationId xmlns:a16="http://schemas.microsoft.com/office/drawing/2014/main" id="{2A0C01CE-81EE-1278-F0D5-6D504DF2E0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61375" y="793750"/>
          <a:ext cx="304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215640" progId="Equation.3">
                  <p:embed/>
                </p:oleObj>
              </mc:Choice>
              <mc:Fallback>
                <p:oleObj name="Equation" r:id="rId16" imgW="152280" imgH="215640" progId="Equation.3">
                  <p:embed/>
                  <p:pic>
                    <p:nvPicPr>
                      <p:cNvPr id="396344" name="Object 56">
                        <a:extLst>
                          <a:ext uri="{FF2B5EF4-FFF2-40B4-BE49-F238E27FC236}">
                            <a16:creationId xmlns:a16="http://schemas.microsoft.com/office/drawing/2014/main" id="{E532623E-05E8-6A7B-42CA-E460A6BAD8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75" y="793750"/>
                        <a:ext cx="3048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7">
            <a:extLst>
              <a:ext uri="{FF2B5EF4-FFF2-40B4-BE49-F238E27FC236}">
                <a16:creationId xmlns:a16="http://schemas.microsoft.com/office/drawing/2014/main" id="{E2179839-E81C-CE5C-37C0-E3A5D02890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80575" y="768350"/>
          <a:ext cx="330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4880" imgH="228600" progId="Equation.3">
                  <p:embed/>
                </p:oleObj>
              </mc:Choice>
              <mc:Fallback>
                <p:oleObj name="Equation" r:id="rId18" imgW="164880" imgH="228600" progId="Equation.3">
                  <p:embed/>
                  <p:pic>
                    <p:nvPicPr>
                      <p:cNvPr id="396345" name="Object 57">
                        <a:extLst>
                          <a:ext uri="{FF2B5EF4-FFF2-40B4-BE49-F238E27FC236}">
                            <a16:creationId xmlns:a16="http://schemas.microsoft.com/office/drawing/2014/main" id="{1BA25FB0-2E95-C193-7AA5-46BFBA509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0575" y="768350"/>
                        <a:ext cx="330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8">
            <a:extLst>
              <a:ext uri="{FF2B5EF4-FFF2-40B4-BE49-F238E27FC236}">
                <a16:creationId xmlns:a16="http://schemas.microsoft.com/office/drawing/2014/main" id="{73901006-200F-758C-F856-273923404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5045075"/>
          <a:ext cx="44021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50880" imgH="444240" progId="Equation.3">
                  <p:embed/>
                </p:oleObj>
              </mc:Choice>
              <mc:Fallback>
                <p:oleObj name="Equation" r:id="rId20" imgW="2450880" imgH="444240" progId="Equation.3">
                  <p:embed/>
                  <p:pic>
                    <p:nvPicPr>
                      <p:cNvPr id="396346" name="Object 58">
                        <a:extLst>
                          <a:ext uri="{FF2B5EF4-FFF2-40B4-BE49-F238E27FC236}">
                            <a16:creationId xmlns:a16="http://schemas.microsoft.com/office/drawing/2014/main" id="{79C5E76D-326B-E248-ACF7-1CAF08A09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3" t="859" r="163" b="859"/>
                      <a:stretch>
                        <a:fillRect/>
                      </a:stretch>
                    </p:blipFill>
                    <p:spPr bwMode="invGray">
                      <a:xfrm>
                        <a:off x="2000250" y="5045075"/>
                        <a:ext cx="4402138" cy="787400"/>
                      </a:xfrm>
                      <a:prstGeom prst="rect">
                        <a:avLst/>
                      </a:prstGeom>
                      <a:solidFill>
                        <a:srgbClr val="00003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9">
            <a:extLst>
              <a:ext uri="{FF2B5EF4-FFF2-40B4-BE49-F238E27FC236}">
                <a16:creationId xmlns:a16="http://schemas.microsoft.com/office/drawing/2014/main" id="{8A971C28-F5B8-CCDC-FCA6-06A33928E7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2975" y="5100639"/>
          <a:ext cx="27813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49080" imgH="380880" progId="Equation.3">
                  <p:embed/>
                </p:oleObj>
              </mc:Choice>
              <mc:Fallback>
                <p:oleObj name="Equation" r:id="rId22" imgW="1549080" imgH="380880" progId="Equation.3">
                  <p:embed/>
                  <p:pic>
                    <p:nvPicPr>
                      <p:cNvPr id="396347" name="Object 59">
                        <a:extLst>
                          <a:ext uri="{FF2B5EF4-FFF2-40B4-BE49-F238E27FC236}">
                            <a16:creationId xmlns:a16="http://schemas.microsoft.com/office/drawing/2014/main" id="{C089E120-B833-5DDA-AB7F-278E44E266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3" t="859" r="163" b="859"/>
                      <a:stretch>
                        <a:fillRect/>
                      </a:stretch>
                    </p:blipFill>
                    <p:spPr bwMode="invGray">
                      <a:xfrm>
                        <a:off x="7292975" y="5100639"/>
                        <a:ext cx="2781300" cy="676275"/>
                      </a:xfrm>
                      <a:prstGeom prst="rect">
                        <a:avLst/>
                      </a:prstGeom>
                      <a:solidFill>
                        <a:srgbClr val="00003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AutoShape 60">
            <a:extLst>
              <a:ext uri="{FF2B5EF4-FFF2-40B4-BE49-F238E27FC236}">
                <a16:creationId xmlns:a16="http://schemas.microsoft.com/office/drawing/2014/main" id="{E197331B-862D-CB05-0043-C5607FB9151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635750" y="5305425"/>
            <a:ext cx="342900" cy="266700"/>
          </a:xfrm>
          <a:prstGeom prst="rightArrow">
            <a:avLst>
              <a:gd name="adj1" fmla="val 50000"/>
              <a:gd name="adj2" fmla="val 32143"/>
            </a:avLst>
          </a:prstGeom>
          <a:solidFill>
            <a:srgbClr val="006666"/>
          </a:solidFill>
          <a:ln w="12700" algn="ctr">
            <a:solidFill>
              <a:srgbClr val="99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01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5E920-C96B-F368-B47E-A4DB8AE9C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Sinalização NRZ binária e quaternária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1F3B82BA-E13D-4EFF-9292-4F45B5572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8463" y="1649414"/>
          <a:ext cx="1954212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749160" progId="Equation.3">
                  <p:embed/>
                </p:oleObj>
              </mc:Choice>
              <mc:Fallback>
                <p:oleObj name="Equation" r:id="rId2" imgW="977760" imgH="749160" progId="Equation.3">
                  <p:embed/>
                  <p:pic>
                    <p:nvPicPr>
                      <p:cNvPr id="416773" name="Object 5">
                        <a:extLst>
                          <a:ext uri="{FF2B5EF4-FFF2-40B4-BE49-F238E27FC236}">
                            <a16:creationId xmlns:a16="http://schemas.microsoft.com/office/drawing/2014/main" id="{A632ACB8-62F3-1686-DFAC-2CD3658616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2938463" y="1649414"/>
                        <a:ext cx="1954212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EB65D657-5102-966E-123B-7092D22910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4863" y="1651001"/>
          <a:ext cx="2182812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1206360" progId="Equation.3">
                  <p:embed/>
                </p:oleObj>
              </mc:Choice>
              <mc:Fallback>
                <p:oleObj name="Equation" r:id="rId4" imgW="1091880" imgH="1206360" progId="Equation.3">
                  <p:embed/>
                  <p:pic>
                    <p:nvPicPr>
                      <p:cNvPr id="416774" name="Object 6">
                        <a:extLst>
                          <a:ext uri="{FF2B5EF4-FFF2-40B4-BE49-F238E27FC236}">
                            <a16:creationId xmlns:a16="http://schemas.microsoft.com/office/drawing/2014/main" id="{778DD123-A873-3D96-9B69-5B5CB0407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7154863" y="1651001"/>
                        <a:ext cx="2182812" cy="241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92119777-8A9A-7210-E45B-E92A65A341B9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3397251" y="1047750"/>
            <a:ext cx="838691" cy="369332"/>
          </a:xfrm>
          <a:prstGeom prst="rect">
            <a:avLst/>
          </a:prstGeom>
          <a:solidFill>
            <a:srgbClr val="0066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altLang="pt-BR">
                <a:solidFill>
                  <a:srgbClr val="99FFCC"/>
                </a:solidFill>
              </a:rPr>
              <a:t>Binária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84C0C846-33B5-5945-48CC-F92869F409B3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7432676" y="1035050"/>
            <a:ext cx="1316579" cy="369332"/>
          </a:xfrm>
          <a:prstGeom prst="rect">
            <a:avLst/>
          </a:prstGeom>
          <a:solidFill>
            <a:srgbClr val="0066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altLang="pt-BR">
                <a:solidFill>
                  <a:srgbClr val="99FFCC"/>
                </a:solidFill>
              </a:rPr>
              <a:t>Quaternária</a:t>
            </a: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C0AEDCB6-C539-46A7-D50F-AF4216DCE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8201" y="3257550"/>
          <a:ext cx="1039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560" imgH="228600" progId="Equation.3">
                  <p:embed/>
                </p:oleObj>
              </mc:Choice>
              <mc:Fallback>
                <p:oleObj name="Equation" r:id="rId6" imgW="520560" imgH="228600" progId="Equation.3">
                  <p:embed/>
                  <p:pic>
                    <p:nvPicPr>
                      <p:cNvPr id="416777" name="Object 9">
                        <a:extLst>
                          <a:ext uri="{FF2B5EF4-FFF2-40B4-BE49-F238E27FC236}">
                            <a16:creationId xmlns:a16="http://schemas.microsoft.com/office/drawing/2014/main" id="{35D4F726-1F12-7B42-CC65-8E047989B6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3378201" y="3257550"/>
                        <a:ext cx="10398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>
            <a:extLst>
              <a:ext uri="{FF2B5EF4-FFF2-40B4-BE49-F238E27FC236}">
                <a16:creationId xmlns:a16="http://schemas.microsoft.com/office/drawing/2014/main" id="{676D4B81-4312-3BB6-046D-4C7EFD59D3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9051" y="4222750"/>
          <a:ext cx="12176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480" imgH="241200" progId="Equation.3">
                  <p:embed/>
                </p:oleObj>
              </mc:Choice>
              <mc:Fallback>
                <p:oleObj name="Equation" r:id="rId8" imgW="609480" imgH="241200" progId="Equation.3">
                  <p:embed/>
                  <p:pic>
                    <p:nvPicPr>
                      <p:cNvPr id="416778" name="Object 10">
                        <a:extLst>
                          <a:ext uri="{FF2B5EF4-FFF2-40B4-BE49-F238E27FC236}">
                            <a16:creationId xmlns:a16="http://schemas.microsoft.com/office/drawing/2014/main" id="{4EF4BA5F-7FC2-EC3E-F4D9-65E0E7F0A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7639051" y="4222750"/>
                        <a:ext cx="12176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874AA459-E915-87AF-E7AB-3BAC74720C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0189" y="4895850"/>
          <a:ext cx="34512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26920" imgH="393480" progId="Equation.3">
                  <p:embed/>
                </p:oleObj>
              </mc:Choice>
              <mc:Fallback>
                <p:oleObj name="Equation" r:id="rId10" imgW="1726920" imgH="393480" progId="Equation.3">
                  <p:embed/>
                  <p:pic>
                    <p:nvPicPr>
                      <p:cNvPr id="416779" name="Object 11">
                        <a:extLst>
                          <a:ext uri="{FF2B5EF4-FFF2-40B4-BE49-F238E27FC236}">
                            <a16:creationId xmlns:a16="http://schemas.microsoft.com/office/drawing/2014/main" id="{912B73C6-21EF-B880-6A1D-E760BA54B1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4040189" y="4895850"/>
                        <a:ext cx="34512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>
            <a:extLst>
              <a:ext uri="{FF2B5EF4-FFF2-40B4-BE49-F238E27FC236}">
                <a16:creationId xmlns:a16="http://schemas.microsoft.com/office/drawing/2014/main" id="{7B4F0CF2-637C-FCD7-8638-FB958F04AA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7039" y="5778500"/>
          <a:ext cx="34004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01720" imgH="241200" progId="Equation.3">
                  <p:embed/>
                </p:oleObj>
              </mc:Choice>
              <mc:Fallback>
                <p:oleObj name="Equation" r:id="rId12" imgW="1701720" imgH="241200" progId="Equation.3">
                  <p:embed/>
                  <p:pic>
                    <p:nvPicPr>
                      <p:cNvPr id="416780" name="Object 12">
                        <a:extLst>
                          <a:ext uri="{FF2B5EF4-FFF2-40B4-BE49-F238E27FC236}">
                            <a16:creationId xmlns:a16="http://schemas.microsoft.com/office/drawing/2014/main" id="{5E3F71B4-A962-77DA-3160-B599474B98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4237039" y="5778500"/>
                        <a:ext cx="34004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94BEC11E-2DFA-EF4B-C69D-05EC82E12AF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88977" y="1723824"/>
            <a:ext cx="2048161" cy="1438476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FCF23ADD-5E63-546B-C320-4CA83FE272D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8178" y="1704021"/>
            <a:ext cx="2114845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8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DE792-5A73-2AC2-9C74-978D4243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Sinalização NRZ binária e quaternária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FFC22D36-D74C-D7F4-02B6-07637477E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9" y="1276351"/>
            <a:ext cx="1304925" cy="4638675"/>
          </a:xfrm>
          <a:prstGeom prst="rect">
            <a:avLst/>
          </a:prstGeom>
          <a:solidFill>
            <a:srgbClr val="CC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5446882-959B-49CB-B88C-C5238A0AC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2864" y="1285876"/>
            <a:ext cx="1304925" cy="4638675"/>
          </a:xfrm>
          <a:prstGeom prst="rect">
            <a:avLst/>
          </a:prstGeom>
          <a:solidFill>
            <a:srgbClr val="CCFFCC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9E379C5-53E2-AAB4-4302-92F03616D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489" y="1285876"/>
            <a:ext cx="1304925" cy="4638675"/>
          </a:xfrm>
          <a:prstGeom prst="rect">
            <a:avLst/>
          </a:prstGeom>
          <a:solidFill>
            <a:srgbClr val="CCFFCC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A002746-0AC7-F29F-F5AD-B31631D7A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8739" y="1276351"/>
            <a:ext cx="1304925" cy="4638675"/>
          </a:xfrm>
          <a:prstGeom prst="rect">
            <a:avLst/>
          </a:prstGeom>
          <a:solidFill>
            <a:srgbClr val="CC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25ADA743-F83D-A4BB-DCE1-E3CADDDEA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4" y="1276351"/>
            <a:ext cx="1304925" cy="4638675"/>
          </a:xfrm>
          <a:prstGeom prst="rect">
            <a:avLst/>
          </a:prstGeom>
          <a:solidFill>
            <a:srgbClr val="CC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D44CAF35-4533-E5B3-FE7B-ED4EC5F9B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7450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C976C1CC-0E43-882D-A440-CEBE177C9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9913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24547844-5FBE-7CC9-5A4B-F4C5B969DD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2375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9FF68FCF-187F-18E0-0F64-B16C74315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4838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34C79492-85E6-8A3A-23CA-CBD769EFA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888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58974DDA-6835-BF49-69A4-3017907B2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1350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B24E072D-7244-B359-CABF-EDCB8C25B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3813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41DD24C9-39D3-8F39-1EF4-8996E8D126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7863" y="3100388"/>
            <a:ext cx="0" cy="2425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CDCA1FCE-1F99-30AF-FDCB-5BF748F41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950325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B436492D-90AB-ACC3-E5DB-550082123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2788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D0032126-DB23-7932-3611-264B68A85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56838" y="3100388"/>
            <a:ext cx="0" cy="28067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" name="Line 33">
            <a:extLst>
              <a:ext uri="{FF2B5EF4-FFF2-40B4-BE49-F238E27FC236}">
                <a16:creationId xmlns:a16="http://schemas.microsoft.com/office/drawing/2014/main" id="{9D58EE0A-4F11-F341-9A50-B1F7AB852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1" y="4856163"/>
            <a:ext cx="670242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" name="Line 34">
            <a:extLst>
              <a:ext uri="{FF2B5EF4-FFF2-40B4-BE49-F238E27FC236}">
                <a16:creationId xmlns:a16="http://schemas.microsoft.com/office/drawing/2014/main" id="{F81142D1-72BE-15BF-38A2-BF7DC23211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9039" y="3773489"/>
            <a:ext cx="3175" cy="216693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" name="Text Box 35">
            <a:extLst>
              <a:ext uri="{FF2B5EF4-FFF2-40B4-BE49-F238E27FC236}">
                <a16:creationId xmlns:a16="http://schemas.microsoft.com/office/drawing/2014/main" id="{DA56D877-FF84-9E68-8611-41F6E950F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0380" y="3748088"/>
            <a:ext cx="5277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pt-BR" altLang="pt-BR" sz="1600">
                <a:solidFill>
                  <a:srgbClr val="0000FF"/>
                </a:solidFill>
              </a:rPr>
              <a:t>+3</a:t>
            </a:r>
            <a:r>
              <a:rPr lang="pt-BR" altLang="pt-BR" sz="1600" i="1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2" name="Text Box 36">
            <a:extLst>
              <a:ext uri="{FF2B5EF4-FFF2-40B4-BE49-F238E27FC236}">
                <a16:creationId xmlns:a16="http://schemas.microsoft.com/office/drawing/2014/main" id="{4AD988CB-BBFF-C786-CA65-2C664B937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438" y="4681538"/>
            <a:ext cx="374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pt-BR" altLang="pt-BR" sz="16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23" name="Group 37">
            <a:extLst>
              <a:ext uri="{FF2B5EF4-FFF2-40B4-BE49-F238E27FC236}">
                <a16:creationId xmlns:a16="http://schemas.microsoft.com/office/drawing/2014/main" id="{470D67D4-BF9D-63C4-734C-8BFC94D87DF3}"/>
              </a:ext>
            </a:extLst>
          </p:cNvPr>
          <p:cNvGrpSpPr>
            <a:grpSpLocks/>
          </p:cNvGrpSpPr>
          <p:nvPr/>
        </p:nvGrpSpPr>
        <p:grpSpPr bwMode="auto">
          <a:xfrm>
            <a:off x="9351964" y="5834063"/>
            <a:ext cx="1139825" cy="366712"/>
            <a:chOff x="4458" y="3731"/>
            <a:chExt cx="718" cy="231"/>
          </a:xfrm>
        </p:grpSpPr>
        <p:sp>
          <p:nvSpPr>
            <p:cNvPr id="24" name="Text Box 38">
              <a:extLst>
                <a:ext uri="{FF2B5EF4-FFF2-40B4-BE49-F238E27FC236}">
                  <a16:creationId xmlns:a16="http://schemas.microsoft.com/office/drawing/2014/main" id="{A6EF1406-223E-7823-9A27-A3362F675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8" y="3731"/>
              <a:ext cx="5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>
                  <a:solidFill>
                    <a:srgbClr val="0000FF"/>
                  </a:solidFill>
                </a:rPr>
                <a:t>Tempo</a:t>
              </a:r>
            </a:p>
          </p:txBody>
        </p:sp>
        <p:sp>
          <p:nvSpPr>
            <p:cNvPr id="25" name="Line 39">
              <a:extLst>
                <a:ext uri="{FF2B5EF4-FFF2-40B4-BE49-F238E27FC236}">
                  <a16:creationId xmlns:a16="http://schemas.microsoft.com/office/drawing/2014/main" id="{8348A3EC-D45B-9E96-DC92-1007A8953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" y="3860"/>
              <a:ext cx="22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Text Box 44">
            <a:extLst>
              <a:ext uri="{FF2B5EF4-FFF2-40B4-BE49-F238E27FC236}">
                <a16:creationId xmlns:a16="http://schemas.microsoft.com/office/drawing/2014/main" id="{53D4449B-650B-85AD-5CA8-539EFB811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450" y="1365251"/>
            <a:ext cx="1543050" cy="646331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>
                <a:solidFill>
                  <a:srgbClr val="0000FF"/>
                </a:solidFill>
              </a:rPr>
              <a:t>Dados binários</a:t>
            </a:r>
          </a:p>
        </p:txBody>
      </p:sp>
      <p:sp>
        <p:nvSpPr>
          <p:cNvPr id="27" name="Freeform 45">
            <a:extLst>
              <a:ext uri="{FF2B5EF4-FFF2-40B4-BE49-F238E27FC236}">
                <a16:creationId xmlns:a16="http://schemas.microsoft.com/office/drawing/2014/main" id="{4A28E152-C34F-51C6-0E0D-A77B1B157123}"/>
              </a:ext>
            </a:extLst>
          </p:cNvPr>
          <p:cNvSpPr>
            <a:spLocks/>
          </p:cNvSpPr>
          <p:nvPr/>
        </p:nvSpPr>
        <p:spPr bwMode="auto">
          <a:xfrm>
            <a:off x="3722689" y="3919539"/>
            <a:ext cx="6535737" cy="1862137"/>
          </a:xfrm>
          <a:custGeom>
            <a:avLst/>
            <a:gdLst>
              <a:gd name="T0" fmla="*/ 0 w 4117"/>
              <a:gd name="T1" fmla="*/ 779 h 1173"/>
              <a:gd name="T2" fmla="*/ 822 w 4117"/>
              <a:gd name="T3" fmla="*/ 779 h 1173"/>
              <a:gd name="T4" fmla="*/ 822 w 4117"/>
              <a:gd name="T5" fmla="*/ 1173 h 1173"/>
              <a:gd name="T6" fmla="*/ 1651 w 4117"/>
              <a:gd name="T7" fmla="*/ 1173 h 1173"/>
              <a:gd name="T8" fmla="*/ 1651 w 4117"/>
              <a:gd name="T9" fmla="*/ 393 h 1173"/>
              <a:gd name="T10" fmla="*/ 2473 w 4117"/>
              <a:gd name="T11" fmla="*/ 393 h 1173"/>
              <a:gd name="T12" fmla="*/ 2473 w 4117"/>
              <a:gd name="T13" fmla="*/ 0 h 1173"/>
              <a:gd name="T14" fmla="*/ 3295 w 4117"/>
              <a:gd name="T15" fmla="*/ 0 h 1173"/>
              <a:gd name="T16" fmla="*/ 3295 w 4117"/>
              <a:gd name="T17" fmla="*/ 779 h 1173"/>
              <a:gd name="T18" fmla="*/ 4117 w 4117"/>
              <a:gd name="T19" fmla="*/ 779 h 1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17" h="1173">
                <a:moveTo>
                  <a:pt x="0" y="779"/>
                </a:moveTo>
                <a:lnTo>
                  <a:pt x="822" y="779"/>
                </a:lnTo>
                <a:lnTo>
                  <a:pt x="822" y="1173"/>
                </a:lnTo>
                <a:lnTo>
                  <a:pt x="1651" y="1173"/>
                </a:lnTo>
                <a:lnTo>
                  <a:pt x="1651" y="393"/>
                </a:lnTo>
                <a:lnTo>
                  <a:pt x="2473" y="393"/>
                </a:lnTo>
                <a:lnTo>
                  <a:pt x="2473" y="0"/>
                </a:lnTo>
                <a:lnTo>
                  <a:pt x="3295" y="0"/>
                </a:lnTo>
                <a:lnTo>
                  <a:pt x="3295" y="779"/>
                </a:lnTo>
                <a:lnTo>
                  <a:pt x="4117" y="779"/>
                </a:lnTo>
              </a:path>
            </a:pathLst>
          </a:custGeom>
          <a:noFill/>
          <a:ln w="5715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28" name="Group 46">
            <a:extLst>
              <a:ext uri="{FF2B5EF4-FFF2-40B4-BE49-F238E27FC236}">
                <a16:creationId xmlns:a16="http://schemas.microsoft.com/office/drawing/2014/main" id="{F8580068-01BC-C0B8-5D68-4AFCF3ECCE3F}"/>
              </a:ext>
            </a:extLst>
          </p:cNvPr>
          <p:cNvGrpSpPr>
            <a:grpSpLocks/>
          </p:cNvGrpSpPr>
          <p:nvPr/>
        </p:nvGrpSpPr>
        <p:grpSpPr bwMode="auto">
          <a:xfrm>
            <a:off x="3732214" y="3925888"/>
            <a:ext cx="104775" cy="1854200"/>
            <a:chOff x="1256" y="1627"/>
            <a:chExt cx="44" cy="1168"/>
          </a:xfrm>
        </p:grpSpPr>
        <p:sp>
          <p:nvSpPr>
            <p:cNvPr id="29" name="Line 47">
              <a:extLst>
                <a:ext uri="{FF2B5EF4-FFF2-40B4-BE49-F238E27FC236}">
                  <a16:creationId xmlns:a16="http://schemas.microsoft.com/office/drawing/2014/main" id="{23A63C5D-4080-01FD-6D24-C750E88C8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2019"/>
              <a:ext cx="4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48">
              <a:extLst>
                <a:ext uri="{FF2B5EF4-FFF2-40B4-BE49-F238E27FC236}">
                  <a16:creationId xmlns:a16="http://schemas.microsoft.com/office/drawing/2014/main" id="{BBBC37A0-F038-EAF6-99AE-204EC9FEC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1627"/>
              <a:ext cx="4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Line 49">
              <a:extLst>
                <a:ext uri="{FF2B5EF4-FFF2-40B4-BE49-F238E27FC236}">
                  <a16:creationId xmlns:a16="http://schemas.microsoft.com/office/drawing/2014/main" id="{C3DB7C88-7B70-A5FC-404B-06AECB390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2795"/>
              <a:ext cx="4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Line 50">
              <a:extLst>
                <a:ext uri="{FF2B5EF4-FFF2-40B4-BE49-F238E27FC236}">
                  <a16:creationId xmlns:a16="http://schemas.microsoft.com/office/drawing/2014/main" id="{A832659C-0A05-DBAF-68F8-F55492CDE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2403"/>
              <a:ext cx="4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3" name="Text Box 51">
            <a:extLst>
              <a:ext uri="{FF2B5EF4-FFF2-40B4-BE49-F238E27FC236}">
                <a16:creationId xmlns:a16="http://schemas.microsoft.com/office/drawing/2014/main" id="{7CFBA115-3B70-77F1-95CB-A95AD95DD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574" y="4376738"/>
            <a:ext cx="4235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pt-BR" altLang="pt-BR" sz="1600">
                <a:solidFill>
                  <a:srgbClr val="0000FF"/>
                </a:solidFill>
              </a:rPr>
              <a:t>+</a:t>
            </a:r>
            <a:r>
              <a:rPr lang="pt-BR" altLang="pt-BR" sz="1600" i="1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34" name="Text Box 52">
            <a:extLst>
              <a:ext uri="{FF2B5EF4-FFF2-40B4-BE49-F238E27FC236}">
                <a16:creationId xmlns:a16="http://schemas.microsoft.com/office/drawing/2014/main" id="{731A84C4-9A37-1082-7168-C7237894B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4650" y="4986338"/>
            <a:ext cx="38343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pt-BR" altLang="pt-BR" sz="1600">
                <a:solidFill>
                  <a:srgbClr val="0000FF"/>
                </a:solidFill>
              </a:rPr>
              <a:t>-</a:t>
            </a:r>
            <a:r>
              <a:rPr lang="pt-BR" altLang="pt-BR" sz="1600" i="1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35" name="Text Box 53">
            <a:extLst>
              <a:ext uri="{FF2B5EF4-FFF2-40B4-BE49-F238E27FC236}">
                <a16:creationId xmlns:a16="http://schemas.microsoft.com/office/drawing/2014/main" id="{2CD3F49C-4B6F-91FB-7BE1-725F389BA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454" y="5614988"/>
            <a:ext cx="48763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pt-BR" altLang="pt-BR" sz="1600">
                <a:solidFill>
                  <a:srgbClr val="0000FF"/>
                </a:solidFill>
              </a:rPr>
              <a:t>-3</a:t>
            </a:r>
            <a:r>
              <a:rPr lang="pt-BR" altLang="pt-BR" sz="1600" i="1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36" name="Text Box 54">
            <a:extLst>
              <a:ext uri="{FF2B5EF4-FFF2-40B4-BE49-F238E27FC236}">
                <a16:creationId xmlns:a16="http://schemas.microsoft.com/office/drawing/2014/main" id="{ECCD7111-998C-83CD-B886-2986CA491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525" y="3863976"/>
            <a:ext cx="947738" cy="366713"/>
          </a:xfrm>
          <a:prstGeom prst="rect">
            <a:avLst/>
          </a:prstGeom>
          <a:solidFill>
            <a:srgbClr val="DBFFD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altLang="pt-BR" i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pt-BR" altLang="pt-BR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s</a:t>
            </a:r>
            <a:r>
              <a:rPr lang="pt-BR" altLang="pt-BR" i="1">
                <a:solidFill>
                  <a:srgbClr val="0000FF"/>
                </a:solidFill>
                <a:latin typeface="Times New Roman" panose="02020603050405020304" pitchFamily="18" charset="0"/>
              </a:rPr>
              <a:t> = </a:t>
            </a:r>
            <a:r>
              <a:rPr lang="pt-BR" altLang="pt-BR">
                <a:solidFill>
                  <a:srgbClr val="0000FF"/>
                </a:solidFill>
              </a:rPr>
              <a:t>2</a:t>
            </a:r>
            <a:r>
              <a:rPr lang="pt-BR" altLang="pt-BR" i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pt-BR" altLang="pt-BR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endParaRPr lang="pt-BR" altLang="pt-BR" i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Line 55">
            <a:extLst>
              <a:ext uri="{FF2B5EF4-FFF2-40B4-BE49-F238E27FC236}">
                <a16:creationId xmlns:a16="http://schemas.microsoft.com/office/drawing/2014/main" id="{2AA59CDB-DDAC-7293-5E77-8883B5712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9176" y="4054475"/>
            <a:ext cx="239713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" name="Line 56">
            <a:extLst>
              <a:ext uri="{FF2B5EF4-FFF2-40B4-BE49-F238E27FC236}">
                <a16:creationId xmlns:a16="http://schemas.microsoft.com/office/drawing/2014/main" id="{B0AE783B-62B0-8404-5532-44B686CA8E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1" y="4054475"/>
            <a:ext cx="250825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9" name="Text Box 60">
            <a:extLst>
              <a:ext uri="{FF2B5EF4-FFF2-40B4-BE49-F238E27FC236}">
                <a16:creationId xmlns:a16="http://schemas.microsoft.com/office/drawing/2014/main" id="{DC6DA653-0D07-2322-D389-504BE31FC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1782763"/>
            <a:ext cx="5127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altLang="pt-BR" i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pt-BR" altLang="pt-BR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endParaRPr lang="pt-BR" altLang="pt-BR" i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Line 61">
            <a:extLst>
              <a:ext uri="{FF2B5EF4-FFF2-40B4-BE49-F238E27FC236}">
                <a16:creationId xmlns:a16="http://schemas.microsoft.com/office/drawing/2014/main" id="{F4A5B1DA-7AC5-63E1-9857-A28F4C4AB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6639" y="1982788"/>
            <a:ext cx="179387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1" name="Line 62">
            <a:extLst>
              <a:ext uri="{FF2B5EF4-FFF2-40B4-BE49-F238E27FC236}">
                <a16:creationId xmlns:a16="http://schemas.microsoft.com/office/drawing/2014/main" id="{04CC048B-790A-0399-DC32-3E053942F9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78325" y="1982788"/>
            <a:ext cx="17938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2" name="Line 63">
            <a:extLst>
              <a:ext uri="{FF2B5EF4-FFF2-40B4-BE49-F238E27FC236}">
                <a16:creationId xmlns:a16="http://schemas.microsoft.com/office/drawing/2014/main" id="{492A8DE0-10EB-799E-3190-680E1D7C1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6738" y="1812926"/>
            <a:ext cx="0" cy="2952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" name="Line 64">
            <a:extLst>
              <a:ext uri="{FF2B5EF4-FFF2-40B4-BE49-F238E27FC236}">
                <a16:creationId xmlns:a16="http://schemas.microsoft.com/office/drawing/2014/main" id="{39975E37-7DC1-91AF-7C9E-77BE2C353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812926"/>
            <a:ext cx="0" cy="2952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44" name="Group 65">
            <a:extLst>
              <a:ext uri="{FF2B5EF4-FFF2-40B4-BE49-F238E27FC236}">
                <a16:creationId xmlns:a16="http://schemas.microsoft.com/office/drawing/2014/main" id="{E6888134-6E83-87DB-9C1D-FD9741549FBA}"/>
              </a:ext>
            </a:extLst>
          </p:cNvPr>
          <p:cNvGrpSpPr>
            <a:grpSpLocks/>
          </p:cNvGrpSpPr>
          <p:nvPr/>
        </p:nvGrpSpPr>
        <p:grpSpPr bwMode="auto">
          <a:xfrm>
            <a:off x="3722689" y="1330325"/>
            <a:ext cx="6529387" cy="1790700"/>
            <a:chOff x="1253" y="796"/>
            <a:chExt cx="4113" cy="2972"/>
          </a:xfrm>
        </p:grpSpPr>
        <p:sp>
          <p:nvSpPr>
            <p:cNvPr id="45" name="Line 66">
              <a:extLst>
                <a:ext uri="{FF2B5EF4-FFF2-40B4-BE49-F238E27FC236}">
                  <a16:creationId xmlns:a16="http://schemas.microsoft.com/office/drawing/2014/main" id="{C3038175-F8B4-3D40-0F8F-8A53DA15F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3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Line 67">
              <a:extLst>
                <a:ext uri="{FF2B5EF4-FFF2-40B4-BE49-F238E27FC236}">
                  <a16:creationId xmlns:a16="http://schemas.microsoft.com/office/drawing/2014/main" id="{72A640B4-BD32-4974-FB76-5181851AE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Line 68">
              <a:extLst>
                <a:ext uri="{FF2B5EF4-FFF2-40B4-BE49-F238E27FC236}">
                  <a16:creationId xmlns:a16="http://schemas.microsoft.com/office/drawing/2014/main" id="{A1223914-4A75-5599-712E-06EF25D2D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5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Line 69">
              <a:extLst>
                <a:ext uri="{FF2B5EF4-FFF2-40B4-BE49-F238E27FC236}">
                  <a16:creationId xmlns:a16="http://schemas.microsoft.com/office/drawing/2014/main" id="{85F651F2-4BED-D78F-060A-71865672C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6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Line 70">
              <a:extLst>
                <a:ext uri="{FF2B5EF4-FFF2-40B4-BE49-F238E27FC236}">
                  <a16:creationId xmlns:a16="http://schemas.microsoft.com/office/drawing/2014/main" id="{EBE09F86-6D6D-0AF5-F9CE-D5AD2D311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8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Line 71">
              <a:extLst>
                <a:ext uri="{FF2B5EF4-FFF2-40B4-BE49-F238E27FC236}">
                  <a16:creationId xmlns:a16="http://schemas.microsoft.com/office/drawing/2014/main" id="{FE879675-96B6-3E9D-F896-9163959D7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9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Line 72">
              <a:extLst>
                <a:ext uri="{FF2B5EF4-FFF2-40B4-BE49-F238E27FC236}">
                  <a16:creationId xmlns:a16="http://schemas.microsoft.com/office/drawing/2014/main" id="{B4492E3C-97FD-C9FA-904D-E696C5ED2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0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Line 73">
              <a:extLst>
                <a:ext uri="{FF2B5EF4-FFF2-40B4-BE49-F238E27FC236}">
                  <a16:creationId xmlns:a16="http://schemas.microsoft.com/office/drawing/2014/main" id="{885F7C76-A6E4-C9B5-7E14-4976E2F66F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2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Line 74">
              <a:extLst>
                <a:ext uri="{FF2B5EF4-FFF2-40B4-BE49-F238E27FC236}">
                  <a16:creationId xmlns:a16="http://schemas.microsoft.com/office/drawing/2014/main" id="{F362984F-6090-DE6C-C890-206DE052C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3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Line 75">
              <a:extLst>
                <a:ext uri="{FF2B5EF4-FFF2-40B4-BE49-F238E27FC236}">
                  <a16:creationId xmlns:a16="http://schemas.microsoft.com/office/drawing/2014/main" id="{D0D83BCC-E44E-EA8D-65D2-FC66204AF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Line 76">
              <a:extLst>
                <a:ext uri="{FF2B5EF4-FFF2-40B4-BE49-F238E27FC236}">
                  <a16:creationId xmlns:a16="http://schemas.microsoft.com/office/drawing/2014/main" id="{9A758486-C277-F925-8B86-D04DA86F8D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6" y="796"/>
              <a:ext cx="0" cy="29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6" name="Group 77">
            <a:extLst>
              <a:ext uri="{FF2B5EF4-FFF2-40B4-BE49-F238E27FC236}">
                <a16:creationId xmlns:a16="http://schemas.microsoft.com/office/drawing/2014/main" id="{23B49D3E-ADC0-AD25-38D4-FC76DAE76E23}"/>
              </a:ext>
            </a:extLst>
          </p:cNvPr>
          <p:cNvGrpSpPr>
            <a:grpSpLocks/>
          </p:cNvGrpSpPr>
          <p:nvPr/>
        </p:nvGrpSpPr>
        <p:grpSpPr bwMode="auto">
          <a:xfrm>
            <a:off x="3860801" y="1363664"/>
            <a:ext cx="6257925" cy="396875"/>
            <a:chOff x="1340" y="595"/>
            <a:chExt cx="3942" cy="250"/>
          </a:xfrm>
        </p:grpSpPr>
        <p:sp>
          <p:nvSpPr>
            <p:cNvPr id="57" name="Text Box 78">
              <a:extLst>
                <a:ext uri="{FF2B5EF4-FFF2-40B4-BE49-F238E27FC236}">
                  <a16:creationId xmlns:a16="http://schemas.microsoft.com/office/drawing/2014/main" id="{13516EE5-5045-E461-9316-63417CDE7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0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58" name="Text Box 79">
              <a:extLst>
                <a:ext uri="{FF2B5EF4-FFF2-40B4-BE49-F238E27FC236}">
                  <a16:creationId xmlns:a16="http://schemas.microsoft.com/office/drawing/2014/main" id="{E978E74F-397A-018B-24AD-2F0AA8B0B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1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9" name="Text Box 80">
              <a:extLst>
                <a:ext uri="{FF2B5EF4-FFF2-40B4-BE49-F238E27FC236}">
                  <a16:creationId xmlns:a16="http://schemas.microsoft.com/office/drawing/2014/main" id="{22F15423-92F0-8E7D-F903-CEBE878B0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60" name="Text Box 81">
              <a:extLst>
                <a:ext uri="{FF2B5EF4-FFF2-40B4-BE49-F238E27FC236}">
                  <a16:creationId xmlns:a16="http://schemas.microsoft.com/office/drawing/2014/main" id="{1A7556F7-4E0C-DD55-7CC4-44496A7D9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5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61" name="Text Box 82">
              <a:extLst>
                <a:ext uri="{FF2B5EF4-FFF2-40B4-BE49-F238E27FC236}">
                  <a16:creationId xmlns:a16="http://schemas.microsoft.com/office/drawing/2014/main" id="{AE1A6812-1A03-6829-20FA-402AE06EA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2" name="Text Box 83">
              <a:extLst>
                <a:ext uri="{FF2B5EF4-FFF2-40B4-BE49-F238E27FC236}">
                  <a16:creationId xmlns:a16="http://schemas.microsoft.com/office/drawing/2014/main" id="{C5613DD7-FA53-455F-DF6F-905A4A131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9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3" name="Text Box 84">
              <a:extLst>
                <a:ext uri="{FF2B5EF4-FFF2-40B4-BE49-F238E27FC236}">
                  <a16:creationId xmlns:a16="http://schemas.microsoft.com/office/drawing/2014/main" id="{15F872C6-73A9-0638-54C0-BC939636D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1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4" name="Text Box 85">
              <a:extLst>
                <a:ext uri="{FF2B5EF4-FFF2-40B4-BE49-F238E27FC236}">
                  <a16:creationId xmlns:a16="http://schemas.microsoft.com/office/drawing/2014/main" id="{96E76F34-E296-E9ED-7D5F-AFA4C42F0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3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65" name="Text Box 86">
              <a:extLst>
                <a:ext uri="{FF2B5EF4-FFF2-40B4-BE49-F238E27FC236}">
                  <a16:creationId xmlns:a16="http://schemas.microsoft.com/office/drawing/2014/main" id="{80C5B207-A67F-BD7F-9144-A935DD913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66" name="Text Box 87">
              <a:extLst>
                <a:ext uri="{FF2B5EF4-FFF2-40B4-BE49-F238E27FC236}">
                  <a16:creationId xmlns:a16="http://schemas.microsoft.com/office/drawing/2014/main" id="{194D43CB-ED62-A9C4-BC82-6DDE43549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7" y="595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2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67" name="Freeform 88">
            <a:extLst>
              <a:ext uri="{FF2B5EF4-FFF2-40B4-BE49-F238E27FC236}">
                <a16:creationId xmlns:a16="http://schemas.microsoft.com/office/drawing/2014/main" id="{1E39CB6F-67BF-8CF2-0979-AE280D374248}"/>
              </a:ext>
            </a:extLst>
          </p:cNvPr>
          <p:cNvSpPr>
            <a:spLocks/>
          </p:cNvSpPr>
          <p:nvPr/>
        </p:nvSpPr>
        <p:spPr bwMode="auto">
          <a:xfrm>
            <a:off x="3724275" y="2295526"/>
            <a:ext cx="6529388" cy="784225"/>
          </a:xfrm>
          <a:custGeom>
            <a:avLst/>
            <a:gdLst>
              <a:gd name="T0" fmla="*/ 0 w 4113"/>
              <a:gd name="T1" fmla="*/ 475 h 475"/>
              <a:gd name="T2" fmla="*/ 409 w 4113"/>
              <a:gd name="T3" fmla="*/ 475 h 475"/>
              <a:gd name="T4" fmla="*/ 409 w 4113"/>
              <a:gd name="T5" fmla="*/ 0 h 475"/>
              <a:gd name="T6" fmla="*/ 824 w 4113"/>
              <a:gd name="T7" fmla="*/ 0 h 475"/>
              <a:gd name="T8" fmla="*/ 824 w 4113"/>
              <a:gd name="T9" fmla="*/ 475 h 475"/>
              <a:gd name="T10" fmla="*/ 1648 w 4113"/>
              <a:gd name="T11" fmla="*/ 475 h 475"/>
              <a:gd name="T12" fmla="*/ 1648 w 4113"/>
              <a:gd name="T13" fmla="*/ 0 h 475"/>
              <a:gd name="T14" fmla="*/ 2880 w 4113"/>
              <a:gd name="T15" fmla="*/ 0 h 475"/>
              <a:gd name="T16" fmla="*/ 2880 w 4113"/>
              <a:gd name="T17" fmla="*/ 475 h 475"/>
              <a:gd name="T18" fmla="*/ 3704 w 4113"/>
              <a:gd name="T19" fmla="*/ 475 h 475"/>
              <a:gd name="T20" fmla="*/ 3704 w 4113"/>
              <a:gd name="T21" fmla="*/ 0 h 475"/>
              <a:gd name="T22" fmla="*/ 4113 w 4113"/>
              <a:gd name="T23" fmla="*/ 0 h 4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113" h="475">
                <a:moveTo>
                  <a:pt x="0" y="475"/>
                </a:moveTo>
                <a:lnTo>
                  <a:pt x="409" y="475"/>
                </a:lnTo>
                <a:lnTo>
                  <a:pt x="409" y="0"/>
                </a:lnTo>
                <a:lnTo>
                  <a:pt x="824" y="0"/>
                </a:lnTo>
                <a:lnTo>
                  <a:pt x="824" y="475"/>
                </a:lnTo>
                <a:lnTo>
                  <a:pt x="1648" y="475"/>
                </a:lnTo>
                <a:lnTo>
                  <a:pt x="1648" y="0"/>
                </a:lnTo>
                <a:lnTo>
                  <a:pt x="2880" y="0"/>
                </a:lnTo>
                <a:lnTo>
                  <a:pt x="2880" y="475"/>
                </a:lnTo>
                <a:lnTo>
                  <a:pt x="3704" y="475"/>
                </a:lnTo>
                <a:lnTo>
                  <a:pt x="3704" y="0"/>
                </a:lnTo>
                <a:lnTo>
                  <a:pt x="4113" y="0"/>
                </a:lnTo>
              </a:path>
            </a:pathLst>
          </a:custGeom>
          <a:noFill/>
          <a:ln w="5715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8" name="Line 90">
            <a:extLst>
              <a:ext uri="{FF2B5EF4-FFF2-40B4-BE49-F238E27FC236}">
                <a16:creationId xmlns:a16="http://schemas.microsoft.com/office/drawing/2014/main" id="{F4048CDA-093A-E31C-D34E-B747BD580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5864" y="2687638"/>
            <a:ext cx="670242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" name="Line 91">
            <a:extLst>
              <a:ext uri="{FF2B5EF4-FFF2-40B4-BE49-F238E27FC236}">
                <a16:creationId xmlns:a16="http://schemas.microsoft.com/office/drawing/2014/main" id="{8A87A12E-415F-786B-BDE3-652C09C8E1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1101" y="2157414"/>
            <a:ext cx="3175" cy="10239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0" name="Line 92">
            <a:extLst>
              <a:ext uri="{FF2B5EF4-FFF2-40B4-BE49-F238E27FC236}">
                <a16:creationId xmlns:a16="http://schemas.microsoft.com/office/drawing/2014/main" id="{CA200932-D6FA-77FF-0F6C-0545284D3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4275" y="2290763"/>
            <a:ext cx="69850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" name="Text Box 93">
            <a:extLst>
              <a:ext uri="{FF2B5EF4-FFF2-40B4-BE49-F238E27FC236}">
                <a16:creationId xmlns:a16="http://schemas.microsoft.com/office/drawing/2014/main" id="{D5CA5209-7326-4720-EDE1-3A19FF1C0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225" y="2103438"/>
            <a:ext cx="374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1600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72" name="Text Box 94">
            <a:extLst>
              <a:ext uri="{FF2B5EF4-FFF2-40B4-BE49-F238E27FC236}">
                <a16:creationId xmlns:a16="http://schemas.microsoft.com/office/drawing/2014/main" id="{4FB3B0E4-7DEF-02C6-B72F-94FFD82AA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225" y="2513013"/>
            <a:ext cx="374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16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73" name="Text Box 95">
            <a:extLst>
              <a:ext uri="{FF2B5EF4-FFF2-40B4-BE49-F238E27FC236}">
                <a16:creationId xmlns:a16="http://schemas.microsoft.com/office/drawing/2014/main" id="{0A42C82E-5EB6-B0E7-FEE2-8356E2451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200" y="2898775"/>
            <a:ext cx="463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1600">
                <a:solidFill>
                  <a:srgbClr val="0000FF"/>
                </a:solidFill>
                <a:latin typeface="Times New Roman" panose="02020603050405020304" pitchFamily="18" charset="0"/>
              </a:rPr>
              <a:t>-</a:t>
            </a:r>
            <a:r>
              <a:rPr lang="pt-BR" altLang="pt-BR" sz="1600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</a:p>
        </p:txBody>
      </p:sp>
      <p:grpSp>
        <p:nvGrpSpPr>
          <p:cNvPr id="74" name="Group 96">
            <a:extLst>
              <a:ext uri="{FF2B5EF4-FFF2-40B4-BE49-F238E27FC236}">
                <a16:creationId xmlns:a16="http://schemas.microsoft.com/office/drawing/2014/main" id="{50393924-43ED-7B2A-67AB-3B98627F6130}"/>
              </a:ext>
            </a:extLst>
          </p:cNvPr>
          <p:cNvGrpSpPr>
            <a:grpSpLocks/>
          </p:cNvGrpSpPr>
          <p:nvPr/>
        </p:nvGrpSpPr>
        <p:grpSpPr bwMode="auto">
          <a:xfrm>
            <a:off x="9286876" y="3094038"/>
            <a:ext cx="1139825" cy="366712"/>
            <a:chOff x="4458" y="3731"/>
            <a:chExt cx="718" cy="231"/>
          </a:xfrm>
        </p:grpSpPr>
        <p:sp>
          <p:nvSpPr>
            <p:cNvPr id="75" name="Text Box 97">
              <a:extLst>
                <a:ext uri="{FF2B5EF4-FFF2-40B4-BE49-F238E27FC236}">
                  <a16:creationId xmlns:a16="http://schemas.microsoft.com/office/drawing/2014/main" id="{237A7E81-7C5C-FD91-4611-1F8B0FB78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8" y="3731"/>
              <a:ext cx="5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>
                  <a:solidFill>
                    <a:srgbClr val="0000FF"/>
                  </a:solidFill>
                </a:rPr>
                <a:t>Tempo</a:t>
              </a:r>
            </a:p>
          </p:txBody>
        </p:sp>
        <p:sp>
          <p:nvSpPr>
            <p:cNvPr id="76" name="Line 98">
              <a:extLst>
                <a:ext uri="{FF2B5EF4-FFF2-40B4-BE49-F238E27FC236}">
                  <a16:creationId xmlns:a16="http://schemas.microsoft.com/office/drawing/2014/main" id="{464EDD15-9DA8-B120-5210-92F9561B8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" y="3860"/>
              <a:ext cx="22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7" name="Line 99">
            <a:extLst>
              <a:ext uri="{FF2B5EF4-FFF2-40B4-BE49-F238E27FC236}">
                <a16:creationId xmlns:a16="http://schemas.microsoft.com/office/drawing/2014/main" id="{EA534F0D-F379-0154-0831-97EBF5B48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0788" y="3905251"/>
            <a:ext cx="0" cy="2952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8" name="Line 100">
            <a:extLst>
              <a:ext uri="{FF2B5EF4-FFF2-40B4-BE49-F238E27FC236}">
                <a16:creationId xmlns:a16="http://schemas.microsoft.com/office/drawing/2014/main" id="{4D3A46BA-BF8F-BEFA-9B41-BACD985E1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7300" y="3906839"/>
            <a:ext cx="0" cy="2952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9" name="Text Box 101">
            <a:extLst>
              <a:ext uri="{FF2B5EF4-FFF2-40B4-BE49-F238E27FC236}">
                <a16:creationId xmlns:a16="http://schemas.microsoft.com/office/drawing/2014/main" id="{ED323FE1-5A56-EAF9-8598-CE77EC37D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450" y="2343150"/>
            <a:ext cx="1390650" cy="6413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>
                <a:solidFill>
                  <a:srgbClr val="0000FF"/>
                </a:solidFill>
              </a:rPr>
              <a:t>Sinal NRZ polar binário</a:t>
            </a:r>
          </a:p>
        </p:txBody>
      </p:sp>
      <p:sp>
        <p:nvSpPr>
          <p:cNvPr id="80" name="Text Box 102">
            <a:extLst>
              <a:ext uri="{FF2B5EF4-FFF2-40B4-BE49-F238E27FC236}">
                <a16:creationId xmlns:a16="http://schemas.microsoft.com/office/drawing/2014/main" id="{D93ADB35-9185-60A0-639F-904C96CEF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450" y="4521200"/>
            <a:ext cx="1238250" cy="92333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>
                <a:solidFill>
                  <a:srgbClr val="0000FF"/>
                </a:solidFill>
              </a:rPr>
              <a:t>Sinal NRZ quaternário</a:t>
            </a:r>
          </a:p>
        </p:txBody>
      </p:sp>
    </p:spTree>
    <p:extLst>
      <p:ext uri="{BB962C8B-B14F-4D97-AF65-F5344CB8AC3E}">
        <p14:creationId xmlns:p14="http://schemas.microsoft.com/office/powerpoint/2010/main" val="419238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CF875-35FF-69DA-CAFE-8721AF504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Elementos básicos de um sistema PCM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52CE1D42-EB90-D9D4-54A5-5A55754DDC8A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3119438" y="1422400"/>
            <a:ext cx="1233488" cy="641350"/>
          </a:xfrm>
          <a:prstGeom prst="flowChartProcess">
            <a:avLst/>
          </a:prstGeom>
          <a:solidFill>
            <a:srgbClr val="008080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 dirty="0">
                <a:solidFill>
                  <a:schemeClr val="bg1"/>
                </a:solidFill>
              </a:rPr>
              <a:t>Filtro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 dirty="0">
                <a:solidFill>
                  <a:schemeClr val="bg1"/>
                </a:solidFill>
              </a:rPr>
              <a:t>passa-baixos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1A0A244-ADAE-D675-135C-E3BB3EF8AFDC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751388" y="1422400"/>
            <a:ext cx="1233488" cy="641350"/>
          </a:xfrm>
          <a:prstGeom prst="flowChartProcess">
            <a:avLst/>
          </a:prstGeom>
          <a:solidFill>
            <a:srgbClr val="008080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Amostrador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(S&amp;H)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A130E463-AC49-5DF1-5886-97FBBBB73390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6726238" y="1422400"/>
            <a:ext cx="1233488" cy="641350"/>
          </a:xfrm>
          <a:prstGeom prst="flowChartProcess">
            <a:avLst/>
          </a:prstGeom>
          <a:solidFill>
            <a:srgbClr val="008080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Quantizador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67D42FE-687F-7C2C-CB7B-21E212C573F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359776" y="1422400"/>
            <a:ext cx="1231900" cy="641350"/>
          </a:xfrm>
          <a:prstGeom prst="flowChartProcess">
            <a:avLst/>
          </a:prstGeom>
          <a:solidFill>
            <a:srgbClr val="008080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Codificador</a:t>
            </a:r>
          </a:p>
        </p:txBody>
      </p: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C7005492-1948-8AF1-0A27-7D10F3CDE51A}"/>
              </a:ext>
            </a:extLst>
          </p:cNvPr>
          <p:cNvCxnSpPr>
            <a:cxnSpLocks noChangeShapeType="1"/>
            <a:stCxn id="4" idx="3"/>
            <a:endCxn id="5" idx="1"/>
          </p:cNvCxnSpPr>
          <p:nvPr/>
        </p:nvCxnSpPr>
        <p:spPr bwMode="invGray">
          <a:xfrm>
            <a:off x="4367213" y="1743075"/>
            <a:ext cx="369888" cy="0"/>
          </a:xfrm>
          <a:prstGeom prst="straightConnector1">
            <a:avLst/>
          </a:prstGeom>
          <a:noFill/>
          <a:ln w="28575">
            <a:solidFill>
              <a:srgbClr val="383B7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AutoShape 8">
            <a:extLst>
              <a:ext uri="{FF2B5EF4-FFF2-40B4-BE49-F238E27FC236}">
                <a16:creationId xmlns:a16="http://schemas.microsoft.com/office/drawing/2014/main" id="{0302AFB5-2F3E-33EE-FB06-B8B1FB730CDF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invGray">
          <a:xfrm>
            <a:off x="5999163" y="1743075"/>
            <a:ext cx="712788" cy="0"/>
          </a:xfrm>
          <a:prstGeom prst="straightConnector1">
            <a:avLst/>
          </a:prstGeom>
          <a:noFill/>
          <a:ln w="28575">
            <a:solidFill>
              <a:srgbClr val="383B7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9">
            <a:extLst>
              <a:ext uri="{FF2B5EF4-FFF2-40B4-BE49-F238E27FC236}">
                <a16:creationId xmlns:a16="http://schemas.microsoft.com/office/drawing/2014/main" id="{EBD3047B-50C3-3E7C-0C53-48F45D685821}"/>
              </a:ext>
            </a:extLst>
          </p:cNvPr>
          <p:cNvCxnSpPr>
            <a:cxnSpLocks noChangeShapeType="1"/>
            <a:stCxn id="6" idx="3"/>
            <a:endCxn id="7" idx="1"/>
          </p:cNvCxnSpPr>
          <p:nvPr/>
        </p:nvCxnSpPr>
        <p:spPr bwMode="invGray">
          <a:xfrm>
            <a:off x="7974013" y="1743075"/>
            <a:ext cx="371475" cy="0"/>
          </a:xfrm>
          <a:prstGeom prst="straightConnector1">
            <a:avLst/>
          </a:prstGeom>
          <a:noFill/>
          <a:ln w="28575">
            <a:solidFill>
              <a:srgbClr val="383B7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6BA353D2-22C1-E51F-1684-74A995047BEC}"/>
              </a:ext>
            </a:extLst>
          </p:cNvPr>
          <p:cNvCxnSpPr>
            <a:cxnSpLocks noChangeShapeType="1"/>
            <a:stCxn id="12" idx="3"/>
            <a:endCxn id="4" idx="1"/>
          </p:cNvCxnSpPr>
          <p:nvPr/>
        </p:nvCxnSpPr>
        <p:spPr bwMode="invGray">
          <a:xfrm>
            <a:off x="2651126" y="1741488"/>
            <a:ext cx="454025" cy="1588"/>
          </a:xfrm>
          <a:prstGeom prst="straightConnector1">
            <a:avLst/>
          </a:prstGeom>
          <a:noFill/>
          <a:ln w="28575">
            <a:solidFill>
              <a:srgbClr val="383B7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5367284D-EA0F-9C5A-EFC0-DA0B8018448D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1624013" y="1382713"/>
            <a:ext cx="1027113" cy="71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45720">
            <a:spAutoFit/>
          </a:bodyPr>
          <a:lstStyle/>
          <a:p>
            <a:pPr>
              <a:lnSpc>
                <a:spcPct val="85000"/>
              </a:lnSpc>
            </a:pPr>
            <a:r>
              <a:rPr lang="pt-BR" altLang="pt-BR" sz="1600">
                <a:solidFill>
                  <a:srgbClr val="0070C0"/>
                </a:solidFill>
              </a:rPr>
              <a:t>Sinal-mensagem analógico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B7277215-BC9D-E612-9B31-A4477E751316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5936296" y="1221481"/>
            <a:ext cx="925513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sz="1600" dirty="0">
                <a:solidFill>
                  <a:srgbClr val="0070C0"/>
                </a:solidFill>
              </a:rPr>
              <a:t>Sinal PAM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F3B52C-BCDA-301A-6210-9F6E95B2EBC0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6407151" y="1157288"/>
            <a:ext cx="3333750" cy="1016000"/>
          </a:xfrm>
          <a:prstGeom prst="rect">
            <a:avLst/>
          </a:prstGeom>
          <a:noFill/>
          <a:ln w="9525">
            <a:solidFill>
              <a:srgbClr val="FFFF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AA84F072-BDFF-F0B8-78BC-6CF5652D4A22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7513638" y="1166813"/>
            <a:ext cx="1268413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sz="1600" dirty="0">
                <a:solidFill>
                  <a:srgbClr val="0070C0"/>
                </a:solidFill>
              </a:rPr>
              <a:t>Conversor A/D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27B5A553-3312-D4A0-ADE4-5AE5E75ECD1B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6167438" y="1335088"/>
            <a:ext cx="90488" cy="392113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cxnSp>
        <p:nvCxnSpPr>
          <p:cNvPr id="17" name="AutoShape 16">
            <a:extLst>
              <a:ext uri="{FF2B5EF4-FFF2-40B4-BE49-F238E27FC236}">
                <a16:creationId xmlns:a16="http://schemas.microsoft.com/office/drawing/2014/main" id="{986ADD1B-5360-A7E0-702C-2731C017E6B9}"/>
              </a:ext>
            </a:extLst>
          </p:cNvPr>
          <p:cNvCxnSpPr>
            <a:cxnSpLocks noChangeShapeType="1"/>
            <a:endCxn id="18" idx="1"/>
          </p:cNvCxnSpPr>
          <p:nvPr/>
        </p:nvCxnSpPr>
        <p:spPr bwMode="invGray">
          <a:xfrm flipV="1">
            <a:off x="9598026" y="1749425"/>
            <a:ext cx="450850" cy="6350"/>
          </a:xfrm>
          <a:prstGeom prst="straightConnector1">
            <a:avLst/>
          </a:prstGeom>
          <a:noFill/>
          <a:ln w="28575">
            <a:solidFill>
              <a:srgbClr val="383B7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1E59C224-099C-97DD-EEF6-B3F62E48A46D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10048876" y="1495425"/>
            <a:ext cx="490538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85000"/>
              </a:lnSpc>
            </a:pPr>
            <a:r>
              <a:rPr lang="pt-BR" altLang="pt-BR" sz="1600">
                <a:solidFill>
                  <a:srgbClr val="0070C0"/>
                </a:solidFill>
              </a:rPr>
              <a:t>Sinal PCM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04F73316-DE0C-CD6C-F1F7-DF061ADAA3DB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5356226" y="2198688"/>
            <a:ext cx="1462088" cy="31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sz="1600">
                <a:solidFill>
                  <a:srgbClr val="FFFF00"/>
                </a:solidFill>
              </a:rPr>
              <a:t>Transmissor</a:t>
            </a: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9591D02A-3641-DFFB-0B18-A6B29D7526FF}"/>
              </a:ext>
            </a:extLst>
          </p:cNvPr>
          <p:cNvSpPr>
            <a:spLocks noChangeShapeType="1"/>
          </p:cNvSpPr>
          <p:nvPr/>
        </p:nvSpPr>
        <p:spPr bwMode="invGray">
          <a:xfrm flipH="1">
            <a:off x="7278688" y="4627563"/>
            <a:ext cx="9525" cy="11953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AutoShape 21">
            <a:extLst>
              <a:ext uri="{FF2B5EF4-FFF2-40B4-BE49-F238E27FC236}">
                <a16:creationId xmlns:a16="http://schemas.microsoft.com/office/drawing/2014/main" id="{3553E257-0031-6A8C-662A-E39996D327DA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3589338" y="4987925"/>
            <a:ext cx="1233488" cy="720725"/>
          </a:xfrm>
          <a:prstGeom prst="flowChartProcess">
            <a:avLst/>
          </a:prstGeom>
          <a:solidFill>
            <a:srgbClr val="006699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Circuito de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regeneração</a:t>
            </a:r>
          </a:p>
        </p:txBody>
      </p:sp>
      <p:sp>
        <p:nvSpPr>
          <p:cNvPr id="23" name="AutoShape 22">
            <a:extLst>
              <a:ext uri="{FF2B5EF4-FFF2-40B4-BE49-F238E27FC236}">
                <a16:creationId xmlns:a16="http://schemas.microsoft.com/office/drawing/2014/main" id="{A8467B86-5473-CCCE-D5FB-51DFF894878D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26063" y="4987925"/>
            <a:ext cx="1231900" cy="720725"/>
          </a:xfrm>
          <a:prstGeom prst="flowChartProcess">
            <a:avLst/>
          </a:prstGeom>
          <a:solidFill>
            <a:srgbClr val="006699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Decodificador</a:t>
            </a:r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216E9C88-044B-80D5-C91C-50748C3BC19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100888" y="4981575"/>
            <a:ext cx="1352550" cy="733425"/>
          </a:xfrm>
          <a:prstGeom prst="flowChartProcess">
            <a:avLst/>
          </a:prstGeom>
          <a:solidFill>
            <a:srgbClr val="006699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Filtro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passa-baixos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(reconstrução)</a:t>
            </a:r>
          </a:p>
        </p:txBody>
      </p:sp>
      <p:cxnSp>
        <p:nvCxnSpPr>
          <p:cNvPr id="25" name="AutoShape 24">
            <a:extLst>
              <a:ext uri="{FF2B5EF4-FFF2-40B4-BE49-F238E27FC236}">
                <a16:creationId xmlns:a16="http://schemas.microsoft.com/office/drawing/2014/main" id="{F88AA78B-9CE9-8E17-138A-225571D730FF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invGray">
          <a:xfrm flipV="1">
            <a:off x="3155951" y="5348288"/>
            <a:ext cx="419100" cy="4763"/>
          </a:xfrm>
          <a:prstGeom prst="straightConnector1">
            <a:avLst/>
          </a:prstGeom>
          <a:noFill/>
          <a:ln w="28575">
            <a:solidFill>
              <a:srgbClr val="00206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 Box 25">
            <a:extLst>
              <a:ext uri="{FF2B5EF4-FFF2-40B4-BE49-F238E27FC236}">
                <a16:creationId xmlns:a16="http://schemas.microsoft.com/office/drawing/2014/main" id="{96BB7685-5F9E-64CE-58F4-23D692F738C4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2128838" y="5099050"/>
            <a:ext cx="1027113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45720">
            <a:spAutoFit/>
          </a:bodyPr>
          <a:lstStyle/>
          <a:p>
            <a:pPr>
              <a:lnSpc>
                <a:spcPct val="85000"/>
              </a:lnSpc>
            </a:pPr>
            <a:r>
              <a:rPr lang="pt-BR" altLang="pt-BR" sz="1600">
                <a:solidFill>
                  <a:srgbClr val="0070C0"/>
                </a:solidFill>
              </a:rPr>
              <a:t>Sinal PCM degradado</a:t>
            </a:r>
          </a:p>
        </p:txBody>
      </p:sp>
      <p:cxnSp>
        <p:nvCxnSpPr>
          <p:cNvPr id="27" name="AutoShape 26">
            <a:extLst>
              <a:ext uri="{FF2B5EF4-FFF2-40B4-BE49-F238E27FC236}">
                <a16:creationId xmlns:a16="http://schemas.microsoft.com/office/drawing/2014/main" id="{76BC78FF-C0DE-1659-B428-0CFEB3573CD9}"/>
              </a:ext>
            </a:extLst>
          </p:cNvPr>
          <p:cNvCxnSpPr>
            <a:cxnSpLocks noChangeShapeType="1"/>
            <a:stCxn id="24" idx="3"/>
            <a:endCxn id="28" idx="1"/>
          </p:cNvCxnSpPr>
          <p:nvPr/>
        </p:nvCxnSpPr>
        <p:spPr bwMode="invGray">
          <a:xfrm>
            <a:off x="8467726" y="5348288"/>
            <a:ext cx="476250" cy="17463"/>
          </a:xfrm>
          <a:prstGeom prst="straightConnector1">
            <a:avLst/>
          </a:prstGeom>
          <a:noFill/>
          <a:ln w="28575">
            <a:solidFill>
              <a:srgbClr val="00206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 Box 27">
            <a:extLst>
              <a:ext uri="{FF2B5EF4-FFF2-40B4-BE49-F238E27FC236}">
                <a16:creationId xmlns:a16="http://schemas.microsoft.com/office/drawing/2014/main" id="{166EE46E-2A04-5E59-3DF4-7999757A6C16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8943976" y="5006975"/>
            <a:ext cx="1090613" cy="71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85000"/>
              </a:lnSpc>
            </a:pPr>
            <a:r>
              <a:rPr lang="pt-BR" altLang="pt-BR" sz="1600">
                <a:solidFill>
                  <a:srgbClr val="0070C0"/>
                </a:solidFill>
              </a:rPr>
              <a:t>Sinal-mensagem reconstruído</a:t>
            </a:r>
          </a:p>
        </p:txBody>
      </p:sp>
      <p:cxnSp>
        <p:nvCxnSpPr>
          <p:cNvPr id="29" name="AutoShape 28">
            <a:extLst>
              <a:ext uri="{FF2B5EF4-FFF2-40B4-BE49-F238E27FC236}">
                <a16:creationId xmlns:a16="http://schemas.microsoft.com/office/drawing/2014/main" id="{F1ABF708-A185-3719-8A56-E7E58F9FE08A}"/>
              </a:ext>
            </a:extLst>
          </p:cNvPr>
          <p:cNvCxnSpPr>
            <a:cxnSpLocks noChangeShapeType="1"/>
            <a:stCxn id="22" idx="3"/>
            <a:endCxn id="23" idx="1"/>
          </p:cNvCxnSpPr>
          <p:nvPr/>
        </p:nvCxnSpPr>
        <p:spPr bwMode="invGray">
          <a:xfrm>
            <a:off x="4837113" y="5348288"/>
            <a:ext cx="474663" cy="0"/>
          </a:xfrm>
          <a:prstGeom prst="straightConnector1">
            <a:avLst/>
          </a:prstGeom>
          <a:noFill/>
          <a:ln w="28575">
            <a:solidFill>
              <a:srgbClr val="00206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29">
            <a:extLst>
              <a:ext uri="{FF2B5EF4-FFF2-40B4-BE49-F238E27FC236}">
                <a16:creationId xmlns:a16="http://schemas.microsoft.com/office/drawing/2014/main" id="{A0C7522C-A464-F201-212C-509A919308A5}"/>
              </a:ext>
            </a:extLst>
          </p:cNvPr>
          <p:cNvCxnSpPr>
            <a:cxnSpLocks noChangeShapeType="1"/>
            <a:stCxn id="23" idx="3"/>
            <a:endCxn id="24" idx="1"/>
          </p:cNvCxnSpPr>
          <p:nvPr/>
        </p:nvCxnSpPr>
        <p:spPr bwMode="invGray">
          <a:xfrm>
            <a:off x="6572251" y="5348288"/>
            <a:ext cx="514350" cy="0"/>
          </a:xfrm>
          <a:prstGeom prst="straightConnector1">
            <a:avLst/>
          </a:prstGeom>
          <a:noFill/>
          <a:ln w="28575">
            <a:solidFill>
              <a:srgbClr val="00206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ext Box 30">
            <a:extLst>
              <a:ext uri="{FF2B5EF4-FFF2-40B4-BE49-F238E27FC236}">
                <a16:creationId xmlns:a16="http://schemas.microsoft.com/office/drawing/2014/main" id="{6599D6D3-6B8C-C208-E73D-85FA02730E2B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6313488" y="4508500"/>
            <a:ext cx="92392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pt-BR" altLang="pt-BR" sz="1600">
                <a:solidFill>
                  <a:srgbClr val="0070C0"/>
                </a:solidFill>
              </a:rPr>
              <a:t>Sinal PAM quantizado</a:t>
            </a:r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956D1113-2184-A59B-BEED-8D6DEECC65D3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6757988" y="4933950"/>
            <a:ext cx="0" cy="412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F9562BB2-5C37-141F-BD6C-03490053C7F5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5356226" y="5827713"/>
            <a:ext cx="1462088" cy="31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sz="1600">
                <a:solidFill>
                  <a:srgbClr val="FFFF00"/>
                </a:solidFill>
              </a:rPr>
              <a:t>Receptor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83BF6F72-10A6-D1DB-A8CE-758CD316AC1A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4278314" y="3776663"/>
            <a:ext cx="3608387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sz="1600" dirty="0">
                <a:solidFill>
                  <a:srgbClr val="FFFF00"/>
                </a:solidFill>
              </a:rPr>
              <a:t>Canal ( trajeto de transmissão)</a:t>
            </a:r>
          </a:p>
        </p:txBody>
      </p:sp>
      <p:sp>
        <p:nvSpPr>
          <p:cNvPr id="36" name="AutoShape 35">
            <a:extLst>
              <a:ext uri="{FF2B5EF4-FFF2-40B4-BE49-F238E27FC236}">
                <a16:creationId xmlns:a16="http://schemas.microsoft.com/office/drawing/2014/main" id="{277F6791-DECA-0C62-CEE0-11CEAC6F5EE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3602039" y="2935288"/>
            <a:ext cx="1233487" cy="720725"/>
          </a:xfrm>
          <a:prstGeom prst="flowChartProcess">
            <a:avLst/>
          </a:prstGeom>
          <a:solidFill>
            <a:srgbClr val="666699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 dirty="0">
                <a:solidFill>
                  <a:schemeClr val="bg1"/>
                </a:solidFill>
              </a:rPr>
              <a:t>Repetidor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 dirty="0">
                <a:solidFill>
                  <a:schemeClr val="bg1"/>
                </a:solidFill>
              </a:rPr>
              <a:t>regenerativo</a:t>
            </a:r>
          </a:p>
        </p:txBody>
      </p:sp>
      <p:sp>
        <p:nvSpPr>
          <p:cNvPr id="37" name="AutoShape 36">
            <a:extLst>
              <a:ext uri="{FF2B5EF4-FFF2-40B4-BE49-F238E27FC236}">
                <a16:creationId xmlns:a16="http://schemas.microsoft.com/office/drawing/2014/main" id="{0D82E9B3-1CA6-A9CD-4C30-CDFE7478909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112001" y="2928938"/>
            <a:ext cx="1354137" cy="733425"/>
          </a:xfrm>
          <a:prstGeom prst="flowChartProcess">
            <a:avLst/>
          </a:prstGeom>
          <a:solidFill>
            <a:srgbClr val="666699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Repetidor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altLang="pt-BR" sz="1600">
                <a:solidFill>
                  <a:schemeClr val="bg1"/>
                </a:solidFill>
              </a:rPr>
              <a:t>regenerativo</a:t>
            </a:r>
          </a:p>
        </p:txBody>
      </p:sp>
      <p:cxnSp>
        <p:nvCxnSpPr>
          <p:cNvPr id="38" name="AutoShape 37">
            <a:extLst>
              <a:ext uri="{FF2B5EF4-FFF2-40B4-BE49-F238E27FC236}">
                <a16:creationId xmlns:a16="http://schemas.microsoft.com/office/drawing/2014/main" id="{45C5697C-7F97-BC86-1A1D-1131F4010745}"/>
              </a:ext>
            </a:extLst>
          </p:cNvPr>
          <p:cNvCxnSpPr>
            <a:cxnSpLocks noChangeShapeType="1"/>
            <a:stCxn id="39" idx="3"/>
            <a:endCxn id="36" idx="1"/>
          </p:cNvCxnSpPr>
          <p:nvPr/>
        </p:nvCxnSpPr>
        <p:spPr bwMode="invGray">
          <a:xfrm flipV="1">
            <a:off x="3168651" y="3295650"/>
            <a:ext cx="419100" cy="7937"/>
          </a:xfrm>
          <a:prstGeom prst="straightConnector1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Box 38">
            <a:extLst>
              <a:ext uri="{FF2B5EF4-FFF2-40B4-BE49-F238E27FC236}">
                <a16:creationId xmlns:a16="http://schemas.microsoft.com/office/drawing/2014/main" id="{A9EE23B3-7AA5-FF68-2E6A-AE4F97868ED3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2141539" y="3049588"/>
            <a:ext cx="1027112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45720">
            <a:spAutoFit/>
          </a:bodyPr>
          <a:lstStyle/>
          <a:p>
            <a:pPr>
              <a:lnSpc>
                <a:spcPct val="85000"/>
              </a:lnSpc>
            </a:pPr>
            <a:r>
              <a:rPr lang="pt-BR" altLang="pt-BR" sz="1600">
                <a:solidFill>
                  <a:srgbClr val="0070C0"/>
                </a:solidFill>
              </a:rPr>
              <a:t>Sinal PCM degradado</a:t>
            </a:r>
          </a:p>
        </p:txBody>
      </p:sp>
      <p:cxnSp>
        <p:nvCxnSpPr>
          <p:cNvPr id="40" name="AutoShape 39">
            <a:extLst>
              <a:ext uri="{FF2B5EF4-FFF2-40B4-BE49-F238E27FC236}">
                <a16:creationId xmlns:a16="http://schemas.microsoft.com/office/drawing/2014/main" id="{9D5AD793-B25D-F0A9-C68D-412C14F3D083}"/>
              </a:ext>
            </a:extLst>
          </p:cNvPr>
          <p:cNvCxnSpPr>
            <a:cxnSpLocks noChangeShapeType="1"/>
            <a:stCxn id="37" idx="3"/>
            <a:endCxn id="41" idx="1"/>
          </p:cNvCxnSpPr>
          <p:nvPr/>
        </p:nvCxnSpPr>
        <p:spPr bwMode="invGray">
          <a:xfrm>
            <a:off x="8480426" y="3295650"/>
            <a:ext cx="476250" cy="7937"/>
          </a:xfrm>
          <a:prstGeom prst="straightConnector1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 Box 40">
            <a:extLst>
              <a:ext uri="{FF2B5EF4-FFF2-40B4-BE49-F238E27FC236}">
                <a16:creationId xmlns:a16="http://schemas.microsoft.com/office/drawing/2014/main" id="{FDF89524-928E-0DE9-F1AD-87C601E42C13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8956676" y="3049588"/>
            <a:ext cx="10668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85000"/>
              </a:lnSpc>
            </a:pPr>
            <a:r>
              <a:rPr lang="pt-BR" altLang="pt-BR" sz="1600">
                <a:solidFill>
                  <a:srgbClr val="0070C0"/>
                </a:solidFill>
              </a:rPr>
              <a:t>Sinal PCM regenerado</a:t>
            </a:r>
          </a:p>
        </p:txBody>
      </p:sp>
      <p:cxnSp>
        <p:nvCxnSpPr>
          <p:cNvPr id="42" name="AutoShape 41">
            <a:extLst>
              <a:ext uri="{FF2B5EF4-FFF2-40B4-BE49-F238E27FC236}">
                <a16:creationId xmlns:a16="http://schemas.microsoft.com/office/drawing/2014/main" id="{1D6BF5A0-B03F-D5FD-921C-BB73E680BF34}"/>
              </a:ext>
            </a:extLst>
          </p:cNvPr>
          <p:cNvCxnSpPr>
            <a:cxnSpLocks noChangeShapeType="1"/>
            <a:stCxn id="36" idx="3"/>
          </p:cNvCxnSpPr>
          <p:nvPr/>
        </p:nvCxnSpPr>
        <p:spPr bwMode="invGray">
          <a:xfrm>
            <a:off x="4849814" y="3295650"/>
            <a:ext cx="468312" cy="0"/>
          </a:xfrm>
          <a:prstGeom prst="straightConnector1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42">
            <a:extLst>
              <a:ext uri="{FF2B5EF4-FFF2-40B4-BE49-F238E27FC236}">
                <a16:creationId xmlns:a16="http://schemas.microsoft.com/office/drawing/2014/main" id="{7CE21E45-E09E-F884-E80F-593194AB4B40}"/>
              </a:ext>
            </a:extLst>
          </p:cNvPr>
          <p:cNvCxnSpPr>
            <a:cxnSpLocks noChangeShapeType="1"/>
            <a:endCxn id="37" idx="1"/>
          </p:cNvCxnSpPr>
          <p:nvPr/>
        </p:nvCxnSpPr>
        <p:spPr bwMode="invGray">
          <a:xfrm>
            <a:off x="6589714" y="3295650"/>
            <a:ext cx="508000" cy="0"/>
          </a:xfrm>
          <a:prstGeom prst="straightConnector1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43">
            <a:extLst>
              <a:ext uri="{FF2B5EF4-FFF2-40B4-BE49-F238E27FC236}">
                <a16:creationId xmlns:a16="http://schemas.microsoft.com/office/drawing/2014/main" id="{FA4BC87B-779E-000D-A805-5EC0F4EE1DC5}"/>
              </a:ext>
            </a:extLst>
          </p:cNvPr>
          <p:cNvCxnSpPr>
            <a:cxnSpLocks noChangeShapeType="1"/>
            <a:stCxn id="36" idx="3"/>
            <a:endCxn id="37" idx="1"/>
          </p:cNvCxnSpPr>
          <p:nvPr/>
        </p:nvCxnSpPr>
        <p:spPr bwMode="invGray">
          <a:xfrm>
            <a:off x="4849814" y="3295650"/>
            <a:ext cx="2247900" cy="0"/>
          </a:xfrm>
          <a:prstGeom prst="straightConnector1">
            <a:avLst/>
          </a:prstGeom>
          <a:noFill/>
          <a:ln w="28575">
            <a:solidFill>
              <a:srgbClr val="002060"/>
            </a:solidFill>
            <a:prstDash val="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568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31100-D3A5-7AED-1169-D1D226CA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Codificação PCM diferencial – DPCM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A008DD-0BE5-415D-5C6C-CF1D47FCD886}"/>
              </a:ext>
            </a:extLst>
          </p:cNvPr>
          <p:cNvGrpSpPr>
            <a:grpSpLocks/>
          </p:cNvGrpSpPr>
          <p:nvPr/>
        </p:nvGrpSpPr>
        <p:grpSpPr bwMode="auto">
          <a:xfrm>
            <a:off x="6403976" y="3095626"/>
            <a:ext cx="4054475" cy="1704975"/>
            <a:chOff x="3074" y="1770"/>
            <a:chExt cx="2554" cy="1074"/>
          </a:xfrm>
        </p:grpSpPr>
        <p:sp>
          <p:nvSpPr>
            <p:cNvPr id="4" name="Line 3">
              <a:extLst>
                <a:ext uri="{FF2B5EF4-FFF2-40B4-BE49-F238E27FC236}">
                  <a16:creationId xmlns:a16="http://schemas.microsoft.com/office/drawing/2014/main" id="{E08FB8EF-9950-0B62-AA77-FE8543628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0" y="2291"/>
              <a:ext cx="49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38900A0-335B-F6E6-F110-656DF7726B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4076" y="2180"/>
              <a:ext cx="218" cy="218"/>
            </a:xfrm>
            <a:prstGeom prst="ellipse">
              <a:avLst/>
            </a:prstGeom>
            <a:solidFill>
              <a:srgbClr val="FFFFCC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endParaRPr lang="pt-BR" altLang="pt-BR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8D22AC-E145-86CA-53BF-1B4E996EA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3" y="2477"/>
              <a:ext cx="666" cy="367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rgbClr val="FF0000"/>
                  </a:solidFill>
                </a:rPr>
                <a:t>Preditor</a:t>
              </a:r>
            </a:p>
          </p:txBody>
        </p: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D3B58FBC-6814-0845-4971-AD5034F351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5" y="2049"/>
            <a:ext cx="32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17160" imgH="241200" progId="Equation.3">
                    <p:embed/>
                  </p:oleObj>
                </mc:Choice>
                <mc:Fallback>
                  <p:oleObj name="Equation" r:id="rId2" imgW="317160" imgH="241200" progId="Equation.3">
                    <p:embed/>
                    <p:pic>
                      <p:nvPicPr>
                        <p:cNvPr id="484358" name="Object 6">
                          <a:extLst>
                            <a:ext uri="{FF2B5EF4-FFF2-40B4-BE49-F238E27FC236}">
                              <a16:creationId xmlns:a16="http://schemas.microsoft.com/office/drawing/2014/main" id="{94747912-CA72-4C5D-498D-94889F8DAE09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5" y="2049"/>
                          <a:ext cx="320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AutoShape 7">
              <a:extLst>
                <a:ext uri="{FF2B5EF4-FFF2-40B4-BE49-F238E27FC236}">
                  <a16:creationId xmlns:a16="http://schemas.microsoft.com/office/drawing/2014/main" id="{8BCBF8B9-A006-0878-71FA-D58970FB2885}"/>
                </a:ext>
              </a:extLst>
            </p:cNvPr>
            <p:cNvCxnSpPr>
              <a:cxnSpLocks noChangeShapeType="1"/>
              <a:stCxn id="5" idx="2"/>
              <a:endCxn id="6" idx="3"/>
            </p:cNvCxnSpPr>
            <p:nvPr/>
          </p:nvCxnSpPr>
          <p:spPr bwMode="auto">
            <a:xfrm>
              <a:off x="4306" y="2289"/>
              <a:ext cx="775" cy="372"/>
            </a:xfrm>
            <a:prstGeom prst="bentConnector3">
              <a:avLst>
                <a:gd name="adj1" fmla="val 136389"/>
              </a:avLst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AutoShape 8">
              <a:extLst>
                <a:ext uri="{FF2B5EF4-FFF2-40B4-BE49-F238E27FC236}">
                  <a16:creationId xmlns:a16="http://schemas.microsoft.com/office/drawing/2014/main" id="{623BDE79-C314-A158-E966-901380C4592D}"/>
                </a:ext>
              </a:extLst>
            </p:cNvPr>
            <p:cNvCxnSpPr>
              <a:cxnSpLocks noChangeShapeType="1"/>
              <a:stCxn id="6" idx="1"/>
              <a:endCxn id="5" idx="0"/>
            </p:cNvCxnSpPr>
            <p:nvPr/>
          </p:nvCxnSpPr>
          <p:spPr bwMode="auto">
            <a:xfrm rot="10800000">
              <a:off x="4185" y="2410"/>
              <a:ext cx="206" cy="251"/>
            </a:xfrm>
            <a:prstGeom prst="bentConnector2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0E1D6890-B26A-F162-619B-A29537DA94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09" y="2058"/>
            <a:ext cx="32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17160" imgH="215640" progId="Equation.3">
                    <p:embed/>
                  </p:oleObj>
                </mc:Choice>
                <mc:Fallback>
                  <p:oleObj name="Equation" r:id="rId4" imgW="317160" imgH="215640" progId="Equation.3">
                    <p:embed/>
                    <p:pic>
                      <p:nvPicPr>
                        <p:cNvPr id="484361" name="Object 9">
                          <a:extLst>
                            <a:ext uri="{FF2B5EF4-FFF2-40B4-BE49-F238E27FC236}">
                              <a16:creationId xmlns:a16="http://schemas.microsoft.com/office/drawing/2014/main" id="{E34DB050-37AC-983B-E359-8450A1D27272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9" y="2058"/>
                          <a:ext cx="320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B09147D5-7266-3A30-0A37-E9DF6F7B98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6" y="2473"/>
            <a:ext cx="332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0120" imgH="203040" progId="Equation.3">
                    <p:embed/>
                  </p:oleObj>
                </mc:Choice>
                <mc:Fallback>
                  <p:oleObj name="Equation" r:id="rId6" imgW="330120" imgH="203040" progId="Equation.3">
                    <p:embed/>
                    <p:pic>
                      <p:nvPicPr>
                        <p:cNvPr id="484362" name="Object 10">
                          <a:extLst>
                            <a:ext uri="{FF2B5EF4-FFF2-40B4-BE49-F238E27FC236}">
                              <a16:creationId xmlns:a16="http://schemas.microsoft.com/office/drawing/2014/main" id="{F3B63018-6CC2-1619-19A7-3A3CE1D429DE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2473"/>
                          <a:ext cx="332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206EC76B-890C-FF31-8367-398A49280C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96" y="2289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79615BEF-0DA5-175E-36E6-C55921A4C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4" y="2294"/>
              <a:ext cx="492" cy="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92F959F4-FEA1-41CC-8817-9ECCBD665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2" y="1770"/>
              <a:ext cx="1029" cy="252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pt-BR" altLang="pt-BR" sz="2000"/>
                <a:t>Decodificador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D8B0B3AA-B907-AFDB-5FB0-B971790F39BD}"/>
              </a:ext>
            </a:extLst>
          </p:cNvPr>
          <p:cNvGrpSpPr>
            <a:grpSpLocks/>
          </p:cNvGrpSpPr>
          <p:nvPr/>
        </p:nvGrpSpPr>
        <p:grpSpPr bwMode="auto">
          <a:xfrm>
            <a:off x="1676401" y="3076575"/>
            <a:ext cx="4627563" cy="1728788"/>
            <a:chOff x="96" y="1758"/>
            <a:chExt cx="2915" cy="1089"/>
          </a:xfrm>
        </p:grpSpPr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246DE15F-1EAF-209C-C7B7-24CF657BCB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" y="2303"/>
              <a:ext cx="127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43708FD4-E5E0-0D98-80A2-A4C55FD24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2114"/>
              <a:ext cx="394" cy="367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chemeClr val="accent2"/>
                  </a:solidFill>
                </a:rPr>
                <a:t>Q[</a:t>
              </a:r>
              <a:r>
                <a:rPr lang="en-US" altLang="pt-BR" sz="2000">
                  <a:solidFill>
                    <a:schemeClr val="accent2"/>
                  </a:solidFill>
                </a:rPr>
                <a:t>·</a:t>
              </a:r>
              <a:r>
                <a:rPr lang="pt-BR" altLang="pt-BR" sz="2000" baseline="-25000">
                  <a:solidFill>
                    <a:schemeClr val="accent2"/>
                  </a:solidFill>
                </a:rPr>
                <a:t> </a:t>
              </a:r>
              <a:r>
                <a:rPr lang="pt-BR" altLang="pt-BR" sz="2000">
                  <a:solidFill>
                    <a:schemeClr val="accent2"/>
                  </a:solidFill>
                </a:rPr>
                <a:t>]</a:t>
              </a:r>
            </a:p>
          </p:txBody>
        </p:sp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869527B6-0203-D90B-1201-F6795C573E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1380" y="2188"/>
              <a:ext cx="218" cy="218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endParaRPr lang="pt-BR" altLang="pt-BR" sz="200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598E3CD5-B3F3-AD02-A9AF-2AAFFCA74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0" y="2364"/>
              <a:ext cx="23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pt-BR" altLang="pt-BR" sz="3200">
                  <a:solidFill>
                    <a:schemeClr val="accent2"/>
                  </a:solidFill>
                  <a:latin typeface="Comic Sans MS" panose="030F0702030302020204" pitchFamily="66" charset="0"/>
                </a:rPr>
                <a:t>-</a:t>
              </a:r>
            </a:p>
          </p:txBody>
        </p:sp>
        <p:graphicFrame>
          <p:nvGraphicFramePr>
            <p:cNvPr id="20" name="Object 20">
              <a:extLst>
                <a:ext uri="{FF2B5EF4-FFF2-40B4-BE49-F238E27FC236}">
                  <a16:creationId xmlns:a16="http://schemas.microsoft.com/office/drawing/2014/main" id="{8B917DB6-4C72-F654-893C-61E60D8DDD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" y="2096"/>
            <a:ext cx="320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160" imgH="203040" progId="Equation.3">
                    <p:embed/>
                  </p:oleObj>
                </mc:Choice>
                <mc:Fallback>
                  <p:oleObj name="Equation" r:id="rId8" imgW="317160" imgH="203040" progId="Equation.3">
                    <p:embed/>
                    <p:pic>
                      <p:nvPicPr>
                        <p:cNvPr id="484372" name="Object 20">
                          <a:extLst>
                            <a:ext uri="{FF2B5EF4-FFF2-40B4-BE49-F238E27FC236}">
                              <a16:creationId xmlns:a16="http://schemas.microsoft.com/office/drawing/2014/main" id="{96B0A82C-0503-3194-5D1D-A4B6A8AA44E5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2096"/>
                          <a:ext cx="320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AutoShape 21">
              <a:extLst>
                <a:ext uri="{FF2B5EF4-FFF2-40B4-BE49-F238E27FC236}">
                  <a16:creationId xmlns:a16="http://schemas.microsoft.com/office/drawing/2014/main" id="{B39E453E-48D6-1C2A-A322-380DE600190C}"/>
                </a:ext>
              </a:extLst>
            </p:cNvPr>
            <p:cNvCxnSpPr>
              <a:cxnSpLocks noChangeShapeType="1"/>
              <a:stCxn id="18" idx="2"/>
              <a:endCxn id="17" idx="1"/>
            </p:cNvCxnSpPr>
            <p:nvPr/>
          </p:nvCxnSpPr>
          <p:spPr bwMode="auto">
            <a:xfrm>
              <a:off x="1610" y="2297"/>
              <a:ext cx="518" cy="1"/>
            </a:xfrm>
            <a:prstGeom prst="straightConnector1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22" name="Object 22">
              <a:extLst>
                <a:ext uri="{FF2B5EF4-FFF2-40B4-BE49-F238E27FC236}">
                  <a16:creationId xmlns:a16="http://schemas.microsoft.com/office/drawing/2014/main" id="{3B3FC436-C85E-6760-3F80-AB212800B2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0" y="2090"/>
            <a:ext cx="320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17160" imgH="203040" progId="Equation.3">
                    <p:embed/>
                  </p:oleObj>
                </mc:Choice>
                <mc:Fallback>
                  <p:oleObj name="Equation" r:id="rId10" imgW="317160" imgH="203040" progId="Equation.3">
                    <p:embed/>
                    <p:pic>
                      <p:nvPicPr>
                        <p:cNvPr id="484374" name="Object 22">
                          <a:extLst>
                            <a:ext uri="{FF2B5EF4-FFF2-40B4-BE49-F238E27FC236}">
                              <a16:creationId xmlns:a16="http://schemas.microsoft.com/office/drawing/2014/main" id="{AA0B0D0C-EC1C-98BE-93A7-ACC10121D9A0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0" y="2090"/>
                          <a:ext cx="320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3" name="AutoShape 23">
              <a:extLst>
                <a:ext uri="{FF2B5EF4-FFF2-40B4-BE49-F238E27FC236}">
                  <a16:creationId xmlns:a16="http://schemas.microsoft.com/office/drawing/2014/main" id="{F4FF9694-DB64-999D-DDB3-EB6C5EBE09AD}"/>
                </a:ext>
              </a:extLst>
            </p:cNvPr>
            <p:cNvCxnSpPr>
              <a:cxnSpLocks noChangeShapeType="1"/>
              <a:stCxn id="30" idx="3"/>
              <a:endCxn id="18" idx="0"/>
            </p:cNvCxnSpPr>
            <p:nvPr/>
          </p:nvCxnSpPr>
          <p:spPr bwMode="auto">
            <a:xfrm flipV="1">
              <a:off x="1162" y="2418"/>
              <a:ext cx="327" cy="246"/>
            </a:xfrm>
            <a:prstGeom prst="bentConnector2">
              <a:avLst/>
            </a:prstGeom>
            <a:noFill/>
            <a:ln w="38100">
              <a:solidFill>
                <a:srgbClr val="3333CC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ACDD49D3-9B72-A498-448A-590E9A5B14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4" y="2053"/>
            <a:ext cx="32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17160" imgH="241200" progId="Equation.3">
                    <p:embed/>
                  </p:oleObj>
                </mc:Choice>
                <mc:Fallback>
                  <p:oleObj name="Equation" r:id="rId12" imgW="317160" imgH="241200" progId="Equation.3">
                    <p:embed/>
                    <p:pic>
                      <p:nvPicPr>
                        <p:cNvPr id="484376" name="Object 24">
                          <a:extLst>
                            <a:ext uri="{FF2B5EF4-FFF2-40B4-BE49-F238E27FC236}">
                              <a16:creationId xmlns:a16="http://schemas.microsoft.com/office/drawing/2014/main" id="{CEE1D383-6CB3-A25C-0BD9-27F6CA8DA66F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4" y="2053"/>
                          <a:ext cx="320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5">
              <a:extLst>
                <a:ext uri="{FF2B5EF4-FFF2-40B4-BE49-F238E27FC236}">
                  <a16:creationId xmlns:a16="http://schemas.microsoft.com/office/drawing/2014/main" id="{332F8FB8-BBE8-BC11-1359-24ACEC91DE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4" y="2472"/>
            <a:ext cx="319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17160" imgH="203040" progId="Equation.3">
                    <p:embed/>
                  </p:oleObj>
                </mc:Choice>
                <mc:Fallback>
                  <p:oleObj name="Equation" r:id="rId14" imgW="317160" imgH="203040" progId="Equation.3">
                    <p:embed/>
                    <p:pic>
                      <p:nvPicPr>
                        <p:cNvPr id="484377" name="Object 25">
                          <a:extLst>
                            <a:ext uri="{FF2B5EF4-FFF2-40B4-BE49-F238E27FC236}">
                              <a16:creationId xmlns:a16="http://schemas.microsoft.com/office/drawing/2014/main" id="{B7CC240E-D953-B9AE-CC32-F118A01680DF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2472"/>
                          <a:ext cx="319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26">
              <a:extLst>
                <a:ext uri="{FF2B5EF4-FFF2-40B4-BE49-F238E27FC236}">
                  <a16:creationId xmlns:a16="http://schemas.microsoft.com/office/drawing/2014/main" id="{47315322-72F2-036B-F47D-944307802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" y="2275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EC64688E-A7B2-0940-9448-FC6D2046F4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0" y="2297"/>
              <a:ext cx="47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4927ADC3-C29A-F4FF-0147-AEB89762C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4" y="2276"/>
              <a:ext cx="23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pt-BR" altLang="pt-BR" sz="2800">
                  <a:solidFill>
                    <a:schemeClr val="accent2"/>
                  </a:solidFill>
                  <a:latin typeface="Comic Sans MS" panose="030F0702030302020204" pitchFamily="66" charset="0"/>
                </a:rPr>
                <a:t>+</a:t>
              </a: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73A525F3-834A-0B4B-3920-6D39D7037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0" y="1758"/>
              <a:ext cx="867" cy="252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pt-BR" altLang="pt-BR" sz="2000"/>
                <a:t>Codificador</a:t>
              </a: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85E60F0A-C0BB-4D9C-47AC-0258AD9E3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" y="2480"/>
              <a:ext cx="666" cy="367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chemeClr val="accent2"/>
                  </a:solidFill>
                </a:rPr>
                <a:t>Preditor</a:t>
              </a:r>
            </a:p>
          </p:txBody>
        </p:sp>
        <p:cxnSp>
          <p:nvCxnSpPr>
            <p:cNvPr id="31" name="AutoShape 31">
              <a:extLst>
                <a:ext uri="{FF2B5EF4-FFF2-40B4-BE49-F238E27FC236}">
                  <a16:creationId xmlns:a16="http://schemas.microsoft.com/office/drawing/2014/main" id="{CE52F138-6747-D23C-6982-2395945B4E43}"/>
                </a:ext>
              </a:extLst>
            </p:cNvPr>
            <p:cNvCxnSpPr>
              <a:cxnSpLocks noChangeShapeType="1"/>
              <a:stCxn id="26" idx="4"/>
              <a:endCxn id="30" idx="1"/>
            </p:cNvCxnSpPr>
            <p:nvPr/>
          </p:nvCxnSpPr>
          <p:spPr bwMode="auto">
            <a:xfrm rot="16200000" flipH="1">
              <a:off x="197" y="2390"/>
              <a:ext cx="333" cy="216"/>
            </a:xfrm>
            <a:prstGeom prst="bentConnector2">
              <a:avLst/>
            </a:prstGeom>
            <a:noFill/>
            <a:ln w="38100">
              <a:solidFill>
                <a:srgbClr val="3333CC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64C2E0B3-04CF-308D-732B-06BF31027F92}"/>
              </a:ext>
            </a:extLst>
          </p:cNvPr>
          <p:cNvGrpSpPr>
            <a:grpSpLocks/>
          </p:cNvGrpSpPr>
          <p:nvPr/>
        </p:nvGrpSpPr>
        <p:grpSpPr bwMode="auto">
          <a:xfrm>
            <a:off x="2838450" y="866776"/>
            <a:ext cx="6561138" cy="2162175"/>
            <a:chOff x="816" y="1614"/>
            <a:chExt cx="4133" cy="1362"/>
          </a:xfrm>
        </p:grpSpPr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FB76B5C6-EF13-30CB-13F2-5CDADEE55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592"/>
              <a:ext cx="4133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41A97C9C-120D-85C4-131C-85F35EBB36E3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3363" y="2299"/>
              <a:ext cx="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35" name="Object 35">
              <a:extLst>
                <a:ext uri="{FF2B5EF4-FFF2-40B4-BE49-F238E27FC236}">
                  <a16:creationId xmlns:a16="http://schemas.microsoft.com/office/drawing/2014/main" id="{0AC4B516-42E6-4E89-4E78-AFE405C0DC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0" y="1911"/>
            <a:ext cx="45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07960" imgH="203040" progId="Equation.3">
                    <p:embed/>
                  </p:oleObj>
                </mc:Choice>
                <mc:Fallback>
                  <p:oleObj name="Equation" r:id="rId16" imgW="507960" imgH="203040" progId="Equation.3">
                    <p:embed/>
                    <p:pic>
                      <p:nvPicPr>
                        <p:cNvPr id="484387" name="Object 35">
                          <a:extLst>
                            <a:ext uri="{FF2B5EF4-FFF2-40B4-BE49-F238E27FC236}">
                              <a16:creationId xmlns:a16="http://schemas.microsoft.com/office/drawing/2014/main" id="{DA6D69F1-0E8A-0962-93E2-DE39506FD6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0" y="1911"/>
                          <a:ext cx="453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6">
              <a:extLst>
                <a:ext uri="{FF2B5EF4-FFF2-40B4-BE49-F238E27FC236}">
                  <a16:creationId xmlns:a16="http://schemas.microsoft.com/office/drawing/2014/main" id="{089FDEAD-32B0-2E5A-F562-C2707F951D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2" y="1614"/>
            <a:ext cx="428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82400" imgH="203040" progId="Equation.3">
                    <p:embed/>
                  </p:oleObj>
                </mc:Choice>
                <mc:Fallback>
                  <p:oleObj name="Equation" r:id="rId18" imgW="482400" imgH="203040" progId="Equation.3">
                    <p:embed/>
                    <p:pic>
                      <p:nvPicPr>
                        <p:cNvPr id="484388" name="Object 36">
                          <a:extLst>
                            <a:ext uri="{FF2B5EF4-FFF2-40B4-BE49-F238E27FC236}">
                              <a16:creationId xmlns:a16="http://schemas.microsoft.com/office/drawing/2014/main" id="{3D7CAC72-D636-B0DF-3205-CAF10E67D9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2" y="1614"/>
                          <a:ext cx="428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7">
              <a:extLst>
                <a:ext uri="{FF2B5EF4-FFF2-40B4-BE49-F238E27FC236}">
                  <a16:creationId xmlns:a16="http://schemas.microsoft.com/office/drawing/2014/main" id="{2B89D987-51CB-DAA7-49ED-072B58093B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23" y="1697"/>
            <a:ext cx="283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17160" imgH="203040" progId="Equation.3">
                    <p:embed/>
                  </p:oleObj>
                </mc:Choice>
                <mc:Fallback>
                  <p:oleObj name="Equation" r:id="rId20" imgW="317160" imgH="203040" progId="Equation.3">
                    <p:embed/>
                    <p:pic>
                      <p:nvPicPr>
                        <p:cNvPr id="484389" name="Object 37">
                          <a:extLst>
                            <a:ext uri="{FF2B5EF4-FFF2-40B4-BE49-F238E27FC236}">
                              <a16:creationId xmlns:a16="http://schemas.microsoft.com/office/drawing/2014/main" id="{400F6984-13C3-3CEF-F6AD-B527E61309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3" y="1697"/>
                          <a:ext cx="283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8">
              <a:extLst>
                <a:ext uri="{FF2B5EF4-FFF2-40B4-BE49-F238E27FC236}">
                  <a16:creationId xmlns:a16="http://schemas.microsoft.com/office/drawing/2014/main" id="{34F2B743-5F79-23D9-0455-37D209CD6B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8" y="2316"/>
            <a:ext cx="202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77480" imgH="228600" progId="Equation.3">
                    <p:embed/>
                  </p:oleObj>
                </mc:Choice>
                <mc:Fallback>
                  <p:oleObj name="Equation" r:id="rId22" imgW="177480" imgH="228600" progId="Equation.3">
                    <p:embed/>
                    <p:pic>
                      <p:nvPicPr>
                        <p:cNvPr id="484390" name="Object 38">
                          <a:extLst>
                            <a:ext uri="{FF2B5EF4-FFF2-40B4-BE49-F238E27FC236}">
                              <a16:creationId xmlns:a16="http://schemas.microsoft.com/office/drawing/2014/main" id="{6ECC03F2-505C-BAA0-E1A1-A29D3CB42D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418" y="2316"/>
                          <a:ext cx="202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F9D2FE3F-E295-EC27-15CB-1D0E1CC85B2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189" y="2442"/>
              <a:ext cx="1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EBB96E88-0E59-9A86-E912-D62B701FE95A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3703" y="2443"/>
              <a:ext cx="1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5E32B17C-E3B2-E5F6-A50D-B54EDA42AC8C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816" y="1722"/>
              <a:ext cx="4104" cy="1254"/>
            </a:xfrm>
            <a:custGeom>
              <a:avLst/>
              <a:gdLst>
                <a:gd name="T0" fmla="*/ 0 w 4104"/>
                <a:gd name="T1" fmla="*/ 630 h 1254"/>
                <a:gd name="T2" fmla="*/ 1080 w 4104"/>
                <a:gd name="T3" fmla="*/ 90 h 1254"/>
                <a:gd name="T4" fmla="*/ 2604 w 4104"/>
                <a:gd name="T5" fmla="*/ 1170 h 1254"/>
                <a:gd name="T6" fmla="*/ 3384 w 4104"/>
                <a:gd name="T7" fmla="*/ 594 h 1254"/>
                <a:gd name="T8" fmla="*/ 3744 w 4104"/>
                <a:gd name="T9" fmla="*/ 582 h 1254"/>
                <a:gd name="T10" fmla="*/ 4104 w 4104"/>
                <a:gd name="T11" fmla="*/ 282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04" h="1254">
                  <a:moveTo>
                    <a:pt x="0" y="630"/>
                  </a:moveTo>
                  <a:cubicBezTo>
                    <a:pt x="323" y="315"/>
                    <a:pt x="646" y="0"/>
                    <a:pt x="1080" y="90"/>
                  </a:cubicBezTo>
                  <a:cubicBezTo>
                    <a:pt x="1514" y="180"/>
                    <a:pt x="2220" y="1086"/>
                    <a:pt x="2604" y="1170"/>
                  </a:cubicBezTo>
                  <a:cubicBezTo>
                    <a:pt x="2988" y="1254"/>
                    <a:pt x="3194" y="692"/>
                    <a:pt x="3384" y="594"/>
                  </a:cubicBezTo>
                  <a:cubicBezTo>
                    <a:pt x="3574" y="496"/>
                    <a:pt x="3624" y="634"/>
                    <a:pt x="3744" y="582"/>
                  </a:cubicBezTo>
                  <a:cubicBezTo>
                    <a:pt x="3864" y="530"/>
                    <a:pt x="3984" y="406"/>
                    <a:pt x="4104" y="282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D4235F4C-0D08-DFF5-7FD7-6656DC21E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" y="2148"/>
              <a:ext cx="0" cy="4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CA5BF39F-F1DA-CBBD-77D2-BF6F1DE56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5" y="1909"/>
              <a:ext cx="0" cy="6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89E12573-4C20-F695-44A6-B3EC329F7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" y="1799"/>
              <a:ext cx="0" cy="79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B1A45E9F-26DA-1CFC-6135-D4CFF679F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5" y="1855"/>
              <a:ext cx="0" cy="7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928A68DF-2305-3B45-00AC-34D78F662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0" y="2075"/>
              <a:ext cx="0" cy="51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AAC1B568-DB9C-F6C1-B3A6-1635C001B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5" y="2366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191DEEFC-0CB8-B61E-7ACF-C3A5EA76C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30" y="2593"/>
              <a:ext cx="0" cy="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E7639CD1-564B-92F9-669D-A9CDC913D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5" y="2589"/>
              <a:ext cx="0" cy="2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2EC55B2E-F72A-3659-6768-C83F9FF7C4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0" y="2590"/>
              <a:ext cx="0" cy="2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A40F569B-D36F-A402-849C-2AEE2511F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2477"/>
              <a:ext cx="0" cy="11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BC565FF4-0B12-0CD3-B898-645F8D25A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0" y="2277"/>
              <a:ext cx="0" cy="31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62CA26B1-C917-AA19-010F-9BF16B113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" y="2212"/>
              <a:ext cx="0" cy="37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54" name="Object 54">
              <a:extLst>
                <a:ext uri="{FF2B5EF4-FFF2-40B4-BE49-F238E27FC236}">
                  <a16:creationId xmlns:a16="http://schemas.microsoft.com/office/drawing/2014/main" id="{2D343EAD-7535-3B2C-70D9-738114CF12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4" y="1720"/>
            <a:ext cx="440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495000" imgH="203040" progId="Equation.3">
                    <p:embed/>
                  </p:oleObj>
                </mc:Choice>
                <mc:Fallback>
                  <p:oleObj name="Equation" r:id="rId24" imgW="495000" imgH="203040" progId="Equation.3">
                    <p:embed/>
                    <p:pic>
                      <p:nvPicPr>
                        <p:cNvPr id="484406" name="Object 54">
                          <a:extLst>
                            <a:ext uri="{FF2B5EF4-FFF2-40B4-BE49-F238E27FC236}">
                              <a16:creationId xmlns:a16="http://schemas.microsoft.com/office/drawing/2014/main" id="{8B5C014C-E84D-C8AE-EC83-CBD5665FC1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4" y="1720"/>
                          <a:ext cx="440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Line 55">
              <a:extLst>
                <a:ext uri="{FF2B5EF4-FFF2-40B4-BE49-F238E27FC236}">
                  <a16:creationId xmlns:a16="http://schemas.microsoft.com/office/drawing/2014/main" id="{5851CA4D-39CB-85E3-2561-D532DC8D67C6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3700" y="2299"/>
              <a:ext cx="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56" name="Object 56">
              <a:extLst>
                <a:ext uri="{FF2B5EF4-FFF2-40B4-BE49-F238E27FC236}">
                  <a16:creationId xmlns:a16="http://schemas.microsoft.com/office/drawing/2014/main" id="{8211FBA7-03CD-A2D1-39C6-AE1B452A26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62" y="2629"/>
            <a:ext cx="11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01520" imgH="164880" progId="Equation.3">
                    <p:embed/>
                  </p:oleObj>
                </mc:Choice>
                <mc:Fallback>
                  <p:oleObj name="Equation" r:id="rId26" imgW="101520" imgH="164880" progId="Equation.3">
                    <p:embed/>
                    <p:pic>
                      <p:nvPicPr>
                        <p:cNvPr id="484408" name="Object 56">
                          <a:extLst>
                            <a:ext uri="{FF2B5EF4-FFF2-40B4-BE49-F238E27FC236}">
                              <a16:creationId xmlns:a16="http://schemas.microsoft.com/office/drawing/2014/main" id="{35CFBE45-8C5B-A310-2CB2-207B732091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4662" y="2629"/>
                          <a:ext cx="115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130587BC-1951-28B8-AB80-5C01CF98EC3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771" y="2728"/>
              <a:ext cx="1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58" name="Object 58">
              <a:extLst>
                <a:ext uri="{FF2B5EF4-FFF2-40B4-BE49-F238E27FC236}">
                  <a16:creationId xmlns:a16="http://schemas.microsoft.com/office/drawing/2014/main" id="{FD07E6FA-F308-4669-DCDD-0DDA03422A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6" y="2602"/>
            <a:ext cx="28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53800" imgH="228600" progId="Equation.3">
                    <p:embed/>
                  </p:oleObj>
                </mc:Choice>
                <mc:Fallback>
                  <p:oleObj name="Equation" r:id="rId28" imgW="253800" imgH="228600" progId="Equation.3">
                    <p:embed/>
                    <p:pic>
                      <p:nvPicPr>
                        <p:cNvPr id="484410" name="Object 58">
                          <a:extLst>
                            <a:ext uri="{FF2B5EF4-FFF2-40B4-BE49-F238E27FC236}">
                              <a16:creationId xmlns:a16="http://schemas.microsoft.com/office/drawing/2014/main" id="{C58F5FC5-6A68-57D2-FF6A-45399EF169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1876" y="2602"/>
                          <a:ext cx="28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" name="Object 59">
            <a:extLst>
              <a:ext uri="{FF2B5EF4-FFF2-40B4-BE49-F238E27FC236}">
                <a16:creationId xmlns:a16="http://schemas.microsoft.com/office/drawing/2014/main" id="{D6241DEC-3174-35A5-2379-BCC5BF36C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5576" y="5019676"/>
          <a:ext cx="22574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257120" imgH="241200" progId="Equation.3">
                  <p:embed/>
                </p:oleObj>
              </mc:Choice>
              <mc:Fallback>
                <p:oleObj name="Equation" r:id="rId30" imgW="1257120" imgH="241200" progId="Equation.3">
                  <p:embed/>
                  <p:pic>
                    <p:nvPicPr>
                      <p:cNvPr id="484411" name="Object 59">
                        <a:extLst>
                          <a:ext uri="{FF2B5EF4-FFF2-40B4-BE49-F238E27FC236}">
                            <a16:creationId xmlns:a16="http://schemas.microsoft.com/office/drawing/2014/main" id="{6F5F2FAA-FB1C-7430-45A4-E4DBEEAECD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75576" y="5019676"/>
                        <a:ext cx="22574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62">
            <a:extLst>
              <a:ext uri="{FF2B5EF4-FFF2-40B4-BE49-F238E27FC236}">
                <a16:creationId xmlns:a16="http://schemas.microsoft.com/office/drawing/2014/main" id="{512193D9-D5C2-05D5-885C-2656CDC280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5576" y="5588000"/>
          <a:ext cx="21431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93760" imgH="215640" progId="Equation.3">
                  <p:embed/>
                </p:oleObj>
              </mc:Choice>
              <mc:Fallback>
                <p:oleObj name="Equation" r:id="rId32" imgW="1193760" imgH="215640" progId="Equation.3">
                  <p:embed/>
                  <p:pic>
                    <p:nvPicPr>
                      <p:cNvPr id="484414" name="Object 62">
                        <a:extLst>
                          <a:ext uri="{FF2B5EF4-FFF2-40B4-BE49-F238E27FC236}">
                            <a16:creationId xmlns:a16="http://schemas.microsoft.com/office/drawing/2014/main" id="{2DB65C1B-6BE1-7C03-8152-AA2E0FDFEF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75576" y="5588000"/>
                        <a:ext cx="21431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AutoShape 6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5AC34C7-C62D-1401-632B-33F502D04D77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4286251" y="3314701"/>
            <a:ext cx="295275" cy="238125"/>
          </a:xfrm>
          <a:prstGeom prst="actionButtonForwardNex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2" name="AutoShape 6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CB398C-11CE-D8C0-C687-FAC0D712F28F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4102101" y="4540251"/>
            <a:ext cx="295275" cy="238125"/>
          </a:xfrm>
          <a:prstGeom prst="actionButtonForwardNex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3" name="Text Box 71">
            <a:extLst>
              <a:ext uri="{FF2B5EF4-FFF2-40B4-BE49-F238E27FC236}">
                <a16:creationId xmlns:a16="http://schemas.microsoft.com/office/drawing/2014/main" id="{13610C5F-3D68-FF51-49A4-47083A4FE51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727451" y="6019801"/>
            <a:ext cx="3088341" cy="4308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r>
              <a:rPr lang="pt-BR" altLang="pt-BR" sz="2200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pt-BR" altLang="pt-BR" sz="22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pt-BR" altLang="pt-BR" sz="2200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pt-BR" altLang="pt-BR" sz="2200">
                <a:solidFill>
                  <a:schemeClr val="accent2"/>
                </a:solidFill>
                <a:latin typeface="Times New Roman" panose="02020603050405020304" pitchFamily="18" charset="0"/>
              </a:rPr>
              <a:t>] :</a:t>
            </a:r>
            <a:r>
              <a:rPr lang="pt-BR" altLang="pt-BR" sz="22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200">
                <a:solidFill>
                  <a:schemeClr val="accent2"/>
                </a:solidFill>
              </a:rPr>
              <a:t>erro de reconstrução</a:t>
            </a:r>
          </a:p>
        </p:txBody>
      </p:sp>
      <p:graphicFrame>
        <p:nvGraphicFramePr>
          <p:cNvPr id="64" name="Object 72">
            <a:extLst>
              <a:ext uri="{FF2B5EF4-FFF2-40B4-BE49-F238E27FC236}">
                <a16:creationId xmlns:a16="http://schemas.microsoft.com/office/drawing/2014/main" id="{89D373BB-DA91-A3DA-1E98-2229D7613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5576" y="6111876"/>
          <a:ext cx="102711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571320" imgH="203040" progId="Equation.3">
                  <p:embed/>
                </p:oleObj>
              </mc:Choice>
              <mc:Fallback>
                <p:oleObj name="Equation" r:id="rId34" imgW="571320" imgH="203040" progId="Equation.3">
                  <p:embed/>
                  <p:pic>
                    <p:nvPicPr>
                      <p:cNvPr id="484424" name="Object 72">
                        <a:extLst>
                          <a:ext uri="{FF2B5EF4-FFF2-40B4-BE49-F238E27FC236}">
                            <a16:creationId xmlns:a16="http://schemas.microsoft.com/office/drawing/2014/main" id="{7E598D43-A517-A856-B36D-875ADD1738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75576" y="6111876"/>
                        <a:ext cx="102711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568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7AAD4-167B-82AC-F6FD-EEB213E8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Codificação PCM diferencial – DPCM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9B7332-D495-3E58-EB4E-FB479B6AA81F}"/>
              </a:ext>
            </a:extLst>
          </p:cNvPr>
          <p:cNvGrpSpPr>
            <a:grpSpLocks/>
          </p:cNvGrpSpPr>
          <p:nvPr/>
        </p:nvGrpSpPr>
        <p:grpSpPr bwMode="auto">
          <a:xfrm>
            <a:off x="6369252" y="1166271"/>
            <a:ext cx="4054475" cy="1704975"/>
            <a:chOff x="3074" y="1770"/>
            <a:chExt cx="2554" cy="1074"/>
          </a:xfrm>
        </p:grpSpPr>
        <p:sp>
          <p:nvSpPr>
            <p:cNvPr id="4" name="Line 3">
              <a:extLst>
                <a:ext uri="{FF2B5EF4-FFF2-40B4-BE49-F238E27FC236}">
                  <a16:creationId xmlns:a16="http://schemas.microsoft.com/office/drawing/2014/main" id="{079B9950-B34F-3FEA-2722-36B01FA0BF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0" y="2291"/>
              <a:ext cx="49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9C43302-D8DA-1AE2-211B-03CB31546B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4076" y="2180"/>
              <a:ext cx="218" cy="218"/>
            </a:xfrm>
            <a:prstGeom prst="ellipse">
              <a:avLst/>
            </a:prstGeom>
            <a:solidFill>
              <a:srgbClr val="FFFFCC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endParaRPr lang="pt-BR" altLang="pt-BR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2D2D41F-6ECD-E413-8575-A812FED74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3" y="2477"/>
              <a:ext cx="666" cy="367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rgbClr val="FF0000"/>
                  </a:solidFill>
                </a:rPr>
                <a:t>Preditor</a:t>
              </a:r>
            </a:p>
          </p:txBody>
        </p: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DDC8F6C6-4193-8382-9374-3E64ED68E9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5" y="2049"/>
            <a:ext cx="32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17160" imgH="241200" progId="Equation.3">
                    <p:embed/>
                  </p:oleObj>
                </mc:Choice>
                <mc:Fallback>
                  <p:oleObj name="Equation" r:id="rId2" imgW="317160" imgH="241200" progId="Equation.3">
                    <p:embed/>
                    <p:pic>
                      <p:nvPicPr>
                        <p:cNvPr id="485382" name="Object 6">
                          <a:extLst>
                            <a:ext uri="{FF2B5EF4-FFF2-40B4-BE49-F238E27FC236}">
                              <a16:creationId xmlns:a16="http://schemas.microsoft.com/office/drawing/2014/main" id="{12139FCA-D02A-9EB6-F6D8-BAD6452F5DEB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5" y="2049"/>
                          <a:ext cx="320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AutoShape 7">
              <a:extLst>
                <a:ext uri="{FF2B5EF4-FFF2-40B4-BE49-F238E27FC236}">
                  <a16:creationId xmlns:a16="http://schemas.microsoft.com/office/drawing/2014/main" id="{F9CE1BB6-43FD-5292-47D2-87C18F027662}"/>
                </a:ext>
              </a:extLst>
            </p:cNvPr>
            <p:cNvCxnSpPr>
              <a:cxnSpLocks noChangeShapeType="1"/>
              <a:stCxn id="5" idx="2"/>
              <a:endCxn id="6" idx="3"/>
            </p:cNvCxnSpPr>
            <p:nvPr/>
          </p:nvCxnSpPr>
          <p:spPr bwMode="auto">
            <a:xfrm>
              <a:off x="4306" y="2289"/>
              <a:ext cx="775" cy="372"/>
            </a:xfrm>
            <a:prstGeom prst="bentConnector3">
              <a:avLst>
                <a:gd name="adj1" fmla="val 136389"/>
              </a:avLst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AutoShape 8">
              <a:extLst>
                <a:ext uri="{FF2B5EF4-FFF2-40B4-BE49-F238E27FC236}">
                  <a16:creationId xmlns:a16="http://schemas.microsoft.com/office/drawing/2014/main" id="{521577D9-7A5A-EC47-16BA-8DD0A89B2B33}"/>
                </a:ext>
              </a:extLst>
            </p:cNvPr>
            <p:cNvCxnSpPr>
              <a:cxnSpLocks noChangeShapeType="1"/>
              <a:stCxn id="6" idx="1"/>
              <a:endCxn id="5" idx="0"/>
            </p:cNvCxnSpPr>
            <p:nvPr/>
          </p:nvCxnSpPr>
          <p:spPr bwMode="auto">
            <a:xfrm rot="10800000">
              <a:off x="4185" y="2410"/>
              <a:ext cx="206" cy="251"/>
            </a:xfrm>
            <a:prstGeom prst="bentConnector2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4DCF503A-65BB-0D4B-5DE9-4780DD4985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09" y="2058"/>
            <a:ext cx="32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17160" imgH="215640" progId="Equation.3">
                    <p:embed/>
                  </p:oleObj>
                </mc:Choice>
                <mc:Fallback>
                  <p:oleObj name="Equation" r:id="rId4" imgW="317160" imgH="215640" progId="Equation.3">
                    <p:embed/>
                    <p:pic>
                      <p:nvPicPr>
                        <p:cNvPr id="485385" name="Object 9">
                          <a:extLst>
                            <a:ext uri="{FF2B5EF4-FFF2-40B4-BE49-F238E27FC236}">
                              <a16:creationId xmlns:a16="http://schemas.microsoft.com/office/drawing/2014/main" id="{0069A7E7-B9B6-E081-DFB6-EA6B77835A04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9" y="2058"/>
                          <a:ext cx="320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67BFF2B4-D9FA-7408-44BF-5593C84493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6" y="2473"/>
            <a:ext cx="332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0120" imgH="203040" progId="Equation.3">
                    <p:embed/>
                  </p:oleObj>
                </mc:Choice>
                <mc:Fallback>
                  <p:oleObj name="Equation" r:id="rId6" imgW="330120" imgH="203040" progId="Equation.3">
                    <p:embed/>
                    <p:pic>
                      <p:nvPicPr>
                        <p:cNvPr id="485386" name="Object 10">
                          <a:extLst>
                            <a:ext uri="{FF2B5EF4-FFF2-40B4-BE49-F238E27FC236}">
                              <a16:creationId xmlns:a16="http://schemas.microsoft.com/office/drawing/2014/main" id="{F3F54522-BB33-5231-261A-8A65669EE14C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2473"/>
                          <a:ext cx="332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27B89159-BD25-9A8C-617E-94CAA26D17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96" y="2289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B8B1C397-AE69-5B08-A768-CA62A4D04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4" y="2294"/>
              <a:ext cx="492" cy="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140F5FB2-C3E3-E491-ABF6-7205AC7FF1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2" y="1770"/>
              <a:ext cx="1029" cy="252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pt-BR" altLang="pt-BR" sz="2000"/>
                <a:t>Decodificador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2615D06-11A2-FFB8-57EA-D99265AB938E}"/>
              </a:ext>
            </a:extLst>
          </p:cNvPr>
          <p:cNvGrpSpPr>
            <a:grpSpLocks/>
          </p:cNvGrpSpPr>
          <p:nvPr/>
        </p:nvGrpSpPr>
        <p:grpSpPr bwMode="auto">
          <a:xfrm>
            <a:off x="1641677" y="1147220"/>
            <a:ext cx="4627563" cy="1728788"/>
            <a:chOff x="96" y="1758"/>
            <a:chExt cx="2915" cy="1089"/>
          </a:xfrm>
        </p:grpSpPr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5A8C5314-7619-44B2-6720-4DFA811BE8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" y="2303"/>
              <a:ext cx="127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6E50FEE2-A888-9BAA-6EF7-8CDAEDCBC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2114"/>
              <a:ext cx="394" cy="367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chemeClr val="accent2"/>
                  </a:solidFill>
                </a:rPr>
                <a:t>Q[</a:t>
              </a:r>
              <a:r>
                <a:rPr lang="en-US" altLang="pt-BR" sz="2000">
                  <a:solidFill>
                    <a:schemeClr val="accent2"/>
                  </a:solidFill>
                </a:rPr>
                <a:t>·</a:t>
              </a:r>
              <a:r>
                <a:rPr lang="pt-BR" altLang="pt-BR" sz="2000" baseline="-25000">
                  <a:solidFill>
                    <a:schemeClr val="accent2"/>
                  </a:solidFill>
                </a:rPr>
                <a:t> </a:t>
              </a:r>
              <a:r>
                <a:rPr lang="pt-BR" altLang="pt-BR" sz="2000">
                  <a:solidFill>
                    <a:schemeClr val="accent2"/>
                  </a:solidFill>
                </a:rPr>
                <a:t>]</a:t>
              </a:r>
            </a:p>
          </p:txBody>
        </p:sp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BF84CF19-016A-C757-5F38-E9C1F2E2BF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1380" y="2188"/>
              <a:ext cx="218" cy="218"/>
            </a:xfrm>
            <a:prstGeom prst="ellipse">
              <a:avLst/>
            </a:prstGeom>
            <a:solidFill>
              <a:srgbClr val="CCFFFF"/>
            </a:solidFill>
            <a:ln w="381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endParaRPr lang="pt-BR" altLang="pt-BR" sz="200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5A529AF6-FF89-7245-4D35-B76DE7869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0" y="2364"/>
              <a:ext cx="23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pt-BR" altLang="pt-BR" sz="3200">
                  <a:solidFill>
                    <a:schemeClr val="accent2"/>
                  </a:solidFill>
                  <a:latin typeface="Comic Sans MS" panose="030F0702030302020204" pitchFamily="66" charset="0"/>
                </a:rPr>
                <a:t>-</a:t>
              </a:r>
            </a:p>
          </p:txBody>
        </p:sp>
        <p:graphicFrame>
          <p:nvGraphicFramePr>
            <p:cNvPr id="20" name="Object 20">
              <a:extLst>
                <a:ext uri="{FF2B5EF4-FFF2-40B4-BE49-F238E27FC236}">
                  <a16:creationId xmlns:a16="http://schemas.microsoft.com/office/drawing/2014/main" id="{58EEA62C-7152-116F-F02E-3BA0A9F091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" y="2096"/>
            <a:ext cx="320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160" imgH="203040" progId="Equation.3">
                    <p:embed/>
                  </p:oleObj>
                </mc:Choice>
                <mc:Fallback>
                  <p:oleObj name="Equation" r:id="rId8" imgW="317160" imgH="203040" progId="Equation.3">
                    <p:embed/>
                    <p:pic>
                      <p:nvPicPr>
                        <p:cNvPr id="485396" name="Object 20">
                          <a:extLst>
                            <a:ext uri="{FF2B5EF4-FFF2-40B4-BE49-F238E27FC236}">
                              <a16:creationId xmlns:a16="http://schemas.microsoft.com/office/drawing/2014/main" id="{5A1CD79F-AAE5-0B87-6B2F-4B14CF45CEB6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2096"/>
                          <a:ext cx="320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AutoShape 21">
              <a:extLst>
                <a:ext uri="{FF2B5EF4-FFF2-40B4-BE49-F238E27FC236}">
                  <a16:creationId xmlns:a16="http://schemas.microsoft.com/office/drawing/2014/main" id="{170524DF-5DE9-4DD5-619F-99018F5C3BB8}"/>
                </a:ext>
              </a:extLst>
            </p:cNvPr>
            <p:cNvCxnSpPr>
              <a:cxnSpLocks noChangeShapeType="1"/>
              <a:stCxn id="18" idx="2"/>
              <a:endCxn id="17" idx="1"/>
            </p:cNvCxnSpPr>
            <p:nvPr/>
          </p:nvCxnSpPr>
          <p:spPr bwMode="auto">
            <a:xfrm>
              <a:off x="1610" y="2297"/>
              <a:ext cx="518" cy="1"/>
            </a:xfrm>
            <a:prstGeom prst="straightConnector1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22" name="Object 22">
              <a:extLst>
                <a:ext uri="{FF2B5EF4-FFF2-40B4-BE49-F238E27FC236}">
                  <a16:creationId xmlns:a16="http://schemas.microsoft.com/office/drawing/2014/main" id="{E3A389DD-ED78-6769-5DCC-53DD0344D1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0" y="2090"/>
            <a:ext cx="320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17160" imgH="203040" progId="Equation.3">
                    <p:embed/>
                  </p:oleObj>
                </mc:Choice>
                <mc:Fallback>
                  <p:oleObj name="Equation" r:id="rId10" imgW="317160" imgH="203040" progId="Equation.3">
                    <p:embed/>
                    <p:pic>
                      <p:nvPicPr>
                        <p:cNvPr id="485398" name="Object 22">
                          <a:extLst>
                            <a:ext uri="{FF2B5EF4-FFF2-40B4-BE49-F238E27FC236}">
                              <a16:creationId xmlns:a16="http://schemas.microsoft.com/office/drawing/2014/main" id="{2E56EF56-7EB9-B1C0-75C2-7A4F19FCA07E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0" y="2090"/>
                          <a:ext cx="320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3" name="AutoShape 23">
              <a:extLst>
                <a:ext uri="{FF2B5EF4-FFF2-40B4-BE49-F238E27FC236}">
                  <a16:creationId xmlns:a16="http://schemas.microsoft.com/office/drawing/2014/main" id="{BE4EF830-2B3E-D865-1245-C9D39FE3D100}"/>
                </a:ext>
              </a:extLst>
            </p:cNvPr>
            <p:cNvCxnSpPr>
              <a:cxnSpLocks noChangeShapeType="1"/>
              <a:stCxn id="30" idx="3"/>
              <a:endCxn id="18" idx="0"/>
            </p:cNvCxnSpPr>
            <p:nvPr/>
          </p:nvCxnSpPr>
          <p:spPr bwMode="auto">
            <a:xfrm flipV="1">
              <a:off x="1162" y="2418"/>
              <a:ext cx="327" cy="246"/>
            </a:xfrm>
            <a:prstGeom prst="bentConnector2">
              <a:avLst/>
            </a:prstGeom>
            <a:noFill/>
            <a:ln w="38100">
              <a:solidFill>
                <a:srgbClr val="3333CC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1D457A9E-6AEE-620B-B1D3-DCEB60620E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4" y="2053"/>
            <a:ext cx="32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17160" imgH="241200" progId="Equation.3">
                    <p:embed/>
                  </p:oleObj>
                </mc:Choice>
                <mc:Fallback>
                  <p:oleObj name="Equation" r:id="rId12" imgW="317160" imgH="241200" progId="Equation.3">
                    <p:embed/>
                    <p:pic>
                      <p:nvPicPr>
                        <p:cNvPr id="485400" name="Object 24">
                          <a:extLst>
                            <a:ext uri="{FF2B5EF4-FFF2-40B4-BE49-F238E27FC236}">
                              <a16:creationId xmlns:a16="http://schemas.microsoft.com/office/drawing/2014/main" id="{70EC35C8-AC4D-D005-64CD-CA1322140596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4" y="2053"/>
                          <a:ext cx="320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5">
              <a:extLst>
                <a:ext uri="{FF2B5EF4-FFF2-40B4-BE49-F238E27FC236}">
                  <a16:creationId xmlns:a16="http://schemas.microsoft.com/office/drawing/2014/main" id="{1553E73C-D3FF-97A8-09B7-76006A85AC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4" y="2472"/>
            <a:ext cx="319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17160" imgH="203040" progId="Equation.3">
                    <p:embed/>
                  </p:oleObj>
                </mc:Choice>
                <mc:Fallback>
                  <p:oleObj name="Equation" r:id="rId14" imgW="317160" imgH="203040" progId="Equation.3">
                    <p:embed/>
                    <p:pic>
                      <p:nvPicPr>
                        <p:cNvPr id="485401" name="Object 25">
                          <a:extLst>
                            <a:ext uri="{FF2B5EF4-FFF2-40B4-BE49-F238E27FC236}">
                              <a16:creationId xmlns:a16="http://schemas.microsoft.com/office/drawing/2014/main" id="{07503937-80CE-48DE-12FD-C1440CDE805D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2472"/>
                          <a:ext cx="319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26">
              <a:extLst>
                <a:ext uri="{FF2B5EF4-FFF2-40B4-BE49-F238E27FC236}">
                  <a16:creationId xmlns:a16="http://schemas.microsoft.com/office/drawing/2014/main" id="{9A96517E-4B65-87FC-4AD8-713FB60ED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" y="2275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4E94F395-B6B5-AA33-8501-D5D7AC2632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0" y="2297"/>
              <a:ext cx="47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2E76DB75-ADB4-EB9E-3C62-158F7B81A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4" y="2276"/>
              <a:ext cx="23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pt-BR" altLang="pt-BR" sz="2800">
                  <a:solidFill>
                    <a:schemeClr val="accent2"/>
                  </a:solidFill>
                  <a:latin typeface="Comic Sans MS" panose="030F0702030302020204" pitchFamily="66" charset="0"/>
                </a:rPr>
                <a:t>+</a:t>
              </a: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6B308525-74F5-7C4A-2887-E5E3706FA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0" y="1758"/>
              <a:ext cx="867" cy="252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pt-BR" altLang="pt-BR" sz="2000"/>
                <a:t>Codificador</a:t>
              </a: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1DC5C345-D049-C926-B80B-01EEDFFE6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" y="2480"/>
              <a:ext cx="666" cy="367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chemeClr val="accent2"/>
                  </a:solidFill>
                </a:rPr>
                <a:t>Preditor</a:t>
              </a:r>
            </a:p>
          </p:txBody>
        </p:sp>
        <p:cxnSp>
          <p:nvCxnSpPr>
            <p:cNvPr id="31" name="AutoShape 31">
              <a:extLst>
                <a:ext uri="{FF2B5EF4-FFF2-40B4-BE49-F238E27FC236}">
                  <a16:creationId xmlns:a16="http://schemas.microsoft.com/office/drawing/2014/main" id="{AED6EC08-EBC8-4847-86C9-AE1C9EC4A039}"/>
                </a:ext>
              </a:extLst>
            </p:cNvPr>
            <p:cNvCxnSpPr>
              <a:cxnSpLocks noChangeShapeType="1"/>
              <a:stCxn id="26" idx="4"/>
              <a:endCxn id="30" idx="1"/>
            </p:cNvCxnSpPr>
            <p:nvPr/>
          </p:nvCxnSpPr>
          <p:spPr bwMode="auto">
            <a:xfrm rot="16200000" flipH="1">
              <a:off x="197" y="2390"/>
              <a:ext cx="333" cy="216"/>
            </a:xfrm>
            <a:prstGeom prst="bentConnector2">
              <a:avLst/>
            </a:prstGeom>
            <a:noFill/>
            <a:ln w="38100">
              <a:solidFill>
                <a:srgbClr val="3333CC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2" name="Object 61">
            <a:extLst>
              <a:ext uri="{FF2B5EF4-FFF2-40B4-BE49-F238E27FC236}">
                <a16:creationId xmlns:a16="http://schemas.microsoft.com/office/drawing/2014/main" id="{76730B6C-00B7-5414-7CE2-EB3B4488F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101654"/>
              </p:ext>
            </p:extLst>
          </p:nvPr>
        </p:nvGraphicFramePr>
        <p:xfrm>
          <a:off x="1871865" y="4500020"/>
          <a:ext cx="36480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1840" imgH="215640" progId="Equation.3">
                  <p:embed/>
                </p:oleObj>
              </mc:Choice>
              <mc:Fallback>
                <p:oleObj name="Equation" r:id="rId16" imgW="2031840" imgH="215640" progId="Equation.3">
                  <p:embed/>
                  <p:pic>
                    <p:nvPicPr>
                      <p:cNvPr id="485437" name="Object 61">
                        <a:extLst>
                          <a:ext uri="{FF2B5EF4-FFF2-40B4-BE49-F238E27FC236}">
                            <a16:creationId xmlns:a16="http://schemas.microsoft.com/office/drawing/2014/main" id="{A960E70C-49C4-C979-366F-5DBB7218A9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871865" y="4500020"/>
                        <a:ext cx="36480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2">
            <a:extLst>
              <a:ext uri="{FF2B5EF4-FFF2-40B4-BE49-F238E27FC236}">
                <a16:creationId xmlns:a16="http://schemas.microsoft.com/office/drawing/2014/main" id="{5C97615C-B4E0-5C7E-AC7B-E18A2BB9A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691384"/>
              </p:ext>
            </p:extLst>
          </p:nvPr>
        </p:nvGraphicFramePr>
        <p:xfrm>
          <a:off x="1871864" y="5085809"/>
          <a:ext cx="28956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12800" imgH="215640" progId="Equation.3">
                  <p:embed/>
                </p:oleObj>
              </mc:Choice>
              <mc:Fallback>
                <p:oleObj name="Equation" r:id="rId18" imgW="1612800" imgH="215640" progId="Equation.3">
                  <p:embed/>
                  <p:pic>
                    <p:nvPicPr>
                      <p:cNvPr id="485438" name="Object 62">
                        <a:extLst>
                          <a:ext uri="{FF2B5EF4-FFF2-40B4-BE49-F238E27FC236}">
                            <a16:creationId xmlns:a16="http://schemas.microsoft.com/office/drawing/2014/main" id="{883D1043-4AC0-FC63-F863-585C2D0987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871864" y="5085809"/>
                        <a:ext cx="28956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64">
            <a:extLst>
              <a:ext uri="{FF2B5EF4-FFF2-40B4-BE49-F238E27FC236}">
                <a16:creationId xmlns:a16="http://schemas.microsoft.com/office/drawing/2014/main" id="{A5945D18-3805-872D-6254-7CE206CAAD6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188526" y="5376321"/>
            <a:ext cx="2444750" cy="1190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8100000" algn="ctr" rotWithShape="0">
              <a:srgbClr val="66CCFF"/>
            </a:outerShdw>
          </a:effectLst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altLang="pt-BR" sz="2000">
                <a:solidFill>
                  <a:srgbClr val="0000CC"/>
                </a:solidFill>
              </a:rPr>
              <a:t>Esse componente do erro de reconstrução pode assumir valores muito grandes</a:t>
            </a:r>
          </a:p>
        </p:txBody>
      </p:sp>
      <p:sp>
        <p:nvSpPr>
          <p:cNvPr id="35" name="AutoShape 67">
            <a:extLst>
              <a:ext uri="{FF2B5EF4-FFF2-40B4-BE49-F238E27FC236}">
                <a16:creationId xmlns:a16="http://schemas.microsoft.com/office/drawing/2014/main" id="{9933A912-EA8E-349E-FDAB-194E11938FE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661226" y="4119020"/>
            <a:ext cx="127000" cy="584200"/>
          </a:xfrm>
          <a:prstGeom prst="curvedLeftArrow">
            <a:avLst>
              <a:gd name="adj1" fmla="val 92000"/>
              <a:gd name="adj2" fmla="val 184000"/>
              <a:gd name="adj3" fmla="val 33333"/>
            </a:avLst>
          </a:prstGeom>
          <a:solidFill>
            <a:schemeClr val="folHlink"/>
          </a:solidFill>
          <a:ln w="12700">
            <a:solidFill>
              <a:srgbClr val="4D4D4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36" name="Object 68">
            <a:extLst>
              <a:ext uri="{FF2B5EF4-FFF2-40B4-BE49-F238E27FC236}">
                <a16:creationId xmlns:a16="http://schemas.microsoft.com/office/drawing/2014/main" id="{5CE2BC73-818D-9413-3CD8-7DF2253825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405086"/>
              </p:ext>
            </p:extLst>
          </p:nvPr>
        </p:nvGraphicFramePr>
        <p:xfrm>
          <a:off x="5842202" y="4190458"/>
          <a:ext cx="2189163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18960" imgH="203040" progId="Equation.3">
                  <p:embed/>
                </p:oleObj>
              </mc:Choice>
              <mc:Fallback>
                <p:oleObj name="Equation" r:id="rId20" imgW="1218960" imgH="203040" progId="Equation.3">
                  <p:embed/>
                  <p:pic>
                    <p:nvPicPr>
                      <p:cNvPr id="485444" name="Object 68">
                        <a:extLst>
                          <a:ext uri="{FF2B5EF4-FFF2-40B4-BE49-F238E27FC236}">
                            <a16:creationId xmlns:a16="http://schemas.microsoft.com/office/drawing/2014/main" id="{F6BF5946-47C3-8DF6-1F82-32E6117CBC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842202" y="4190458"/>
                        <a:ext cx="2189163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AutoShape 69">
            <a:extLst>
              <a:ext uri="{FF2B5EF4-FFF2-40B4-BE49-F238E27FC236}">
                <a16:creationId xmlns:a16="http://schemas.microsoft.com/office/drawing/2014/main" id="{EAEF8984-499B-473B-9248-B64A78F445B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661226" y="3512595"/>
            <a:ext cx="127000" cy="584200"/>
          </a:xfrm>
          <a:prstGeom prst="curvedLeftArrow">
            <a:avLst>
              <a:gd name="adj1" fmla="val 92000"/>
              <a:gd name="adj2" fmla="val 184000"/>
              <a:gd name="adj3" fmla="val 33333"/>
            </a:avLst>
          </a:prstGeom>
          <a:solidFill>
            <a:schemeClr val="folHlink"/>
          </a:solidFill>
          <a:ln w="12700">
            <a:solidFill>
              <a:srgbClr val="4D4D4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38" name="Object 70">
            <a:extLst>
              <a:ext uri="{FF2B5EF4-FFF2-40B4-BE49-F238E27FC236}">
                <a16:creationId xmlns:a16="http://schemas.microsoft.com/office/drawing/2014/main" id="{29B3DE8B-8C8B-7643-21D9-9E2CFF7226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742763"/>
              </p:ext>
            </p:extLst>
          </p:nvPr>
        </p:nvGraphicFramePr>
        <p:xfrm>
          <a:off x="5842202" y="3549108"/>
          <a:ext cx="21447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93760" imgH="241200" progId="Equation.3">
                  <p:embed/>
                </p:oleObj>
              </mc:Choice>
              <mc:Fallback>
                <p:oleObj name="Equation" r:id="rId22" imgW="1193760" imgH="241200" progId="Equation.3">
                  <p:embed/>
                  <p:pic>
                    <p:nvPicPr>
                      <p:cNvPr id="485446" name="Object 70">
                        <a:extLst>
                          <a:ext uri="{FF2B5EF4-FFF2-40B4-BE49-F238E27FC236}">
                            <a16:creationId xmlns:a16="http://schemas.microsoft.com/office/drawing/2014/main" id="{F0C43841-FF46-B0BC-C3A3-E50DD4596D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842202" y="3549108"/>
                        <a:ext cx="214471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AutoShape 71">
            <a:extLst>
              <a:ext uri="{FF2B5EF4-FFF2-40B4-BE49-F238E27FC236}">
                <a16:creationId xmlns:a16="http://schemas.microsoft.com/office/drawing/2014/main" id="{60AB3F33-3FB5-21D7-819C-DDD1B773EFB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661226" y="4792120"/>
            <a:ext cx="127000" cy="584200"/>
          </a:xfrm>
          <a:prstGeom prst="curvedLeftArrow">
            <a:avLst>
              <a:gd name="adj1" fmla="val 92000"/>
              <a:gd name="adj2" fmla="val 184000"/>
              <a:gd name="adj3" fmla="val 33333"/>
            </a:avLst>
          </a:prstGeom>
          <a:solidFill>
            <a:schemeClr val="folHlink"/>
          </a:solidFill>
          <a:ln w="12700">
            <a:solidFill>
              <a:srgbClr val="4D4D4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40" name="Object 72">
            <a:extLst>
              <a:ext uri="{FF2B5EF4-FFF2-40B4-BE49-F238E27FC236}">
                <a16:creationId xmlns:a16="http://schemas.microsoft.com/office/drawing/2014/main" id="{243FF0E4-B36D-9E2F-ED30-324DF246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25718"/>
              </p:ext>
            </p:extLst>
          </p:nvPr>
        </p:nvGraphicFramePr>
        <p:xfrm>
          <a:off x="5842202" y="4863558"/>
          <a:ext cx="2189163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18960" imgH="203040" progId="Equation.3">
                  <p:embed/>
                </p:oleObj>
              </mc:Choice>
              <mc:Fallback>
                <p:oleObj name="Equation" r:id="rId24" imgW="1218960" imgH="203040" progId="Equation.3">
                  <p:embed/>
                  <p:pic>
                    <p:nvPicPr>
                      <p:cNvPr id="485448" name="Object 72">
                        <a:extLst>
                          <a:ext uri="{FF2B5EF4-FFF2-40B4-BE49-F238E27FC236}">
                            <a16:creationId xmlns:a16="http://schemas.microsoft.com/office/drawing/2014/main" id="{7D2BE721-291B-0829-742A-9289E8CB55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842202" y="4863558"/>
                        <a:ext cx="2189163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74">
            <a:extLst>
              <a:ext uri="{FF2B5EF4-FFF2-40B4-BE49-F238E27FC236}">
                <a16:creationId xmlns:a16="http://schemas.microsoft.com/office/drawing/2014/main" id="{EABA34B9-50D2-3890-F66D-DA50A5A0C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643467"/>
              </p:ext>
            </p:extLst>
          </p:nvPr>
        </p:nvGraphicFramePr>
        <p:xfrm>
          <a:off x="1871864" y="3915820"/>
          <a:ext cx="291941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25400" imgH="215640" progId="Equation.3">
                  <p:embed/>
                </p:oleObj>
              </mc:Choice>
              <mc:Fallback>
                <p:oleObj name="Equation" r:id="rId26" imgW="1625400" imgH="215640" progId="Equation.3">
                  <p:embed/>
                  <p:pic>
                    <p:nvPicPr>
                      <p:cNvPr id="485450" name="Object 74">
                        <a:extLst>
                          <a:ext uri="{FF2B5EF4-FFF2-40B4-BE49-F238E27FC236}">
                            <a16:creationId xmlns:a16="http://schemas.microsoft.com/office/drawing/2014/main" id="{C59AF89B-E1EB-DF78-0D57-86EED519CF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871864" y="3915820"/>
                        <a:ext cx="2919412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76">
            <a:extLst>
              <a:ext uri="{FF2B5EF4-FFF2-40B4-BE49-F238E27FC236}">
                <a16:creationId xmlns:a16="http://schemas.microsoft.com/office/drawing/2014/main" id="{F8CC5FA5-BFE7-4C53-DB52-A65349BECD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209608"/>
              </p:ext>
            </p:extLst>
          </p:nvPr>
        </p:nvGraphicFramePr>
        <p:xfrm>
          <a:off x="1871864" y="3283996"/>
          <a:ext cx="21907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18960" imgH="241200" progId="Equation.3">
                  <p:embed/>
                </p:oleObj>
              </mc:Choice>
              <mc:Fallback>
                <p:oleObj name="Equation" r:id="rId28" imgW="1218960" imgH="241200" progId="Equation.3">
                  <p:embed/>
                  <p:pic>
                    <p:nvPicPr>
                      <p:cNvPr id="485452" name="Object 76">
                        <a:extLst>
                          <a:ext uri="{FF2B5EF4-FFF2-40B4-BE49-F238E27FC236}">
                            <a16:creationId xmlns:a16="http://schemas.microsoft.com/office/drawing/2014/main" id="{512222AF-C60D-BE92-8007-C060B4EDA6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871864" y="3283996"/>
                        <a:ext cx="21907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77">
            <a:extLst>
              <a:ext uri="{FF2B5EF4-FFF2-40B4-BE49-F238E27FC236}">
                <a16:creationId xmlns:a16="http://schemas.microsoft.com/office/drawing/2014/main" id="{684C5700-86A1-9A24-7789-7875611C1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373406"/>
              </p:ext>
            </p:extLst>
          </p:nvPr>
        </p:nvGraphicFramePr>
        <p:xfrm>
          <a:off x="1871865" y="5682709"/>
          <a:ext cx="21431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93760" imgH="215640" progId="Equation.3">
                  <p:embed/>
                </p:oleObj>
              </mc:Choice>
              <mc:Fallback>
                <p:oleObj name="Equation" r:id="rId30" imgW="1193760" imgH="215640" progId="Equation.3">
                  <p:embed/>
                  <p:pic>
                    <p:nvPicPr>
                      <p:cNvPr id="485453" name="Object 77">
                        <a:extLst>
                          <a:ext uri="{FF2B5EF4-FFF2-40B4-BE49-F238E27FC236}">
                            <a16:creationId xmlns:a16="http://schemas.microsoft.com/office/drawing/2014/main" id="{0A5E3AFA-81C0-888B-4B80-3F963533B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871865" y="5682709"/>
                        <a:ext cx="2143125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AutoShape 78">
            <a:extLst>
              <a:ext uri="{FF2B5EF4-FFF2-40B4-BE49-F238E27FC236}">
                <a16:creationId xmlns:a16="http://schemas.microsoft.com/office/drawing/2014/main" id="{A0E84AD9-F1B8-8377-E59F-1D27C9169B6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673926" y="5427120"/>
            <a:ext cx="127000" cy="584200"/>
          </a:xfrm>
          <a:prstGeom prst="curvedLeftArrow">
            <a:avLst>
              <a:gd name="adj1" fmla="val 92000"/>
              <a:gd name="adj2" fmla="val 184000"/>
              <a:gd name="adj3" fmla="val 33333"/>
            </a:avLst>
          </a:prstGeom>
          <a:solidFill>
            <a:schemeClr val="folHlink"/>
          </a:solidFill>
          <a:ln w="12700">
            <a:solidFill>
              <a:srgbClr val="4D4D4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45" name="Object 79">
            <a:extLst>
              <a:ext uri="{FF2B5EF4-FFF2-40B4-BE49-F238E27FC236}">
                <a16:creationId xmlns:a16="http://schemas.microsoft.com/office/drawing/2014/main" id="{2C8E4AF4-B73D-BE5C-DBC6-C4AE4B7CB4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941687"/>
              </p:ext>
            </p:extLst>
          </p:nvPr>
        </p:nvGraphicFramePr>
        <p:xfrm>
          <a:off x="5899352" y="5498558"/>
          <a:ext cx="209867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68200" imgH="203040" progId="Equation.3">
                  <p:embed/>
                </p:oleObj>
              </mc:Choice>
              <mc:Fallback>
                <p:oleObj name="Equation" r:id="rId32" imgW="1168200" imgH="203040" progId="Equation.3">
                  <p:embed/>
                  <p:pic>
                    <p:nvPicPr>
                      <p:cNvPr id="485455" name="Object 79">
                        <a:extLst>
                          <a:ext uri="{FF2B5EF4-FFF2-40B4-BE49-F238E27FC236}">
                            <a16:creationId xmlns:a16="http://schemas.microsoft.com/office/drawing/2014/main" id="{E0DF5820-0EB3-AFFD-6880-577109B1A9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899352" y="5498558"/>
                        <a:ext cx="2098675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Freeform 80">
            <a:extLst>
              <a:ext uri="{FF2B5EF4-FFF2-40B4-BE49-F238E27FC236}">
                <a16:creationId xmlns:a16="http://schemas.microsoft.com/office/drawing/2014/main" id="{A672355B-EAE9-D6C4-2CE3-B862E424A3ED}"/>
              </a:ext>
            </a:extLst>
          </p:cNvPr>
          <p:cNvSpPr>
            <a:spLocks/>
          </p:cNvSpPr>
          <p:nvPr/>
        </p:nvSpPr>
        <p:spPr bwMode="blackWhite">
          <a:xfrm>
            <a:off x="7499551" y="5881145"/>
            <a:ext cx="36416" cy="369332"/>
          </a:xfrm>
          <a:custGeom>
            <a:avLst/>
            <a:gdLst>
              <a:gd name="T0" fmla="*/ 0 w 426"/>
              <a:gd name="T1" fmla="*/ 0 h 96"/>
              <a:gd name="T2" fmla="*/ 288 w 426"/>
              <a:gd name="T3" fmla="*/ 0 h 96"/>
              <a:gd name="T4" fmla="*/ 426 w 426"/>
              <a:gd name="T5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6" h="96">
                <a:moveTo>
                  <a:pt x="0" y="0"/>
                </a:moveTo>
                <a:lnTo>
                  <a:pt x="288" y="0"/>
                </a:lnTo>
                <a:lnTo>
                  <a:pt x="426" y="96"/>
                </a:lnTo>
              </a:path>
            </a:pathLst>
          </a:custGeom>
          <a:noFill/>
          <a:ln w="19050" cap="flat" cmpd="sng">
            <a:solidFill>
              <a:srgbClr val="66CCFF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endParaRPr lang="pt-BR"/>
          </a:p>
        </p:txBody>
      </p:sp>
      <p:graphicFrame>
        <p:nvGraphicFramePr>
          <p:cNvPr id="47" name="Object 81">
            <a:extLst>
              <a:ext uri="{FF2B5EF4-FFF2-40B4-BE49-F238E27FC236}">
                <a16:creationId xmlns:a16="http://schemas.microsoft.com/office/drawing/2014/main" id="{0A549983-D27E-8071-09CF-7373E4D225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921205"/>
              </p:ext>
            </p:extLst>
          </p:nvPr>
        </p:nvGraphicFramePr>
        <p:xfrm>
          <a:off x="8520314" y="3333208"/>
          <a:ext cx="193675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244520" imgH="1130040" progId="Equation.3">
                  <p:embed/>
                </p:oleObj>
              </mc:Choice>
              <mc:Fallback>
                <p:oleObj name="Equation" r:id="rId34" imgW="1244520" imgH="1130040" progId="Equation.3">
                  <p:embed/>
                  <p:pic>
                    <p:nvPicPr>
                      <p:cNvPr id="485457" name="Object 81">
                        <a:extLst>
                          <a:ext uri="{FF2B5EF4-FFF2-40B4-BE49-F238E27FC236}">
                            <a16:creationId xmlns:a16="http://schemas.microsoft.com/office/drawing/2014/main" id="{C9B93CBE-1EE2-85D8-BDFE-AAA093679B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8520314" y="3333208"/>
                        <a:ext cx="1936750" cy="1809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8100000" algn="ctr" rotWithShape="0">
                          <a:schemeClr val="accent1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Freeform 82">
            <a:extLst>
              <a:ext uri="{FF2B5EF4-FFF2-40B4-BE49-F238E27FC236}">
                <a16:creationId xmlns:a16="http://schemas.microsoft.com/office/drawing/2014/main" id="{015E43FC-8EC0-8D38-6213-976ECCF73332}"/>
              </a:ext>
            </a:extLst>
          </p:cNvPr>
          <p:cNvSpPr>
            <a:spLocks/>
          </p:cNvSpPr>
          <p:nvPr/>
        </p:nvSpPr>
        <p:spPr bwMode="blackWhite">
          <a:xfrm>
            <a:off x="5899351" y="4233320"/>
            <a:ext cx="36416" cy="369332"/>
          </a:xfrm>
          <a:custGeom>
            <a:avLst/>
            <a:gdLst>
              <a:gd name="T0" fmla="*/ 0 w 1644"/>
              <a:gd name="T1" fmla="*/ 192 h 192"/>
              <a:gd name="T2" fmla="*/ 1326 w 1644"/>
              <a:gd name="T3" fmla="*/ 192 h 192"/>
              <a:gd name="T4" fmla="*/ 1644 w 1644"/>
              <a:gd name="T5" fmla="*/ 0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44" h="192">
                <a:moveTo>
                  <a:pt x="0" y="192"/>
                </a:moveTo>
                <a:lnTo>
                  <a:pt x="1326" y="192"/>
                </a:lnTo>
                <a:lnTo>
                  <a:pt x="1644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76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2F206-32D2-E18F-FEB5-40DB1567A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 transversal usado como preditor linear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D8A436-474A-BF7B-D5F5-233866281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3806"/>
            <a:ext cx="3219899" cy="166710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0D79ECB-2BC7-FB4F-0BDF-4DFC54510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33806"/>
            <a:ext cx="4932662" cy="24258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C58582A-2A5E-CC79-9845-43C8BB83C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149" y="3857087"/>
            <a:ext cx="7249537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2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93AF3-86B5-CBCF-C02A-1C43228C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Efeito da predição na faixa dinâmica das amostras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0E3CD-8581-953E-24EF-6E631A2F1316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7" t="2480" r="8557" b="9921"/>
          <a:stretch>
            <a:fillRect/>
          </a:stretch>
        </p:blipFill>
        <p:spPr bwMode="blackWhite">
          <a:xfrm>
            <a:off x="2660651" y="1711325"/>
            <a:ext cx="6867525" cy="190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D7A0C95-56DA-B3E3-8CB2-18C0DBA9302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7" t="2480" r="8557" b="9921"/>
          <a:stretch>
            <a:fillRect/>
          </a:stretch>
        </p:blipFill>
        <p:spPr bwMode="blackWhite">
          <a:xfrm>
            <a:off x="2647951" y="4321176"/>
            <a:ext cx="6894513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98F48938-B78D-B535-FAD7-26F580173C5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126039" y="1428751"/>
            <a:ext cx="1938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>
              <a:spcBef>
                <a:spcPct val="0"/>
              </a:spcBef>
            </a:pPr>
            <a:r>
              <a:rPr lang="pt-BR" altLang="pt-BR" sz="2000"/>
              <a:t>Sinal original, </a:t>
            </a:r>
            <a:r>
              <a:rPr lang="pt-BR" altLang="pt-BR" sz="2000">
                <a:latin typeface="Times New Roman" panose="02020603050405020304" pitchFamily="18" charset="0"/>
              </a:rPr>
              <a:t> </a:t>
            </a:r>
            <a:r>
              <a:rPr lang="pt-BR" altLang="pt-BR" sz="2000" i="1">
                <a:latin typeface="Times New Roman" panose="02020603050405020304" pitchFamily="18" charset="0"/>
              </a:rPr>
              <a:t>x</a:t>
            </a:r>
            <a:r>
              <a:rPr lang="pt-BR" altLang="pt-BR" sz="2000">
                <a:latin typeface="Times New Roman" panose="02020603050405020304" pitchFamily="18" charset="0"/>
              </a:rPr>
              <a:t>[</a:t>
            </a:r>
            <a:r>
              <a:rPr lang="pt-BR" altLang="pt-BR" sz="2000" i="1">
                <a:latin typeface="Times New Roman" panose="02020603050405020304" pitchFamily="18" charset="0"/>
              </a:rPr>
              <a:t>k</a:t>
            </a:r>
            <a:r>
              <a:rPr lang="pt-BR" altLang="pt-BR" sz="2000"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4504E78C-E339-7F47-2FE3-18D28FAD99F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110039" y="4025901"/>
            <a:ext cx="3971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>
              <a:spcBef>
                <a:spcPct val="0"/>
              </a:spcBef>
            </a:pPr>
            <a:r>
              <a:rPr lang="pt-BR" altLang="pt-BR" sz="2000" dirty="0"/>
              <a:t>Erro de predição, </a:t>
            </a:r>
            <a:r>
              <a:rPr lang="pt-BR" altLang="pt-BR" sz="2000" i="1" dirty="0">
                <a:latin typeface="Times New Roman" panose="02020603050405020304" pitchFamily="18" charset="0"/>
              </a:rPr>
              <a:t>d</a:t>
            </a:r>
            <a:r>
              <a:rPr lang="pt-BR" altLang="pt-BR" sz="2000" dirty="0">
                <a:latin typeface="Times New Roman" panose="02020603050405020304" pitchFamily="18" charset="0"/>
              </a:rPr>
              <a:t>[</a:t>
            </a:r>
            <a:r>
              <a:rPr lang="pt-BR" altLang="pt-BR" sz="2000" i="1" dirty="0">
                <a:latin typeface="Times New Roman" panose="02020603050405020304" pitchFamily="18" charset="0"/>
              </a:rPr>
              <a:t>k</a:t>
            </a:r>
            <a:r>
              <a:rPr lang="pt-BR" altLang="pt-BR" sz="2000" dirty="0">
                <a:latin typeface="Times New Roman" panose="02020603050405020304" pitchFamily="18" charset="0"/>
              </a:rPr>
              <a:t>] =</a:t>
            </a:r>
            <a:r>
              <a:rPr lang="pt-BR" altLang="pt-BR" sz="2000" i="1" dirty="0">
                <a:latin typeface="Times New Roman" panose="02020603050405020304" pitchFamily="18" charset="0"/>
              </a:rPr>
              <a:t> x</a:t>
            </a:r>
            <a:r>
              <a:rPr lang="pt-BR" altLang="pt-BR" sz="2000" dirty="0">
                <a:latin typeface="Times New Roman" panose="02020603050405020304" pitchFamily="18" charset="0"/>
              </a:rPr>
              <a:t>[</a:t>
            </a:r>
            <a:r>
              <a:rPr lang="pt-BR" altLang="pt-BR" sz="2000" i="1" dirty="0">
                <a:latin typeface="Times New Roman" panose="02020603050405020304" pitchFamily="18" charset="0"/>
              </a:rPr>
              <a:t>k</a:t>
            </a:r>
            <a:r>
              <a:rPr lang="pt-BR" altLang="pt-BR" sz="2000" dirty="0">
                <a:latin typeface="Times New Roman" panose="02020603050405020304" pitchFamily="18" charset="0"/>
              </a:rPr>
              <a:t>] – </a:t>
            </a:r>
            <a:r>
              <a:rPr lang="pt-BR" altLang="pt-BR" sz="2000" i="1" dirty="0">
                <a:latin typeface="Times New Roman" panose="02020603050405020304" pitchFamily="18" charset="0"/>
              </a:rPr>
              <a:t>x</a:t>
            </a:r>
            <a:r>
              <a:rPr lang="pt-BR" altLang="pt-BR" sz="2000" dirty="0">
                <a:latin typeface="Times New Roman" panose="02020603050405020304" pitchFamily="18" charset="0"/>
              </a:rPr>
              <a:t>[</a:t>
            </a:r>
            <a:r>
              <a:rPr lang="pt-BR" altLang="pt-BR" sz="2000" i="1" dirty="0">
                <a:latin typeface="Times New Roman" panose="02020603050405020304" pitchFamily="18" charset="0"/>
              </a:rPr>
              <a:t>k</a:t>
            </a:r>
            <a:r>
              <a:rPr lang="pt-BR" altLang="pt-BR" sz="1200" i="1" baseline="-25000" dirty="0">
                <a:latin typeface="Times New Roman" panose="02020603050405020304" pitchFamily="18" charset="0"/>
              </a:rPr>
              <a:t> </a:t>
            </a:r>
            <a:r>
              <a:rPr lang="pt-BR" altLang="pt-BR" sz="2000" dirty="0">
                <a:latin typeface="Times New Roman" panose="02020603050405020304" pitchFamily="18" charset="0"/>
              </a:rPr>
              <a:t>–</a:t>
            </a:r>
            <a:r>
              <a:rPr lang="pt-BR" altLang="pt-BR" sz="1600" baseline="-25000" dirty="0">
                <a:latin typeface="Times New Roman" panose="02020603050405020304" pitchFamily="18" charset="0"/>
              </a:rPr>
              <a:t> </a:t>
            </a:r>
            <a:r>
              <a:rPr lang="pt-BR" altLang="pt-BR" sz="2000" dirty="0">
                <a:latin typeface="Times New Roman" panose="02020603050405020304" pitchFamily="18" charset="0"/>
              </a:rPr>
              <a:t>1] </a:t>
            </a:r>
          </a:p>
        </p:txBody>
      </p:sp>
    </p:spTree>
    <p:extLst>
      <p:ext uri="{BB962C8B-B14F-4D97-AF65-F5344CB8AC3E}">
        <p14:creationId xmlns:p14="http://schemas.microsoft.com/office/powerpoint/2010/main" val="304029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C21D6-711A-526E-FD9F-80E770F3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DPCM Prático</a:t>
            </a:r>
          </a:p>
        </p:txBody>
      </p:sp>
      <p:sp>
        <p:nvSpPr>
          <p:cNvPr id="3" name="Line 2">
            <a:extLst>
              <a:ext uri="{FF2B5EF4-FFF2-40B4-BE49-F238E27FC236}">
                <a16:creationId xmlns:a16="http://schemas.microsoft.com/office/drawing/2014/main" id="{5583CA8C-387B-9700-9D8E-BE4CD220A9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6564" y="1919813"/>
            <a:ext cx="2020887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9F8774-F78F-856F-62B1-6610F44A3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1" y="1619776"/>
            <a:ext cx="625475" cy="582613"/>
          </a:xfrm>
          <a:prstGeom prst="rect">
            <a:avLst/>
          </a:prstGeom>
          <a:solidFill>
            <a:srgbClr val="CCFFFF"/>
          </a:solidFill>
          <a:ln w="38100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r>
              <a:rPr lang="pt-BR" altLang="pt-BR" sz="2000">
                <a:solidFill>
                  <a:schemeClr val="accent2"/>
                </a:solidFill>
              </a:rPr>
              <a:t>Q[</a:t>
            </a:r>
            <a:r>
              <a:rPr lang="en-US" altLang="pt-BR" sz="2000">
                <a:solidFill>
                  <a:schemeClr val="accent2"/>
                </a:solidFill>
              </a:rPr>
              <a:t>·</a:t>
            </a:r>
            <a:r>
              <a:rPr lang="pt-BR" altLang="pt-BR" sz="2000" baseline="-25000">
                <a:solidFill>
                  <a:schemeClr val="accent2"/>
                </a:solidFill>
              </a:rPr>
              <a:t> </a:t>
            </a:r>
            <a:r>
              <a:rPr lang="pt-BR" altLang="pt-BR" sz="2000">
                <a:solidFill>
                  <a:schemeClr val="accent2"/>
                </a:solidFill>
              </a:rPr>
              <a:t>]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B52483A-A675-9B08-8D75-F233D71E4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0" y="2016651"/>
            <a:ext cx="3683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pt-BR" altLang="pt-BR" sz="3200">
                <a:solidFill>
                  <a:schemeClr val="accent2"/>
                </a:solidFill>
                <a:latin typeface="Comic Sans MS" panose="030F0702030302020204" pitchFamily="66" charset="0"/>
              </a:rPr>
              <a:t>-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8B6B2D7-E199-FB3F-04BA-4BB2E2F194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372811"/>
              </p:ext>
            </p:extLst>
          </p:nvPr>
        </p:nvGraphicFramePr>
        <p:xfrm>
          <a:off x="1676400" y="1591200"/>
          <a:ext cx="5080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203040" progId="Equation.3">
                  <p:embed/>
                </p:oleObj>
              </mc:Choice>
              <mc:Fallback>
                <p:oleObj name="Equation" r:id="rId2" imgW="317160" imgH="203040" progId="Equation.3">
                  <p:embed/>
                  <p:pic>
                    <p:nvPicPr>
                      <p:cNvPr id="420869" name="Object 5">
                        <a:extLst>
                          <a:ext uri="{FF2B5EF4-FFF2-40B4-BE49-F238E27FC236}">
                            <a16:creationId xmlns:a16="http://schemas.microsoft.com/office/drawing/2014/main" id="{184FFCB3-8C70-2B29-AEA2-8A95488F2F2E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91200"/>
                        <a:ext cx="508000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AutoShape 6">
            <a:extLst>
              <a:ext uri="{FF2B5EF4-FFF2-40B4-BE49-F238E27FC236}">
                <a16:creationId xmlns:a16="http://schemas.microsoft.com/office/drawing/2014/main" id="{C021666C-E4A5-34CA-00E8-E4104D774E2F}"/>
              </a:ext>
            </a:extLst>
          </p:cNvPr>
          <p:cNvCxnSpPr>
            <a:cxnSpLocks noChangeShapeType="1"/>
            <a:stCxn id="33" idx="2"/>
            <a:endCxn id="4" idx="1"/>
          </p:cNvCxnSpPr>
          <p:nvPr/>
        </p:nvCxnSpPr>
        <p:spPr bwMode="auto">
          <a:xfrm>
            <a:off x="4079876" y="1910289"/>
            <a:ext cx="822325" cy="1587"/>
          </a:xfrm>
          <a:prstGeom prst="straightConnector1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489BE61-FA84-CBD4-B56E-2CF7DA1647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697865"/>
              </p:ext>
            </p:extLst>
          </p:nvPr>
        </p:nvGraphicFramePr>
        <p:xfrm>
          <a:off x="4175125" y="1581675"/>
          <a:ext cx="5080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203040" progId="Equation.3">
                  <p:embed/>
                </p:oleObj>
              </mc:Choice>
              <mc:Fallback>
                <p:oleObj name="Equation" r:id="rId4" imgW="317160" imgH="203040" progId="Equation.3">
                  <p:embed/>
                  <p:pic>
                    <p:nvPicPr>
                      <p:cNvPr id="420871" name="Object 7">
                        <a:extLst>
                          <a:ext uri="{FF2B5EF4-FFF2-40B4-BE49-F238E27FC236}">
                            <a16:creationId xmlns:a16="http://schemas.microsoft.com/office/drawing/2014/main" id="{BE15329E-EEEA-1641-10AC-ADE9AC92AE95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1581675"/>
                        <a:ext cx="508000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E55E5D26-5FF4-7F3F-673E-F865B6F828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544851"/>
              </p:ext>
            </p:extLst>
          </p:nvPr>
        </p:nvGraphicFramePr>
        <p:xfrm>
          <a:off x="5673725" y="1522938"/>
          <a:ext cx="5080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160" imgH="241200" progId="Equation.3">
                  <p:embed/>
                </p:oleObj>
              </mc:Choice>
              <mc:Fallback>
                <p:oleObj name="Equation" r:id="rId6" imgW="317160" imgH="241200" progId="Equation.3">
                  <p:embed/>
                  <p:pic>
                    <p:nvPicPr>
                      <p:cNvPr id="420872" name="Object 8">
                        <a:extLst>
                          <a:ext uri="{FF2B5EF4-FFF2-40B4-BE49-F238E27FC236}">
                            <a16:creationId xmlns:a16="http://schemas.microsoft.com/office/drawing/2014/main" id="{BC24862C-6854-1C37-AF44-CDAA4DA20EFC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725" y="1522938"/>
                        <a:ext cx="5080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>
            <a:extLst>
              <a:ext uri="{FF2B5EF4-FFF2-40B4-BE49-F238E27FC236}">
                <a16:creationId xmlns:a16="http://schemas.microsoft.com/office/drawing/2014/main" id="{DB8F0CDC-332B-F1D5-D0F9-87B19A890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3600" y="1876950"/>
            <a:ext cx="3683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pt-BR" altLang="pt-BR" sz="2800">
                <a:solidFill>
                  <a:schemeClr val="accent2"/>
                </a:solidFill>
                <a:latin typeface="Comic Sans MS" panose="030F0702030302020204" pitchFamily="66" charset="0"/>
              </a:rPr>
              <a:t>+</a:t>
            </a: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DDDF4CF3-3725-9E13-E04A-0103E62251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07251" y="1900763"/>
            <a:ext cx="7905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7DE7E7-2837-D6A5-AB80-E1F91C791365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 flipV="1">
            <a:off x="7994651" y="1724551"/>
            <a:ext cx="346075" cy="346075"/>
          </a:xfrm>
          <a:prstGeom prst="ellipse">
            <a:avLst/>
          </a:prstGeom>
          <a:solidFill>
            <a:srgbClr val="FFFFCC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eaLnBrk="1" hangingPunct="1">
              <a:spcBef>
                <a:spcPct val="0"/>
              </a:spcBef>
            </a:pPr>
            <a:r>
              <a:rPr lang="pt-BR" altLang="pt-BR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</a:t>
            </a:r>
            <a:endParaRPr lang="pt-BR" altLang="pt-BR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BC76FD-4F41-5133-4C45-13338A3D6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3764" y="2196038"/>
            <a:ext cx="1057275" cy="582612"/>
          </a:xfrm>
          <a:prstGeom prst="rect">
            <a:avLst/>
          </a:prstGeom>
          <a:solidFill>
            <a:srgbClr val="FFFFCC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r>
              <a:rPr lang="pt-BR" altLang="pt-BR" sz="2000">
                <a:solidFill>
                  <a:srgbClr val="FF0000"/>
                </a:solidFill>
              </a:rPr>
              <a:t>Preditor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909DE791-029F-2E58-8223-4A43EDD6F7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385051"/>
              </p:ext>
            </p:extLst>
          </p:nvPr>
        </p:nvGraphicFramePr>
        <p:xfrm>
          <a:off x="7183438" y="1516588"/>
          <a:ext cx="5080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241200" progId="Equation.3">
                  <p:embed/>
                </p:oleObj>
              </mc:Choice>
              <mc:Fallback>
                <p:oleObj name="Equation" r:id="rId8" imgW="317160" imgH="241200" progId="Equation.3">
                  <p:embed/>
                  <p:pic>
                    <p:nvPicPr>
                      <p:cNvPr id="420877" name="Object 13">
                        <a:extLst>
                          <a:ext uri="{FF2B5EF4-FFF2-40B4-BE49-F238E27FC236}">
                            <a16:creationId xmlns:a16="http://schemas.microsoft.com/office/drawing/2014/main" id="{66893EF1-2140-F626-351A-98375E6658A5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3438" y="1516588"/>
                        <a:ext cx="5080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AutoShape 14">
            <a:extLst>
              <a:ext uri="{FF2B5EF4-FFF2-40B4-BE49-F238E27FC236}">
                <a16:creationId xmlns:a16="http://schemas.microsoft.com/office/drawing/2014/main" id="{5095E89E-10B6-B5CA-66AA-99A632240E49}"/>
              </a:ext>
            </a:extLst>
          </p:cNvPr>
          <p:cNvCxnSpPr>
            <a:cxnSpLocks noChangeShapeType="1"/>
            <a:stCxn id="12" idx="2"/>
            <a:endCxn id="13" idx="3"/>
          </p:cNvCxnSpPr>
          <p:nvPr/>
        </p:nvCxnSpPr>
        <p:spPr bwMode="auto">
          <a:xfrm>
            <a:off x="8359776" y="1897588"/>
            <a:ext cx="1230313" cy="590550"/>
          </a:xfrm>
          <a:prstGeom prst="bentConnector3">
            <a:avLst>
              <a:gd name="adj1" fmla="val 136389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15">
            <a:extLst>
              <a:ext uri="{FF2B5EF4-FFF2-40B4-BE49-F238E27FC236}">
                <a16:creationId xmlns:a16="http://schemas.microsoft.com/office/drawing/2014/main" id="{1261ACC9-A72E-01BB-60DE-0BA17B460D28}"/>
              </a:ext>
            </a:extLst>
          </p:cNvPr>
          <p:cNvCxnSpPr>
            <a:cxnSpLocks noChangeShapeType="1"/>
            <a:stCxn id="13" idx="1"/>
            <a:endCxn id="12" idx="0"/>
          </p:cNvCxnSpPr>
          <p:nvPr/>
        </p:nvCxnSpPr>
        <p:spPr bwMode="auto">
          <a:xfrm rot="10800000">
            <a:off x="8167689" y="2089676"/>
            <a:ext cx="327025" cy="398463"/>
          </a:xfrm>
          <a:prstGeom prst="bentConnector2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31B76FB-A4DA-4EDA-2A35-07EF1B125A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835214"/>
              </p:ext>
            </p:extLst>
          </p:nvPr>
        </p:nvGraphicFramePr>
        <p:xfrm>
          <a:off x="9793288" y="1530876"/>
          <a:ext cx="5080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7160" imgH="215640" progId="Equation.3">
                  <p:embed/>
                </p:oleObj>
              </mc:Choice>
              <mc:Fallback>
                <p:oleObj name="Equation" r:id="rId10" imgW="317160" imgH="215640" progId="Equation.3">
                  <p:embed/>
                  <p:pic>
                    <p:nvPicPr>
                      <p:cNvPr id="420880" name="Object 16">
                        <a:extLst>
                          <a:ext uri="{FF2B5EF4-FFF2-40B4-BE49-F238E27FC236}">
                            <a16:creationId xmlns:a16="http://schemas.microsoft.com/office/drawing/2014/main" id="{3D26A175-C453-2035-0209-BAB9C3918BCD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3288" y="1530876"/>
                        <a:ext cx="5080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3EAC9548-2772-F8B7-9F55-CACABF6CB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065123"/>
              </p:ext>
            </p:extLst>
          </p:nvPr>
        </p:nvGraphicFramePr>
        <p:xfrm>
          <a:off x="7581900" y="2189689"/>
          <a:ext cx="5270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120" imgH="203040" progId="Equation.3">
                  <p:embed/>
                </p:oleObj>
              </mc:Choice>
              <mc:Fallback>
                <p:oleObj name="Equation" r:id="rId12" imgW="330120" imgH="203040" progId="Equation.3">
                  <p:embed/>
                  <p:pic>
                    <p:nvPicPr>
                      <p:cNvPr id="420881" name="Object 17">
                        <a:extLst>
                          <a:ext uri="{FF2B5EF4-FFF2-40B4-BE49-F238E27FC236}">
                            <a16:creationId xmlns:a16="http://schemas.microsoft.com/office/drawing/2014/main" id="{89D79525-6344-5407-B780-5E327AFDD17F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1900" y="2189689"/>
                        <a:ext cx="5270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Line 18">
            <a:extLst>
              <a:ext uri="{FF2B5EF4-FFF2-40B4-BE49-F238E27FC236}">
                <a16:creationId xmlns:a16="http://schemas.microsoft.com/office/drawing/2014/main" id="{9D26EA93-E796-79E5-D783-AC8525978F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72650" y="1897588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AFD6A4CA-F2F0-2FEC-CB6B-66A5C4666A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3975" y="1905525"/>
            <a:ext cx="781050" cy="635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C5F2DF73-5DA3-815B-C592-DE0343914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997475"/>
            <a:ext cx="1752600" cy="36933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pt-BR" altLang="pt-BR"/>
              <a:t>Codificador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20727E69-C3B0-8142-84A8-99B7B59DF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550" y="997475"/>
            <a:ext cx="1943100" cy="36933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pt-BR" altLang="pt-BR"/>
              <a:t>Decodificador</a:t>
            </a:r>
          </a:p>
        </p:txBody>
      </p:sp>
      <p:grpSp>
        <p:nvGrpSpPr>
          <p:cNvPr id="23" name="Group 32">
            <a:extLst>
              <a:ext uri="{FF2B5EF4-FFF2-40B4-BE49-F238E27FC236}">
                <a16:creationId xmlns:a16="http://schemas.microsoft.com/office/drawing/2014/main" id="{6F41EF4F-4F64-22B3-D177-8FD0F5493D41}"/>
              </a:ext>
            </a:extLst>
          </p:cNvPr>
          <p:cNvGrpSpPr>
            <a:grpSpLocks/>
          </p:cNvGrpSpPr>
          <p:nvPr/>
        </p:nvGrpSpPr>
        <p:grpSpPr bwMode="auto">
          <a:xfrm>
            <a:off x="1885951" y="1875363"/>
            <a:ext cx="2627313" cy="908050"/>
            <a:chOff x="228" y="955"/>
            <a:chExt cx="1655" cy="572"/>
          </a:xfrm>
        </p:grpSpPr>
        <p:cxnSp>
          <p:nvCxnSpPr>
            <p:cNvPr id="24" name="AutoShape 33">
              <a:extLst>
                <a:ext uri="{FF2B5EF4-FFF2-40B4-BE49-F238E27FC236}">
                  <a16:creationId xmlns:a16="http://schemas.microsoft.com/office/drawing/2014/main" id="{D3C68583-8A4C-8747-F1C9-FDE24840E578}"/>
                </a:ext>
              </a:extLst>
            </p:cNvPr>
            <p:cNvCxnSpPr>
              <a:cxnSpLocks noChangeShapeType="1"/>
              <a:stCxn id="27" idx="3"/>
              <a:endCxn id="33" idx="0"/>
            </p:cNvCxnSpPr>
            <p:nvPr/>
          </p:nvCxnSpPr>
          <p:spPr bwMode="auto">
            <a:xfrm flipV="1">
              <a:off x="1150" y="1086"/>
              <a:ext cx="339" cy="258"/>
            </a:xfrm>
            <a:prstGeom prst="bentConnector2">
              <a:avLst/>
            </a:prstGeom>
            <a:noFill/>
            <a:ln w="38100">
              <a:solidFill>
                <a:srgbClr val="3333CC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25" name="Object 34">
              <a:extLst>
                <a:ext uri="{FF2B5EF4-FFF2-40B4-BE49-F238E27FC236}">
                  <a16:creationId xmlns:a16="http://schemas.microsoft.com/office/drawing/2014/main" id="{EA745CC1-EBDF-AFB1-31E2-01B5B7EECB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4" y="1152"/>
            <a:ext cx="319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17160" imgH="203040" progId="Equation.3">
                    <p:embed/>
                  </p:oleObj>
                </mc:Choice>
                <mc:Fallback>
                  <p:oleObj name="Equation" r:id="rId14" imgW="317160" imgH="203040" progId="Equation.3">
                    <p:embed/>
                    <p:pic>
                      <p:nvPicPr>
                        <p:cNvPr id="420898" name="Object 34">
                          <a:extLst>
                            <a:ext uri="{FF2B5EF4-FFF2-40B4-BE49-F238E27FC236}">
                              <a16:creationId xmlns:a16="http://schemas.microsoft.com/office/drawing/2014/main" id="{6119FF33-B9DA-FF27-7024-3E28FE48348B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1152"/>
                          <a:ext cx="319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35">
              <a:extLst>
                <a:ext uri="{FF2B5EF4-FFF2-40B4-BE49-F238E27FC236}">
                  <a16:creationId xmlns:a16="http://schemas.microsoft.com/office/drawing/2014/main" id="{5B8711F4-EEED-3A28-8AA0-FA2FA9D57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" y="955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7" name="Rectangle 36">
              <a:extLst>
                <a:ext uri="{FF2B5EF4-FFF2-40B4-BE49-F238E27FC236}">
                  <a16:creationId xmlns:a16="http://schemas.microsoft.com/office/drawing/2014/main" id="{93A99689-50D5-C4FA-EC5C-9690DF0C9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" y="1160"/>
              <a:ext cx="666" cy="367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</a:pPr>
              <a:r>
                <a:rPr lang="pt-BR" altLang="pt-BR" sz="2000">
                  <a:solidFill>
                    <a:schemeClr val="accent2"/>
                  </a:solidFill>
                </a:rPr>
                <a:t>Preditor</a:t>
              </a:r>
            </a:p>
          </p:txBody>
        </p:sp>
        <p:cxnSp>
          <p:nvCxnSpPr>
            <p:cNvPr id="28" name="AutoShape 37">
              <a:extLst>
                <a:ext uri="{FF2B5EF4-FFF2-40B4-BE49-F238E27FC236}">
                  <a16:creationId xmlns:a16="http://schemas.microsoft.com/office/drawing/2014/main" id="{7BC430A6-E49C-3F79-9118-0EDB54BEEF4F}"/>
                </a:ext>
              </a:extLst>
            </p:cNvPr>
            <p:cNvCxnSpPr>
              <a:cxnSpLocks noChangeShapeType="1"/>
              <a:stCxn id="26" idx="4"/>
              <a:endCxn id="27" idx="1"/>
            </p:cNvCxnSpPr>
            <p:nvPr/>
          </p:nvCxnSpPr>
          <p:spPr bwMode="auto">
            <a:xfrm rot="16200000" flipH="1">
              <a:off x="197" y="1070"/>
              <a:ext cx="333" cy="216"/>
            </a:xfrm>
            <a:prstGeom prst="bentConnector2">
              <a:avLst/>
            </a:prstGeom>
            <a:noFill/>
            <a:ln w="38100">
              <a:solidFill>
                <a:srgbClr val="3333CC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29" name="Object 38">
            <a:extLst>
              <a:ext uri="{FF2B5EF4-FFF2-40B4-BE49-F238E27FC236}">
                <a16:creationId xmlns:a16="http://schemas.microsoft.com/office/drawing/2014/main" id="{5BBB0AD7-9888-87BA-A927-40D3666C9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226236"/>
              </p:ext>
            </p:extLst>
          </p:nvPr>
        </p:nvGraphicFramePr>
        <p:xfrm>
          <a:off x="2886076" y="3821639"/>
          <a:ext cx="24177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46040" imgH="241200" progId="Equation.3">
                  <p:embed/>
                </p:oleObj>
              </mc:Choice>
              <mc:Fallback>
                <p:oleObj name="Equation" r:id="rId16" imgW="1346040" imgH="241200" progId="Equation.3">
                  <p:embed/>
                  <p:pic>
                    <p:nvPicPr>
                      <p:cNvPr id="420902" name="Object 38">
                        <a:extLst>
                          <a:ext uri="{FF2B5EF4-FFF2-40B4-BE49-F238E27FC236}">
                            <a16:creationId xmlns:a16="http://schemas.microsoft.com/office/drawing/2014/main" id="{90A7EF43-A3ED-748D-D766-1BC2E88361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86076" y="3821639"/>
                        <a:ext cx="241776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9">
            <a:extLst>
              <a:ext uri="{FF2B5EF4-FFF2-40B4-BE49-F238E27FC236}">
                <a16:creationId xmlns:a16="http://schemas.microsoft.com/office/drawing/2014/main" id="{6AC69C29-0D6B-A01F-7D07-F928BA2D1D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583309"/>
              </p:ext>
            </p:extLst>
          </p:nvPr>
        </p:nvGraphicFramePr>
        <p:xfrm>
          <a:off x="2886075" y="4824939"/>
          <a:ext cx="33289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54000" imgH="215640" progId="Equation.3">
                  <p:embed/>
                </p:oleObj>
              </mc:Choice>
              <mc:Fallback>
                <p:oleObj name="Equation" r:id="rId18" imgW="1854000" imgH="215640" progId="Equation.3">
                  <p:embed/>
                  <p:pic>
                    <p:nvPicPr>
                      <p:cNvPr id="420903" name="Object 39">
                        <a:extLst>
                          <a:ext uri="{FF2B5EF4-FFF2-40B4-BE49-F238E27FC236}">
                            <a16:creationId xmlns:a16="http://schemas.microsoft.com/office/drawing/2014/main" id="{EDB6ACF3-73A2-281C-86BC-E8DB87C877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86075" y="4824939"/>
                        <a:ext cx="3328988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0">
            <a:extLst>
              <a:ext uri="{FF2B5EF4-FFF2-40B4-BE49-F238E27FC236}">
                <a16:creationId xmlns:a16="http://schemas.microsoft.com/office/drawing/2014/main" id="{B49CB39C-219D-271E-671A-D63CFF6E6A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504803"/>
              </p:ext>
            </p:extLst>
          </p:nvPr>
        </p:nvGraphicFramePr>
        <p:xfrm>
          <a:off x="2886076" y="5782200"/>
          <a:ext cx="23923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33440" imgH="215640" progId="Equation.3">
                  <p:embed/>
                </p:oleObj>
              </mc:Choice>
              <mc:Fallback>
                <p:oleObj name="Equation" r:id="rId20" imgW="1333440" imgH="215640" progId="Equation.3">
                  <p:embed/>
                  <p:pic>
                    <p:nvPicPr>
                      <p:cNvPr id="420904" name="Object 40">
                        <a:extLst>
                          <a:ext uri="{FF2B5EF4-FFF2-40B4-BE49-F238E27FC236}">
                            <a16:creationId xmlns:a16="http://schemas.microsoft.com/office/drawing/2014/main" id="{F3A45E66-EC92-1B78-AC98-5B1D5D35C9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2886076" y="5782200"/>
                        <a:ext cx="2392363" cy="3889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49">
            <a:extLst>
              <a:ext uri="{FF2B5EF4-FFF2-40B4-BE49-F238E27FC236}">
                <a16:creationId xmlns:a16="http://schemas.microsoft.com/office/drawing/2014/main" id="{1ECC5E98-81EA-D195-6D2D-DF3FE5144B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56251" y="1910288"/>
            <a:ext cx="74771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" name="Oval 50">
            <a:extLst>
              <a:ext uri="{FF2B5EF4-FFF2-40B4-BE49-F238E27FC236}">
                <a16:creationId xmlns:a16="http://schemas.microsoft.com/office/drawing/2014/main" id="{AB953778-DB74-BAA6-255D-FF4B0BBED28C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 flipV="1">
            <a:off x="3714751" y="1737251"/>
            <a:ext cx="346075" cy="346075"/>
          </a:xfrm>
          <a:prstGeom prst="ellipse">
            <a:avLst/>
          </a:prstGeom>
          <a:solidFill>
            <a:srgbClr val="CCFFFF"/>
          </a:solidFill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eaLnBrk="1" hangingPunct="1">
              <a:spcBef>
                <a:spcPct val="0"/>
              </a:spcBef>
            </a:pPr>
            <a:r>
              <a:rPr lang="pt-BR" altLang="pt-BR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</a:t>
            </a:r>
            <a:endParaRPr lang="pt-BR" altLang="pt-BR" sz="20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4" name="Group 60">
            <a:extLst>
              <a:ext uri="{FF2B5EF4-FFF2-40B4-BE49-F238E27FC236}">
                <a16:creationId xmlns:a16="http://schemas.microsoft.com/office/drawing/2014/main" id="{8007351C-69B3-613C-5EE2-F1CB0C6C6317}"/>
              </a:ext>
            </a:extLst>
          </p:cNvPr>
          <p:cNvGrpSpPr>
            <a:grpSpLocks/>
          </p:cNvGrpSpPr>
          <p:nvPr/>
        </p:nvGrpSpPr>
        <p:grpSpPr bwMode="auto">
          <a:xfrm>
            <a:off x="3844925" y="1922989"/>
            <a:ext cx="2471738" cy="1366837"/>
            <a:chOff x="1462" y="985"/>
            <a:chExt cx="1557" cy="861"/>
          </a:xfrm>
        </p:grpSpPr>
        <p:grpSp>
          <p:nvGrpSpPr>
            <p:cNvPr id="35" name="Group 41">
              <a:extLst>
                <a:ext uri="{FF2B5EF4-FFF2-40B4-BE49-F238E27FC236}">
                  <a16:creationId xmlns:a16="http://schemas.microsoft.com/office/drawing/2014/main" id="{3E105FBF-5153-94F1-486B-6AD6D0682E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985"/>
              <a:ext cx="1530" cy="861"/>
              <a:chOff x="1489" y="985"/>
              <a:chExt cx="1530" cy="861"/>
            </a:xfrm>
          </p:grpSpPr>
          <p:sp>
            <p:nvSpPr>
              <p:cNvPr id="38" name="Rectangle 42">
                <a:extLst>
                  <a:ext uri="{FF2B5EF4-FFF2-40B4-BE49-F238E27FC236}">
                    <a16:creationId xmlns:a16="http://schemas.microsoft.com/office/drawing/2014/main" id="{8A913F91-CF6B-F0CD-D828-820695C6D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7" y="1479"/>
                <a:ext cx="666" cy="367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pt-BR" altLang="pt-BR" sz="2000">
                    <a:solidFill>
                      <a:srgbClr val="FF0000"/>
                    </a:solidFill>
                  </a:rPr>
                  <a:t>Preditor</a:t>
                </a:r>
              </a:p>
            </p:txBody>
          </p:sp>
          <p:cxnSp>
            <p:nvCxnSpPr>
              <p:cNvPr id="39" name="AutoShape 43">
                <a:extLst>
                  <a:ext uri="{FF2B5EF4-FFF2-40B4-BE49-F238E27FC236}">
                    <a16:creationId xmlns:a16="http://schemas.microsoft.com/office/drawing/2014/main" id="{4A1CCCFF-0CEE-13A8-04C9-D6075F96D213}"/>
                  </a:ext>
                </a:extLst>
              </p:cNvPr>
              <p:cNvCxnSpPr>
                <a:cxnSpLocks noChangeShapeType="1"/>
                <a:stCxn id="42" idx="0"/>
                <a:endCxn id="38" idx="3"/>
              </p:cNvCxnSpPr>
              <p:nvPr/>
            </p:nvCxnSpPr>
            <p:spPr bwMode="auto">
              <a:xfrm rot="5400000">
                <a:off x="2429" y="1416"/>
                <a:ext cx="203" cy="292"/>
              </a:xfrm>
              <a:prstGeom prst="bentConnector2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" name="AutoShape 44">
                <a:extLst>
                  <a:ext uri="{FF2B5EF4-FFF2-40B4-BE49-F238E27FC236}">
                    <a16:creationId xmlns:a16="http://schemas.microsoft.com/office/drawing/2014/main" id="{11D6D0E9-6BE2-BD6D-85B2-722DAF90DF46}"/>
                  </a:ext>
                </a:extLst>
              </p:cNvPr>
              <p:cNvCxnSpPr>
                <a:cxnSpLocks noChangeShapeType="1"/>
                <a:stCxn id="38" idx="1"/>
                <a:endCxn id="33" idx="0"/>
              </p:cNvCxnSpPr>
              <p:nvPr/>
            </p:nvCxnSpPr>
            <p:spPr bwMode="auto">
              <a:xfrm rot="10800000">
                <a:off x="1489" y="1093"/>
                <a:ext cx="218" cy="569"/>
              </a:xfrm>
              <a:prstGeom prst="bentConnector2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aphicFrame>
            <p:nvGraphicFramePr>
              <p:cNvPr id="41" name="Object 45">
                <a:extLst>
                  <a:ext uri="{FF2B5EF4-FFF2-40B4-BE49-F238E27FC236}">
                    <a16:creationId xmlns:a16="http://schemas.microsoft.com/office/drawing/2014/main" id="{B875D29F-053B-C29B-EF2A-0B8D3C552EE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40" y="1121"/>
              <a:ext cx="332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330120" imgH="203040" progId="Equation.3">
                      <p:embed/>
                    </p:oleObj>
                  </mc:Choice>
                  <mc:Fallback>
                    <p:oleObj name="Equation" r:id="rId22" imgW="330120" imgH="203040" progId="Equation.3">
                      <p:embed/>
                      <p:pic>
                        <p:nvPicPr>
                          <p:cNvPr id="420909" name="Object 45">
                            <a:extLst>
                              <a:ext uri="{FF2B5EF4-FFF2-40B4-BE49-F238E27FC236}">
                                <a16:creationId xmlns:a16="http://schemas.microsoft.com/office/drawing/2014/main" id="{F6253363-A377-E12E-76EC-874B5E1ECF13}"/>
                              </a:ext>
                            </a:extLst>
                          </p:cNvPr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40" y="1121"/>
                            <a:ext cx="332" cy="20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Oval 46">
                <a:extLst>
                  <a:ext uri="{FF2B5EF4-FFF2-40B4-BE49-F238E27FC236}">
                    <a16:creationId xmlns:a16="http://schemas.microsoft.com/office/drawing/2014/main" id="{2036B68E-F0B8-7C3F-C9A4-7C545C90F7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 flipV="1">
                <a:off x="2568" y="1230"/>
                <a:ext cx="218" cy="218"/>
              </a:xfrm>
              <a:prstGeom prst="ellipse">
                <a:avLst/>
              </a:prstGeom>
              <a:solidFill>
                <a:srgbClr val="FFFFCC"/>
              </a:solidFill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pt-BR" altLang="pt-BR" sz="20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</a:t>
                </a:r>
                <a:endPara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43" name="Object 47">
                <a:extLst>
                  <a:ext uri="{FF2B5EF4-FFF2-40B4-BE49-F238E27FC236}">
                    <a16:creationId xmlns:a16="http://schemas.microsoft.com/office/drawing/2014/main" id="{822EF314-39D7-1CFD-C0E4-07B87044CE4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99" y="1462"/>
              <a:ext cx="320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317160" imgH="215640" progId="Equation.3">
                      <p:embed/>
                    </p:oleObj>
                  </mc:Choice>
                  <mc:Fallback>
                    <p:oleObj name="Equation" r:id="rId10" imgW="317160" imgH="215640" progId="Equation.3">
                      <p:embed/>
                      <p:pic>
                        <p:nvPicPr>
                          <p:cNvPr id="420911" name="Object 47">
                            <a:extLst>
                              <a:ext uri="{FF2B5EF4-FFF2-40B4-BE49-F238E27FC236}">
                                <a16:creationId xmlns:a16="http://schemas.microsoft.com/office/drawing/2014/main" id="{AD71B647-C081-26FA-B407-6911510D6774}"/>
                              </a:ext>
                            </a:extLst>
                          </p:cNvPr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99" y="1462"/>
                            <a:ext cx="320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44" name="AutoShape 48">
                <a:extLst>
                  <a:ext uri="{FF2B5EF4-FFF2-40B4-BE49-F238E27FC236}">
                    <a16:creationId xmlns:a16="http://schemas.microsoft.com/office/drawing/2014/main" id="{E5EC030B-6A08-1656-18E7-1E9E280448B5}"/>
                  </a:ext>
                </a:extLst>
              </p:cNvPr>
              <p:cNvCxnSpPr>
                <a:cxnSpLocks noChangeShapeType="1"/>
                <a:stCxn id="32" idx="0"/>
                <a:endCxn id="42" idx="4"/>
              </p:cNvCxnSpPr>
              <p:nvPr/>
            </p:nvCxnSpPr>
            <p:spPr bwMode="auto">
              <a:xfrm rot="16200000" flipH="1">
                <a:off x="2486" y="1039"/>
                <a:ext cx="246" cy="137"/>
              </a:xfrm>
              <a:prstGeom prst="bentConnector5">
                <a:avLst>
                  <a:gd name="adj1" fmla="val -58606"/>
                  <a:gd name="adj2" fmla="val 448906"/>
                  <a:gd name="adj3" fmla="val 50000"/>
                </a:avLst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" name="Oval 51">
              <a:extLst>
                <a:ext uri="{FF2B5EF4-FFF2-40B4-BE49-F238E27FC236}">
                  <a16:creationId xmlns:a16="http://schemas.microsoft.com/office/drawing/2014/main" id="{AAE2F5BB-533C-CC75-D37A-899E4A985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1311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37" name="AutoShape 52">
              <a:extLst>
                <a:ext uri="{FF2B5EF4-FFF2-40B4-BE49-F238E27FC236}">
                  <a16:creationId xmlns:a16="http://schemas.microsoft.com/office/drawing/2014/main" id="{DDAD7631-89DD-0EC3-79D1-EB4D3D97E8BE}"/>
                </a:ext>
              </a:extLst>
            </p:cNvPr>
            <p:cNvCxnSpPr>
              <a:cxnSpLocks noChangeShapeType="1"/>
              <a:stCxn id="36" idx="6"/>
              <a:endCxn id="42" idx="6"/>
            </p:cNvCxnSpPr>
            <p:nvPr/>
          </p:nvCxnSpPr>
          <p:spPr bwMode="auto">
            <a:xfrm>
              <a:off x="1518" y="1339"/>
              <a:ext cx="1038" cy="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5" name="Freeform 53">
            <a:extLst>
              <a:ext uri="{FF2B5EF4-FFF2-40B4-BE49-F238E27FC236}">
                <a16:creationId xmlns:a16="http://schemas.microsoft.com/office/drawing/2014/main" id="{1E8D317B-BF97-C755-CB74-F1A4AF1A1F0B}"/>
              </a:ext>
            </a:extLst>
          </p:cNvPr>
          <p:cNvSpPr>
            <a:spLocks/>
          </p:cNvSpPr>
          <p:nvPr/>
        </p:nvSpPr>
        <p:spPr bwMode="gray">
          <a:xfrm>
            <a:off x="1828800" y="1959501"/>
            <a:ext cx="2019300" cy="898525"/>
          </a:xfrm>
          <a:custGeom>
            <a:avLst/>
            <a:gdLst>
              <a:gd name="T0" fmla="*/ 24 w 1272"/>
              <a:gd name="T1" fmla="*/ 0 h 566"/>
              <a:gd name="T2" fmla="*/ 1038 w 1272"/>
              <a:gd name="T3" fmla="*/ 120 h 566"/>
              <a:gd name="T4" fmla="*/ 1266 w 1272"/>
              <a:gd name="T5" fmla="*/ 308 h 566"/>
              <a:gd name="T6" fmla="*/ 1272 w 1272"/>
              <a:gd name="T7" fmla="*/ 566 h 566"/>
              <a:gd name="T8" fmla="*/ 0 w 1272"/>
              <a:gd name="T9" fmla="*/ 564 h 566"/>
              <a:gd name="T10" fmla="*/ 24 w 1272"/>
              <a:gd name="T11" fmla="*/ 0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72" h="566">
                <a:moveTo>
                  <a:pt x="24" y="0"/>
                </a:moveTo>
                <a:lnTo>
                  <a:pt x="1038" y="120"/>
                </a:lnTo>
                <a:lnTo>
                  <a:pt x="1266" y="308"/>
                </a:lnTo>
                <a:lnTo>
                  <a:pt x="1272" y="566"/>
                </a:lnTo>
                <a:lnTo>
                  <a:pt x="0" y="564"/>
                </a:lnTo>
                <a:lnTo>
                  <a:pt x="2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cap="flat" cmpd="sng">
                <a:solidFill>
                  <a:srgbClr val="FF0066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6" name="AutoShape 54">
            <a:extLst>
              <a:ext uri="{FF2B5EF4-FFF2-40B4-BE49-F238E27FC236}">
                <a16:creationId xmlns:a16="http://schemas.microsoft.com/office/drawing/2014/main" id="{36D29372-4A9B-3172-DC0D-8D05FAAE8D8C}"/>
              </a:ext>
            </a:extLst>
          </p:cNvPr>
          <p:cNvSpPr>
            <a:spLocks/>
          </p:cNvSpPr>
          <p:nvPr/>
        </p:nvSpPr>
        <p:spPr bwMode="blackWhite">
          <a:xfrm rot="5400000">
            <a:off x="4994275" y="4051825"/>
            <a:ext cx="88900" cy="482600"/>
          </a:xfrm>
          <a:prstGeom prst="rightBrace">
            <a:avLst>
              <a:gd name="adj1" fmla="val 45238"/>
              <a:gd name="adj2" fmla="val 50000"/>
            </a:avLst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7" name="AutoShape 55">
            <a:extLst>
              <a:ext uri="{FF2B5EF4-FFF2-40B4-BE49-F238E27FC236}">
                <a16:creationId xmlns:a16="http://schemas.microsoft.com/office/drawing/2014/main" id="{4A1DA2BA-5C36-C2A0-960A-3F5B0CA5F347}"/>
              </a:ext>
            </a:extLst>
          </p:cNvPr>
          <p:cNvSpPr>
            <a:spLocks/>
          </p:cNvSpPr>
          <p:nvPr/>
        </p:nvSpPr>
        <p:spPr bwMode="blackWhite">
          <a:xfrm rot="16200000" flipV="1">
            <a:off x="5432425" y="4083575"/>
            <a:ext cx="88900" cy="1435100"/>
          </a:xfrm>
          <a:prstGeom prst="rightBrace">
            <a:avLst>
              <a:gd name="adj1" fmla="val 134524"/>
              <a:gd name="adj2" fmla="val 50000"/>
            </a:avLst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8" name="Freeform 56">
            <a:extLst>
              <a:ext uri="{FF2B5EF4-FFF2-40B4-BE49-F238E27FC236}">
                <a16:creationId xmlns:a16="http://schemas.microsoft.com/office/drawing/2014/main" id="{CB7971BF-4DD6-A241-77EF-6A9D639A8C2F}"/>
              </a:ext>
            </a:extLst>
          </p:cNvPr>
          <p:cNvSpPr>
            <a:spLocks/>
          </p:cNvSpPr>
          <p:nvPr/>
        </p:nvSpPr>
        <p:spPr bwMode="blackWhite">
          <a:xfrm>
            <a:off x="5037139" y="4385201"/>
            <a:ext cx="473075" cy="333375"/>
          </a:xfrm>
          <a:custGeom>
            <a:avLst/>
            <a:gdLst>
              <a:gd name="T0" fmla="*/ 1 w 298"/>
              <a:gd name="T1" fmla="*/ 0 h 210"/>
              <a:gd name="T2" fmla="*/ 43 w 298"/>
              <a:gd name="T3" fmla="*/ 74 h 210"/>
              <a:gd name="T4" fmla="*/ 259 w 298"/>
              <a:gd name="T5" fmla="*/ 90 h 210"/>
              <a:gd name="T6" fmla="*/ 275 w 298"/>
              <a:gd name="T7" fmla="*/ 21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8" h="210">
                <a:moveTo>
                  <a:pt x="1" y="0"/>
                </a:moveTo>
                <a:cubicBezTo>
                  <a:pt x="8" y="12"/>
                  <a:pt x="0" y="59"/>
                  <a:pt x="43" y="74"/>
                </a:cubicBezTo>
                <a:cubicBezTo>
                  <a:pt x="86" y="89"/>
                  <a:pt x="220" y="67"/>
                  <a:pt x="259" y="90"/>
                </a:cubicBezTo>
                <a:cubicBezTo>
                  <a:pt x="298" y="113"/>
                  <a:pt x="272" y="185"/>
                  <a:pt x="275" y="210"/>
                </a:cubicBezTo>
              </a:path>
            </a:pathLst>
          </a:custGeom>
          <a:noFill/>
          <a:ln w="2857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9" name="AutoShape 57">
            <a:extLst>
              <a:ext uri="{FF2B5EF4-FFF2-40B4-BE49-F238E27FC236}">
                <a16:creationId xmlns:a16="http://schemas.microsoft.com/office/drawing/2014/main" id="{CD7FAFDE-6C8C-0AA4-FF50-474C38A23EC6}"/>
              </a:ext>
            </a:extLst>
          </p:cNvPr>
          <p:cNvSpPr>
            <a:spLocks/>
          </p:cNvSpPr>
          <p:nvPr/>
        </p:nvSpPr>
        <p:spPr bwMode="blackWhite">
          <a:xfrm rot="5400000">
            <a:off x="4505325" y="4515375"/>
            <a:ext cx="88900" cy="1435100"/>
          </a:xfrm>
          <a:prstGeom prst="rightBrace">
            <a:avLst>
              <a:gd name="adj1" fmla="val 134524"/>
              <a:gd name="adj2" fmla="val 50000"/>
            </a:avLst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0" name="Freeform 58">
            <a:extLst>
              <a:ext uri="{FF2B5EF4-FFF2-40B4-BE49-F238E27FC236}">
                <a16:creationId xmlns:a16="http://schemas.microsoft.com/office/drawing/2014/main" id="{C0BA7DB6-6E35-4BC2-1677-748E6722E6B1}"/>
              </a:ext>
            </a:extLst>
          </p:cNvPr>
          <p:cNvSpPr>
            <a:spLocks/>
          </p:cNvSpPr>
          <p:nvPr/>
        </p:nvSpPr>
        <p:spPr bwMode="blackWhite">
          <a:xfrm>
            <a:off x="4078289" y="5321826"/>
            <a:ext cx="490537" cy="384175"/>
          </a:xfrm>
          <a:custGeom>
            <a:avLst/>
            <a:gdLst>
              <a:gd name="T0" fmla="*/ 295 w 309"/>
              <a:gd name="T1" fmla="*/ 0 h 242"/>
              <a:gd name="T2" fmla="*/ 267 w 309"/>
              <a:gd name="T3" fmla="*/ 78 h 242"/>
              <a:gd name="T4" fmla="*/ 41 w 309"/>
              <a:gd name="T5" fmla="*/ 126 h 242"/>
              <a:gd name="T6" fmla="*/ 23 w 309"/>
              <a:gd name="T7" fmla="*/ 242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9" h="242">
                <a:moveTo>
                  <a:pt x="295" y="0"/>
                </a:moveTo>
                <a:cubicBezTo>
                  <a:pt x="290" y="13"/>
                  <a:pt x="309" y="57"/>
                  <a:pt x="267" y="78"/>
                </a:cubicBezTo>
                <a:cubicBezTo>
                  <a:pt x="225" y="99"/>
                  <a:pt x="82" y="99"/>
                  <a:pt x="41" y="126"/>
                </a:cubicBezTo>
                <a:cubicBezTo>
                  <a:pt x="0" y="153"/>
                  <a:pt x="27" y="218"/>
                  <a:pt x="23" y="242"/>
                </a:cubicBezTo>
              </a:path>
            </a:pathLst>
          </a:custGeom>
          <a:noFill/>
          <a:ln w="2857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1" name="AutoShape 59">
            <a:extLst>
              <a:ext uri="{FF2B5EF4-FFF2-40B4-BE49-F238E27FC236}">
                <a16:creationId xmlns:a16="http://schemas.microsoft.com/office/drawing/2014/main" id="{A952A827-0AD2-F000-1C63-31389143ECD7}"/>
              </a:ext>
            </a:extLst>
          </p:cNvPr>
          <p:cNvSpPr>
            <a:spLocks/>
          </p:cNvSpPr>
          <p:nvPr/>
        </p:nvSpPr>
        <p:spPr bwMode="blackWhite">
          <a:xfrm rot="16200000" flipV="1">
            <a:off x="4070350" y="5556775"/>
            <a:ext cx="88900" cy="482600"/>
          </a:xfrm>
          <a:prstGeom prst="rightBrace">
            <a:avLst>
              <a:gd name="adj1" fmla="val 45238"/>
              <a:gd name="adj2" fmla="val 50000"/>
            </a:avLst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52" name="Object 62">
            <a:extLst>
              <a:ext uri="{FF2B5EF4-FFF2-40B4-BE49-F238E27FC236}">
                <a16:creationId xmlns:a16="http://schemas.microsoft.com/office/drawing/2014/main" id="{B18C43BA-8E58-A6EA-6447-4783F7573E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030281"/>
              </p:ext>
            </p:extLst>
          </p:nvPr>
        </p:nvGraphicFramePr>
        <p:xfrm>
          <a:off x="6354764" y="5513914"/>
          <a:ext cx="40290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171520" imgH="406080" progId="Equation.3">
                  <p:embed/>
                </p:oleObj>
              </mc:Choice>
              <mc:Fallback>
                <p:oleObj name="Equation" r:id="rId23" imgW="2171520" imgH="406080" progId="Equation.3">
                  <p:embed/>
                  <p:pic>
                    <p:nvPicPr>
                      <p:cNvPr id="420926" name="Object 62">
                        <a:extLst>
                          <a:ext uri="{FF2B5EF4-FFF2-40B4-BE49-F238E27FC236}">
                            <a16:creationId xmlns:a16="http://schemas.microsoft.com/office/drawing/2014/main" id="{2DD2C4FF-DC42-66EE-3290-95E668CD70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57" t="-6915" r="-1657" b="-6915"/>
                      <a:stretch>
                        <a:fillRect/>
                      </a:stretch>
                    </p:blipFill>
                    <p:spPr bwMode="gray">
                      <a:xfrm>
                        <a:off x="6354764" y="5513914"/>
                        <a:ext cx="4029075" cy="8350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AutoShape 63">
            <a:extLst>
              <a:ext uri="{FF2B5EF4-FFF2-40B4-BE49-F238E27FC236}">
                <a16:creationId xmlns:a16="http://schemas.microsoft.com/office/drawing/2014/main" id="{E068C910-8873-21AC-6E3D-1B5A5A57EF5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715001" y="5788550"/>
            <a:ext cx="479425" cy="304800"/>
          </a:xfrm>
          <a:prstGeom prst="rightArrow">
            <a:avLst>
              <a:gd name="adj1" fmla="val 50000"/>
              <a:gd name="adj2" fmla="val 39323"/>
            </a:avLst>
          </a:prstGeom>
          <a:solidFill>
            <a:schemeClr val="folHlink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35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78053-83A2-A0CE-D6C9-E5B7E741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DPCM: transmissor e receptor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EFAB3B-C14C-5E2D-C278-D4DDD1837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988" y="1203445"/>
            <a:ext cx="7783011" cy="287695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61B2F28-FBE6-F8AF-54DB-2DEB321B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988" y="4269428"/>
            <a:ext cx="792590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5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56AE1-ED56-595E-22BF-4228D99A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DPCM – Ganho de Predição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334ABF1-03AD-6E9E-8E4E-65F46048DF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9776" y="2044700"/>
          <a:ext cx="274637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533160" progId="Equation.DSMT4">
                  <p:embed/>
                </p:oleObj>
              </mc:Choice>
              <mc:Fallback>
                <p:oleObj name="Equation" r:id="rId2" imgW="1371600" imgH="533160" progId="Equation.DSMT4">
                  <p:embed/>
                  <p:pic>
                    <p:nvPicPr>
                      <p:cNvPr id="486403" name="Object 3">
                        <a:extLst>
                          <a:ext uri="{FF2B5EF4-FFF2-40B4-BE49-F238E27FC236}">
                            <a16:creationId xmlns:a16="http://schemas.microsoft.com/office/drawing/2014/main" id="{8FEEF137-5452-8F8F-3EAC-80CFC0E043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6" y="2044700"/>
                        <a:ext cx="2746375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>
            <a:extLst>
              <a:ext uri="{FF2B5EF4-FFF2-40B4-BE49-F238E27FC236}">
                <a16:creationId xmlns:a16="http://schemas.microsoft.com/office/drawing/2014/main" id="{38545A48-B0AE-C454-E74F-4BC143AA9B64}"/>
              </a:ext>
            </a:extLst>
          </p:cNvPr>
          <p:cNvGrpSpPr>
            <a:grpSpLocks/>
          </p:cNvGrpSpPr>
          <p:nvPr/>
        </p:nvGrpSpPr>
        <p:grpSpPr bwMode="auto">
          <a:xfrm>
            <a:off x="5022851" y="1938338"/>
            <a:ext cx="1012825" cy="1225550"/>
            <a:chOff x="1796" y="1137"/>
            <a:chExt cx="638" cy="772"/>
          </a:xfrm>
        </p:grpSpPr>
        <p:cxnSp>
          <p:nvCxnSpPr>
            <p:cNvPr id="5" name="AutoShape 5">
              <a:extLst>
                <a:ext uri="{FF2B5EF4-FFF2-40B4-BE49-F238E27FC236}">
                  <a16:creationId xmlns:a16="http://schemas.microsoft.com/office/drawing/2014/main" id="{0312E56A-A33C-7456-D041-0E94ED8FCF25}"/>
                </a:ext>
              </a:extLst>
            </p:cNvPr>
            <p:cNvCxnSpPr>
              <a:cxnSpLocks noChangeShapeType="1"/>
            </p:cNvCxnSpPr>
            <p:nvPr/>
          </p:nvCxnSpPr>
          <p:spPr bwMode="blackWhite">
            <a:xfrm flipV="1">
              <a:off x="1796" y="1137"/>
              <a:ext cx="638" cy="488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rgbClr val="4D4D4D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AutoShape 6">
              <a:extLst>
                <a:ext uri="{FF2B5EF4-FFF2-40B4-BE49-F238E27FC236}">
                  <a16:creationId xmlns:a16="http://schemas.microsoft.com/office/drawing/2014/main" id="{63360252-06E1-91DD-F87B-1B545908C405}"/>
                </a:ext>
              </a:extLst>
            </p:cNvPr>
            <p:cNvCxnSpPr>
              <a:cxnSpLocks noChangeShapeType="1"/>
            </p:cNvCxnSpPr>
            <p:nvPr/>
          </p:nvCxnSpPr>
          <p:spPr bwMode="blackWhite">
            <a:xfrm>
              <a:off x="1796" y="1625"/>
              <a:ext cx="638" cy="284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rgbClr val="4D4D4D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6B686CE6-80BD-F187-738E-807BBA8A7B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8826" y="3586164"/>
          <a:ext cx="282257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400" imgH="914400" progId="Equation.DSMT4">
                  <p:embed/>
                </p:oleObj>
              </mc:Choice>
              <mc:Fallback>
                <p:oleObj name="Equation" r:id="rId4" imgW="1409400" imgH="914400" progId="Equation.DSMT4">
                  <p:embed/>
                  <p:pic>
                    <p:nvPicPr>
                      <p:cNvPr id="486407" name="Object 7">
                        <a:extLst>
                          <a:ext uri="{FF2B5EF4-FFF2-40B4-BE49-F238E27FC236}">
                            <a16:creationId xmlns:a16="http://schemas.microsoft.com/office/drawing/2014/main" id="{18496688-CDEE-6A1B-712D-75D86C3E6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6" y="3586164"/>
                        <a:ext cx="2822575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8">
            <a:extLst>
              <a:ext uri="{FF2B5EF4-FFF2-40B4-BE49-F238E27FC236}">
                <a16:creationId xmlns:a16="http://schemas.microsoft.com/office/drawing/2014/main" id="{DCBC1A1C-2F6A-07FE-FF8D-B861174BEBA4}"/>
              </a:ext>
            </a:extLst>
          </p:cNvPr>
          <p:cNvSpPr>
            <a:spLocks/>
          </p:cNvSpPr>
          <p:nvPr/>
        </p:nvSpPr>
        <p:spPr bwMode="blackWhite">
          <a:xfrm>
            <a:off x="4953000" y="4254579"/>
            <a:ext cx="285750" cy="430054"/>
          </a:xfrm>
          <a:prstGeom prst="rightBrace">
            <a:avLst>
              <a:gd name="adj1" fmla="val 53750"/>
              <a:gd name="adj2" fmla="val 50000"/>
            </a:avLst>
          </a:prstGeom>
          <a:noFill/>
          <a:ln w="57150">
            <a:solidFill>
              <a:srgbClr val="4D4D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 anchor="ctr">
            <a:spAutoFit/>
          </a:bodyPr>
          <a:lstStyle/>
          <a:p>
            <a:endParaRPr lang="pt-BR"/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CB75B3A7-A96A-487A-D0EF-78CDCD3CA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4376" y="5472114"/>
          <a:ext cx="31019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9080" imgH="482400" progId="Equation.DSMT4">
                  <p:embed/>
                </p:oleObj>
              </mc:Choice>
              <mc:Fallback>
                <p:oleObj name="Equation" r:id="rId6" imgW="1549080" imgH="482400" progId="Equation.DSMT4">
                  <p:embed/>
                  <p:pic>
                    <p:nvPicPr>
                      <p:cNvPr id="486409" name="Object 9">
                        <a:extLst>
                          <a:ext uri="{FF2B5EF4-FFF2-40B4-BE49-F238E27FC236}">
                            <a16:creationId xmlns:a16="http://schemas.microsoft.com/office/drawing/2014/main" id="{822869F9-FBBE-8BC4-B4FA-9EC270044C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6" y="5472114"/>
                        <a:ext cx="3101975" cy="9667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10">
            <a:extLst>
              <a:ext uri="{FF2B5EF4-FFF2-40B4-BE49-F238E27FC236}">
                <a16:creationId xmlns:a16="http://schemas.microsoft.com/office/drawing/2014/main" id="{130D4FEA-2671-21DD-7538-7DD4627417E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391150" y="4101983"/>
            <a:ext cx="123894" cy="733663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folHlink"/>
          </a:solidFill>
          <a:ln w="12700" algn="ctr">
            <a:solidFill>
              <a:srgbClr val="4D4D4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>
            <a:spAutoFit/>
          </a:bodyPr>
          <a:lstStyle/>
          <a:p>
            <a:endParaRPr lang="pt-BR"/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BE26EFDB-E1E0-32EF-10FB-620B79A3A3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3300" y="1447800"/>
          <a:ext cx="391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55520" imgH="419040" progId="Equation.3">
                  <p:embed/>
                </p:oleObj>
              </mc:Choice>
              <mc:Fallback>
                <p:oleObj name="Equation" r:id="rId8" imgW="1955520" imgH="419040" progId="Equation.3">
                  <p:embed/>
                  <p:pic>
                    <p:nvPicPr>
                      <p:cNvPr id="486411" name="Object 11">
                        <a:extLst>
                          <a:ext uri="{FF2B5EF4-FFF2-40B4-BE49-F238E27FC236}">
                            <a16:creationId xmlns:a16="http://schemas.microsoft.com/office/drawing/2014/main" id="{6288A526-C8DC-4E26-1A32-EE552D0BE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1447800"/>
                        <a:ext cx="3911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6D936B16-3850-2B14-2FB7-7BE8560AB5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692400"/>
          <a:ext cx="416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82600" imgH="419040" progId="Equation.3">
                  <p:embed/>
                </p:oleObj>
              </mc:Choice>
              <mc:Fallback>
                <p:oleObj name="Equation" r:id="rId10" imgW="2082600" imgH="419040" progId="Equation.3">
                  <p:embed/>
                  <p:pic>
                    <p:nvPicPr>
                      <p:cNvPr id="486412" name="Object 12">
                        <a:extLst>
                          <a:ext uri="{FF2B5EF4-FFF2-40B4-BE49-F238E27FC236}">
                            <a16:creationId xmlns:a16="http://schemas.microsoft.com/office/drawing/2014/main" id="{DA36E87F-F251-6630-0AE1-C1E304958F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692400"/>
                        <a:ext cx="4165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9CA07C21-C9D0-5247-8FDC-FD2407D6D4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4550" y="3987800"/>
          <a:ext cx="4216400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08160" imgH="901440" progId="Equation.3">
                  <p:embed/>
                </p:oleObj>
              </mc:Choice>
              <mc:Fallback>
                <p:oleObj name="Equation" r:id="rId12" imgW="2108160" imgH="901440" progId="Equation.3">
                  <p:embed/>
                  <p:pic>
                    <p:nvPicPr>
                      <p:cNvPr id="486413" name="Object 13">
                        <a:extLst>
                          <a:ext uri="{FF2B5EF4-FFF2-40B4-BE49-F238E27FC236}">
                            <a16:creationId xmlns:a16="http://schemas.microsoft.com/office/drawing/2014/main" id="{C4608F5B-2979-5168-845C-3DADE67FB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50" y="3987800"/>
                        <a:ext cx="4216400" cy="180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847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13A9F-BFB3-815A-553A-DD67023F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Ganho de Predição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25F07927-55C1-69F1-818A-6D038BC71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9043"/>
              </p:ext>
            </p:extLst>
          </p:nvPr>
        </p:nvGraphicFramePr>
        <p:xfrm>
          <a:off x="2649537" y="1083289"/>
          <a:ext cx="675957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59120" imgH="469800" progId="Equation.DSMT4">
                  <p:embed/>
                </p:oleObj>
              </mc:Choice>
              <mc:Fallback>
                <p:oleObj name="Equation" r:id="rId2" imgW="3759120" imgH="469800" progId="Equation.DSMT4">
                  <p:embed/>
                  <p:pic>
                    <p:nvPicPr>
                      <p:cNvPr id="336900" name="Object 4">
                        <a:extLst>
                          <a:ext uri="{FF2B5EF4-FFF2-40B4-BE49-F238E27FC236}">
                            <a16:creationId xmlns:a16="http://schemas.microsoft.com/office/drawing/2014/main" id="{1E253B13-E356-196B-A5BE-38AF5B4101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7" y="1083289"/>
                        <a:ext cx="6759575" cy="84296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>
            <a:extLst>
              <a:ext uri="{FF2B5EF4-FFF2-40B4-BE49-F238E27FC236}">
                <a16:creationId xmlns:a16="http://schemas.microsoft.com/office/drawing/2014/main" id="{81925A59-1C33-00E0-5900-CE92CD0B8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2095501"/>
            <a:ext cx="81724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pt-BR" altLang="pt-BR" dirty="0">
                <a:solidFill>
                  <a:srgbClr val="0070C0"/>
                </a:solidFill>
                <a:cs typeface="Times New Roman" panose="02020603050405020304" pitchFamily="18" charset="0"/>
              </a:rPr>
              <a:t>No caso de sinais de voz, esse ganho é de 4 a 11 dB. Isso permite que o número de bits por amostra em um sistema DPCM seja 1 a 2 bits menor que aquele requerido pelo PCM para propiciar a mesma RSR. Para uma taxa de amostragem de 8 kHz, isso significa uma economia de 8 a 16 </a:t>
            </a:r>
            <a:r>
              <a:rPr lang="pt-BR" altLang="pt-BR" dirty="0" err="1">
                <a:solidFill>
                  <a:srgbClr val="0070C0"/>
                </a:solidFill>
                <a:cs typeface="Times New Roman" panose="02020603050405020304" pitchFamily="18" charset="0"/>
              </a:rPr>
              <a:t>kbps</a:t>
            </a:r>
            <a:r>
              <a:rPr lang="pt-BR" altLang="pt-BR" dirty="0">
                <a:solidFill>
                  <a:srgbClr val="0070C0"/>
                </a:solidFill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F00FEB5C-D0C2-EC21-1647-04066E385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4152901"/>
            <a:ext cx="8305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pt-BR" altLang="pt-BR">
                <a:solidFill>
                  <a:srgbClr val="0070C0"/>
                </a:solidFill>
                <a:cs typeface="Times New Roman" panose="02020603050405020304" pitchFamily="18" charset="0"/>
              </a:rPr>
              <a:t>Um ganho maior do que o mencionado pode ser obtido se o preditor e o quantizador do esquema DPCM forem adaptativos. Nesse caso, o esquema é denominado ADPCM (a</a:t>
            </a:r>
            <a:r>
              <a:rPr lang="pt-BR" altLang="pt-BR" i="1">
                <a:solidFill>
                  <a:srgbClr val="0070C0"/>
                </a:solidFill>
                <a:cs typeface="Times New Roman" panose="02020603050405020304" pitchFamily="18" charset="0"/>
              </a:rPr>
              <a:t>daptive</a:t>
            </a:r>
            <a:r>
              <a:rPr lang="pt-BR" altLang="pt-BR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pt-BR" altLang="pt-BR" i="1">
                <a:solidFill>
                  <a:srgbClr val="0070C0"/>
                </a:solidFill>
                <a:cs typeface="Times New Roman" panose="02020603050405020304" pitchFamily="18" charset="0"/>
              </a:rPr>
              <a:t>differential pulse-code modulation</a:t>
            </a:r>
            <a:r>
              <a:rPr lang="pt-BR" altLang="pt-BR">
                <a:solidFill>
                  <a:srgbClr val="0070C0"/>
                </a:solidFill>
                <a:cs typeface="Times New Roman" panose="02020603050405020304" pitchFamily="18" charset="0"/>
              </a:rPr>
              <a:t>). Um ADPCM que despende 32 kbps pode propiciar praticamente a mesma qualidade de um PCM lei-A que despende 64 kbps. </a:t>
            </a:r>
          </a:p>
        </p:txBody>
      </p:sp>
    </p:spTree>
    <p:extLst>
      <p:ext uri="{BB962C8B-B14F-4D97-AF65-F5344CB8AC3E}">
        <p14:creationId xmlns:p14="http://schemas.microsoft.com/office/powerpoint/2010/main" val="108993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995FE-0DE8-6D90-37B3-01C2878A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ADPCM – G.726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D53E821-E7C7-C894-7FB2-BD99D1655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7" t="16855" r="3212" b="8427"/>
          <a:stretch>
            <a:fillRect/>
          </a:stretch>
        </p:blipFill>
        <p:spPr bwMode="auto">
          <a:xfrm>
            <a:off x="2233914" y="1098040"/>
            <a:ext cx="8237236" cy="538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49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604F9-E44D-F0AF-26E8-71242041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Padrões ITU-T para telefonia fixa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DF8EA91-634C-0B8D-7846-27A48996D23A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1346201"/>
            <a:ext cx="9105900" cy="2589213"/>
            <a:chOff x="24" y="1424"/>
            <a:chExt cx="5736" cy="1631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1052A26-AB99-7B91-B0F1-0D2EC7552A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" y="1424"/>
              <a:ext cx="5736" cy="1628"/>
              <a:chOff x="0" y="0"/>
              <a:chExt cx="3307" cy="1784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E2C4FD8-EE39-A616-5457-6C1EDE813C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91" cy="748"/>
                <a:chOff x="0" y="0"/>
                <a:chExt cx="391" cy="748"/>
              </a:xfrm>
            </p:grpSpPr>
            <p:sp>
              <p:nvSpPr>
                <p:cNvPr id="67" name="Rectangle 6">
                  <a:extLst>
                    <a:ext uri="{FF2B5EF4-FFF2-40B4-BE49-F238E27FC236}">
                      <a16:creationId xmlns:a16="http://schemas.microsoft.com/office/drawing/2014/main" id="{5DC853C3-C7B0-2404-EC72-E57800F01C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0"/>
                  <a:ext cx="335" cy="7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 dirty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Padrão</a:t>
                  </a:r>
                  <a:endParaRPr lang="pt-BR" altLang="pt-BR" sz="2000" dirty="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8" name="Rectangle 7">
                  <a:extLst>
                    <a:ext uri="{FF2B5EF4-FFF2-40B4-BE49-F238E27FC236}">
                      <a16:creationId xmlns:a16="http://schemas.microsoft.com/office/drawing/2014/main" id="{875B36FC-7005-D941-CCDE-4DFC2EAA91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91" cy="74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7" name="Group 8">
                <a:extLst>
                  <a:ext uri="{FF2B5EF4-FFF2-40B4-BE49-F238E27FC236}">
                    <a16:creationId xmlns:a16="http://schemas.microsoft.com/office/drawing/2014/main" id="{D48F9D95-E56D-4990-E877-4521478ED0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" y="0"/>
                <a:ext cx="500" cy="748"/>
                <a:chOff x="391" y="0"/>
                <a:chExt cx="500" cy="748"/>
              </a:xfrm>
            </p:grpSpPr>
            <p:sp>
              <p:nvSpPr>
                <p:cNvPr id="65" name="Rectangle 9">
                  <a:extLst>
                    <a:ext uri="{FF2B5EF4-FFF2-40B4-BE49-F238E27FC236}">
                      <a16:creationId xmlns:a16="http://schemas.microsoft.com/office/drawing/2014/main" id="{0ABD9581-D007-CA76-5142-666F0FEBC7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" y="0"/>
                  <a:ext cx="444" cy="7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Esquema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6" name="Rectangle 10">
                  <a:extLst>
                    <a:ext uri="{FF2B5EF4-FFF2-40B4-BE49-F238E27FC236}">
                      <a16:creationId xmlns:a16="http://schemas.microsoft.com/office/drawing/2014/main" id="{46B2CC8B-0852-0B64-AF80-BD4274CC4E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1" y="0"/>
                  <a:ext cx="500" cy="74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8" name="Group 11">
                <a:extLst>
                  <a:ext uri="{FF2B5EF4-FFF2-40B4-BE49-F238E27FC236}">
                    <a16:creationId xmlns:a16="http://schemas.microsoft.com/office/drawing/2014/main" id="{E58E1798-DB3C-8BBE-BADB-A73519E8B0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1" y="0"/>
                <a:ext cx="580" cy="748"/>
                <a:chOff x="891" y="0"/>
                <a:chExt cx="580" cy="748"/>
              </a:xfrm>
            </p:grpSpPr>
            <p:sp>
              <p:nvSpPr>
                <p:cNvPr id="63" name="Rectangle 12">
                  <a:extLst>
                    <a:ext uri="{FF2B5EF4-FFF2-40B4-BE49-F238E27FC236}">
                      <a16:creationId xmlns:a16="http://schemas.microsoft.com/office/drawing/2014/main" id="{0AD587D1-0AA2-4CA1-ECB7-6FAFD12F4E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9" y="0"/>
                  <a:ext cx="524" cy="7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dirty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Taxa de amostragem</a:t>
                  </a:r>
                  <a:endParaRPr lang="pt-BR" altLang="pt-BR" dirty="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4" name="Rectangle 13">
                  <a:extLst>
                    <a:ext uri="{FF2B5EF4-FFF2-40B4-BE49-F238E27FC236}">
                      <a16:creationId xmlns:a16="http://schemas.microsoft.com/office/drawing/2014/main" id="{FF460019-C9E6-0916-5C6B-DE754A1975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1" y="0"/>
                  <a:ext cx="580" cy="74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9" name="Group 14">
                <a:extLst>
                  <a:ext uri="{FF2B5EF4-FFF2-40B4-BE49-F238E27FC236}">
                    <a16:creationId xmlns:a16="http://schemas.microsoft.com/office/drawing/2014/main" id="{00827D02-5B5E-74BD-A1E2-7270001452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1" y="0"/>
                <a:ext cx="449" cy="748"/>
                <a:chOff x="1471" y="0"/>
                <a:chExt cx="449" cy="748"/>
              </a:xfrm>
            </p:grpSpPr>
            <p:sp>
              <p:nvSpPr>
                <p:cNvPr id="61" name="Rectangle 15">
                  <a:extLst>
                    <a:ext uri="{FF2B5EF4-FFF2-40B4-BE49-F238E27FC236}">
                      <a16:creationId xmlns:a16="http://schemas.microsoft.com/office/drawing/2014/main" id="{9952DAA4-AF58-56C0-6626-ED973C96B1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9" y="0"/>
                  <a:ext cx="393" cy="7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Bits por amostra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2" name="Rectangle 16">
                  <a:extLst>
                    <a:ext uri="{FF2B5EF4-FFF2-40B4-BE49-F238E27FC236}">
                      <a16:creationId xmlns:a16="http://schemas.microsoft.com/office/drawing/2014/main" id="{4AAEDD1A-FB31-0386-D95D-A52D5F12F0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1" y="0"/>
                  <a:ext cx="449" cy="74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0" name="Group 17">
                <a:extLst>
                  <a:ext uri="{FF2B5EF4-FFF2-40B4-BE49-F238E27FC236}">
                    <a16:creationId xmlns:a16="http://schemas.microsoft.com/office/drawing/2014/main" id="{E251C7C9-7643-B736-091E-13AF5C045B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0"/>
                <a:ext cx="388" cy="748"/>
                <a:chOff x="1920" y="0"/>
                <a:chExt cx="388" cy="748"/>
              </a:xfrm>
            </p:grpSpPr>
            <p:sp>
              <p:nvSpPr>
                <p:cNvPr id="59" name="Rectangle 18">
                  <a:extLst>
                    <a:ext uri="{FF2B5EF4-FFF2-40B4-BE49-F238E27FC236}">
                      <a16:creationId xmlns:a16="http://schemas.microsoft.com/office/drawing/2014/main" id="{892DFCB3-5089-2668-7059-2CEF157619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8" y="0"/>
                  <a:ext cx="332" cy="7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Taxa de bits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0" name="Rectangle 19">
                  <a:extLst>
                    <a:ext uri="{FF2B5EF4-FFF2-40B4-BE49-F238E27FC236}">
                      <a16:creationId xmlns:a16="http://schemas.microsoft.com/office/drawing/2014/main" id="{EA3CEAB5-C5C4-A1C7-3DA8-F428458B20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0"/>
                  <a:ext cx="388" cy="74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1" name="Group 20">
                <a:extLst>
                  <a:ext uri="{FF2B5EF4-FFF2-40B4-BE49-F238E27FC236}">
                    <a16:creationId xmlns:a16="http://schemas.microsoft.com/office/drawing/2014/main" id="{C95D4E8F-8A9F-3AC0-A617-3354573E7F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8" y="0"/>
                <a:ext cx="493" cy="748"/>
                <a:chOff x="2308" y="0"/>
                <a:chExt cx="493" cy="748"/>
              </a:xfrm>
            </p:grpSpPr>
            <p:sp>
              <p:nvSpPr>
                <p:cNvPr id="57" name="Rectangle 21">
                  <a:extLst>
                    <a:ext uri="{FF2B5EF4-FFF2-40B4-BE49-F238E27FC236}">
                      <a16:creationId xmlns:a16="http://schemas.microsoft.com/office/drawing/2014/main" id="{1827BB48-393E-ADBC-D904-5638672F69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6" y="0"/>
                  <a:ext cx="437" cy="7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0"/>
                    </a:spcBef>
                  </a:pP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Qualidade (MOS</a:t>
                  </a:r>
                  <a:r>
                    <a:rPr lang="pt-BR" altLang="pt-BR" sz="2000" baseline="30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&amp;</a:t>
                  </a: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58" name="Rectangle 22">
                  <a:extLst>
                    <a:ext uri="{FF2B5EF4-FFF2-40B4-BE49-F238E27FC236}">
                      <a16:creationId xmlns:a16="http://schemas.microsoft.com/office/drawing/2014/main" id="{E7D8A247-9B4C-25BE-EA4A-475F11A0EF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8" y="0"/>
                  <a:ext cx="493" cy="74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2" name="Group 23">
                <a:extLst>
                  <a:ext uri="{FF2B5EF4-FFF2-40B4-BE49-F238E27FC236}">
                    <a16:creationId xmlns:a16="http://schemas.microsoft.com/office/drawing/2014/main" id="{43B52455-AAD2-18C7-6D39-3E55FE70EE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1" y="0"/>
                <a:ext cx="506" cy="748"/>
                <a:chOff x="2801" y="0"/>
                <a:chExt cx="506" cy="748"/>
              </a:xfrm>
            </p:grpSpPr>
            <p:sp>
              <p:nvSpPr>
                <p:cNvPr id="55" name="Rectangle 24">
                  <a:extLst>
                    <a:ext uri="{FF2B5EF4-FFF2-40B4-BE49-F238E27FC236}">
                      <a16:creationId xmlns:a16="http://schemas.microsoft.com/office/drawing/2014/main" id="{FA3D6A62-099C-6D6E-9628-9015CA429E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9" y="0"/>
                  <a:ext cx="450" cy="7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 dirty="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Ano de conclusão</a:t>
                  </a:r>
                  <a:endParaRPr lang="pt-BR" altLang="pt-BR" sz="2000" dirty="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6" name="Rectangle 25">
                  <a:extLst>
                    <a:ext uri="{FF2B5EF4-FFF2-40B4-BE49-F238E27FC236}">
                      <a16:creationId xmlns:a16="http://schemas.microsoft.com/office/drawing/2014/main" id="{66B251B8-A24B-890C-86CD-67F629CD67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1" y="0"/>
                  <a:ext cx="506" cy="74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3" name="Group 26">
                <a:extLst>
                  <a:ext uri="{FF2B5EF4-FFF2-40B4-BE49-F238E27FC236}">
                    <a16:creationId xmlns:a16="http://schemas.microsoft.com/office/drawing/2014/main" id="{57F12637-B488-6E1E-C325-73F331B8DD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48"/>
                <a:ext cx="391" cy="518"/>
                <a:chOff x="0" y="748"/>
                <a:chExt cx="391" cy="518"/>
              </a:xfrm>
            </p:grpSpPr>
            <p:sp>
              <p:nvSpPr>
                <p:cNvPr id="53" name="Rectangle 27">
                  <a:extLst>
                    <a:ext uri="{FF2B5EF4-FFF2-40B4-BE49-F238E27FC236}">
                      <a16:creationId xmlns:a16="http://schemas.microsoft.com/office/drawing/2014/main" id="{202F8257-A65F-94AB-6263-04C5E30077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748"/>
                  <a:ext cx="33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G.711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4" name="Rectangle 28">
                  <a:extLst>
                    <a:ext uri="{FF2B5EF4-FFF2-40B4-BE49-F238E27FC236}">
                      <a16:creationId xmlns:a16="http://schemas.microsoft.com/office/drawing/2014/main" id="{B768B18A-E263-A48E-98AE-02BFAE20E4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48"/>
                  <a:ext cx="3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4" name="Group 29">
                <a:extLst>
                  <a:ext uri="{FF2B5EF4-FFF2-40B4-BE49-F238E27FC236}">
                    <a16:creationId xmlns:a16="http://schemas.microsoft.com/office/drawing/2014/main" id="{C9364EE2-90CE-DAF1-82E4-CB6CF7D57A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" y="748"/>
                <a:ext cx="500" cy="518"/>
                <a:chOff x="391" y="748"/>
                <a:chExt cx="500" cy="518"/>
              </a:xfrm>
            </p:grpSpPr>
            <p:sp>
              <p:nvSpPr>
                <p:cNvPr id="51" name="Rectangle 30">
                  <a:extLst>
                    <a:ext uri="{FF2B5EF4-FFF2-40B4-BE49-F238E27FC236}">
                      <a16:creationId xmlns:a16="http://schemas.microsoft.com/office/drawing/2014/main" id="{AB70E547-3B56-DDC4-F7CE-2E5781003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" y="748"/>
                  <a:ext cx="44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pt-BR" altLang="pt-BR" sz="2000">
                      <a:solidFill>
                        <a:srgbClr val="0070C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Log-PCM</a:t>
                  </a:r>
                  <a:endParaRPr lang="pt-BR" altLang="pt-BR" sz="2000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52" name="Rectangle 31">
                  <a:extLst>
                    <a:ext uri="{FF2B5EF4-FFF2-40B4-BE49-F238E27FC236}">
                      <a16:creationId xmlns:a16="http://schemas.microsoft.com/office/drawing/2014/main" id="{3E9F3420-DA0B-1AED-7A50-A6E537CE76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1" y="748"/>
                  <a:ext cx="5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B2720AA1-FB6C-4FEA-C073-E98F0D430C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1" y="748"/>
                <a:ext cx="580" cy="518"/>
                <a:chOff x="891" y="748"/>
                <a:chExt cx="580" cy="518"/>
              </a:xfrm>
            </p:grpSpPr>
            <p:sp>
              <p:nvSpPr>
                <p:cNvPr id="49" name="Rectangle 33">
                  <a:extLst>
                    <a:ext uri="{FF2B5EF4-FFF2-40B4-BE49-F238E27FC236}">
                      <a16:creationId xmlns:a16="http://schemas.microsoft.com/office/drawing/2014/main" id="{5EB73EEB-20EC-DE5C-CB2A-4F7296B99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9" y="748"/>
                  <a:ext cx="52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algn="l">
                    <a:spcBef>
                      <a:spcPct val="0"/>
                    </a:spcBef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449263" algn="r"/>
                      <a:tab pos="2806700" algn="ctr"/>
                      <a:tab pos="5611813" algn="r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pt-BR" altLang="pt-BR" sz="2000">
                      <a:solidFill>
                        <a:srgbClr val="0070C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8 kHz</a:t>
                  </a:r>
                  <a:endParaRPr lang="pt-BR" altLang="pt-BR" sz="2000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50" name="Rectangle 34">
                  <a:extLst>
                    <a:ext uri="{FF2B5EF4-FFF2-40B4-BE49-F238E27FC236}">
                      <a16:creationId xmlns:a16="http://schemas.microsoft.com/office/drawing/2014/main" id="{1C546A22-C7F5-D1A1-E6F2-23186D030E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1" y="748"/>
                  <a:ext cx="5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6" name="Group 35">
                <a:extLst>
                  <a:ext uri="{FF2B5EF4-FFF2-40B4-BE49-F238E27FC236}">
                    <a16:creationId xmlns:a16="http://schemas.microsoft.com/office/drawing/2014/main" id="{552981C2-B8F6-5D69-72BB-8AF3EFB818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1" y="748"/>
                <a:ext cx="449" cy="518"/>
                <a:chOff x="1471" y="748"/>
                <a:chExt cx="449" cy="518"/>
              </a:xfrm>
            </p:grpSpPr>
            <p:sp>
              <p:nvSpPr>
                <p:cNvPr id="47" name="Rectangle 36">
                  <a:extLst>
                    <a:ext uri="{FF2B5EF4-FFF2-40B4-BE49-F238E27FC236}">
                      <a16:creationId xmlns:a16="http://schemas.microsoft.com/office/drawing/2014/main" id="{5CA6302C-6DB6-B625-D5D4-E952B81C44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9" y="748"/>
                  <a:ext cx="39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8 bits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37">
                  <a:extLst>
                    <a:ext uri="{FF2B5EF4-FFF2-40B4-BE49-F238E27FC236}">
                      <a16:creationId xmlns:a16="http://schemas.microsoft.com/office/drawing/2014/main" id="{4A0F74A6-B92F-BFA5-FC46-0C0A0C1307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1" y="748"/>
                  <a:ext cx="44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7" name="Group 38">
                <a:extLst>
                  <a:ext uri="{FF2B5EF4-FFF2-40B4-BE49-F238E27FC236}">
                    <a16:creationId xmlns:a16="http://schemas.microsoft.com/office/drawing/2014/main" id="{38DC04CE-44F1-E92B-0D03-6A401EB66F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748"/>
                <a:ext cx="388" cy="518"/>
                <a:chOff x="1920" y="748"/>
                <a:chExt cx="388" cy="518"/>
              </a:xfrm>
            </p:grpSpPr>
            <p:sp>
              <p:nvSpPr>
                <p:cNvPr id="45" name="Rectangle 39">
                  <a:extLst>
                    <a:ext uri="{FF2B5EF4-FFF2-40B4-BE49-F238E27FC236}">
                      <a16:creationId xmlns:a16="http://schemas.microsoft.com/office/drawing/2014/main" id="{0C0B036B-FA20-D900-EB69-E65B1AC953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8" y="748"/>
                  <a:ext cx="3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64 kbps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" name="Rectangle 40">
                  <a:extLst>
                    <a:ext uri="{FF2B5EF4-FFF2-40B4-BE49-F238E27FC236}">
                      <a16:creationId xmlns:a16="http://schemas.microsoft.com/office/drawing/2014/main" id="{3723DFC2-E6F4-C11F-5203-0E731669E3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748"/>
                  <a:ext cx="38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8" name="Group 41">
                <a:extLst>
                  <a:ext uri="{FF2B5EF4-FFF2-40B4-BE49-F238E27FC236}">
                    <a16:creationId xmlns:a16="http://schemas.microsoft.com/office/drawing/2014/main" id="{D19431F8-C7C5-3B6F-4A78-F09C51EF0D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8" y="748"/>
                <a:ext cx="493" cy="518"/>
                <a:chOff x="2308" y="748"/>
                <a:chExt cx="493" cy="518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D842D9E1-1441-BAD6-66F7-193F5E1A4C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6" y="748"/>
                  <a:ext cx="43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4,3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329F1E1-1FA0-4E5B-85EE-D349C798C3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8" y="748"/>
                  <a:ext cx="49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9" name="Group 44">
                <a:extLst>
                  <a:ext uri="{FF2B5EF4-FFF2-40B4-BE49-F238E27FC236}">
                    <a16:creationId xmlns:a16="http://schemas.microsoft.com/office/drawing/2014/main" id="{6569E6B4-873A-2423-3C95-03626AB018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1" y="748"/>
                <a:ext cx="506" cy="518"/>
                <a:chOff x="2801" y="748"/>
                <a:chExt cx="506" cy="518"/>
              </a:xfrm>
            </p:grpSpPr>
            <p:sp>
              <p:nvSpPr>
                <p:cNvPr id="41" name="Rectangle 45">
                  <a:extLst>
                    <a:ext uri="{FF2B5EF4-FFF2-40B4-BE49-F238E27FC236}">
                      <a16:creationId xmlns:a16="http://schemas.microsoft.com/office/drawing/2014/main" id="{B2E33488-A592-5DCF-87E9-54266EC950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9" y="748"/>
                  <a:ext cx="45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1972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" name="Rectangle 46">
                  <a:extLst>
                    <a:ext uri="{FF2B5EF4-FFF2-40B4-BE49-F238E27FC236}">
                      <a16:creationId xmlns:a16="http://schemas.microsoft.com/office/drawing/2014/main" id="{765E6BA8-4F11-E435-3670-829CAC4DD5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1" y="748"/>
                  <a:ext cx="50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0" name="Group 47">
                <a:extLst>
                  <a:ext uri="{FF2B5EF4-FFF2-40B4-BE49-F238E27FC236}">
                    <a16:creationId xmlns:a16="http://schemas.microsoft.com/office/drawing/2014/main" id="{216ED2CC-AA4E-C578-F2FD-F3522E5524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66"/>
                <a:ext cx="391" cy="518"/>
                <a:chOff x="0" y="1266"/>
                <a:chExt cx="391" cy="518"/>
              </a:xfrm>
            </p:grpSpPr>
            <p:sp>
              <p:nvSpPr>
                <p:cNvPr id="39" name="Rectangle 48">
                  <a:extLst>
                    <a:ext uri="{FF2B5EF4-FFF2-40B4-BE49-F238E27FC236}">
                      <a16:creationId xmlns:a16="http://schemas.microsoft.com/office/drawing/2014/main" id="{420B8E74-C484-E413-06C6-5F0A80890B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1266"/>
                  <a:ext cx="33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G.721</a:t>
                  </a:r>
                  <a:r>
                    <a:rPr lang="pt-BR" altLang="pt-BR" sz="2000" baseline="30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$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" name="Rectangle 49">
                  <a:extLst>
                    <a:ext uri="{FF2B5EF4-FFF2-40B4-BE49-F238E27FC236}">
                      <a16:creationId xmlns:a16="http://schemas.microsoft.com/office/drawing/2014/main" id="{B9E208F4-925F-CDB9-6782-33060730BA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66"/>
                  <a:ext cx="3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1" name="Group 50">
                <a:extLst>
                  <a:ext uri="{FF2B5EF4-FFF2-40B4-BE49-F238E27FC236}">
                    <a16:creationId xmlns:a16="http://schemas.microsoft.com/office/drawing/2014/main" id="{4CDD48C6-BC72-7D8A-6B5B-B28A049502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" y="1266"/>
                <a:ext cx="500" cy="518"/>
                <a:chOff x="391" y="1266"/>
                <a:chExt cx="500" cy="518"/>
              </a:xfrm>
            </p:grpSpPr>
            <p:sp>
              <p:nvSpPr>
                <p:cNvPr id="37" name="Rectangle 51">
                  <a:extLst>
                    <a:ext uri="{FF2B5EF4-FFF2-40B4-BE49-F238E27FC236}">
                      <a16:creationId xmlns:a16="http://schemas.microsoft.com/office/drawing/2014/main" id="{0782D985-998B-9EF8-9C0C-2BCE3FF41E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" y="1266"/>
                  <a:ext cx="44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ADPCM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" name="Rectangle 52">
                  <a:extLst>
                    <a:ext uri="{FF2B5EF4-FFF2-40B4-BE49-F238E27FC236}">
                      <a16:creationId xmlns:a16="http://schemas.microsoft.com/office/drawing/2014/main" id="{EC6D35DD-E4F1-57FC-A220-49D64B089B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1" y="1266"/>
                  <a:ext cx="5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2" name="Group 53">
                <a:extLst>
                  <a:ext uri="{FF2B5EF4-FFF2-40B4-BE49-F238E27FC236}">
                    <a16:creationId xmlns:a16="http://schemas.microsoft.com/office/drawing/2014/main" id="{C2B9823A-0E8A-0F1B-6877-3B9D227391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1" y="1266"/>
                <a:ext cx="580" cy="518"/>
                <a:chOff x="891" y="1266"/>
                <a:chExt cx="580" cy="518"/>
              </a:xfrm>
            </p:grpSpPr>
            <p:sp>
              <p:nvSpPr>
                <p:cNvPr id="35" name="Rectangle 54">
                  <a:extLst>
                    <a:ext uri="{FF2B5EF4-FFF2-40B4-BE49-F238E27FC236}">
                      <a16:creationId xmlns:a16="http://schemas.microsoft.com/office/drawing/2014/main" id="{C3CA7B12-30DF-E5CA-F055-59EB16B74A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9" y="1266"/>
                  <a:ext cx="52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8 kHz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" name="Rectangle 55">
                  <a:extLst>
                    <a:ext uri="{FF2B5EF4-FFF2-40B4-BE49-F238E27FC236}">
                      <a16:creationId xmlns:a16="http://schemas.microsoft.com/office/drawing/2014/main" id="{89C250D3-DE08-194F-440B-3B3F1497C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1" y="1266"/>
                  <a:ext cx="5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3" name="Group 56">
                <a:extLst>
                  <a:ext uri="{FF2B5EF4-FFF2-40B4-BE49-F238E27FC236}">
                    <a16:creationId xmlns:a16="http://schemas.microsoft.com/office/drawing/2014/main" id="{A5CD0DDA-9F77-76E3-E24E-B7F49611E0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1" y="1266"/>
                <a:ext cx="449" cy="518"/>
                <a:chOff x="1471" y="1266"/>
                <a:chExt cx="449" cy="518"/>
              </a:xfrm>
            </p:grpSpPr>
            <p:sp>
              <p:nvSpPr>
                <p:cNvPr id="33" name="Rectangle 57">
                  <a:extLst>
                    <a:ext uri="{FF2B5EF4-FFF2-40B4-BE49-F238E27FC236}">
                      <a16:creationId xmlns:a16="http://schemas.microsoft.com/office/drawing/2014/main" id="{77C94332-FB84-CE09-F7AC-184DB185EB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9" y="1266"/>
                  <a:ext cx="39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4 bits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" name="Rectangle 58">
                  <a:extLst>
                    <a:ext uri="{FF2B5EF4-FFF2-40B4-BE49-F238E27FC236}">
                      <a16:creationId xmlns:a16="http://schemas.microsoft.com/office/drawing/2014/main" id="{21BDFA42-21BB-F5B2-8080-9A1CF219E8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1" y="1266"/>
                  <a:ext cx="44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4" name="Group 59">
                <a:extLst>
                  <a:ext uri="{FF2B5EF4-FFF2-40B4-BE49-F238E27FC236}">
                    <a16:creationId xmlns:a16="http://schemas.microsoft.com/office/drawing/2014/main" id="{0D5F680E-E742-5CC0-65B5-3903A2E247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1266"/>
                <a:ext cx="388" cy="518"/>
                <a:chOff x="1920" y="1266"/>
                <a:chExt cx="388" cy="518"/>
              </a:xfrm>
            </p:grpSpPr>
            <p:sp>
              <p:nvSpPr>
                <p:cNvPr id="31" name="Rectangle 60">
                  <a:extLst>
                    <a:ext uri="{FF2B5EF4-FFF2-40B4-BE49-F238E27FC236}">
                      <a16:creationId xmlns:a16="http://schemas.microsoft.com/office/drawing/2014/main" id="{4480365A-B246-81A4-8C1E-31C690A734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8" y="1266"/>
                  <a:ext cx="3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32 kbps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" name="Rectangle 61">
                  <a:extLst>
                    <a:ext uri="{FF2B5EF4-FFF2-40B4-BE49-F238E27FC236}">
                      <a16:creationId xmlns:a16="http://schemas.microsoft.com/office/drawing/2014/main" id="{86763014-7DF9-7791-2224-28443AF0E6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1266"/>
                  <a:ext cx="38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5" name="Group 62">
                <a:extLst>
                  <a:ext uri="{FF2B5EF4-FFF2-40B4-BE49-F238E27FC236}">
                    <a16:creationId xmlns:a16="http://schemas.microsoft.com/office/drawing/2014/main" id="{534AD63A-073D-2A26-88BA-519987AC2B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8" y="1266"/>
                <a:ext cx="493" cy="518"/>
                <a:chOff x="2308" y="1266"/>
                <a:chExt cx="493" cy="518"/>
              </a:xfrm>
            </p:grpSpPr>
            <p:sp>
              <p:nvSpPr>
                <p:cNvPr id="29" name="Rectangle 63">
                  <a:extLst>
                    <a:ext uri="{FF2B5EF4-FFF2-40B4-BE49-F238E27FC236}">
                      <a16:creationId xmlns:a16="http://schemas.microsoft.com/office/drawing/2014/main" id="{66286996-867A-1F22-3A84-DC57A66856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6" y="1266"/>
                  <a:ext cx="43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4,1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" name="Rectangle 64">
                  <a:extLst>
                    <a:ext uri="{FF2B5EF4-FFF2-40B4-BE49-F238E27FC236}">
                      <a16:creationId xmlns:a16="http://schemas.microsoft.com/office/drawing/2014/main" id="{E5CFED2D-2018-4096-75BC-0CB78890D8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8" y="1266"/>
                  <a:ext cx="49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26" name="Group 65">
                <a:extLst>
                  <a:ext uri="{FF2B5EF4-FFF2-40B4-BE49-F238E27FC236}">
                    <a16:creationId xmlns:a16="http://schemas.microsoft.com/office/drawing/2014/main" id="{64322481-303F-46BC-DA42-88EA6FBFFF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1" y="1266"/>
                <a:ext cx="506" cy="518"/>
                <a:chOff x="2801" y="1266"/>
                <a:chExt cx="506" cy="518"/>
              </a:xfrm>
            </p:grpSpPr>
            <p:sp>
              <p:nvSpPr>
                <p:cNvPr id="27" name="Rectangle 66">
                  <a:extLst>
                    <a:ext uri="{FF2B5EF4-FFF2-40B4-BE49-F238E27FC236}">
                      <a16:creationId xmlns:a16="http://schemas.microsoft.com/office/drawing/2014/main" id="{0AAB3D79-F830-672C-3F69-82AABC84F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9" y="1266"/>
                  <a:ext cx="45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>
                    <a:spcBef>
                      <a:spcPct val="0"/>
                    </a:spcBef>
                  </a:pPr>
                  <a:r>
                    <a:rPr lang="pt-BR" altLang="pt-BR" sz="2000">
                      <a:solidFill>
                        <a:srgbClr val="0070C0"/>
                      </a:solidFill>
                      <a:cs typeface="Times New Roman" panose="02020603050405020304" pitchFamily="18" charset="0"/>
                    </a:rPr>
                    <a:t>1984</a:t>
                  </a:r>
                  <a:endParaRPr lang="pt-BR" altLang="pt-BR" sz="2000">
                    <a:solidFill>
                      <a:srgbClr val="0070C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" name="Rectangle 67">
                  <a:extLst>
                    <a:ext uri="{FF2B5EF4-FFF2-40B4-BE49-F238E27FC236}">
                      <a16:creationId xmlns:a16="http://schemas.microsoft.com/office/drawing/2014/main" id="{2C2EB5A9-9A3C-5225-0A76-B679F95F18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1" y="1266"/>
                  <a:ext cx="50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>
                    <a:solidFill>
                      <a:srgbClr val="0070C0"/>
                    </a:solidFill>
                  </a:endParaRPr>
                </a:p>
              </p:txBody>
            </p:sp>
          </p:grpSp>
        </p:grpSp>
        <p:sp>
          <p:nvSpPr>
            <p:cNvPr id="5" name="Rectangle 68">
              <a:extLst>
                <a:ext uri="{FF2B5EF4-FFF2-40B4-BE49-F238E27FC236}">
                  <a16:creationId xmlns:a16="http://schemas.microsoft.com/office/drawing/2014/main" id="{B3C3ADE4-026D-3DBE-1AA2-C8D7D523A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1433"/>
              <a:ext cx="5736" cy="1622"/>
            </a:xfrm>
            <a:prstGeom prst="rect">
              <a:avLst/>
            </a:prstGeom>
            <a:noFill/>
            <a:ln w="2857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0070C0"/>
                </a:solidFill>
              </a:endParaRPr>
            </a:p>
          </p:txBody>
        </p:sp>
      </p:grpSp>
      <p:sp>
        <p:nvSpPr>
          <p:cNvPr id="69" name="Text Box 69">
            <a:extLst>
              <a:ext uri="{FF2B5EF4-FFF2-40B4-BE49-F238E27FC236}">
                <a16:creationId xmlns:a16="http://schemas.microsoft.com/office/drawing/2014/main" id="{5AE31FB9-4FE1-CAC1-6957-1BD9DF805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552951"/>
            <a:ext cx="88011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0500" indent="-1905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7625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baseline="30000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$ </a:t>
            </a:r>
            <a:r>
              <a:rPr lang="pt-BR" altLang="pt-BR" sz="2000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Atualmente o padrão G.721 faz parte do padrão G.726</a:t>
            </a:r>
          </a:p>
          <a:p>
            <a:pPr>
              <a:spcBef>
                <a:spcPct val="50000"/>
              </a:spcBef>
            </a:pPr>
            <a:r>
              <a:rPr lang="pt-BR" altLang="pt-BR" baseline="30000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&amp; </a:t>
            </a:r>
            <a:r>
              <a:rPr lang="pt-BR" altLang="pt-BR" sz="2000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MOS: </a:t>
            </a:r>
            <a:r>
              <a:rPr lang="en-US" altLang="pt-BR" sz="2000" i="1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mean opinion score</a:t>
            </a:r>
            <a:r>
              <a:rPr lang="pt-BR" altLang="pt-BR" sz="2000" i="1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</a:t>
            </a:r>
            <a:r>
              <a:rPr lang="pt-BR" altLang="pt-BR" sz="2000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(escore médio de </a:t>
            </a:r>
            <a:r>
              <a:rPr lang="pt-BR" altLang="pt-BR" sz="2000" dirty="0" err="1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opnião</a:t>
            </a:r>
            <a:r>
              <a:rPr lang="pt-BR" altLang="pt-BR" sz="2000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 — é uma medida subjetiva da qualidade de um sinal de voz, com uma escala de cinco pontos: </a:t>
            </a:r>
          </a:p>
          <a:p>
            <a:pPr>
              <a:spcBef>
                <a:spcPct val="50000"/>
              </a:spcBef>
            </a:pPr>
            <a:r>
              <a:rPr lang="pt-BR" altLang="pt-BR" sz="2000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      5 (excelente), 4 (boa), 3 (satisfatória ou razoável), 2 (ruim) e 1 (muito ruim)</a:t>
            </a:r>
            <a:r>
              <a:rPr lang="pt-BR" altLang="pt-BR" sz="2000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802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319A2-C063-AE3B-1348-6C9F1CDC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Padrões do ITU-T para telefonia fixa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92F6B659-94D7-5A8B-9EB1-5C6849518D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0613" y="1423988"/>
          <a:ext cx="7505700" cy="444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7508160" imgH="4448160" progId="Word.Document.8">
                  <p:embed/>
                </p:oleObj>
              </mc:Choice>
              <mc:Fallback>
                <p:oleObj name="Documento" r:id="rId2" imgW="7508160" imgH="4448160" progId="Word.Document.8">
                  <p:embed/>
                  <p:pic>
                    <p:nvPicPr>
                      <p:cNvPr id="403458" name="Object 2">
                        <a:extLst>
                          <a:ext uri="{FF2B5EF4-FFF2-40B4-BE49-F238E27FC236}">
                            <a16:creationId xmlns:a16="http://schemas.microsoft.com/office/drawing/2014/main" id="{2D5F43C2-1D2B-EFBC-15F6-BDB5091374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360613" y="1423988"/>
                        <a:ext cx="7505700" cy="444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82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21649-9970-707A-9671-5FE11C0F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Padrões ITU-T para telefonia fixa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EB2F98-0111-2C59-6984-FD5F2AFB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Padrão G-721 ainda é usado em telefonia digital (com fio)</a:t>
            </a:r>
          </a:p>
          <a:p>
            <a:r>
              <a:rPr lang="pt-BR" dirty="0"/>
              <a:t>Outros padrões mais eficientes </a:t>
            </a:r>
            <a:r>
              <a:rPr lang="pt-BR" dirty="0" err="1"/>
              <a:t>sçao</a:t>
            </a:r>
            <a:r>
              <a:rPr lang="pt-BR" dirty="0"/>
              <a:t> utilizados</a:t>
            </a:r>
          </a:p>
          <a:p>
            <a:pPr lvl="1"/>
            <a:r>
              <a:rPr lang="pt-BR" dirty="0"/>
              <a:t>G-729 (VoIP)</a:t>
            </a:r>
          </a:p>
          <a:p>
            <a:pPr lvl="1"/>
            <a:r>
              <a:rPr lang="pt-BR" dirty="0"/>
              <a:t>Opus</a:t>
            </a:r>
          </a:p>
          <a:p>
            <a:pPr lvl="1"/>
            <a:r>
              <a:rPr lang="pt-BR" dirty="0"/>
              <a:t>AMR/EVS (celular)</a:t>
            </a:r>
          </a:p>
          <a:p>
            <a:pPr lvl="1"/>
            <a:endParaRPr lang="pt-BR" dirty="0"/>
          </a:p>
          <a:p>
            <a:r>
              <a:rPr lang="pt-BR" dirty="0" err="1"/>
              <a:t>Codecs</a:t>
            </a:r>
            <a:r>
              <a:rPr lang="pt-BR" dirty="0"/>
              <a:t> (</a:t>
            </a:r>
            <a:r>
              <a:rPr lang="pt-BR" dirty="0" err="1"/>
              <a:t>coder-decoder</a:t>
            </a:r>
            <a:r>
              <a:rPr lang="pt-BR" dirty="0"/>
              <a:t>) modernos implementam versões mais sofisticadas do mesmo princípio do ADPCM</a:t>
            </a:r>
          </a:p>
          <a:p>
            <a:pPr lvl="1"/>
            <a:r>
              <a:rPr lang="pt-BR" dirty="0"/>
              <a:t>Codificar erro de predição em vez do sinal em si</a:t>
            </a:r>
          </a:p>
        </p:txBody>
      </p:sp>
    </p:spTree>
    <p:extLst>
      <p:ext uri="{BB962C8B-B14F-4D97-AF65-F5344CB8AC3E}">
        <p14:creationId xmlns:p14="http://schemas.microsoft.com/office/powerpoint/2010/main" val="143183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02F95-BE20-D81E-33B1-7ADBAF0E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Delta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CE344-0E0C-6E99-A225-139D3979F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918" y="1130299"/>
            <a:ext cx="6870700" cy="557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12">
            <a:extLst>
              <a:ext uri="{FF2B5EF4-FFF2-40B4-BE49-F238E27FC236}">
                <a16:creationId xmlns:a16="http://schemas.microsoft.com/office/drawing/2014/main" id="{9352DD9D-3E6A-842F-D832-268A6996AAC8}"/>
              </a:ext>
            </a:extLst>
          </p:cNvPr>
          <p:cNvGrpSpPr>
            <a:grpSpLocks/>
          </p:cNvGrpSpPr>
          <p:nvPr/>
        </p:nvGrpSpPr>
        <p:grpSpPr bwMode="auto">
          <a:xfrm>
            <a:off x="8263118" y="2349500"/>
            <a:ext cx="1644650" cy="1438275"/>
            <a:chOff x="4488" y="1120"/>
            <a:chExt cx="1036" cy="906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8D9D856F-9F5B-F8FD-BB24-916F717704C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488" y="1701"/>
              <a:ext cx="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1FF5B4E2-168B-4997-680A-B470ECDD1DF6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rot="-5400000">
              <a:off x="4546" y="1597"/>
              <a:ext cx="8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657AE3DE-2698-7CCF-210A-A4C133AF8A22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4566" y="1470"/>
              <a:ext cx="744" cy="456"/>
            </a:xfrm>
            <a:custGeom>
              <a:avLst/>
              <a:gdLst>
                <a:gd name="T0" fmla="*/ 0 w 744"/>
                <a:gd name="T1" fmla="*/ 456 h 456"/>
                <a:gd name="T2" fmla="*/ 390 w 744"/>
                <a:gd name="T3" fmla="*/ 456 h 456"/>
                <a:gd name="T4" fmla="*/ 390 w 744"/>
                <a:gd name="T5" fmla="*/ 0 h 456"/>
                <a:gd name="T6" fmla="*/ 744 w 744"/>
                <a:gd name="T7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4" h="456">
                  <a:moveTo>
                    <a:pt x="0" y="456"/>
                  </a:moveTo>
                  <a:lnTo>
                    <a:pt x="390" y="456"/>
                  </a:lnTo>
                  <a:lnTo>
                    <a:pt x="390" y="0"/>
                  </a:lnTo>
                  <a:lnTo>
                    <a:pt x="744" y="0"/>
                  </a:lnTo>
                </a:path>
              </a:pathLst>
            </a:custGeom>
            <a:noFill/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1DEC5012-8A44-D2F3-9628-5C886870BF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0" y="1388"/>
            <a:ext cx="15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164880" progId="Equation.3">
                    <p:embed/>
                  </p:oleObj>
                </mc:Choice>
                <mc:Fallback>
                  <p:oleObj name="Equation" r:id="rId3" imgW="152280" imgH="164880" progId="Equation.3">
                    <p:embed/>
                    <p:pic>
                      <p:nvPicPr>
                        <p:cNvPr id="347144" name="Object 8">
                          <a:extLst>
                            <a:ext uri="{FF2B5EF4-FFF2-40B4-BE49-F238E27FC236}">
                              <a16:creationId xmlns:a16="http://schemas.microsoft.com/office/drawing/2014/main" id="{9A18FDDB-09D5-E543-2ABA-571D59F5E3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0" y="1388"/>
                          <a:ext cx="15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9">
              <a:extLst>
                <a:ext uri="{FF2B5EF4-FFF2-40B4-BE49-F238E27FC236}">
                  <a16:creationId xmlns:a16="http://schemas.microsoft.com/office/drawing/2014/main" id="{B195F9F5-EC93-F18F-C6F7-797463A780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2" y="1823"/>
            <a:ext cx="241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41200" imgH="203040" progId="Equation.3">
                    <p:embed/>
                  </p:oleObj>
                </mc:Choice>
                <mc:Fallback>
                  <p:oleObj name="Equation" r:id="rId5" imgW="241200" imgH="203040" progId="Equation.3">
                    <p:embed/>
                    <p:pic>
                      <p:nvPicPr>
                        <p:cNvPr id="347145" name="Object 9">
                          <a:extLst>
                            <a:ext uri="{FF2B5EF4-FFF2-40B4-BE49-F238E27FC236}">
                              <a16:creationId xmlns:a16="http://schemas.microsoft.com/office/drawing/2014/main" id="{18F7F179-A163-11C9-157E-DDDC4B50F8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2" y="1823"/>
                          <a:ext cx="241" cy="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0">
              <a:extLst>
                <a:ext uri="{FF2B5EF4-FFF2-40B4-BE49-F238E27FC236}">
                  <a16:creationId xmlns:a16="http://schemas.microsoft.com/office/drawing/2014/main" id="{66E6F5B0-874B-FA1A-4374-FC3709CB39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98" y="1120"/>
            <a:ext cx="14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9680" imgH="215640" progId="Equation.DSMT4">
                    <p:embed/>
                  </p:oleObj>
                </mc:Choice>
                <mc:Fallback>
                  <p:oleObj name="Equation" r:id="rId7" imgW="139680" imgH="215640" progId="Equation.DSMT4">
                    <p:embed/>
                    <p:pic>
                      <p:nvPicPr>
                        <p:cNvPr id="347146" name="Object 10">
                          <a:extLst>
                            <a:ext uri="{FF2B5EF4-FFF2-40B4-BE49-F238E27FC236}">
                              <a16:creationId xmlns:a16="http://schemas.microsoft.com/office/drawing/2014/main" id="{366B16F8-CD59-65C6-1309-74BCDEB50E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8" y="1120"/>
                          <a:ext cx="14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1">
              <a:extLst>
                <a:ext uri="{FF2B5EF4-FFF2-40B4-BE49-F238E27FC236}">
                  <a16:creationId xmlns:a16="http://schemas.microsoft.com/office/drawing/2014/main" id="{7062B314-2E35-E6CE-296A-1C097B0221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84" y="1611"/>
            <a:ext cx="140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9680" imgH="177480" progId="Equation.DSMT4">
                    <p:embed/>
                  </p:oleObj>
                </mc:Choice>
                <mc:Fallback>
                  <p:oleObj name="Equation" r:id="rId9" imgW="139680" imgH="177480" progId="Equation.DSMT4">
                    <p:embed/>
                    <p:pic>
                      <p:nvPicPr>
                        <p:cNvPr id="347147" name="Object 11">
                          <a:extLst>
                            <a:ext uri="{FF2B5EF4-FFF2-40B4-BE49-F238E27FC236}">
                              <a16:creationId xmlns:a16="http://schemas.microsoft.com/office/drawing/2014/main" id="{53915D6C-85AB-485A-30BD-E550044FC5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4" y="1611"/>
                          <a:ext cx="140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13">
            <a:extLst>
              <a:ext uri="{FF2B5EF4-FFF2-40B4-BE49-F238E27FC236}">
                <a16:creationId xmlns:a16="http://schemas.microsoft.com/office/drawing/2014/main" id="{A07534F1-F4A5-90D0-71B5-B7474076C0FF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8301218" y="3905250"/>
            <a:ext cx="21272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pt-BR" sz="1600" dirty="0" err="1"/>
              <a:t>One</a:t>
            </a:r>
            <a:r>
              <a:rPr lang="pt-BR" altLang="pt-BR" sz="1600" dirty="0"/>
              <a:t>-bit </a:t>
            </a:r>
            <a:r>
              <a:rPr lang="pt-BR" altLang="pt-BR" sz="1600" dirty="0" err="1"/>
              <a:t>quantizer</a:t>
            </a:r>
            <a:endParaRPr lang="pt-BR" altLang="pt-BR" sz="1600" dirty="0"/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C09EB275-6666-B5C7-F877-512BFF279741}"/>
              </a:ext>
            </a:extLst>
          </p:cNvPr>
          <p:cNvSpPr>
            <a:spLocks noChangeAspect="1" noChangeArrowheads="1"/>
          </p:cNvSpPr>
          <p:nvPr/>
        </p:nvSpPr>
        <p:spPr bwMode="blackWhite">
          <a:xfrm>
            <a:off x="5177019" y="1524000"/>
            <a:ext cx="320675" cy="320675"/>
          </a:xfrm>
          <a:prstGeom prst="ellips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r>
              <a:rPr lang="pt-BR" altLang="pt-BR">
                <a:sym typeface="Symbol" panose="05050102010706020507" pitchFamily="18" charset="2"/>
              </a:rPr>
              <a:t></a:t>
            </a:r>
          </a:p>
        </p:txBody>
      </p:sp>
      <p:sp>
        <p:nvSpPr>
          <p:cNvPr id="15" name="Oval 18">
            <a:extLst>
              <a:ext uri="{FF2B5EF4-FFF2-40B4-BE49-F238E27FC236}">
                <a16:creationId xmlns:a16="http://schemas.microsoft.com/office/drawing/2014/main" id="{5CF70749-7D3F-B256-2A28-3B229835B344}"/>
              </a:ext>
            </a:extLst>
          </p:cNvPr>
          <p:cNvSpPr>
            <a:spLocks noChangeAspect="1" noChangeArrowheads="1"/>
          </p:cNvSpPr>
          <p:nvPr/>
        </p:nvSpPr>
        <p:spPr bwMode="blackWhite">
          <a:xfrm>
            <a:off x="7031219" y="2644775"/>
            <a:ext cx="320675" cy="320675"/>
          </a:xfrm>
          <a:prstGeom prst="ellips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r>
              <a:rPr lang="pt-BR" altLang="pt-BR">
                <a:sym typeface="Symbol" panose="05050102010706020507" pitchFamily="18" charset="2"/>
              </a:rPr>
              <a:t></a:t>
            </a:r>
          </a:p>
        </p:txBody>
      </p:sp>
      <p:graphicFrame>
        <p:nvGraphicFramePr>
          <p:cNvPr id="16" name="Object 19">
            <a:extLst>
              <a:ext uri="{FF2B5EF4-FFF2-40B4-BE49-F238E27FC236}">
                <a16:creationId xmlns:a16="http://schemas.microsoft.com/office/drawing/2014/main" id="{87A2EF3C-25A1-D815-A69E-D656CB794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810963"/>
              </p:ext>
            </p:extLst>
          </p:nvPr>
        </p:nvGraphicFramePr>
        <p:xfrm>
          <a:off x="3894318" y="1755774"/>
          <a:ext cx="38100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7160" imgH="203040" progId="Equation.DSMT4">
                  <p:embed/>
                </p:oleObj>
              </mc:Choice>
              <mc:Fallback>
                <p:oleObj name="Equation" r:id="rId11" imgW="317160" imgH="203040" progId="Equation.DSMT4">
                  <p:embed/>
                  <p:pic>
                    <p:nvPicPr>
                      <p:cNvPr id="347155" name="Object 19">
                        <a:extLst>
                          <a:ext uri="{FF2B5EF4-FFF2-40B4-BE49-F238E27FC236}">
                            <a16:creationId xmlns:a16="http://schemas.microsoft.com/office/drawing/2014/main" id="{FA055183-6904-1B9C-4426-1A1BBFD6A8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318" y="1755774"/>
                        <a:ext cx="381000" cy="242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>
            <a:extLst>
              <a:ext uri="{FF2B5EF4-FFF2-40B4-BE49-F238E27FC236}">
                <a16:creationId xmlns:a16="http://schemas.microsoft.com/office/drawing/2014/main" id="{36524ED4-2B94-8363-B1FE-148FE6019B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168756"/>
              </p:ext>
            </p:extLst>
          </p:nvPr>
        </p:nvGraphicFramePr>
        <p:xfrm>
          <a:off x="4622982" y="1982787"/>
          <a:ext cx="593725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5000" imgH="215640" progId="Equation.DSMT4">
                  <p:embed/>
                </p:oleObj>
              </mc:Choice>
              <mc:Fallback>
                <p:oleObj name="Equation" r:id="rId13" imgW="495000" imgH="215640" progId="Equation.DSMT4">
                  <p:embed/>
                  <p:pic>
                    <p:nvPicPr>
                      <p:cNvPr id="347156" name="Object 20">
                        <a:extLst>
                          <a:ext uri="{FF2B5EF4-FFF2-40B4-BE49-F238E27FC236}">
                            <a16:creationId xmlns:a16="http://schemas.microsoft.com/office/drawing/2014/main" id="{F4BBA51A-6A15-0AAA-732E-8811F8CBD9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982" y="1982787"/>
                        <a:ext cx="593725" cy="2587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1">
            <a:extLst>
              <a:ext uri="{FF2B5EF4-FFF2-40B4-BE49-F238E27FC236}">
                <a16:creationId xmlns:a16="http://schemas.microsoft.com/office/drawing/2014/main" id="{002C84DA-03C8-205C-4581-0733B6F403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597756"/>
              </p:ext>
            </p:extLst>
          </p:nvPr>
        </p:nvGraphicFramePr>
        <p:xfrm>
          <a:off x="5577068" y="1419224"/>
          <a:ext cx="38100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7160" imgH="203040" progId="Equation.DSMT4">
                  <p:embed/>
                </p:oleObj>
              </mc:Choice>
              <mc:Fallback>
                <p:oleObj name="Equation" r:id="rId15" imgW="317160" imgH="203040" progId="Equation.DSMT4">
                  <p:embed/>
                  <p:pic>
                    <p:nvPicPr>
                      <p:cNvPr id="347157" name="Object 21">
                        <a:extLst>
                          <a:ext uri="{FF2B5EF4-FFF2-40B4-BE49-F238E27FC236}">
                            <a16:creationId xmlns:a16="http://schemas.microsoft.com/office/drawing/2014/main" id="{CA9806F5-B16D-0D55-BD0A-4E8D624DCE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7068" y="1419224"/>
                        <a:ext cx="381000" cy="242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>
            <a:extLst>
              <a:ext uri="{FF2B5EF4-FFF2-40B4-BE49-F238E27FC236}">
                <a16:creationId xmlns:a16="http://schemas.microsoft.com/office/drawing/2014/main" id="{3FF094C7-58FD-0273-433D-6A0507326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262595"/>
              </p:ext>
            </p:extLst>
          </p:nvPr>
        </p:nvGraphicFramePr>
        <p:xfrm>
          <a:off x="6993118" y="1327150"/>
          <a:ext cx="3810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17160" imgH="241200" progId="Equation.DSMT4">
                  <p:embed/>
                </p:oleObj>
              </mc:Choice>
              <mc:Fallback>
                <p:oleObj name="Equation" r:id="rId17" imgW="317160" imgH="241200" progId="Equation.DSMT4">
                  <p:embed/>
                  <p:pic>
                    <p:nvPicPr>
                      <p:cNvPr id="347158" name="Object 22">
                        <a:extLst>
                          <a:ext uri="{FF2B5EF4-FFF2-40B4-BE49-F238E27FC236}">
                            <a16:creationId xmlns:a16="http://schemas.microsoft.com/office/drawing/2014/main" id="{6DA018CA-A8CE-D0C8-72A3-582DB20252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3118" y="1327150"/>
                        <a:ext cx="381000" cy="288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3">
            <a:extLst>
              <a:ext uri="{FF2B5EF4-FFF2-40B4-BE49-F238E27FC236}">
                <a16:creationId xmlns:a16="http://schemas.microsoft.com/office/drawing/2014/main" id="{0D66A6C1-D399-27C4-C800-F05BD878CD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892193"/>
              </p:ext>
            </p:extLst>
          </p:nvPr>
        </p:nvGraphicFramePr>
        <p:xfrm>
          <a:off x="6574018" y="3351212"/>
          <a:ext cx="38100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7160" imgH="215640" progId="Equation.DSMT4">
                  <p:embed/>
                </p:oleObj>
              </mc:Choice>
              <mc:Fallback>
                <p:oleObj name="Equation" r:id="rId19" imgW="317160" imgH="215640" progId="Equation.DSMT4">
                  <p:embed/>
                  <p:pic>
                    <p:nvPicPr>
                      <p:cNvPr id="347159" name="Object 23">
                        <a:extLst>
                          <a:ext uri="{FF2B5EF4-FFF2-40B4-BE49-F238E27FC236}">
                            <a16:creationId xmlns:a16="http://schemas.microsoft.com/office/drawing/2014/main" id="{69826B4E-91C8-1D44-4E21-47BEAB1175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4018" y="3351212"/>
                        <a:ext cx="381000" cy="2587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Oval 24">
            <a:extLst>
              <a:ext uri="{FF2B5EF4-FFF2-40B4-BE49-F238E27FC236}">
                <a16:creationId xmlns:a16="http://schemas.microsoft.com/office/drawing/2014/main" id="{6C9856AD-0C9E-274A-29EC-48E5BCA0A34C}"/>
              </a:ext>
            </a:extLst>
          </p:cNvPr>
          <p:cNvSpPr>
            <a:spLocks noChangeAspect="1" noChangeArrowheads="1"/>
          </p:cNvSpPr>
          <p:nvPr/>
        </p:nvSpPr>
        <p:spPr bwMode="blackWhite">
          <a:xfrm>
            <a:off x="5618344" y="4927600"/>
            <a:ext cx="320675" cy="320675"/>
          </a:xfrm>
          <a:prstGeom prst="ellips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r>
              <a:rPr lang="pt-BR" altLang="pt-BR">
                <a:sym typeface="Symbol" panose="05050102010706020507" pitchFamily="18" charset="2"/>
              </a:rPr>
              <a:t></a:t>
            </a:r>
          </a:p>
        </p:txBody>
      </p:sp>
      <p:graphicFrame>
        <p:nvGraphicFramePr>
          <p:cNvPr id="22" name="Object 25">
            <a:extLst>
              <a:ext uri="{FF2B5EF4-FFF2-40B4-BE49-F238E27FC236}">
                <a16:creationId xmlns:a16="http://schemas.microsoft.com/office/drawing/2014/main" id="{C4436E75-9D4B-5DAC-DCAA-F133F9F8D8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672508"/>
              </p:ext>
            </p:extLst>
          </p:nvPr>
        </p:nvGraphicFramePr>
        <p:xfrm>
          <a:off x="5065893" y="4772025"/>
          <a:ext cx="3810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17160" imgH="241200" progId="Equation.DSMT4">
                  <p:embed/>
                </p:oleObj>
              </mc:Choice>
              <mc:Fallback>
                <p:oleObj name="Equation" r:id="rId21" imgW="317160" imgH="241200" progId="Equation.DSMT4">
                  <p:embed/>
                  <p:pic>
                    <p:nvPicPr>
                      <p:cNvPr id="347161" name="Object 25">
                        <a:extLst>
                          <a:ext uri="{FF2B5EF4-FFF2-40B4-BE49-F238E27FC236}">
                            <a16:creationId xmlns:a16="http://schemas.microsoft.com/office/drawing/2014/main" id="{FA669F8B-FBD4-4582-B5BB-94A072BE2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893" y="4772025"/>
                        <a:ext cx="381000" cy="288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6">
            <a:extLst>
              <a:ext uri="{FF2B5EF4-FFF2-40B4-BE49-F238E27FC236}">
                <a16:creationId xmlns:a16="http://schemas.microsoft.com/office/drawing/2014/main" id="{2A0CC3D3-F342-6A78-ABBE-2C82D2F34E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165384"/>
              </p:ext>
            </p:extLst>
          </p:nvPr>
        </p:nvGraphicFramePr>
        <p:xfrm>
          <a:off x="7142343" y="4786312"/>
          <a:ext cx="38100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17160" imgH="215640" progId="Equation.DSMT4">
                  <p:embed/>
                </p:oleObj>
              </mc:Choice>
              <mc:Fallback>
                <p:oleObj name="Equation" r:id="rId22" imgW="317160" imgH="215640" progId="Equation.DSMT4">
                  <p:embed/>
                  <p:pic>
                    <p:nvPicPr>
                      <p:cNvPr id="347162" name="Object 26">
                        <a:extLst>
                          <a:ext uri="{FF2B5EF4-FFF2-40B4-BE49-F238E27FC236}">
                            <a16:creationId xmlns:a16="http://schemas.microsoft.com/office/drawing/2014/main" id="{8C6C87D5-0712-1A3F-0C71-7C55898E49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343" y="4786312"/>
                        <a:ext cx="381000" cy="2587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aixaDeTexto 23">
            <a:extLst>
              <a:ext uri="{FF2B5EF4-FFF2-40B4-BE49-F238E27FC236}">
                <a16:creationId xmlns:a16="http://schemas.microsoft.com/office/drawing/2014/main" id="{83C95B39-7A5C-75CF-1EFB-14FA496B1D1D}"/>
              </a:ext>
            </a:extLst>
          </p:cNvPr>
          <p:cNvSpPr txBox="1"/>
          <p:nvPr/>
        </p:nvSpPr>
        <p:spPr>
          <a:xfrm>
            <a:off x="1334599" y="1540668"/>
            <a:ext cx="1754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Transmissor: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4604F39-F994-6722-036E-3073CD101C1F}"/>
              </a:ext>
            </a:extLst>
          </p:cNvPr>
          <p:cNvSpPr txBox="1"/>
          <p:nvPr/>
        </p:nvSpPr>
        <p:spPr>
          <a:xfrm>
            <a:off x="1352655" y="4167187"/>
            <a:ext cx="1394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Receptor: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8149D48-78DC-7F0E-88CE-E0AD40269161}"/>
                  </a:ext>
                </a:extLst>
              </p:cNvPr>
              <p:cNvSpPr txBox="1"/>
              <p:nvPr/>
            </p:nvSpPr>
            <p:spPr>
              <a:xfrm>
                <a:off x="1713053" y="2449513"/>
                <a:ext cx="31464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Sinal amostrado a taxa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≫2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8149D48-78DC-7F0E-88CE-E0AD40269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053" y="2449513"/>
                <a:ext cx="3146439" cy="369332"/>
              </a:xfrm>
              <a:prstGeom prst="rect">
                <a:avLst/>
              </a:prstGeom>
              <a:blipFill>
                <a:blip r:embed="rId23"/>
                <a:stretch>
                  <a:fillRect l="-1550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58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84F21-62DD-73CF-7AA5-E8DE800EC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Delta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90703D15-A41D-656A-39FA-94121E2FB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9"/>
          <a:stretch>
            <a:fillRect/>
          </a:stretch>
        </p:blipFill>
        <p:spPr bwMode="auto">
          <a:xfrm>
            <a:off x="1714500" y="1019175"/>
            <a:ext cx="89154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Rectangle 4">
            <a:extLst>
              <a:ext uri="{FF2B5EF4-FFF2-40B4-BE49-F238E27FC236}">
                <a16:creationId xmlns:a16="http://schemas.microsoft.com/office/drawing/2014/main" id="{3F28B8CF-2A4C-E754-5C75-649D7F3BC6A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00375" y="1323975"/>
            <a:ext cx="438150" cy="4629150"/>
          </a:xfrm>
          <a:prstGeom prst="rect">
            <a:avLst/>
          </a:prstGeom>
          <a:solidFill>
            <a:srgbClr val="66CCFF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5AD1E889-19AE-5A3A-380F-4E5F13EA8D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06825" y="1323975"/>
            <a:ext cx="438150" cy="4629150"/>
          </a:xfrm>
          <a:prstGeom prst="rect">
            <a:avLst/>
          </a:prstGeom>
          <a:solidFill>
            <a:srgbClr val="66CCFF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1D411379-35E9-BAF5-110E-8233CB98E7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16450" y="1323975"/>
            <a:ext cx="438150" cy="4629150"/>
          </a:xfrm>
          <a:prstGeom prst="rect">
            <a:avLst/>
          </a:prstGeom>
          <a:solidFill>
            <a:srgbClr val="66CCFF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96FFBD1F-4E55-D6E3-7E49-BA14376D3EE7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22900" y="1323975"/>
            <a:ext cx="438150" cy="4629150"/>
          </a:xfrm>
          <a:prstGeom prst="rect">
            <a:avLst/>
          </a:prstGeom>
          <a:solidFill>
            <a:srgbClr val="66CCFF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3BE3E749-BB0B-1D96-4974-F2BE301C08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42150" y="1323975"/>
            <a:ext cx="438150" cy="4629150"/>
          </a:xfrm>
          <a:prstGeom prst="rect">
            <a:avLst/>
          </a:prstGeom>
          <a:solidFill>
            <a:srgbClr val="66CCFF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19284769-2B0C-0DD7-E84F-2558EB7BFF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89875" y="1323975"/>
            <a:ext cx="438150" cy="4629150"/>
          </a:xfrm>
          <a:prstGeom prst="rect">
            <a:avLst/>
          </a:prstGeom>
          <a:solidFill>
            <a:srgbClr val="66CCFF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2" name="Rectangle 11">
            <a:extLst>
              <a:ext uri="{FF2B5EF4-FFF2-40B4-BE49-F238E27FC236}">
                <a16:creationId xmlns:a16="http://schemas.microsoft.com/office/drawing/2014/main" id="{F21ECB0C-36C0-D582-12B5-98088A4235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8696325" y="1323975"/>
            <a:ext cx="438150" cy="4629150"/>
          </a:xfrm>
          <a:prstGeom prst="rect">
            <a:avLst/>
          </a:prstGeom>
          <a:solidFill>
            <a:srgbClr val="66CCFF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D9271422-1B57-808E-BB85-64FC0239407D}"/>
              </a:ext>
            </a:extLst>
          </p:cNvPr>
          <p:cNvSpPr>
            <a:spLocks noChangeArrowheads="1"/>
          </p:cNvSpPr>
          <p:nvPr/>
        </p:nvSpPr>
        <p:spPr bwMode="gray">
          <a:xfrm>
            <a:off x="9536113" y="1354138"/>
            <a:ext cx="438150" cy="4629150"/>
          </a:xfrm>
          <a:prstGeom prst="rect">
            <a:avLst/>
          </a:prstGeom>
          <a:solidFill>
            <a:srgbClr val="66CCFF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46" name="Object 13">
            <a:extLst>
              <a:ext uri="{FF2B5EF4-FFF2-40B4-BE49-F238E27FC236}">
                <a16:creationId xmlns:a16="http://schemas.microsoft.com/office/drawing/2014/main" id="{E5C14543-1DEF-231F-9DAD-B04ADEB1BC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10551" y="1431925"/>
          <a:ext cx="46037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560" imgH="203040" progId="Equation.DSMT4">
                  <p:embed/>
                </p:oleObj>
              </mc:Choice>
              <mc:Fallback>
                <p:oleObj name="Equation" r:id="rId3" imgW="304560" imgH="203040" progId="Equation.DSMT4">
                  <p:embed/>
                  <p:pic>
                    <p:nvPicPr>
                      <p:cNvPr id="346125" name="Object 13">
                        <a:extLst>
                          <a:ext uri="{FF2B5EF4-FFF2-40B4-BE49-F238E27FC236}">
                            <a16:creationId xmlns:a16="http://schemas.microsoft.com/office/drawing/2014/main" id="{34E950AA-8A17-760D-A5D0-FAA2F72484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0551" y="1431925"/>
                        <a:ext cx="460375" cy="3063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4">
            <a:extLst>
              <a:ext uri="{FF2B5EF4-FFF2-40B4-BE49-F238E27FC236}">
                <a16:creationId xmlns:a16="http://schemas.microsoft.com/office/drawing/2014/main" id="{DC0F444B-2B4E-63FB-C03E-9E2A5D988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9701" y="3422650"/>
          <a:ext cx="460375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560" imgH="215640" progId="Equation.DSMT4">
                  <p:embed/>
                </p:oleObj>
              </mc:Choice>
              <mc:Fallback>
                <p:oleObj name="Equation" r:id="rId5" imgW="304560" imgH="215640" progId="Equation.DSMT4">
                  <p:embed/>
                  <p:pic>
                    <p:nvPicPr>
                      <p:cNvPr id="346126" name="Object 14">
                        <a:extLst>
                          <a:ext uri="{FF2B5EF4-FFF2-40B4-BE49-F238E27FC236}">
                            <a16:creationId xmlns:a16="http://schemas.microsoft.com/office/drawing/2014/main" id="{D4019C80-9FDE-2363-4771-F934A6AA67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9701" y="3422650"/>
                        <a:ext cx="460375" cy="325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Rectangle 15">
            <a:extLst>
              <a:ext uri="{FF2B5EF4-FFF2-40B4-BE49-F238E27FC236}">
                <a16:creationId xmlns:a16="http://schemas.microsoft.com/office/drawing/2014/main" id="{C3785816-CB9E-EB9C-B0BE-C8495384BFD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24601" y="4558784"/>
            <a:ext cx="109119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>
            <a:spAutoFit/>
          </a:bodyPr>
          <a:lstStyle/>
          <a:p>
            <a:endParaRPr lang="pt-BR"/>
          </a:p>
        </p:txBody>
      </p:sp>
      <p:sp>
        <p:nvSpPr>
          <p:cNvPr id="52" name="Rectangle 8">
            <a:extLst>
              <a:ext uri="{FF2B5EF4-FFF2-40B4-BE49-F238E27FC236}">
                <a16:creationId xmlns:a16="http://schemas.microsoft.com/office/drawing/2014/main" id="{F0680D4D-EB76-C463-4E28-2EF7DC43E0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26175" y="1323975"/>
            <a:ext cx="438150" cy="4629150"/>
          </a:xfrm>
          <a:prstGeom prst="rect">
            <a:avLst/>
          </a:prstGeom>
          <a:solidFill>
            <a:srgbClr val="66CCFF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2713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43939-A888-570B-62F8-7CDCD80F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Delta</a:t>
            </a:r>
            <a:br>
              <a:rPr lang="pt-BR" dirty="0"/>
            </a:br>
            <a:r>
              <a:rPr lang="pt-BR" dirty="0"/>
              <a:t>Erros de Quantização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B17449D-409B-A2E5-012B-6795AB4E9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65326"/>
            <a:ext cx="8362950" cy="340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888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F4C06-9C1F-0899-E904-AF6300BA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Adaptive</a:t>
            </a:r>
            <a:r>
              <a:rPr lang="pt-BR" dirty="0"/>
              <a:t> Delta </a:t>
            </a:r>
            <a:r>
              <a:rPr lang="pt-BR" dirty="0" err="1"/>
              <a:t>Modulation</a:t>
            </a:r>
            <a:r>
              <a:rPr lang="pt-BR" dirty="0"/>
              <a:t> (ADM)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7DDBE7-4CED-482D-9E83-CD84CBDD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Ruído de granularidade e </a:t>
            </a:r>
            <a:r>
              <a:rPr lang="pt-BR" dirty="0" err="1"/>
              <a:t>slope</a:t>
            </a:r>
            <a:r>
              <a:rPr lang="pt-BR" dirty="0"/>
              <a:t> </a:t>
            </a:r>
            <a:r>
              <a:rPr lang="pt-BR" dirty="0" err="1"/>
              <a:t>distortion</a:t>
            </a:r>
            <a:r>
              <a:rPr lang="pt-BR" dirty="0"/>
              <a:t> dependem do tamanho de passo </a:t>
            </a:r>
            <a:r>
              <a:rPr lang="pt-BR" dirty="0">
                <a:latin typeface="Symbol" panose="05050102010706020507" pitchFamily="18" charset="2"/>
              </a:rPr>
              <a:t>D</a:t>
            </a:r>
            <a:endParaRPr lang="pt-BR" dirty="0"/>
          </a:p>
          <a:p>
            <a:r>
              <a:rPr lang="pt-BR" dirty="0"/>
              <a:t>Podemos variar o passo de acordo com características do sinal</a:t>
            </a:r>
          </a:p>
        </p:txBody>
      </p:sp>
    </p:spTree>
    <p:extLst>
      <p:ext uri="{BB962C8B-B14F-4D97-AF65-F5344CB8AC3E}">
        <p14:creationId xmlns:p14="http://schemas.microsoft.com/office/powerpoint/2010/main" val="295883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7F4F5-5CD0-9550-D3C8-9342AC5B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Delta</a:t>
            </a:r>
            <a:br>
              <a:rPr lang="pt-BR" dirty="0"/>
            </a:br>
            <a:r>
              <a:rPr lang="pt-BR" dirty="0"/>
              <a:t>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8C8E7D-C1A1-CC48-951B-A58E65760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Modulação Delta teve pouca aplicação para codificação de voz</a:t>
            </a:r>
          </a:p>
          <a:p>
            <a:pPr lvl="1"/>
            <a:r>
              <a:rPr lang="pt-BR" dirty="0"/>
              <a:t>Exceto em algumas aplicações militares</a:t>
            </a:r>
          </a:p>
          <a:p>
            <a:pPr lvl="1"/>
            <a:endParaRPr lang="pt-BR" dirty="0"/>
          </a:p>
          <a:p>
            <a:r>
              <a:rPr lang="pt-BR" dirty="0"/>
              <a:t>Mas é a base de conversores analógico-digital modernos</a:t>
            </a:r>
          </a:p>
        </p:txBody>
      </p:sp>
    </p:spTree>
    <p:extLst>
      <p:ext uri="{BB962C8B-B14F-4D97-AF65-F5344CB8AC3E}">
        <p14:creationId xmlns:p14="http://schemas.microsoft.com/office/powerpoint/2010/main" val="125710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79FE441-B5D8-464E-B272-E5E9701C444C}">
  <ds:schemaRefs>
    <ds:schemaRef ds:uri="http://purl.org/dc/terms/"/>
    <ds:schemaRef ds:uri="95c025fe-a600-4cde-9b8b-77161b10ab73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dcmitype/"/>
    <ds:schemaRef ds:uri="http://purl.org/dc/elements/1.1/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7338d0ee-48d0-42fd-8eee-cce9c16843bc"/>
  </ds:schemaRefs>
</ds:datastoreItem>
</file>

<file path=docMetadata/LabelInfo.xml><?xml version="1.0" encoding="utf-8"?>
<clbl:labelList xmlns:clbl="http://schemas.microsoft.com/office/2020/mipLabelMetadata">
  <clbl:label id="{7bb687e1-528c-4a97-96fd-c3e17978a68f}" enabled="1" method="Privileged" siteId="{a5a01691-338c-4b57-812c-24d594995cd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21383</TotalTime>
  <Words>1043</Words>
  <Application>Microsoft Office PowerPoint</Application>
  <PresentationFormat>Widescreen</PresentationFormat>
  <Paragraphs>260</Paragraphs>
  <Slides>35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4</vt:i4>
      </vt:variant>
      <vt:variant>
        <vt:lpstr>Títulos de slides</vt:lpstr>
      </vt:variant>
      <vt:variant>
        <vt:i4>35</vt:i4>
      </vt:variant>
    </vt:vector>
  </HeadingPairs>
  <TitlesOfParts>
    <vt:vector size="48" baseType="lpstr">
      <vt:lpstr>Arial</vt:lpstr>
      <vt:lpstr>Arial Narrow</vt:lpstr>
      <vt:lpstr>Calibri</vt:lpstr>
      <vt:lpstr>Calibri Light</vt:lpstr>
      <vt:lpstr>Cambria Math</vt:lpstr>
      <vt:lpstr>Segoe UI Black</vt:lpstr>
      <vt:lpstr>Symbol</vt:lpstr>
      <vt:lpstr>Times New Roman</vt:lpstr>
      <vt:lpstr>Tema do Office</vt:lpstr>
      <vt:lpstr>Equation</vt:lpstr>
      <vt:lpstr>Microsoft Equation 3.0</vt:lpstr>
      <vt:lpstr>MathType 6.0 Equation</vt:lpstr>
      <vt:lpstr>Documento</vt:lpstr>
      <vt:lpstr>Pulse Code Modulation</vt:lpstr>
      <vt:lpstr>Pulse Code Modulation (PCM) </vt:lpstr>
      <vt:lpstr>Taxa de Bits do PCM</vt:lpstr>
      <vt:lpstr>Erro de quantização relativo</vt:lpstr>
      <vt:lpstr>Quantização Não-Uniforme</vt:lpstr>
      <vt:lpstr>Quantização não-uniforme baseada Compansão </vt:lpstr>
      <vt:lpstr>Quantização não-uniforme baseada Compansão (Companding)</vt:lpstr>
      <vt:lpstr>Padrão PCM para codificação de voz ITU-T G.711</vt:lpstr>
      <vt:lpstr>Características de compressão </vt:lpstr>
      <vt:lpstr>Sistema PCM Lei m - EUA, Canadá e Japão</vt:lpstr>
      <vt:lpstr>Sistema PCM Lei A – Resto do Mundo</vt:lpstr>
      <vt:lpstr>Razão Sinal-Ruído de Quantização Com Compansão </vt:lpstr>
      <vt:lpstr>Log-PCM: Lei-A ou Lei-m ITU-T G.711</vt:lpstr>
      <vt:lpstr>Largura de banda de transmissão requerida pelo PCM</vt:lpstr>
      <vt:lpstr>Largura de banda de transmissão requerida pelo PCM</vt:lpstr>
      <vt:lpstr>Sinalização NRZ binária e quaternária</vt:lpstr>
      <vt:lpstr>Sinalização NRZ binária e quaternária</vt:lpstr>
      <vt:lpstr>Elementos básicos de um sistema PCM</vt:lpstr>
      <vt:lpstr>Codificação PCM diferencial – DPCM</vt:lpstr>
      <vt:lpstr>Codificação PCM diferencial – DPCM</vt:lpstr>
      <vt:lpstr>Filtro transversal usado como preditor linear</vt:lpstr>
      <vt:lpstr>Efeito da predição na faixa dinâmica das amostras</vt:lpstr>
      <vt:lpstr>Sistema DPCM Prático</vt:lpstr>
      <vt:lpstr>Sistema DPCM: transmissor e receptor</vt:lpstr>
      <vt:lpstr>DPCM – Ganho de Predição</vt:lpstr>
      <vt:lpstr>Ganho de Predição</vt:lpstr>
      <vt:lpstr>ADPCM – G.726</vt:lpstr>
      <vt:lpstr>Padrões ITU-T para telefonia fixa</vt:lpstr>
      <vt:lpstr>Padrões do ITU-T para telefonia fixa</vt:lpstr>
      <vt:lpstr>Padrões ITU-T para telefonia fixa</vt:lpstr>
      <vt:lpstr>Modulação Delta</vt:lpstr>
      <vt:lpstr>Modulação Delta Exemplo</vt:lpstr>
      <vt:lpstr>Modulação Delta Erros de Quantização</vt:lpstr>
      <vt:lpstr>Adaptive Delta Modulation (ADM)</vt:lpstr>
      <vt:lpstr>Modulação Delta Uso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40</cp:revision>
  <cp:lastPrinted>2017-06-06T18:46:34Z</cp:lastPrinted>
  <dcterms:created xsi:type="dcterms:W3CDTF">2022-06-23T16:27:38Z</dcterms:created>
  <dcterms:modified xsi:type="dcterms:W3CDTF">2026-10-27T22:48:38Z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