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9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6" r:id="rId29"/>
    <p:sldId id="314" r:id="rId30"/>
    <p:sldId id="317" r:id="rId31"/>
    <p:sldId id="315" r:id="rId32"/>
    <p:sldId id="318" r:id="rId33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03F"/>
    <a:srgbClr val="C9252C"/>
    <a:srgbClr val="DDDDDD"/>
    <a:srgbClr val="221B6F"/>
    <a:srgbClr val="FFFFFF"/>
    <a:srgbClr val="231F20"/>
    <a:srgbClr val="72BF44"/>
    <a:srgbClr val="383B71"/>
    <a:srgbClr val="393C73"/>
    <a:srgbClr val="E6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E2FD8-2414-4687-AB0C-841F36F67FDA}" v="230" dt="2026-08-14T20:06:48.041"/>
    <p1510:client id="{9DFB60FD-7C5E-4764-B324-69A4091C7317}" v="39" dt="2026-08-13T22:05:57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28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20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BEF14-27CB-229E-D948-E87EB293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“Comunicação”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3DB43C-64B6-EDEA-F62A-DF4F06F07FED}"/>
              </a:ext>
            </a:extLst>
          </p:cNvPr>
          <p:cNvSpPr txBox="1">
            <a:spLocks/>
          </p:cNvSpPr>
          <p:nvPr/>
        </p:nvSpPr>
        <p:spPr>
          <a:xfrm>
            <a:off x="838200" y="1455511"/>
            <a:ext cx="10515600" cy="435133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Segundo a Wikipedia</a:t>
            </a:r>
          </a:p>
          <a:p>
            <a:r>
              <a:rPr lang="pt-BR" dirty="0"/>
              <a:t>A comunicação (do latim </a:t>
            </a:r>
            <a:r>
              <a:rPr lang="pt-BR" i="1" dirty="0" err="1"/>
              <a:t>communicatio.onis</a:t>
            </a:r>
            <a:r>
              <a:rPr lang="pt-BR" i="1" dirty="0"/>
              <a:t>,</a:t>
            </a:r>
            <a:r>
              <a:rPr lang="pt-BR" baseline="30000" dirty="0"/>
              <a:t>]</a:t>
            </a:r>
            <a:r>
              <a:rPr lang="pt-BR" dirty="0"/>
              <a:t>que significa "ação de participar") é um processo que envolve a </a:t>
            </a:r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troca de informações entre dois ou mais interlocutores por meio de signos e regras semióticas mutuamente entendíveis</a:t>
            </a:r>
            <a:r>
              <a:rPr lang="pt-BR" dirty="0"/>
              <a:t>. Trata-se de um processo social primário, que permite </a:t>
            </a:r>
            <a:r>
              <a:rPr lang="pt-BR" b="1" dirty="0">
                <a:solidFill>
                  <a:srgbClr val="002060"/>
                </a:solidFill>
              </a:rPr>
              <a:t>criar e interpretar mensagens</a:t>
            </a:r>
            <a:r>
              <a:rPr lang="pt-BR" dirty="0"/>
              <a:t> que provocam uma resposta.</a:t>
            </a:r>
          </a:p>
          <a:p>
            <a:r>
              <a:rPr lang="pt-BR" dirty="0"/>
              <a:t>As telecomunicações dizem respeito às </a:t>
            </a:r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distintas tecnologias </a:t>
            </a:r>
            <a:r>
              <a:rPr lang="pt-BR" dirty="0"/>
              <a:t>de </a:t>
            </a:r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comunicações à distância </a:t>
            </a:r>
            <a:r>
              <a:rPr lang="pt-BR" dirty="0"/>
              <a:t>, como a telegrafia, a telefonia, as radiocomunicações, a teledifusão e a internet, entre outras </a:t>
            </a:r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que envolvem a transmissão e recepção de sinais de áudio (sons), vídeo (imagens) e dados</a:t>
            </a:r>
            <a:r>
              <a:rPr lang="pt-BR" dirty="0"/>
              <a:t>.</a:t>
            </a:r>
          </a:p>
          <a:p>
            <a:r>
              <a:rPr lang="pt-BR" dirty="0"/>
              <a:t>A principal finalidade das telecomunicações é suprir a necessidade humana de </a:t>
            </a:r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se comunicar à distância</a:t>
            </a:r>
            <a:r>
              <a:rPr lang="pt-BR" dirty="0"/>
              <a:t>. (Notas: Não só à distância, mas no tempo, e hoje em dia, não só humana)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36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00EF9-103F-0515-838F-926441E9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Comunicação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CAACBC2-6C3D-AA67-3813-7FD633B61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840" y="1175658"/>
            <a:ext cx="6708835" cy="495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3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A36B8-6984-3E65-BDCC-61AA27B06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 de Comunicações</a:t>
            </a:r>
          </a:p>
        </p:txBody>
      </p:sp>
      <p:pic>
        <p:nvPicPr>
          <p:cNvPr id="4" name="Imagem 3" descr="Telecommunication Network Diagrams Solution | ConceptDraw.com">
            <a:extLst>
              <a:ext uri="{FF2B5EF4-FFF2-40B4-BE49-F238E27FC236}">
                <a16:creationId xmlns:a16="http://schemas.microsoft.com/office/drawing/2014/main" id="{4EF6FFE1-A4D3-98CE-DFB0-DB8AE9C55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898" y="1439977"/>
            <a:ext cx="5780868" cy="446370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C1A817A-1CD7-5652-DE04-147F380D2DF6}"/>
              </a:ext>
            </a:extLst>
          </p:cNvPr>
          <p:cNvSpPr txBox="1"/>
          <p:nvPr/>
        </p:nvSpPr>
        <p:spPr>
          <a:xfrm>
            <a:off x="2609010" y="6169527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Cada linha é um </a:t>
            </a:r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enlace / link</a:t>
            </a:r>
          </a:p>
        </p:txBody>
      </p:sp>
    </p:spTree>
    <p:extLst>
      <p:ext uri="{BB962C8B-B14F-4D97-AF65-F5344CB8AC3E}">
        <p14:creationId xmlns:p14="http://schemas.microsoft.com/office/powerpoint/2010/main" val="152618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72777-AB77-0E15-A1D8-02CC299A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Enlace de um Sistema de Comunicações</a:t>
            </a:r>
          </a:p>
        </p:txBody>
      </p:sp>
      <p:grpSp>
        <p:nvGrpSpPr>
          <p:cNvPr id="4" name="Group 37">
            <a:extLst>
              <a:ext uri="{FF2B5EF4-FFF2-40B4-BE49-F238E27FC236}">
                <a16:creationId xmlns:a16="http://schemas.microsoft.com/office/drawing/2014/main" id="{EA209A58-47E7-F17E-081C-19F0D30517F2}"/>
              </a:ext>
            </a:extLst>
          </p:cNvPr>
          <p:cNvGrpSpPr>
            <a:grpSpLocks/>
          </p:cNvGrpSpPr>
          <p:nvPr/>
        </p:nvGrpSpPr>
        <p:grpSpPr bwMode="auto">
          <a:xfrm>
            <a:off x="1649413" y="2032001"/>
            <a:ext cx="1414462" cy="4511675"/>
            <a:chOff x="79" y="1280"/>
            <a:chExt cx="891" cy="2842"/>
          </a:xfrm>
        </p:grpSpPr>
        <p:sp>
          <p:nvSpPr>
            <p:cNvPr id="5" name="Text Box 23">
              <a:extLst>
                <a:ext uri="{FF2B5EF4-FFF2-40B4-BE49-F238E27FC236}">
                  <a16:creationId xmlns:a16="http://schemas.microsoft.com/office/drawing/2014/main" id="{0CB961E1-0691-BBE7-4507-69BDDDFF3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" y="1280"/>
              <a:ext cx="674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solidFill>
                    <a:schemeClr val="hlink"/>
                  </a:solidFill>
                  <a:latin typeface="Arial" pitchFamily="34" charset="0"/>
                  <a:cs typeface="Arial" pitchFamily="34" charset="0"/>
                </a:rPr>
                <a:t>mensagem</a:t>
              </a:r>
            </a:p>
          </p:txBody>
        </p:sp>
        <p:pic>
          <p:nvPicPr>
            <p:cNvPr id="6" name="Picture 24" descr="EN00500_">
              <a:extLst>
                <a:ext uri="{FF2B5EF4-FFF2-40B4-BE49-F238E27FC236}">
                  <a16:creationId xmlns:a16="http://schemas.microsoft.com/office/drawing/2014/main" id="{BA3C237D-0BC5-AD2F-8F88-D180AC050E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7" y="2916"/>
              <a:ext cx="647" cy="611"/>
            </a:xfrm>
            <a:prstGeom prst="rect">
              <a:avLst/>
            </a:prstGeom>
            <a:noFill/>
          </p:spPr>
        </p:pic>
        <p:grpSp>
          <p:nvGrpSpPr>
            <p:cNvPr id="7" name="Group 28">
              <a:extLst>
                <a:ext uri="{FF2B5EF4-FFF2-40B4-BE49-F238E27FC236}">
                  <a16:creationId xmlns:a16="http://schemas.microsoft.com/office/drawing/2014/main" id="{C9F3D6A8-8F5B-7D0D-EB65-242094085A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" y="1562"/>
              <a:ext cx="817" cy="1324"/>
              <a:chOff x="79" y="1770"/>
              <a:chExt cx="879" cy="1351"/>
            </a:xfrm>
          </p:grpSpPr>
          <p:pic>
            <p:nvPicPr>
              <p:cNvPr id="10" name="Picture 26" descr="Peop30">
                <a:extLst>
                  <a:ext uri="{FF2B5EF4-FFF2-40B4-BE49-F238E27FC236}">
                    <a16:creationId xmlns:a16="http://schemas.microsoft.com/office/drawing/2014/main" id="{14413FA2-9C69-28CC-91F9-AB0367D527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10" y="1770"/>
                <a:ext cx="596" cy="1235"/>
              </a:xfrm>
              <a:prstGeom prst="rect">
                <a:avLst/>
              </a:prstGeom>
              <a:noFill/>
            </p:spPr>
          </p:pic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FE1224DB-D1CB-D31C-C24F-F4EAED7CCD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" y="2356"/>
                <a:ext cx="879" cy="765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>
                  <a:latin typeface="Arial" pitchFamily="34" charset="0"/>
                  <a:cs typeface="Arial" pitchFamily="34" charset="0"/>
                </a:endParaRPr>
              </a:p>
            </p:txBody>
          </p:sp>
        </p:grpSp>
        <p:pic>
          <p:nvPicPr>
            <p:cNvPr id="8" name="Picture 25" descr="EN00354_">
              <a:extLst>
                <a:ext uri="{FF2B5EF4-FFF2-40B4-BE49-F238E27FC236}">
                  <a16:creationId xmlns:a16="http://schemas.microsoft.com/office/drawing/2014/main" id="{83D21547-417B-2CE4-A2A6-2EF2793A5C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6" y="2203"/>
              <a:ext cx="884" cy="692"/>
            </a:xfrm>
            <a:prstGeom prst="rect">
              <a:avLst/>
            </a:prstGeom>
            <a:noFill/>
          </p:spPr>
        </p:pic>
        <p:pic>
          <p:nvPicPr>
            <p:cNvPr id="9" name="Picture 36" descr="BS00580_">
              <a:extLst>
                <a:ext uri="{FF2B5EF4-FFF2-40B4-BE49-F238E27FC236}">
                  <a16:creationId xmlns:a16="http://schemas.microsoft.com/office/drawing/2014/main" id="{D8F7F461-E933-4E68-8F8B-3396FC277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52" y="3600"/>
              <a:ext cx="620" cy="522"/>
            </a:xfrm>
            <a:prstGeom prst="rect">
              <a:avLst/>
            </a:prstGeom>
            <a:noFill/>
          </p:spPr>
        </p:pic>
      </p:grpSp>
      <p:grpSp>
        <p:nvGrpSpPr>
          <p:cNvPr id="12" name="Group 84">
            <a:extLst>
              <a:ext uri="{FF2B5EF4-FFF2-40B4-BE49-F238E27FC236}">
                <a16:creationId xmlns:a16="http://schemas.microsoft.com/office/drawing/2014/main" id="{CA0865CA-12F4-5861-2C3B-D04EB3479C7C}"/>
              </a:ext>
            </a:extLst>
          </p:cNvPr>
          <p:cNvGrpSpPr>
            <a:grpSpLocks/>
          </p:cNvGrpSpPr>
          <p:nvPr/>
        </p:nvGrpSpPr>
        <p:grpSpPr bwMode="auto">
          <a:xfrm>
            <a:off x="2138364" y="1519239"/>
            <a:ext cx="2478087" cy="2651125"/>
            <a:chOff x="387" y="957"/>
            <a:chExt cx="1561" cy="1670"/>
          </a:xfrm>
        </p:grpSpPr>
        <p:grpSp>
          <p:nvGrpSpPr>
            <p:cNvPr id="13" name="Group 29">
              <a:extLst>
                <a:ext uri="{FF2B5EF4-FFF2-40B4-BE49-F238E27FC236}">
                  <a16:creationId xmlns:a16="http://schemas.microsoft.com/office/drawing/2014/main" id="{91749660-B231-9737-C90A-3C3B72D375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" y="957"/>
              <a:ext cx="1200" cy="362"/>
              <a:chOff x="387" y="1192"/>
              <a:chExt cx="1200" cy="362"/>
            </a:xfrm>
          </p:grpSpPr>
          <p:sp>
            <p:nvSpPr>
              <p:cNvPr id="21" name="Rectangle 4">
                <a:extLst>
                  <a:ext uri="{FF2B5EF4-FFF2-40B4-BE49-F238E27FC236}">
                    <a16:creationId xmlns:a16="http://schemas.microsoft.com/office/drawing/2014/main" id="{E5EC3B86-7DC8-8E40-4B65-4E9E76FFF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1192"/>
                <a:ext cx="576" cy="3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762000"/>
                <a:r>
                  <a:rPr lang="en-US" sz="1400" dirty="0" err="1">
                    <a:latin typeface="Arial" pitchFamily="34" charset="0"/>
                    <a:cs typeface="Arial" pitchFamily="34" charset="0"/>
                  </a:rPr>
                  <a:t>transdutor</a:t>
                </a:r>
                <a:endParaRPr lang="en-US" sz="14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" name="Line 15">
                <a:extLst>
                  <a:ext uri="{FF2B5EF4-FFF2-40B4-BE49-F238E27FC236}">
                    <a16:creationId xmlns:a16="http://schemas.microsoft.com/office/drawing/2014/main" id="{F1B223CD-D068-721B-55E1-C84E65FDC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" y="1372"/>
                <a:ext cx="40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pt-BR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3" name="Line 16">
                <a:extLst>
                  <a:ext uri="{FF2B5EF4-FFF2-40B4-BE49-F238E27FC236}">
                    <a16:creationId xmlns:a16="http://schemas.microsoft.com/office/drawing/2014/main" id="{0A9D02A1-1F7A-6698-75C3-D2E79D4C8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7" y="1372"/>
                <a:ext cx="2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pt-BR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4" name="Group 48">
              <a:extLst>
                <a:ext uri="{FF2B5EF4-FFF2-40B4-BE49-F238E27FC236}">
                  <a16:creationId xmlns:a16="http://schemas.microsoft.com/office/drawing/2014/main" id="{9BC92972-34A1-0F40-69B5-B4E6777A0B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1" y="1695"/>
              <a:ext cx="867" cy="932"/>
              <a:chOff x="1081" y="1285"/>
              <a:chExt cx="867" cy="932"/>
            </a:xfrm>
          </p:grpSpPr>
          <p:sp>
            <p:nvSpPr>
              <p:cNvPr id="16" name="Text Box 31">
                <a:extLst>
                  <a:ext uri="{FF2B5EF4-FFF2-40B4-BE49-F238E27FC236}">
                    <a16:creationId xmlns:a16="http://schemas.microsoft.com/office/drawing/2014/main" id="{74E3DF67-5625-C2B3-8E64-BCFCA82863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1" y="1285"/>
                <a:ext cx="505" cy="3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defTabSz="762000"/>
                <a:r>
                  <a:rPr lang="en-US" sz="1400" i="1">
                    <a:solidFill>
                      <a:schemeClr val="hlink"/>
                    </a:solidFill>
                    <a:latin typeface="Arial" pitchFamily="34" charset="0"/>
                    <a:cs typeface="Arial" pitchFamily="34" charset="0"/>
                  </a:rPr>
                  <a:t>sinal de</a:t>
                </a:r>
              </a:p>
              <a:p>
                <a:pPr defTabSz="762000"/>
                <a:r>
                  <a:rPr lang="en-US" sz="1400" i="1">
                    <a:solidFill>
                      <a:schemeClr val="hlink"/>
                    </a:solidFill>
                    <a:latin typeface="Arial" pitchFamily="34" charset="0"/>
                    <a:cs typeface="Arial" pitchFamily="34" charset="0"/>
                  </a:rPr>
                  <a:t>entrada</a:t>
                </a:r>
              </a:p>
            </p:txBody>
          </p:sp>
          <p:grpSp>
            <p:nvGrpSpPr>
              <p:cNvPr id="17" name="Group 35">
                <a:extLst>
                  <a:ext uri="{FF2B5EF4-FFF2-40B4-BE49-F238E27FC236}">
                    <a16:creationId xmlns:a16="http://schemas.microsoft.com/office/drawing/2014/main" id="{4C726C32-84E3-E9F4-BD49-1E38E0CB4A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1" y="1804"/>
                <a:ext cx="867" cy="413"/>
                <a:chOff x="1356" y="2284"/>
                <a:chExt cx="1072" cy="413"/>
              </a:xfrm>
            </p:grpSpPr>
            <p:sp>
              <p:nvSpPr>
                <p:cNvPr id="18" name="Freeform 32">
                  <a:extLst>
                    <a:ext uri="{FF2B5EF4-FFF2-40B4-BE49-F238E27FC236}">
                      <a16:creationId xmlns:a16="http://schemas.microsoft.com/office/drawing/2014/main" id="{64B9BD7D-6D66-2E23-1680-F480DA4E94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6" y="2284"/>
                  <a:ext cx="733" cy="413"/>
                </a:xfrm>
                <a:custGeom>
                  <a:avLst/>
                  <a:gdLst/>
                  <a:ahLst/>
                  <a:cxnLst>
                    <a:cxn ang="0">
                      <a:pos x="0" y="261"/>
                    </a:cxn>
                    <a:cxn ang="0">
                      <a:pos x="21" y="177"/>
                    </a:cxn>
                    <a:cxn ang="0">
                      <a:pos x="68" y="109"/>
                    </a:cxn>
                    <a:cxn ang="0">
                      <a:pos x="120" y="104"/>
                    </a:cxn>
                    <a:cxn ang="0">
                      <a:pos x="152" y="182"/>
                    </a:cxn>
                    <a:cxn ang="0">
                      <a:pos x="199" y="4"/>
                    </a:cxn>
                    <a:cxn ang="0">
                      <a:pos x="262" y="161"/>
                    </a:cxn>
                    <a:cxn ang="0">
                      <a:pos x="377" y="387"/>
                    </a:cxn>
                    <a:cxn ang="0">
                      <a:pos x="450" y="318"/>
                    </a:cxn>
                    <a:cxn ang="0">
                      <a:pos x="492" y="161"/>
                    </a:cxn>
                    <a:cxn ang="0">
                      <a:pos x="570" y="88"/>
                    </a:cxn>
                    <a:cxn ang="0">
                      <a:pos x="680" y="313"/>
                    </a:cxn>
                    <a:cxn ang="0">
                      <a:pos x="733" y="240"/>
                    </a:cxn>
                  </a:cxnLst>
                  <a:rect l="0" t="0" r="r" b="b"/>
                  <a:pathLst>
                    <a:path w="733" h="413">
                      <a:moveTo>
                        <a:pt x="0" y="261"/>
                      </a:moveTo>
                      <a:cubicBezTo>
                        <a:pt x="5" y="231"/>
                        <a:pt x="10" y="202"/>
                        <a:pt x="21" y="177"/>
                      </a:cubicBezTo>
                      <a:cubicBezTo>
                        <a:pt x="32" y="152"/>
                        <a:pt x="52" y="121"/>
                        <a:pt x="68" y="109"/>
                      </a:cubicBezTo>
                      <a:cubicBezTo>
                        <a:pt x="84" y="97"/>
                        <a:pt x="106" y="92"/>
                        <a:pt x="120" y="104"/>
                      </a:cubicBezTo>
                      <a:cubicBezTo>
                        <a:pt x="134" y="116"/>
                        <a:pt x="139" y="199"/>
                        <a:pt x="152" y="182"/>
                      </a:cubicBezTo>
                      <a:cubicBezTo>
                        <a:pt x="165" y="165"/>
                        <a:pt x="181" y="8"/>
                        <a:pt x="199" y="4"/>
                      </a:cubicBezTo>
                      <a:cubicBezTo>
                        <a:pt x="217" y="0"/>
                        <a:pt x="232" y="97"/>
                        <a:pt x="262" y="161"/>
                      </a:cubicBezTo>
                      <a:cubicBezTo>
                        <a:pt x="292" y="225"/>
                        <a:pt x="346" y="361"/>
                        <a:pt x="377" y="387"/>
                      </a:cubicBezTo>
                      <a:cubicBezTo>
                        <a:pt x="408" y="413"/>
                        <a:pt x="431" y="356"/>
                        <a:pt x="450" y="318"/>
                      </a:cubicBezTo>
                      <a:cubicBezTo>
                        <a:pt x="469" y="280"/>
                        <a:pt x="472" y="199"/>
                        <a:pt x="492" y="161"/>
                      </a:cubicBezTo>
                      <a:cubicBezTo>
                        <a:pt x="512" y="123"/>
                        <a:pt x="539" y="63"/>
                        <a:pt x="570" y="88"/>
                      </a:cubicBezTo>
                      <a:cubicBezTo>
                        <a:pt x="601" y="113"/>
                        <a:pt x="653" y="288"/>
                        <a:pt x="680" y="313"/>
                      </a:cubicBezTo>
                      <a:cubicBezTo>
                        <a:pt x="707" y="338"/>
                        <a:pt x="724" y="252"/>
                        <a:pt x="733" y="240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63DE8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pt-B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" name="Line 33">
                  <a:extLst>
                    <a:ext uri="{FF2B5EF4-FFF2-40B4-BE49-F238E27FC236}">
                      <a16:creationId xmlns:a16="http://schemas.microsoft.com/office/drawing/2014/main" id="{E303F55B-9DDC-A903-934E-22998B7C19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6" y="2472"/>
                  <a:ext cx="9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pt-BR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" name="Text Box 34">
                  <a:extLst>
                    <a:ext uri="{FF2B5EF4-FFF2-40B4-BE49-F238E27FC236}">
                      <a16:creationId xmlns:a16="http://schemas.microsoft.com/office/drawing/2014/main" id="{6B1A1625-B7C6-0C05-2428-9A39B4DED79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1" y="2435"/>
                  <a:ext cx="177" cy="17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defTabSz="762000"/>
                  <a:r>
                    <a:rPr lang="en-US" sz="1200" i="1">
                      <a:latin typeface="Arial" pitchFamily="34" charset="0"/>
                      <a:cs typeface="Arial" pitchFamily="34" charset="0"/>
                    </a:rPr>
                    <a:t>t</a:t>
                  </a:r>
                </a:p>
              </p:txBody>
            </p:sp>
          </p:grpSp>
        </p:grpSp>
        <p:sp>
          <p:nvSpPr>
            <p:cNvPr id="15" name="Line 49">
              <a:extLst>
                <a:ext uri="{FF2B5EF4-FFF2-40B4-BE49-F238E27FC236}">
                  <a16:creationId xmlns:a16="http://schemas.microsoft.com/office/drawing/2014/main" id="{78E600D9-C716-B6D0-BD4D-5E6B19A29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0" y="1142"/>
              <a:ext cx="0" cy="544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4" name="Rectangle 5">
            <a:extLst>
              <a:ext uri="{FF2B5EF4-FFF2-40B4-BE49-F238E27FC236}">
                <a16:creationId xmlns:a16="http://schemas.microsoft.com/office/drawing/2014/main" id="{8C7F7102-153E-67FB-42F1-F05268A9F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1528764"/>
            <a:ext cx="995362" cy="574675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2000"/>
            <a:r>
              <a:rPr lang="en-US" sz="1400" dirty="0" err="1">
                <a:latin typeface="Arial" pitchFamily="34" charset="0"/>
                <a:cs typeface="Arial" pitchFamily="34" charset="0"/>
              </a:rPr>
              <a:t>Transmissor</a:t>
            </a: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defTabSz="762000"/>
            <a:r>
              <a:rPr lang="en-US" sz="1400" dirty="0" err="1">
                <a:latin typeface="Arial" pitchFamily="34" charset="0"/>
                <a:cs typeface="Arial" pitchFamily="34" charset="0"/>
              </a:rPr>
              <a:t>Modulador</a:t>
            </a: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F13E2682-635F-8B39-DCC1-CE12C4DA2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8250" y="1812926"/>
            <a:ext cx="4746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39">
            <a:extLst>
              <a:ext uri="{FF2B5EF4-FFF2-40B4-BE49-F238E27FC236}">
                <a16:creationId xmlns:a16="http://schemas.microsoft.com/office/drawing/2014/main" id="{B7B9EF1D-CB45-9775-1927-67AD65819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738" y="3987801"/>
            <a:ext cx="1059906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sinal</a:t>
            </a:r>
          </a:p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transmitido</a:t>
            </a:r>
          </a:p>
        </p:txBody>
      </p:sp>
      <p:sp>
        <p:nvSpPr>
          <p:cNvPr id="27" name="Line 42">
            <a:extLst>
              <a:ext uri="{FF2B5EF4-FFF2-40B4-BE49-F238E27FC236}">
                <a16:creationId xmlns:a16="http://schemas.microsoft.com/office/drawing/2014/main" id="{B8417DBD-3582-848C-F757-E28781F9C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0414" y="5116011"/>
            <a:ext cx="131773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Box 43">
            <a:extLst>
              <a:ext uri="{FF2B5EF4-FFF2-40B4-BE49-F238E27FC236}">
                <a16:creationId xmlns:a16="http://schemas.microsoft.com/office/drawing/2014/main" id="{1686784A-68CC-12B7-57AE-F94E5EC9B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107" y="5018373"/>
            <a:ext cx="227948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 i="1"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29" name="Freeform 46">
            <a:extLst>
              <a:ext uri="{FF2B5EF4-FFF2-40B4-BE49-F238E27FC236}">
                <a16:creationId xmlns:a16="http://schemas.microsoft.com/office/drawing/2014/main" id="{85CFE3B8-CDE0-508F-AE0B-A3B2F21FD411}"/>
              </a:ext>
            </a:extLst>
          </p:cNvPr>
          <p:cNvSpPr>
            <a:spLocks/>
          </p:cNvSpPr>
          <p:nvPr/>
        </p:nvSpPr>
        <p:spPr bwMode="auto">
          <a:xfrm>
            <a:off x="4713949" y="4562477"/>
            <a:ext cx="1019370" cy="1173163"/>
          </a:xfrm>
          <a:custGeom>
            <a:avLst/>
            <a:gdLst/>
            <a:ahLst/>
            <a:cxnLst>
              <a:cxn ang="0">
                <a:pos x="0" y="979"/>
              </a:cxn>
              <a:cxn ang="0">
                <a:pos x="47" y="942"/>
              </a:cxn>
              <a:cxn ang="0">
                <a:pos x="110" y="528"/>
              </a:cxn>
              <a:cxn ang="0">
                <a:pos x="157" y="518"/>
              </a:cxn>
              <a:cxn ang="0">
                <a:pos x="251" y="1193"/>
              </a:cxn>
              <a:cxn ang="0">
                <a:pos x="283" y="743"/>
              </a:cxn>
              <a:cxn ang="0">
                <a:pos x="319" y="806"/>
              </a:cxn>
              <a:cxn ang="0">
                <a:pos x="367" y="549"/>
              </a:cxn>
              <a:cxn ang="0">
                <a:pos x="456" y="1345"/>
              </a:cxn>
              <a:cxn ang="0">
                <a:pos x="445" y="172"/>
              </a:cxn>
              <a:cxn ang="0">
                <a:pos x="529" y="313"/>
              </a:cxn>
              <a:cxn ang="0">
                <a:pos x="602" y="1303"/>
              </a:cxn>
              <a:cxn ang="0">
                <a:pos x="660" y="204"/>
              </a:cxn>
              <a:cxn ang="0">
                <a:pos x="765" y="1518"/>
              </a:cxn>
              <a:cxn ang="0">
                <a:pos x="827" y="465"/>
              </a:cxn>
              <a:cxn ang="0">
                <a:pos x="901" y="1507"/>
              </a:cxn>
              <a:cxn ang="0">
                <a:pos x="974" y="539"/>
              </a:cxn>
              <a:cxn ang="0">
                <a:pos x="1037" y="1099"/>
              </a:cxn>
              <a:cxn ang="0">
                <a:pos x="1084" y="465"/>
              </a:cxn>
              <a:cxn ang="0">
                <a:pos x="1152" y="1246"/>
              </a:cxn>
              <a:cxn ang="0">
                <a:pos x="1210" y="366"/>
              </a:cxn>
              <a:cxn ang="0">
                <a:pos x="1314" y="1020"/>
              </a:cxn>
              <a:cxn ang="0">
                <a:pos x="1356" y="565"/>
              </a:cxn>
              <a:cxn ang="0">
                <a:pos x="1430" y="1193"/>
              </a:cxn>
              <a:cxn ang="0">
                <a:pos x="1466" y="607"/>
              </a:cxn>
              <a:cxn ang="0">
                <a:pos x="1534" y="994"/>
              </a:cxn>
            </a:cxnLst>
            <a:rect l="0" t="0" r="r" b="b"/>
            <a:pathLst>
              <a:path w="1534" h="1562">
                <a:moveTo>
                  <a:pt x="0" y="979"/>
                </a:moveTo>
                <a:cubicBezTo>
                  <a:pt x="14" y="998"/>
                  <a:pt x="29" y="1017"/>
                  <a:pt x="47" y="942"/>
                </a:cubicBezTo>
                <a:cubicBezTo>
                  <a:pt x="65" y="867"/>
                  <a:pt x="92" y="599"/>
                  <a:pt x="110" y="528"/>
                </a:cubicBezTo>
                <a:cubicBezTo>
                  <a:pt x="128" y="457"/>
                  <a:pt x="134" y="407"/>
                  <a:pt x="157" y="518"/>
                </a:cubicBezTo>
                <a:cubicBezTo>
                  <a:pt x="180" y="629"/>
                  <a:pt x="230" y="1156"/>
                  <a:pt x="251" y="1193"/>
                </a:cubicBezTo>
                <a:cubicBezTo>
                  <a:pt x="272" y="1230"/>
                  <a:pt x="272" y="807"/>
                  <a:pt x="283" y="743"/>
                </a:cubicBezTo>
                <a:cubicBezTo>
                  <a:pt x="294" y="679"/>
                  <a:pt x="305" y="838"/>
                  <a:pt x="319" y="806"/>
                </a:cubicBezTo>
                <a:cubicBezTo>
                  <a:pt x="333" y="774"/>
                  <a:pt x="344" y="459"/>
                  <a:pt x="367" y="549"/>
                </a:cubicBezTo>
                <a:cubicBezTo>
                  <a:pt x="390" y="639"/>
                  <a:pt x="443" y="1408"/>
                  <a:pt x="456" y="1345"/>
                </a:cubicBezTo>
                <a:cubicBezTo>
                  <a:pt x="469" y="1282"/>
                  <a:pt x="433" y="344"/>
                  <a:pt x="445" y="172"/>
                </a:cubicBezTo>
                <a:cubicBezTo>
                  <a:pt x="457" y="0"/>
                  <a:pt x="503" y="125"/>
                  <a:pt x="529" y="313"/>
                </a:cubicBezTo>
                <a:cubicBezTo>
                  <a:pt x="555" y="501"/>
                  <a:pt x="580" y="1321"/>
                  <a:pt x="602" y="1303"/>
                </a:cubicBezTo>
                <a:cubicBezTo>
                  <a:pt x="624" y="1285"/>
                  <a:pt x="633" y="168"/>
                  <a:pt x="660" y="204"/>
                </a:cubicBezTo>
                <a:cubicBezTo>
                  <a:pt x="687" y="240"/>
                  <a:pt x="737" y="1474"/>
                  <a:pt x="765" y="1518"/>
                </a:cubicBezTo>
                <a:cubicBezTo>
                  <a:pt x="793" y="1562"/>
                  <a:pt x="804" y="467"/>
                  <a:pt x="827" y="465"/>
                </a:cubicBezTo>
                <a:cubicBezTo>
                  <a:pt x="850" y="463"/>
                  <a:pt x="876" y="1495"/>
                  <a:pt x="901" y="1507"/>
                </a:cubicBezTo>
                <a:cubicBezTo>
                  <a:pt x="926" y="1519"/>
                  <a:pt x="951" y="607"/>
                  <a:pt x="974" y="539"/>
                </a:cubicBezTo>
                <a:cubicBezTo>
                  <a:pt x="997" y="471"/>
                  <a:pt x="1019" y="1111"/>
                  <a:pt x="1037" y="1099"/>
                </a:cubicBezTo>
                <a:cubicBezTo>
                  <a:pt x="1055" y="1087"/>
                  <a:pt x="1065" y="441"/>
                  <a:pt x="1084" y="465"/>
                </a:cubicBezTo>
                <a:cubicBezTo>
                  <a:pt x="1103" y="489"/>
                  <a:pt x="1131" y="1262"/>
                  <a:pt x="1152" y="1246"/>
                </a:cubicBezTo>
                <a:cubicBezTo>
                  <a:pt x="1173" y="1230"/>
                  <a:pt x="1183" y="404"/>
                  <a:pt x="1210" y="366"/>
                </a:cubicBezTo>
                <a:cubicBezTo>
                  <a:pt x="1237" y="328"/>
                  <a:pt x="1290" y="987"/>
                  <a:pt x="1314" y="1020"/>
                </a:cubicBezTo>
                <a:cubicBezTo>
                  <a:pt x="1338" y="1053"/>
                  <a:pt x="1337" y="536"/>
                  <a:pt x="1356" y="565"/>
                </a:cubicBezTo>
                <a:cubicBezTo>
                  <a:pt x="1375" y="594"/>
                  <a:pt x="1412" y="1186"/>
                  <a:pt x="1430" y="1193"/>
                </a:cubicBezTo>
                <a:cubicBezTo>
                  <a:pt x="1448" y="1200"/>
                  <a:pt x="1449" y="640"/>
                  <a:pt x="1466" y="607"/>
                </a:cubicBezTo>
                <a:cubicBezTo>
                  <a:pt x="1483" y="574"/>
                  <a:pt x="1523" y="930"/>
                  <a:pt x="1534" y="994"/>
                </a:cubicBezTo>
              </a:path>
            </a:pathLst>
          </a:custGeom>
          <a:noFill/>
          <a:ln w="12700" cap="flat" cmpd="sng">
            <a:solidFill>
              <a:srgbClr val="0574E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Line 51">
            <a:extLst>
              <a:ext uri="{FF2B5EF4-FFF2-40B4-BE49-F238E27FC236}">
                <a16:creationId xmlns:a16="http://schemas.microsoft.com/office/drawing/2014/main" id="{B0967053-917D-B9D6-AD70-B4620D41D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43513" y="1803401"/>
            <a:ext cx="0" cy="2154238"/>
          </a:xfrm>
          <a:prstGeom prst="line">
            <a:avLst/>
          </a:prstGeom>
          <a:noFill/>
          <a:ln w="6350">
            <a:solidFill>
              <a:schemeClr val="hlink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C06428AA-B8AF-3DAD-CF96-E0F13DDDE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40" y="1530351"/>
            <a:ext cx="796925" cy="5746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2000"/>
            <a:r>
              <a:rPr lang="en-US" sz="1400">
                <a:latin typeface="Arial" pitchFamily="34" charset="0"/>
                <a:cs typeface="Arial" pitchFamily="34" charset="0"/>
              </a:rPr>
              <a:t>canal</a:t>
            </a:r>
          </a:p>
        </p:txBody>
      </p:sp>
      <p:sp>
        <p:nvSpPr>
          <p:cNvPr id="32" name="Line 18">
            <a:extLst>
              <a:ext uri="{FF2B5EF4-FFF2-40B4-BE49-F238E27FC236}">
                <a16:creationId xmlns:a16="http://schemas.microsoft.com/office/drawing/2014/main" id="{23D6A7E0-0D70-5F94-6BB8-95B459B2D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2" y="1820863"/>
            <a:ext cx="50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3" name="Group 57">
            <a:extLst>
              <a:ext uri="{FF2B5EF4-FFF2-40B4-BE49-F238E27FC236}">
                <a16:creationId xmlns:a16="http://schemas.microsoft.com/office/drawing/2014/main" id="{FB53B400-887D-BAAF-2EAD-C1978BDB7E14}"/>
              </a:ext>
            </a:extLst>
          </p:cNvPr>
          <p:cNvGrpSpPr>
            <a:grpSpLocks/>
          </p:cNvGrpSpPr>
          <p:nvPr/>
        </p:nvGrpSpPr>
        <p:grpSpPr bwMode="auto">
          <a:xfrm>
            <a:off x="5978528" y="3071814"/>
            <a:ext cx="1222375" cy="1190625"/>
            <a:chOff x="3299" y="2222"/>
            <a:chExt cx="1421" cy="960"/>
          </a:xfrm>
        </p:grpSpPr>
        <p:sp>
          <p:nvSpPr>
            <p:cNvPr id="34" name="Line 54">
              <a:extLst>
                <a:ext uri="{FF2B5EF4-FFF2-40B4-BE49-F238E27FC236}">
                  <a16:creationId xmlns:a16="http://schemas.microsoft.com/office/drawing/2014/main" id="{D0F5BD84-76B3-D0AE-5424-BCA5E8C91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9" y="2765"/>
              <a:ext cx="1210" cy="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 Box 55">
              <a:extLst>
                <a:ext uri="{FF2B5EF4-FFF2-40B4-BE49-F238E27FC236}">
                  <a16:creationId xmlns:a16="http://schemas.microsoft.com/office/drawing/2014/main" id="{15E2FC04-CFB6-4C1B-4BC1-D8265A609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8" y="2690"/>
              <a:ext cx="27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latin typeface="Arial" pitchFamily="34" charset="0"/>
                  <a:cs typeface="Arial" pitchFamily="34" charset="0"/>
                </a:rPr>
                <a:t>t</a:t>
              </a:r>
            </a:p>
          </p:txBody>
        </p:sp>
        <p:sp>
          <p:nvSpPr>
            <p:cNvPr id="36" name="Freeform 56">
              <a:extLst>
                <a:ext uri="{FF2B5EF4-FFF2-40B4-BE49-F238E27FC236}">
                  <a16:creationId xmlns:a16="http://schemas.microsoft.com/office/drawing/2014/main" id="{B1CEF4E7-6CCC-49EF-5965-48F1F289C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" y="2222"/>
              <a:ext cx="1011" cy="960"/>
            </a:xfrm>
            <a:custGeom>
              <a:avLst/>
              <a:gdLst/>
              <a:ahLst/>
              <a:cxnLst>
                <a:cxn ang="0">
                  <a:pos x="0" y="506"/>
                </a:cxn>
                <a:cxn ang="0">
                  <a:pos x="21" y="370"/>
                </a:cxn>
                <a:cxn ang="0">
                  <a:pos x="53" y="731"/>
                </a:cxn>
                <a:cxn ang="0">
                  <a:pos x="63" y="213"/>
                </a:cxn>
                <a:cxn ang="0">
                  <a:pos x="110" y="648"/>
                </a:cxn>
                <a:cxn ang="0">
                  <a:pos x="142" y="344"/>
                </a:cxn>
                <a:cxn ang="0">
                  <a:pos x="157" y="87"/>
                </a:cxn>
                <a:cxn ang="0">
                  <a:pos x="194" y="867"/>
                </a:cxn>
                <a:cxn ang="0">
                  <a:pos x="231" y="648"/>
                </a:cxn>
                <a:cxn ang="0">
                  <a:pos x="273" y="810"/>
                </a:cxn>
                <a:cxn ang="0">
                  <a:pos x="309" y="318"/>
                </a:cxn>
                <a:cxn ang="0">
                  <a:pos x="341" y="449"/>
                </a:cxn>
                <a:cxn ang="0">
                  <a:pos x="346" y="642"/>
                </a:cxn>
                <a:cxn ang="0">
                  <a:pos x="393" y="700"/>
                </a:cxn>
                <a:cxn ang="0">
                  <a:pos x="451" y="82"/>
                </a:cxn>
                <a:cxn ang="0">
                  <a:pos x="524" y="490"/>
                </a:cxn>
                <a:cxn ang="0">
                  <a:pos x="597" y="773"/>
                </a:cxn>
                <a:cxn ang="0">
                  <a:pos x="613" y="192"/>
                </a:cxn>
                <a:cxn ang="0">
                  <a:pos x="681" y="836"/>
                </a:cxn>
                <a:cxn ang="0">
                  <a:pos x="765" y="255"/>
                </a:cxn>
                <a:cxn ang="0">
                  <a:pos x="828" y="836"/>
                </a:cxn>
                <a:cxn ang="0">
                  <a:pos x="864" y="433"/>
                </a:cxn>
                <a:cxn ang="0">
                  <a:pos x="922" y="668"/>
                </a:cxn>
                <a:cxn ang="0">
                  <a:pos x="980" y="375"/>
                </a:cxn>
                <a:cxn ang="0">
                  <a:pos x="1011" y="621"/>
                </a:cxn>
              </a:cxnLst>
              <a:rect l="0" t="0" r="r" b="b"/>
              <a:pathLst>
                <a:path w="1011" h="960">
                  <a:moveTo>
                    <a:pt x="0" y="506"/>
                  </a:moveTo>
                  <a:cubicBezTo>
                    <a:pt x="6" y="419"/>
                    <a:pt x="12" y="333"/>
                    <a:pt x="21" y="370"/>
                  </a:cubicBezTo>
                  <a:cubicBezTo>
                    <a:pt x="30" y="407"/>
                    <a:pt x="46" y="757"/>
                    <a:pt x="53" y="731"/>
                  </a:cubicBezTo>
                  <a:cubicBezTo>
                    <a:pt x="60" y="705"/>
                    <a:pt x="53" y="227"/>
                    <a:pt x="63" y="213"/>
                  </a:cubicBezTo>
                  <a:cubicBezTo>
                    <a:pt x="73" y="199"/>
                    <a:pt x="97" y="626"/>
                    <a:pt x="110" y="648"/>
                  </a:cubicBezTo>
                  <a:cubicBezTo>
                    <a:pt x="123" y="670"/>
                    <a:pt x="134" y="437"/>
                    <a:pt x="142" y="344"/>
                  </a:cubicBezTo>
                  <a:cubicBezTo>
                    <a:pt x="150" y="251"/>
                    <a:pt x="148" y="0"/>
                    <a:pt x="157" y="87"/>
                  </a:cubicBezTo>
                  <a:cubicBezTo>
                    <a:pt x="166" y="174"/>
                    <a:pt x="182" y="774"/>
                    <a:pt x="194" y="867"/>
                  </a:cubicBezTo>
                  <a:cubicBezTo>
                    <a:pt x="206" y="960"/>
                    <a:pt x="218" y="658"/>
                    <a:pt x="231" y="648"/>
                  </a:cubicBezTo>
                  <a:cubicBezTo>
                    <a:pt x="244" y="638"/>
                    <a:pt x="260" y="865"/>
                    <a:pt x="273" y="810"/>
                  </a:cubicBezTo>
                  <a:cubicBezTo>
                    <a:pt x="286" y="755"/>
                    <a:pt x="298" y="378"/>
                    <a:pt x="309" y="318"/>
                  </a:cubicBezTo>
                  <a:cubicBezTo>
                    <a:pt x="320" y="258"/>
                    <a:pt x="335" y="395"/>
                    <a:pt x="341" y="449"/>
                  </a:cubicBezTo>
                  <a:cubicBezTo>
                    <a:pt x="347" y="503"/>
                    <a:pt x="337" y="600"/>
                    <a:pt x="346" y="642"/>
                  </a:cubicBezTo>
                  <a:cubicBezTo>
                    <a:pt x="355" y="684"/>
                    <a:pt x="375" y="793"/>
                    <a:pt x="393" y="700"/>
                  </a:cubicBezTo>
                  <a:cubicBezTo>
                    <a:pt x="411" y="607"/>
                    <a:pt x="429" y="117"/>
                    <a:pt x="451" y="82"/>
                  </a:cubicBezTo>
                  <a:cubicBezTo>
                    <a:pt x="473" y="47"/>
                    <a:pt x="500" y="375"/>
                    <a:pt x="524" y="490"/>
                  </a:cubicBezTo>
                  <a:cubicBezTo>
                    <a:pt x="548" y="605"/>
                    <a:pt x="582" y="823"/>
                    <a:pt x="597" y="773"/>
                  </a:cubicBezTo>
                  <a:cubicBezTo>
                    <a:pt x="612" y="723"/>
                    <a:pt x="599" y="182"/>
                    <a:pt x="613" y="192"/>
                  </a:cubicBezTo>
                  <a:cubicBezTo>
                    <a:pt x="627" y="202"/>
                    <a:pt x="656" y="826"/>
                    <a:pt x="681" y="836"/>
                  </a:cubicBezTo>
                  <a:cubicBezTo>
                    <a:pt x="706" y="846"/>
                    <a:pt x="741" y="255"/>
                    <a:pt x="765" y="255"/>
                  </a:cubicBezTo>
                  <a:cubicBezTo>
                    <a:pt x="789" y="255"/>
                    <a:pt x="811" y="806"/>
                    <a:pt x="828" y="836"/>
                  </a:cubicBezTo>
                  <a:cubicBezTo>
                    <a:pt x="845" y="866"/>
                    <a:pt x="848" y="461"/>
                    <a:pt x="864" y="433"/>
                  </a:cubicBezTo>
                  <a:cubicBezTo>
                    <a:pt x="880" y="405"/>
                    <a:pt x="903" y="678"/>
                    <a:pt x="922" y="668"/>
                  </a:cubicBezTo>
                  <a:cubicBezTo>
                    <a:pt x="941" y="658"/>
                    <a:pt x="965" y="383"/>
                    <a:pt x="980" y="375"/>
                  </a:cubicBezTo>
                  <a:cubicBezTo>
                    <a:pt x="995" y="367"/>
                    <a:pt x="1006" y="580"/>
                    <a:pt x="1011" y="621"/>
                  </a:cubicBezTo>
                </a:path>
              </a:pathLst>
            </a:custGeom>
            <a:noFill/>
            <a:ln w="12700" cap="flat" cmpd="sng">
              <a:solidFill>
                <a:srgbClr val="0574E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7" name="Text Box 58">
            <a:extLst>
              <a:ext uri="{FF2B5EF4-FFF2-40B4-BE49-F238E27FC236}">
                <a16:creationId xmlns:a16="http://schemas.microsoft.com/office/drawing/2014/main" id="{ADC98987-4FC1-8302-6DB4-C4D99625D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265" y="2663825"/>
            <a:ext cx="941283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sinal com</a:t>
            </a:r>
          </a:p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distorção</a:t>
            </a:r>
          </a:p>
        </p:txBody>
      </p:sp>
      <p:sp>
        <p:nvSpPr>
          <p:cNvPr id="38" name="Line 59">
            <a:extLst>
              <a:ext uri="{FF2B5EF4-FFF2-40B4-BE49-F238E27FC236}">
                <a16:creationId xmlns:a16="http://schemas.microsoft.com/office/drawing/2014/main" id="{AFA33605-6202-AF6C-2ABC-7FBC00B146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1927" y="1820864"/>
            <a:ext cx="0" cy="873125"/>
          </a:xfrm>
          <a:prstGeom prst="line">
            <a:avLst/>
          </a:prstGeom>
          <a:noFill/>
          <a:ln w="6350">
            <a:solidFill>
              <a:schemeClr val="hlink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 Box 9">
            <a:extLst>
              <a:ext uri="{FF2B5EF4-FFF2-40B4-BE49-F238E27FC236}">
                <a16:creationId xmlns:a16="http://schemas.microsoft.com/office/drawing/2014/main" id="{B329A671-41B7-AC59-A787-ADE1BFBC7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6" y="1492250"/>
            <a:ext cx="534988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3600" dirty="0">
                <a:solidFill>
                  <a:srgbClr val="063DE8"/>
                </a:solidFill>
                <a:latin typeface="Symbol" pitchFamily="18" charset="2"/>
                <a:cs typeface="Arial" pitchFamily="34" charset="0"/>
              </a:rPr>
              <a:t>Å</a:t>
            </a:r>
          </a:p>
          <a:p>
            <a:pPr defTabSz="762000"/>
            <a:endParaRPr lang="en-US" dirty="0">
              <a:solidFill>
                <a:srgbClr val="063DE8"/>
              </a:solidFill>
              <a:latin typeface="Symbol" pitchFamily="18" charset="2"/>
              <a:cs typeface="Arial" pitchFamily="34" charset="0"/>
            </a:endParaRPr>
          </a:p>
        </p:txBody>
      </p:sp>
      <p:sp>
        <p:nvSpPr>
          <p:cNvPr id="40" name="Line 19">
            <a:extLst>
              <a:ext uri="{FF2B5EF4-FFF2-40B4-BE49-F238E27FC236}">
                <a16:creationId xmlns:a16="http://schemas.microsoft.com/office/drawing/2014/main" id="{183852B0-41ED-D050-FB62-6EB26D63B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0413" y="1812925"/>
            <a:ext cx="40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Line 61">
            <a:extLst>
              <a:ext uri="{FF2B5EF4-FFF2-40B4-BE49-F238E27FC236}">
                <a16:creationId xmlns:a16="http://schemas.microsoft.com/office/drawing/2014/main" id="{1F7E9616-CC44-71D3-33D8-89BC727A1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1663" y="1289050"/>
            <a:ext cx="0" cy="357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 Box 62">
            <a:extLst>
              <a:ext uri="{FF2B5EF4-FFF2-40B4-BE49-F238E27FC236}">
                <a16:creationId xmlns:a16="http://schemas.microsoft.com/office/drawing/2014/main" id="{0F2E35EA-6C97-5369-54C2-2625E5C5E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514" y="1184276"/>
            <a:ext cx="591829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>
                <a:solidFill>
                  <a:srgbClr val="063DE8"/>
                </a:solidFill>
                <a:latin typeface="Arial" pitchFamily="34" charset="0"/>
                <a:cs typeface="Arial" pitchFamily="34" charset="0"/>
              </a:rPr>
              <a:t>ruído</a:t>
            </a:r>
          </a:p>
        </p:txBody>
      </p:sp>
      <p:grpSp>
        <p:nvGrpSpPr>
          <p:cNvPr id="43" name="Group 74">
            <a:extLst>
              <a:ext uri="{FF2B5EF4-FFF2-40B4-BE49-F238E27FC236}">
                <a16:creationId xmlns:a16="http://schemas.microsoft.com/office/drawing/2014/main" id="{5061019E-5D62-C062-813F-5B765DAC0D37}"/>
              </a:ext>
            </a:extLst>
          </p:cNvPr>
          <p:cNvGrpSpPr>
            <a:grpSpLocks/>
          </p:cNvGrpSpPr>
          <p:nvPr/>
        </p:nvGrpSpPr>
        <p:grpSpPr bwMode="auto">
          <a:xfrm>
            <a:off x="7121526" y="4457701"/>
            <a:ext cx="1335088" cy="1617663"/>
            <a:chOff x="3527" y="2117"/>
            <a:chExt cx="2048" cy="1710"/>
          </a:xfrm>
        </p:grpSpPr>
        <p:sp>
          <p:nvSpPr>
            <p:cNvPr id="44" name="Line 68">
              <a:extLst>
                <a:ext uri="{FF2B5EF4-FFF2-40B4-BE49-F238E27FC236}">
                  <a16:creationId xmlns:a16="http://schemas.microsoft.com/office/drawing/2014/main" id="{289A4FF9-5EB0-1F51-3156-D0F1A39D90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7" y="3091"/>
              <a:ext cx="1829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Text Box 69">
              <a:extLst>
                <a:ext uri="{FF2B5EF4-FFF2-40B4-BE49-F238E27FC236}">
                  <a16:creationId xmlns:a16="http://schemas.microsoft.com/office/drawing/2014/main" id="{74428CCF-2259-8D04-E966-C3C3B5ADC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5" y="2958"/>
              <a:ext cx="360" cy="3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latin typeface="Arial" pitchFamily="34" charset="0"/>
                  <a:cs typeface="Arial" pitchFamily="34" charset="0"/>
                </a:rPr>
                <a:t>t</a:t>
              </a:r>
            </a:p>
          </p:txBody>
        </p:sp>
        <p:sp>
          <p:nvSpPr>
            <p:cNvPr id="46" name="Freeform 70">
              <a:extLst>
                <a:ext uri="{FF2B5EF4-FFF2-40B4-BE49-F238E27FC236}">
                  <a16:creationId xmlns:a16="http://schemas.microsoft.com/office/drawing/2014/main" id="{9A26AC0A-5BAB-36F1-C951-92EED6A43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2200"/>
              <a:ext cx="1529" cy="1627"/>
            </a:xfrm>
            <a:custGeom>
              <a:avLst/>
              <a:gdLst/>
              <a:ahLst/>
              <a:cxnLst>
                <a:cxn ang="0">
                  <a:pos x="0" y="826"/>
                </a:cxn>
                <a:cxn ang="0">
                  <a:pos x="8" y="659"/>
                </a:cxn>
                <a:cxn ang="0">
                  <a:pos x="34" y="617"/>
                </a:cxn>
                <a:cxn ang="0">
                  <a:pos x="55" y="1235"/>
                </a:cxn>
                <a:cxn ang="0">
                  <a:pos x="80" y="1221"/>
                </a:cxn>
                <a:cxn ang="0">
                  <a:pos x="97" y="366"/>
                </a:cxn>
                <a:cxn ang="0">
                  <a:pos x="155" y="973"/>
                </a:cxn>
                <a:cxn ang="0">
                  <a:pos x="171" y="905"/>
                </a:cxn>
                <a:cxn ang="0">
                  <a:pos x="202" y="1031"/>
                </a:cxn>
                <a:cxn ang="0">
                  <a:pos x="215" y="541"/>
                </a:cxn>
                <a:cxn ang="0">
                  <a:pos x="239" y="141"/>
                </a:cxn>
                <a:cxn ang="0">
                  <a:pos x="291" y="1387"/>
                </a:cxn>
                <a:cxn ang="0">
                  <a:pos x="333" y="1209"/>
                </a:cxn>
                <a:cxn ang="0">
                  <a:pos x="354" y="1272"/>
                </a:cxn>
                <a:cxn ang="0">
                  <a:pos x="391" y="1214"/>
                </a:cxn>
                <a:cxn ang="0">
                  <a:pos x="427" y="1303"/>
                </a:cxn>
                <a:cxn ang="0">
                  <a:pos x="467" y="495"/>
                </a:cxn>
                <a:cxn ang="0">
                  <a:pos x="500" y="738"/>
                </a:cxn>
                <a:cxn ang="0">
                  <a:pos x="537" y="1026"/>
                </a:cxn>
                <a:cxn ang="0">
                  <a:pos x="605" y="1057"/>
                </a:cxn>
                <a:cxn ang="0">
                  <a:pos x="642" y="235"/>
                </a:cxn>
                <a:cxn ang="0">
                  <a:pos x="679" y="224"/>
                </a:cxn>
                <a:cxn ang="0">
                  <a:pos x="720" y="203"/>
                </a:cxn>
                <a:cxn ang="0">
                  <a:pos x="768" y="664"/>
                </a:cxn>
                <a:cxn ang="0">
                  <a:pos x="794" y="727"/>
                </a:cxn>
                <a:cxn ang="0">
                  <a:pos x="815" y="696"/>
                </a:cxn>
                <a:cxn ang="0">
                  <a:pos x="862" y="1104"/>
                </a:cxn>
                <a:cxn ang="0">
                  <a:pos x="909" y="1183"/>
                </a:cxn>
                <a:cxn ang="0">
                  <a:pos x="930" y="219"/>
                </a:cxn>
                <a:cxn ang="0">
                  <a:pos x="1029" y="1465"/>
                </a:cxn>
                <a:cxn ang="0">
                  <a:pos x="1050" y="1193"/>
                </a:cxn>
                <a:cxn ang="0">
                  <a:pos x="1087" y="1177"/>
                </a:cxn>
                <a:cxn ang="0">
                  <a:pos x="1082" y="413"/>
                </a:cxn>
                <a:cxn ang="0">
                  <a:pos x="1113" y="481"/>
                </a:cxn>
                <a:cxn ang="0">
                  <a:pos x="1157" y="385"/>
                </a:cxn>
                <a:cxn ang="0">
                  <a:pos x="1255" y="1345"/>
                </a:cxn>
                <a:cxn ang="0">
                  <a:pos x="1281" y="701"/>
                </a:cxn>
                <a:cxn ang="0">
                  <a:pos x="1312" y="722"/>
                </a:cxn>
                <a:cxn ang="0">
                  <a:pos x="1364" y="1120"/>
                </a:cxn>
                <a:cxn ang="0">
                  <a:pos x="1394" y="1110"/>
                </a:cxn>
                <a:cxn ang="0">
                  <a:pos x="1448" y="1167"/>
                </a:cxn>
                <a:cxn ang="0">
                  <a:pos x="1482" y="596"/>
                </a:cxn>
                <a:cxn ang="0">
                  <a:pos x="1529" y="1028"/>
                </a:cxn>
              </a:cxnLst>
              <a:rect l="0" t="0" r="r" b="b"/>
              <a:pathLst>
                <a:path w="1529" h="1627">
                  <a:moveTo>
                    <a:pt x="0" y="826"/>
                  </a:moveTo>
                  <a:cubicBezTo>
                    <a:pt x="1" y="798"/>
                    <a:pt x="2" y="694"/>
                    <a:pt x="8" y="659"/>
                  </a:cubicBezTo>
                  <a:cubicBezTo>
                    <a:pt x="14" y="624"/>
                    <a:pt x="26" y="521"/>
                    <a:pt x="34" y="617"/>
                  </a:cubicBezTo>
                  <a:cubicBezTo>
                    <a:pt x="42" y="713"/>
                    <a:pt x="47" y="1134"/>
                    <a:pt x="55" y="1235"/>
                  </a:cubicBezTo>
                  <a:cubicBezTo>
                    <a:pt x="63" y="1336"/>
                    <a:pt x="73" y="1366"/>
                    <a:pt x="80" y="1221"/>
                  </a:cubicBezTo>
                  <a:cubicBezTo>
                    <a:pt x="87" y="1076"/>
                    <a:pt x="85" y="407"/>
                    <a:pt x="97" y="366"/>
                  </a:cubicBezTo>
                  <a:cubicBezTo>
                    <a:pt x="109" y="325"/>
                    <a:pt x="143" y="883"/>
                    <a:pt x="155" y="973"/>
                  </a:cubicBezTo>
                  <a:cubicBezTo>
                    <a:pt x="167" y="1063"/>
                    <a:pt x="163" y="895"/>
                    <a:pt x="171" y="905"/>
                  </a:cubicBezTo>
                  <a:cubicBezTo>
                    <a:pt x="179" y="915"/>
                    <a:pt x="195" y="1092"/>
                    <a:pt x="202" y="1031"/>
                  </a:cubicBezTo>
                  <a:cubicBezTo>
                    <a:pt x="209" y="970"/>
                    <a:pt x="209" y="689"/>
                    <a:pt x="215" y="541"/>
                  </a:cubicBezTo>
                  <a:cubicBezTo>
                    <a:pt x="221" y="393"/>
                    <a:pt x="226" y="0"/>
                    <a:pt x="239" y="141"/>
                  </a:cubicBezTo>
                  <a:cubicBezTo>
                    <a:pt x="252" y="282"/>
                    <a:pt x="275" y="1209"/>
                    <a:pt x="291" y="1387"/>
                  </a:cubicBezTo>
                  <a:cubicBezTo>
                    <a:pt x="307" y="1565"/>
                    <a:pt x="323" y="1228"/>
                    <a:pt x="333" y="1209"/>
                  </a:cubicBezTo>
                  <a:cubicBezTo>
                    <a:pt x="343" y="1190"/>
                    <a:pt x="344" y="1271"/>
                    <a:pt x="354" y="1272"/>
                  </a:cubicBezTo>
                  <a:cubicBezTo>
                    <a:pt x="364" y="1273"/>
                    <a:pt x="379" y="1209"/>
                    <a:pt x="391" y="1214"/>
                  </a:cubicBezTo>
                  <a:cubicBezTo>
                    <a:pt x="403" y="1219"/>
                    <a:pt x="414" y="1423"/>
                    <a:pt x="427" y="1303"/>
                  </a:cubicBezTo>
                  <a:cubicBezTo>
                    <a:pt x="440" y="1183"/>
                    <a:pt x="455" y="589"/>
                    <a:pt x="467" y="495"/>
                  </a:cubicBezTo>
                  <a:cubicBezTo>
                    <a:pt x="479" y="401"/>
                    <a:pt x="488" y="650"/>
                    <a:pt x="500" y="738"/>
                  </a:cubicBezTo>
                  <a:cubicBezTo>
                    <a:pt x="512" y="826"/>
                    <a:pt x="520" y="973"/>
                    <a:pt x="537" y="1026"/>
                  </a:cubicBezTo>
                  <a:cubicBezTo>
                    <a:pt x="554" y="1079"/>
                    <a:pt x="588" y="1189"/>
                    <a:pt x="605" y="1057"/>
                  </a:cubicBezTo>
                  <a:cubicBezTo>
                    <a:pt x="622" y="925"/>
                    <a:pt x="630" y="374"/>
                    <a:pt x="642" y="235"/>
                  </a:cubicBezTo>
                  <a:cubicBezTo>
                    <a:pt x="654" y="96"/>
                    <a:pt x="666" y="229"/>
                    <a:pt x="679" y="224"/>
                  </a:cubicBezTo>
                  <a:cubicBezTo>
                    <a:pt x="692" y="219"/>
                    <a:pt x="705" y="130"/>
                    <a:pt x="720" y="203"/>
                  </a:cubicBezTo>
                  <a:cubicBezTo>
                    <a:pt x="735" y="276"/>
                    <a:pt x="756" y="577"/>
                    <a:pt x="768" y="664"/>
                  </a:cubicBezTo>
                  <a:cubicBezTo>
                    <a:pt x="780" y="751"/>
                    <a:pt x="786" y="722"/>
                    <a:pt x="794" y="727"/>
                  </a:cubicBezTo>
                  <a:cubicBezTo>
                    <a:pt x="802" y="732"/>
                    <a:pt x="804" y="633"/>
                    <a:pt x="815" y="696"/>
                  </a:cubicBezTo>
                  <a:cubicBezTo>
                    <a:pt x="826" y="759"/>
                    <a:pt x="846" y="1023"/>
                    <a:pt x="862" y="1104"/>
                  </a:cubicBezTo>
                  <a:cubicBezTo>
                    <a:pt x="878" y="1185"/>
                    <a:pt x="898" y="1330"/>
                    <a:pt x="909" y="1183"/>
                  </a:cubicBezTo>
                  <a:cubicBezTo>
                    <a:pt x="920" y="1036"/>
                    <a:pt x="910" y="172"/>
                    <a:pt x="930" y="219"/>
                  </a:cubicBezTo>
                  <a:cubicBezTo>
                    <a:pt x="950" y="266"/>
                    <a:pt x="1009" y="1303"/>
                    <a:pt x="1029" y="1465"/>
                  </a:cubicBezTo>
                  <a:cubicBezTo>
                    <a:pt x="1049" y="1627"/>
                    <a:pt x="1040" y="1241"/>
                    <a:pt x="1050" y="1193"/>
                  </a:cubicBezTo>
                  <a:cubicBezTo>
                    <a:pt x="1060" y="1145"/>
                    <a:pt x="1082" y="1307"/>
                    <a:pt x="1087" y="1177"/>
                  </a:cubicBezTo>
                  <a:cubicBezTo>
                    <a:pt x="1092" y="1047"/>
                    <a:pt x="1078" y="529"/>
                    <a:pt x="1082" y="413"/>
                  </a:cubicBezTo>
                  <a:cubicBezTo>
                    <a:pt x="1086" y="297"/>
                    <a:pt x="1101" y="486"/>
                    <a:pt x="1113" y="481"/>
                  </a:cubicBezTo>
                  <a:cubicBezTo>
                    <a:pt x="1125" y="476"/>
                    <a:pt x="1133" y="241"/>
                    <a:pt x="1157" y="385"/>
                  </a:cubicBezTo>
                  <a:cubicBezTo>
                    <a:pt x="1181" y="529"/>
                    <a:pt x="1234" y="1292"/>
                    <a:pt x="1255" y="1345"/>
                  </a:cubicBezTo>
                  <a:cubicBezTo>
                    <a:pt x="1276" y="1398"/>
                    <a:pt x="1272" y="805"/>
                    <a:pt x="1281" y="701"/>
                  </a:cubicBezTo>
                  <a:cubicBezTo>
                    <a:pt x="1290" y="597"/>
                    <a:pt x="1298" y="652"/>
                    <a:pt x="1312" y="722"/>
                  </a:cubicBezTo>
                  <a:cubicBezTo>
                    <a:pt x="1326" y="792"/>
                    <a:pt x="1350" y="1055"/>
                    <a:pt x="1364" y="1120"/>
                  </a:cubicBezTo>
                  <a:cubicBezTo>
                    <a:pt x="1378" y="1185"/>
                    <a:pt x="1380" y="1102"/>
                    <a:pt x="1394" y="1110"/>
                  </a:cubicBezTo>
                  <a:cubicBezTo>
                    <a:pt x="1408" y="1118"/>
                    <a:pt x="1433" y="1253"/>
                    <a:pt x="1448" y="1167"/>
                  </a:cubicBezTo>
                  <a:cubicBezTo>
                    <a:pt x="1463" y="1081"/>
                    <a:pt x="1469" y="619"/>
                    <a:pt x="1482" y="596"/>
                  </a:cubicBezTo>
                  <a:cubicBezTo>
                    <a:pt x="1495" y="573"/>
                    <a:pt x="1521" y="956"/>
                    <a:pt x="1529" y="1028"/>
                  </a:cubicBezTo>
                </a:path>
              </a:pathLst>
            </a:custGeom>
            <a:noFill/>
            <a:ln w="12700" cap="flat" cmpd="sng">
              <a:solidFill>
                <a:srgbClr val="0574E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" name="Freeform 73">
              <a:extLst>
                <a:ext uri="{FF2B5EF4-FFF2-40B4-BE49-F238E27FC236}">
                  <a16:creationId xmlns:a16="http://schemas.microsoft.com/office/drawing/2014/main" id="{B6486B4E-22D4-0753-84DD-6C011901F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2117"/>
              <a:ext cx="1529" cy="1686"/>
            </a:xfrm>
            <a:custGeom>
              <a:avLst/>
              <a:gdLst/>
              <a:ahLst/>
              <a:cxnLst>
                <a:cxn ang="0">
                  <a:pos x="0" y="506"/>
                </a:cxn>
                <a:cxn ang="0">
                  <a:pos x="21" y="370"/>
                </a:cxn>
                <a:cxn ang="0">
                  <a:pos x="53" y="731"/>
                </a:cxn>
                <a:cxn ang="0">
                  <a:pos x="63" y="213"/>
                </a:cxn>
                <a:cxn ang="0">
                  <a:pos x="110" y="648"/>
                </a:cxn>
                <a:cxn ang="0">
                  <a:pos x="142" y="344"/>
                </a:cxn>
                <a:cxn ang="0">
                  <a:pos x="157" y="87"/>
                </a:cxn>
                <a:cxn ang="0">
                  <a:pos x="194" y="867"/>
                </a:cxn>
                <a:cxn ang="0">
                  <a:pos x="231" y="648"/>
                </a:cxn>
                <a:cxn ang="0">
                  <a:pos x="273" y="810"/>
                </a:cxn>
                <a:cxn ang="0">
                  <a:pos x="309" y="318"/>
                </a:cxn>
                <a:cxn ang="0">
                  <a:pos x="341" y="449"/>
                </a:cxn>
                <a:cxn ang="0">
                  <a:pos x="346" y="642"/>
                </a:cxn>
                <a:cxn ang="0">
                  <a:pos x="393" y="700"/>
                </a:cxn>
                <a:cxn ang="0">
                  <a:pos x="451" y="82"/>
                </a:cxn>
                <a:cxn ang="0">
                  <a:pos x="524" y="490"/>
                </a:cxn>
                <a:cxn ang="0">
                  <a:pos x="597" y="773"/>
                </a:cxn>
                <a:cxn ang="0">
                  <a:pos x="613" y="192"/>
                </a:cxn>
                <a:cxn ang="0">
                  <a:pos x="681" y="836"/>
                </a:cxn>
                <a:cxn ang="0">
                  <a:pos x="765" y="255"/>
                </a:cxn>
                <a:cxn ang="0">
                  <a:pos x="828" y="836"/>
                </a:cxn>
                <a:cxn ang="0">
                  <a:pos x="864" y="433"/>
                </a:cxn>
                <a:cxn ang="0">
                  <a:pos x="922" y="668"/>
                </a:cxn>
                <a:cxn ang="0">
                  <a:pos x="980" y="375"/>
                </a:cxn>
                <a:cxn ang="0">
                  <a:pos x="1011" y="621"/>
                </a:cxn>
              </a:cxnLst>
              <a:rect l="0" t="0" r="r" b="b"/>
              <a:pathLst>
                <a:path w="1011" h="960">
                  <a:moveTo>
                    <a:pt x="0" y="506"/>
                  </a:moveTo>
                  <a:cubicBezTo>
                    <a:pt x="6" y="419"/>
                    <a:pt x="12" y="333"/>
                    <a:pt x="21" y="370"/>
                  </a:cubicBezTo>
                  <a:cubicBezTo>
                    <a:pt x="30" y="407"/>
                    <a:pt x="46" y="757"/>
                    <a:pt x="53" y="731"/>
                  </a:cubicBezTo>
                  <a:cubicBezTo>
                    <a:pt x="60" y="705"/>
                    <a:pt x="53" y="227"/>
                    <a:pt x="63" y="213"/>
                  </a:cubicBezTo>
                  <a:cubicBezTo>
                    <a:pt x="73" y="199"/>
                    <a:pt x="97" y="626"/>
                    <a:pt x="110" y="648"/>
                  </a:cubicBezTo>
                  <a:cubicBezTo>
                    <a:pt x="123" y="670"/>
                    <a:pt x="134" y="437"/>
                    <a:pt x="142" y="344"/>
                  </a:cubicBezTo>
                  <a:cubicBezTo>
                    <a:pt x="150" y="251"/>
                    <a:pt x="148" y="0"/>
                    <a:pt x="157" y="87"/>
                  </a:cubicBezTo>
                  <a:cubicBezTo>
                    <a:pt x="166" y="174"/>
                    <a:pt x="182" y="774"/>
                    <a:pt x="194" y="867"/>
                  </a:cubicBezTo>
                  <a:cubicBezTo>
                    <a:pt x="206" y="960"/>
                    <a:pt x="218" y="658"/>
                    <a:pt x="231" y="648"/>
                  </a:cubicBezTo>
                  <a:cubicBezTo>
                    <a:pt x="244" y="638"/>
                    <a:pt x="260" y="865"/>
                    <a:pt x="273" y="810"/>
                  </a:cubicBezTo>
                  <a:cubicBezTo>
                    <a:pt x="286" y="755"/>
                    <a:pt x="298" y="378"/>
                    <a:pt x="309" y="318"/>
                  </a:cubicBezTo>
                  <a:cubicBezTo>
                    <a:pt x="320" y="258"/>
                    <a:pt x="335" y="395"/>
                    <a:pt x="341" y="449"/>
                  </a:cubicBezTo>
                  <a:cubicBezTo>
                    <a:pt x="347" y="503"/>
                    <a:pt x="337" y="600"/>
                    <a:pt x="346" y="642"/>
                  </a:cubicBezTo>
                  <a:cubicBezTo>
                    <a:pt x="355" y="684"/>
                    <a:pt x="375" y="793"/>
                    <a:pt x="393" y="700"/>
                  </a:cubicBezTo>
                  <a:cubicBezTo>
                    <a:pt x="411" y="607"/>
                    <a:pt x="429" y="117"/>
                    <a:pt x="451" y="82"/>
                  </a:cubicBezTo>
                  <a:cubicBezTo>
                    <a:pt x="473" y="47"/>
                    <a:pt x="500" y="375"/>
                    <a:pt x="524" y="490"/>
                  </a:cubicBezTo>
                  <a:cubicBezTo>
                    <a:pt x="548" y="605"/>
                    <a:pt x="582" y="823"/>
                    <a:pt x="597" y="773"/>
                  </a:cubicBezTo>
                  <a:cubicBezTo>
                    <a:pt x="612" y="723"/>
                    <a:pt x="599" y="182"/>
                    <a:pt x="613" y="192"/>
                  </a:cubicBezTo>
                  <a:cubicBezTo>
                    <a:pt x="627" y="202"/>
                    <a:pt x="656" y="826"/>
                    <a:pt x="681" y="836"/>
                  </a:cubicBezTo>
                  <a:cubicBezTo>
                    <a:pt x="706" y="846"/>
                    <a:pt x="741" y="255"/>
                    <a:pt x="765" y="255"/>
                  </a:cubicBezTo>
                  <a:cubicBezTo>
                    <a:pt x="789" y="255"/>
                    <a:pt x="811" y="806"/>
                    <a:pt x="828" y="836"/>
                  </a:cubicBezTo>
                  <a:cubicBezTo>
                    <a:pt x="845" y="866"/>
                    <a:pt x="848" y="461"/>
                    <a:pt x="864" y="433"/>
                  </a:cubicBezTo>
                  <a:cubicBezTo>
                    <a:pt x="880" y="405"/>
                    <a:pt x="903" y="678"/>
                    <a:pt x="922" y="668"/>
                  </a:cubicBezTo>
                  <a:cubicBezTo>
                    <a:pt x="941" y="658"/>
                    <a:pt x="965" y="383"/>
                    <a:pt x="980" y="375"/>
                  </a:cubicBezTo>
                  <a:cubicBezTo>
                    <a:pt x="995" y="367"/>
                    <a:pt x="1006" y="580"/>
                    <a:pt x="1011" y="621"/>
                  </a:cubicBezTo>
                </a:path>
              </a:pathLst>
            </a:custGeom>
            <a:noFill/>
            <a:ln w="12700" cap="flat" cmpd="sng">
              <a:solidFill>
                <a:srgbClr val="0574EF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8" name="Text Box 75">
            <a:extLst>
              <a:ext uri="{FF2B5EF4-FFF2-40B4-BE49-F238E27FC236}">
                <a16:creationId xmlns:a16="http://schemas.microsoft.com/office/drawing/2014/main" id="{50E1898A-AAF8-A8DF-B75A-CB0ED5D96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014" y="3935413"/>
            <a:ext cx="941283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sinal com</a:t>
            </a:r>
          </a:p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distorção</a:t>
            </a:r>
          </a:p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e ruído</a:t>
            </a:r>
          </a:p>
        </p:txBody>
      </p:sp>
      <p:sp>
        <p:nvSpPr>
          <p:cNvPr id="49" name="Line 76">
            <a:extLst>
              <a:ext uri="{FF2B5EF4-FFF2-40B4-BE49-F238E27FC236}">
                <a16:creationId xmlns:a16="http://schemas.microsoft.com/office/drawing/2014/main" id="{E0213F6C-41C4-E515-34C0-C1D0CE930C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5526" y="1812926"/>
            <a:ext cx="0" cy="2085975"/>
          </a:xfrm>
          <a:prstGeom prst="line">
            <a:avLst/>
          </a:prstGeom>
          <a:noFill/>
          <a:ln w="6350">
            <a:solidFill>
              <a:schemeClr val="hlink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D276A023-7535-2820-2A30-46E9F6173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2050" y="1528764"/>
            <a:ext cx="863600" cy="574675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2000"/>
            <a:r>
              <a:rPr lang="en-US" sz="1400">
                <a:latin typeface="Arial" pitchFamily="34" charset="0"/>
                <a:cs typeface="Arial" pitchFamily="34" charset="0"/>
              </a:rPr>
              <a:t>receptor</a:t>
            </a:r>
          </a:p>
        </p:txBody>
      </p:sp>
      <p:sp>
        <p:nvSpPr>
          <p:cNvPr id="51" name="Line 20">
            <a:extLst>
              <a:ext uri="{FF2B5EF4-FFF2-40B4-BE49-F238E27FC236}">
                <a16:creationId xmlns:a16="http://schemas.microsoft.com/office/drawing/2014/main" id="{5E94707F-4565-665B-1BE3-02A9E2E7A45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1822451"/>
            <a:ext cx="465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Text Box 79">
            <a:extLst>
              <a:ext uri="{FF2B5EF4-FFF2-40B4-BE49-F238E27FC236}">
                <a16:creationId xmlns:a16="http://schemas.microsoft.com/office/drawing/2014/main" id="{A6BA8181-0DCE-1A47-579E-EA04AAFF8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739" y="2698750"/>
            <a:ext cx="801823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sinal de</a:t>
            </a:r>
          </a:p>
          <a:p>
            <a:pPr defTabSz="762000"/>
            <a:r>
              <a:rPr lang="en-US" sz="1400" i="1">
                <a:solidFill>
                  <a:schemeClr val="hlink"/>
                </a:solidFill>
                <a:latin typeface="Arial" pitchFamily="34" charset="0"/>
                <a:cs typeface="Arial" pitchFamily="34" charset="0"/>
              </a:rPr>
              <a:t>saída</a:t>
            </a:r>
          </a:p>
        </p:txBody>
      </p:sp>
      <p:grpSp>
        <p:nvGrpSpPr>
          <p:cNvPr id="53" name="Group 80">
            <a:extLst>
              <a:ext uri="{FF2B5EF4-FFF2-40B4-BE49-F238E27FC236}">
                <a16:creationId xmlns:a16="http://schemas.microsoft.com/office/drawing/2014/main" id="{AD9B67E9-9897-C70A-E9D3-45122AE3A4CA}"/>
              </a:ext>
            </a:extLst>
          </p:cNvPr>
          <p:cNvGrpSpPr>
            <a:grpSpLocks/>
          </p:cNvGrpSpPr>
          <p:nvPr/>
        </p:nvGrpSpPr>
        <p:grpSpPr bwMode="auto">
          <a:xfrm>
            <a:off x="8154989" y="3522663"/>
            <a:ext cx="1376897" cy="655638"/>
            <a:chOff x="1356" y="2284"/>
            <a:chExt cx="1072" cy="413"/>
          </a:xfrm>
        </p:grpSpPr>
        <p:sp>
          <p:nvSpPr>
            <p:cNvPr id="54" name="Freeform 81">
              <a:extLst>
                <a:ext uri="{FF2B5EF4-FFF2-40B4-BE49-F238E27FC236}">
                  <a16:creationId xmlns:a16="http://schemas.microsoft.com/office/drawing/2014/main" id="{80370549-1349-182C-0A53-5C2FEAE89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284"/>
              <a:ext cx="733" cy="413"/>
            </a:xfrm>
            <a:custGeom>
              <a:avLst/>
              <a:gdLst/>
              <a:ahLst/>
              <a:cxnLst>
                <a:cxn ang="0">
                  <a:pos x="0" y="261"/>
                </a:cxn>
                <a:cxn ang="0">
                  <a:pos x="21" y="177"/>
                </a:cxn>
                <a:cxn ang="0">
                  <a:pos x="68" y="109"/>
                </a:cxn>
                <a:cxn ang="0">
                  <a:pos x="120" y="104"/>
                </a:cxn>
                <a:cxn ang="0">
                  <a:pos x="152" y="182"/>
                </a:cxn>
                <a:cxn ang="0">
                  <a:pos x="199" y="4"/>
                </a:cxn>
                <a:cxn ang="0">
                  <a:pos x="262" y="161"/>
                </a:cxn>
                <a:cxn ang="0">
                  <a:pos x="377" y="387"/>
                </a:cxn>
                <a:cxn ang="0">
                  <a:pos x="450" y="318"/>
                </a:cxn>
                <a:cxn ang="0">
                  <a:pos x="492" y="161"/>
                </a:cxn>
                <a:cxn ang="0">
                  <a:pos x="570" y="88"/>
                </a:cxn>
                <a:cxn ang="0">
                  <a:pos x="680" y="313"/>
                </a:cxn>
                <a:cxn ang="0">
                  <a:pos x="733" y="240"/>
                </a:cxn>
              </a:cxnLst>
              <a:rect l="0" t="0" r="r" b="b"/>
              <a:pathLst>
                <a:path w="733" h="413">
                  <a:moveTo>
                    <a:pt x="0" y="261"/>
                  </a:moveTo>
                  <a:cubicBezTo>
                    <a:pt x="5" y="231"/>
                    <a:pt x="10" y="202"/>
                    <a:pt x="21" y="177"/>
                  </a:cubicBezTo>
                  <a:cubicBezTo>
                    <a:pt x="32" y="152"/>
                    <a:pt x="52" y="121"/>
                    <a:pt x="68" y="109"/>
                  </a:cubicBezTo>
                  <a:cubicBezTo>
                    <a:pt x="84" y="97"/>
                    <a:pt x="106" y="92"/>
                    <a:pt x="120" y="104"/>
                  </a:cubicBezTo>
                  <a:cubicBezTo>
                    <a:pt x="134" y="116"/>
                    <a:pt x="139" y="199"/>
                    <a:pt x="152" y="182"/>
                  </a:cubicBezTo>
                  <a:cubicBezTo>
                    <a:pt x="165" y="165"/>
                    <a:pt x="181" y="8"/>
                    <a:pt x="199" y="4"/>
                  </a:cubicBezTo>
                  <a:cubicBezTo>
                    <a:pt x="217" y="0"/>
                    <a:pt x="232" y="97"/>
                    <a:pt x="262" y="161"/>
                  </a:cubicBezTo>
                  <a:cubicBezTo>
                    <a:pt x="292" y="225"/>
                    <a:pt x="346" y="361"/>
                    <a:pt x="377" y="387"/>
                  </a:cubicBezTo>
                  <a:cubicBezTo>
                    <a:pt x="408" y="413"/>
                    <a:pt x="431" y="356"/>
                    <a:pt x="450" y="318"/>
                  </a:cubicBezTo>
                  <a:cubicBezTo>
                    <a:pt x="469" y="280"/>
                    <a:pt x="472" y="199"/>
                    <a:pt x="492" y="161"/>
                  </a:cubicBezTo>
                  <a:cubicBezTo>
                    <a:pt x="512" y="123"/>
                    <a:pt x="539" y="63"/>
                    <a:pt x="570" y="88"/>
                  </a:cubicBezTo>
                  <a:cubicBezTo>
                    <a:pt x="601" y="113"/>
                    <a:pt x="653" y="288"/>
                    <a:pt x="680" y="313"/>
                  </a:cubicBezTo>
                  <a:cubicBezTo>
                    <a:pt x="707" y="338"/>
                    <a:pt x="724" y="252"/>
                    <a:pt x="733" y="240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5" name="Line 82">
              <a:extLst>
                <a:ext uri="{FF2B5EF4-FFF2-40B4-BE49-F238E27FC236}">
                  <a16:creationId xmlns:a16="http://schemas.microsoft.com/office/drawing/2014/main" id="{1469F492-98BC-ABE7-65FB-CC4CEA3A7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6" y="2472"/>
              <a:ext cx="9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Text Box 83">
              <a:extLst>
                <a:ext uri="{FF2B5EF4-FFF2-40B4-BE49-F238E27FC236}">
                  <a16:creationId xmlns:a16="http://schemas.microsoft.com/office/drawing/2014/main" id="{712B40BA-E4F2-E86F-014E-E68E835A0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1" y="2435"/>
              <a:ext cx="177" cy="1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 i="1">
                  <a:latin typeface="Arial" pitchFamily="34" charset="0"/>
                  <a:cs typeface="Arial" pitchFamily="34" charset="0"/>
                </a:rPr>
                <a:t>t</a:t>
              </a:r>
            </a:p>
          </p:txBody>
        </p:sp>
      </p:grpSp>
      <p:sp>
        <p:nvSpPr>
          <p:cNvPr id="57" name="Line 85">
            <a:extLst>
              <a:ext uri="{FF2B5EF4-FFF2-40B4-BE49-F238E27FC236}">
                <a16:creationId xmlns:a16="http://schemas.microsoft.com/office/drawing/2014/main" id="{6BAA39BB-ABE4-C44D-7C69-941CC7592E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64575" y="1820864"/>
            <a:ext cx="0" cy="871537"/>
          </a:xfrm>
          <a:prstGeom prst="line">
            <a:avLst/>
          </a:prstGeom>
          <a:noFill/>
          <a:ln w="6350">
            <a:solidFill>
              <a:schemeClr val="hlink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8" name="Group 88">
            <a:extLst>
              <a:ext uri="{FF2B5EF4-FFF2-40B4-BE49-F238E27FC236}">
                <a16:creationId xmlns:a16="http://schemas.microsoft.com/office/drawing/2014/main" id="{420DECF8-7246-09BD-0955-C1DAD79452A8}"/>
              </a:ext>
            </a:extLst>
          </p:cNvPr>
          <p:cNvGrpSpPr>
            <a:grpSpLocks/>
          </p:cNvGrpSpPr>
          <p:nvPr/>
        </p:nvGrpSpPr>
        <p:grpSpPr bwMode="auto">
          <a:xfrm>
            <a:off x="8847139" y="1538288"/>
            <a:ext cx="1830387" cy="1084262"/>
            <a:chOff x="4613" y="969"/>
            <a:chExt cx="1153" cy="683"/>
          </a:xfrm>
        </p:grpSpPr>
        <p:grpSp>
          <p:nvGrpSpPr>
            <p:cNvPr id="59" name="Group 65">
              <a:extLst>
                <a:ext uri="{FF2B5EF4-FFF2-40B4-BE49-F238E27FC236}">
                  <a16:creationId xmlns:a16="http://schemas.microsoft.com/office/drawing/2014/main" id="{5FE066AE-6AEE-B0C2-9591-A30925A7B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3" y="969"/>
              <a:ext cx="838" cy="362"/>
              <a:chOff x="4613" y="969"/>
              <a:chExt cx="838" cy="362"/>
            </a:xfrm>
          </p:grpSpPr>
          <p:sp>
            <p:nvSpPr>
              <p:cNvPr id="61" name="Rectangle 8">
                <a:extLst>
                  <a:ext uri="{FF2B5EF4-FFF2-40B4-BE49-F238E27FC236}">
                    <a16:creationId xmlns:a16="http://schemas.microsoft.com/office/drawing/2014/main" id="{59E96B4D-788C-B05B-BD5A-7EB669982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3" y="969"/>
                <a:ext cx="570" cy="3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762000"/>
                <a:r>
                  <a:rPr lang="en-US" sz="1400" dirty="0" err="1">
                    <a:latin typeface="Arial" pitchFamily="34" charset="0"/>
                    <a:cs typeface="Arial" pitchFamily="34" charset="0"/>
                  </a:rPr>
                  <a:t>transdutor</a:t>
                </a:r>
                <a:endParaRPr lang="en-US" sz="14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Line 21">
                <a:extLst>
                  <a:ext uri="{FF2B5EF4-FFF2-40B4-BE49-F238E27FC236}">
                    <a16:creationId xmlns:a16="http://schemas.microsoft.com/office/drawing/2014/main" id="{8CB1D6D2-9E53-0B80-9BDC-26C15DF4F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1163"/>
                <a:ext cx="26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pt-BR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60" name="Text Box 87">
              <a:extLst>
                <a:ext uri="{FF2B5EF4-FFF2-40B4-BE49-F238E27FC236}">
                  <a16:creationId xmlns:a16="http://schemas.microsoft.com/office/drawing/2014/main" id="{EB103A19-4570-C929-4159-6CC74FCDE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2" y="1322"/>
              <a:ext cx="674" cy="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solidFill>
                    <a:schemeClr val="hlink"/>
                  </a:solidFill>
                  <a:latin typeface="Arial" pitchFamily="34" charset="0"/>
                  <a:cs typeface="Arial" pitchFamily="34" charset="0"/>
                </a:rPr>
                <a:t>mensagem</a:t>
              </a:r>
            </a:p>
            <a:p>
              <a:pPr defTabSz="762000"/>
              <a:r>
                <a:rPr lang="en-US" sz="1400" i="1">
                  <a:solidFill>
                    <a:schemeClr val="hlink"/>
                  </a:solidFill>
                  <a:latin typeface="Arial" pitchFamily="34" charset="0"/>
                  <a:cs typeface="Arial" pitchFamily="34" charset="0"/>
                </a:rPr>
                <a:t>(estimada)</a:t>
              </a:r>
            </a:p>
          </p:txBody>
        </p:sp>
      </p:grp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3F385ADC-ACE1-AF89-5CA7-155A05ED6EE5}"/>
              </a:ext>
            </a:extLst>
          </p:cNvPr>
          <p:cNvSpPr txBox="1"/>
          <p:nvPr/>
        </p:nvSpPr>
        <p:spPr>
          <a:xfrm>
            <a:off x="1708734" y="146784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" pitchFamily="34" charset="0"/>
                <a:cs typeface="Arial" pitchFamily="34" charset="0"/>
              </a:rPr>
              <a:t>fonte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D25526C-12E3-178B-4D88-3C2AC331C7B7}"/>
              </a:ext>
            </a:extLst>
          </p:cNvPr>
          <p:cNvSpPr txBox="1"/>
          <p:nvPr/>
        </p:nvSpPr>
        <p:spPr>
          <a:xfrm>
            <a:off x="9697000" y="1415713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" pitchFamily="34" charset="0"/>
                <a:cs typeface="Arial" pitchFamily="34" charset="0"/>
              </a:rPr>
              <a:t>destino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57970445-2986-D051-91C8-BA0EFB498BB3}"/>
              </a:ext>
            </a:extLst>
          </p:cNvPr>
          <p:cNvSpPr txBox="1"/>
          <p:nvPr/>
        </p:nvSpPr>
        <p:spPr>
          <a:xfrm>
            <a:off x="3235118" y="4234419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011001...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0AE080D0-F89D-2461-85ED-507FC3648010}"/>
              </a:ext>
            </a:extLst>
          </p:cNvPr>
          <p:cNvSpPr txBox="1"/>
          <p:nvPr/>
        </p:nvSpPr>
        <p:spPr>
          <a:xfrm>
            <a:off x="8265710" y="4234419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0110</a:t>
            </a:r>
            <a:r>
              <a:rPr lang="pt-BR" dirty="0">
                <a:solidFill>
                  <a:srgbClr val="FF0000"/>
                </a:solidFill>
              </a:rPr>
              <a:t>1</a:t>
            </a:r>
            <a:r>
              <a:rPr lang="pt-BR" dirty="0"/>
              <a:t>1...</a:t>
            </a:r>
          </a:p>
        </p:txBody>
      </p:sp>
    </p:spTree>
    <p:extLst>
      <p:ext uri="{BB962C8B-B14F-4D97-AF65-F5344CB8AC3E}">
        <p14:creationId xmlns:p14="http://schemas.microsoft.com/office/powerpoint/2010/main" val="206149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982E8-7008-8968-0A93-8A335F77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Enlace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53FFA4-6687-9999-610D-D2BDEEC55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1894114"/>
          </a:xfrm>
        </p:spPr>
        <p:txBody>
          <a:bodyPr>
            <a:normAutofit/>
          </a:bodyPr>
          <a:lstStyle/>
          <a:p>
            <a:r>
              <a:rPr lang="pt-BR" dirty="0"/>
              <a:t>Objetivo</a:t>
            </a:r>
          </a:p>
          <a:p>
            <a:r>
              <a:rPr lang="pt-BR" dirty="0"/>
              <a:t>Enviar mensagem de uma </a:t>
            </a:r>
            <a:r>
              <a:rPr lang="pt-BR" b="1" dirty="0">
                <a:solidFill>
                  <a:srgbClr val="0070C0"/>
                </a:solidFill>
              </a:rPr>
              <a:t>fonte</a:t>
            </a:r>
            <a:r>
              <a:rPr lang="pt-BR" dirty="0"/>
              <a:t> a um (ou mais) </a:t>
            </a:r>
            <a:r>
              <a:rPr lang="pt-BR" b="1" dirty="0">
                <a:solidFill>
                  <a:srgbClr val="0070C0"/>
                </a:solidFill>
              </a:rPr>
              <a:t>destino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6A19ED55-90C9-6572-7ABA-4872EAA32F13}"/>
              </a:ext>
            </a:extLst>
          </p:cNvPr>
          <p:cNvSpPr txBox="1">
            <a:spLocks/>
          </p:cNvSpPr>
          <p:nvPr/>
        </p:nvSpPr>
        <p:spPr>
          <a:xfrm>
            <a:off x="838200" y="3047999"/>
            <a:ext cx="4963886" cy="326571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</a:rPr>
              <a:t>Eficientemente</a:t>
            </a:r>
          </a:p>
          <a:p>
            <a:pPr marL="0" indent="0">
              <a:buNone/>
            </a:pPr>
            <a:r>
              <a:rPr lang="pt-BR" dirty="0"/>
              <a:t>Usando os recursos de forma eficiente</a:t>
            </a:r>
          </a:p>
          <a:p>
            <a:r>
              <a:rPr lang="pt-BR" dirty="0"/>
              <a:t>Banda</a:t>
            </a:r>
          </a:p>
          <a:p>
            <a:r>
              <a:rPr lang="pt-BR" dirty="0"/>
              <a:t>Energia / Potência</a:t>
            </a:r>
          </a:p>
          <a:p>
            <a:r>
              <a:rPr lang="pt-BR" dirty="0"/>
              <a:t>Complexidade</a:t>
            </a:r>
          </a:p>
          <a:p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77D340B-CE2C-7DD3-114E-807BBE6A3A7A}"/>
              </a:ext>
            </a:extLst>
          </p:cNvPr>
          <p:cNvSpPr txBox="1">
            <a:spLocks/>
          </p:cNvSpPr>
          <p:nvPr/>
        </p:nvSpPr>
        <p:spPr>
          <a:xfrm>
            <a:off x="6389916" y="3047999"/>
            <a:ext cx="4963886" cy="326571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</a:rPr>
              <a:t>Fielmente</a:t>
            </a:r>
          </a:p>
          <a:p>
            <a:pPr marL="0" indent="0">
              <a:buNone/>
            </a:pPr>
            <a:r>
              <a:rPr lang="pt-BR" dirty="0"/>
              <a:t>De modo que a mensagem no destino seja o mais próximo possível da mensagem no destino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090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4D491-0E7A-BF48-39F0-8EC20AFC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57BDA-0F9F-4A5F-5ABF-3B7C2BF56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Enlace -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FA6CE9-0E5D-2936-8856-7BE49940C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4531746"/>
          </a:xfrm>
        </p:spPr>
        <p:txBody>
          <a:bodyPr>
            <a:normAutofit/>
          </a:bodyPr>
          <a:lstStyle/>
          <a:p>
            <a:r>
              <a:rPr lang="pt-BR" dirty="0"/>
              <a:t>Fonte</a:t>
            </a:r>
          </a:p>
          <a:p>
            <a:pPr lvl="1"/>
            <a:r>
              <a:rPr lang="pt-BR" dirty="0"/>
              <a:t>Origina a mensagem</a:t>
            </a:r>
          </a:p>
          <a:p>
            <a:pPr lvl="1"/>
            <a:r>
              <a:rPr lang="pt-BR" dirty="0"/>
              <a:t>Voz, vídeo, áudio, dados, ...</a:t>
            </a:r>
          </a:p>
          <a:p>
            <a:r>
              <a:rPr lang="pt-BR" dirty="0"/>
              <a:t>Destino</a:t>
            </a:r>
          </a:p>
          <a:p>
            <a:pPr lvl="1"/>
            <a:r>
              <a:rPr lang="pt-BR" dirty="0"/>
              <a:t>Recebe a mensagem</a:t>
            </a:r>
          </a:p>
          <a:p>
            <a:r>
              <a:rPr lang="pt-BR" dirty="0"/>
              <a:t>Transdutor de fonte</a:t>
            </a:r>
          </a:p>
          <a:p>
            <a:pPr lvl="1"/>
            <a:r>
              <a:rPr lang="pt-BR" dirty="0"/>
              <a:t>Converte mensagem em um sinal (forma de onda) que pode ser transmitido</a:t>
            </a:r>
          </a:p>
          <a:p>
            <a:r>
              <a:rPr lang="pt-BR" dirty="0"/>
              <a:t>Transdutor de destino</a:t>
            </a:r>
          </a:p>
          <a:p>
            <a:pPr lvl="1"/>
            <a:r>
              <a:rPr lang="pt-BR" dirty="0"/>
              <a:t>Converte sinal recebido em uma mensagem</a:t>
            </a:r>
          </a:p>
          <a:p>
            <a:r>
              <a:rPr lang="pt-BR" dirty="0"/>
              <a:t>Sinal pode ser analógico ou digital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286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BF182-B181-3058-16C6-C16DF2A9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Sinais Analógicos e Digitais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BA1840-B8AF-D9FB-6B72-67894B86FFE8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153886"/>
            <a:ext cx="10515600" cy="45441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Mensagens Analógicas:</a:t>
            </a:r>
          </a:p>
          <a:p>
            <a:pPr lvl="1"/>
            <a:r>
              <a:rPr lang="pt-BR" dirty="0"/>
              <a:t>Valores podem assumir infinitos valores em um intervalo contínuo</a:t>
            </a:r>
          </a:p>
          <a:p>
            <a:pPr lvl="1"/>
            <a:r>
              <a:rPr lang="pt-BR" dirty="0"/>
              <a:t>Exemplos</a:t>
            </a:r>
          </a:p>
          <a:p>
            <a:pPr lvl="2"/>
            <a:r>
              <a:rPr lang="pt-BR" dirty="0"/>
              <a:t>Sinal de voz</a:t>
            </a:r>
          </a:p>
          <a:p>
            <a:pPr lvl="2"/>
            <a:r>
              <a:rPr lang="pt-BR" dirty="0"/>
              <a:t>Intensidade luminosa de um pixel</a:t>
            </a:r>
          </a:p>
          <a:p>
            <a:pPr lvl="2"/>
            <a:r>
              <a:rPr lang="pt-BR" dirty="0"/>
              <a:t>Dados meteorológicos (temperatura, umidade, </a:t>
            </a:r>
            <a:r>
              <a:rPr lang="pt-BR" dirty="0" err="1"/>
              <a:t>etc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....</a:t>
            </a:r>
          </a:p>
          <a:p>
            <a:r>
              <a:rPr lang="pt-BR" dirty="0"/>
              <a:t>Mensagens digitais</a:t>
            </a:r>
          </a:p>
          <a:p>
            <a:pPr lvl="1"/>
            <a:r>
              <a:rPr lang="pt-BR" dirty="0"/>
              <a:t>São constituídas de um número finito de símbolos (alfabeto)</a:t>
            </a:r>
          </a:p>
          <a:p>
            <a:pPr lvl="1"/>
            <a:r>
              <a:rPr lang="pt-BR" dirty="0"/>
              <a:t>Exemplos:</a:t>
            </a:r>
          </a:p>
          <a:p>
            <a:pPr lvl="2"/>
            <a:r>
              <a:rPr lang="pt-BR" dirty="0"/>
              <a:t>Mensagens de texto</a:t>
            </a:r>
          </a:p>
          <a:p>
            <a:pPr lvl="2"/>
            <a:r>
              <a:rPr lang="pt-BR" dirty="0"/>
              <a:t>Frequência à aula</a:t>
            </a:r>
          </a:p>
          <a:p>
            <a:pPr lvl="2"/>
            <a:r>
              <a:rPr lang="en-US" dirty="0" err="1"/>
              <a:t>Gols</a:t>
            </a:r>
            <a:r>
              <a:rPr lang="en-US" dirty="0"/>
              <a:t> do Flamengo 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jogo</a:t>
            </a:r>
            <a:endParaRPr lang="pt-BR" dirty="0"/>
          </a:p>
          <a:p>
            <a:pPr lvl="2"/>
            <a:r>
              <a:rPr lang="pt-BR" dirty="0"/>
              <a:t>Bits</a:t>
            </a:r>
          </a:p>
          <a:p>
            <a:pPr lvl="2"/>
            <a:r>
              <a:rPr lang="pt-BR" dirty="0"/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311904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09203-872C-B82B-C431-F4803578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504903"/>
          </a:xfrm>
        </p:spPr>
        <p:txBody>
          <a:bodyPr/>
          <a:lstStyle/>
          <a:p>
            <a:r>
              <a:rPr lang="pt-BR" dirty="0"/>
              <a:t>Conversão Analógico-Digital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5256721-2627-47D5-6840-014C1819BDCD}"/>
              </a:ext>
            </a:extLst>
          </p:cNvPr>
          <p:cNvSpPr txBox="1">
            <a:spLocks noChangeArrowheads="1"/>
          </p:cNvSpPr>
          <p:nvPr/>
        </p:nvSpPr>
        <p:spPr>
          <a:xfrm>
            <a:off x="1909731" y="4079876"/>
            <a:ext cx="8299450" cy="212440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800" dirty="0" err="1"/>
              <a:t>conversão</a:t>
            </a:r>
            <a:r>
              <a:rPr lang="en-US" sz="1800" dirty="0"/>
              <a:t> de um valor </a:t>
            </a:r>
            <a:r>
              <a:rPr lang="en-US" sz="1800" dirty="0" err="1"/>
              <a:t>analógico</a:t>
            </a:r>
            <a:r>
              <a:rPr lang="en-US" sz="1800" dirty="0"/>
              <a:t> para um digital é </a:t>
            </a:r>
            <a:r>
              <a:rPr lang="en-US" sz="1800" dirty="0" err="1"/>
              <a:t>chamado</a:t>
            </a:r>
            <a:r>
              <a:rPr lang="en-US" sz="1800" dirty="0"/>
              <a:t> de </a:t>
            </a:r>
            <a:r>
              <a:rPr lang="en-US" sz="1800" dirty="0" err="1">
                <a:solidFill>
                  <a:schemeClr val="hlink"/>
                </a:solidFill>
              </a:rPr>
              <a:t>digitalização</a:t>
            </a:r>
            <a:endParaRPr lang="en-US" sz="1800" dirty="0"/>
          </a:p>
          <a:p>
            <a:pPr lvl="1"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 err="1"/>
              <a:t>Quantização</a:t>
            </a:r>
            <a:r>
              <a:rPr lang="en-US" sz="1800" dirty="0"/>
              <a:t> (</a:t>
            </a:r>
            <a:r>
              <a:rPr lang="en-US" sz="1800" dirty="0" err="1"/>
              <a:t>eixo</a:t>
            </a:r>
            <a:r>
              <a:rPr lang="en-US" sz="1800" dirty="0"/>
              <a:t> de </a:t>
            </a:r>
            <a:r>
              <a:rPr lang="en-US" sz="1800" dirty="0" err="1"/>
              <a:t>valores</a:t>
            </a:r>
            <a:r>
              <a:rPr lang="en-US" sz="1800" dirty="0"/>
              <a:t>)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Acarreta</a:t>
            </a:r>
            <a:r>
              <a:rPr lang="en-US" sz="1800" dirty="0"/>
              <a:t> </a:t>
            </a:r>
            <a:r>
              <a:rPr lang="en-US" sz="1800" dirty="0" err="1"/>
              <a:t>perdas</a:t>
            </a:r>
            <a:r>
              <a:rPr lang="en-US" sz="1800" dirty="0"/>
              <a:t> </a:t>
            </a:r>
            <a:r>
              <a:rPr lang="en-US" sz="1800" dirty="0" err="1"/>
              <a:t>pelo</a:t>
            </a:r>
            <a:r>
              <a:rPr lang="en-US" sz="1800" dirty="0"/>
              <a:t> </a:t>
            </a:r>
            <a:r>
              <a:rPr lang="en-US" sz="1800" dirty="0" err="1"/>
              <a:t>erro</a:t>
            </a:r>
            <a:r>
              <a:rPr lang="en-US" sz="1800" dirty="0"/>
              <a:t> de </a:t>
            </a:r>
            <a:r>
              <a:rPr lang="en-US" sz="1800" dirty="0" err="1"/>
              <a:t>quantização</a:t>
            </a:r>
            <a:r>
              <a:rPr lang="en-US" sz="1800" dirty="0"/>
              <a:t> (</a:t>
            </a:r>
            <a:r>
              <a:rPr lang="en-US" sz="1800" dirty="0" err="1"/>
              <a:t>níveis</a:t>
            </a:r>
            <a:r>
              <a:rPr lang="en-US" sz="1800" dirty="0"/>
              <a:t> </a:t>
            </a:r>
            <a:r>
              <a:rPr lang="en-US" sz="1800" dirty="0" err="1"/>
              <a:t>são</a:t>
            </a:r>
            <a:r>
              <a:rPr lang="en-US" sz="1800" dirty="0"/>
              <a:t> </a:t>
            </a:r>
            <a:r>
              <a:rPr lang="en-US" sz="1800" dirty="0" err="1"/>
              <a:t>finitos</a:t>
            </a:r>
            <a:r>
              <a:rPr lang="en-US" sz="1800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sz="1800" dirty="0" err="1"/>
              <a:t>Amostragem</a:t>
            </a:r>
            <a:r>
              <a:rPr lang="en-US" sz="1800" dirty="0"/>
              <a:t> (</a:t>
            </a:r>
            <a:r>
              <a:rPr lang="en-US" sz="1800" dirty="0" err="1"/>
              <a:t>eixo</a:t>
            </a:r>
            <a:r>
              <a:rPr lang="en-US" sz="1800" dirty="0"/>
              <a:t> do tempo)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Pode </a:t>
            </a:r>
            <a:r>
              <a:rPr lang="en-US" sz="1800" dirty="0" err="1"/>
              <a:t>ocorrer</a:t>
            </a:r>
            <a:r>
              <a:rPr lang="en-US" sz="1800" dirty="0"/>
              <a:t> com </a:t>
            </a:r>
            <a:r>
              <a:rPr lang="en-US" sz="1800" dirty="0" err="1"/>
              <a:t>perdas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não</a:t>
            </a:r>
            <a:r>
              <a:rPr lang="en-US" sz="1800" dirty="0"/>
              <a:t> (</a:t>
            </a:r>
            <a:r>
              <a:rPr lang="en-US" sz="1800" dirty="0" err="1"/>
              <a:t>Teorema</a:t>
            </a:r>
            <a:r>
              <a:rPr lang="en-US" sz="1800" dirty="0"/>
              <a:t> da </a:t>
            </a:r>
            <a:r>
              <a:rPr lang="en-US" sz="1800" dirty="0" err="1"/>
              <a:t>Amostragem</a:t>
            </a:r>
            <a:r>
              <a:rPr lang="en-US" sz="1800" dirty="0"/>
              <a:t> de Nyquist)</a:t>
            </a:r>
          </a:p>
          <a:p>
            <a:pPr lvl="2">
              <a:lnSpc>
                <a:spcPct val="80000"/>
              </a:lnSpc>
            </a:pP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1800" dirty="0" err="1"/>
              <a:t>Sinal</a:t>
            </a:r>
            <a:r>
              <a:rPr lang="en-US" sz="1800" dirty="0"/>
              <a:t> digital </a:t>
            </a:r>
            <a:r>
              <a:rPr lang="en-US" sz="1800" dirty="0" err="1"/>
              <a:t>pode</a:t>
            </a:r>
            <a:r>
              <a:rPr lang="en-US" sz="1800" dirty="0"/>
              <a:t> ser </a:t>
            </a:r>
            <a:r>
              <a:rPr lang="en-US" sz="1800" dirty="0" err="1"/>
              <a:t>representado</a:t>
            </a:r>
            <a:r>
              <a:rPr lang="en-US" sz="1800" dirty="0"/>
              <a:t>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sequência</a:t>
            </a:r>
            <a:r>
              <a:rPr lang="en-US" sz="1800" dirty="0"/>
              <a:t> de bits</a:t>
            </a:r>
          </a:p>
        </p:txBody>
      </p:sp>
      <p:sp>
        <p:nvSpPr>
          <p:cNvPr id="5" name="Text Box 75">
            <a:extLst>
              <a:ext uri="{FF2B5EF4-FFF2-40B4-BE49-F238E27FC236}">
                <a16:creationId xmlns:a16="http://schemas.microsoft.com/office/drawing/2014/main" id="{F3E1BF46-4672-B715-22FB-45DB2796B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1192214"/>
            <a:ext cx="127002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>
                <a:solidFill>
                  <a:schemeClr val="hlink"/>
                </a:solidFill>
              </a:rPr>
              <a:t>Sinal analógico</a:t>
            </a:r>
          </a:p>
        </p:txBody>
      </p:sp>
      <p:sp>
        <p:nvSpPr>
          <p:cNvPr id="6" name="Text Box 77">
            <a:extLst>
              <a:ext uri="{FF2B5EF4-FFF2-40B4-BE49-F238E27FC236}">
                <a16:creationId xmlns:a16="http://schemas.microsoft.com/office/drawing/2014/main" id="{4516340D-AD44-F2F3-5D71-7FF744CDD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9" y="2797176"/>
            <a:ext cx="1020857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574EF"/>
                </a:solidFill>
              </a:rPr>
              <a:t>Sinal</a:t>
            </a:r>
            <a:r>
              <a:rPr lang="en-US" sz="1400" dirty="0">
                <a:solidFill>
                  <a:srgbClr val="0574EF"/>
                </a:solidFill>
              </a:rPr>
              <a:t> digital</a:t>
            </a:r>
          </a:p>
        </p:txBody>
      </p:sp>
      <p:sp>
        <p:nvSpPr>
          <p:cNvPr id="7" name="Line 18">
            <a:extLst>
              <a:ext uri="{FF2B5EF4-FFF2-40B4-BE49-F238E27FC236}">
                <a16:creationId xmlns:a16="http://schemas.microsoft.com/office/drawing/2014/main" id="{CBCE3BAD-BCCF-2B1B-D3ED-B48679FEE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025" y="2466976"/>
            <a:ext cx="41148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8" name="Freeform 33">
            <a:extLst>
              <a:ext uri="{FF2B5EF4-FFF2-40B4-BE49-F238E27FC236}">
                <a16:creationId xmlns:a16="http://schemas.microsoft.com/office/drawing/2014/main" id="{AC28AF6E-FBBB-9000-B668-3479984280D8}"/>
              </a:ext>
            </a:extLst>
          </p:cNvPr>
          <p:cNvSpPr>
            <a:spLocks/>
          </p:cNvSpPr>
          <p:nvPr/>
        </p:nvSpPr>
        <p:spPr bwMode="auto">
          <a:xfrm>
            <a:off x="3784601" y="1250950"/>
            <a:ext cx="3459163" cy="2611438"/>
          </a:xfrm>
          <a:custGeom>
            <a:avLst/>
            <a:gdLst/>
            <a:ahLst/>
            <a:cxnLst>
              <a:cxn ang="0">
                <a:pos x="0" y="526"/>
              </a:cxn>
              <a:cxn ang="0">
                <a:pos x="157" y="1081"/>
              </a:cxn>
              <a:cxn ang="0">
                <a:pos x="440" y="1081"/>
              </a:cxn>
              <a:cxn ang="0">
                <a:pos x="676" y="935"/>
              </a:cxn>
              <a:cxn ang="0">
                <a:pos x="859" y="364"/>
              </a:cxn>
              <a:cxn ang="0">
                <a:pos x="1037" y="113"/>
              </a:cxn>
              <a:cxn ang="0">
                <a:pos x="1288" y="1045"/>
              </a:cxn>
              <a:cxn ang="0">
                <a:pos x="1477" y="882"/>
              </a:cxn>
              <a:cxn ang="0">
                <a:pos x="1660" y="1589"/>
              </a:cxn>
              <a:cxn ang="0">
                <a:pos x="1948" y="547"/>
              </a:cxn>
              <a:cxn ang="0">
                <a:pos x="2179" y="1045"/>
              </a:cxn>
            </a:cxnLst>
            <a:rect l="0" t="0" r="r" b="b"/>
            <a:pathLst>
              <a:path w="2179" h="1645">
                <a:moveTo>
                  <a:pt x="0" y="526"/>
                </a:moveTo>
                <a:cubicBezTo>
                  <a:pt x="42" y="757"/>
                  <a:pt x="84" y="988"/>
                  <a:pt x="157" y="1081"/>
                </a:cubicBezTo>
                <a:cubicBezTo>
                  <a:pt x="230" y="1174"/>
                  <a:pt x="353" y="1105"/>
                  <a:pt x="440" y="1081"/>
                </a:cubicBezTo>
                <a:cubicBezTo>
                  <a:pt x="527" y="1057"/>
                  <a:pt x="606" y="1054"/>
                  <a:pt x="676" y="935"/>
                </a:cubicBezTo>
                <a:cubicBezTo>
                  <a:pt x="746" y="816"/>
                  <a:pt x="799" y="501"/>
                  <a:pt x="859" y="364"/>
                </a:cubicBezTo>
                <a:cubicBezTo>
                  <a:pt x="919" y="227"/>
                  <a:pt x="966" y="0"/>
                  <a:pt x="1037" y="113"/>
                </a:cubicBezTo>
                <a:cubicBezTo>
                  <a:pt x="1108" y="226"/>
                  <a:pt x="1215" y="917"/>
                  <a:pt x="1288" y="1045"/>
                </a:cubicBezTo>
                <a:cubicBezTo>
                  <a:pt x="1361" y="1173"/>
                  <a:pt x="1415" y="791"/>
                  <a:pt x="1477" y="882"/>
                </a:cubicBezTo>
                <a:cubicBezTo>
                  <a:pt x="1539" y="973"/>
                  <a:pt x="1582" y="1645"/>
                  <a:pt x="1660" y="1589"/>
                </a:cubicBezTo>
                <a:cubicBezTo>
                  <a:pt x="1738" y="1533"/>
                  <a:pt x="1862" y="638"/>
                  <a:pt x="1948" y="547"/>
                </a:cubicBezTo>
                <a:cubicBezTo>
                  <a:pt x="2034" y="456"/>
                  <a:pt x="2131" y="941"/>
                  <a:pt x="2179" y="1045"/>
                </a:cubicBezTo>
              </a:path>
            </a:pathLst>
          </a:custGeom>
          <a:noFill/>
          <a:ln w="12700" cap="flat" cmpd="sng">
            <a:solidFill>
              <a:srgbClr val="C9252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9" name="Text Box 74">
            <a:extLst>
              <a:ext uri="{FF2B5EF4-FFF2-40B4-BE49-F238E27FC236}">
                <a16:creationId xmlns:a16="http://schemas.microsoft.com/office/drawing/2014/main" id="{E722FF64-E312-2B84-7E66-EF71C1F5C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100" y="2330451"/>
            <a:ext cx="24558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/>
              <a:t>t</a:t>
            </a:r>
          </a:p>
        </p:txBody>
      </p:sp>
      <p:sp>
        <p:nvSpPr>
          <p:cNvPr id="10" name="Text Box 75">
            <a:extLst>
              <a:ext uri="{FF2B5EF4-FFF2-40B4-BE49-F238E27FC236}">
                <a16:creationId xmlns:a16="http://schemas.microsoft.com/office/drawing/2014/main" id="{A689E59E-4095-0214-2034-AEB2393F1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800" y="1192214"/>
            <a:ext cx="127002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C00000"/>
                </a:solidFill>
              </a:rPr>
              <a:t>Sinal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analógico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1" name="Text Box 77">
            <a:extLst>
              <a:ext uri="{FF2B5EF4-FFF2-40B4-BE49-F238E27FC236}">
                <a16:creationId xmlns:a16="http://schemas.microsoft.com/office/drawing/2014/main" id="{885D2D76-8831-A228-6379-20C8AF819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9" y="2797176"/>
            <a:ext cx="1020857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dirty="0" err="1">
                <a:solidFill>
                  <a:srgbClr val="0574EF"/>
                </a:solidFill>
              </a:rPr>
              <a:t>Sinal</a:t>
            </a:r>
            <a:r>
              <a:rPr lang="en-US" sz="1400" dirty="0">
                <a:solidFill>
                  <a:srgbClr val="0574EF"/>
                </a:solidFill>
              </a:rPr>
              <a:t> digital</a:t>
            </a:r>
          </a:p>
        </p:txBody>
      </p:sp>
      <p:cxnSp>
        <p:nvCxnSpPr>
          <p:cNvPr id="12" name="Conector de seta reta 63">
            <a:extLst>
              <a:ext uri="{FF2B5EF4-FFF2-40B4-BE49-F238E27FC236}">
                <a16:creationId xmlns:a16="http://schemas.microsoft.com/office/drawing/2014/main" id="{8E4647AA-F8E2-FFE4-96C2-DBBB9A6F1C7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579847" y="1142813"/>
            <a:ext cx="30131" cy="275291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Conector de seta reta 68">
            <a:extLst>
              <a:ext uri="{FF2B5EF4-FFF2-40B4-BE49-F238E27FC236}">
                <a16:creationId xmlns:a16="http://schemas.microsoft.com/office/drawing/2014/main" id="{74104BE9-D3F0-37C9-7584-444833A37BAE}"/>
              </a:ext>
            </a:extLst>
          </p:cNvPr>
          <p:cNvCxnSpPr/>
          <p:nvPr/>
        </p:nvCxnSpPr>
        <p:spPr bwMode="auto">
          <a:xfrm rot="5400000">
            <a:off x="3458368" y="262890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4" name="Conector de seta reta 70">
            <a:extLst>
              <a:ext uri="{FF2B5EF4-FFF2-40B4-BE49-F238E27FC236}">
                <a16:creationId xmlns:a16="http://schemas.microsoft.com/office/drawing/2014/main" id="{5DA410E1-3819-EFBF-5EA2-F877A3C87D39}"/>
              </a:ext>
            </a:extLst>
          </p:cNvPr>
          <p:cNvCxnSpPr/>
          <p:nvPr/>
        </p:nvCxnSpPr>
        <p:spPr bwMode="auto">
          <a:xfrm rot="5400000">
            <a:off x="3458368" y="294322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5" name="Conector de seta reta 71">
            <a:extLst>
              <a:ext uri="{FF2B5EF4-FFF2-40B4-BE49-F238E27FC236}">
                <a16:creationId xmlns:a16="http://schemas.microsoft.com/office/drawing/2014/main" id="{7009BC61-502E-6A4F-720A-EE5C42C46DC6}"/>
              </a:ext>
            </a:extLst>
          </p:cNvPr>
          <p:cNvCxnSpPr/>
          <p:nvPr/>
        </p:nvCxnSpPr>
        <p:spPr bwMode="auto">
          <a:xfrm rot="5400000">
            <a:off x="3458368" y="325755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6" name="Conector de seta reta 72">
            <a:extLst>
              <a:ext uri="{FF2B5EF4-FFF2-40B4-BE49-F238E27FC236}">
                <a16:creationId xmlns:a16="http://schemas.microsoft.com/office/drawing/2014/main" id="{D817D8DC-B5CE-1584-B907-5963C584FBED}"/>
              </a:ext>
            </a:extLst>
          </p:cNvPr>
          <p:cNvCxnSpPr/>
          <p:nvPr/>
        </p:nvCxnSpPr>
        <p:spPr bwMode="auto">
          <a:xfrm rot="5400000">
            <a:off x="3458368" y="357187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7" name="Conector de seta reta 73">
            <a:extLst>
              <a:ext uri="{FF2B5EF4-FFF2-40B4-BE49-F238E27FC236}">
                <a16:creationId xmlns:a16="http://schemas.microsoft.com/office/drawing/2014/main" id="{59E059EC-4CAB-662C-FD2D-F80113701651}"/>
              </a:ext>
            </a:extLst>
          </p:cNvPr>
          <p:cNvCxnSpPr/>
          <p:nvPr/>
        </p:nvCxnSpPr>
        <p:spPr bwMode="auto">
          <a:xfrm rot="5400000">
            <a:off x="3458368" y="169545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8" name="Conector de seta reta 74">
            <a:extLst>
              <a:ext uri="{FF2B5EF4-FFF2-40B4-BE49-F238E27FC236}">
                <a16:creationId xmlns:a16="http://schemas.microsoft.com/office/drawing/2014/main" id="{F38411B9-5FFB-9698-2AE7-51DAFC63DC67}"/>
              </a:ext>
            </a:extLst>
          </p:cNvPr>
          <p:cNvCxnSpPr/>
          <p:nvPr/>
        </p:nvCxnSpPr>
        <p:spPr bwMode="auto">
          <a:xfrm rot="5400000">
            <a:off x="3458368" y="2009777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19" name="Conector de seta reta 75">
            <a:extLst>
              <a:ext uri="{FF2B5EF4-FFF2-40B4-BE49-F238E27FC236}">
                <a16:creationId xmlns:a16="http://schemas.microsoft.com/office/drawing/2014/main" id="{20823A62-C119-6022-0EC4-5D8E5A2550CC}"/>
              </a:ext>
            </a:extLst>
          </p:cNvPr>
          <p:cNvCxnSpPr/>
          <p:nvPr/>
        </p:nvCxnSpPr>
        <p:spPr bwMode="auto">
          <a:xfrm rot="5400000">
            <a:off x="3458368" y="2324102"/>
            <a:ext cx="304010" cy="79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oval" w="med" len="med"/>
            <a:tailEnd type="oval"/>
          </a:ln>
          <a:effectLst/>
        </p:spPr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6C8BBE1-17E3-3A42-2425-D7D5269D83CD}"/>
              </a:ext>
            </a:extLst>
          </p:cNvPr>
          <p:cNvCxnSpPr/>
          <p:nvPr/>
        </p:nvCxnSpPr>
        <p:spPr bwMode="auto">
          <a:xfrm>
            <a:off x="3609976" y="37338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022DF492-F16A-A76F-5FB9-3E2C467E9147}"/>
              </a:ext>
            </a:extLst>
          </p:cNvPr>
          <p:cNvCxnSpPr/>
          <p:nvPr/>
        </p:nvCxnSpPr>
        <p:spPr bwMode="auto">
          <a:xfrm>
            <a:off x="3629026" y="341947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3006F564-0660-ED60-04CD-5B719B345265}"/>
              </a:ext>
            </a:extLst>
          </p:cNvPr>
          <p:cNvCxnSpPr/>
          <p:nvPr/>
        </p:nvCxnSpPr>
        <p:spPr bwMode="auto">
          <a:xfrm>
            <a:off x="3619501" y="310515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2538BEBA-28BB-3A08-D4DE-13EC1830E43A}"/>
              </a:ext>
            </a:extLst>
          </p:cNvPr>
          <p:cNvCxnSpPr/>
          <p:nvPr/>
        </p:nvCxnSpPr>
        <p:spPr bwMode="auto">
          <a:xfrm>
            <a:off x="3629026" y="155257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C5D13644-B1A8-3520-CCF7-B5AA5BD5EA24}"/>
              </a:ext>
            </a:extLst>
          </p:cNvPr>
          <p:cNvCxnSpPr/>
          <p:nvPr/>
        </p:nvCxnSpPr>
        <p:spPr bwMode="auto">
          <a:xfrm>
            <a:off x="3609976" y="18669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CB48BB8-CD10-6103-AFBA-A36966E86268}"/>
              </a:ext>
            </a:extLst>
          </p:cNvPr>
          <p:cNvCxnSpPr/>
          <p:nvPr/>
        </p:nvCxnSpPr>
        <p:spPr bwMode="auto">
          <a:xfrm>
            <a:off x="3619501" y="2171700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D6F63AD9-CF76-8D8C-0A04-155AD90A9B74}"/>
              </a:ext>
            </a:extLst>
          </p:cNvPr>
          <p:cNvCxnSpPr/>
          <p:nvPr/>
        </p:nvCxnSpPr>
        <p:spPr bwMode="auto">
          <a:xfrm>
            <a:off x="3619501" y="2790825"/>
            <a:ext cx="40862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Conector de seta reta 84">
            <a:extLst>
              <a:ext uri="{FF2B5EF4-FFF2-40B4-BE49-F238E27FC236}">
                <a16:creationId xmlns:a16="http://schemas.microsoft.com/office/drawing/2014/main" id="{9DD39F5B-83C4-1739-A876-8A729B3A4C63}"/>
              </a:ext>
            </a:extLst>
          </p:cNvPr>
          <p:cNvCxnSpPr/>
          <p:nvPr/>
        </p:nvCxnSpPr>
        <p:spPr bwMode="auto">
          <a:xfrm rot="5400000" flipH="1" flipV="1">
            <a:off x="3652838" y="2319342"/>
            <a:ext cx="314324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8" name="Conector de seta reta 86">
            <a:extLst>
              <a:ext uri="{FF2B5EF4-FFF2-40B4-BE49-F238E27FC236}">
                <a16:creationId xmlns:a16="http://schemas.microsoft.com/office/drawing/2014/main" id="{04732FFA-3564-CF0B-0554-B0A25E0A5672}"/>
              </a:ext>
            </a:extLst>
          </p:cNvPr>
          <p:cNvCxnSpPr/>
          <p:nvPr/>
        </p:nvCxnSpPr>
        <p:spPr bwMode="auto">
          <a:xfrm rot="16200000" flipH="1">
            <a:off x="3786194" y="2614613"/>
            <a:ext cx="352421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9" name="Conector de seta reta 89">
            <a:extLst>
              <a:ext uri="{FF2B5EF4-FFF2-40B4-BE49-F238E27FC236}">
                <a16:creationId xmlns:a16="http://schemas.microsoft.com/office/drawing/2014/main" id="{DFF5B79B-E194-EF2A-D1FE-1123DE24B979}"/>
              </a:ext>
            </a:extLst>
          </p:cNvPr>
          <p:cNvCxnSpPr/>
          <p:nvPr/>
        </p:nvCxnSpPr>
        <p:spPr bwMode="auto">
          <a:xfrm rot="5400000">
            <a:off x="37814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0" name="Conector de seta reta 92">
            <a:extLst>
              <a:ext uri="{FF2B5EF4-FFF2-40B4-BE49-F238E27FC236}">
                <a16:creationId xmlns:a16="http://schemas.microsoft.com/office/drawing/2014/main" id="{7F84F487-4115-BC0D-17CF-B6A3435A8EE2}"/>
              </a:ext>
            </a:extLst>
          </p:cNvPr>
          <p:cNvCxnSpPr/>
          <p:nvPr/>
        </p:nvCxnSpPr>
        <p:spPr bwMode="auto">
          <a:xfrm rot="5400000">
            <a:off x="39338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1" name="Conector de seta reta 93">
            <a:extLst>
              <a:ext uri="{FF2B5EF4-FFF2-40B4-BE49-F238E27FC236}">
                <a16:creationId xmlns:a16="http://schemas.microsoft.com/office/drawing/2014/main" id="{FBD884D3-CE9D-0AC9-F44B-CC92AEB93EA6}"/>
              </a:ext>
            </a:extLst>
          </p:cNvPr>
          <p:cNvCxnSpPr/>
          <p:nvPr/>
        </p:nvCxnSpPr>
        <p:spPr bwMode="auto">
          <a:xfrm rot="5400000">
            <a:off x="40862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2" name="Conector de seta reta 94">
            <a:extLst>
              <a:ext uri="{FF2B5EF4-FFF2-40B4-BE49-F238E27FC236}">
                <a16:creationId xmlns:a16="http://schemas.microsoft.com/office/drawing/2014/main" id="{A6AE1B1C-0494-ABDB-493A-A61BF50B82D5}"/>
              </a:ext>
            </a:extLst>
          </p:cNvPr>
          <p:cNvCxnSpPr/>
          <p:nvPr/>
        </p:nvCxnSpPr>
        <p:spPr bwMode="auto">
          <a:xfrm rot="5400000">
            <a:off x="4238628" y="2781303"/>
            <a:ext cx="666752" cy="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3" name="Conector de seta reta 95">
            <a:extLst>
              <a:ext uri="{FF2B5EF4-FFF2-40B4-BE49-F238E27FC236}">
                <a16:creationId xmlns:a16="http://schemas.microsoft.com/office/drawing/2014/main" id="{3C7E6F77-E908-8C0A-D557-50DEE3A645DF}"/>
              </a:ext>
            </a:extLst>
          </p:cNvPr>
          <p:cNvCxnSpPr/>
          <p:nvPr/>
        </p:nvCxnSpPr>
        <p:spPr bwMode="auto">
          <a:xfrm rot="5400000">
            <a:off x="4548190" y="2624139"/>
            <a:ext cx="35242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4" name="Conector de seta reta 97">
            <a:extLst>
              <a:ext uri="{FF2B5EF4-FFF2-40B4-BE49-F238E27FC236}">
                <a16:creationId xmlns:a16="http://schemas.microsoft.com/office/drawing/2014/main" id="{872B5EF8-4B12-E7AB-8584-9C7D00C1D798}"/>
              </a:ext>
            </a:extLst>
          </p:cNvPr>
          <p:cNvCxnSpPr/>
          <p:nvPr/>
        </p:nvCxnSpPr>
        <p:spPr bwMode="auto">
          <a:xfrm rot="5400000">
            <a:off x="4700590" y="2624139"/>
            <a:ext cx="35242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5" name="Conector de seta reta 98">
            <a:extLst>
              <a:ext uri="{FF2B5EF4-FFF2-40B4-BE49-F238E27FC236}">
                <a16:creationId xmlns:a16="http://schemas.microsoft.com/office/drawing/2014/main" id="{E9C56CDB-B472-1D36-EA44-62E649704053}"/>
              </a:ext>
            </a:extLst>
          </p:cNvPr>
          <p:cNvCxnSpPr/>
          <p:nvPr/>
        </p:nvCxnSpPr>
        <p:spPr bwMode="auto">
          <a:xfrm rot="5400000" flipH="1" flipV="1">
            <a:off x="4881565" y="2300295"/>
            <a:ext cx="304800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6" name="Conector de seta reta 100">
            <a:extLst>
              <a:ext uri="{FF2B5EF4-FFF2-40B4-BE49-F238E27FC236}">
                <a16:creationId xmlns:a16="http://schemas.microsoft.com/office/drawing/2014/main" id="{E49463DA-365D-4CF2-E252-BEFAE9F57BA5}"/>
              </a:ext>
            </a:extLst>
          </p:cNvPr>
          <p:cNvCxnSpPr/>
          <p:nvPr/>
        </p:nvCxnSpPr>
        <p:spPr bwMode="auto">
          <a:xfrm rot="5400000" flipH="1" flipV="1">
            <a:off x="4743453" y="2000255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7" name="Conector de seta reta 102">
            <a:extLst>
              <a:ext uri="{FF2B5EF4-FFF2-40B4-BE49-F238E27FC236}">
                <a16:creationId xmlns:a16="http://schemas.microsoft.com/office/drawing/2014/main" id="{D351F36C-F4E5-072A-E5CB-BE65BC1E3CC9}"/>
              </a:ext>
            </a:extLst>
          </p:cNvPr>
          <p:cNvCxnSpPr/>
          <p:nvPr/>
        </p:nvCxnSpPr>
        <p:spPr bwMode="auto">
          <a:xfrm rot="5400000" flipH="1" flipV="1">
            <a:off x="4895853" y="2000255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8" name="Conector de seta reta 103">
            <a:extLst>
              <a:ext uri="{FF2B5EF4-FFF2-40B4-BE49-F238E27FC236}">
                <a16:creationId xmlns:a16="http://schemas.microsoft.com/office/drawing/2014/main" id="{F7A1E0EE-2D2C-ECF6-D84F-EDE584DC757A}"/>
              </a:ext>
            </a:extLst>
          </p:cNvPr>
          <p:cNvCxnSpPr/>
          <p:nvPr/>
        </p:nvCxnSpPr>
        <p:spPr bwMode="auto">
          <a:xfrm rot="5400000" flipH="1" flipV="1">
            <a:off x="5048253" y="1990730"/>
            <a:ext cx="904879" cy="2857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9" name="Conector de seta reta 104">
            <a:extLst>
              <a:ext uri="{FF2B5EF4-FFF2-40B4-BE49-F238E27FC236}">
                <a16:creationId xmlns:a16="http://schemas.microsoft.com/office/drawing/2014/main" id="{1F74F2E3-36B0-C688-B167-17AB45D4D456}"/>
              </a:ext>
            </a:extLst>
          </p:cNvPr>
          <p:cNvCxnSpPr/>
          <p:nvPr/>
        </p:nvCxnSpPr>
        <p:spPr bwMode="auto">
          <a:xfrm rot="16200000" flipV="1">
            <a:off x="5486400" y="2314576"/>
            <a:ext cx="304806" cy="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0" name="Conector de seta reta 106">
            <a:extLst>
              <a:ext uri="{FF2B5EF4-FFF2-40B4-BE49-F238E27FC236}">
                <a16:creationId xmlns:a16="http://schemas.microsoft.com/office/drawing/2014/main" id="{06D4D328-A773-A053-DF1E-36F7AF26154A}"/>
              </a:ext>
            </a:extLst>
          </p:cNvPr>
          <p:cNvCxnSpPr/>
          <p:nvPr/>
        </p:nvCxnSpPr>
        <p:spPr bwMode="auto">
          <a:xfrm rot="16200000" flipH="1">
            <a:off x="5638807" y="2628906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1" name="Conector de seta reta 108">
            <a:extLst>
              <a:ext uri="{FF2B5EF4-FFF2-40B4-BE49-F238E27FC236}">
                <a16:creationId xmlns:a16="http://schemas.microsoft.com/office/drawing/2014/main" id="{35B994ED-4BF7-07B7-8BC6-A5868D1303EB}"/>
              </a:ext>
            </a:extLst>
          </p:cNvPr>
          <p:cNvCxnSpPr/>
          <p:nvPr/>
        </p:nvCxnSpPr>
        <p:spPr bwMode="auto">
          <a:xfrm rot="16200000" flipH="1">
            <a:off x="5791207" y="2628906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2" name="Conector de seta reta 109">
            <a:extLst>
              <a:ext uri="{FF2B5EF4-FFF2-40B4-BE49-F238E27FC236}">
                <a16:creationId xmlns:a16="http://schemas.microsoft.com/office/drawing/2014/main" id="{523DDFE3-0B28-2D78-E0C6-624E72DAEED6}"/>
              </a:ext>
            </a:extLst>
          </p:cNvPr>
          <p:cNvCxnSpPr/>
          <p:nvPr/>
        </p:nvCxnSpPr>
        <p:spPr bwMode="auto">
          <a:xfrm rot="16200000" flipH="1">
            <a:off x="5943607" y="2619381"/>
            <a:ext cx="314319" cy="951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 de seta reta 110">
            <a:extLst>
              <a:ext uri="{FF2B5EF4-FFF2-40B4-BE49-F238E27FC236}">
                <a16:creationId xmlns:a16="http://schemas.microsoft.com/office/drawing/2014/main" id="{F7DBB9DD-E559-7EF8-0600-93A49CDD82F8}"/>
              </a:ext>
            </a:extLst>
          </p:cNvPr>
          <p:cNvCxnSpPr/>
          <p:nvPr/>
        </p:nvCxnSpPr>
        <p:spPr bwMode="auto">
          <a:xfrm rot="16200000" flipH="1">
            <a:off x="5957893" y="2776543"/>
            <a:ext cx="600070" cy="19044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4" name="Conector de seta reta 112">
            <a:extLst>
              <a:ext uri="{FF2B5EF4-FFF2-40B4-BE49-F238E27FC236}">
                <a16:creationId xmlns:a16="http://schemas.microsoft.com/office/drawing/2014/main" id="{7A693DE6-4B6B-11B3-2F6C-FD3ACB3F30D1}"/>
              </a:ext>
            </a:extLst>
          </p:cNvPr>
          <p:cNvCxnSpPr/>
          <p:nvPr/>
        </p:nvCxnSpPr>
        <p:spPr bwMode="auto">
          <a:xfrm rot="16200000" flipH="1">
            <a:off x="5772155" y="3095631"/>
            <a:ext cx="1285870" cy="2856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 de seta reta 114">
            <a:extLst>
              <a:ext uri="{FF2B5EF4-FFF2-40B4-BE49-F238E27FC236}">
                <a16:creationId xmlns:a16="http://schemas.microsoft.com/office/drawing/2014/main" id="{48495B30-98FA-9A0A-9002-787AB4145D29}"/>
              </a:ext>
            </a:extLst>
          </p:cNvPr>
          <p:cNvCxnSpPr/>
          <p:nvPr/>
        </p:nvCxnSpPr>
        <p:spPr bwMode="auto">
          <a:xfrm rot="16200000" flipH="1">
            <a:off x="6086480" y="2943231"/>
            <a:ext cx="942973" cy="9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6" name="Conector de seta reta 116">
            <a:extLst>
              <a:ext uri="{FF2B5EF4-FFF2-40B4-BE49-F238E27FC236}">
                <a16:creationId xmlns:a16="http://schemas.microsoft.com/office/drawing/2014/main" id="{AA9AB9F6-BFC2-5616-97BF-5B66BA61A0CA}"/>
              </a:ext>
            </a:extLst>
          </p:cNvPr>
          <p:cNvCxnSpPr/>
          <p:nvPr/>
        </p:nvCxnSpPr>
        <p:spPr bwMode="auto">
          <a:xfrm rot="5400000">
            <a:off x="6543680" y="2638425"/>
            <a:ext cx="323849" cy="6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7" name="Conector de seta reta 118">
            <a:extLst>
              <a:ext uri="{FF2B5EF4-FFF2-40B4-BE49-F238E27FC236}">
                <a16:creationId xmlns:a16="http://schemas.microsoft.com/office/drawing/2014/main" id="{8995E55B-1070-3963-4733-E844BCFA6961}"/>
              </a:ext>
            </a:extLst>
          </p:cNvPr>
          <p:cNvCxnSpPr/>
          <p:nvPr/>
        </p:nvCxnSpPr>
        <p:spPr bwMode="auto">
          <a:xfrm rot="5400000" flipH="1" flipV="1">
            <a:off x="6705605" y="2314582"/>
            <a:ext cx="314325" cy="951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8" name="Conector de seta reta 120">
            <a:extLst>
              <a:ext uri="{FF2B5EF4-FFF2-40B4-BE49-F238E27FC236}">
                <a16:creationId xmlns:a16="http://schemas.microsoft.com/office/drawing/2014/main" id="{A0114B9D-7B6F-C4C5-51EA-EF3031775F90}"/>
              </a:ext>
            </a:extLst>
          </p:cNvPr>
          <p:cNvCxnSpPr/>
          <p:nvPr/>
        </p:nvCxnSpPr>
        <p:spPr bwMode="auto">
          <a:xfrm rot="5400000" flipH="1" flipV="1">
            <a:off x="6858005" y="2324107"/>
            <a:ext cx="314325" cy="951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9" name="Conector de seta reta 121">
            <a:extLst>
              <a:ext uri="{FF2B5EF4-FFF2-40B4-BE49-F238E27FC236}">
                <a16:creationId xmlns:a16="http://schemas.microsoft.com/office/drawing/2014/main" id="{BA81FC74-B489-11EE-92F3-44253F09D3BE}"/>
              </a:ext>
            </a:extLst>
          </p:cNvPr>
          <p:cNvCxnSpPr/>
          <p:nvPr/>
        </p:nvCxnSpPr>
        <p:spPr bwMode="auto">
          <a:xfrm rot="16200000" flipH="1">
            <a:off x="7000884" y="2628904"/>
            <a:ext cx="333371" cy="9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63DE8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0CFFAE4-8E77-0BB5-3053-AB788B660388}"/>
              </a:ext>
            </a:extLst>
          </p:cNvPr>
          <p:cNvSpPr txBox="1"/>
          <p:nvPr/>
        </p:nvSpPr>
        <p:spPr>
          <a:xfrm>
            <a:off x="3051483" y="23275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000</a:t>
            </a:r>
            <a:endParaRPr lang="pt-BR" sz="1600" dirty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BAAAE11-CD60-ED64-8952-F0750550CE88}"/>
              </a:ext>
            </a:extLst>
          </p:cNvPr>
          <p:cNvSpPr txBox="1"/>
          <p:nvPr/>
        </p:nvSpPr>
        <p:spPr>
          <a:xfrm>
            <a:off x="3049507" y="20287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001</a:t>
            </a:r>
            <a:endParaRPr lang="pt-BR" sz="1600" dirty="0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20C17482-BCAF-B990-88DF-AE607A93086E}"/>
              </a:ext>
            </a:extLst>
          </p:cNvPr>
          <p:cNvSpPr txBox="1"/>
          <p:nvPr/>
        </p:nvSpPr>
        <p:spPr>
          <a:xfrm>
            <a:off x="3047532" y="1694238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010</a:t>
            </a:r>
            <a:endParaRPr lang="pt-BR" sz="1600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90D5BF03-7D96-5670-BBD8-ED084C632CD1}"/>
              </a:ext>
            </a:extLst>
          </p:cNvPr>
          <p:cNvSpPr txBox="1"/>
          <p:nvPr/>
        </p:nvSpPr>
        <p:spPr>
          <a:xfrm>
            <a:off x="3053188" y="14072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011</a:t>
            </a:r>
            <a:endParaRPr lang="pt-BR" sz="1600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B3E5811-CA31-2760-6874-B6198E42600C}"/>
              </a:ext>
            </a:extLst>
          </p:cNvPr>
          <p:cNvSpPr txBox="1"/>
          <p:nvPr/>
        </p:nvSpPr>
        <p:spPr>
          <a:xfrm>
            <a:off x="3082593" y="26284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111</a:t>
            </a:r>
            <a:endParaRPr lang="pt-BR" sz="1600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F8E51A5-1353-02F8-CEC4-0734247A0CE8}"/>
              </a:ext>
            </a:extLst>
          </p:cNvPr>
          <p:cNvSpPr txBox="1"/>
          <p:nvPr/>
        </p:nvSpPr>
        <p:spPr>
          <a:xfrm>
            <a:off x="3072988" y="29470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110</a:t>
            </a:r>
            <a:endParaRPr lang="pt-BR" sz="1600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18BF3D6C-B0E4-C5DC-D892-2495DCAAB453}"/>
              </a:ext>
            </a:extLst>
          </p:cNvPr>
          <p:cNvSpPr txBox="1"/>
          <p:nvPr/>
        </p:nvSpPr>
        <p:spPr>
          <a:xfrm>
            <a:off x="3075257" y="32657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101</a:t>
            </a:r>
            <a:endParaRPr lang="pt-BR" sz="1600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FF3D4B6-0D0C-F695-044C-D6C0F2BBD483}"/>
              </a:ext>
            </a:extLst>
          </p:cNvPr>
          <p:cNvSpPr txBox="1"/>
          <p:nvPr/>
        </p:nvSpPr>
        <p:spPr>
          <a:xfrm>
            <a:off x="3085157" y="356061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100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67114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E4BF3-C520-4676-9B09-A3E9146E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Sinais Determinísticos e Aleatórios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17BB3A3-38E2-3C2C-F755-A1D77E7B1A9D}"/>
              </a:ext>
            </a:extLst>
          </p:cNvPr>
          <p:cNvSpPr txBox="1">
            <a:spLocks noChangeArrowheads="1"/>
          </p:cNvSpPr>
          <p:nvPr/>
        </p:nvSpPr>
        <p:spPr>
          <a:xfrm>
            <a:off x="936172" y="1457616"/>
            <a:ext cx="1051560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Mensagens Determinísticas:</a:t>
            </a:r>
          </a:p>
          <a:p>
            <a:pPr lvl="1"/>
            <a:r>
              <a:rPr lang="pt-BR" dirty="0"/>
              <a:t>Sinal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pt-BR" dirty="0"/>
              <a:t> é conhecido em todo instante do tempo</a:t>
            </a:r>
          </a:p>
          <a:p>
            <a:pPr lvl="1"/>
            <a:endParaRPr lang="pt-BR" dirty="0"/>
          </a:p>
          <a:p>
            <a:pPr lvl="2"/>
            <a:endParaRPr lang="pt-BR" dirty="0"/>
          </a:p>
          <a:p>
            <a:r>
              <a:rPr lang="pt-BR" dirty="0"/>
              <a:t>Mensagens Aleatórias</a:t>
            </a:r>
          </a:p>
          <a:p>
            <a:pPr lvl="1"/>
            <a:r>
              <a:rPr lang="pt-BR" dirty="0"/>
              <a:t>Sinal é aleatório</a:t>
            </a:r>
          </a:p>
          <a:p>
            <a:pPr lvl="1"/>
            <a:r>
              <a:rPr lang="pt-BR" dirty="0"/>
              <a:t>Existe uma densidade de probabilidade (conhecida ou não)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Todo sinal em um sistema de comunicações é aleatório!!</a:t>
            </a:r>
          </a:p>
          <a:p>
            <a:pPr lvl="1"/>
            <a:r>
              <a:rPr lang="pt-BR" dirty="0"/>
              <a:t>Ou não seria necessário transmiti-lo.....</a:t>
            </a:r>
          </a:p>
          <a:p>
            <a:pPr lvl="1"/>
            <a:endParaRPr lang="pt-BR" dirty="0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2182AB9B-4790-B1A3-A599-9A480A7D10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887552"/>
              </p:ext>
            </p:extLst>
          </p:nvPr>
        </p:nvGraphicFramePr>
        <p:xfrm>
          <a:off x="3292642" y="4007141"/>
          <a:ext cx="2803358" cy="488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384200" imgH="241200" progId="Equation.3">
                  <p:embed/>
                </p:oleObj>
              </mc:Choice>
              <mc:Fallback>
                <p:oleObj name="Equação" r:id="rId2" imgW="1384200" imgH="2412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642" y="4007141"/>
                        <a:ext cx="2803358" cy="4886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363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3B254-E623-9B1A-DF23-D69228DE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Enlace - Transmissor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A9183-8202-5910-A99C-1280D095AFE2}"/>
              </a:ext>
            </a:extLst>
          </p:cNvPr>
          <p:cNvSpPr txBox="1">
            <a:spLocks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pt-BR" dirty="0"/>
          </a:p>
          <a:p>
            <a:r>
              <a:rPr lang="pt-BR" dirty="0"/>
              <a:t>Processa o sinal-mensagem e o adequa ao canal utilizado, gerando sinal</a:t>
            </a:r>
          </a:p>
          <a:p>
            <a:pPr lvl="1"/>
            <a:r>
              <a:rPr lang="pt-BR" sz="2800" dirty="0"/>
              <a:t>Onda eletromagnética</a:t>
            </a:r>
          </a:p>
          <a:p>
            <a:pPr lvl="2"/>
            <a:r>
              <a:rPr lang="pt-BR" sz="2600" dirty="0"/>
              <a:t>Rádio</a:t>
            </a:r>
          </a:p>
          <a:p>
            <a:pPr lvl="2"/>
            <a:r>
              <a:rPr lang="pt-BR" sz="2600" dirty="0"/>
              <a:t>Luz</a:t>
            </a:r>
          </a:p>
          <a:p>
            <a:pPr lvl="1"/>
            <a:r>
              <a:rPr lang="pt-BR" sz="2800" dirty="0"/>
              <a:t>Onda acústica</a:t>
            </a:r>
          </a:p>
          <a:p>
            <a:pPr lvl="1"/>
            <a:r>
              <a:rPr lang="en-US" sz="2800" dirty="0"/>
              <a:t>….</a:t>
            </a:r>
            <a:endParaRPr lang="pt-BR" sz="2800" dirty="0"/>
          </a:p>
          <a:p>
            <a:pPr lvl="1"/>
            <a:endParaRPr lang="pt-BR" sz="2800" dirty="0"/>
          </a:p>
          <a:p>
            <a:r>
              <a:rPr lang="en-US" dirty="0" err="1"/>
              <a:t>Transmissor</a:t>
            </a:r>
            <a:r>
              <a:rPr lang="en-US" dirty="0"/>
              <a:t> </a:t>
            </a:r>
            <a:r>
              <a:rPr lang="en-US" dirty="0" err="1"/>
              <a:t>inclui</a:t>
            </a:r>
            <a:r>
              <a:rPr lang="en-US" dirty="0"/>
              <a:t>:</a:t>
            </a:r>
            <a:endParaRPr lang="pt-BR" dirty="0"/>
          </a:p>
          <a:p>
            <a:pPr lvl="1"/>
            <a:r>
              <a:rPr lang="pt-BR" sz="2800" dirty="0"/>
              <a:t>Codificação de canal,</a:t>
            </a:r>
          </a:p>
          <a:p>
            <a:pPr lvl="1"/>
            <a:r>
              <a:rPr lang="pt-BR" sz="2800" dirty="0">
                <a:solidFill>
                  <a:srgbClr val="063DE8"/>
                </a:solidFill>
              </a:rPr>
              <a:t>Multiplexação</a:t>
            </a:r>
          </a:p>
          <a:p>
            <a:pPr lvl="1"/>
            <a:r>
              <a:rPr lang="pt-BR" sz="2800" dirty="0">
                <a:solidFill>
                  <a:srgbClr val="063DE8"/>
                </a:solidFill>
              </a:rPr>
              <a:t>Modulação ou codificação de linha</a:t>
            </a:r>
          </a:p>
          <a:p>
            <a:pPr lvl="1"/>
            <a:r>
              <a:rPr lang="pt-BR" sz="2800" dirty="0"/>
              <a:t>Amplificação</a:t>
            </a:r>
          </a:p>
          <a:p>
            <a:pPr lvl="2"/>
            <a:endParaRPr lang="pt-BR" dirty="0"/>
          </a:p>
          <a:p>
            <a:endParaRPr lang="pt-BR" dirty="0"/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703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587EB-EDDA-8B67-0D3B-9C8F4864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Enlace – Canal</a:t>
            </a:r>
            <a:br>
              <a:rPr lang="pt-BR" dirty="0"/>
            </a:br>
            <a:r>
              <a:rPr lang="pt-BR" dirty="0"/>
              <a:t>O que 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F972DD-4594-BC6C-6B85-6A7533D4EF6E}"/>
              </a:ext>
            </a:extLst>
          </p:cNvPr>
          <p:cNvSpPr txBox="1">
            <a:spLocks noChangeArrowheads="1"/>
          </p:cNvSpPr>
          <p:nvPr/>
        </p:nvSpPr>
        <p:spPr>
          <a:xfrm>
            <a:off x="1045028" y="1132115"/>
            <a:ext cx="9644743" cy="58805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Diversos significados em telecomunicações</a:t>
            </a:r>
          </a:p>
          <a:p>
            <a:pPr lvl="1"/>
            <a:r>
              <a:rPr lang="pt-BR" dirty="0"/>
              <a:t>Uma alocação de recursos:  um canal de TV, um canal de voz celular</a:t>
            </a:r>
          </a:p>
          <a:p>
            <a:r>
              <a:rPr lang="pt-BR" dirty="0"/>
              <a:t>No nosso caso: </a:t>
            </a:r>
            <a:r>
              <a:rPr lang="pt-BR" b="1" dirty="0"/>
              <a:t>Meio físico para transmissão de informação</a:t>
            </a:r>
          </a:p>
          <a:p>
            <a:r>
              <a:rPr lang="pt-BR" dirty="0"/>
              <a:t>O que constitui o canal?</a:t>
            </a:r>
          </a:p>
          <a:p>
            <a:pPr lvl="1"/>
            <a:r>
              <a:rPr lang="pt-BR" dirty="0"/>
              <a:t>Características do equipamento</a:t>
            </a:r>
          </a:p>
          <a:p>
            <a:pPr lvl="1"/>
            <a:r>
              <a:rPr lang="pt-BR" dirty="0"/>
              <a:t>Características do meio de transmissão</a:t>
            </a:r>
          </a:p>
          <a:p>
            <a:r>
              <a:rPr lang="pt-BR" dirty="0"/>
              <a:t>Exemplos de meios de transmissão:</a:t>
            </a:r>
          </a:p>
          <a:p>
            <a:pPr lvl="1"/>
            <a:r>
              <a:rPr lang="pt-BR" dirty="0"/>
              <a:t>Informação transmitida no espaço</a:t>
            </a:r>
          </a:p>
          <a:p>
            <a:pPr lvl="2"/>
            <a:r>
              <a:rPr lang="pt-BR" dirty="0"/>
              <a:t>Cabo coaxial</a:t>
            </a:r>
          </a:p>
          <a:p>
            <a:pPr lvl="2"/>
            <a:r>
              <a:rPr lang="pt-BR" dirty="0"/>
              <a:t>Fibra óptica</a:t>
            </a:r>
          </a:p>
          <a:p>
            <a:pPr lvl="2"/>
            <a:r>
              <a:rPr lang="pt-BR" dirty="0"/>
              <a:t>Ar (comunicações sem fio, radiodifusão) </a:t>
            </a:r>
          </a:p>
          <a:p>
            <a:pPr lvl="2"/>
            <a:r>
              <a:rPr lang="pt-BR" dirty="0"/>
              <a:t>Água (sonar)</a:t>
            </a:r>
          </a:p>
          <a:p>
            <a:pPr lvl="1"/>
            <a:r>
              <a:rPr lang="pt-BR" dirty="0"/>
              <a:t>Informação transmitida no tempo</a:t>
            </a:r>
          </a:p>
          <a:p>
            <a:pPr lvl="2"/>
            <a:r>
              <a:rPr lang="pt-BR" dirty="0"/>
              <a:t>Meio de gravação (disco magnético ou ótico)</a:t>
            </a:r>
          </a:p>
          <a:p>
            <a:r>
              <a:rPr lang="pt-BR" dirty="0"/>
              <a:t>Equipamentos:</a:t>
            </a:r>
          </a:p>
          <a:p>
            <a:pPr lvl="1"/>
            <a:r>
              <a:rPr lang="pt-BR" dirty="0"/>
              <a:t>Antenas</a:t>
            </a:r>
          </a:p>
          <a:p>
            <a:pPr lvl="1"/>
            <a:r>
              <a:rPr lang="pt-BR" dirty="0"/>
              <a:t>Amplificadores</a:t>
            </a:r>
          </a:p>
          <a:p>
            <a:pPr lvl="1"/>
            <a:r>
              <a:rPr lang="pt-BR" dirty="0"/>
              <a:t>Cabeça de gravação magnética</a:t>
            </a:r>
          </a:p>
          <a:p>
            <a:pPr lvl="1"/>
            <a:r>
              <a:rPr lang="pt-BR" dirty="0"/>
              <a:t>....</a:t>
            </a:r>
          </a:p>
          <a:p>
            <a:pPr lvl="1">
              <a:buFont typeface="Arial" panose="020B0604020202020204" pitchFamily="34" charset="0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569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BD3EF-690A-FC74-4F47-0091280D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Enlace – Canal</a:t>
            </a:r>
            <a:br>
              <a:rPr lang="pt-BR" dirty="0"/>
            </a:br>
            <a:r>
              <a:rPr lang="pt-BR" dirty="0"/>
              <a:t>O que ele faz</a:t>
            </a:r>
          </a:p>
        </p:txBody>
      </p:sp>
      <p:sp>
        <p:nvSpPr>
          <p:cNvPr id="97283" name="Rectangle 3"/>
          <p:cNvSpPr txBox="1">
            <a:spLocks noChangeArrowheads="1"/>
          </p:cNvSpPr>
          <p:nvPr/>
        </p:nvSpPr>
        <p:spPr>
          <a:xfrm>
            <a:off x="838200" y="1357539"/>
            <a:ext cx="7369629" cy="435133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r>
              <a:rPr lang="pt-BR" sz="8000" dirty="0"/>
              <a:t>O canal </a:t>
            </a:r>
            <a:r>
              <a:rPr lang="pt-BR" sz="8000" dirty="0">
                <a:solidFill>
                  <a:srgbClr val="00B050"/>
                </a:solidFill>
              </a:rPr>
              <a:t>atenua</a:t>
            </a:r>
            <a:r>
              <a:rPr lang="pt-BR" sz="8000" dirty="0"/>
              <a:t> o sinal</a:t>
            </a:r>
          </a:p>
          <a:p>
            <a:endParaRPr lang="pt-BR" sz="8000" dirty="0"/>
          </a:p>
          <a:p>
            <a:r>
              <a:rPr lang="pt-BR" sz="8000" dirty="0"/>
              <a:t>O canal distorce o sinal</a:t>
            </a:r>
          </a:p>
          <a:p>
            <a:pPr lvl="1"/>
            <a:r>
              <a:rPr lang="pt-BR" sz="8000" dirty="0">
                <a:solidFill>
                  <a:srgbClr val="C00000"/>
                </a:solidFill>
              </a:rPr>
              <a:t>Não linearmente</a:t>
            </a:r>
          </a:p>
          <a:p>
            <a:pPr lvl="1"/>
            <a:r>
              <a:rPr lang="pt-BR" sz="8000" dirty="0">
                <a:solidFill>
                  <a:srgbClr val="FFC000"/>
                </a:solidFill>
              </a:rPr>
              <a:t>Linearmente</a:t>
            </a:r>
          </a:p>
          <a:p>
            <a:pPr lvl="1"/>
            <a:endParaRPr lang="pt-BR" sz="8000" dirty="0"/>
          </a:p>
          <a:p>
            <a:pPr lvl="1"/>
            <a:endParaRPr lang="pt-BR" sz="8000" dirty="0"/>
          </a:p>
          <a:p>
            <a:r>
              <a:rPr lang="pt-BR" sz="8000" dirty="0">
                <a:solidFill>
                  <a:srgbClr val="1A203F"/>
                </a:solidFill>
              </a:rPr>
              <a:t>O canal acrescenta </a:t>
            </a:r>
            <a:r>
              <a:rPr lang="pt-BR" sz="8000" dirty="0">
                <a:solidFill>
                  <a:srgbClr val="063DE8"/>
                </a:solidFill>
              </a:rPr>
              <a:t>ruído </a:t>
            </a:r>
            <a:r>
              <a:rPr lang="pt-BR" sz="8000" dirty="0">
                <a:solidFill>
                  <a:srgbClr val="1A203F"/>
                </a:solidFill>
              </a:rPr>
              <a:t>ao sinal</a:t>
            </a:r>
          </a:p>
          <a:p>
            <a:pPr lvl="1"/>
            <a:r>
              <a:rPr lang="pt-BR" sz="8000" dirty="0"/>
              <a:t>Ruído é um sinal aleatório aditivo</a:t>
            </a:r>
          </a:p>
          <a:p>
            <a:pPr lvl="1"/>
            <a:r>
              <a:rPr lang="pt-BR" sz="8000" dirty="0"/>
              <a:t>Possíveis fontes de ruído:</a:t>
            </a:r>
          </a:p>
          <a:p>
            <a:pPr lvl="2"/>
            <a:r>
              <a:rPr lang="pt-BR" sz="8000" dirty="0"/>
              <a:t>Interferência de outras fontes de transmissão</a:t>
            </a:r>
          </a:p>
          <a:p>
            <a:pPr lvl="2"/>
            <a:r>
              <a:rPr lang="pt-BR" sz="8000" dirty="0"/>
              <a:t>Interferência de equipamentos elétricos</a:t>
            </a:r>
          </a:p>
          <a:p>
            <a:pPr lvl="2"/>
            <a:r>
              <a:rPr lang="pt-BR" sz="8000" dirty="0"/>
              <a:t>Relâmpagos, radiação solar</a:t>
            </a:r>
          </a:p>
          <a:p>
            <a:pPr lvl="2"/>
            <a:r>
              <a:rPr lang="pt-BR" sz="8000" dirty="0"/>
              <a:t>Ruído térmico</a:t>
            </a:r>
          </a:p>
          <a:p>
            <a:pPr lvl="2"/>
            <a:r>
              <a:rPr lang="pt-BR" sz="8000" dirty="0"/>
              <a:t>Arranhões e impurezas (em meios de armazenamento)</a:t>
            </a:r>
          </a:p>
          <a:p>
            <a:pPr lvl="2"/>
            <a:r>
              <a:rPr lang="pt-BR" sz="8000" dirty="0"/>
              <a:t>...</a:t>
            </a:r>
          </a:p>
          <a:p>
            <a:pPr lvl="1"/>
            <a:endParaRPr lang="pt-BR" dirty="0"/>
          </a:p>
          <a:p>
            <a:pPr lvl="1"/>
            <a:endParaRPr lang="en-US" dirty="0"/>
          </a:p>
          <a:p>
            <a:pPr lvl="1">
              <a:buFontTx/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0D524649-C29E-FA46-8831-9DDEE5FE63C8}"/>
                  </a:ext>
                </a:extLst>
              </p:cNvPr>
              <p:cNvSpPr txBox="1"/>
              <p:nvPr/>
            </p:nvSpPr>
            <p:spPr>
              <a:xfrm>
                <a:off x="5753715" y="2839800"/>
                <a:ext cx="3362587" cy="589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rgbClr val="1A203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sz="2400" b="0" i="1" smtClean="0">
                            <a:solidFill>
                              <a:srgbClr val="1A20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solidFill>
                              <a:srgbClr val="1A203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400" b="0" i="1" smtClean="0">
                        <a:solidFill>
                          <a:srgbClr val="1A203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pt-BR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pt-BR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pt-BR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pt-BR" sz="24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d>
                          <m:dPr>
                            <m:ctrlPr>
                              <a:rPr lang="pt-BR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pt-BR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0D524649-C29E-FA46-8831-9DDEE5FE6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715" y="2839800"/>
                <a:ext cx="3362587" cy="58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09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E02E9-85ED-DAA8-E991-6C298B7F5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Enlace - Receptor</a:t>
            </a: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059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pt-BR" sz="2400" dirty="0">
                <a:solidFill>
                  <a:srgbClr val="063DE8"/>
                </a:solidFill>
              </a:rPr>
              <a:t>Processa o sinal eletromagnético recebido do canal</a:t>
            </a:r>
          </a:p>
          <a:p>
            <a:pPr lvl="1"/>
            <a:r>
              <a:rPr lang="pt-BR" dirty="0"/>
              <a:t>Desfaz operações do transmissor</a:t>
            </a:r>
          </a:p>
          <a:p>
            <a:pPr lvl="2"/>
            <a:r>
              <a:rPr lang="pt-BR" sz="2400" dirty="0" err="1"/>
              <a:t>demodulação</a:t>
            </a:r>
            <a:r>
              <a:rPr lang="pt-BR" sz="2400" dirty="0"/>
              <a:t>,</a:t>
            </a:r>
          </a:p>
          <a:p>
            <a:pPr lvl="2"/>
            <a:r>
              <a:rPr lang="pt-BR" sz="2400" dirty="0"/>
              <a:t>decodificação,</a:t>
            </a:r>
          </a:p>
          <a:p>
            <a:pPr lvl="2"/>
            <a:r>
              <a:rPr lang="pt-BR" sz="2400" dirty="0" err="1"/>
              <a:t>Demultiplexação</a:t>
            </a:r>
            <a:endParaRPr lang="pt-BR" sz="2400" dirty="0"/>
          </a:p>
          <a:p>
            <a:pPr lvl="2"/>
            <a:r>
              <a:rPr lang="en-US" sz="2400" dirty="0"/>
              <a:t>…</a:t>
            </a:r>
            <a:endParaRPr lang="pt-BR" sz="2400" dirty="0"/>
          </a:p>
          <a:p>
            <a:pPr lvl="1"/>
            <a:r>
              <a:rPr lang="pt-BR" dirty="0"/>
              <a:t>Compensa distorções do canal</a:t>
            </a:r>
          </a:p>
          <a:p>
            <a:pPr lvl="2"/>
            <a:r>
              <a:rPr lang="en-US" sz="2400" dirty="0" err="1"/>
              <a:t>Filtragem</a:t>
            </a:r>
            <a:r>
              <a:rPr lang="en-US" sz="2400" dirty="0"/>
              <a:t>,</a:t>
            </a:r>
            <a:endParaRPr lang="pt-BR" sz="2400" dirty="0"/>
          </a:p>
          <a:p>
            <a:pPr lvl="2"/>
            <a:r>
              <a:rPr lang="pt-BR" sz="2400" dirty="0"/>
              <a:t>Estimação de canal, </a:t>
            </a:r>
          </a:p>
          <a:p>
            <a:pPr lvl="2"/>
            <a:r>
              <a:rPr lang="pt-BR" sz="2400" dirty="0"/>
              <a:t>equalização,</a:t>
            </a:r>
          </a:p>
          <a:p>
            <a:pPr lvl="2"/>
            <a:r>
              <a:rPr lang="pt-BR" sz="2400" dirty="0"/>
              <a:t>sincronização</a:t>
            </a:r>
          </a:p>
          <a:p>
            <a:pPr lvl="2"/>
            <a:r>
              <a:rPr lang="en-US" sz="2400" dirty="0">
                <a:solidFill>
                  <a:srgbClr val="063DE8"/>
                </a:solidFill>
              </a:rPr>
              <a:t>…</a:t>
            </a:r>
            <a:endParaRPr lang="pt-BR" sz="2400" dirty="0">
              <a:solidFill>
                <a:srgbClr val="063DE8"/>
              </a:solidFill>
            </a:endParaRPr>
          </a:p>
          <a:p>
            <a:r>
              <a:rPr lang="pt-BR" sz="2400" dirty="0">
                <a:solidFill>
                  <a:srgbClr val="063DE8"/>
                </a:solidFill>
              </a:rPr>
              <a:t>Entrega estimativa do sinal mensagem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049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987AB-7687-7B5A-F28A-CF37FF71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</a:t>
            </a:r>
            <a:br>
              <a:rPr lang="pt-BR" dirty="0"/>
            </a:br>
            <a:r>
              <a:rPr lang="pt-BR" dirty="0"/>
              <a:t>Tempo - Frequência</a:t>
            </a:r>
          </a:p>
        </p:txBody>
      </p:sp>
      <p:sp>
        <p:nvSpPr>
          <p:cNvPr id="110595" name="Rectangle 3"/>
          <p:cNvSpPr txBox="1">
            <a:spLocks noChangeArrowheads="1"/>
          </p:cNvSpPr>
          <p:nvPr/>
        </p:nvSpPr>
        <p:spPr>
          <a:xfrm>
            <a:off x="849729" y="13440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Sinal</a:t>
            </a:r>
            <a:r>
              <a:rPr lang="en-GB" dirty="0"/>
              <a:t>: </a:t>
            </a:r>
            <a:r>
              <a:rPr lang="en-GB" dirty="0" err="1"/>
              <a:t>variação</a:t>
            </a:r>
            <a:r>
              <a:rPr lang="en-GB" dirty="0"/>
              <a:t> do campo </a:t>
            </a:r>
            <a:r>
              <a:rPr lang="en-GB" dirty="0" err="1"/>
              <a:t>eletro-magnético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longo</a:t>
            </a:r>
            <a:r>
              <a:rPr lang="en-GB" dirty="0"/>
              <a:t> do tempo </a:t>
            </a:r>
            <a:r>
              <a:rPr lang="en-GB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GB" dirty="0" err="1"/>
              <a:t>Qualquer</a:t>
            </a:r>
            <a:r>
              <a:rPr lang="en-GB" dirty="0"/>
              <a:t> </a:t>
            </a:r>
            <a:r>
              <a:rPr lang="en-GB" dirty="0" err="1"/>
              <a:t>sinal</a:t>
            </a:r>
            <a:r>
              <a:rPr lang="en-GB" dirty="0"/>
              <a:t> no tempo </a:t>
            </a:r>
            <a:r>
              <a:rPr lang="en-GB" dirty="0" err="1"/>
              <a:t>pode</a:t>
            </a:r>
            <a:r>
              <a:rPr lang="en-GB" dirty="0"/>
              <a:t> ser </a:t>
            </a:r>
            <a:r>
              <a:rPr lang="en-GB" dirty="0" err="1"/>
              <a:t>representado</a:t>
            </a:r>
            <a:r>
              <a:rPr lang="en-GB" dirty="0"/>
              <a:t> no </a:t>
            </a:r>
            <a:r>
              <a:rPr lang="en-GB" dirty="0" err="1"/>
              <a:t>domínio</a:t>
            </a:r>
            <a:r>
              <a:rPr lang="en-GB" dirty="0"/>
              <a:t> da </a:t>
            </a:r>
            <a:r>
              <a:rPr lang="en-GB" dirty="0" err="1"/>
              <a:t>frequência</a:t>
            </a:r>
            <a:endParaRPr lang="en-GB" dirty="0"/>
          </a:p>
          <a:p>
            <a:pPr lvl="1"/>
            <a:r>
              <a:rPr lang="en-GB" dirty="0" err="1"/>
              <a:t>Transformada</a:t>
            </a:r>
            <a:r>
              <a:rPr lang="en-GB" dirty="0"/>
              <a:t> de Fourier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buFont typeface="Arial" panose="020B0604020202020204" pitchFamily="34" charset="0"/>
              <a:buNone/>
            </a:pPr>
            <a:endParaRPr lang="en-GB" dirty="0"/>
          </a:p>
          <a:p>
            <a:r>
              <a:rPr lang="en-GB" dirty="0"/>
              <a:t>É </a:t>
            </a:r>
            <a:r>
              <a:rPr lang="en-GB" dirty="0" err="1"/>
              <a:t>muitas</a:t>
            </a:r>
            <a:r>
              <a:rPr lang="en-GB" dirty="0"/>
              <a:t> </a:t>
            </a:r>
            <a:r>
              <a:rPr lang="en-GB" dirty="0" err="1"/>
              <a:t>vezes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fácil</a:t>
            </a:r>
            <a:r>
              <a:rPr lang="en-GB" dirty="0"/>
              <a:t> </a:t>
            </a:r>
            <a:r>
              <a:rPr lang="en-GB" dirty="0" err="1"/>
              <a:t>analisar</a:t>
            </a:r>
            <a:r>
              <a:rPr lang="en-GB" dirty="0"/>
              <a:t> o </a:t>
            </a:r>
            <a:r>
              <a:rPr lang="en-GB" dirty="0" err="1"/>
              <a:t>sinal</a:t>
            </a:r>
            <a:r>
              <a:rPr lang="en-GB" dirty="0"/>
              <a:t> no </a:t>
            </a:r>
            <a:r>
              <a:rPr lang="en-GB" dirty="0" err="1"/>
              <a:t>domínio</a:t>
            </a:r>
            <a:r>
              <a:rPr lang="en-GB" dirty="0"/>
              <a:t> da </a:t>
            </a:r>
            <a:r>
              <a:rPr lang="en-GB" dirty="0" err="1"/>
              <a:t>frequência</a:t>
            </a:r>
            <a:r>
              <a:rPr lang="en-GB" dirty="0"/>
              <a:t>!</a:t>
            </a:r>
          </a:p>
          <a:p>
            <a:r>
              <a:rPr lang="en-GB" b="1" dirty="0" err="1">
                <a:solidFill>
                  <a:srgbClr val="FF0000"/>
                </a:solidFill>
              </a:rPr>
              <a:t>Espectro</a:t>
            </a:r>
            <a:r>
              <a:rPr lang="en-GB" dirty="0"/>
              <a:t> é a </a:t>
            </a:r>
            <a:r>
              <a:rPr lang="en-GB" dirty="0" err="1"/>
              <a:t>representação</a:t>
            </a:r>
            <a:r>
              <a:rPr lang="en-GB" dirty="0"/>
              <a:t> do </a:t>
            </a:r>
            <a:r>
              <a:rPr lang="en-GB" dirty="0" err="1"/>
              <a:t>sinal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frequência</a:t>
            </a:r>
            <a:endParaRPr lang="en-GB" dirty="0"/>
          </a:p>
          <a:p>
            <a:r>
              <a:rPr lang="en-GB" dirty="0" err="1"/>
              <a:t>Conceito</a:t>
            </a:r>
            <a:r>
              <a:rPr lang="en-GB" dirty="0"/>
              <a:t> </a:t>
            </a:r>
            <a:r>
              <a:rPr lang="en-GB" dirty="0" err="1"/>
              <a:t>amplamente</a:t>
            </a:r>
            <a:r>
              <a:rPr lang="en-GB" dirty="0"/>
              <a:t> </a:t>
            </a:r>
            <a:r>
              <a:rPr lang="en-GB" dirty="0" err="1"/>
              <a:t>utilizado</a:t>
            </a:r>
            <a:endParaRPr lang="en-GB" dirty="0"/>
          </a:p>
          <a:p>
            <a:pPr lvl="1"/>
            <a:r>
              <a:rPr lang="en-GB" dirty="0"/>
              <a:t>Ex. : </a:t>
            </a:r>
            <a:r>
              <a:rPr lang="en-GB" dirty="0" err="1"/>
              <a:t>frequência</a:t>
            </a:r>
            <a:r>
              <a:rPr lang="en-GB" dirty="0"/>
              <a:t> de um canal de TV/</a:t>
            </a:r>
            <a:r>
              <a:rPr lang="en-GB" dirty="0" err="1"/>
              <a:t>rádio</a:t>
            </a:r>
            <a:r>
              <a:rPr lang="en-GB" dirty="0"/>
              <a:t>, </a:t>
            </a:r>
            <a:r>
              <a:rPr lang="en-GB" dirty="0" err="1"/>
              <a:t>largura</a:t>
            </a:r>
            <a:r>
              <a:rPr lang="en-GB" dirty="0"/>
              <a:t> de </a:t>
            </a:r>
            <a:r>
              <a:rPr lang="en-GB" dirty="0" err="1"/>
              <a:t>banda</a:t>
            </a:r>
            <a:r>
              <a:rPr lang="en-GB" dirty="0"/>
              <a:t> de um </a:t>
            </a:r>
            <a:r>
              <a:rPr lang="en-GB" dirty="0" err="1"/>
              <a:t>sinal</a:t>
            </a:r>
            <a:r>
              <a:rPr lang="en-GB" dirty="0"/>
              <a:t> de </a:t>
            </a:r>
            <a:r>
              <a:rPr lang="en-GB" dirty="0" err="1"/>
              <a:t>áudio</a:t>
            </a:r>
            <a:r>
              <a:rPr lang="en-GB" dirty="0"/>
              <a:t>, etc.</a:t>
            </a:r>
          </a:p>
          <a:p>
            <a:pPr lvl="1"/>
            <a:endParaRPr lang="en-GB" dirty="0"/>
          </a:p>
          <a:p>
            <a:pPr lvl="1"/>
            <a:r>
              <a:rPr lang="en-GB" dirty="0" err="1"/>
              <a:t>Espectro</a:t>
            </a:r>
            <a:r>
              <a:rPr lang="en-GB" dirty="0"/>
              <a:t> é um </a:t>
            </a:r>
            <a:r>
              <a:rPr lang="en-GB" dirty="0" err="1"/>
              <a:t>conceito</a:t>
            </a:r>
            <a:r>
              <a:rPr lang="en-GB" dirty="0"/>
              <a:t> </a:t>
            </a:r>
            <a:r>
              <a:rPr lang="en-GB" dirty="0" err="1"/>
              <a:t>matemático</a:t>
            </a:r>
            <a:r>
              <a:rPr lang="en-GB" dirty="0"/>
              <a:t>!</a:t>
            </a:r>
          </a:p>
          <a:p>
            <a:pPr lvl="2"/>
            <a:r>
              <a:rPr lang="en-GB" dirty="0"/>
              <a:t>(mas </a:t>
            </a:r>
            <a:r>
              <a:rPr lang="en-GB" dirty="0" err="1"/>
              <a:t>fenômenos</a:t>
            </a:r>
            <a:r>
              <a:rPr lang="en-GB" dirty="0"/>
              <a:t> </a:t>
            </a:r>
            <a:r>
              <a:rPr lang="en-GB" dirty="0" err="1"/>
              <a:t>físicos</a:t>
            </a:r>
            <a:r>
              <a:rPr lang="en-GB" dirty="0"/>
              <a:t> </a:t>
            </a:r>
            <a:r>
              <a:rPr lang="en-GB" dirty="0" err="1"/>
              <a:t>tem</a:t>
            </a:r>
            <a:r>
              <a:rPr lang="en-GB" dirty="0"/>
              <a:t> </a:t>
            </a:r>
            <a:r>
              <a:rPr lang="en-GB" dirty="0" err="1"/>
              <a:t>comportamentos</a:t>
            </a:r>
            <a:r>
              <a:rPr lang="en-GB" dirty="0"/>
              <a:t> </a:t>
            </a:r>
            <a:r>
              <a:rPr lang="en-GB" dirty="0" err="1"/>
              <a:t>senoidais</a:t>
            </a:r>
            <a:r>
              <a:rPr lang="en-GB" dirty="0"/>
              <a:t>)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8275EC5-FBFA-CDD2-8102-15C72ACCBF29}"/>
              </a:ext>
            </a:extLst>
          </p:cNvPr>
          <p:cNvGrpSpPr/>
          <p:nvPr/>
        </p:nvGrpSpPr>
        <p:grpSpPr>
          <a:xfrm>
            <a:off x="2265709" y="2275175"/>
            <a:ext cx="6010274" cy="1252539"/>
            <a:chOff x="2981326" y="2513437"/>
            <a:chExt cx="6010274" cy="1252539"/>
          </a:xfrm>
        </p:grpSpPr>
        <p:grpSp>
          <p:nvGrpSpPr>
            <p:cNvPr id="5" name="Group 11">
              <a:extLst>
                <a:ext uri="{FF2B5EF4-FFF2-40B4-BE49-F238E27FC236}">
                  <a16:creationId xmlns:a16="http://schemas.microsoft.com/office/drawing/2014/main" id="{A22FCECC-F464-9A59-BBE4-6DEC319562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1326" y="2676951"/>
              <a:ext cx="2073275" cy="1089025"/>
              <a:chOff x="1356" y="2284"/>
              <a:chExt cx="1010" cy="413"/>
            </a:xfrm>
          </p:grpSpPr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E65A4D28-24D3-4989-ABB1-AC4DD071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2284"/>
                <a:ext cx="733" cy="413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21" y="177"/>
                  </a:cxn>
                  <a:cxn ang="0">
                    <a:pos x="68" y="109"/>
                  </a:cxn>
                  <a:cxn ang="0">
                    <a:pos x="120" y="104"/>
                  </a:cxn>
                  <a:cxn ang="0">
                    <a:pos x="152" y="182"/>
                  </a:cxn>
                  <a:cxn ang="0">
                    <a:pos x="199" y="4"/>
                  </a:cxn>
                  <a:cxn ang="0">
                    <a:pos x="262" y="161"/>
                  </a:cxn>
                  <a:cxn ang="0">
                    <a:pos x="377" y="387"/>
                  </a:cxn>
                  <a:cxn ang="0">
                    <a:pos x="450" y="318"/>
                  </a:cxn>
                  <a:cxn ang="0">
                    <a:pos x="492" y="161"/>
                  </a:cxn>
                  <a:cxn ang="0">
                    <a:pos x="570" y="88"/>
                  </a:cxn>
                  <a:cxn ang="0">
                    <a:pos x="680" y="313"/>
                  </a:cxn>
                  <a:cxn ang="0">
                    <a:pos x="733" y="240"/>
                  </a:cxn>
                </a:cxnLst>
                <a:rect l="0" t="0" r="r" b="b"/>
                <a:pathLst>
                  <a:path w="733" h="413">
                    <a:moveTo>
                      <a:pt x="0" y="261"/>
                    </a:moveTo>
                    <a:cubicBezTo>
                      <a:pt x="5" y="231"/>
                      <a:pt x="10" y="202"/>
                      <a:pt x="21" y="177"/>
                    </a:cubicBezTo>
                    <a:cubicBezTo>
                      <a:pt x="32" y="152"/>
                      <a:pt x="52" y="121"/>
                      <a:pt x="68" y="109"/>
                    </a:cubicBezTo>
                    <a:cubicBezTo>
                      <a:pt x="84" y="97"/>
                      <a:pt x="106" y="92"/>
                      <a:pt x="120" y="104"/>
                    </a:cubicBezTo>
                    <a:cubicBezTo>
                      <a:pt x="134" y="116"/>
                      <a:pt x="139" y="199"/>
                      <a:pt x="152" y="182"/>
                    </a:cubicBezTo>
                    <a:cubicBezTo>
                      <a:pt x="165" y="165"/>
                      <a:pt x="181" y="8"/>
                      <a:pt x="199" y="4"/>
                    </a:cubicBezTo>
                    <a:cubicBezTo>
                      <a:pt x="217" y="0"/>
                      <a:pt x="232" y="97"/>
                      <a:pt x="262" y="161"/>
                    </a:cubicBezTo>
                    <a:cubicBezTo>
                      <a:pt x="292" y="225"/>
                      <a:pt x="346" y="361"/>
                      <a:pt x="377" y="387"/>
                    </a:cubicBezTo>
                    <a:cubicBezTo>
                      <a:pt x="408" y="413"/>
                      <a:pt x="431" y="356"/>
                      <a:pt x="450" y="318"/>
                    </a:cubicBezTo>
                    <a:cubicBezTo>
                      <a:pt x="469" y="280"/>
                      <a:pt x="472" y="199"/>
                      <a:pt x="492" y="161"/>
                    </a:cubicBezTo>
                    <a:cubicBezTo>
                      <a:pt x="512" y="123"/>
                      <a:pt x="539" y="63"/>
                      <a:pt x="570" y="88"/>
                    </a:cubicBezTo>
                    <a:cubicBezTo>
                      <a:pt x="601" y="113"/>
                      <a:pt x="653" y="288"/>
                      <a:pt x="680" y="313"/>
                    </a:cubicBezTo>
                    <a:cubicBezTo>
                      <a:pt x="707" y="338"/>
                      <a:pt x="724" y="252"/>
                      <a:pt x="733" y="240"/>
                    </a:cubicBezTo>
                  </a:path>
                </a:pathLst>
              </a:custGeom>
              <a:noFill/>
              <a:ln w="12700" cap="flat" cmpd="sng">
                <a:solidFill>
                  <a:srgbClr val="063DE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43A9CA82-3563-AE4F-7B75-96DF463EE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6" y="2472"/>
                <a:ext cx="9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6AA81541-0A61-686F-F0DC-7F824F9EFD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1" y="2435"/>
                <a:ext cx="115" cy="10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defTabSz="762000"/>
                <a:r>
                  <a:rPr lang="en-US" sz="1200" i="1"/>
                  <a:t>t</a:t>
                </a:r>
              </a:p>
            </p:txBody>
          </p:sp>
        </p:grpSp>
        <p:sp>
          <p:nvSpPr>
            <p:cNvPr id="6" name="Line 16">
              <a:extLst>
                <a:ext uri="{FF2B5EF4-FFF2-40B4-BE49-F238E27FC236}">
                  <a16:creationId xmlns:a16="http://schemas.microsoft.com/office/drawing/2014/main" id="{2EA90D25-2A2D-BEDC-5C54-7EEDEE789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3738" y="3235750"/>
              <a:ext cx="174625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Line 17">
              <a:extLst>
                <a:ext uri="{FF2B5EF4-FFF2-40B4-BE49-F238E27FC236}">
                  <a16:creationId xmlns:a16="http://schemas.microsoft.com/office/drawing/2014/main" id="{F7FA0533-234A-0264-E94A-F077548669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58125" y="2513437"/>
              <a:ext cx="0" cy="116205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Box 18">
              <a:extLst>
                <a:ext uri="{FF2B5EF4-FFF2-40B4-BE49-F238E27FC236}">
                  <a16:creationId xmlns:a16="http://schemas.microsoft.com/office/drawing/2014/main" id="{8FA3E4D0-DE64-BF93-0D84-F3E79F8573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5688" y="3211938"/>
              <a:ext cx="315912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9" name="Text Box 19">
              <a:extLst>
                <a:ext uri="{FF2B5EF4-FFF2-40B4-BE49-F238E27FC236}">
                  <a16:creationId xmlns:a16="http://schemas.microsoft.com/office/drawing/2014/main" id="{3E9507CE-960A-6440-7ADA-ED9FCB7FD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4976" y="2610276"/>
              <a:ext cx="572593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solidFill>
                    <a:schemeClr val="hlink"/>
                  </a:solidFill>
                  <a:latin typeface="Times New Roman" pitchFamily="18" charset="0"/>
                </a:rPr>
                <a:t>G</a:t>
              </a:r>
              <a:r>
                <a:rPr lang="en-US" sz="1400">
                  <a:solidFill>
                    <a:schemeClr val="hlink"/>
                  </a:solidFill>
                  <a:latin typeface="Times New Roman" pitchFamily="18" charset="0"/>
                </a:rPr>
                <a:t>( </a:t>
              </a:r>
              <a:r>
                <a:rPr lang="en-US" sz="1400" i="1">
                  <a:solidFill>
                    <a:schemeClr val="hlink"/>
                  </a:solidFill>
                  <a:latin typeface="Times New Roman" pitchFamily="18" charset="0"/>
                </a:rPr>
                <a:t>f </a:t>
              </a:r>
              <a:r>
                <a:rPr lang="en-US" sz="1400">
                  <a:solidFill>
                    <a:schemeClr val="hlink"/>
                  </a:solidFill>
                  <a:latin typeface="Times New Roman" pitchFamily="18" charset="0"/>
                </a:rPr>
                <a:t>)</a:t>
              </a:r>
              <a:endParaRPr lang="en-US" sz="1400" i="1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grpSp>
          <p:nvGrpSpPr>
            <p:cNvPr id="10" name="Group 20">
              <a:extLst>
                <a:ext uri="{FF2B5EF4-FFF2-40B4-BE49-F238E27FC236}">
                  <a16:creationId xmlns:a16="http://schemas.microsoft.com/office/drawing/2014/main" id="{E7BD9FCD-2B4F-358C-5783-791E908066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64450" y="2710288"/>
              <a:ext cx="382588" cy="525463"/>
              <a:chOff x="3959" y="2466"/>
              <a:chExt cx="241" cy="190"/>
            </a:xfrm>
          </p:grpSpPr>
          <p:sp>
            <p:nvSpPr>
              <p:cNvPr id="13" name="Line 21">
                <a:extLst>
                  <a:ext uri="{FF2B5EF4-FFF2-40B4-BE49-F238E27FC236}">
                    <a16:creationId xmlns:a16="http://schemas.microsoft.com/office/drawing/2014/main" id="{3B8CE90A-D0DC-5537-05FA-10189C079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9" y="2466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Line 22">
                <a:extLst>
                  <a:ext uri="{FF2B5EF4-FFF2-40B4-BE49-F238E27FC236}">
                    <a16:creationId xmlns:a16="http://schemas.microsoft.com/office/drawing/2014/main" id="{B2530CB5-A673-4BD1-8BEC-DA40A0B7D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80" y="2472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1" name="Text Box 23">
              <a:extLst>
                <a:ext uri="{FF2B5EF4-FFF2-40B4-BE49-F238E27FC236}">
                  <a16:creationId xmlns:a16="http://schemas.microsoft.com/office/drawing/2014/main" id="{912AEA71-3138-8A24-A094-AB341599E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8975" y="3013501"/>
              <a:ext cx="338554" cy="4616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/>
                <a:t>=</a:t>
              </a:r>
            </a:p>
          </p:txBody>
        </p:sp>
        <p:sp>
          <p:nvSpPr>
            <p:cNvPr id="12" name="Text Box 24">
              <a:extLst>
                <a:ext uri="{FF2B5EF4-FFF2-40B4-BE49-F238E27FC236}">
                  <a16:creationId xmlns:a16="http://schemas.microsoft.com/office/drawing/2014/main" id="{2B90587A-3D76-0372-89E7-F21E4860FA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7613" y="2538838"/>
              <a:ext cx="487634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 i="1">
                  <a:solidFill>
                    <a:srgbClr val="063DE8"/>
                  </a:solidFill>
                  <a:latin typeface="Times New Roman" pitchFamily="18" charset="0"/>
                </a:rPr>
                <a:t>g</a:t>
              </a:r>
              <a:r>
                <a:rPr lang="en-US" sz="1400">
                  <a:solidFill>
                    <a:srgbClr val="063DE8"/>
                  </a:solidFill>
                  <a:latin typeface="Times New Roman" pitchFamily="18" charset="0"/>
                </a:rPr>
                <a:t>( </a:t>
              </a:r>
              <a:r>
                <a:rPr lang="en-US" sz="1400" i="1">
                  <a:solidFill>
                    <a:srgbClr val="063DE8"/>
                  </a:solidFill>
                  <a:latin typeface="Times New Roman" pitchFamily="18" charset="0"/>
                </a:rPr>
                <a:t>t</a:t>
              </a:r>
              <a:r>
                <a:rPr lang="en-US" sz="1400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  <a:endParaRPr lang="en-US" sz="1400" i="1">
                <a:solidFill>
                  <a:srgbClr val="063DE8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683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62CC1-96E4-3765-6154-8EA4CA49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</a:t>
            </a: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026160"/>
            <a:ext cx="10357884" cy="5552440"/>
          </a:xfrm>
        </p:spPr>
        <p:txBody>
          <a:bodyPr/>
          <a:lstStyle/>
          <a:p>
            <a:r>
              <a:rPr lang="pt-BR" dirty="0"/>
              <a:t>Sinal é Aleatório, mas na Frequência ele tem uma </a:t>
            </a:r>
            <a:r>
              <a:rPr lang="pt-BR" dirty="0">
                <a:solidFill>
                  <a:srgbClr val="0070C0"/>
                </a:solidFill>
              </a:rPr>
              <a:t>Densidade Espectral de Potência</a:t>
            </a:r>
            <a:r>
              <a:rPr lang="pt-BR" dirty="0"/>
              <a:t> que o descreve</a:t>
            </a:r>
          </a:p>
          <a:p>
            <a:endParaRPr lang="pt-BR" dirty="0"/>
          </a:p>
          <a:p>
            <a:r>
              <a:rPr lang="pt-BR" dirty="0"/>
              <a:t>TV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Celular</a:t>
            </a:r>
          </a:p>
          <a:p>
            <a:endParaRPr lang="pt-BR" dirty="0"/>
          </a:p>
        </p:txBody>
      </p:sp>
      <p:pic>
        <p:nvPicPr>
          <p:cNvPr id="5" name="Picture 5" descr="TV_3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69112" y="1925321"/>
            <a:ext cx="6157657" cy="277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MovTota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5409" y="4314228"/>
            <a:ext cx="5232460" cy="2699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68554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0502B-E15B-74CF-1ED5-B3626666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</a:t>
            </a:r>
          </a:p>
        </p:txBody>
      </p:sp>
      <p:sp>
        <p:nvSpPr>
          <p:cNvPr id="106499" name="Rectangle 3"/>
          <p:cNvSpPr txBox="1">
            <a:spLocks noChangeArrowheads="1"/>
          </p:cNvSpPr>
          <p:nvPr/>
        </p:nvSpPr>
        <p:spPr>
          <a:xfrm>
            <a:off x="1905000" y="1143001"/>
            <a:ext cx="8299450" cy="207327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r>
              <a:rPr lang="en-US"/>
              <a:t>Uma portadora é um sinal sinusoidal de alta frequência </a:t>
            </a:r>
            <a:r>
              <a:rPr lang="en-US" i="1">
                <a:latin typeface="Times New Roman" pitchFamily="18" charset="0"/>
              </a:rPr>
              <a:t>f</a:t>
            </a:r>
            <a:r>
              <a:rPr lang="en-US" i="1" baseline="-25000">
                <a:latin typeface="Times New Roman" pitchFamily="18" charset="0"/>
              </a:rPr>
              <a:t>c</a:t>
            </a:r>
            <a:endParaRPr lang="en-US"/>
          </a:p>
          <a:p>
            <a:pPr>
              <a:buFontTx/>
              <a:buNone/>
            </a:pPr>
            <a:r>
              <a:rPr lang="en-US" i="1">
                <a:latin typeface="Times New Roman" pitchFamily="18" charset="0"/>
              </a:rPr>
              <a:t>                            c</a:t>
            </a:r>
            <a:r>
              <a:rPr lang="en-US">
                <a:latin typeface="Times New Roman" pitchFamily="18" charset="0"/>
              </a:rPr>
              <a:t>(</a:t>
            </a:r>
            <a:r>
              <a:rPr lang="en-US" i="1">
                <a:latin typeface="Times New Roman" pitchFamily="18" charset="0"/>
              </a:rPr>
              <a:t>t</a:t>
            </a:r>
            <a:r>
              <a:rPr lang="en-US">
                <a:latin typeface="Times New Roman" pitchFamily="18" charset="0"/>
              </a:rPr>
              <a:t>) = </a:t>
            </a:r>
            <a:r>
              <a:rPr lang="en-US" i="1">
                <a:latin typeface="Times New Roman" pitchFamily="18" charset="0"/>
              </a:rPr>
              <a:t>A</a:t>
            </a:r>
            <a:r>
              <a:rPr lang="en-US">
                <a:latin typeface="Times New Roman" pitchFamily="18" charset="0"/>
              </a:rPr>
              <a:t> cos(2</a:t>
            </a:r>
            <a:r>
              <a:rPr lang="en-US">
                <a:latin typeface="Symbol" pitchFamily="18" charset="2"/>
              </a:rPr>
              <a:t>p</a:t>
            </a:r>
            <a:r>
              <a:rPr lang="en-US" i="1">
                <a:latin typeface="Times New Roman" pitchFamily="18" charset="0"/>
              </a:rPr>
              <a:t>f</a:t>
            </a:r>
            <a:r>
              <a:rPr lang="en-US" i="1" baseline="-25000">
                <a:latin typeface="Times New Roman" pitchFamily="18" charset="0"/>
              </a:rPr>
              <a:t>c</a:t>
            </a:r>
            <a:r>
              <a:rPr lang="en-US" i="1">
                <a:latin typeface="Times New Roman" pitchFamily="18" charset="0"/>
              </a:rPr>
              <a:t>t </a:t>
            </a:r>
            <a:r>
              <a:rPr lang="en-US">
                <a:latin typeface="Symbol" pitchFamily="18" charset="2"/>
              </a:rPr>
              <a:t>+ q)</a:t>
            </a:r>
          </a:p>
          <a:p>
            <a:pPr>
              <a:buFontTx/>
              <a:buNone/>
            </a:pPr>
            <a:r>
              <a:rPr lang="en-US"/>
              <a:t> </a:t>
            </a:r>
            <a:endParaRPr lang="en-US" dirty="0"/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1906588" y="2978151"/>
            <a:ext cx="8299450" cy="2073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80988" indent="-280988" defTabSz="762000">
              <a:spcBef>
                <a:spcPct val="40000"/>
              </a:spcBef>
              <a:buClr>
                <a:schemeClr val="hlink"/>
              </a:buClr>
              <a:buFontTx/>
              <a:buChar char="•"/>
            </a:pPr>
            <a:r>
              <a:rPr lang="en-US" b="1" dirty="0" err="1">
                <a:solidFill>
                  <a:schemeClr val="hlink"/>
                </a:solidFill>
              </a:rPr>
              <a:t>Modulação</a:t>
            </a:r>
            <a:r>
              <a:rPr lang="en-US" dirty="0"/>
              <a:t> é o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algum</a:t>
            </a:r>
            <a:r>
              <a:rPr lang="en-US" dirty="0"/>
              <a:t> </a:t>
            </a:r>
            <a:r>
              <a:rPr lang="en-US" dirty="0" err="1"/>
              <a:t>parâmetro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portadora</a:t>
            </a:r>
            <a:r>
              <a:rPr lang="en-US" dirty="0"/>
              <a:t> é </a:t>
            </a:r>
            <a:r>
              <a:rPr lang="en-US" dirty="0" err="1"/>
              <a:t>modificado</a:t>
            </a:r>
            <a:r>
              <a:rPr lang="en-US" dirty="0"/>
              <a:t> de </a:t>
            </a:r>
            <a:r>
              <a:rPr lang="en-US" dirty="0" err="1"/>
              <a:t>acordo</a:t>
            </a:r>
            <a:r>
              <a:rPr lang="en-US" dirty="0"/>
              <a:t> com um </a:t>
            </a:r>
            <a:r>
              <a:rPr lang="en-US" dirty="0" err="1">
                <a:solidFill>
                  <a:srgbClr val="063DE8"/>
                </a:solidFill>
              </a:rPr>
              <a:t>sinal</a:t>
            </a:r>
            <a:r>
              <a:rPr lang="en-US" dirty="0">
                <a:solidFill>
                  <a:srgbClr val="063DE8"/>
                </a:solidFill>
              </a:rPr>
              <a:t> </a:t>
            </a:r>
            <a:r>
              <a:rPr lang="en-US" dirty="0" err="1">
                <a:solidFill>
                  <a:srgbClr val="063DE8"/>
                </a:solidFill>
              </a:rPr>
              <a:t>mensagem</a:t>
            </a:r>
            <a:r>
              <a:rPr lang="en-US" dirty="0"/>
              <a:t>, </a:t>
            </a:r>
            <a:r>
              <a:rPr lang="en-US" dirty="0" err="1"/>
              <a:t>gerando</a:t>
            </a:r>
            <a:r>
              <a:rPr lang="en-US" dirty="0"/>
              <a:t> um </a:t>
            </a:r>
            <a:r>
              <a:rPr lang="en-US" dirty="0" err="1">
                <a:solidFill>
                  <a:schemeClr val="accent6"/>
                </a:solidFill>
              </a:rPr>
              <a:t>sinal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modulado</a:t>
            </a:r>
            <a:endParaRPr lang="en-US" dirty="0">
              <a:solidFill>
                <a:schemeClr val="accent6"/>
              </a:solidFill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B6EC0C8-BE31-CD10-B5E4-DAC4A0CCBEF4}"/>
              </a:ext>
            </a:extLst>
          </p:cNvPr>
          <p:cNvGrpSpPr/>
          <p:nvPr/>
        </p:nvGrpSpPr>
        <p:grpSpPr>
          <a:xfrm>
            <a:off x="4042052" y="3801978"/>
            <a:ext cx="3084778" cy="1600198"/>
            <a:chOff x="4042052" y="3801978"/>
            <a:chExt cx="3084778" cy="1600198"/>
          </a:xfrm>
        </p:grpSpPr>
        <p:cxnSp>
          <p:nvCxnSpPr>
            <p:cNvPr id="7" name="Conector de seta reta 6"/>
            <p:cNvCxnSpPr/>
            <p:nvPr/>
          </p:nvCxnSpPr>
          <p:spPr bwMode="auto">
            <a:xfrm>
              <a:off x="4170997" y="5053261"/>
              <a:ext cx="673769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" name="Retângulo 7"/>
            <p:cNvSpPr/>
            <p:nvPr/>
          </p:nvSpPr>
          <p:spPr bwMode="auto">
            <a:xfrm>
              <a:off x="4844766" y="4788566"/>
              <a:ext cx="1612231" cy="613610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chemeClr val="tx1"/>
                  </a:solidFill>
                  <a:latin typeface="Nokia Sans Wide" pitchFamily="34" charset="0"/>
                </a:rPr>
                <a:t>Modulador</a:t>
              </a: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4042052" y="458403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  <p:cxnSp>
          <p:nvCxnSpPr>
            <p:cNvPr id="10" name="Conector de seta reta 9"/>
            <p:cNvCxnSpPr/>
            <p:nvPr/>
          </p:nvCxnSpPr>
          <p:spPr bwMode="auto">
            <a:xfrm>
              <a:off x="6453061" y="5049245"/>
              <a:ext cx="673769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1" name="CaixaDeTexto 10"/>
            <p:cNvSpPr txBox="1"/>
            <p:nvPr/>
          </p:nvSpPr>
          <p:spPr>
            <a:xfrm>
              <a:off x="6552695" y="4628142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pt-BR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pt-BR" i="1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  <p:cxnSp>
          <p:nvCxnSpPr>
            <p:cNvPr id="15" name="Conector de seta reta 14"/>
            <p:cNvCxnSpPr/>
            <p:nvPr/>
          </p:nvCxnSpPr>
          <p:spPr bwMode="auto">
            <a:xfrm rot="16200000" flipH="1">
              <a:off x="5356065" y="4505826"/>
              <a:ext cx="589551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7" name="CaixaDeTexto 16"/>
            <p:cNvSpPr txBox="1"/>
            <p:nvPr/>
          </p:nvSpPr>
          <p:spPr>
            <a:xfrm>
              <a:off x="5413576" y="3801978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c</a:t>
              </a:r>
              <a:r>
                <a:rPr lang="en-US" dirty="0">
                  <a:latin typeface="Times New Roman" pitchFamily="18" charset="0"/>
                </a:rPr>
                <a:t>(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dirty="0">
                  <a:latin typeface="Times New Roman" pitchFamily="18" charset="0"/>
                </a:rPr>
                <a:t>)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46149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  <p:bldP spid="10650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32654-21B0-7D0C-9ED2-32FDF07F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</a:t>
            </a:r>
            <a:br>
              <a:rPr lang="pt-BR" dirty="0"/>
            </a:br>
            <a:r>
              <a:rPr lang="pt-BR" dirty="0"/>
              <a:t>Exemplos</a:t>
            </a:r>
          </a:p>
        </p:txBody>
      </p:sp>
      <p:grpSp>
        <p:nvGrpSpPr>
          <p:cNvPr id="107523" name="Group 3"/>
          <p:cNvGrpSpPr>
            <a:grpSpLocks/>
          </p:cNvGrpSpPr>
          <p:nvPr/>
        </p:nvGrpSpPr>
        <p:grpSpPr bwMode="auto">
          <a:xfrm>
            <a:off x="1830387" y="1118339"/>
            <a:ext cx="8531225" cy="1323975"/>
            <a:chOff x="190" y="604"/>
            <a:chExt cx="5374" cy="834"/>
          </a:xfrm>
        </p:grpSpPr>
        <p:graphicFrame>
          <p:nvGraphicFramePr>
            <p:cNvPr id="107524" name="Object 4"/>
            <p:cNvGraphicFramePr>
              <a:graphicFrameLocks noChangeAspect="1"/>
            </p:cNvGraphicFramePr>
            <p:nvPr/>
          </p:nvGraphicFramePr>
          <p:xfrm>
            <a:off x="380" y="604"/>
            <a:ext cx="5184" cy="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2" imgW="8077680" imgH="1510200" progId="Excel.Sheet.8">
                    <p:embed/>
                  </p:oleObj>
                </mc:Choice>
                <mc:Fallback>
                  <p:oleObj name="Chart" r:id="rId2" imgW="8077680" imgH="1510200" progId="Excel.Sheet.8">
                    <p:embed/>
                    <p:pic>
                      <p:nvPicPr>
                        <p:cNvPr id="10752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" y="604"/>
                          <a:ext cx="5184" cy="8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574E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25" name="Text Box 5"/>
            <p:cNvSpPr txBox="1">
              <a:spLocks noChangeArrowheads="1"/>
            </p:cNvSpPr>
            <p:nvPr/>
          </p:nvSpPr>
          <p:spPr bwMode="auto">
            <a:xfrm rot="16200000">
              <a:off x="-23" y="915"/>
              <a:ext cx="639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/>
                <a:t>Portadora</a:t>
              </a:r>
            </a:p>
          </p:txBody>
        </p:sp>
      </p:grpSp>
      <p:grpSp>
        <p:nvGrpSpPr>
          <p:cNvPr id="107526" name="Group 6"/>
          <p:cNvGrpSpPr>
            <a:grpSpLocks/>
          </p:cNvGrpSpPr>
          <p:nvPr/>
        </p:nvGrpSpPr>
        <p:grpSpPr bwMode="auto">
          <a:xfrm>
            <a:off x="1779588" y="2402628"/>
            <a:ext cx="8604251" cy="1547813"/>
            <a:chOff x="158" y="1413"/>
            <a:chExt cx="5420" cy="975"/>
          </a:xfrm>
        </p:grpSpPr>
        <p:graphicFrame>
          <p:nvGraphicFramePr>
            <p:cNvPr id="107527" name="Object 7"/>
            <p:cNvGraphicFramePr>
              <a:graphicFrameLocks noChangeAspect="1"/>
            </p:cNvGraphicFramePr>
            <p:nvPr/>
          </p:nvGraphicFramePr>
          <p:xfrm>
            <a:off x="388" y="1523"/>
            <a:ext cx="5190" cy="7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4" imgW="8229960" imgH="1519560" progId="Excel.Sheet.8">
                    <p:embed/>
                  </p:oleObj>
                </mc:Choice>
                <mc:Fallback>
                  <p:oleObj name="Chart" r:id="rId4" imgW="8229960" imgH="1519560" progId="Excel.Sheet.8">
                    <p:embed/>
                    <p:pic>
                      <p:nvPicPr>
                        <p:cNvPr id="10752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" y="1523"/>
                          <a:ext cx="5190" cy="7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574E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28" name="Text Box 8"/>
            <p:cNvSpPr txBox="1">
              <a:spLocks noChangeArrowheads="1"/>
            </p:cNvSpPr>
            <p:nvPr/>
          </p:nvSpPr>
          <p:spPr bwMode="auto">
            <a:xfrm rot="16200000">
              <a:off x="-223" y="1794"/>
              <a:ext cx="975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 dirty="0" err="1"/>
                <a:t>Sinal</a:t>
              </a:r>
              <a:r>
                <a:rPr lang="en-US" sz="1600" dirty="0"/>
                <a:t> </a:t>
              </a:r>
              <a:r>
                <a:rPr lang="en-US" sz="1600" dirty="0" err="1"/>
                <a:t>Mensagem</a:t>
              </a:r>
              <a:endParaRPr lang="en-US" sz="1600" dirty="0"/>
            </a:p>
          </p:txBody>
        </p:sp>
      </p:grpSp>
      <p:grpSp>
        <p:nvGrpSpPr>
          <p:cNvPr id="107529" name="Group 9"/>
          <p:cNvGrpSpPr>
            <a:grpSpLocks/>
          </p:cNvGrpSpPr>
          <p:nvPr/>
        </p:nvGrpSpPr>
        <p:grpSpPr bwMode="auto">
          <a:xfrm>
            <a:off x="1857375" y="3888527"/>
            <a:ext cx="8561387" cy="1265237"/>
            <a:chOff x="207" y="2349"/>
            <a:chExt cx="5393" cy="797"/>
          </a:xfrm>
        </p:grpSpPr>
        <p:graphicFrame>
          <p:nvGraphicFramePr>
            <p:cNvPr id="107530" name="Object 10"/>
            <p:cNvGraphicFramePr>
              <a:graphicFrameLocks noChangeAspect="1"/>
            </p:cNvGraphicFramePr>
            <p:nvPr/>
          </p:nvGraphicFramePr>
          <p:xfrm>
            <a:off x="410" y="2349"/>
            <a:ext cx="5190" cy="7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6" imgW="8229960" imgH="1519560" progId="Excel.Sheet.8">
                    <p:embed/>
                  </p:oleObj>
                </mc:Choice>
                <mc:Fallback>
                  <p:oleObj name="Chart" r:id="rId6" imgW="8229960" imgH="1519560" progId="Excel.Sheet.8">
                    <p:embed/>
                    <p:pic>
                      <p:nvPicPr>
                        <p:cNvPr id="10753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" y="2349"/>
                          <a:ext cx="5190" cy="7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574E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1" name="Text Box 11"/>
            <p:cNvSpPr txBox="1">
              <a:spLocks noChangeArrowheads="1"/>
            </p:cNvSpPr>
            <p:nvPr/>
          </p:nvSpPr>
          <p:spPr bwMode="auto">
            <a:xfrm rot="16200000">
              <a:off x="25" y="2634"/>
              <a:ext cx="578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/>
                <a:t>Sinal AM</a:t>
              </a:r>
            </a:p>
          </p:txBody>
        </p:sp>
      </p:grpSp>
      <p:grpSp>
        <p:nvGrpSpPr>
          <p:cNvPr id="107532" name="Group 12"/>
          <p:cNvGrpSpPr>
            <a:grpSpLocks/>
          </p:cNvGrpSpPr>
          <p:nvPr/>
        </p:nvGrpSpPr>
        <p:grpSpPr bwMode="auto">
          <a:xfrm>
            <a:off x="1909762" y="5342676"/>
            <a:ext cx="8531225" cy="1174750"/>
            <a:chOff x="240" y="3265"/>
            <a:chExt cx="5374" cy="740"/>
          </a:xfrm>
        </p:grpSpPr>
        <p:graphicFrame>
          <p:nvGraphicFramePr>
            <p:cNvPr id="107533" name="Object 13"/>
            <p:cNvGraphicFramePr>
              <a:graphicFrameLocks noChangeAspect="1"/>
            </p:cNvGraphicFramePr>
            <p:nvPr/>
          </p:nvGraphicFramePr>
          <p:xfrm>
            <a:off x="424" y="3265"/>
            <a:ext cx="5190" cy="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8" imgW="8229960" imgH="1519560" progId="Excel.Sheet.8">
                    <p:embed/>
                  </p:oleObj>
                </mc:Choice>
                <mc:Fallback>
                  <p:oleObj name="Chart" r:id="rId8" imgW="8229960" imgH="1519560" progId="Excel.Sheet.8">
                    <p:embed/>
                    <p:pic>
                      <p:nvPicPr>
                        <p:cNvPr id="10753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" y="3265"/>
                          <a:ext cx="5190" cy="7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574E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4" name="Text Box 14"/>
            <p:cNvSpPr txBox="1">
              <a:spLocks noChangeArrowheads="1"/>
            </p:cNvSpPr>
            <p:nvPr/>
          </p:nvSpPr>
          <p:spPr bwMode="auto">
            <a:xfrm rot="16200000">
              <a:off x="65" y="3527"/>
              <a:ext cx="563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/>
                <a:t>Sinal FM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986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0BAB8-8279-5085-7CBC-708FE068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Analógica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CEB320-40E8-0D0E-6A4C-CE8DE4A72874}"/>
              </a:ext>
            </a:extLst>
          </p:cNvPr>
          <p:cNvSpPr txBox="1">
            <a:spLocks noChangeArrowheads="1"/>
          </p:cNvSpPr>
          <p:nvPr/>
        </p:nvSpPr>
        <p:spPr>
          <a:xfrm>
            <a:off x="1374773" y="1216868"/>
            <a:ext cx="8299450" cy="5181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Converte um sinal-mensagem analógico de banda básica em um sinal analógico de alta frequência em banda passante</a:t>
            </a:r>
          </a:p>
          <a:p>
            <a:endParaRPr lang="en-US"/>
          </a:p>
          <a:p>
            <a:endParaRPr lang="en-US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5E88EE7-EBC5-A1D4-E723-7A492443B4ED}"/>
              </a:ext>
            </a:extLst>
          </p:cNvPr>
          <p:cNvGrpSpPr/>
          <p:nvPr/>
        </p:nvGrpSpPr>
        <p:grpSpPr>
          <a:xfrm>
            <a:off x="1212349" y="2351690"/>
            <a:ext cx="8708855" cy="3327057"/>
            <a:chOff x="1754609" y="2181569"/>
            <a:chExt cx="8708855" cy="332705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A51DFB5-4102-9AA7-CF05-724BEEE22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989" y="3980781"/>
              <a:ext cx="1603375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Sinal-mensagem</a:t>
              </a:r>
            </a:p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de </a:t>
              </a:r>
              <a:r>
                <a:rPr lang="pt-BR" u="sng" dirty="0">
                  <a:solidFill>
                    <a:srgbClr val="0000FF"/>
                  </a:solidFill>
                </a:rPr>
                <a:t>banda básica</a:t>
              </a:r>
              <a:endParaRPr lang="pt-BR" dirty="0">
                <a:solidFill>
                  <a:srgbClr val="0000FF"/>
                </a:solidFill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0E8A9137-E31C-9BE5-F2D7-E63BC34BE2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904830" y="2863523"/>
              <a:ext cx="661737" cy="12035"/>
            </a:xfrm>
            <a:prstGeom prst="line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17CE396-B927-B6D3-185D-25E5ACC3B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588" y="2181569"/>
              <a:ext cx="1676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portadora</a:t>
              </a: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F58A2EBD-DD1E-602C-2EF7-55EF99143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0950" y="4878388"/>
              <a:ext cx="1479550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Sinal modulado</a:t>
              </a:r>
            </a:p>
            <a:p>
              <a:pPr algn="ctr">
                <a:spcBef>
                  <a:spcPct val="0"/>
                </a:spcBef>
              </a:pPr>
              <a:r>
                <a:rPr lang="pt-BR" u="sng" dirty="0">
                  <a:solidFill>
                    <a:srgbClr val="0000FF"/>
                  </a:solidFill>
                </a:rPr>
                <a:t>passa-faixa</a:t>
              </a:r>
              <a:endParaRPr lang="pt-BR" dirty="0">
                <a:solidFill>
                  <a:srgbClr val="0000FF"/>
                </a:solidFill>
              </a:endParaRPr>
            </a:p>
          </p:txBody>
        </p:sp>
        <p:cxnSp>
          <p:nvCxnSpPr>
            <p:cNvPr id="9" name="AutoShape 12">
              <a:extLst>
                <a:ext uri="{FF2B5EF4-FFF2-40B4-BE49-F238E27FC236}">
                  <a16:creationId xmlns:a16="http://schemas.microsoft.com/office/drawing/2014/main" id="{5AD37014-89C4-0221-9CDE-8F6D926C5A3C}"/>
                </a:ext>
              </a:extLst>
            </p:cNvPr>
            <p:cNvCxnSpPr>
              <a:cxnSpLocks noChangeShapeType="1"/>
              <a:endCxn id="14" idx="1"/>
            </p:cNvCxnSpPr>
            <p:nvPr/>
          </p:nvCxnSpPr>
          <p:spPr bwMode="auto">
            <a:xfrm flipV="1">
              <a:off x="4050610" y="3531264"/>
              <a:ext cx="445217" cy="6018"/>
            </a:xfrm>
            <a:prstGeom prst="straightConnector1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</p:cxnSp>
        <p:cxnSp>
          <p:nvCxnSpPr>
            <p:cNvPr id="10" name="AutoShape 13">
              <a:extLst>
                <a:ext uri="{FF2B5EF4-FFF2-40B4-BE49-F238E27FC236}">
                  <a16:creationId xmlns:a16="http://schemas.microsoft.com/office/drawing/2014/main" id="{9D2D0B08-C676-9412-129C-A60B1CE0A2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56136" y="3561345"/>
              <a:ext cx="372979" cy="1588"/>
            </a:xfrm>
            <a:prstGeom prst="straightConnector1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</p:cxnSp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97D9C4A2-DF64-B114-223A-C72C7AC5EB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4609" y="2995879"/>
              <a:ext cx="2392279" cy="837942"/>
              <a:chOff x="0" y="1517"/>
              <a:chExt cx="1945" cy="799"/>
            </a:xfrm>
          </p:grpSpPr>
          <p:sp>
            <p:nvSpPr>
              <p:cNvPr id="45" name="Freeform 16">
                <a:extLst>
                  <a:ext uri="{FF2B5EF4-FFF2-40B4-BE49-F238E27FC236}">
                    <a16:creationId xmlns:a16="http://schemas.microsoft.com/office/drawing/2014/main" id="{28678DCE-EE86-1175-3016-EED3CE54E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" y="1687"/>
                <a:ext cx="785" cy="445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solidFill>
                <a:srgbClr val="FFCCCC"/>
              </a:solidFill>
              <a:ln w="38100" cmpd="sng">
                <a:solidFill>
                  <a:srgbClr val="FF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46" name="Line 17">
                <a:extLst>
                  <a:ext uri="{FF2B5EF4-FFF2-40B4-BE49-F238E27FC236}">
                    <a16:creationId xmlns:a16="http://schemas.microsoft.com/office/drawing/2014/main" id="{D301964D-DBC1-E5D0-C411-8C4010341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130"/>
                <a:ext cx="19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47" name="Text Box 18">
                <a:extLst>
                  <a:ext uri="{FF2B5EF4-FFF2-40B4-BE49-F238E27FC236}">
                    <a16:creationId xmlns:a16="http://schemas.microsoft.com/office/drawing/2014/main" id="{09B68EF1-EC52-A8DD-0539-8BEB76983D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3" y="2143"/>
                <a:ext cx="217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100">
                    <a:solidFill>
                      <a:srgbClr val="0000FF"/>
                    </a:solidFill>
                    <a:latin typeface="Times New Roman" pitchFamily="18" charset="0"/>
                    <a:sym typeface="Symbol" pitchFamily="18" charset="2"/>
                  </a:rPr>
                  <a:t></a:t>
                </a:r>
                <a:endParaRPr lang="pt-BR" sz="110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8" name="Line 19">
                <a:extLst>
                  <a:ext uri="{FF2B5EF4-FFF2-40B4-BE49-F238E27FC236}">
                    <a16:creationId xmlns:a16="http://schemas.microsoft.com/office/drawing/2014/main" id="{05938C47-96F2-C911-01BB-8205E43DF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5" y="2122"/>
                <a:ext cx="458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49" name="Line 20">
                <a:extLst>
                  <a:ext uri="{FF2B5EF4-FFF2-40B4-BE49-F238E27FC236}">
                    <a16:creationId xmlns:a16="http://schemas.microsoft.com/office/drawing/2014/main" id="{52A90DD9-1854-CEFD-9C73-CE6704CB8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4" y="2125"/>
                <a:ext cx="545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50" name="Text Box 21">
                <a:extLst>
                  <a:ext uri="{FF2B5EF4-FFF2-40B4-BE49-F238E27FC236}">
                    <a16:creationId xmlns:a16="http://schemas.microsoft.com/office/drawing/2014/main" id="{038EBE3B-9B7D-2ECE-327D-A28B5CB508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" y="2155"/>
                <a:ext cx="63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>
                    <a:solidFill>
                      <a:srgbClr val="0000FF"/>
                    </a:solidFill>
                    <a:latin typeface="Times New Roman" pitchFamily="18" charset="0"/>
                  </a:rPr>
                  <a:t>0</a:t>
                </a:r>
                <a:endParaRPr lang="pt-BR" sz="110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1" name="Text Box 22">
                <a:extLst>
                  <a:ext uri="{FF2B5EF4-FFF2-40B4-BE49-F238E27FC236}">
                    <a16:creationId xmlns:a16="http://schemas.microsoft.com/office/drawing/2014/main" id="{CBF84A6F-42D4-666B-E4A6-385385D991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6" y="2155"/>
                <a:ext cx="143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 i="1" dirty="0" err="1">
                    <a:solidFill>
                      <a:srgbClr val="0000FF"/>
                    </a:solidFill>
                    <a:latin typeface="Times New Roman" pitchFamily="18" charset="0"/>
                  </a:rPr>
                  <a:t>B</a:t>
                </a:r>
                <a:r>
                  <a:rPr lang="pt-BR" sz="1100" i="1" baseline="-25000" dirty="0" err="1">
                    <a:solidFill>
                      <a:srgbClr val="0000FF"/>
                    </a:solidFill>
                    <a:latin typeface="Times New Roman" pitchFamily="18" charset="0"/>
                  </a:rPr>
                  <a:t>m</a:t>
                </a:r>
                <a:endParaRPr lang="pt-BR" sz="1100" i="1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2" name="Text Box 23">
                <a:extLst>
                  <a:ext uri="{FF2B5EF4-FFF2-40B4-BE49-F238E27FC236}">
                    <a16:creationId xmlns:a16="http://schemas.microsoft.com/office/drawing/2014/main" id="{B451D930-67C9-82F2-A20A-16CD81894F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" y="2155"/>
                <a:ext cx="192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 i="1">
                    <a:solidFill>
                      <a:srgbClr val="0000FF"/>
                    </a:solidFill>
                    <a:latin typeface="Times New Roman" pitchFamily="18" charset="0"/>
                  </a:rPr>
                  <a:t>-B</a:t>
                </a:r>
                <a:r>
                  <a:rPr lang="pt-BR" sz="110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m</a:t>
                </a:r>
                <a:endParaRPr lang="pt-BR" sz="110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3" name="Text Box 24">
                <a:extLst>
                  <a:ext uri="{FF2B5EF4-FFF2-40B4-BE49-F238E27FC236}">
                    <a16:creationId xmlns:a16="http://schemas.microsoft.com/office/drawing/2014/main" id="{BE090F95-FF3D-7C22-3CED-176A9F276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7" y="1517"/>
                <a:ext cx="270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 i="1" dirty="0">
                    <a:solidFill>
                      <a:srgbClr val="0000FF"/>
                    </a:solidFill>
                    <a:latin typeface="Times New Roman" pitchFamily="18" charset="0"/>
                  </a:rPr>
                  <a:t>M</a:t>
                </a:r>
                <a:r>
                  <a:rPr lang="pt-BR" sz="1100" dirty="0">
                    <a:solidFill>
                      <a:srgbClr val="0000FF"/>
                    </a:solidFill>
                    <a:latin typeface="Times New Roman" pitchFamily="18" charset="0"/>
                  </a:rPr>
                  <a:t>( </a:t>
                </a:r>
                <a:r>
                  <a:rPr lang="pt-BR" sz="1100" i="1" dirty="0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100" dirty="0">
                    <a:solidFill>
                      <a:srgbClr val="0000FF"/>
                    </a:solidFill>
                    <a:latin typeface="Times New Roman" pitchFamily="18" charset="0"/>
                  </a:rPr>
                  <a:t>)</a:t>
                </a:r>
                <a:r>
                  <a:rPr lang="pt-BR" sz="1100" i="1" dirty="0">
                    <a:solidFill>
                      <a:srgbClr val="0000FF"/>
                    </a:solidFill>
                    <a:latin typeface="Times New Roman" pitchFamily="18" charset="0"/>
                  </a:rPr>
                  <a:t>  </a:t>
                </a:r>
              </a:p>
            </p:txBody>
          </p:sp>
          <p:sp>
            <p:nvSpPr>
              <p:cNvPr id="54" name="Line 25">
                <a:extLst>
                  <a:ext uri="{FF2B5EF4-FFF2-40B4-BE49-F238E27FC236}">
                    <a16:creationId xmlns:a16="http://schemas.microsoft.com/office/drawing/2014/main" id="{7520F513-0506-B4AD-F6A4-0D64C3875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10" y="1543"/>
                <a:ext cx="2" cy="6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</p:grp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25C08455-DA88-04D1-8891-44CE1B2D8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8925" y="4291034"/>
              <a:ext cx="3398838" cy="33655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pt-BR" sz="1600" dirty="0">
                  <a:solidFill>
                    <a:srgbClr val="0000FF"/>
                  </a:solidFill>
                  <a:latin typeface="Arial" pitchFamily="34" charset="0"/>
                </a:rPr>
                <a:t>Na prática, geralmente</a:t>
              </a:r>
              <a:r>
                <a:rPr lang="pt-BR" sz="1600" dirty="0">
                  <a:solidFill>
                    <a:srgbClr val="0000FF"/>
                  </a:solidFill>
                  <a:latin typeface="Times New Roman" pitchFamily="18" charset="0"/>
                </a:rPr>
                <a:t>   </a:t>
              </a:r>
              <a:r>
                <a:rPr lang="pt-BR" sz="1600" i="1" dirty="0" err="1">
                  <a:solidFill>
                    <a:srgbClr val="0000FF"/>
                  </a:solidFill>
                  <a:latin typeface="Times New Roman" pitchFamily="18" charset="0"/>
                </a:rPr>
                <a:t>f</a:t>
              </a:r>
              <a:r>
                <a:rPr lang="pt-BR" sz="1600" i="1" baseline="-25000" dirty="0" err="1">
                  <a:solidFill>
                    <a:srgbClr val="0000FF"/>
                  </a:solidFill>
                  <a:latin typeface="Times New Roman" pitchFamily="18" charset="0"/>
                </a:rPr>
                <a:t>c</a:t>
              </a:r>
              <a:r>
                <a:rPr lang="pt-BR" sz="1600" i="1" baseline="-25000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pt-BR" sz="1600" i="1" dirty="0">
                  <a:solidFill>
                    <a:srgbClr val="0000FF"/>
                  </a:solidFill>
                  <a:latin typeface="Times New Roman" pitchFamily="18" charset="0"/>
                </a:rPr>
                <a:t>&gt;&gt;</a:t>
              </a:r>
              <a:r>
                <a:rPr lang="pt-BR" sz="1600" i="1" dirty="0" err="1">
                  <a:solidFill>
                    <a:srgbClr val="0000FF"/>
                  </a:solidFill>
                  <a:latin typeface="Times New Roman" pitchFamily="18" charset="0"/>
                  <a:sym typeface="tci2" pitchFamily="2" charset="2"/>
                </a:rPr>
                <a:t>B</a:t>
              </a:r>
              <a:r>
                <a:rPr lang="pt-BR" sz="1600" i="1" baseline="-25000" dirty="0" err="1">
                  <a:solidFill>
                    <a:srgbClr val="0000FF"/>
                  </a:solidFill>
                  <a:latin typeface="Times New Roman" pitchFamily="18" charset="0"/>
                  <a:sym typeface="tci2" pitchFamily="2" charset="2"/>
                </a:rPr>
                <a:t>m</a:t>
              </a:r>
              <a:endParaRPr lang="pt-BR" sz="16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grpSp>
          <p:nvGrpSpPr>
            <p:cNvPr id="13" name="Group 31">
              <a:extLst>
                <a:ext uri="{FF2B5EF4-FFF2-40B4-BE49-F238E27FC236}">
                  <a16:creationId xmlns:a16="http://schemas.microsoft.com/office/drawing/2014/main" id="{957DF24B-8BE3-A1D3-F797-A949B80531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3342" y="3031960"/>
              <a:ext cx="3920122" cy="1084062"/>
              <a:chOff x="1766" y="2371"/>
              <a:chExt cx="3994" cy="870"/>
            </a:xfrm>
          </p:grpSpPr>
          <p:sp>
            <p:nvSpPr>
              <p:cNvPr id="15" name="Text Box 32">
                <a:extLst>
                  <a:ext uri="{FF2B5EF4-FFF2-40B4-BE49-F238E27FC236}">
                    <a16:creationId xmlns:a16="http://schemas.microsoft.com/office/drawing/2014/main" id="{E7F6F0DE-E024-FDA9-B635-F98C9113E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4" y="2922"/>
                <a:ext cx="123" cy="130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-f</a:t>
                </a:r>
                <a:r>
                  <a:rPr lang="pt-BR" sz="105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c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" name="Text Box 33">
                <a:extLst>
                  <a:ext uri="{FF2B5EF4-FFF2-40B4-BE49-F238E27FC236}">
                    <a16:creationId xmlns:a16="http://schemas.microsoft.com/office/drawing/2014/main" id="{46C8C174-006A-4BB8-25E6-4863E2D906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9" y="2928"/>
                <a:ext cx="241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  <a:sym typeface="Symbol" pitchFamily="18" charset="2"/>
                  </a:rPr>
                  <a:t>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7" name="Text Box 34">
                <a:extLst>
                  <a:ext uri="{FF2B5EF4-FFF2-40B4-BE49-F238E27FC236}">
                    <a16:creationId xmlns:a16="http://schemas.microsoft.com/office/drawing/2014/main" id="{38357EB2-EC90-2FD6-C25E-9FF9E72156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2" y="2928"/>
                <a:ext cx="82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</a:t>
                </a:r>
                <a:r>
                  <a:rPr lang="pt-BR" sz="105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c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" name="Line 35">
                <a:extLst>
                  <a:ext uri="{FF2B5EF4-FFF2-40B4-BE49-F238E27FC236}">
                    <a16:creationId xmlns:a16="http://schemas.microsoft.com/office/drawing/2014/main" id="{3B525F4A-25BC-82DC-6187-ED9156BA8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8" y="2857"/>
                <a:ext cx="0" cy="41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19" name="Text Box 36">
                <a:extLst>
                  <a:ext uri="{FF2B5EF4-FFF2-40B4-BE49-F238E27FC236}">
                    <a16:creationId xmlns:a16="http://schemas.microsoft.com/office/drawing/2014/main" id="{02371206-6A23-01D1-BBDC-584B3836A1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9" y="2928"/>
                <a:ext cx="63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0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" name="Text Box 37">
                <a:extLst>
                  <a:ext uri="{FF2B5EF4-FFF2-40B4-BE49-F238E27FC236}">
                    <a16:creationId xmlns:a16="http://schemas.microsoft.com/office/drawing/2014/main" id="{5F8B1F63-1D65-61C7-4699-E272C7F3D0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2371"/>
                <a:ext cx="270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S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( </a:t>
                </a:r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)</a:t>
                </a:r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  </a:t>
                </a:r>
              </a:p>
            </p:txBody>
          </p:sp>
          <p:sp>
            <p:nvSpPr>
              <p:cNvPr id="21" name="Line 38">
                <a:extLst>
                  <a:ext uri="{FF2B5EF4-FFF2-40B4-BE49-F238E27FC236}">
                    <a16:creationId xmlns:a16="http://schemas.microsoft.com/office/drawing/2014/main" id="{9716C273-7CDA-02F0-E176-0D3121B16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2899"/>
                <a:ext cx="1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2" name="Line 39">
                <a:extLst>
                  <a:ext uri="{FF2B5EF4-FFF2-40B4-BE49-F238E27FC236}">
                    <a16:creationId xmlns:a16="http://schemas.microsoft.com/office/drawing/2014/main" id="{71EAC1F1-5465-C261-37BD-AF4508190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2890"/>
                <a:ext cx="105" cy="2"/>
              </a:xfrm>
              <a:prstGeom prst="line">
                <a:avLst/>
              </a:prstGeom>
              <a:noFill/>
              <a:ln w="38100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3" name="Line 40">
                <a:extLst>
                  <a:ext uri="{FF2B5EF4-FFF2-40B4-BE49-F238E27FC236}">
                    <a16:creationId xmlns:a16="http://schemas.microsoft.com/office/drawing/2014/main" id="{4199CB42-88F5-F103-5908-60A3308EC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5" y="2882"/>
                <a:ext cx="125" cy="6"/>
              </a:xfrm>
              <a:prstGeom prst="line">
                <a:avLst/>
              </a:prstGeom>
              <a:noFill/>
              <a:ln w="38100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4" name="Line 41">
                <a:extLst>
                  <a:ext uri="{FF2B5EF4-FFF2-40B4-BE49-F238E27FC236}">
                    <a16:creationId xmlns:a16="http://schemas.microsoft.com/office/drawing/2014/main" id="{0E1157A7-A1A5-E2BB-1BD3-CE7D4E83D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3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5" name="Line 42">
                <a:extLst>
                  <a:ext uri="{FF2B5EF4-FFF2-40B4-BE49-F238E27FC236}">
                    <a16:creationId xmlns:a16="http://schemas.microsoft.com/office/drawing/2014/main" id="{76AF88AE-93A5-6AAF-A15B-8D1CFF529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1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6" name="Line 43">
                <a:extLst>
                  <a:ext uri="{FF2B5EF4-FFF2-40B4-BE49-F238E27FC236}">
                    <a16:creationId xmlns:a16="http://schemas.microsoft.com/office/drawing/2014/main" id="{197405AC-253A-43D5-7AC6-194F89F94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5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7" name="Line 44">
                <a:extLst>
                  <a:ext uri="{FF2B5EF4-FFF2-40B4-BE49-F238E27FC236}">
                    <a16:creationId xmlns:a16="http://schemas.microsoft.com/office/drawing/2014/main" id="{3D1666FB-BCAB-8A50-6766-07124D5E5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3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8" name="Freeform 45">
                <a:extLst>
                  <a:ext uri="{FF2B5EF4-FFF2-40B4-BE49-F238E27FC236}">
                    <a16:creationId xmlns:a16="http://schemas.microsoft.com/office/drawing/2014/main" id="{C495E60C-D28A-9D42-B4ED-65A32695A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8" y="2483"/>
                <a:ext cx="1204" cy="414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304" y="408"/>
                  </a:cxn>
                  <a:cxn ang="0">
                    <a:pos x="608" y="64"/>
                  </a:cxn>
                  <a:cxn ang="0">
                    <a:pos x="864" y="80"/>
                  </a:cxn>
                  <a:cxn ang="0">
                    <a:pos x="1152" y="56"/>
                  </a:cxn>
                  <a:cxn ang="0">
                    <a:pos x="1424" y="416"/>
                  </a:cxn>
                  <a:cxn ang="0">
                    <a:pos x="1720" y="760"/>
                  </a:cxn>
                </a:cxnLst>
                <a:rect l="0" t="0" r="r" b="b"/>
                <a:pathLst>
                  <a:path w="1720" h="760">
                    <a:moveTo>
                      <a:pt x="0" y="760"/>
                    </a:moveTo>
                    <a:cubicBezTo>
                      <a:pt x="101" y="642"/>
                      <a:pt x="203" y="524"/>
                      <a:pt x="304" y="408"/>
                    </a:cubicBezTo>
                    <a:cubicBezTo>
                      <a:pt x="405" y="292"/>
                      <a:pt x="515" y="119"/>
                      <a:pt x="608" y="64"/>
                    </a:cubicBezTo>
                    <a:cubicBezTo>
                      <a:pt x="701" y="9"/>
                      <a:pt x="773" y="81"/>
                      <a:pt x="864" y="80"/>
                    </a:cubicBezTo>
                    <a:cubicBezTo>
                      <a:pt x="955" y="79"/>
                      <a:pt x="1059" y="0"/>
                      <a:pt x="1152" y="56"/>
                    </a:cubicBezTo>
                    <a:cubicBezTo>
                      <a:pt x="1245" y="112"/>
                      <a:pt x="1329" y="299"/>
                      <a:pt x="1424" y="416"/>
                    </a:cubicBezTo>
                    <a:cubicBezTo>
                      <a:pt x="1519" y="533"/>
                      <a:pt x="1671" y="704"/>
                      <a:pt x="1720" y="760"/>
                    </a:cubicBezTo>
                  </a:path>
                </a:pathLst>
              </a:custGeom>
              <a:solidFill>
                <a:srgbClr val="CCFFCC"/>
              </a:solidFill>
              <a:ln w="38100" cmpd="sng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9" name="Line 46">
                <a:extLst>
                  <a:ext uri="{FF2B5EF4-FFF2-40B4-BE49-F238E27FC236}">
                    <a16:creationId xmlns:a16="http://schemas.microsoft.com/office/drawing/2014/main" id="{9A2951C1-636A-383E-F8A0-8BB2EC2F4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73" y="2860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grpSp>
            <p:nvGrpSpPr>
              <p:cNvPr id="30" name="Group 47">
                <a:extLst>
                  <a:ext uri="{FF2B5EF4-FFF2-40B4-BE49-F238E27FC236}">
                    <a16:creationId xmlns:a16="http://schemas.microsoft.com/office/drawing/2014/main" id="{FA169B7A-730E-9F7C-ED90-F63A48E7B8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5" y="3111"/>
                <a:ext cx="1188" cy="130"/>
                <a:chOff x="1865" y="3111"/>
                <a:chExt cx="1188" cy="130"/>
              </a:xfrm>
            </p:grpSpPr>
            <p:sp>
              <p:nvSpPr>
                <p:cNvPr id="42" name="Line 48">
                  <a:extLst>
                    <a:ext uri="{FF2B5EF4-FFF2-40B4-BE49-F238E27FC236}">
                      <a16:creationId xmlns:a16="http://schemas.microsoft.com/office/drawing/2014/main" id="{AE227CBE-8595-3469-501C-01C6A25FEF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  <p:sp>
              <p:nvSpPr>
                <p:cNvPr id="43" name="Text Box 49">
                  <a:extLst>
                    <a:ext uri="{FF2B5EF4-FFF2-40B4-BE49-F238E27FC236}">
                      <a16:creationId xmlns:a16="http://schemas.microsoft.com/office/drawing/2014/main" id="{0894BE32-EE7F-D80B-A17D-3F4F28C41A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9" y="3111"/>
                  <a:ext cx="196" cy="1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pPr algn="ctr"/>
                  <a:r>
                    <a:rPr lang="pt-BR" sz="1050" i="1">
                      <a:solidFill>
                        <a:srgbClr val="0000FF"/>
                      </a:solidFill>
                      <a:latin typeface="Times New Roman" pitchFamily="18" charset="0"/>
                    </a:rPr>
                    <a:t>B</a:t>
                  </a:r>
                  <a:r>
                    <a:rPr lang="pt-BR" sz="1050" i="1" baseline="-25000">
                      <a:solidFill>
                        <a:srgbClr val="0000FF"/>
                      </a:solidFill>
                      <a:latin typeface="Times New Roman" pitchFamily="18" charset="0"/>
                    </a:rPr>
                    <a:t>T</a:t>
                  </a:r>
                  <a:endParaRPr lang="pt-BR" sz="1050" i="1">
                    <a:solidFill>
                      <a:srgbClr val="0000FF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" name="Line 50">
                  <a:extLst>
                    <a:ext uri="{FF2B5EF4-FFF2-40B4-BE49-F238E27FC236}">
                      <a16:creationId xmlns:a16="http://schemas.microsoft.com/office/drawing/2014/main" id="{A1E35E05-4329-25BF-DB02-0E6576F73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</p:grpSp>
          <p:grpSp>
            <p:nvGrpSpPr>
              <p:cNvPr id="31" name="Group 51">
                <a:extLst>
                  <a:ext uri="{FF2B5EF4-FFF2-40B4-BE49-F238E27FC236}">
                    <a16:creationId xmlns:a16="http://schemas.microsoft.com/office/drawing/2014/main" id="{97CF8C90-CB13-0243-75B2-9442D5E6DC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3111"/>
                <a:ext cx="1188" cy="130"/>
                <a:chOff x="1865" y="3111"/>
                <a:chExt cx="1188" cy="130"/>
              </a:xfrm>
            </p:grpSpPr>
            <p:sp>
              <p:nvSpPr>
                <p:cNvPr id="39" name="Line 52">
                  <a:extLst>
                    <a:ext uri="{FF2B5EF4-FFF2-40B4-BE49-F238E27FC236}">
                      <a16:creationId xmlns:a16="http://schemas.microsoft.com/office/drawing/2014/main" id="{13BA2D94-1385-4D73-BAE7-44CAC16B7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  <p:sp>
              <p:nvSpPr>
                <p:cNvPr id="40" name="Text Box 53">
                  <a:extLst>
                    <a:ext uri="{FF2B5EF4-FFF2-40B4-BE49-F238E27FC236}">
                      <a16:creationId xmlns:a16="http://schemas.microsoft.com/office/drawing/2014/main" id="{EBCF8739-154F-3616-1785-C2D9B4776E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9" y="3111"/>
                  <a:ext cx="196" cy="1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pPr algn="ctr"/>
                  <a:r>
                    <a:rPr lang="pt-BR" sz="1050" i="1">
                      <a:solidFill>
                        <a:srgbClr val="0000FF"/>
                      </a:solidFill>
                      <a:latin typeface="Times New Roman" pitchFamily="18" charset="0"/>
                    </a:rPr>
                    <a:t>B</a:t>
                  </a:r>
                  <a:r>
                    <a:rPr lang="pt-BR" sz="1050" i="1" baseline="-25000">
                      <a:solidFill>
                        <a:srgbClr val="0000FF"/>
                      </a:solidFill>
                      <a:latin typeface="Times New Roman" pitchFamily="18" charset="0"/>
                    </a:rPr>
                    <a:t>T</a:t>
                  </a:r>
                  <a:endParaRPr lang="pt-BR" sz="1050" i="1">
                    <a:solidFill>
                      <a:srgbClr val="0000FF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1" name="Line 54">
                  <a:extLst>
                    <a:ext uri="{FF2B5EF4-FFF2-40B4-BE49-F238E27FC236}">
                      <a16:creationId xmlns:a16="http://schemas.microsoft.com/office/drawing/2014/main" id="{47EA3E77-3BC6-C957-34FA-889DFE61D3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</p:grpSp>
          <p:sp>
            <p:nvSpPr>
              <p:cNvPr id="32" name="Freeform 55">
                <a:extLst>
                  <a:ext uri="{FF2B5EF4-FFF2-40B4-BE49-F238E27FC236}">
                    <a16:creationId xmlns:a16="http://schemas.microsoft.com/office/drawing/2014/main" id="{FF6F9F2E-AE0D-A3D7-A388-1E89F2E57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2859"/>
                <a:ext cx="618" cy="69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384" y="36"/>
                  </a:cxn>
                  <a:cxn ang="0">
                    <a:pos x="423" y="0"/>
                  </a:cxn>
                  <a:cxn ang="0">
                    <a:pos x="438" y="69"/>
                  </a:cxn>
                  <a:cxn ang="0">
                    <a:pos x="465" y="33"/>
                  </a:cxn>
                  <a:cxn ang="0">
                    <a:pos x="618" y="33"/>
                  </a:cxn>
                </a:cxnLst>
                <a:rect l="0" t="0" r="r" b="b"/>
                <a:pathLst>
                  <a:path w="618" h="69">
                    <a:moveTo>
                      <a:pt x="0" y="36"/>
                    </a:moveTo>
                    <a:lnTo>
                      <a:pt x="384" y="36"/>
                    </a:lnTo>
                    <a:lnTo>
                      <a:pt x="423" y="0"/>
                    </a:lnTo>
                    <a:lnTo>
                      <a:pt x="438" y="69"/>
                    </a:lnTo>
                    <a:lnTo>
                      <a:pt x="465" y="33"/>
                    </a:lnTo>
                    <a:lnTo>
                      <a:pt x="618" y="33"/>
                    </a:lnTo>
                  </a:path>
                </a:pathLst>
              </a:custGeom>
              <a:noFill/>
              <a:ln w="38100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3" name="Freeform 56">
                <a:extLst>
                  <a:ext uri="{FF2B5EF4-FFF2-40B4-BE49-F238E27FC236}">
                    <a16:creationId xmlns:a16="http://schemas.microsoft.com/office/drawing/2014/main" id="{2D4F3493-BC4B-0CB5-26BD-535EE18AD9A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679" y="2861"/>
                <a:ext cx="618" cy="69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384" y="36"/>
                  </a:cxn>
                  <a:cxn ang="0">
                    <a:pos x="423" y="0"/>
                  </a:cxn>
                  <a:cxn ang="0">
                    <a:pos x="438" y="69"/>
                  </a:cxn>
                  <a:cxn ang="0">
                    <a:pos x="465" y="33"/>
                  </a:cxn>
                  <a:cxn ang="0">
                    <a:pos x="618" y="33"/>
                  </a:cxn>
                </a:cxnLst>
                <a:rect l="0" t="0" r="r" b="b"/>
                <a:pathLst>
                  <a:path w="618" h="69">
                    <a:moveTo>
                      <a:pt x="0" y="36"/>
                    </a:moveTo>
                    <a:lnTo>
                      <a:pt x="384" y="36"/>
                    </a:lnTo>
                    <a:lnTo>
                      <a:pt x="423" y="0"/>
                    </a:lnTo>
                    <a:lnTo>
                      <a:pt x="438" y="69"/>
                    </a:lnTo>
                    <a:lnTo>
                      <a:pt x="465" y="33"/>
                    </a:lnTo>
                    <a:lnTo>
                      <a:pt x="618" y="33"/>
                    </a:lnTo>
                  </a:path>
                </a:pathLst>
              </a:custGeom>
              <a:noFill/>
              <a:ln w="38100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4" name="Line 57">
                <a:extLst>
                  <a:ext uri="{FF2B5EF4-FFF2-40B4-BE49-F238E27FC236}">
                    <a16:creationId xmlns:a16="http://schemas.microsoft.com/office/drawing/2014/main" id="{2E3DC8A3-84FF-667F-61EF-E0E4325FD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7" y="2394"/>
                <a:ext cx="0" cy="54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5" name="Line 58">
                <a:extLst>
                  <a:ext uri="{FF2B5EF4-FFF2-40B4-BE49-F238E27FC236}">
                    <a16:creationId xmlns:a16="http://schemas.microsoft.com/office/drawing/2014/main" id="{DF4D226F-BB8D-2886-30A2-8745F8CD6D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2" y="2899"/>
                <a:ext cx="1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6" name="Freeform 59">
                <a:extLst>
                  <a:ext uri="{FF2B5EF4-FFF2-40B4-BE49-F238E27FC236}">
                    <a16:creationId xmlns:a16="http://schemas.microsoft.com/office/drawing/2014/main" id="{76DF52D0-6165-1A49-2372-739F1DB63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2483"/>
                <a:ext cx="1203" cy="414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304" y="408"/>
                  </a:cxn>
                  <a:cxn ang="0">
                    <a:pos x="608" y="64"/>
                  </a:cxn>
                  <a:cxn ang="0">
                    <a:pos x="864" y="80"/>
                  </a:cxn>
                  <a:cxn ang="0">
                    <a:pos x="1152" y="56"/>
                  </a:cxn>
                  <a:cxn ang="0">
                    <a:pos x="1424" y="416"/>
                  </a:cxn>
                  <a:cxn ang="0">
                    <a:pos x="1720" y="760"/>
                  </a:cxn>
                </a:cxnLst>
                <a:rect l="0" t="0" r="r" b="b"/>
                <a:pathLst>
                  <a:path w="1720" h="760">
                    <a:moveTo>
                      <a:pt x="0" y="760"/>
                    </a:moveTo>
                    <a:cubicBezTo>
                      <a:pt x="101" y="642"/>
                      <a:pt x="203" y="524"/>
                      <a:pt x="304" y="408"/>
                    </a:cubicBezTo>
                    <a:cubicBezTo>
                      <a:pt x="405" y="292"/>
                      <a:pt x="515" y="119"/>
                      <a:pt x="608" y="64"/>
                    </a:cubicBezTo>
                    <a:cubicBezTo>
                      <a:pt x="701" y="9"/>
                      <a:pt x="773" y="81"/>
                      <a:pt x="864" y="80"/>
                    </a:cubicBezTo>
                    <a:cubicBezTo>
                      <a:pt x="955" y="79"/>
                      <a:pt x="1059" y="0"/>
                      <a:pt x="1152" y="56"/>
                    </a:cubicBezTo>
                    <a:cubicBezTo>
                      <a:pt x="1245" y="112"/>
                      <a:pt x="1329" y="299"/>
                      <a:pt x="1424" y="416"/>
                    </a:cubicBezTo>
                    <a:cubicBezTo>
                      <a:pt x="1519" y="533"/>
                      <a:pt x="1671" y="704"/>
                      <a:pt x="1720" y="760"/>
                    </a:cubicBezTo>
                  </a:path>
                </a:pathLst>
              </a:custGeom>
              <a:solidFill>
                <a:srgbClr val="CCFFCC"/>
              </a:solidFill>
              <a:ln w="38100" cmpd="sng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7" name="Line 60">
                <a:extLst>
                  <a:ext uri="{FF2B5EF4-FFF2-40B4-BE49-F238E27FC236}">
                    <a16:creationId xmlns:a16="http://schemas.microsoft.com/office/drawing/2014/main" id="{78D46D10-6794-BA5E-EC6D-CFA06E7A5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6" y="2857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8" name="Line 61">
                <a:extLst>
                  <a:ext uri="{FF2B5EF4-FFF2-40B4-BE49-F238E27FC236}">
                    <a16:creationId xmlns:a16="http://schemas.microsoft.com/office/drawing/2014/main" id="{4F8B5EF6-2C17-1817-05ED-C5D6CD1D9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2" y="2854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</p:grp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7692DEE6-25EE-811B-7B1A-2ABD3A22A68E}"/>
                </a:ext>
              </a:extLst>
            </p:cNvPr>
            <p:cNvSpPr/>
            <p:nvPr/>
          </p:nvSpPr>
          <p:spPr bwMode="auto">
            <a:xfrm>
              <a:off x="4495827" y="3224459"/>
              <a:ext cx="1612231" cy="613610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chemeClr val="tx1"/>
                  </a:solidFill>
                  <a:latin typeface="Nokia Sans Wide" pitchFamily="34" charset="0"/>
                </a:rPr>
                <a:t>Modulador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515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5AB4C-B275-1F10-F9CC-4ECE7D53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Digital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CB64F45-3D00-F9F0-A1D0-C0609560AA73}"/>
              </a:ext>
            </a:extLst>
          </p:cNvPr>
          <p:cNvSpPr txBox="1">
            <a:spLocks noChangeArrowheads="1"/>
          </p:cNvSpPr>
          <p:nvPr/>
        </p:nvSpPr>
        <p:spPr>
          <a:xfrm>
            <a:off x="941550" y="1153900"/>
            <a:ext cx="10412249" cy="5181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Converte</a:t>
            </a:r>
            <a:r>
              <a:rPr lang="en-US" dirty="0"/>
              <a:t> um </a:t>
            </a:r>
            <a:r>
              <a:rPr lang="en-US" dirty="0" err="1"/>
              <a:t>sinal-mensagem</a:t>
            </a:r>
            <a:r>
              <a:rPr lang="en-US" dirty="0"/>
              <a:t> digital (</a:t>
            </a:r>
            <a:r>
              <a:rPr lang="en-US" dirty="0" err="1"/>
              <a:t>sequência</a:t>
            </a:r>
            <a:r>
              <a:rPr lang="en-US" dirty="0"/>
              <a:t> de bits)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sinal</a:t>
            </a:r>
            <a:r>
              <a:rPr lang="en-US" dirty="0"/>
              <a:t> </a:t>
            </a:r>
            <a:r>
              <a:rPr lang="en-US" dirty="0" err="1"/>
              <a:t>analógico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frequência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banda</a:t>
            </a:r>
            <a:r>
              <a:rPr lang="en-US" dirty="0"/>
              <a:t> </a:t>
            </a:r>
            <a:r>
              <a:rPr lang="en-US" dirty="0" err="1"/>
              <a:t>passante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831C6BB-DCF8-AF48-5322-3F4DAB02AFCF}"/>
              </a:ext>
            </a:extLst>
          </p:cNvPr>
          <p:cNvGrpSpPr/>
          <p:nvPr/>
        </p:nvGrpSpPr>
        <p:grpSpPr>
          <a:xfrm>
            <a:off x="1666072" y="2424083"/>
            <a:ext cx="8563475" cy="2641233"/>
            <a:chOff x="1899989" y="2181569"/>
            <a:chExt cx="8563475" cy="2641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6F35B-0980-0217-9186-D955A869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989" y="3980781"/>
              <a:ext cx="1603375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Sinal-mensagem</a:t>
              </a:r>
            </a:p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digital</a:t>
              </a: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15963DB5-5A3B-0978-684B-E7D3C4D928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904830" y="2863523"/>
              <a:ext cx="661737" cy="12035"/>
            </a:xfrm>
            <a:prstGeom prst="line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FF0A55FE-CF95-C6CD-B0BA-B21325F75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588" y="2181569"/>
              <a:ext cx="1676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portadora</a:t>
              </a: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F607AE66-96B3-623B-638E-12F413C3C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0950" y="4192564"/>
              <a:ext cx="1479550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Sinal modulado</a:t>
              </a:r>
            </a:p>
            <a:p>
              <a:pPr algn="ctr">
                <a:spcBef>
                  <a:spcPct val="0"/>
                </a:spcBef>
              </a:pPr>
              <a:r>
                <a:rPr lang="pt-BR" u="sng" dirty="0">
                  <a:solidFill>
                    <a:srgbClr val="0000FF"/>
                  </a:solidFill>
                </a:rPr>
                <a:t>passa-faixa</a:t>
              </a:r>
              <a:endParaRPr lang="pt-BR" dirty="0">
                <a:solidFill>
                  <a:srgbClr val="0000FF"/>
                </a:solidFill>
              </a:endParaRPr>
            </a:p>
          </p:txBody>
        </p:sp>
        <p:cxnSp>
          <p:nvCxnSpPr>
            <p:cNvPr id="9" name="AutoShape 12">
              <a:extLst>
                <a:ext uri="{FF2B5EF4-FFF2-40B4-BE49-F238E27FC236}">
                  <a16:creationId xmlns:a16="http://schemas.microsoft.com/office/drawing/2014/main" id="{E3FB3017-3A63-A0D9-D02D-EDA2140C9157}"/>
                </a:ext>
              </a:extLst>
            </p:cNvPr>
            <p:cNvCxnSpPr>
              <a:cxnSpLocks noChangeShapeType="1"/>
              <a:endCxn id="12" idx="1"/>
            </p:cNvCxnSpPr>
            <p:nvPr/>
          </p:nvCxnSpPr>
          <p:spPr bwMode="auto">
            <a:xfrm flipV="1">
              <a:off x="4050610" y="3531264"/>
              <a:ext cx="445217" cy="6018"/>
            </a:xfrm>
            <a:prstGeom prst="straightConnector1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</p:cxnSp>
        <p:cxnSp>
          <p:nvCxnSpPr>
            <p:cNvPr id="10" name="AutoShape 13">
              <a:extLst>
                <a:ext uri="{FF2B5EF4-FFF2-40B4-BE49-F238E27FC236}">
                  <a16:creationId xmlns:a16="http://schemas.microsoft.com/office/drawing/2014/main" id="{31767E6F-0472-8B0E-EEEC-C3510BA414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56136" y="3561345"/>
              <a:ext cx="372979" cy="1588"/>
            </a:xfrm>
            <a:prstGeom prst="straightConnector1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</p:cxnSp>
        <p:grpSp>
          <p:nvGrpSpPr>
            <p:cNvPr id="11" name="Group 31">
              <a:extLst>
                <a:ext uri="{FF2B5EF4-FFF2-40B4-BE49-F238E27FC236}">
                  <a16:creationId xmlns:a16="http://schemas.microsoft.com/office/drawing/2014/main" id="{A5F3F9E1-0A5F-192D-2AE8-163D3C02B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3342" y="3031960"/>
              <a:ext cx="3920122" cy="1084062"/>
              <a:chOff x="1766" y="2371"/>
              <a:chExt cx="3994" cy="870"/>
            </a:xfrm>
          </p:grpSpPr>
          <p:sp>
            <p:nvSpPr>
              <p:cNvPr id="14" name="Text Box 32">
                <a:extLst>
                  <a:ext uri="{FF2B5EF4-FFF2-40B4-BE49-F238E27FC236}">
                    <a16:creationId xmlns:a16="http://schemas.microsoft.com/office/drawing/2014/main" id="{DCB5B711-B1B4-2EA5-A042-059CDFDEE1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4" y="2922"/>
                <a:ext cx="123" cy="130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-f</a:t>
                </a:r>
                <a:r>
                  <a:rPr lang="pt-BR" sz="105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c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" name="Text Box 33">
                <a:extLst>
                  <a:ext uri="{FF2B5EF4-FFF2-40B4-BE49-F238E27FC236}">
                    <a16:creationId xmlns:a16="http://schemas.microsoft.com/office/drawing/2014/main" id="{233016A1-386C-073C-FC07-7E7FD7E457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9" y="2928"/>
                <a:ext cx="241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  <a:sym typeface="Symbol" pitchFamily="18" charset="2"/>
                  </a:rPr>
                  <a:t>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" name="Text Box 34">
                <a:extLst>
                  <a:ext uri="{FF2B5EF4-FFF2-40B4-BE49-F238E27FC236}">
                    <a16:creationId xmlns:a16="http://schemas.microsoft.com/office/drawing/2014/main" id="{C02B8D17-62FE-B5D2-0FE5-297B6F3366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2" y="2928"/>
                <a:ext cx="82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</a:t>
                </a:r>
                <a:r>
                  <a:rPr lang="pt-BR" sz="105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c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7" name="Line 35">
                <a:extLst>
                  <a:ext uri="{FF2B5EF4-FFF2-40B4-BE49-F238E27FC236}">
                    <a16:creationId xmlns:a16="http://schemas.microsoft.com/office/drawing/2014/main" id="{7B656817-44BE-BA00-1E2F-8F2A97CC6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8" y="2857"/>
                <a:ext cx="0" cy="41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18" name="Text Box 36">
                <a:extLst>
                  <a:ext uri="{FF2B5EF4-FFF2-40B4-BE49-F238E27FC236}">
                    <a16:creationId xmlns:a16="http://schemas.microsoft.com/office/drawing/2014/main" id="{54424994-7BC5-56DA-4A44-CE7A44B128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9" y="2928"/>
                <a:ext cx="63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0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9" name="Text Box 37">
                <a:extLst>
                  <a:ext uri="{FF2B5EF4-FFF2-40B4-BE49-F238E27FC236}">
                    <a16:creationId xmlns:a16="http://schemas.microsoft.com/office/drawing/2014/main" id="{60CE49D7-61CA-9E55-A826-32B363D1F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2371"/>
                <a:ext cx="270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S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( </a:t>
                </a:r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)</a:t>
                </a:r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  </a:t>
                </a:r>
              </a:p>
            </p:txBody>
          </p:sp>
          <p:sp>
            <p:nvSpPr>
              <p:cNvPr id="20" name="Line 38">
                <a:extLst>
                  <a:ext uri="{FF2B5EF4-FFF2-40B4-BE49-F238E27FC236}">
                    <a16:creationId xmlns:a16="http://schemas.microsoft.com/office/drawing/2014/main" id="{01006994-9655-0E7C-F9C9-548CC6531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2899"/>
                <a:ext cx="1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1" name="Line 39">
                <a:extLst>
                  <a:ext uri="{FF2B5EF4-FFF2-40B4-BE49-F238E27FC236}">
                    <a16:creationId xmlns:a16="http://schemas.microsoft.com/office/drawing/2014/main" id="{C5AC700E-BAC9-D034-17B8-AF50E48E4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2890"/>
                <a:ext cx="105" cy="2"/>
              </a:xfrm>
              <a:prstGeom prst="line">
                <a:avLst/>
              </a:prstGeom>
              <a:noFill/>
              <a:ln w="38100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2" name="Line 40">
                <a:extLst>
                  <a:ext uri="{FF2B5EF4-FFF2-40B4-BE49-F238E27FC236}">
                    <a16:creationId xmlns:a16="http://schemas.microsoft.com/office/drawing/2014/main" id="{EF79274E-36D2-CB34-3578-EF7E01BFA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5" y="2882"/>
                <a:ext cx="125" cy="6"/>
              </a:xfrm>
              <a:prstGeom prst="line">
                <a:avLst/>
              </a:prstGeom>
              <a:noFill/>
              <a:ln w="38100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3" name="Line 41">
                <a:extLst>
                  <a:ext uri="{FF2B5EF4-FFF2-40B4-BE49-F238E27FC236}">
                    <a16:creationId xmlns:a16="http://schemas.microsoft.com/office/drawing/2014/main" id="{EDAA69D2-5686-7380-B344-50E6EC169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3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4" name="Line 42">
                <a:extLst>
                  <a:ext uri="{FF2B5EF4-FFF2-40B4-BE49-F238E27FC236}">
                    <a16:creationId xmlns:a16="http://schemas.microsoft.com/office/drawing/2014/main" id="{28BA0015-E38F-7CBB-0C57-0F24EC57C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1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5" name="Line 43">
                <a:extLst>
                  <a:ext uri="{FF2B5EF4-FFF2-40B4-BE49-F238E27FC236}">
                    <a16:creationId xmlns:a16="http://schemas.microsoft.com/office/drawing/2014/main" id="{C6898B63-A7BB-F1D2-870E-0DB503251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5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6" name="Line 44">
                <a:extLst>
                  <a:ext uri="{FF2B5EF4-FFF2-40B4-BE49-F238E27FC236}">
                    <a16:creationId xmlns:a16="http://schemas.microsoft.com/office/drawing/2014/main" id="{F229B7CC-4FA4-5A7A-CE41-BE512BF0B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3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7" name="Freeform 45">
                <a:extLst>
                  <a:ext uri="{FF2B5EF4-FFF2-40B4-BE49-F238E27FC236}">
                    <a16:creationId xmlns:a16="http://schemas.microsoft.com/office/drawing/2014/main" id="{FA8C4920-4D91-1F41-B345-680F1D0C7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8" y="2483"/>
                <a:ext cx="1204" cy="414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304" y="408"/>
                  </a:cxn>
                  <a:cxn ang="0">
                    <a:pos x="608" y="64"/>
                  </a:cxn>
                  <a:cxn ang="0">
                    <a:pos x="864" y="80"/>
                  </a:cxn>
                  <a:cxn ang="0">
                    <a:pos x="1152" y="56"/>
                  </a:cxn>
                  <a:cxn ang="0">
                    <a:pos x="1424" y="416"/>
                  </a:cxn>
                  <a:cxn ang="0">
                    <a:pos x="1720" y="760"/>
                  </a:cxn>
                </a:cxnLst>
                <a:rect l="0" t="0" r="r" b="b"/>
                <a:pathLst>
                  <a:path w="1720" h="760">
                    <a:moveTo>
                      <a:pt x="0" y="760"/>
                    </a:moveTo>
                    <a:cubicBezTo>
                      <a:pt x="101" y="642"/>
                      <a:pt x="203" y="524"/>
                      <a:pt x="304" y="408"/>
                    </a:cubicBezTo>
                    <a:cubicBezTo>
                      <a:pt x="405" y="292"/>
                      <a:pt x="515" y="119"/>
                      <a:pt x="608" y="64"/>
                    </a:cubicBezTo>
                    <a:cubicBezTo>
                      <a:pt x="701" y="9"/>
                      <a:pt x="773" y="81"/>
                      <a:pt x="864" y="80"/>
                    </a:cubicBezTo>
                    <a:cubicBezTo>
                      <a:pt x="955" y="79"/>
                      <a:pt x="1059" y="0"/>
                      <a:pt x="1152" y="56"/>
                    </a:cubicBezTo>
                    <a:cubicBezTo>
                      <a:pt x="1245" y="112"/>
                      <a:pt x="1329" y="299"/>
                      <a:pt x="1424" y="416"/>
                    </a:cubicBezTo>
                    <a:cubicBezTo>
                      <a:pt x="1519" y="533"/>
                      <a:pt x="1671" y="704"/>
                      <a:pt x="1720" y="760"/>
                    </a:cubicBezTo>
                  </a:path>
                </a:pathLst>
              </a:custGeom>
              <a:solidFill>
                <a:srgbClr val="CCFFCC"/>
              </a:solidFill>
              <a:ln w="38100" cmpd="sng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8" name="Line 46">
                <a:extLst>
                  <a:ext uri="{FF2B5EF4-FFF2-40B4-BE49-F238E27FC236}">
                    <a16:creationId xmlns:a16="http://schemas.microsoft.com/office/drawing/2014/main" id="{570E2F8B-9A62-168A-AAED-9AF727619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73" y="2860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grpSp>
            <p:nvGrpSpPr>
              <p:cNvPr id="29" name="Group 47">
                <a:extLst>
                  <a:ext uri="{FF2B5EF4-FFF2-40B4-BE49-F238E27FC236}">
                    <a16:creationId xmlns:a16="http://schemas.microsoft.com/office/drawing/2014/main" id="{A86FB334-3C1B-0A93-B9C8-4AC97A0822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5" y="3111"/>
                <a:ext cx="1188" cy="130"/>
                <a:chOff x="1865" y="3111"/>
                <a:chExt cx="1188" cy="130"/>
              </a:xfrm>
            </p:grpSpPr>
            <p:sp>
              <p:nvSpPr>
                <p:cNvPr id="41" name="Line 48">
                  <a:extLst>
                    <a:ext uri="{FF2B5EF4-FFF2-40B4-BE49-F238E27FC236}">
                      <a16:creationId xmlns:a16="http://schemas.microsoft.com/office/drawing/2014/main" id="{72A80107-9F9B-2080-24F8-D1E9841614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  <p:sp>
              <p:nvSpPr>
                <p:cNvPr id="42" name="Text Box 49">
                  <a:extLst>
                    <a:ext uri="{FF2B5EF4-FFF2-40B4-BE49-F238E27FC236}">
                      <a16:creationId xmlns:a16="http://schemas.microsoft.com/office/drawing/2014/main" id="{9B623C55-5543-75EE-F72A-A14F0AE748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9" y="3111"/>
                  <a:ext cx="196" cy="1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pPr algn="ctr"/>
                  <a:r>
                    <a:rPr lang="pt-BR" sz="1050" i="1">
                      <a:solidFill>
                        <a:srgbClr val="0000FF"/>
                      </a:solidFill>
                      <a:latin typeface="Times New Roman" pitchFamily="18" charset="0"/>
                    </a:rPr>
                    <a:t>B</a:t>
                  </a:r>
                  <a:r>
                    <a:rPr lang="pt-BR" sz="1050" i="1" baseline="-25000">
                      <a:solidFill>
                        <a:srgbClr val="0000FF"/>
                      </a:solidFill>
                      <a:latin typeface="Times New Roman" pitchFamily="18" charset="0"/>
                    </a:rPr>
                    <a:t>T</a:t>
                  </a:r>
                  <a:endParaRPr lang="pt-BR" sz="1050" i="1">
                    <a:solidFill>
                      <a:srgbClr val="0000FF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" name="Line 50">
                  <a:extLst>
                    <a:ext uri="{FF2B5EF4-FFF2-40B4-BE49-F238E27FC236}">
                      <a16:creationId xmlns:a16="http://schemas.microsoft.com/office/drawing/2014/main" id="{98A9D5D2-F672-E9F4-352D-AD3BD711A0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</p:grpSp>
          <p:grpSp>
            <p:nvGrpSpPr>
              <p:cNvPr id="30" name="Group 51">
                <a:extLst>
                  <a:ext uri="{FF2B5EF4-FFF2-40B4-BE49-F238E27FC236}">
                    <a16:creationId xmlns:a16="http://schemas.microsoft.com/office/drawing/2014/main" id="{7304B043-E667-4B41-2CA9-0A3094748C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3111"/>
                <a:ext cx="1188" cy="130"/>
                <a:chOff x="1865" y="3111"/>
                <a:chExt cx="1188" cy="130"/>
              </a:xfrm>
            </p:grpSpPr>
            <p:sp>
              <p:nvSpPr>
                <p:cNvPr id="38" name="Line 52">
                  <a:extLst>
                    <a:ext uri="{FF2B5EF4-FFF2-40B4-BE49-F238E27FC236}">
                      <a16:creationId xmlns:a16="http://schemas.microsoft.com/office/drawing/2014/main" id="{11FB8C1B-0ADA-4F45-BA20-9E4E13E916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  <p:sp>
              <p:nvSpPr>
                <p:cNvPr id="39" name="Text Box 53">
                  <a:extLst>
                    <a:ext uri="{FF2B5EF4-FFF2-40B4-BE49-F238E27FC236}">
                      <a16:creationId xmlns:a16="http://schemas.microsoft.com/office/drawing/2014/main" id="{2A465D8E-B2CA-874D-6FF2-E402812C05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9" y="3111"/>
                  <a:ext cx="196" cy="1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pPr algn="ctr"/>
                  <a:r>
                    <a:rPr lang="pt-BR" sz="1050" i="1">
                      <a:solidFill>
                        <a:srgbClr val="0000FF"/>
                      </a:solidFill>
                      <a:latin typeface="Times New Roman" pitchFamily="18" charset="0"/>
                    </a:rPr>
                    <a:t>B</a:t>
                  </a:r>
                  <a:r>
                    <a:rPr lang="pt-BR" sz="1050" i="1" baseline="-25000">
                      <a:solidFill>
                        <a:srgbClr val="0000FF"/>
                      </a:solidFill>
                      <a:latin typeface="Times New Roman" pitchFamily="18" charset="0"/>
                    </a:rPr>
                    <a:t>T</a:t>
                  </a:r>
                  <a:endParaRPr lang="pt-BR" sz="1050" i="1">
                    <a:solidFill>
                      <a:srgbClr val="0000FF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" name="Line 54">
                  <a:extLst>
                    <a:ext uri="{FF2B5EF4-FFF2-40B4-BE49-F238E27FC236}">
                      <a16:creationId xmlns:a16="http://schemas.microsoft.com/office/drawing/2014/main" id="{CB8D3A1D-3044-D496-016E-BF07BC12B0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</p:grpSp>
          <p:sp>
            <p:nvSpPr>
              <p:cNvPr id="31" name="Freeform 55">
                <a:extLst>
                  <a:ext uri="{FF2B5EF4-FFF2-40B4-BE49-F238E27FC236}">
                    <a16:creationId xmlns:a16="http://schemas.microsoft.com/office/drawing/2014/main" id="{1D75C87A-2C07-CDB6-D47C-5B7B88EA3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2859"/>
                <a:ext cx="618" cy="69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384" y="36"/>
                  </a:cxn>
                  <a:cxn ang="0">
                    <a:pos x="423" y="0"/>
                  </a:cxn>
                  <a:cxn ang="0">
                    <a:pos x="438" y="69"/>
                  </a:cxn>
                  <a:cxn ang="0">
                    <a:pos x="465" y="33"/>
                  </a:cxn>
                  <a:cxn ang="0">
                    <a:pos x="618" y="33"/>
                  </a:cxn>
                </a:cxnLst>
                <a:rect l="0" t="0" r="r" b="b"/>
                <a:pathLst>
                  <a:path w="618" h="69">
                    <a:moveTo>
                      <a:pt x="0" y="36"/>
                    </a:moveTo>
                    <a:lnTo>
                      <a:pt x="384" y="36"/>
                    </a:lnTo>
                    <a:lnTo>
                      <a:pt x="423" y="0"/>
                    </a:lnTo>
                    <a:lnTo>
                      <a:pt x="438" y="69"/>
                    </a:lnTo>
                    <a:lnTo>
                      <a:pt x="465" y="33"/>
                    </a:lnTo>
                    <a:lnTo>
                      <a:pt x="618" y="33"/>
                    </a:lnTo>
                  </a:path>
                </a:pathLst>
              </a:custGeom>
              <a:noFill/>
              <a:ln w="38100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2" name="Freeform 56">
                <a:extLst>
                  <a:ext uri="{FF2B5EF4-FFF2-40B4-BE49-F238E27FC236}">
                    <a16:creationId xmlns:a16="http://schemas.microsoft.com/office/drawing/2014/main" id="{162F8F42-DD38-B73D-7507-B2B89A02529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679" y="2861"/>
                <a:ext cx="618" cy="69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384" y="36"/>
                  </a:cxn>
                  <a:cxn ang="0">
                    <a:pos x="423" y="0"/>
                  </a:cxn>
                  <a:cxn ang="0">
                    <a:pos x="438" y="69"/>
                  </a:cxn>
                  <a:cxn ang="0">
                    <a:pos x="465" y="33"/>
                  </a:cxn>
                  <a:cxn ang="0">
                    <a:pos x="618" y="33"/>
                  </a:cxn>
                </a:cxnLst>
                <a:rect l="0" t="0" r="r" b="b"/>
                <a:pathLst>
                  <a:path w="618" h="69">
                    <a:moveTo>
                      <a:pt x="0" y="36"/>
                    </a:moveTo>
                    <a:lnTo>
                      <a:pt x="384" y="36"/>
                    </a:lnTo>
                    <a:lnTo>
                      <a:pt x="423" y="0"/>
                    </a:lnTo>
                    <a:lnTo>
                      <a:pt x="438" y="69"/>
                    </a:lnTo>
                    <a:lnTo>
                      <a:pt x="465" y="33"/>
                    </a:lnTo>
                    <a:lnTo>
                      <a:pt x="618" y="33"/>
                    </a:lnTo>
                  </a:path>
                </a:pathLst>
              </a:custGeom>
              <a:noFill/>
              <a:ln w="38100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3" name="Line 57">
                <a:extLst>
                  <a:ext uri="{FF2B5EF4-FFF2-40B4-BE49-F238E27FC236}">
                    <a16:creationId xmlns:a16="http://schemas.microsoft.com/office/drawing/2014/main" id="{2C39EE76-90FC-7789-19D6-D716795B1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7" y="2394"/>
                <a:ext cx="0" cy="54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4" name="Line 58">
                <a:extLst>
                  <a:ext uri="{FF2B5EF4-FFF2-40B4-BE49-F238E27FC236}">
                    <a16:creationId xmlns:a16="http://schemas.microsoft.com/office/drawing/2014/main" id="{55DEAA1A-B50E-0D98-C18B-3E0ED9C9F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2" y="2899"/>
                <a:ext cx="1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5" name="Freeform 59">
                <a:extLst>
                  <a:ext uri="{FF2B5EF4-FFF2-40B4-BE49-F238E27FC236}">
                    <a16:creationId xmlns:a16="http://schemas.microsoft.com/office/drawing/2014/main" id="{26D04496-B94D-61E0-5039-056FDFBBD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2483"/>
                <a:ext cx="1203" cy="414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304" y="408"/>
                  </a:cxn>
                  <a:cxn ang="0">
                    <a:pos x="608" y="64"/>
                  </a:cxn>
                  <a:cxn ang="0">
                    <a:pos x="864" y="80"/>
                  </a:cxn>
                  <a:cxn ang="0">
                    <a:pos x="1152" y="56"/>
                  </a:cxn>
                  <a:cxn ang="0">
                    <a:pos x="1424" y="416"/>
                  </a:cxn>
                  <a:cxn ang="0">
                    <a:pos x="1720" y="760"/>
                  </a:cxn>
                </a:cxnLst>
                <a:rect l="0" t="0" r="r" b="b"/>
                <a:pathLst>
                  <a:path w="1720" h="760">
                    <a:moveTo>
                      <a:pt x="0" y="760"/>
                    </a:moveTo>
                    <a:cubicBezTo>
                      <a:pt x="101" y="642"/>
                      <a:pt x="203" y="524"/>
                      <a:pt x="304" y="408"/>
                    </a:cubicBezTo>
                    <a:cubicBezTo>
                      <a:pt x="405" y="292"/>
                      <a:pt x="515" y="119"/>
                      <a:pt x="608" y="64"/>
                    </a:cubicBezTo>
                    <a:cubicBezTo>
                      <a:pt x="701" y="9"/>
                      <a:pt x="773" y="81"/>
                      <a:pt x="864" y="80"/>
                    </a:cubicBezTo>
                    <a:cubicBezTo>
                      <a:pt x="955" y="79"/>
                      <a:pt x="1059" y="0"/>
                      <a:pt x="1152" y="56"/>
                    </a:cubicBezTo>
                    <a:cubicBezTo>
                      <a:pt x="1245" y="112"/>
                      <a:pt x="1329" y="299"/>
                      <a:pt x="1424" y="416"/>
                    </a:cubicBezTo>
                    <a:cubicBezTo>
                      <a:pt x="1519" y="533"/>
                      <a:pt x="1671" y="704"/>
                      <a:pt x="1720" y="760"/>
                    </a:cubicBezTo>
                  </a:path>
                </a:pathLst>
              </a:custGeom>
              <a:solidFill>
                <a:srgbClr val="CCFFCC"/>
              </a:solidFill>
              <a:ln w="38100" cmpd="sng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6" name="Line 60">
                <a:extLst>
                  <a:ext uri="{FF2B5EF4-FFF2-40B4-BE49-F238E27FC236}">
                    <a16:creationId xmlns:a16="http://schemas.microsoft.com/office/drawing/2014/main" id="{877DC49C-E720-AE92-F29F-CA54957B8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6" y="2857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7" name="Line 61">
                <a:extLst>
                  <a:ext uri="{FF2B5EF4-FFF2-40B4-BE49-F238E27FC236}">
                    <a16:creationId xmlns:a16="http://schemas.microsoft.com/office/drawing/2014/main" id="{AFA1FDE2-F732-21F6-A55B-A62E1948A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2" y="2854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</p:grp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596A1C10-30F1-94B8-B273-3AFB9FBD9BDE}"/>
                </a:ext>
              </a:extLst>
            </p:cNvPr>
            <p:cNvSpPr/>
            <p:nvPr/>
          </p:nvSpPr>
          <p:spPr bwMode="auto">
            <a:xfrm>
              <a:off x="4495827" y="3224459"/>
              <a:ext cx="1612231" cy="613610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chemeClr val="tx1"/>
                  </a:solidFill>
                  <a:latin typeface="Nokia Sans Wide" pitchFamily="34" charset="0"/>
                </a:rPr>
                <a:t>Modulador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6203D3D9-9045-3DC4-7807-3FD61F7FD0EC}"/>
                </a:ext>
              </a:extLst>
            </p:cNvPr>
            <p:cNvSpPr txBox="1"/>
            <p:nvPr/>
          </p:nvSpPr>
          <p:spPr>
            <a:xfrm>
              <a:off x="1926283" y="3308684"/>
              <a:ext cx="1697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01100101110 ...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513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953DD-3443-D7F0-D8A4-B2F4A43A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</a:t>
            </a:r>
            <a:br>
              <a:rPr lang="pt-BR" dirty="0"/>
            </a:br>
            <a:r>
              <a:rPr lang="pt-BR" dirty="0"/>
              <a:t>Para Que?</a:t>
            </a:r>
          </a:p>
        </p:txBody>
      </p:sp>
      <p:sp>
        <p:nvSpPr>
          <p:cNvPr id="108547" name="Rectangle 3"/>
          <p:cNvSpPr txBox="1">
            <a:spLocks noChangeArrowheads="1"/>
          </p:cNvSpPr>
          <p:nvPr/>
        </p:nvSpPr>
        <p:spPr>
          <a:xfrm>
            <a:off x="912628" y="1253331"/>
            <a:ext cx="1085761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Para </a:t>
            </a:r>
            <a:r>
              <a:rPr lang="en-US" dirty="0" err="1"/>
              <a:t>facilitar</a:t>
            </a:r>
            <a:r>
              <a:rPr lang="en-US" dirty="0"/>
              <a:t> a </a:t>
            </a:r>
            <a:r>
              <a:rPr lang="en-US" dirty="0" err="1"/>
              <a:t>transmissão</a:t>
            </a:r>
            <a:r>
              <a:rPr lang="en-US" dirty="0"/>
              <a:t> no </a:t>
            </a:r>
            <a:r>
              <a:rPr lang="en-US" dirty="0" err="1"/>
              <a:t>meio</a:t>
            </a:r>
            <a:r>
              <a:rPr lang="en-US" dirty="0"/>
              <a:t> </a:t>
            </a:r>
            <a:r>
              <a:rPr lang="en-US" dirty="0" err="1"/>
              <a:t>físico</a:t>
            </a:r>
            <a:endParaRPr lang="en-US" dirty="0"/>
          </a:p>
          <a:p>
            <a:pPr lvl="1"/>
            <a:r>
              <a:rPr lang="en-US" dirty="0"/>
              <a:t>Em </a:t>
            </a:r>
            <a:r>
              <a:rPr lang="en-US" dirty="0" err="1"/>
              <a:t>transmissão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fio</a:t>
            </a:r>
            <a:r>
              <a:rPr lang="en-US" dirty="0"/>
              <a:t>, </a:t>
            </a:r>
            <a:r>
              <a:rPr lang="en-US" dirty="0" err="1"/>
              <a:t>Tamanho</a:t>
            </a:r>
            <a:r>
              <a:rPr lang="en-US" dirty="0"/>
              <a:t> de </a:t>
            </a:r>
            <a:r>
              <a:rPr lang="en-US" dirty="0" err="1"/>
              <a:t>antenas</a:t>
            </a:r>
            <a:r>
              <a:rPr lang="en-US" dirty="0"/>
              <a:t> </a:t>
            </a:r>
            <a:r>
              <a:rPr lang="en-US" dirty="0" err="1"/>
              <a:t>limitado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comprimento</a:t>
            </a:r>
            <a:r>
              <a:rPr lang="en-US" dirty="0"/>
              <a:t> de </a:t>
            </a:r>
            <a:r>
              <a:rPr lang="en-US" dirty="0" err="1"/>
              <a:t>onda</a:t>
            </a:r>
            <a:endParaRPr lang="en-US" dirty="0"/>
          </a:p>
          <a:p>
            <a:pPr lvl="1"/>
            <a:r>
              <a:rPr lang="en-US" dirty="0"/>
              <a:t>Em </a:t>
            </a:r>
            <a:r>
              <a:rPr lang="en-US" dirty="0" err="1"/>
              <a:t>fibras</a:t>
            </a:r>
            <a:r>
              <a:rPr lang="en-US" dirty="0"/>
              <a:t> </a:t>
            </a:r>
            <a:r>
              <a:rPr lang="en-US" dirty="0" err="1"/>
              <a:t>ópticas</a:t>
            </a:r>
            <a:r>
              <a:rPr lang="en-US" dirty="0"/>
              <a:t>, para </a:t>
            </a:r>
            <a:r>
              <a:rPr lang="en-US" dirty="0" err="1"/>
              <a:t>gerarmos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frequência</a:t>
            </a:r>
            <a:r>
              <a:rPr lang="en-US" dirty="0"/>
              <a:t> da luz </a:t>
            </a:r>
            <a:r>
              <a:rPr lang="en-US" dirty="0" err="1"/>
              <a:t>visível</a:t>
            </a:r>
            <a:r>
              <a:rPr lang="en-US" dirty="0"/>
              <a:t> ( entre </a:t>
            </a:r>
            <a:r>
              <a:rPr lang="pt-BR" dirty="0"/>
              <a:t>4,3 x 10</a:t>
            </a:r>
            <a:r>
              <a:rPr lang="pt-BR" baseline="30000" dirty="0"/>
              <a:t>14</a:t>
            </a:r>
            <a:r>
              <a:rPr lang="pt-BR" dirty="0"/>
              <a:t>  e 7.5 x 10</a:t>
            </a:r>
            <a:r>
              <a:rPr lang="pt-BR" baseline="30000" dirty="0"/>
              <a:t>14 </a:t>
            </a:r>
            <a:r>
              <a:rPr lang="pt-BR" dirty="0"/>
              <a:t>Hz)</a:t>
            </a:r>
            <a:endParaRPr lang="en-US" dirty="0"/>
          </a:p>
          <a:p>
            <a:r>
              <a:rPr lang="en-US" dirty="0"/>
              <a:t>Para </a:t>
            </a:r>
            <a:r>
              <a:rPr lang="en-US" dirty="0" err="1"/>
              <a:t>transmitirmos</a:t>
            </a:r>
            <a:r>
              <a:rPr lang="en-US" dirty="0"/>
              <a:t> </a:t>
            </a:r>
            <a:r>
              <a:rPr lang="en-US" dirty="0" err="1"/>
              <a:t>vários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no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meio</a:t>
            </a:r>
            <a:r>
              <a:rPr lang="en-US" dirty="0"/>
              <a:t> </a:t>
            </a:r>
            <a:r>
              <a:rPr lang="en-US" dirty="0" err="1"/>
              <a:t>físico</a:t>
            </a:r>
            <a:r>
              <a:rPr lang="en-US" dirty="0"/>
              <a:t> (</a:t>
            </a:r>
            <a:r>
              <a:rPr lang="en-US" dirty="0" err="1"/>
              <a:t>multiplexação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579484" y="4042051"/>
            <a:ext cx="5221706" cy="2116305"/>
            <a:chOff x="438" y="1386"/>
            <a:chExt cx="5040" cy="2340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438" y="1398"/>
              <a:ext cx="576" cy="552"/>
            </a:xfrm>
            <a:prstGeom prst="flowChartProcess">
              <a:avLst/>
            </a:prstGeom>
            <a:solidFill>
              <a:srgbClr val="99FFCC"/>
            </a:solidFill>
            <a:ln w="2857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Fonte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1</a:t>
              </a: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438" y="2286"/>
              <a:ext cx="576" cy="552"/>
            </a:xfrm>
            <a:prstGeom prst="flowChartProcess">
              <a:avLst/>
            </a:prstGeom>
            <a:solidFill>
              <a:srgbClr val="99CCFF"/>
            </a:solidFill>
            <a:ln w="28575">
              <a:solidFill>
                <a:srgbClr val="3366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Fonte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2</a:t>
              </a: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438" y="3174"/>
              <a:ext cx="576" cy="552"/>
            </a:xfrm>
            <a:prstGeom prst="flowChartProcess">
              <a:avLst/>
            </a:prstGeom>
            <a:solidFill>
              <a:srgbClr val="FFFF99"/>
            </a:solidFill>
            <a:ln w="28575">
              <a:solidFill>
                <a:srgbClr val="FF99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Fonte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3</a:t>
              </a:r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4434" y="1386"/>
              <a:ext cx="1044" cy="552"/>
            </a:xfrm>
            <a:prstGeom prst="flowChartProcess">
              <a:avLst/>
            </a:prstGeom>
            <a:solidFill>
              <a:srgbClr val="99FFCC"/>
            </a:solidFill>
            <a:ln w="2857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Destinatário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1</a:t>
              </a: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4434" y="2286"/>
              <a:ext cx="1044" cy="552"/>
            </a:xfrm>
            <a:prstGeom prst="flowChartProcess">
              <a:avLst/>
            </a:prstGeom>
            <a:solidFill>
              <a:srgbClr val="99CCFF"/>
            </a:solidFill>
            <a:ln w="28575">
              <a:solidFill>
                <a:srgbClr val="3366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Destinatário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2</a:t>
              </a:r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4434" y="3174"/>
              <a:ext cx="1044" cy="552"/>
            </a:xfrm>
            <a:prstGeom prst="flowChartProcess">
              <a:avLst/>
            </a:prstGeom>
            <a:solidFill>
              <a:srgbClr val="FFFF99"/>
            </a:solidFill>
            <a:ln w="28575">
              <a:solidFill>
                <a:srgbClr val="FF99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Destinatário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3</a:t>
              </a:r>
            </a:p>
          </p:txBody>
        </p:sp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>
              <a:off x="2166" y="2286"/>
              <a:ext cx="1044" cy="552"/>
            </a:xfrm>
            <a:prstGeom prst="flowChartProcess">
              <a:avLst/>
            </a:prstGeom>
            <a:solidFill>
              <a:srgbClr val="DDDDDD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pt-BR" sz="1400"/>
            </a:p>
            <a:p>
              <a:pPr algn="ctr">
                <a:spcBef>
                  <a:spcPct val="0"/>
                </a:spcBef>
              </a:pPr>
              <a:endParaRPr lang="pt-BR" sz="1400"/>
            </a:p>
          </p:txBody>
        </p:sp>
        <p:sp>
          <p:nvSpPr>
            <p:cNvPr id="12" name="AutoShape 10"/>
            <p:cNvSpPr>
              <a:spLocks noChangeArrowheads="1"/>
            </p:cNvSpPr>
            <p:nvPr/>
          </p:nvSpPr>
          <p:spPr bwMode="auto">
            <a:xfrm>
              <a:off x="1480" y="1818"/>
              <a:ext cx="396" cy="1488"/>
            </a:xfrm>
            <a:prstGeom prst="flowChartProcess">
              <a:avLst/>
            </a:prstGeom>
            <a:solidFill>
              <a:srgbClr val="CCFFFF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pt-BR" sz="1400"/>
            </a:p>
          </p:txBody>
        </p:sp>
        <p:sp>
          <p:nvSpPr>
            <p:cNvPr id="13" name="AutoShape 11"/>
            <p:cNvSpPr>
              <a:spLocks noChangeArrowheads="1"/>
            </p:cNvSpPr>
            <p:nvPr/>
          </p:nvSpPr>
          <p:spPr bwMode="auto">
            <a:xfrm>
              <a:off x="3592" y="1818"/>
              <a:ext cx="396" cy="1488"/>
            </a:xfrm>
            <a:prstGeom prst="flowChartProcess">
              <a:avLst/>
            </a:prstGeom>
            <a:solidFill>
              <a:srgbClr val="CCFFFF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pt-BR" sz="1400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1006" y="1679"/>
              <a:ext cx="658" cy="753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664" y="2432"/>
              <a:ext cx="2128" cy="0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3784" y="1679"/>
              <a:ext cx="646" cy="753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1006" y="2703"/>
              <a:ext cx="658" cy="7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V="1">
              <a:off x="1664" y="2703"/>
              <a:ext cx="212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H="1" flipV="1">
              <a:off x="3784" y="2703"/>
              <a:ext cx="652" cy="7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cxnSp>
          <p:nvCxnSpPr>
            <p:cNvPr id="20" name="AutoShape 18"/>
            <p:cNvCxnSpPr>
              <a:cxnSpLocks noChangeShapeType="1"/>
              <a:stCxn id="6" idx="3"/>
              <a:endCxn id="9" idx="1"/>
            </p:cNvCxnSpPr>
            <p:nvPr/>
          </p:nvCxnSpPr>
          <p:spPr bwMode="auto">
            <a:xfrm>
              <a:off x="1023" y="2562"/>
              <a:ext cx="3402" cy="0"/>
            </a:xfrm>
            <a:prstGeom prst="straightConnector1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/>
            </a:ln>
            <a:effectLst/>
          </p:spPr>
        </p:cxn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584" y="2432"/>
              <a:ext cx="184" cy="0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V="1">
              <a:off x="1244" y="3075"/>
              <a:ext cx="92" cy="11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V="1">
              <a:off x="2584" y="2703"/>
              <a:ext cx="18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4024" y="2979"/>
              <a:ext cx="184" cy="21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V="1">
              <a:off x="2584" y="2563"/>
              <a:ext cx="184" cy="0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4032" y="2563"/>
              <a:ext cx="184" cy="0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V="1">
              <a:off x="1152" y="2563"/>
              <a:ext cx="184" cy="0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2280" y="2008"/>
              <a:ext cx="808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pt-BR" sz="1400">
                  <a:solidFill>
                    <a:schemeClr val="accent2"/>
                  </a:solidFill>
                </a:rPr>
                <a:t>Canal</a:t>
              </a:r>
            </a:p>
          </p:txBody>
        </p:sp>
        <p:sp>
          <p:nvSpPr>
            <p:cNvPr id="29" name="Text Box 27"/>
            <p:cNvSpPr txBox="1">
              <a:spLocks noChangeArrowheads="1"/>
            </p:cNvSpPr>
            <p:nvPr/>
          </p:nvSpPr>
          <p:spPr bwMode="auto">
            <a:xfrm>
              <a:off x="1264" y="1519"/>
              <a:ext cx="893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pt-BR" sz="1400" dirty="0" err="1">
                  <a:solidFill>
                    <a:schemeClr val="accent2"/>
                  </a:solidFill>
                </a:rPr>
                <a:t>Multiplex</a:t>
              </a:r>
              <a:endParaRPr lang="pt-BR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3232" y="1527"/>
              <a:ext cx="1104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pt-BR" sz="1400">
                  <a:solidFill>
                    <a:schemeClr val="accent2"/>
                  </a:solidFill>
                </a:rPr>
                <a:t>Demultiplex</a:t>
              </a:r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1234" y="1936"/>
              <a:ext cx="94" cy="108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rot="-5465859">
              <a:off x="4104" y="1941"/>
              <a:ext cx="114" cy="100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193282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F3C29-B9CA-8122-3C72-BBE66FDD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Multiplexação</a:t>
            </a:r>
          </a:p>
        </p:txBody>
      </p:sp>
      <p:sp>
        <p:nvSpPr>
          <p:cNvPr id="109571" name="Rectangle 3"/>
          <p:cNvSpPr txBox="1">
            <a:spLocks noChangeArrowheads="1"/>
          </p:cNvSpPr>
          <p:nvPr/>
        </p:nvSpPr>
        <p:spPr>
          <a:xfrm>
            <a:off x="838200" y="1538546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Transmissão</a:t>
            </a:r>
            <a:r>
              <a:rPr lang="en-US" dirty="0"/>
              <a:t> de </a:t>
            </a:r>
            <a:r>
              <a:rPr lang="en-US" dirty="0" err="1"/>
              <a:t>vários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no </a:t>
            </a:r>
            <a:r>
              <a:rPr lang="en-US" dirty="0" err="1"/>
              <a:t>mesmo</a:t>
            </a:r>
            <a:r>
              <a:rPr lang="en-US" dirty="0"/>
              <a:t> canal</a:t>
            </a:r>
          </a:p>
          <a:p>
            <a:r>
              <a:rPr lang="en-US" dirty="0"/>
              <a:t>FDM (Frequency Division Multiplexing)</a:t>
            </a:r>
          </a:p>
          <a:p>
            <a:pPr lvl="1"/>
            <a:endParaRPr lang="en-US" dirty="0"/>
          </a:p>
          <a:p>
            <a:pPr lvl="1">
              <a:spcAft>
                <a:spcPct val="30000"/>
              </a:spcAft>
            </a:pP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banda</a:t>
            </a:r>
            <a:r>
              <a:rPr lang="en-US" dirty="0"/>
              <a:t> base </a:t>
            </a:r>
            <a:r>
              <a:rPr lang="en-US" dirty="0" err="1"/>
              <a:t>modulados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portadoras</a:t>
            </a:r>
            <a:r>
              <a:rPr lang="en-US" dirty="0"/>
              <a:t> </a:t>
            </a:r>
            <a:r>
              <a:rPr lang="en-US" dirty="0" err="1"/>
              <a:t>diferentes</a:t>
            </a:r>
            <a:endParaRPr lang="en-US" dirty="0"/>
          </a:p>
          <a:p>
            <a:pPr lvl="1">
              <a:spcAft>
                <a:spcPct val="30000"/>
              </a:spcAft>
            </a:pPr>
            <a:r>
              <a:rPr lang="en-US" dirty="0"/>
              <a:t>Todos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dirty="0" err="1"/>
              <a:t>transmitidos</a:t>
            </a:r>
            <a:r>
              <a:rPr lang="en-US" dirty="0"/>
              <a:t> </a:t>
            </a:r>
            <a:r>
              <a:rPr lang="en-US" dirty="0" err="1"/>
              <a:t>simultaneamente</a:t>
            </a:r>
            <a:endParaRPr lang="en-US" dirty="0"/>
          </a:p>
          <a:p>
            <a:r>
              <a:rPr lang="en-US" dirty="0"/>
              <a:t>TDM (Time division multiplexing)</a:t>
            </a:r>
          </a:p>
          <a:p>
            <a:endParaRPr lang="en-US" dirty="0"/>
          </a:p>
          <a:p>
            <a:pPr lvl="1">
              <a:spcAft>
                <a:spcPct val="50000"/>
              </a:spcAft>
            </a:pPr>
            <a:r>
              <a:rPr lang="en-US" dirty="0"/>
              <a:t>Uma </a:t>
            </a:r>
            <a:r>
              <a:rPr lang="en-US" dirty="0" err="1"/>
              <a:t>só</a:t>
            </a:r>
            <a:r>
              <a:rPr lang="en-US" dirty="0"/>
              <a:t> </a:t>
            </a:r>
            <a:r>
              <a:rPr lang="en-US" dirty="0" err="1"/>
              <a:t>portadora</a:t>
            </a:r>
            <a:r>
              <a:rPr lang="en-US" dirty="0"/>
              <a:t> para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banda</a:t>
            </a:r>
            <a:r>
              <a:rPr lang="en-US" dirty="0"/>
              <a:t> base</a:t>
            </a:r>
          </a:p>
          <a:p>
            <a:pPr lvl="1">
              <a:spcAft>
                <a:spcPct val="50000"/>
              </a:spcAft>
            </a:pP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dirty="0" err="1"/>
              <a:t>transmitidos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intervalos</a:t>
            </a:r>
            <a:r>
              <a:rPr lang="en-US" dirty="0"/>
              <a:t> de tempo </a:t>
            </a:r>
            <a:r>
              <a:rPr lang="en-US" dirty="0" err="1"/>
              <a:t>diferentes</a:t>
            </a:r>
            <a:endParaRPr lang="en-US" dirty="0"/>
          </a:p>
          <a:p>
            <a:pPr lvl="1">
              <a:spcAft>
                <a:spcPct val="50000"/>
              </a:spcAft>
            </a:pPr>
            <a:r>
              <a:rPr lang="en-US" dirty="0" err="1"/>
              <a:t>Aplica</a:t>
            </a:r>
            <a:r>
              <a:rPr lang="en-US" dirty="0"/>
              <a:t>-se à </a:t>
            </a:r>
            <a:r>
              <a:rPr lang="en-US" dirty="0" err="1"/>
              <a:t>transmissão</a:t>
            </a:r>
            <a:r>
              <a:rPr lang="en-US" dirty="0"/>
              <a:t> digital</a:t>
            </a:r>
          </a:p>
          <a:p>
            <a:r>
              <a:rPr lang="en-US" dirty="0"/>
              <a:t>Podemos </a:t>
            </a:r>
            <a:r>
              <a:rPr lang="en-US" dirty="0" err="1"/>
              <a:t>combinar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dois</a:t>
            </a:r>
            <a:r>
              <a:rPr lang="en-US" dirty="0"/>
              <a:t> </a:t>
            </a:r>
            <a:r>
              <a:rPr lang="en-US" dirty="0" err="1"/>
              <a:t>métodos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2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4D469-726A-D801-7339-BFF3A332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Quantidade de Informação</a:t>
            </a:r>
            <a:br>
              <a:rPr lang="pt-BR" dirty="0"/>
            </a:br>
            <a:r>
              <a:rPr lang="pt-BR" dirty="0"/>
              <a:t>Métricas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97BF6AB0-810B-0622-3A40-EA78B1836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155" y="1536174"/>
            <a:ext cx="9210896" cy="3785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54000" rIns="54000">
            <a:spAutoFit/>
          </a:bodyPr>
          <a:lstStyle/>
          <a:p>
            <a:pPr marL="266700" indent="-266700">
              <a:buClr>
                <a:srgbClr val="FFFF00"/>
              </a:buClr>
              <a:buFont typeface="Wingdings" pitchFamily="2" charset="2"/>
              <a:buChar char="§"/>
            </a:pPr>
            <a:r>
              <a:rPr lang="pt-BR" sz="2400" dirty="0"/>
              <a:t>Mensagens analógicas:</a:t>
            </a:r>
          </a:p>
          <a:p>
            <a:pPr marL="723900" lvl="1" indent="-266700">
              <a:buClr>
                <a:srgbClr val="FFFF00"/>
              </a:buClr>
              <a:buFont typeface="Wingdings" pitchFamily="2" charset="2"/>
              <a:buChar char="§"/>
            </a:pPr>
            <a:r>
              <a:rPr lang="pt-BR" sz="2400" dirty="0"/>
              <a:t>largura da banda básica ocupada pelo sinal-mensagem</a:t>
            </a:r>
          </a:p>
          <a:p>
            <a:pPr marL="723900" lvl="1" indent="-266700">
              <a:buClr>
                <a:srgbClr val="FFFF00"/>
              </a:buClr>
              <a:buFont typeface="Wingdings" pitchFamily="2" charset="2"/>
              <a:buChar char="§"/>
            </a:pPr>
            <a:r>
              <a:rPr lang="pt-BR" sz="2400" dirty="0"/>
              <a:t>Ex. sinal de vídeo tem banda maior que sinal de áudio</a:t>
            </a:r>
          </a:p>
          <a:p>
            <a:pPr marL="723900" lvl="1" indent="-266700">
              <a:buClr>
                <a:srgbClr val="FFFF00"/>
              </a:buClr>
              <a:buFont typeface="Wingdings" pitchFamily="2" charset="2"/>
              <a:buChar char="§"/>
            </a:pPr>
            <a:endParaRPr lang="pt-BR" sz="2400" dirty="0"/>
          </a:p>
          <a:p>
            <a:pPr marL="266700" indent="-266700">
              <a:buClr>
                <a:srgbClr val="FFFF00"/>
              </a:buClr>
              <a:buFont typeface="Wingdings" pitchFamily="2" charset="2"/>
              <a:buChar char="§"/>
            </a:pPr>
            <a:r>
              <a:rPr lang="pt-BR" sz="2400" dirty="0"/>
              <a:t>Para mensagens digitais:</a:t>
            </a:r>
          </a:p>
          <a:p>
            <a:pPr marL="723900" lvl="1" indent="-266700">
              <a:buClr>
                <a:srgbClr val="FFFF00"/>
              </a:buClr>
              <a:buFont typeface="Wingdings" pitchFamily="2" charset="2"/>
              <a:buChar char="§"/>
            </a:pPr>
            <a:r>
              <a:rPr lang="pt-BR" sz="2400" dirty="0"/>
              <a:t>a </a:t>
            </a:r>
            <a:r>
              <a:rPr lang="pt-BR" sz="2400" dirty="0">
                <a:solidFill>
                  <a:srgbClr val="063DE8"/>
                </a:solidFill>
              </a:rPr>
              <a:t>taxa de bits </a:t>
            </a:r>
            <a:r>
              <a:rPr lang="pt-BR" sz="2400" dirty="0"/>
              <a:t>ou</a:t>
            </a:r>
            <a:r>
              <a:rPr lang="pt-BR" sz="2400" dirty="0">
                <a:solidFill>
                  <a:srgbClr val="FFFF00"/>
                </a:solidFill>
              </a:rPr>
              <a:t> </a:t>
            </a:r>
            <a:r>
              <a:rPr lang="pt-BR" sz="2400" dirty="0">
                <a:solidFill>
                  <a:srgbClr val="063DE8"/>
                </a:solidFill>
              </a:rPr>
              <a:t>largura de banda digital </a:t>
            </a:r>
            <a:r>
              <a:rPr lang="pt-BR" sz="2400" dirty="0"/>
              <a:t>(</a:t>
            </a:r>
            <a:r>
              <a:rPr lang="pt-BR" sz="2400" dirty="0">
                <a:solidFill>
                  <a:srgbClr val="063DE8"/>
                </a:solidFill>
              </a:rPr>
              <a:t>bit/s</a:t>
            </a:r>
            <a:r>
              <a:rPr lang="pt-BR" sz="2400" dirty="0"/>
              <a:t> </a:t>
            </a:r>
            <a:r>
              <a:rPr lang="pt-BR" sz="2400" dirty="0" err="1"/>
              <a:t>or</a:t>
            </a:r>
            <a:r>
              <a:rPr lang="pt-BR" sz="2400" dirty="0"/>
              <a:t> </a:t>
            </a:r>
            <a:r>
              <a:rPr lang="pt-BR" sz="2400" dirty="0" err="1">
                <a:solidFill>
                  <a:srgbClr val="063DE8"/>
                </a:solidFill>
              </a:rPr>
              <a:t>bps</a:t>
            </a:r>
            <a:r>
              <a:rPr lang="pt-BR" sz="2400" dirty="0"/>
              <a:t>) não é exatamente uma medida da quantidade de informação contida em um fluxo de bits,</a:t>
            </a:r>
          </a:p>
          <a:p>
            <a:pPr marL="1181100" lvl="2" indent="-266700">
              <a:buClr>
                <a:srgbClr val="FFFF00"/>
              </a:buClr>
              <a:buFont typeface="Wingdings" pitchFamily="2" charset="2"/>
              <a:buChar char="§"/>
            </a:pPr>
            <a:r>
              <a:rPr lang="pt-BR" sz="2400" dirty="0"/>
              <a:t>mensagem pode ter redundância</a:t>
            </a:r>
          </a:p>
          <a:p>
            <a:pPr marL="723900" lvl="1" indent="-266700">
              <a:buClr>
                <a:srgbClr val="FFFF00"/>
              </a:buClr>
              <a:buFont typeface="Wingdings" pitchFamily="2" charset="2"/>
              <a:buChar char="§"/>
            </a:pPr>
            <a:r>
              <a:rPr lang="pt-BR" sz="2400" dirty="0"/>
              <a:t>mas geralmente está relacionada com essa quantidade. </a:t>
            </a:r>
          </a:p>
        </p:txBody>
      </p:sp>
    </p:spTree>
    <p:extLst>
      <p:ext uri="{BB962C8B-B14F-4D97-AF65-F5344CB8AC3E}">
        <p14:creationId xmlns:p14="http://schemas.microsoft.com/office/powerpoint/2010/main" val="166198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32EF8-D9E6-CC1E-F958-A5F83121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Decibel</a:t>
            </a:r>
            <a:br>
              <a:rPr lang="pt-BR" dirty="0"/>
            </a:br>
            <a:r>
              <a:rPr lang="pt-BR" dirty="0"/>
              <a:t>Definição</a:t>
            </a:r>
          </a:p>
        </p:txBody>
      </p:sp>
      <p:sp>
        <p:nvSpPr>
          <p:cNvPr id="3" name="Espaço Reservado para Conteú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Razão entre potências: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dB é adimensional</a:t>
            </a:r>
          </a:p>
          <a:p>
            <a:r>
              <a:rPr lang="en-US"/>
              <a:t>Algumas unidades de potência: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porém, para amplitudes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/>
              <a:t> e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N</a:t>
            </a:r>
            <a:br>
              <a:rPr lang="en-US"/>
            </a:br>
            <a:endParaRPr lang="en-US"/>
          </a:p>
          <a:p>
            <a:endParaRPr lang="en-US"/>
          </a:p>
          <a:p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5156859" y="1009581"/>
          <a:ext cx="4477988" cy="1097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590560" imgH="634680" progId="Equation.3">
                  <p:embed/>
                </p:oleObj>
              </mc:Choice>
              <mc:Fallback>
                <p:oleObj name="Equação" r:id="rId2" imgW="2590560" imgH="63468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6859" y="1009581"/>
                        <a:ext cx="4477988" cy="10975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5" name="Object 3"/>
          <p:cNvGraphicFramePr>
            <a:graphicFrameLocks noChangeAspect="1"/>
          </p:cNvGraphicFramePr>
          <p:nvPr/>
        </p:nvGraphicFramePr>
        <p:xfrm>
          <a:off x="5173560" y="2285288"/>
          <a:ext cx="16906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977760" imgH="203040" progId="Equation.3">
                  <p:embed/>
                </p:oleObj>
              </mc:Choice>
              <mc:Fallback>
                <p:oleObj name="Equação" r:id="rId4" imgW="977760" imgH="203040" progId="Equation.3">
                  <p:embed/>
                  <p:pic>
                    <p:nvPicPr>
                      <p:cNvPr id="141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560" y="2285288"/>
                        <a:ext cx="1690688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6103669" y="2901373"/>
          <a:ext cx="2593027" cy="1635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409400" imgH="888840" progId="Equation.3">
                  <p:embed/>
                </p:oleObj>
              </mc:Choice>
              <mc:Fallback>
                <p:oleObj name="Equação" r:id="rId6" imgW="1409400" imgH="888840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669" y="2901373"/>
                        <a:ext cx="2593027" cy="16352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/>
        </p:nvGraphicFramePr>
        <p:xfrm>
          <a:off x="5943601" y="4960939"/>
          <a:ext cx="3795713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374560" imgH="736560" progId="Equation.3">
                  <p:embed/>
                </p:oleObj>
              </mc:Choice>
              <mc:Fallback>
                <p:oleObj name="Equação" r:id="rId8" imgW="2374560" imgH="736560" progId="Equation.3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4960939"/>
                        <a:ext cx="3795713" cy="1176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Conector reto 9"/>
          <p:cNvCxnSpPr/>
          <p:nvPr/>
        </p:nvCxnSpPr>
        <p:spPr bwMode="auto">
          <a:xfrm>
            <a:off x="1951513" y="2719451"/>
            <a:ext cx="8562109" cy="118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574E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Conector reto 15"/>
          <p:cNvCxnSpPr/>
          <p:nvPr/>
        </p:nvCxnSpPr>
        <p:spPr bwMode="auto">
          <a:xfrm>
            <a:off x="2008913" y="4629351"/>
            <a:ext cx="8562109" cy="118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574E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166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2C635-F79B-C60D-C539-F44FFDE3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Decibel</a:t>
            </a:r>
            <a:br>
              <a:rPr lang="pt-BR" dirty="0"/>
            </a:br>
            <a:r>
              <a:rPr lang="pt-BR" dirty="0"/>
              <a:t>Por que usar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582E8F-7B4A-090E-0AC0-7B5C38FA3A12}"/>
              </a:ext>
            </a:extLst>
          </p:cNvPr>
          <p:cNvSpPr txBox="1">
            <a:spLocks/>
          </p:cNvSpPr>
          <p:nvPr/>
        </p:nvSpPr>
        <p:spPr>
          <a:xfrm>
            <a:off x="838200" y="1527913"/>
            <a:ext cx="105156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Em telecomunicações dB é amplamente utilizado</a:t>
            </a:r>
          </a:p>
          <a:p>
            <a:r>
              <a:rPr lang="pt-BR"/>
              <a:t>Desempenho de um sistema depende da relação entre a potência do sinal e a potência do ruído (e interferências) no receptor </a:t>
            </a:r>
          </a:p>
          <a:p>
            <a:pPr lvl="1"/>
            <a:r>
              <a:rPr lang="pt-BR">
                <a:solidFill>
                  <a:schemeClr val="accent5">
                    <a:lumMod val="50000"/>
                  </a:schemeClr>
                </a:solidFill>
              </a:rPr>
              <a:t>Razão Sinal-Ruído (RSR) ou Signal-to-Noise Ratio (SNR)</a:t>
            </a:r>
          </a:p>
          <a:p>
            <a:r>
              <a:rPr lang="pt-BR"/>
              <a:t>Tipicamente em dB</a:t>
            </a:r>
          </a:p>
          <a:p>
            <a:pPr lvl="1"/>
            <a:r>
              <a:rPr lang="pt-BR"/>
              <a:t>Ex. se SNR = 3dB, potência do sinal é 2x maior que a potência do ruído</a:t>
            </a:r>
          </a:p>
          <a:p>
            <a:pPr lvl="1"/>
            <a:endParaRPr lang="pt-BR"/>
          </a:p>
          <a:p>
            <a:r>
              <a:rPr lang="pt-BR"/>
              <a:t>Por que dB?</a:t>
            </a:r>
          </a:p>
          <a:p>
            <a:pPr lvl="1"/>
            <a:r>
              <a:rPr lang="pt-BR"/>
              <a:t>Trabalhar com somas em vez de multiplicações</a:t>
            </a:r>
          </a:p>
          <a:p>
            <a:pPr lvl="1"/>
            <a:r>
              <a:rPr lang="pt-BR"/>
              <a:t>Lidar com ordens de grandeza diferentes</a:t>
            </a:r>
          </a:p>
          <a:p>
            <a:pPr lvl="2"/>
            <a:r>
              <a:rPr lang="pt-BR"/>
              <a:t>Ex. Um canal atenua um sinal em 120 dB é o mesmo que o sinal recebido é 10</a:t>
            </a:r>
            <a:r>
              <a:rPr lang="pt-BR" baseline="30000"/>
              <a:t>12</a:t>
            </a:r>
            <a:r>
              <a:rPr lang="pt-BR"/>
              <a:t> vezes menor que o transmitido</a:t>
            </a:r>
          </a:p>
          <a:p>
            <a:pPr lvl="1"/>
            <a:r>
              <a:rPr lang="pt-BR"/>
              <a:t>Escala logarítmica melhor representa (visualmente) diversos fenômenos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488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F13D7-3513-85BC-F32D-3F2815C1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Sinais de Transmissão</a:t>
            </a:r>
          </a:p>
        </p:txBody>
      </p:sp>
      <p:sp>
        <p:nvSpPr>
          <p:cNvPr id="98307" name="Rectangle 3"/>
          <p:cNvSpPr txBox="1">
            <a:spLocks noChangeArrowheads="1"/>
          </p:cNvSpPr>
          <p:nvPr/>
        </p:nvSpPr>
        <p:spPr>
          <a:xfrm>
            <a:off x="948069" y="1249622"/>
            <a:ext cx="8299450" cy="1482725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Razão Sinal-Ruído (RSR)</a:t>
            </a:r>
          </a:p>
          <a:p>
            <a:pPr lvl="1"/>
            <a:r>
              <a:rPr lang="en-US"/>
              <a:t>Signal-to-Noise-Ratio (SNR)</a:t>
            </a:r>
          </a:p>
          <a:p>
            <a:r>
              <a:rPr lang="en-US"/>
              <a:t>Razão entre potência do sinal (P) e a potência do ruído (N)</a:t>
            </a:r>
            <a:endParaRPr lang="en-US" dirty="0"/>
          </a:p>
        </p:txBody>
      </p:sp>
      <p:graphicFrame>
        <p:nvGraphicFramePr>
          <p:cNvPr id="98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281452"/>
              </p:ext>
            </p:extLst>
          </p:nvPr>
        </p:nvGraphicFramePr>
        <p:xfrm>
          <a:off x="1444957" y="2391923"/>
          <a:ext cx="13970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393480" progId="Equation.3">
                  <p:embed/>
                </p:oleObj>
              </mc:Choice>
              <mc:Fallback>
                <p:oleObj name="Equation" r:id="rId2" imgW="622080" imgH="393480" progId="Equation.3">
                  <p:embed/>
                  <p:pic>
                    <p:nvPicPr>
                      <p:cNvPr id="983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957" y="2391923"/>
                        <a:ext cx="1397000" cy="88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8319" name="Group 15"/>
          <p:cNvGrpSpPr>
            <a:grpSpLocks/>
          </p:cNvGrpSpPr>
          <p:nvPr/>
        </p:nvGrpSpPr>
        <p:grpSpPr bwMode="auto">
          <a:xfrm>
            <a:off x="1002044" y="2935579"/>
            <a:ext cx="8299450" cy="2824157"/>
            <a:chOff x="274" y="2004"/>
            <a:chExt cx="5228" cy="1779"/>
          </a:xfrm>
        </p:grpSpPr>
        <p:sp>
          <p:nvSpPr>
            <p:cNvPr id="98309" name="Rectangle 5"/>
            <p:cNvSpPr>
              <a:spLocks noChangeArrowheads="1"/>
            </p:cNvSpPr>
            <p:nvPr/>
          </p:nvSpPr>
          <p:spPr bwMode="auto">
            <a:xfrm>
              <a:off x="274" y="2004"/>
              <a:ext cx="5228" cy="48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/>
            <a:lstStyle/>
            <a:p>
              <a:pPr marL="280988" indent="-280988" defTabSz="762000">
                <a:lnSpc>
                  <a:spcPct val="80000"/>
                </a:lnSpc>
                <a:spcBef>
                  <a:spcPct val="40000"/>
                </a:spcBef>
                <a:buClr>
                  <a:schemeClr val="hlink"/>
                </a:buClr>
                <a:buFontTx/>
                <a:buChar char="•"/>
              </a:pPr>
              <a:endParaRPr lang="en-US" dirty="0"/>
            </a:p>
            <a:p>
              <a:pPr marL="280988" indent="-280988" defTabSz="762000">
                <a:lnSpc>
                  <a:spcPct val="80000"/>
                </a:lnSpc>
                <a:spcBef>
                  <a:spcPct val="40000"/>
                </a:spcBef>
                <a:buClr>
                  <a:schemeClr val="hlink"/>
                </a:buClr>
                <a:buFontTx/>
                <a:buChar char="•"/>
              </a:pPr>
              <a:r>
                <a:rPr lang="en-US" dirty="0"/>
                <a:t>Na </a:t>
              </a:r>
              <a:r>
                <a:rPr lang="en-US" dirty="0" err="1"/>
                <a:t>maior</a:t>
              </a:r>
              <a:r>
                <a:rPr lang="en-US" dirty="0"/>
                <a:t> parte dos </a:t>
              </a:r>
              <a:r>
                <a:rPr lang="en-US" dirty="0" err="1"/>
                <a:t>canais</a:t>
              </a:r>
              <a:r>
                <a:rPr lang="en-US" dirty="0"/>
                <a:t>, </a:t>
              </a:r>
              <a:r>
                <a:rPr lang="en-US" dirty="0" err="1"/>
                <a:t>potência</a:t>
              </a:r>
              <a:r>
                <a:rPr lang="en-US" dirty="0"/>
                <a:t> do </a:t>
              </a:r>
              <a:r>
                <a:rPr lang="en-US" dirty="0" err="1"/>
                <a:t>sinal</a:t>
              </a:r>
              <a:r>
                <a:rPr lang="en-US" dirty="0"/>
                <a:t> </a:t>
              </a:r>
              <a:r>
                <a:rPr lang="en-US" dirty="0" err="1"/>
                <a:t>cai</a:t>
              </a:r>
              <a:r>
                <a:rPr lang="en-US" dirty="0"/>
                <a:t> com </a:t>
              </a:r>
              <a:r>
                <a:rPr lang="en-US" dirty="0" err="1"/>
                <a:t>distância</a:t>
              </a:r>
              <a:r>
                <a:rPr lang="en-US" dirty="0"/>
                <a:t>, mas do </a:t>
              </a:r>
              <a:r>
                <a:rPr lang="en-US" dirty="0" err="1"/>
                <a:t>ruído</a:t>
              </a:r>
              <a:r>
                <a:rPr lang="en-US" dirty="0"/>
                <a:t> </a:t>
              </a:r>
              <a:r>
                <a:rPr lang="en-US" dirty="0" err="1"/>
                <a:t>não</a:t>
              </a:r>
              <a:r>
                <a:rPr lang="en-US" dirty="0"/>
                <a:t> </a:t>
              </a:r>
              <a:r>
                <a:rPr lang="en-US" dirty="0">
                  <a:latin typeface="Symbol" pitchFamily="18" charset="2"/>
                </a:rPr>
                <a:t>Þ </a:t>
              </a:r>
              <a:r>
                <a:rPr lang="en-US" dirty="0"/>
                <a:t>RSR </a:t>
              </a:r>
              <a:r>
                <a:rPr lang="en-US" dirty="0" err="1"/>
                <a:t>diminui</a:t>
              </a:r>
              <a:endParaRPr lang="en-US" dirty="0">
                <a:latin typeface="MS Shell Dlg" charset="0"/>
              </a:endParaRPr>
            </a:p>
            <a:p>
              <a:pPr marL="280988" indent="-280988" defTabSz="762000">
                <a:lnSpc>
                  <a:spcPct val="80000"/>
                </a:lnSpc>
                <a:spcBef>
                  <a:spcPct val="40000"/>
                </a:spcBef>
                <a:buClr>
                  <a:schemeClr val="hlink"/>
                </a:buClr>
                <a:buFontTx/>
                <a:buChar char="•"/>
              </a:pPr>
              <a:endParaRPr lang="en-US" dirty="0"/>
            </a:p>
            <a:p>
              <a:pPr marL="666750" lvl="1" indent="-195263" defTabSz="762000">
                <a:lnSpc>
                  <a:spcPct val="80000"/>
                </a:lnSpc>
                <a:buClr>
                  <a:schemeClr val="hlink"/>
                </a:buClr>
                <a:buSzPct val="75000"/>
                <a:buFontTx/>
                <a:buChar char="•"/>
              </a:pPr>
              <a:endParaRPr lang="en-US" dirty="0"/>
            </a:p>
          </p:txBody>
        </p:sp>
        <p:sp>
          <p:nvSpPr>
            <p:cNvPr id="98310" name="Line 6"/>
            <p:cNvSpPr>
              <a:spLocks noChangeShapeType="1"/>
            </p:cNvSpPr>
            <p:nvPr/>
          </p:nvSpPr>
          <p:spPr bwMode="auto">
            <a:xfrm>
              <a:off x="845" y="3514"/>
              <a:ext cx="30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98311" name="Line 7"/>
            <p:cNvSpPr>
              <a:spLocks noChangeShapeType="1"/>
            </p:cNvSpPr>
            <p:nvPr/>
          </p:nvSpPr>
          <p:spPr bwMode="auto">
            <a:xfrm flipV="1">
              <a:off x="845" y="2560"/>
              <a:ext cx="0" cy="9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98312" name="Text Box 8"/>
            <p:cNvSpPr txBox="1">
              <a:spLocks noChangeArrowheads="1"/>
            </p:cNvSpPr>
            <p:nvPr/>
          </p:nvSpPr>
          <p:spPr bwMode="auto">
            <a:xfrm>
              <a:off x="3149" y="3570"/>
              <a:ext cx="586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 i="1"/>
                <a:t>distância</a:t>
              </a:r>
            </a:p>
          </p:txBody>
        </p:sp>
        <p:sp>
          <p:nvSpPr>
            <p:cNvPr id="98313" name="Text Box 9"/>
            <p:cNvSpPr txBox="1">
              <a:spLocks noChangeArrowheads="1"/>
            </p:cNvSpPr>
            <p:nvPr/>
          </p:nvSpPr>
          <p:spPr bwMode="auto">
            <a:xfrm rot="16200000">
              <a:off x="424" y="2923"/>
              <a:ext cx="569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 i="1"/>
                <a:t>potência</a:t>
              </a:r>
            </a:p>
          </p:txBody>
        </p:sp>
        <p:sp>
          <p:nvSpPr>
            <p:cNvPr id="98315" name="Freeform 11"/>
            <p:cNvSpPr>
              <a:spLocks/>
            </p:cNvSpPr>
            <p:nvPr/>
          </p:nvSpPr>
          <p:spPr bwMode="auto">
            <a:xfrm>
              <a:off x="843" y="2723"/>
              <a:ext cx="2901" cy="6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3" y="162"/>
                </a:cxn>
                <a:cxn ang="0">
                  <a:pos x="487" y="366"/>
                </a:cxn>
                <a:cxn ang="0">
                  <a:pos x="1021" y="529"/>
                </a:cxn>
                <a:cxn ang="0">
                  <a:pos x="1754" y="602"/>
                </a:cxn>
                <a:cxn ang="0">
                  <a:pos x="2529" y="649"/>
                </a:cxn>
                <a:cxn ang="0">
                  <a:pos x="2901" y="665"/>
                </a:cxn>
              </a:cxnLst>
              <a:rect l="0" t="0" r="r" b="b"/>
              <a:pathLst>
                <a:path w="2901" h="665">
                  <a:moveTo>
                    <a:pt x="0" y="0"/>
                  </a:moveTo>
                  <a:cubicBezTo>
                    <a:pt x="46" y="50"/>
                    <a:pt x="92" y="101"/>
                    <a:pt x="173" y="162"/>
                  </a:cubicBezTo>
                  <a:cubicBezTo>
                    <a:pt x="254" y="223"/>
                    <a:pt x="346" y="305"/>
                    <a:pt x="487" y="366"/>
                  </a:cubicBezTo>
                  <a:cubicBezTo>
                    <a:pt x="628" y="427"/>
                    <a:pt x="810" y="490"/>
                    <a:pt x="1021" y="529"/>
                  </a:cubicBezTo>
                  <a:cubicBezTo>
                    <a:pt x="1232" y="568"/>
                    <a:pt x="1503" y="582"/>
                    <a:pt x="1754" y="602"/>
                  </a:cubicBezTo>
                  <a:cubicBezTo>
                    <a:pt x="2005" y="622"/>
                    <a:pt x="2338" y="639"/>
                    <a:pt x="2529" y="649"/>
                  </a:cubicBezTo>
                  <a:cubicBezTo>
                    <a:pt x="2720" y="659"/>
                    <a:pt x="2810" y="662"/>
                    <a:pt x="2901" y="665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98316" name="Line 12"/>
            <p:cNvSpPr>
              <a:spLocks noChangeShapeType="1"/>
            </p:cNvSpPr>
            <p:nvPr/>
          </p:nvSpPr>
          <p:spPr bwMode="auto">
            <a:xfrm>
              <a:off x="848" y="3299"/>
              <a:ext cx="2891" cy="1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98317" name="Text Box 13"/>
            <p:cNvSpPr txBox="1">
              <a:spLocks noChangeArrowheads="1"/>
            </p:cNvSpPr>
            <p:nvPr/>
          </p:nvSpPr>
          <p:spPr bwMode="auto">
            <a:xfrm>
              <a:off x="1105" y="2809"/>
              <a:ext cx="32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>
                  <a:solidFill>
                    <a:srgbClr val="063DE8"/>
                  </a:solidFill>
                </a:rPr>
                <a:t>sinal</a:t>
              </a:r>
            </a:p>
          </p:txBody>
        </p:sp>
        <p:sp>
          <p:nvSpPr>
            <p:cNvPr id="98318" name="Text Box 14"/>
            <p:cNvSpPr txBox="1">
              <a:spLocks noChangeArrowheads="1"/>
            </p:cNvSpPr>
            <p:nvPr/>
          </p:nvSpPr>
          <p:spPr bwMode="auto">
            <a:xfrm>
              <a:off x="3508" y="3118"/>
              <a:ext cx="361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400">
                  <a:solidFill>
                    <a:schemeClr val="hlink"/>
                  </a:solidFill>
                </a:rPr>
                <a:t>ruído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688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A29DA-B7FF-3BEC-DC5F-4BE4ED36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Mensagens Analógicas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BDEB5F9-23D0-40B5-F9E8-893EE02133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763"/>
                <a:ext cx="10515600" cy="4522126"/>
              </a:xfrm>
            </p:spPr>
            <p:txBody>
              <a:bodyPr/>
              <a:lstStyle/>
              <a:p>
                <a:r>
                  <a:rPr lang="pt-BR" b="1" dirty="0">
                    <a:solidFill>
                      <a:srgbClr val="0070C0"/>
                    </a:solidFill>
                  </a:rPr>
                  <a:t>Distorção</a:t>
                </a:r>
                <a:r>
                  <a:rPr lang="pt-BR" dirty="0"/>
                  <a:t> tipicamente medida em termos do </a:t>
                </a:r>
                <a:r>
                  <a:rPr lang="pt-BR" b="1" dirty="0">
                    <a:solidFill>
                      <a:srgbClr val="0070C0"/>
                    </a:solidFill>
                  </a:rPr>
                  <a:t>erro quadrático médio </a:t>
                </a:r>
                <a:r>
                  <a:rPr lang="pt-BR" dirty="0"/>
                  <a:t>(</a:t>
                </a:r>
                <a:r>
                  <a:rPr lang="pt-BR" dirty="0" err="1"/>
                  <a:t>mean</a:t>
                </a:r>
                <a:r>
                  <a:rPr lang="pt-BR" dirty="0"/>
                  <a:t> </a:t>
                </a:r>
                <a:r>
                  <a:rPr lang="pt-BR" dirty="0" err="1"/>
                  <a:t>square</a:t>
                </a:r>
                <a:r>
                  <a:rPr lang="pt-BR" dirty="0"/>
                  <a:t> </a:t>
                </a:r>
                <a:r>
                  <a:rPr lang="pt-BR" dirty="0" err="1"/>
                  <a:t>error</a:t>
                </a:r>
                <a:r>
                  <a:rPr lang="pt-BR" dirty="0"/>
                  <a:t>)</a:t>
                </a:r>
              </a:p>
              <a:p>
                <a:endParaRPr lang="pt-BR" dirty="0"/>
              </a:p>
              <a:p>
                <a:pPr marL="0" indent="0" algn="ctr">
                  <a:buNone/>
                </a:pPr>
                <a:r>
                  <a:rPr lang="pt-BR" dirty="0"/>
                  <a:t>Erro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groupChr>
                      <m:groupChrPr>
                        <m:chr m:val="⇒"/>
                        <m:pos m:val="top"/>
                        <m:vertJc m:val="top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marL="0" indent="0" algn="ctr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dia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b="0" dirty="0"/>
              </a:p>
              <a:p>
                <a:endParaRPr lang="pt-BR" dirty="0"/>
              </a:p>
              <a:p>
                <a:r>
                  <a:rPr lang="pt-BR" dirty="0"/>
                  <a:t>Para mensagens de áudio e vídeo tipicamente a percepção de distorção depende de características do sistema sensorial humano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BDEB5F9-23D0-40B5-F9E8-893EE0213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763"/>
                <a:ext cx="10515600" cy="4522126"/>
              </a:xfrm>
              <a:blipFill>
                <a:blip r:embed="rId2"/>
                <a:stretch>
                  <a:fillRect l="-1043" t="-22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42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0A320-5436-AE3B-6087-7750FEBB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Mensagens Digitais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F8C0A77-F52E-26A0-266B-02C5080C3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028" y="1168201"/>
            <a:ext cx="8406740" cy="53245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54000" rIns="54000">
            <a:spAutoFit/>
          </a:bodyPr>
          <a:lstStyle/>
          <a:p>
            <a:pPr marL="266700" indent="-266700">
              <a:buClr>
                <a:srgbClr val="FFFF00"/>
              </a:buClr>
              <a:buFont typeface="Wingdings" pitchFamily="2" charset="2"/>
              <a:buChar char="§"/>
            </a:pPr>
            <a:r>
              <a:rPr lang="pt-BR" sz="2000" dirty="0"/>
              <a:t>Taxa de erro de bit (</a:t>
            </a:r>
            <a:r>
              <a:rPr lang="pt-BR" sz="2000" i="1" dirty="0"/>
              <a:t>bit </a:t>
            </a:r>
            <a:r>
              <a:rPr lang="pt-BR" sz="2000" i="1" dirty="0" err="1"/>
              <a:t>error</a:t>
            </a:r>
            <a:r>
              <a:rPr lang="pt-BR" sz="2000" i="1" dirty="0"/>
              <a:t> rate – </a:t>
            </a:r>
            <a:r>
              <a:rPr lang="pt-BR" sz="2000" dirty="0"/>
              <a:t>BER</a:t>
            </a:r>
            <a:r>
              <a:rPr lang="pt-BR" sz="2000" i="1" dirty="0"/>
              <a:t>)</a:t>
            </a:r>
          </a:p>
          <a:p>
            <a:pPr marL="266700" indent="-266700">
              <a:buClr>
                <a:srgbClr val="FFFF00"/>
              </a:buClr>
              <a:buFont typeface="Wingdings" pitchFamily="2" charset="2"/>
              <a:buChar char="§"/>
            </a:pPr>
            <a:endParaRPr lang="pt-BR" sz="2000" i="1" dirty="0"/>
          </a:p>
          <a:p>
            <a:pPr marL="266700" indent="-266700">
              <a:buClr>
                <a:srgbClr val="FFFF00"/>
              </a:buClr>
              <a:buFont typeface="Wingdings" pitchFamily="2" charset="2"/>
              <a:buChar char="§"/>
            </a:pPr>
            <a:endParaRPr lang="pt-BR" sz="2000" i="1" dirty="0"/>
          </a:p>
          <a:p>
            <a:pPr>
              <a:buClr>
                <a:srgbClr val="FFFF00"/>
              </a:buClr>
            </a:pPr>
            <a:endParaRPr lang="pt-BR" sz="2000" dirty="0"/>
          </a:p>
          <a:p>
            <a:pPr marL="266700" indent="-266700">
              <a:buClr>
                <a:srgbClr val="FFFF00"/>
              </a:buClr>
              <a:buFont typeface="Arial" pitchFamily="34" charset="0"/>
              <a:buChar char="•"/>
            </a:pPr>
            <a:r>
              <a:rPr lang="pt-BR" sz="2000" dirty="0"/>
              <a:t>Bits são usualmente agrupados em pacotes</a:t>
            </a:r>
          </a:p>
          <a:p>
            <a:pPr marL="266700" indent="-266700">
              <a:buClr>
                <a:srgbClr val="FFFF00"/>
              </a:buClr>
              <a:buFont typeface="Arial" pitchFamily="34" charset="0"/>
              <a:buChar char="•"/>
            </a:pPr>
            <a:r>
              <a:rPr lang="pt-BR" sz="2000" dirty="0"/>
              <a:t>Taxa de erro de pacotes ou quadros</a:t>
            </a:r>
          </a:p>
          <a:p>
            <a:pPr marL="723900" lvl="1" indent="-266700">
              <a:buClr>
                <a:srgbClr val="FFFF00"/>
              </a:buClr>
              <a:buFont typeface="Arial" pitchFamily="34" charset="0"/>
              <a:buChar char="•"/>
            </a:pPr>
            <a:r>
              <a:rPr lang="pt-BR" sz="2000" dirty="0"/>
              <a:t>(</a:t>
            </a:r>
            <a:r>
              <a:rPr lang="pt-BR" sz="2000" dirty="0" err="1"/>
              <a:t>packet</a:t>
            </a:r>
            <a:r>
              <a:rPr lang="pt-BR" sz="2000" dirty="0"/>
              <a:t> </a:t>
            </a:r>
            <a:r>
              <a:rPr lang="pt-BR" sz="2000" dirty="0" err="1"/>
              <a:t>error</a:t>
            </a:r>
            <a:r>
              <a:rPr lang="pt-BR" sz="2000" dirty="0"/>
              <a:t> rate – PER, frame </a:t>
            </a:r>
            <a:r>
              <a:rPr lang="pt-BR" sz="2000" dirty="0" err="1"/>
              <a:t>error</a:t>
            </a:r>
            <a:r>
              <a:rPr lang="pt-BR" sz="2000" dirty="0"/>
              <a:t> rate- FER ou </a:t>
            </a:r>
            <a:r>
              <a:rPr lang="pt-BR" sz="2000" dirty="0" err="1"/>
              <a:t>block</a:t>
            </a:r>
            <a:r>
              <a:rPr lang="pt-BR" sz="2000" dirty="0"/>
              <a:t> </a:t>
            </a:r>
            <a:r>
              <a:rPr lang="pt-BR" sz="2000" dirty="0" err="1"/>
              <a:t>error</a:t>
            </a:r>
            <a:r>
              <a:rPr lang="pt-BR" sz="2000" dirty="0"/>
              <a:t> rate - BLER )</a:t>
            </a:r>
          </a:p>
          <a:p>
            <a:pPr marL="723900" lvl="1" indent="-266700">
              <a:buClr>
                <a:srgbClr val="FFFF00"/>
              </a:buClr>
              <a:buFont typeface="Arial" pitchFamily="34" charset="0"/>
              <a:buChar char="•"/>
            </a:pPr>
            <a:endParaRPr lang="pt-BR" sz="2000" dirty="0"/>
          </a:p>
          <a:p>
            <a:pPr marL="723900" lvl="1" indent="-266700">
              <a:buClr>
                <a:srgbClr val="FFFF00"/>
              </a:buClr>
              <a:buFont typeface="Arial" pitchFamily="34" charset="0"/>
              <a:buChar char="•"/>
            </a:pPr>
            <a:endParaRPr lang="pt-BR" sz="2000" dirty="0"/>
          </a:p>
          <a:p>
            <a:pPr marL="723900" lvl="1" indent="-266700">
              <a:buClr>
                <a:srgbClr val="FFFF00"/>
              </a:buClr>
              <a:buFont typeface="Arial" pitchFamily="34" charset="0"/>
              <a:buChar char="•"/>
            </a:pPr>
            <a:endParaRPr lang="pt-BR" sz="2000" dirty="0"/>
          </a:p>
          <a:p>
            <a:pPr marL="723900" lvl="1" indent="-266700">
              <a:buClr>
                <a:srgbClr val="FFFF00"/>
              </a:buClr>
              <a:buFont typeface="Arial" pitchFamily="34" charset="0"/>
              <a:buChar char="•"/>
            </a:pPr>
            <a:endParaRPr lang="pt-BR" sz="2000" dirty="0"/>
          </a:p>
          <a:p>
            <a:pPr marL="723900" lvl="1" indent="-266700">
              <a:buClr>
                <a:srgbClr val="FFFF00"/>
              </a:buClr>
              <a:buFont typeface="Arial" pitchFamily="34" charset="0"/>
              <a:buChar char="•"/>
            </a:pPr>
            <a:r>
              <a:rPr lang="pt-BR" sz="2000" dirty="0"/>
              <a:t>Um bit errado já inviabiliza pacote</a:t>
            </a:r>
          </a:p>
          <a:p>
            <a:pPr marL="723900" lvl="1" indent="-266700">
              <a:buClr>
                <a:srgbClr val="FFFF00"/>
              </a:buClr>
              <a:buFont typeface="Arial" pitchFamily="34" charset="0"/>
              <a:buChar char="•"/>
            </a:pPr>
            <a:endParaRPr lang="pt-BR" sz="2000" dirty="0"/>
          </a:p>
          <a:p>
            <a:pPr marL="266700" indent="-266700">
              <a:buClr>
                <a:srgbClr val="FFFF00"/>
              </a:buClr>
              <a:buFont typeface="Arial" pitchFamily="34" charset="0"/>
              <a:buChar char="•"/>
            </a:pPr>
            <a:r>
              <a:rPr lang="pt-BR" sz="2000" dirty="0"/>
              <a:t>BER/PER desejada depende do serviço</a:t>
            </a:r>
          </a:p>
          <a:p>
            <a:pPr marL="266700" indent="-266700">
              <a:buClr>
                <a:srgbClr val="FFFF00"/>
              </a:buClr>
              <a:buFont typeface="Arial" pitchFamily="34" charset="0"/>
              <a:buChar char="•"/>
            </a:pPr>
            <a:endParaRPr lang="en-US" sz="2000" dirty="0"/>
          </a:p>
          <a:p>
            <a:pPr marL="266700" indent="-266700">
              <a:buClr>
                <a:srgbClr val="FFFF00"/>
              </a:buClr>
              <a:buFont typeface="Arial" pitchFamily="34" charset="0"/>
              <a:buChar char="•"/>
            </a:pPr>
            <a:r>
              <a:rPr lang="en-US" sz="2000" dirty="0"/>
              <a:t>BER </a:t>
            </a:r>
            <a:r>
              <a:rPr lang="en-US" sz="2000" dirty="0" err="1"/>
              <a:t>depende</a:t>
            </a:r>
            <a:r>
              <a:rPr lang="en-US" sz="2000" dirty="0"/>
              <a:t> </a:t>
            </a:r>
            <a:r>
              <a:rPr lang="en-US" sz="2000" dirty="0" err="1"/>
              <a:t>da</a:t>
            </a:r>
            <a:r>
              <a:rPr lang="en-US" sz="2000" dirty="0"/>
              <a:t> RSR do </a:t>
            </a:r>
            <a:r>
              <a:rPr lang="en-US" sz="2000" dirty="0" err="1"/>
              <a:t>sinal</a:t>
            </a:r>
            <a:r>
              <a:rPr lang="en-US" sz="2000" dirty="0"/>
              <a:t> </a:t>
            </a:r>
            <a:r>
              <a:rPr lang="en-US" sz="2000" dirty="0" err="1"/>
              <a:t>analógico</a:t>
            </a:r>
            <a:r>
              <a:rPr lang="en-US" sz="2000" dirty="0"/>
              <a:t> </a:t>
            </a:r>
            <a:r>
              <a:rPr lang="en-US" sz="2000" dirty="0" err="1"/>
              <a:t>modulado</a:t>
            </a:r>
            <a:endParaRPr lang="pt-BR" sz="2000" dirty="0"/>
          </a:p>
          <a:p>
            <a:pPr marL="266700" indent="-266700">
              <a:buClr>
                <a:srgbClr val="FFFF00"/>
              </a:buClr>
              <a:buFont typeface="Wingdings" pitchFamily="2" charset="2"/>
              <a:buChar char="§"/>
            </a:pPr>
            <a:endParaRPr lang="pt-BR" sz="2000" dirty="0">
              <a:solidFill>
                <a:srgbClr val="063DE8"/>
              </a:solidFill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B288EDBF-F938-72B2-E657-09AFF5C41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212298"/>
              </p:ext>
            </p:extLst>
          </p:nvPr>
        </p:nvGraphicFramePr>
        <p:xfrm>
          <a:off x="2571750" y="1658938"/>
          <a:ext cx="53943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406080" progId="Equation.3">
                  <p:embed/>
                </p:oleObj>
              </mc:Choice>
              <mc:Fallback>
                <p:oleObj name="Equation" r:id="rId2" imgW="2705040" imgH="406080" progId="Equation.3">
                  <p:embed/>
                  <p:pic>
                    <p:nvPicPr>
                      <p:cNvPr id="1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2571750" y="1658938"/>
                        <a:ext cx="5394325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A864B985-0310-744D-F70D-1222C9E337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283810"/>
              </p:ext>
            </p:extLst>
          </p:nvPr>
        </p:nvGraphicFramePr>
        <p:xfrm>
          <a:off x="2571235" y="3580167"/>
          <a:ext cx="51657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590560" imgH="406080" progId="Equation.3">
                  <p:embed/>
                </p:oleObj>
              </mc:Choice>
              <mc:Fallback>
                <p:oleObj name="Equação" r:id="rId4" imgW="2590560" imgH="406080" progId="Equation.3">
                  <p:embed/>
                  <p:pic>
                    <p:nvPicPr>
                      <p:cNvPr id="1146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invGray">
                      <a:xfrm>
                        <a:off x="2571235" y="3580167"/>
                        <a:ext cx="5165725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561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BDF1A-710D-10B7-3B59-81886AC2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Critérios para escolha de um esquema de transmissão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BEBD92DB-0614-7BA6-7A7B-25378EA56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438" y="3009900"/>
            <a:ext cx="1409700" cy="1409700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38100">
            <a:miter lim="800000"/>
            <a:headEnd/>
            <a:tailEnd type="none" w="sm" len="lg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892CDDD2-00FB-D836-87D8-3D4F17623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6463" y="2990850"/>
            <a:ext cx="7867650" cy="0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/>
            <a:tailEnd type="none" w="sm" len="lg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CD897659-5311-DBA2-14CF-55D0625B5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0" y="1827214"/>
            <a:ext cx="819150" cy="1120775"/>
          </a:xfrm>
          <a:prstGeom prst="flowChartProcess">
            <a:avLst/>
          </a:prstGeom>
          <a:solidFill>
            <a:srgbClr val="CCFFFF"/>
          </a:solidFill>
          <a:ln w="12700">
            <a:miter lim="800000"/>
            <a:headEnd/>
            <a:tailEnd type="none" w="sm" len="lg"/>
          </a:ln>
          <a:effectLst/>
          <a:scene3d>
            <a:camera prst="legacyObliqueTopRight"/>
            <a:lightRig rig="legacyFlat3" dir="b"/>
          </a:scene3d>
          <a:sp3d extrusionH="430200" prstMaterial="legacyPlastic">
            <a:bevelT w="13500" h="13500" prst="angle"/>
            <a:bevelB w="13500" h="13500" prst="angle"/>
            <a:extrusionClr>
              <a:srgbClr val="99CCFF"/>
            </a:extrusionClr>
          </a:sp3d>
        </p:spPr>
        <p:txBody>
          <a:bodyPr wrap="none" anchor="ctr">
            <a:flatTx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pt-BR" sz="28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</a:t>
            </a:r>
            <a:r>
              <a:rPr lang="pt-BR" sz="2800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</a:t>
            </a:r>
            <a:endParaRPr lang="pt-BR" sz="2800" i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582EB8EC-6003-12F9-E9FE-344C75A9E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1827214"/>
            <a:ext cx="819150" cy="1120775"/>
          </a:xfrm>
          <a:prstGeom prst="flowChartProcess">
            <a:avLst/>
          </a:prstGeom>
          <a:solidFill>
            <a:srgbClr val="66FFCC"/>
          </a:solidFill>
          <a:ln w="12700">
            <a:miter lim="800000"/>
            <a:headEnd/>
            <a:tailEnd type="none" w="sm" len="lg"/>
          </a:ln>
          <a:effectLst/>
          <a:scene3d>
            <a:camera prst="legacyObliqueTopRight"/>
            <a:lightRig rig="legacyFlat3" dir="b"/>
          </a:scene3d>
          <a:sp3d extrusionH="430200" prstMaterial="legacyPlastic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pt-BR" sz="28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</a:t>
            </a:r>
            <a:r>
              <a:rPr lang="pt-BR" sz="2800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  <a:endParaRPr lang="pt-BR" sz="2800" i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BDD68BE8-070F-88FF-D69C-B25C75460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1827214"/>
            <a:ext cx="819150" cy="1120775"/>
          </a:xfrm>
          <a:prstGeom prst="flowChartProcess">
            <a:avLst/>
          </a:prstGeom>
          <a:solidFill>
            <a:srgbClr val="FFCC99"/>
          </a:solidFill>
          <a:ln w="12700">
            <a:miter lim="800000"/>
            <a:headEnd/>
            <a:tailEnd type="none" w="sm" len="lg"/>
          </a:ln>
          <a:effectLst/>
          <a:scene3d>
            <a:camera prst="legacyObliqueTopRight"/>
            <a:lightRig rig="legacyFlat3" dir="b"/>
          </a:scene3d>
          <a:sp3d extrusionH="430200" prstMaterial="legacyPlastic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pt-BR" sz="28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</a:t>
            </a:r>
            <a:r>
              <a:rPr lang="pt-BR" sz="2800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</a:t>
            </a:r>
            <a:endParaRPr lang="pt-BR" sz="2800" i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DC24C1A5-AA48-50F2-04C7-58609591B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3826" y="1827214"/>
            <a:ext cx="981075" cy="1120775"/>
          </a:xfrm>
          <a:prstGeom prst="flowChartProcess">
            <a:avLst/>
          </a:prstGeom>
          <a:solidFill>
            <a:srgbClr val="CCFF66"/>
          </a:solidFill>
          <a:ln w="12700">
            <a:miter lim="800000"/>
            <a:headEnd/>
            <a:tailEnd type="none" w="sm" len="lg"/>
          </a:ln>
          <a:effectLst/>
          <a:scene3d>
            <a:camera prst="legacyObliqueTopRight"/>
            <a:lightRig rig="legacyFlat3" dir="b"/>
          </a:scene3d>
          <a:sp3d extrusionH="430200" prstMaterial="legacyPlastic">
            <a:bevelT w="13500" h="13500" prst="angle"/>
            <a:bevelB w="13500" h="13500" prst="angle"/>
            <a:extrusionClr>
              <a:srgbClr val="CCFF66"/>
            </a:extrusionClr>
          </a:sp3d>
        </p:spPr>
        <p:txBody>
          <a:bodyPr wrap="none" anchor="ctr">
            <a:flatTx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pt-BR" sz="28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Q</a:t>
            </a:r>
            <a:r>
              <a:rPr lang="pt-BR" sz="10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pt-BR" sz="2800" i="1" u="sng" baseline="30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tde</a:t>
            </a:r>
            <a:r>
              <a:rPr lang="pt-BR" sz="28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</a:t>
            </a:r>
            <a:r>
              <a:rPr lang="pt-BR" sz="2800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</a:t>
            </a:r>
            <a:endParaRPr lang="pt-BR" sz="2800" i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6" name="AutoShape 9">
            <a:extLst>
              <a:ext uri="{FF2B5EF4-FFF2-40B4-BE49-F238E27FC236}">
                <a16:creationId xmlns:a16="http://schemas.microsoft.com/office/drawing/2014/main" id="{13A00AD5-0711-119D-634D-CDA5404EC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076" y="1827214"/>
            <a:ext cx="981075" cy="1120775"/>
          </a:xfrm>
          <a:prstGeom prst="flowChartProcess">
            <a:avLst/>
          </a:prstGeom>
          <a:solidFill>
            <a:srgbClr val="FFFF00"/>
          </a:solidFill>
          <a:ln w="12700">
            <a:miter lim="800000"/>
            <a:headEnd/>
            <a:tailEnd type="none" w="sm" len="lg"/>
          </a:ln>
          <a:effectLst/>
          <a:scene3d>
            <a:camera prst="legacyObliqueTopRight"/>
            <a:lightRig rig="legacyFlat3" dir="b"/>
          </a:scene3d>
          <a:sp3d extrusionH="430200" prstMaterial="legacyPlastic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wrap="none" anchor="ctr">
            <a:flatTx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pt-BR" sz="28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Q</a:t>
            </a:r>
            <a:r>
              <a:rPr lang="pt-BR" sz="1600" baseline="30000">
                <a:latin typeface="Times New Roman" pitchFamily="18" charset="0"/>
              </a:rPr>
              <a:t> </a:t>
            </a:r>
            <a:r>
              <a:rPr lang="pt-BR" sz="2800" i="1" u="sng" baseline="30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lde</a:t>
            </a:r>
            <a:r>
              <a:rPr lang="pt-BR" sz="2800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</a:t>
            </a:r>
            <a:r>
              <a:rPr lang="pt-BR" sz="2800" i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07008983-53B0-928E-E72A-E7AAE7789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4403776"/>
            <a:ext cx="2781300" cy="617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762000" indent="-762000">
              <a:lnSpc>
                <a:spcPct val="85000"/>
              </a:lnSpc>
            </a:pP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B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</a:rPr>
              <a:t>  – </a:t>
            </a:r>
            <a:r>
              <a:rPr lang="pt-BR" sz="2000">
                <a:solidFill>
                  <a:schemeClr val="accent2"/>
                </a:solidFill>
              </a:rPr>
              <a:t>Largura da banda de transmissão</a:t>
            </a:r>
            <a:r>
              <a:rPr lang="pt-BR">
                <a:solidFill>
                  <a:schemeClr val="accent2"/>
                </a:solidFill>
              </a:rPr>
              <a:t> </a:t>
            </a:r>
            <a:endParaRPr lang="pt-BR" i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D0D16EE1-3382-5710-B1B4-A1911792C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5127676"/>
            <a:ext cx="2743200" cy="617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714375" indent="-714375">
              <a:lnSpc>
                <a:spcPct val="85000"/>
              </a:lnSpc>
            </a:pPr>
            <a:r>
              <a:rPr lang="pt-BR" i="1">
                <a:solidFill>
                  <a:schemeClr val="accent2"/>
                </a:solidFill>
                <a:latin typeface="Times New Roman" pitchFamily="18" charset="0"/>
              </a:rPr>
              <a:t>P</a:t>
            </a:r>
            <a:r>
              <a:rPr lang="pt-BR" i="1" baseline="-25000">
                <a:solidFill>
                  <a:schemeClr val="accent2"/>
                </a:solidFill>
                <a:latin typeface="Times New Roman" pitchFamily="18" charset="0"/>
              </a:rPr>
              <a:t>s</a:t>
            </a:r>
            <a:r>
              <a:rPr lang="pt-BR">
                <a:solidFill>
                  <a:schemeClr val="accent2"/>
                </a:solidFill>
                <a:latin typeface="Times New Roman" pitchFamily="18" charset="0"/>
              </a:rPr>
              <a:t>  – </a:t>
            </a:r>
            <a:r>
              <a:rPr lang="pt-BR" sz="2000">
                <a:solidFill>
                  <a:schemeClr val="accent2"/>
                </a:solidFill>
              </a:rPr>
              <a:t>Potência do sinal   transmitido</a:t>
            </a:r>
            <a:r>
              <a:rPr lang="pt-BR">
                <a:solidFill>
                  <a:schemeClr val="accent2"/>
                </a:solidFill>
              </a:rPr>
              <a:t> </a:t>
            </a:r>
            <a:endParaRPr lang="pt-BR" i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5052C023-D209-9F1F-6C8F-7D09365E1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130571"/>
            <a:ext cx="3657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162050" indent="-1162050">
              <a:lnSpc>
                <a:spcPct val="90000"/>
              </a:lnSpc>
            </a:pPr>
            <a:r>
              <a:rPr lang="pt-BR" i="1" dirty="0" err="1">
                <a:solidFill>
                  <a:srgbClr val="CC3300"/>
                </a:solidFill>
                <a:latin typeface="Times New Roman" pitchFamily="18" charset="0"/>
              </a:rPr>
              <a:t>Q</a:t>
            </a:r>
            <a:r>
              <a:rPr lang="pt-BR" i="1" u="sng" baseline="30000" dirty="0" err="1">
                <a:solidFill>
                  <a:srgbClr val="CC3300"/>
                </a:solidFill>
                <a:latin typeface="Times New Roman" pitchFamily="18" charset="0"/>
              </a:rPr>
              <a:t>tde</a:t>
            </a:r>
            <a:r>
              <a:rPr lang="pt-BR" i="1" baseline="-25000" dirty="0">
                <a:solidFill>
                  <a:srgbClr val="CC3300"/>
                </a:solidFill>
                <a:latin typeface="Times New Roman" pitchFamily="18" charset="0"/>
              </a:rPr>
              <a:t> </a:t>
            </a:r>
            <a:r>
              <a:rPr lang="pt-BR" i="1" dirty="0">
                <a:solidFill>
                  <a:srgbClr val="CC3300"/>
                </a:solidFill>
                <a:latin typeface="Times New Roman" pitchFamily="18" charset="0"/>
              </a:rPr>
              <a:t>I</a:t>
            </a:r>
            <a:r>
              <a:rPr lang="pt-BR" i="1" baseline="-25000" dirty="0">
                <a:solidFill>
                  <a:srgbClr val="CC3300"/>
                </a:solidFill>
                <a:latin typeface="Times New Roman" pitchFamily="18" charset="0"/>
              </a:rPr>
              <a:t>t</a:t>
            </a:r>
            <a:r>
              <a:rPr lang="pt-BR" dirty="0">
                <a:solidFill>
                  <a:srgbClr val="CC3300"/>
                </a:solidFill>
                <a:latin typeface="Times New Roman" pitchFamily="18" charset="0"/>
              </a:rPr>
              <a:t>  – </a:t>
            </a:r>
            <a:r>
              <a:rPr lang="pt-BR" sz="2000" dirty="0">
                <a:solidFill>
                  <a:srgbClr val="CC3300"/>
                </a:solidFill>
              </a:rPr>
              <a:t>Quantidade de informação transmitida</a:t>
            </a:r>
            <a:r>
              <a:rPr lang="pt-BR" dirty="0">
                <a:solidFill>
                  <a:srgbClr val="CC3300"/>
                </a:solidFill>
              </a:rPr>
              <a:t> </a:t>
            </a:r>
            <a:endParaRPr lang="pt-BR" i="1" dirty="0">
              <a:solidFill>
                <a:srgbClr val="CC3300"/>
              </a:solidFill>
              <a:latin typeface="Times New Roman" pitchFamily="18" charset="0"/>
            </a:endParaRPr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DEAB91EA-DB93-D1BF-9DFA-B0CA4CD6C4F4}"/>
              </a:ext>
            </a:extLst>
          </p:cNvPr>
          <p:cNvSpPr>
            <a:spLocks/>
          </p:cNvSpPr>
          <p:nvPr/>
        </p:nvSpPr>
        <p:spPr bwMode="auto">
          <a:xfrm>
            <a:off x="4400550" y="4460925"/>
            <a:ext cx="88900" cy="1371600"/>
          </a:xfrm>
          <a:prstGeom prst="rightBrace">
            <a:avLst>
              <a:gd name="adj1" fmla="val 128571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Text Box 14">
            <a:extLst>
              <a:ext uri="{FF2B5EF4-FFF2-40B4-BE49-F238E27FC236}">
                <a16:creationId xmlns:a16="http://schemas.microsoft.com/office/drawing/2014/main" id="{56937AE3-268A-6639-8D3A-1B80DFCB6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4575226"/>
            <a:ext cx="1956212" cy="117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pt-BR" sz="2000" dirty="0">
                <a:solidFill>
                  <a:schemeClr val="accent2"/>
                </a:solidFill>
              </a:rPr>
              <a:t>Recursos primários de um sistema de comunicação</a:t>
            </a:r>
            <a:r>
              <a:rPr lang="pt-BR" dirty="0">
                <a:solidFill>
                  <a:schemeClr val="accent2"/>
                </a:solidFill>
              </a:rPr>
              <a:t> </a:t>
            </a:r>
            <a:endParaRPr lang="pt-BR" i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8" name="Text Box 15">
            <a:extLst>
              <a:ext uri="{FF2B5EF4-FFF2-40B4-BE49-F238E27FC236}">
                <a16:creationId xmlns:a16="http://schemas.microsoft.com/office/drawing/2014/main" id="{AE30A47D-BB5B-C68C-374D-D8AA6C52F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7076" y="3980647"/>
            <a:ext cx="35909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162050" indent="-1162050">
              <a:lnSpc>
                <a:spcPct val="90000"/>
              </a:lnSpc>
            </a:pPr>
            <a:r>
              <a:rPr lang="pt-BR" i="1" dirty="0" err="1">
                <a:solidFill>
                  <a:srgbClr val="CC3300"/>
                </a:solidFill>
                <a:latin typeface="Times New Roman" pitchFamily="18" charset="0"/>
              </a:rPr>
              <a:t>Q</a:t>
            </a:r>
            <a:r>
              <a:rPr lang="pt-BR" i="1" u="sng" baseline="30000" dirty="0" err="1">
                <a:solidFill>
                  <a:srgbClr val="CC3300"/>
                </a:solidFill>
                <a:latin typeface="Times New Roman" pitchFamily="18" charset="0"/>
              </a:rPr>
              <a:t>lde</a:t>
            </a:r>
            <a:r>
              <a:rPr lang="pt-BR" i="1" baseline="-25000" dirty="0">
                <a:solidFill>
                  <a:srgbClr val="CC3300"/>
                </a:solidFill>
                <a:latin typeface="Times New Roman" pitchFamily="18" charset="0"/>
              </a:rPr>
              <a:t> </a:t>
            </a:r>
            <a:r>
              <a:rPr lang="pt-BR" i="1" dirty="0">
                <a:solidFill>
                  <a:srgbClr val="CC3300"/>
                </a:solidFill>
                <a:latin typeface="Times New Roman" pitchFamily="18" charset="0"/>
              </a:rPr>
              <a:t>I</a:t>
            </a:r>
            <a:r>
              <a:rPr lang="pt-BR" i="1" baseline="-25000" dirty="0">
                <a:solidFill>
                  <a:srgbClr val="CC3300"/>
                </a:solidFill>
                <a:latin typeface="Times New Roman" pitchFamily="18" charset="0"/>
              </a:rPr>
              <a:t>r</a:t>
            </a:r>
            <a:r>
              <a:rPr lang="pt-BR" dirty="0">
                <a:solidFill>
                  <a:srgbClr val="CC3300"/>
                </a:solidFill>
                <a:latin typeface="Times New Roman" pitchFamily="18" charset="0"/>
              </a:rPr>
              <a:t>  – </a:t>
            </a:r>
            <a:r>
              <a:rPr lang="pt-BR" sz="2000" dirty="0">
                <a:solidFill>
                  <a:srgbClr val="CC3300"/>
                </a:solidFill>
              </a:rPr>
              <a:t>Qualidade da informação recebida</a:t>
            </a:r>
            <a:r>
              <a:rPr lang="pt-BR" dirty="0">
                <a:solidFill>
                  <a:srgbClr val="CC3300"/>
                </a:solidFill>
              </a:rPr>
              <a:t> </a:t>
            </a:r>
            <a:endParaRPr lang="pt-BR" i="1" dirty="0">
              <a:solidFill>
                <a:srgbClr val="CC3300"/>
              </a:solidFill>
              <a:latin typeface="Times New Roman" pitchFamily="18" charset="0"/>
            </a:endParaRPr>
          </a:p>
        </p:txBody>
      </p:sp>
      <p:graphicFrame>
        <p:nvGraphicFramePr>
          <p:cNvPr id="30" name="Object 16">
            <a:extLst>
              <a:ext uri="{FF2B5EF4-FFF2-40B4-BE49-F238E27FC236}">
                <a16:creationId xmlns:a16="http://schemas.microsoft.com/office/drawing/2014/main" id="{F0E92C5C-C1C8-633D-3765-8004E4D0F6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5140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7">
            <a:extLst>
              <a:ext uri="{FF2B5EF4-FFF2-40B4-BE49-F238E27FC236}">
                <a16:creationId xmlns:a16="http://schemas.microsoft.com/office/drawing/2014/main" id="{F499D626-8EB4-B307-D59E-25BB8CB6A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160485"/>
            <a:ext cx="3581400" cy="879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714375" indent="-714375">
              <a:lnSpc>
                <a:spcPct val="85000"/>
              </a:lnSpc>
            </a:pPr>
            <a:r>
              <a:rPr lang="pt-BR" i="1" dirty="0">
                <a:solidFill>
                  <a:schemeClr val="accent2"/>
                </a:solidFill>
                <a:latin typeface="Times New Roman" pitchFamily="18" charset="0"/>
              </a:rPr>
              <a:t>C</a:t>
            </a:r>
            <a:r>
              <a:rPr lang="pt-BR" i="1" baseline="-25000" dirty="0">
                <a:solidFill>
                  <a:schemeClr val="accent2"/>
                </a:solidFill>
                <a:latin typeface="Times New Roman" pitchFamily="18" charset="0"/>
              </a:rPr>
              <a:t>x</a:t>
            </a:r>
            <a:r>
              <a:rPr lang="pt-BR" dirty="0">
                <a:solidFill>
                  <a:schemeClr val="accent2"/>
                </a:solidFill>
                <a:latin typeface="Times New Roman" pitchFamily="18" charset="0"/>
              </a:rPr>
              <a:t>  – </a:t>
            </a:r>
            <a:r>
              <a:rPr lang="pt-BR" sz="2000" dirty="0">
                <a:solidFill>
                  <a:schemeClr val="accent2"/>
                </a:solidFill>
              </a:rPr>
              <a:t>Complexidade dos esquemas de transmissão e de recepção</a:t>
            </a:r>
            <a:r>
              <a:rPr lang="pt-BR" dirty="0">
                <a:solidFill>
                  <a:schemeClr val="accent2"/>
                </a:solidFill>
              </a:rPr>
              <a:t> </a:t>
            </a:r>
            <a:endParaRPr lang="pt-BR" i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A31FF8B-74AC-F6E5-1A31-53C08CE31AC2}"/>
              </a:ext>
            </a:extLst>
          </p:cNvPr>
          <p:cNvSpPr txBox="1"/>
          <p:nvPr/>
        </p:nvSpPr>
        <p:spPr>
          <a:xfrm>
            <a:off x="1435396" y="5878287"/>
            <a:ext cx="10015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Objetivo é maximizar a quantidade de informação e a qualidade, utilizando poucos recursos e com baixa complexidade.... 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B0A58C8-3A77-7C37-00B0-37A89F4005F0}"/>
              </a:ext>
            </a:extLst>
          </p:cNvPr>
          <p:cNvSpPr txBox="1"/>
          <p:nvPr/>
        </p:nvSpPr>
        <p:spPr>
          <a:xfrm>
            <a:off x="3028950" y="1162770"/>
            <a:ext cx="1062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Eficiência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BD4B6E1-DE57-27EA-153A-A89D28B602EF}"/>
              </a:ext>
            </a:extLst>
          </p:cNvPr>
          <p:cNvSpPr txBox="1"/>
          <p:nvPr/>
        </p:nvSpPr>
        <p:spPr>
          <a:xfrm>
            <a:off x="8187876" y="1162770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Qualidade</a:t>
            </a:r>
          </a:p>
        </p:txBody>
      </p:sp>
    </p:spTree>
    <p:extLst>
      <p:ext uri="{BB962C8B-B14F-4D97-AF65-F5344CB8AC3E}">
        <p14:creationId xmlns:p14="http://schemas.microsoft.com/office/powerpoint/2010/main" val="144034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9FE441-B5D8-464E-B272-E5E9701C444C}">
  <ds:schemaRefs>
    <ds:schemaRef ds:uri="7338d0ee-48d0-42fd-8eee-cce9c16843bc"/>
    <ds:schemaRef ds:uri="95c025fe-a600-4cde-9b8b-77161b10ab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1395</TotalTime>
  <Words>1652</Words>
  <Application>Microsoft Office PowerPoint</Application>
  <PresentationFormat>Widescreen</PresentationFormat>
  <Paragraphs>380</Paragraphs>
  <Slides>29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29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MS Shell Dlg</vt:lpstr>
      <vt:lpstr>Nokia Sans Wide</vt:lpstr>
      <vt:lpstr>Segoe UI Black</vt:lpstr>
      <vt:lpstr>Symbol</vt:lpstr>
      <vt:lpstr>Times New Roman</vt:lpstr>
      <vt:lpstr>Wingdings</vt:lpstr>
      <vt:lpstr>Tema do Office</vt:lpstr>
      <vt:lpstr>Equação</vt:lpstr>
      <vt:lpstr>Chart</vt:lpstr>
      <vt:lpstr>Equation</vt:lpstr>
      <vt:lpstr>Introdução</vt:lpstr>
      <vt:lpstr>O que é “Comunicação”</vt:lpstr>
      <vt:lpstr>Tipos de Comunicação</vt:lpstr>
      <vt:lpstr>Rede de Comunicações</vt:lpstr>
      <vt:lpstr>Enlace de um Sistema de Comunicações</vt:lpstr>
      <vt:lpstr>Enlace</vt:lpstr>
      <vt:lpstr>Enlace - Elementos</vt:lpstr>
      <vt:lpstr>Sinais Analógicos e Digitais</vt:lpstr>
      <vt:lpstr>Conversão Analógico-Digital</vt:lpstr>
      <vt:lpstr>Sinais Determinísticos e Aleatórios</vt:lpstr>
      <vt:lpstr>Enlace - Transmissor</vt:lpstr>
      <vt:lpstr>Enlace – Canal O que é</vt:lpstr>
      <vt:lpstr>Enlace – Canal O que ele faz</vt:lpstr>
      <vt:lpstr>Enlace - Receptor</vt:lpstr>
      <vt:lpstr>Sinal Tempo - Frequência</vt:lpstr>
      <vt:lpstr>Espectro</vt:lpstr>
      <vt:lpstr>Modulação</vt:lpstr>
      <vt:lpstr>Modulação Exemplos</vt:lpstr>
      <vt:lpstr>Modulação Analógica</vt:lpstr>
      <vt:lpstr>Modulação Digital</vt:lpstr>
      <vt:lpstr>Modulação Para Que?</vt:lpstr>
      <vt:lpstr>Multiplexação</vt:lpstr>
      <vt:lpstr>Quantidade de Informação Métricas</vt:lpstr>
      <vt:lpstr>Decibel Definição</vt:lpstr>
      <vt:lpstr>Decibel Por que usar</vt:lpstr>
      <vt:lpstr>Qualidade de Sinais de Transmissão</vt:lpstr>
      <vt:lpstr>Qualidade de Mensagens Analógicas</vt:lpstr>
      <vt:lpstr>Qualidade de Mensagens Digitais</vt:lpstr>
      <vt:lpstr>Critérios para escolha de um esquema de transmissão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5</cp:revision>
  <cp:lastPrinted>2017-06-06T18:46:34Z</cp:lastPrinted>
  <dcterms:created xsi:type="dcterms:W3CDTF">2022-06-23T16:27:38Z</dcterms:created>
  <dcterms:modified xsi:type="dcterms:W3CDTF">2026-08-15T03:10:04Z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