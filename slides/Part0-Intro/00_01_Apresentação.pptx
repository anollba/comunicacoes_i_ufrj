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4"/>
  </p:notesMasterIdLst>
  <p:handoutMasterIdLst>
    <p:handoutMasterId r:id="rId15"/>
  </p:handoutMasterIdLst>
  <p:sldIdLst>
    <p:sldId id="259" r:id="rId5"/>
    <p:sldId id="258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2192000" cy="6858000"/>
  <p:notesSz cx="6797675" cy="9926638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529" userDrawn="1">
          <p15:clr>
            <a:srgbClr val="A4A3A4"/>
          </p15:clr>
        </p15:guide>
        <p15:guide id="2" pos="7151" userDrawn="1">
          <p15:clr>
            <a:srgbClr val="A4A3A4"/>
          </p15:clr>
        </p15:guide>
        <p15:guide id="3" orient="horz" pos="799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onia Ximenes | Brazil | Licks Attorneys" initials="SX|B|LA" lastIdx="5" clrIdx="0">
    <p:extLst>
      <p:ext uri="{19B8F6BF-5375-455C-9EA6-DF929625EA0E}">
        <p15:presenceInfo xmlns:p15="http://schemas.microsoft.com/office/powerpoint/2012/main" userId="S-1-5-21-4064988553-3364987943-4011221069-257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DDDD"/>
    <a:srgbClr val="221B6F"/>
    <a:srgbClr val="FFFFFF"/>
    <a:srgbClr val="231F20"/>
    <a:srgbClr val="1A203F"/>
    <a:srgbClr val="72BF44"/>
    <a:srgbClr val="383B71"/>
    <a:srgbClr val="C9252C"/>
    <a:srgbClr val="393C73"/>
    <a:srgbClr val="E6C4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4E2FD8-2414-4687-AB0C-841F36F67FDA}" v="230" dt="2026-08-14T20:06:48.041"/>
    <p1510:client id="{9DFB60FD-7C5E-4764-B324-69A4091C7317}" v="39" dt="2026-08-13T22:05:57.42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>
        <p:guide pos="529"/>
        <p:guide pos="7151"/>
        <p:guide orient="horz" pos="7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3850443" y="1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3928FA-D2C6-41DE-B220-3F2DB2F37ACE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3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82AF58-AFB8-48A3-96B5-4550277F42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2127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50443" y="1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67B741-5C22-4E92-9233-564803058EDF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3170F2-A307-469F-9C21-48DA32EBBF5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28859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F2760AE9-7072-6665-A798-B16FE36959C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861054" cy="6858000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6062421D-6B9C-2119-9B24-9A8301D37D45}"/>
              </a:ext>
            </a:extLst>
          </p:cNvPr>
          <p:cNvSpPr txBox="1"/>
          <p:nvPr userDrawn="1"/>
        </p:nvSpPr>
        <p:spPr>
          <a:xfrm>
            <a:off x="4211128" y="1747180"/>
            <a:ext cx="74100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>
                <a:solidFill>
                  <a:srgbClr val="0070C0"/>
                </a:solidFill>
              </a:rPr>
              <a:t>Comunicações I</a:t>
            </a:r>
          </a:p>
        </p:txBody>
      </p:sp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992CEFEA-E523-3B80-3BF1-555F84BF36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11128" y="212338"/>
            <a:ext cx="741009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3600" b="1">
                <a:solidFill>
                  <a:srgbClr val="0070C0"/>
                </a:solidFill>
              </a:defRPr>
            </a:lvl1pPr>
          </a:lstStyle>
          <a:p>
            <a:r>
              <a:rPr lang="pt-BR" noProof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9913590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sór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6096001" y="1367660"/>
            <a:ext cx="5269356" cy="1579289"/>
          </a:xfrm>
        </p:spPr>
        <p:txBody>
          <a:bodyPr anchor="t"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4000">
                <a:solidFill>
                  <a:srgbClr val="383B7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</a:lstStyle>
          <a:p>
            <a:r>
              <a:rPr lang="pt-BR" noProof="0"/>
              <a:t>Click </a:t>
            </a:r>
            <a:r>
              <a:rPr lang="pt-BR" noProof="0" err="1"/>
              <a:t>to</a:t>
            </a:r>
            <a:r>
              <a:rPr lang="pt-BR" noProof="0"/>
              <a:t> </a:t>
            </a:r>
            <a:r>
              <a:rPr lang="pt-BR" noProof="0" err="1"/>
              <a:t>edit</a:t>
            </a:r>
            <a:r>
              <a:rPr lang="pt-BR" noProof="0"/>
              <a:t> Master </a:t>
            </a:r>
            <a:r>
              <a:rPr lang="pt-BR" noProof="0" err="1"/>
              <a:t>title</a:t>
            </a:r>
            <a:r>
              <a:rPr lang="pt-BR" noProof="0"/>
              <a:t> </a:t>
            </a:r>
            <a:r>
              <a:rPr lang="pt-BR" noProof="0" err="1"/>
              <a:t>style</a:t>
            </a:r>
            <a:endParaRPr lang="pt-BR" noProof="0"/>
          </a:p>
        </p:txBody>
      </p:sp>
      <p:sp>
        <p:nvSpPr>
          <p:cNvPr id="13" name="CaixaDeTexto 15">
            <a:extLst>
              <a:ext uri="{FF2B5EF4-FFF2-40B4-BE49-F238E27FC236}">
                <a16:creationId xmlns:a16="http://schemas.microsoft.com/office/drawing/2014/main" id="{3034A8DE-CBF7-4126-9C31-A37C294C2BE3}"/>
              </a:ext>
            </a:extLst>
          </p:cNvPr>
          <p:cNvSpPr txBox="1"/>
          <p:nvPr userDrawn="1"/>
        </p:nvSpPr>
        <p:spPr>
          <a:xfrm>
            <a:off x="10664324" y="6528028"/>
            <a:ext cx="45867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855878"/>
            <a:fld id="{62780EB2-574A-44ED-8A24-CBC304E57FAD}" type="slidenum">
              <a:rPr lang="pt-BR" sz="900">
                <a:solidFill>
                  <a:schemeClr val="tx1"/>
                </a:solidFill>
              </a:rPr>
              <a:pPr algn="r" defTabSz="855878"/>
              <a:t>‹nº›</a:t>
            </a:fld>
            <a:endParaRPr lang="pt-BR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5049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somen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838200" y="152401"/>
            <a:ext cx="10515600" cy="862012"/>
          </a:xfrm>
        </p:spPr>
        <p:txBody>
          <a:bodyPr lIns="0" tIns="0" rIns="0" bIns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pt-BR" sz="2800" b="1" kern="1200" noProof="0" dirty="0">
                <a:solidFill>
                  <a:srgbClr val="383B7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</a:lstStyle>
          <a:p>
            <a:r>
              <a:rPr lang="pt-BR" noProof="0"/>
              <a:t>Click </a:t>
            </a:r>
            <a:r>
              <a:rPr lang="pt-BR" noProof="0" err="1"/>
              <a:t>to</a:t>
            </a:r>
            <a:r>
              <a:rPr lang="pt-BR" noProof="0"/>
              <a:t> </a:t>
            </a:r>
            <a:r>
              <a:rPr lang="pt-BR" noProof="0" err="1"/>
              <a:t>edit</a:t>
            </a:r>
            <a:r>
              <a:rPr lang="pt-BR" noProof="0"/>
              <a:t> Master </a:t>
            </a:r>
            <a:r>
              <a:rPr lang="pt-BR" noProof="0" err="1"/>
              <a:t>title</a:t>
            </a:r>
            <a:r>
              <a:rPr lang="pt-BR" noProof="0"/>
              <a:t> </a:t>
            </a:r>
            <a:r>
              <a:rPr lang="pt-BR" noProof="0" err="1"/>
              <a:t>style</a:t>
            </a:r>
            <a:endParaRPr lang="pt-BR" noProof="0"/>
          </a:p>
        </p:txBody>
      </p: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BF8B259D-0248-B69D-71BA-B3EF94543820}"/>
              </a:ext>
            </a:extLst>
          </p:cNvPr>
          <p:cNvCxnSpPr/>
          <p:nvPr userDrawn="1"/>
        </p:nvCxnSpPr>
        <p:spPr>
          <a:xfrm>
            <a:off x="838200" y="1014413"/>
            <a:ext cx="10515600" cy="0"/>
          </a:xfrm>
          <a:prstGeom prst="line">
            <a:avLst/>
          </a:prstGeom>
          <a:ln w="412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1287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somen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838200" y="152401"/>
            <a:ext cx="10515600" cy="862012"/>
          </a:xfrm>
        </p:spPr>
        <p:txBody>
          <a:bodyPr lIns="0" tIns="0" rIns="0" bIns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pt-BR" sz="2800" b="1" kern="1200" noProof="0" dirty="0">
                <a:solidFill>
                  <a:srgbClr val="383B7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</a:lstStyle>
          <a:p>
            <a:r>
              <a:rPr lang="pt-BR" noProof="0"/>
              <a:t>Click </a:t>
            </a:r>
            <a:r>
              <a:rPr lang="pt-BR" noProof="0" err="1"/>
              <a:t>to</a:t>
            </a:r>
            <a:r>
              <a:rPr lang="pt-BR" noProof="0"/>
              <a:t> </a:t>
            </a:r>
            <a:r>
              <a:rPr lang="pt-BR" noProof="0" err="1"/>
              <a:t>edit</a:t>
            </a:r>
            <a:r>
              <a:rPr lang="pt-BR" noProof="0"/>
              <a:t> Master </a:t>
            </a:r>
            <a:r>
              <a:rPr lang="pt-BR" noProof="0" err="1"/>
              <a:t>title</a:t>
            </a:r>
            <a:r>
              <a:rPr lang="pt-BR" noProof="0"/>
              <a:t> </a:t>
            </a:r>
            <a:r>
              <a:rPr lang="pt-BR" noProof="0" err="1"/>
              <a:t>style</a:t>
            </a:r>
            <a:endParaRPr lang="pt-BR" noProof="0"/>
          </a:p>
        </p:txBody>
      </p:sp>
      <p:sp>
        <p:nvSpPr>
          <p:cNvPr id="2" name="Espaço Reservado para Texto 2">
            <a:extLst>
              <a:ext uri="{FF2B5EF4-FFF2-40B4-BE49-F238E27FC236}">
                <a16:creationId xmlns:a16="http://schemas.microsoft.com/office/drawing/2014/main" id="{CD91DA93-1A48-C321-821D-9EA19546B4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5551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noProof="0"/>
              <a:t>Editar estilos de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9A349D25-7E18-DCA3-9D79-EDA429B7D62D}"/>
              </a:ext>
            </a:extLst>
          </p:cNvPr>
          <p:cNvCxnSpPr/>
          <p:nvPr userDrawn="1"/>
        </p:nvCxnSpPr>
        <p:spPr>
          <a:xfrm>
            <a:off x="838200" y="1014413"/>
            <a:ext cx="10515600" cy="0"/>
          </a:xfrm>
          <a:prstGeom prst="line">
            <a:avLst/>
          </a:prstGeom>
          <a:ln w="412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96703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6429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noProof="0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noProof="0"/>
              <a:t>Editar estilos de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9BE6A030-3DD1-D6A5-E876-EB091AB8E4C0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9" y="0"/>
            <a:ext cx="649089" cy="6858000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38AEE830-9E8A-DF74-4039-CE307E4895E4}"/>
              </a:ext>
            </a:extLst>
          </p:cNvPr>
          <p:cNvSpPr txBox="1"/>
          <p:nvPr userDrawn="1"/>
        </p:nvSpPr>
        <p:spPr>
          <a:xfrm>
            <a:off x="838200" y="6383547"/>
            <a:ext cx="26986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2477187-2393-2A22-8770-9F34FADBFE4E}"/>
              </a:ext>
            </a:extLst>
          </p:cNvPr>
          <p:cNvSpPr txBox="1"/>
          <p:nvPr userDrawn="1"/>
        </p:nvSpPr>
        <p:spPr>
          <a:xfrm>
            <a:off x="838199" y="6418053"/>
            <a:ext cx="33456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>
                <a:solidFill>
                  <a:srgbClr val="0070C0"/>
                </a:solidFill>
              </a:rPr>
              <a:t>Comunicações I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BA3DE7BE-E395-47CF-16B5-9329C7E53BC8}"/>
              </a:ext>
            </a:extLst>
          </p:cNvPr>
          <p:cNvSpPr txBox="1"/>
          <p:nvPr userDrawn="1"/>
        </p:nvSpPr>
        <p:spPr>
          <a:xfrm>
            <a:off x="9936191" y="6414324"/>
            <a:ext cx="14176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400">
                <a:solidFill>
                  <a:srgbClr val="0070C0"/>
                </a:solidFill>
              </a:rPr>
              <a:t>Prof. André Noll</a:t>
            </a:r>
          </a:p>
        </p:txBody>
      </p:sp>
    </p:spTree>
    <p:extLst>
      <p:ext uri="{BB962C8B-B14F-4D97-AF65-F5344CB8AC3E}">
        <p14:creationId xmlns:p14="http://schemas.microsoft.com/office/powerpoint/2010/main" val="26813812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61" r:id="rId3"/>
    <p:sldLayoutId id="2147483662" r:id="rId4"/>
    <p:sldLayoutId id="2147483651" r:id="rId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anollba.github.io/comunicacoes_i_ufrj/" TargetMode="Externa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mailto:Thadeu.dias@smt.ufrj.br" TargetMode="External"/><Relationship Id="rId2" Type="http://schemas.openxmlformats.org/officeDocument/2006/relationships/hyperlink" Target="mailto:andre.nollba@gmail.com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3F866E-AD52-F484-BC73-B5DC3F9FC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Informações Gerais</a:t>
            </a:r>
          </a:p>
        </p:txBody>
      </p:sp>
    </p:spTree>
    <p:extLst>
      <p:ext uri="{BB962C8B-B14F-4D97-AF65-F5344CB8AC3E}">
        <p14:creationId xmlns:p14="http://schemas.microsoft.com/office/powerpoint/2010/main" val="2096903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BA533C-106D-5002-2C4A-F3FEF6E00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Pré-Requisitos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64156A0-101B-E293-F9A0-945B3825EF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103"/>
            <a:ext cx="10515600" cy="4351338"/>
          </a:xfrm>
        </p:spPr>
        <p:txBody>
          <a:bodyPr>
            <a:normAutofit fontScale="85000" lnSpcReduction="20000"/>
          </a:bodyPr>
          <a:lstStyle/>
          <a:p>
            <a:pPr marL="280670" indent="-280670">
              <a:buNone/>
            </a:pPr>
            <a:r>
              <a:rPr lang="en-US" dirty="0" err="1"/>
              <a:t>Conhecimentos</a:t>
            </a:r>
            <a:r>
              <a:rPr lang="en-US" dirty="0"/>
              <a:t> </a:t>
            </a:r>
            <a:r>
              <a:rPr lang="en-US" dirty="0" err="1"/>
              <a:t>prévios</a:t>
            </a:r>
            <a:r>
              <a:rPr lang="en-US" dirty="0"/>
              <a:t> </a:t>
            </a:r>
            <a:r>
              <a:rPr lang="en-US" dirty="0" err="1"/>
              <a:t>necessários</a:t>
            </a:r>
            <a:r>
              <a:rPr lang="en-US" dirty="0"/>
              <a:t>:</a:t>
            </a:r>
            <a:endParaRPr lang="pt-BR" dirty="0"/>
          </a:p>
          <a:p>
            <a:endParaRPr lang="en-US" dirty="0"/>
          </a:p>
          <a:p>
            <a:pPr marL="280670" indent="-280670"/>
            <a:r>
              <a:rPr lang="en-US" b="1" dirty="0" err="1">
                <a:solidFill>
                  <a:srgbClr val="0070C0"/>
                </a:solidFill>
              </a:rPr>
              <a:t>Cálculo</a:t>
            </a:r>
            <a:endParaRPr lang="en-US" b="1" dirty="0">
              <a:solidFill>
                <a:srgbClr val="0070C0"/>
              </a:solidFill>
            </a:endParaRPr>
          </a:p>
          <a:p>
            <a:pPr marL="0" indent="0">
              <a:buNone/>
            </a:pPr>
            <a:endParaRPr lang="en-US" b="1" dirty="0">
              <a:solidFill>
                <a:srgbClr val="0070C0"/>
              </a:solidFill>
            </a:endParaRPr>
          </a:p>
          <a:p>
            <a:pPr marL="280670" indent="-280670"/>
            <a:r>
              <a:rPr lang="en-US" b="1" dirty="0" err="1">
                <a:solidFill>
                  <a:srgbClr val="0070C0"/>
                </a:solidFill>
              </a:rPr>
              <a:t>Circuitos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Elétricos</a:t>
            </a:r>
            <a:endParaRPr lang="en-US" b="1" dirty="0">
              <a:solidFill>
                <a:srgbClr val="0070C0"/>
              </a:solidFill>
            </a:endParaRPr>
          </a:p>
          <a:p>
            <a:endParaRPr lang="en-US" b="1" dirty="0">
              <a:solidFill>
                <a:srgbClr val="0070C0"/>
              </a:solidFill>
            </a:endParaRPr>
          </a:p>
          <a:p>
            <a:pPr marL="280670" indent="-280670"/>
            <a:r>
              <a:rPr lang="en-US" b="1" dirty="0" err="1">
                <a:solidFill>
                  <a:srgbClr val="0070C0"/>
                </a:solidFill>
              </a:rPr>
              <a:t>Números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Complexos</a:t>
            </a:r>
            <a:endParaRPr lang="en-US" b="1" dirty="0">
              <a:solidFill>
                <a:srgbClr val="0070C0"/>
              </a:solidFill>
            </a:endParaRPr>
          </a:p>
          <a:p>
            <a:endParaRPr lang="en-US" b="1" dirty="0">
              <a:solidFill>
                <a:srgbClr val="0070C0"/>
              </a:solidFill>
            </a:endParaRPr>
          </a:p>
          <a:p>
            <a:pPr marL="280670" indent="-280670"/>
            <a:r>
              <a:rPr lang="en-US" b="1" dirty="0">
                <a:solidFill>
                  <a:srgbClr val="0070C0"/>
                </a:solidFill>
              </a:rPr>
              <a:t>Sistemas </a:t>
            </a:r>
            <a:r>
              <a:rPr lang="en-US" b="1" dirty="0" err="1">
                <a:solidFill>
                  <a:srgbClr val="0070C0"/>
                </a:solidFill>
              </a:rPr>
              <a:t>Lineares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vamos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revisar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  <a:p>
            <a:endParaRPr lang="en-US" dirty="0"/>
          </a:p>
          <a:p>
            <a:pPr marL="280670" indent="-280670"/>
            <a:r>
              <a:rPr lang="en-US" dirty="0" err="1"/>
              <a:t>Probabilidade</a:t>
            </a:r>
            <a:r>
              <a:rPr lang="en-US" dirty="0"/>
              <a:t> (</a:t>
            </a:r>
            <a:r>
              <a:rPr lang="en-US" dirty="0" err="1"/>
              <a:t>desejado</a:t>
            </a:r>
            <a:r>
              <a:rPr lang="en-US" dirty="0"/>
              <a:t>)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57534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FED28F-89AE-AED7-418F-5A3DAC485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Ementa</a:t>
            </a:r>
            <a:br>
              <a:rPr lang="pt-BR" dirty="0"/>
            </a:br>
            <a:r>
              <a:rPr lang="en-US" sz="2400" dirty="0" err="1">
                <a:latin typeface="Arial" pitchFamily="34" charset="0"/>
                <a:cs typeface="Arial" pitchFamily="34" charset="0"/>
              </a:rPr>
              <a:t>Parte</a:t>
            </a:r>
            <a:r>
              <a:rPr lang="en-US" sz="2400" dirty="0">
                <a:latin typeface="Arial" pitchFamily="34" charset="0"/>
                <a:cs typeface="Arial" pitchFamily="34" charset="0"/>
              </a:rPr>
              <a:t> 1 –</a:t>
            </a:r>
            <a:r>
              <a:rPr lang="en-US" sz="2400" dirty="0" err="1">
                <a:latin typeface="Arial" pitchFamily="34" charset="0"/>
                <a:cs typeface="Arial" pitchFamily="34" charset="0"/>
              </a:rPr>
              <a:t>Introdução</a:t>
            </a:r>
            <a:r>
              <a:rPr lang="en-US" sz="2400" dirty="0">
                <a:latin typeface="Arial" pitchFamily="34" charset="0"/>
                <a:cs typeface="Arial" pitchFamily="34" charset="0"/>
              </a:rPr>
              <a:t> e </a:t>
            </a:r>
            <a:r>
              <a:rPr lang="en-US" sz="2400" dirty="0" err="1">
                <a:latin typeface="Arial" pitchFamily="34" charset="0"/>
                <a:cs typeface="Arial" pitchFamily="34" charset="0"/>
              </a:rPr>
              <a:t>Revisão</a:t>
            </a:r>
            <a:br>
              <a:rPr lang="en-US" dirty="0">
                <a:latin typeface="Arial" pitchFamily="34" charset="0"/>
                <a:cs typeface="Arial" pitchFamily="34" charset="0"/>
              </a:rPr>
            </a:b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412CF67-C846-D9CD-D7FF-D232B6D2F5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 err="1">
                <a:latin typeface="Arial" pitchFamily="34" charset="0"/>
                <a:cs typeface="Arial" pitchFamily="34" charset="0"/>
              </a:rPr>
              <a:t>Elementos</a:t>
            </a:r>
            <a:r>
              <a:rPr lang="en-US" sz="2400" dirty="0">
                <a:latin typeface="Arial" pitchFamily="34" charset="0"/>
                <a:cs typeface="Arial" pitchFamily="34" charset="0"/>
              </a:rPr>
              <a:t> de um </a:t>
            </a:r>
            <a:r>
              <a:rPr lang="en-US" sz="2400" dirty="0" err="1">
                <a:latin typeface="Arial" pitchFamily="34" charset="0"/>
                <a:cs typeface="Arial" pitchFamily="34" charset="0"/>
              </a:rPr>
              <a:t>sistema</a:t>
            </a:r>
            <a:r>
              <a:rPr lang="en-US" sz="2400" dirty="0">
                <a:latin typeface="Arial" pitchFamily="34" charset="0"/>
                <a:cs typeface="Arial" pitchFamily="34" charset="0"/>
              </a:rPr>
              <a:t> de </a:t>
            </a:r>
            <a:r>
              <a:rPr lang="en-US" sz="2400" dirty="0" err="1">
                <a:latin typeface="Arial" pitchFamily="34" charset="0"/>
                <a:cs typeface="Arial" pitchFamily="34" charset="0"/>
              </a:rPr>
              <a:t>comunicação</a:t>
            </a:r>
            <a:endParaRPr lang="en-US" sz="2400" dirty="0">
              <a:latin typeface="Arial" pitchFamily="34" charset="0"/>
              <a:cs typeface="Arial" pitchFamily="34" charset="0"/>
            </a:endParaRPr>
          </a:p>
          <a:p>
            <a:r>
              <a:rPr lang="en-US" sz="2400" dirty="0" err="1">
                <a:latin typeface="Arial" pitchFamily="34" charset="0"/>
                <a:cs typeface="Arial" pitchFamily="34" charset="0"/>
              </a:rPr>
              <a:t>Análise</a:t>
            </a:r>
            <a:r>
              <a:rPr lang="en-US" sz="2400" dirty="0">
                <a:latin typeface="Arial" pitchFamily="34" charset="0"/>
                <a:cs typeface="Arial" pitchFamily="34" charset="0"/>
              </a:rPr>
              <a:t> e </a:t>
            </a:r>
            <a:r>
              <a:rPr lang="en-US" sz="2400" dirty="0" err="1">
                <a:latin typeface="Arial" pitchFamily="34" charset="0"/>
                <a:cs typeface="Arial" pitchFamily="34" charset="0"/>
              </a:rPr>
              <a:t>representação</a:t>
            </a:r>
            <a:r>
              <a:rPr lang="en-US" sz="2400" dirty="0">
                <a:latin typeface="Arial" pitchFamily="34" charset="0"/>
                <a:cs typeface="Arial" pitchFamily="34" charset="0"/>
              </a:rPr>
              <a:t> de </a:t>
            </a:r>
            <a:r>
              <a:rPr lang="en-US" sz="2400" dirty="0" err="1">
                <a:latin typeface="Arial" pitchFamily="34" charset="0"/>
                <a:cs typeface="Arial" pitchFamily="34" charset="0"/>
              </a:rPr>
              <a:t>sinais</a:t>
            </a:r>
            <a:r>
              <a:rPr lang="en-US" sz="2400" dirty="0">
                <a:latin typeface="Arial" pitchFamily="34" charset="0"/>
                <a:cs typeface="Arial" pitchFamily="34" charset="0"/>
              </a:rPr>
              <a:t> e </a:t>
            </a:r>
            <a:r>
              <a:rPr lang="en-US" sz="2400" dirty="0" err="1">
                <a:latin typeface="Arial" pitchFamily="34" charset="0"/>
                <a:cs typeface="Arial" pitchFamily="34" charset="0"/>
              </a:rPr>
              <a:t>sistemas</a:t>
            </a:r>
            <a:endParaRPr lang="en-US" sz="2400" dirty="0">
              <a:latin typeface="Arial" pitchFamily="34" charset="0"/>
              <a:cs typeface="Arial" pitchFamily="34" charset="0"/>
            </a:endParaRPr>
          </a:p>
          <a:p>
            <a:r>
              <a:rPr lang="en-US" sz="2400" dirty="0">
                <a:latin typeface="Arial" pitchFamily="34" charset="0"/>
                <a:cs typeface="Arial" pitchFamily="34" charset="0"/>
              </a:rPr>
              <a:t>Tempo e </a:t>
            </a:r>
            <a:r>
              <a:rPr lang="en-US" sz="2400" dirty="0" err="1">
                <a:latin typeface="Arial" pitchFamily="34" charset="0"/>
                <a:cs typeface="Arial" pitchFamily="34" charset="0"/>
              </a:rPr>
              <a:t>frequência</a:t>
            </a:r>
            <a:r>
              <a:rPr lang="en-US" sz="2400" dirty="0">
                <a:latin typeface="Arial" pitchFamily="34" charset="0"/>
                <a:cs typeface="Arial" pitchFamily="34" charset="0"/>
              </a:rPr>
              <a:t>, </a:t>
            </a:r>
            <a:r>
              <a:rPr lang="en-US" sz="2400" dirty="0" err="1">
                <a:latin typeface="Arial" pitchFamily="34" charset="0"/>
                <a:cs typeface="Arial" pitchFamily="34" charset="0"/>
              </a:rPr>
              <a:t>Análise</a:t>
            </a:r>
            <a:r>
              <a:rPr lang="en-US" sz="2400" dirty="0">
                <a:latin typeface="Arial" pitchFamily="34" charset="0"/>
                <a:cs typeface="Arial" pitchFamily="34" charset="0"/>
              </a:rPr>
              <a:t> de Fourier</a:t>
            </a:r>
          </a:p>
          <a:p>
            <a:r>
              <a:rPr lang="en-US" sz="2400" dirty="0" err="1">
                <a:latin typeface="Arial" pitchFamily="34" charset="0"/>
                <a:cs typeface="Arial" pitchFamily="34" charset="0"/>
              </a:rPr>
              <a:t>Transmissão</a:t>
            </a:r>
            <a:r>
              <a:rPr lang="en-US" sz="24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400" dirty="0" err="1">
                <a:latin typeface="Arial" pitchFamily="34" charset="0"/>
                <a:cs typeface="Arial" pitchFamily="34" charset="0"/>
              </a:rPr>
              <a:t>em</a:t>
            </a:r>
            <a:r>
              <a:rPr lang="en-US" sz="2400" dirty="0">
                <a:latin typeface="Arial" pitchFamily="34" charset="0"/>
                <a:cs typeface="Arial" pitchFamily="34" charset="0"/>
              </a:rPr>
              <a:t> Sistemas </a:t>
            </a:r>
            <a:r>
              <a:rPr lang="en-US" sz="2400" dirty="0" err="1">
                <a:latin typeface="Arial" pitchFamily="34" charset="0"/>
                <a:cs typeface="Arial" pitchFamily="34" charset="0"/>
              </a:rPr>
              <a:t>Lineares</a:t>
            </a:r>
            <a:r>
              <a:rPr lang="en-US" sz="2400" dirty="0">
                <a:latin typeface="Arial" pitchFamily="34" charset="0"/>
                <a:cs typeface="Arial" pitchFamily="34" charset="0"/>
              </a:rPr>
              <a:t> e </a:t>
            </a:r>
            <a:r>
              <a:rPr lang="en-US" sz="2400" dirty="0" err="1">
                <a:latin typeface="Arial" pitchFamily="34" charset="0"/>
                <a:cs typeface="Arial" pitchFamily="34" charset="0"/>
              </a:rPr>
              <a:t>Não</a:t>
            </a:r>
            <a:r>
              <a:rPr lang="en-US" sz="24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400" dirty="0" err="1">
                <a:latin typeface="Arial" pitchFamily="34" charset="0"/>
                <a:cs typeface="Arial" pitchFamily="34" charset="0"/>
              </a:rPr>
              <a:t>Lineares</a:t>
            </a:r>
            <a:endParaRPr lang="en-US" sz="2400" dirty="0">
              <a:latin typeface="Arial" pitchFamily="34" charset="0"/>
              <a:cs typeface="Arial" pitchFamily="34" charset="0"/>
            </a:endParaRPr>
          </a:p>
          <a:p>
            <a:r>
              <a:rPr lang="en-US" sz="2400" dirty="0" err="1">
                <a:latin typeface="Arial" pitchFamily="34" charset="0"/>
                <a:cs typeface="Arial" pitchFamily="34" charset="0"/>
              </a:rPr>
              <a:t>Densidade</a:t>
            </a:r>
            <a:r>
              <a:rPr lang="en-US" sz="24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400" dirty="0" err="1">
                <a:latin typeface="Arial" pitchFamily="34" charset="0"/>
                <a:cs typeface="Arial" pitchFamily="34" charset="0"/>
              </a:rPr>
              <a:t>Espectral</a:t>
            </a:r>
            <a:r>
              <a:rPr lang="en-US" sz="2400" dirty="0">
                <a:latin typeface="Arial" pitchFamily="34" charset="0"/>
                <a:cs typeface="Arial" pitchFamily="34" charset="0"/>
              </a:rPr>
              <a:t> de Energia/</a:t>
            </a:r>
            <a:r>
              <a:rPr lang="en-US" sz="2400" dirty="0" err="1">
                <a:latin typeface="Arial" pitchFamily="34" charset="0"/>
                <a:cs typeface="Arial" pitchFamily="34" charset="0"/>
              </a:rPr>
              <a:t>Potência</a:t>
            </a:r>
            <a:endParaRPr lang="en-US" sz="2400" dirty="0">
              <a:latin typeface="Arial" pitchFamily="34" charset="0"/>
              <a:cs typeface="Arial" pitchFamily="34" charset="0"/>
            </a:endParaRPr>
          </a:p>
          <a:p>
            <a:r>
              <a:rPr lang="en-US" sz="2400" dirty="0" err="1">
                <a:latin typeface="Arial" pitchFamily="34" charset="0"/>
                <a:cs typeface="Arial" pitchFamily="34" charset="0"/>
              </a:rPr>
              <a:t>Conceito</a:t>
            </a:r>
            <a:r>
              <a:rPr lang="en-US" sz="2400" dirty="0">
                <a:latin typeface="Arial" pitchFamily="34" charset="0"/>
                <a:cs typeface="Arial" pitchFamily="34" charset="0"/>
              </a:rPr>
              <a:t> de dB</a:t>
            </a:r>
          </a:p>
          <a:p>
            <a:r>
              <a:rPr lang="en-US" sz="2400" dirty="0" err="1">
                <a:latin typeface="Arial" pitchFamily="34" charset="0"/>
                <a:cs typeface="Arial" pitchFamily="34" charset="0"/>
              </a:rPr>
              <a:t>Ruído</a:t>
            </a:r>
            <a:r>
              <a:rPr lang="en-US" sz="24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400" dirty="0" err="1">
                <a:latin typeface="Arial" pitchFamily="34" charset="0"/>
                <a:cs typeface="Arial" pitchFamily="34" charset="0"/>
              </a:rPr>
              <a:t>Térmico</a:t>
            </a:r>
            <a:endParaRPr lang="en-US" sz="2400" dirty="0">
              <a:latin typeface="Arial" pitchFamily="34" charset="0"/>
              <a:cs typeface="Arial" pitchFamily="34" charset="0"/>
            </a:endParaRPr>
          </a:p>
          <a:p>
            <a:r>
              <a:rPr lang="en-US" sz="2400" dirty="0" err="1">
                <a:latin typeface="Arial" pitchFamily="34" charset="0"/>
                <a:cs typeface="Arial" pitchFamily="34" charset="0"/>
              </a:rPr>
              <a:t>Envoltória</a:t>
            </a:r>
            <a:r>
              <a:rPr lang="en-US" sz="24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400" dirty="0" err="1">
                <a:latin typeface="Arial" pitchFamily="34" charset="0"/>
                <a:cs typeface="Arial" pitchFamily="34" charset="0"/>
              </a:rPr>
              <a:t>Complexa</a:t>
            </a:r>
            <a:r>
              <a:rPr lang="en-US" sz="2400" dirty="0">
                <a:latin typeface="Arial" pitchFamily="34" charset="0"/>
                <a:cs typeface="Arial" pitchFamily="34" charset="0"/>
              </a:rPr>
              <a:t> de </a:t>
            </a:r>
            <a:r>
              <a:rPr lang="en-US" sz="2400" dirty="0" err="1">
                <a:latin typeface="Arial" pitchFamily="34" charset="0"/>
                <a:cs typeface="Arial" pitchFamily="34" charset="0"/>
              </a:rPr>
              <a:t>sinal</a:t>
            </a:r>
            <a:r>
              <a:rPr lang="en-US" sz="24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400" dirty="0" err="1">
                <a:latin typeface="Arial" pitchFamily="34" charset="0"/>
                <a:cs typeface="Arial" pitchFamily="34" charset="0"/>
              </a:rPr>
              <a:t>em</a:t>
            </a:r>
            <a:r>
              <a:rPr lang="en-US" sz="24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400" dirty="0" err="1">
                <a:latin typeface="Arial" pitchFamily="34" charset="0"/>
                <a:cs typeface="Arial" pitchFamily="34" charset="0"/>
              </a:rPr>
              <a:t>banda</a:t>
            </a:r>
            <a:r>
              <a:rPr lang="en-US" sz="24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400" dirty="0" err="1">
                <a:latin typeface="Arial" pitchFamily="34" charset="0"/>
                <a:cs typeface="Arial" pitchFamily="34" charset="0"/>
              </a:rPr>
              <a:t>passante</a:t>
            </a:r>
            <a:endParaRPr lang="en-US" sz="2400" dirty="0">
              <a:latin typeface="Arial" pitchFamily="34" charset="0"/>
              <a:cs typeface="Arial" pitchFamily="34" charset="0"/>
            </a:endParaRP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1528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5B16D8-287A-F5E4-AF24-0F003D46D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Ementa</a:t>
            </a:r>
            <a:br>
              <a:rPr lang="pt-BR" dirty="0"/>
            </a:br>
            <a:r>
              <a:rPr lang="pt-BR" sz="2400" dirty="0"/>
              <a:t>Parte 2 – Modulação Analógica</a:t>
            </a:r>
            <a:br>
              <a:rPr lang="pt-BR" dirty="0"/>
            </a:b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2534F70-5DBA-5F8C-C97A-2461227C2A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0988" indent="-280988" defTabSz="762000">
              <a:spcBef>
                <a:spcPct val="40000"/>
              </a:spcBef>
              <a:buClr>
                <a:schemeClr val="hlink"/>
              </a:buClr>
              <a:buFontTx/>
              <a:buChar char="•"/>
            </a:pPr>
            <a:r>
              <a:rPr lang="en-US" sz="2400" dirty="0" err="1"/>
              <a:t>Parte</a:t>
            </a:r>
            <a:r>
              <a:rPr lang="en-US" sz="2400" dirty="0"/>
              <a:t> 2 – </a:t>
            </a:r>
            <a:r>
              <a:rPr lang="en-US" sz="2400" dirty="0" err="1"/>
              <a:t>Modulação</a:t>
            </a:r>
            <a:r>
              <a:rPr lang="en-US" sz="2400" dirty="0"/>
              <a:t> </a:t>
            </a:r>
            <a:r>
              <a:rPr lang="en-US" sz="2400" dirty="0" err="1"/>
              <a:t>Analógica</a:t>
            </a:r>
            <a:endParaRPr lang="en-US" sz="2400" dirty="0"/>
          </a:p>
          <a:p>
            <a:pPr marL="280988" indent="-280988" defTabSz="762000">
              <a:spcBef>
                <a:spcPct val="40000"/>
              </a:spcBef>
              <a:buClr>
                <a:schemeClr val="hlink"/>
              </a:buClr>
              <a:buFontTx/>
              <a:buChar char="•"/>
            </a:pPr>
            <a:endParaRPr lang="en-US" sz="2400" dirty="0"/>
          </a:p>
          <a:p>
            <a:pPr marL="666750" lvl="1" indent="-195263" defTabSz="762000">
              <a:buClr>
                <a:schemeClr val="hlink"/>
              </a:buClr>
              <a:buSzPct val="75000"/>
              <a:buFontTx/>
              <a:buChar char="•"/>
            </a:pPr>
            <a:r>
              <a:rPr lang="en-US" dirty="0" err="1"/>
              <a:t>Modulação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amplitude (AM)</a:t>
            </a:r>
          </a:p>
          <a:p>
            <a:pPr marL="666750" lvl="1" indent="-195263" defTabSz="762000">
              <a:buClr>
                <a:schemeClr val="hlink"/>
              </a:buClr>
              <a:buSzPct val="75000"/>
              <a:buFontTx/>
              <a:buChar char="•"/>
            </a:pPr>
            <a:r>
              <a:rPr lang="en-US" dirty="0" err="1"/>
              <a:t>Modulação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fase</a:t>
            </a:r>
            <a:r>
              <a:rPr lang="en-US" dirty="0"/>
              <a:t> (PM)</a:t>
            </a:r>
          </a:p>
          <a:p>
            <a:pPr marL="666750" lvl="1" indent="-195263" defTabSz="762000">
              <a:buClr>
                <a:schemeClr val="hlink"/>
              </a:buClr>
              <a:buSzPct val="75000"/>
              <a:buFontTx/>
              <a:buChar char="•"/>
            </a:pPr>
            <a:r>
              <a:rPr lang="en-US" dirty="0" err="1"/>
              <a:t>Modulação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freqüência</a:t>
            </a:r>
            <a:r>
              <a:rPr lang="en-US" dirty="0"/>
              <a:t> (FM)</a:t>
            </a:r>
          </a:p>
          <a:p>
            <a:pPr marL="666750" lvl="1" indent="-195263" defTabSz="762000">
              <a:buClr>
                <a:schemeClr val="hlink"/>
              </a:buClr>
              <a:buSzPct val="75000"/>
              <a:buFontTx/>
              <a:buChar char="•"/>
            </a:pPr>
            <a:r>
              <a:rPr lang="en-US" dirty="0" err="1"/>
              <a:t>Arquitetura</a:t>
            </a:r>
            <a:r>
              <a:rPr lang="en-US" dirty="0"/>
              <a:t> de </a:t>
            </a:r>
            <a:r>
              <a:rPr lang="en-US" dirty="0" err="1"/>
              <a:t>receptores</a:t>
            </a:r>
            <a:r>
              <a:rPr lang="en-US" dirty="0"/>
              <a:t> e </a:t>
            </a:r>
            <a:r>
              <a:rPr lang="en-US" dirty="0" err="1"/>
              <a:t>transmissores</a:t>
            </a:r>
            <a:endParaRPr lang="en-US" dirty="0"/>
          </a:p>
          <a:p>
            <a:pPr marL="666750" lvl="1" indent="-195263" defTabSz="762000">
              <a:buClr>
                <a:schemeClr val="hlink"/>
              </a:buClr>
              <a:buSzPct val="75000"/>
              <a:buFontTx/>
              <a:buChar char="•"/>
            </a:pPr>
            <a:r>
              <a:rPr lang="pt-BR" dirty="0"/>
              <a:t>Desempenho em ambiente ruidoso </a:t>
            </a:r>
            <a:endParaRPr lang="en-US" dirty="0"/>
          </a:p>
          <a:p>
            <a:pPr marL="666750" lvl="1" indent="-195263" defTabSz="762000">
              <a:buClr>
                <a:schemeClr val="hlink"/>
              </a:buClr>
              <a:buSzPct val="75000"/>
              <a:buFontTx/>
              <a:buChar char="•"/>
            </a:pPr>
            <a:r>
              <a:rPr lang="en-US" dirty="0" err="1"/>
              <a:t>Multiplexação</a:t>
            </a:r>
            <a:r>
              <a:rPr lang="en-US" dirty="0"/>
              <a:t>/</a:t>
            </a:r>
            <a:r>
              <a:rPr lang="en-US" dirty="0" err="1"/>
              <a:t>Duplexação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divisão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Frequência</a:t>
            </a:r>
            <a:endParaRPr lang="en-US" dirty="0"/>
          </a:p>
          <a:p>
            <a:pPr marL="666750" lvl="1" indent="-195263" defTabSz="762000">
              <a:buClr>
                <a:schemeClr val="hlink"/>
              </a:buClr>
              <a:buSzPct val="75000"/>
              <a:buFontTx/>
              <a:buChar char="•"/>
            </a:pPr>
            <a:r>
              <a:rPr lang="en-US" dirty="0"/>
              <a:t>Receptor </a:t>
            </a:r>
            <a:r>
              <a:rPr lang="en-US" dirty="0" err="1"/>
              <a:t>superheteródino</a:t>
            </a:r>
            <a:endParaRPr lang="en-US" dirty="0"/>
          </a:p>
          <a:p>
            <a:pPr marL="666750" lvl="1" indent="-195263" defTabSz="762000">
              <a:buClr>
                <a:schemeClr val="hlink"/>
              </a:buClr>
              <a:buSzPct val="75000"/>
              <a:buFontTx/>
              <a:buChar char="•"/>
            </a:pPr>
            <a:r>
              <a:rPr lang="en-US" dirty="0"/>
              <a:t>Sistemas de Comunicação - Enlace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8178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1D1546-1E16-816D-9E6F-ACE229A77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Ementa</a:t>
            </a:r>
            <a:br>
              <a:rPr lang="pt-BR" dirty="0"/>
            </a:br>
            <a:r>
              <a:rPr lang="en-US" sz="2400" b="0" dirty="0" err="1"/>
              <a:t>Parte</a:t>
            </a:r>
            <a:r>
              <a:rPr lang="en-US" sz="2400" b="0" dirty="0"/>
              <a:t> 3 – </a:t>
            </a:r>
            <a:r>
              <a:rPr lang="en-US" sz="2400" b="0" dirty="0" err="1"/>
              <a:t>Introdução</a:t>
            </a:r>
            <a:r>
              <a:rPr lang="en-US" sz="2400" b="0" dirty="0"/>
              <a:t> à </a:t>
            </a:r>
            <a:r>
              <a:rPr lang="en-US" sz="2400" b="0" dirty="0" err="1"/>
              <a:t>Transmissão</a:t>
            </a:r>
            <a:r>
              <a:rPr lang="en-US" sz="2400" b="0" dirty="0"/>
              <a:t> Digital</a:t>
            </a:r>
            <a:br>
              <a:rPr lang="en-US" dirty="0"/>
            </a:br>
            <a:br>
              <a:rPr lang="pt-BR" dirty="0"/>
            </a:b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487AC63-4603-3263-A06A-44CB61FCB8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09550" indent="-195263" defTabSz="762000">
              <a:buClr>
                <a:schemeClr val="hlink"/>
              </a:buClr>
              <a:buSzPct val="75000"/>
              <a:buFontTx/>
              <a:buChar char="•"/>
            </a:pPr>
            <a:r>
              <a:rPr lang="en-US" dirty="0" err="1"/>
              <a:t>Conversão</a:t>
            </a:r>
            <a:r>
              <a:rPr lang="en-US" dirty="0"/>
              <a:t> </a:t>
            </a:r>
            <a:r>
              <a:rPr lang="en-US" dirty="0" err="1"/>
              <a:t>Analógico</a:t>
            </a:r>
            <a:r>
              <a:rPr lang="en-US" dirty="0"/>
              <a:t> Digital - </a:t>
            </a:r>
            <a:r>
              <a:rPr lang="en-US" dirty="0" err="1"/>
              <a:t>Amostragem</a:t>
            </a:r>
            <a:r>
              <a:rPr lang="en-US" dirty="0"/>
              <a:t> e </a:t>
            </a:r>
            <a:r>
              <a:rPr lang="en-US" dirty="0" err="1"/>
              <a:t>quantização</a:t>
            </a:r>
            <a:endParaRPr lang="en-US" dirty="0"/>
          </a:p>
          <a:p>
            <a:pPr marL="209550" indent="-195263" defTabSz="762000">
              <a:buClr>
                <a:schemeClr val="hlink"/>
              </a:buClr>
              <a:buSzPct val="75000"/>
              <a:buFontTx/>
              <a:buChar char="•"/>
            </a:pPr>
            <a:r>
              <a:rPr lang="en-US" dirty="0" err="1"/>
              <a:t>Modulação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código</a:t>
            </a:r>
            <a:r>
              <a:rPr lang="en-US" dirty="0"/>
              <a:t> de </a:t>
            </a:r>
            <a:r>
              <a:rPr lang="en-US" dirty="0" err="1"/>
              <a:t>pulsos</a:t>
            </a:r>
            <a:r>
              <a:rPr lang="en-US" dirty="0"/>
              <a:t> (PCM/DPCM)</a:t>
            </a:r>
          </a:p>
          <a:p>
            <a:pPr marL="209550" indent="-195263" defTabSz="762000">
              <a:buClr>
                <a:schemeClr val="hlink"/>
              </a:buClr>
              <a:buSzPct val="75000"/>
              <a:buFontTx/>
              <a:buChar char="•"/>
            </a:pPr>
            <a:r>
              <a:rPr lang="en-US" dirty="0" err="1"/>
              <a:t>Códigos</a:t>
            </a:r>
            <a:r>
              <a:rPr lang="en-US" dirty="0"/>
              <a:t> de </a:t>
            </a:r>
            <a:r>
              <a:rPr lang="en-US" dirty="0" err="1"/>
              <a:t>Linha</a:t>
            </a:r>
            <a:endParaRPr lang="en-US" dirty="0"/>
          </a:p>
          <a:p>
            <a:pPr marL="209550" indent="-195263" defTabSz="762000">
              <a:buClr>
                <a:schemeClr val="hlink"/>
              </a:buClr>
              <a:buSzPct val="75000"/>
              <a:buFontTx/>
              <a:buChar char="•"/>
            </a:pPr>
            <a:r>
              <a:rPr lang="en-US" dirty="0" err="1"/>
              <a:t>Multiplexação</a:t>
            </a:r>
            <a:endParaRPr lang="en-US" dirty="0"/>
          </a:p>
          <a:p>
            <a:pPr marL="209550" indent="-195263" defTabSz="762000">
              <a:buClr>
                <a:schemeClr val="hlink"/>
              </a:buClr>
              <a:buSzPct val="75000"/>
              <a:buFontTx/>
              <a:buChar char="•"/>
            </a:pPr>
            <a:r>
              <a:rPr lang="en-US" dirty="0" err="1"/>
              <a:t>Transmissão</a:t>
            </a:r>
            <a:r>
              <a:rPr lang="en-US" dirty="0"/>
              <a:t> Digital com </a:t>
            </a:r>
            <a:r>
              <a:rPr lang="en-US" dirty="0" err="1"/>
              <a:t>Portadora</a:t>
            </a:r>
            <a:endParaRPr lang="en-US" dirty="0"/>
          </a:p>
          <a:p>
            <a:pPr marL="209550" indent="-195263" defTabSz="762000">
              <a:buClr>
                <a:schemeClr val="hlink"/>
              </a:buClr>
              <a:buSzPct val="75000"/>
              <a:buFontTx/>
              <a:buChar char="•"/>
            </a:pPr>
            <a:r>
              <a:rPr lang="en-US" dirty="0" err="1"/>
              <a:t>Desempenho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presença</a:t>
            </a:r>
            <a:r>
              <a:rPr lang="en-US" dirty="0"/>
              <a:t> de </a:t>
            </a:r>
            <a:r>
              <a:rPr lang="en-US" dirty="0" err="1"/>
              <a:t>ruído</a:t>
            </a:r>
            <a:endParaRPr lang="en-US" dirty="0"/>
          </a:p>
          <a:p>
            <a:pPr marL="209550" indent="-195263" defTabSz="762000">
              <a:buClr>
                <a:schemeClr val="hlink"/>
              </a:buClr>
              <a:buSzPct val="75000"/>
              <a:buFontTx/>
              <a:buChar char="•"/>
            </a:pPr>
            <a:r>
              <a:rPr lang="en-US" dirty="0" err="1"/>
              <a:t>Multiplexação</a:t>
            </a:r>
            <a:r>
              <a:rPr lang="en-US" dirty="0"/>
              <a:t>/</a:t>
            </a:r>
            <a:r>
              <a:rPr lang="en-US" dirty="0" err="1"/>
              <a:t>Duplexação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divisão</a:t>
            </a:r>
            <a:r>
              <a:rPr lang="en-US" dirty="0"/>
              <a:t> no Tempo,</a:t>
            </a:r>
          </a:p>
          <a:p>
            <a:pPr marL="209550" indent="-195263" defTabSz="762000">
              <a:buClr>
                <a:schemeClr val="hlink"/>
              </a:buClr>
              <a:buSzPct val="75000"/>
              <a:buFontTx/>
              <a:buChar char="•"/>
            </a:pPr>
            <a:r>
              <a:rPr lang="pt-BR" dirty="0"/>
              <a:t>Interferência </a:t>
            </a:r>
            <a:r>
              <a:rPr lang="pt-BR" dirty="0" err="1"/>
              <a:t>Intersimbólica</a:t>
            </a:r>
            <a:r>
              <a:rPr lang="pt-BR" dirty="0"/>
              <a:t> - Critério de </a:t>
            </a:r>
            <a:r>
              <a:rPr lang="pt-BR" dirty="0" err="1"/>
              <a:t>Nyquist</a:t>
            </a:r>
            <a:endParaRPr lang="en-US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0803537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44AF1F-BB78-0CDD-530F-9661CD72F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Bibliografia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40872FFD-57E3-7792-42D9-9CC827BFCC58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838200" y="1595438"/>
            <a:ext cx="10515600" cy="4351337"/>
          </a:xfrm>
        </p:spPr>
        <p:txBody>
          <a:bodyPr>
            <a:normAutofit lnSpcReduction="10000"/>
          </a:bodyPr>
          <a:lstStyle/>
          <a:p>
            <a:pPr marL="280670" indent="-280670"/>
            <a:r>
              <a:rPr lang="en-US" b="1" dirty="0" err="1"/>
              <a:t>Livros</a:t>
            </a:r>
            <a:r>
              <a:rPr lang="en-US" b="1" dirty="0"/>
              <a:t> </a:t>
            </a:r>
            <a:r>
              <a:rPr lang="en-US" b="1" dirty="0" err="1"/>
              <a:t>Texto</a:t>
            </a:r>
            <a:r>
              <a:rPr lang="en-US" b="1" dirty="0"/>
              <a:t>:</a:t>
            </a:r>
            <a:endParaRPr lang="en-US" dirty="0"/>
          </a:p>
          <a:p>
            <a:pPr lvl="1" indent="-194945"/>
            <a:r>
              <a:rPr lang="en-US" dirty="0"/>
              <a:t>B. P. Lathi, </a:t>
            </a:r>
            <a:r>
              <a:rPr lang="en-US" i="1" dirty="0"/>
              <a:t>Modern Digital and Analog Communication Systems,  </a:t>
            </a:r>
            <a:r>
              <a:rPr lang="en-US" dirty="0"/>
              <a:t>Oxford University Press</a:t>
            </a:r>
            <a:r>
              <a:rPr lang="en-US" i="1" dirty="0"/>
              <a:t>, / </a:t>
            </a:r>
            <a:r>
              <a:rPr lang="pt-BR" i="1" dirty="0"/>
              <a:t>Sistemas de Comunicações Analógicos e Digitais, LTC, </a:t>
            </a:r>
            <a:r>
              <a:rPr lang="en-US" dirty="0"/>
              <a:t>4ª </a:t>
            </a:r>
            <a:r>
              <a:rPr lang="en-US" dirty="0" err="1"/>
              <a:t>Edição</a:t>
            </a:r>
            <a:r>
              <a:rPr lang="en-US" dirty="0"/>
              <a:t> </a:t>
            </a:r>
            <a:endParaRPr lang="en-US" b="1" dirty="0"/>
          </a:p>
          <a:p>
            <a:pPr lvl="1" indent="-194945"/>
            <a:r>
              <a:rPr lang="pt-BR" dirty="0"/>
              <a:t>S. </a:t>
            </a:r>
            <a:r>
              <a:rPr lang="pt-BR" dirty="0" err="1"/>
              <a:t>Haykin</a:t>
            </a:r>
            <a:r>
              <a:rPr lang="pt-BR" dirty="0"/>
              <a:t> e M. </a:t>
            </a:r>
            <a:r>
              <a:rPr lang="pt-BR" dirty="0" err="1"/>
              <a:t>Moher</a:t>
            </a:r>
            <a:r>
              <a:rPr lang="pt-BR" dirty="0"/>
              <a:t>, “</a:t>
            </a:r>
            <a:r>
              <a:rPr lang="pt-BR" i="1" dirty="0"/>
              <a:t>Introdução aos sistemas de comunicação</a:t>
            </a:r>
            <a:r>
              <a:rPr lang="pt-BR" dirty="0"/>
              <a:t>”, 2ª Ed., Editora Bookman, 2008</a:t>
            </a:r>
          </a:p>
          <a:p>
            <a:pPr lvl="1" indent="-194945"/>
            <a:r>
              <a:rPr lang="pt-BR" dirty="0"/>
              <a:t>L.W. </a:t>
            </a:r>
            <a:r>
              <a:rPr lang="pt-BR" dirty="0" err="1"/>
              <a:t>Couch</a:t>
            </a:r>
            <a:r>
              <a:rPr lang="pt-BR" dirty="0"/>
              <a:t>, “</a:t>
            </a:r>
            <a:r>
              <a:rPr lang="pt-BR" i="1" dirty="0"/>
              <a:t>Digital </a:t>
            </a:r>
            <a:r>
              <a:rPr lang="pt-BR" i="1" dirty="0" err="1"/>
              <a:t>and</a:t>
            </a:r>
            <a:r>
              <a:rPr lang="pt-BR" i="1" dirty="0"/>
              <a:t> </a:t>
            </a:r>
            <a:r>
              <a:rPr lang="pt-BR" i="1" dirty="0" err="1"/>
              <a:t>analog</a:t>
            </a:r>
            <a:r>
              <a:rPr lang="pt-BR" i="1" dirty="0"/>
              <a:t> Communication Systems</a:t>
            </a:r>
            <a:r>
              <a:rPr lang="pt-BR" dirty="0"/>
              <a:t>”, 7ª Ed., Prentice-Hall, 2007</a:t>
            </a:r>
          </a:p>
          <a:p>
            <a:endParaRPr lang="en-US" dirty="0"/>
          </a:p>
          <a:p>
            <a:pPr marL="280670" indent="-280670"/>
            <a:r>
              <a:rPr lang="en-US" dirty="0"/>
              <a:t>Material </a:t>
            </a:r>
            <a:r>
              <a:rPr lang="en-US" dirty="0" err="1"/>
              <a:t>Didático</a:t>
            </a:r>
            <a:r>
              <a:rPr lang="en-US" dirty="0"/>
              <a:t> (slides, </a:t>
            </a:r>
            <a:r>
              <a:rPr lang="en-US" dirty="0" err="1"/>
              <a:t>listas</a:t>
            </a:r>
            <a:r>
              <a:rPr lang="en-US" dirty="0"/>
              <a:t> de </a:t>
            </a:r>
            <a:r>
              <a:rPr lang="en-US" dirty="0" err="1"/>
              <a:t>exercícios</a:t>
            </a:r>
            <a:r>
              <a:rPr lang="en-US" dirty="0"/>
              <a:t>)  </a:t>
            </a:r>
            <a:r>
              <a:rPr lang="en-US" dirty="0" err="1"/>
              <a:t>será</a:t>
            </a:r>
            <a:r>
              <a:rPr lang="en-US" dirty="0"/>
              <a:t> </a:t>
            </a:r>
            <a:r>
              <a:rPr lang="en-US" dirty="0" err="1"/>
              <a:t>colocado</a:t>
            </a:r>
            <a:r>
              <a:rPr lang="en-US" dirty="0"/>
              <a:t> à </a:t>
            </a:r>
            <a:r>
              <a:rPr lang="en-US" dirty="0" err="1"/>
              <a:t>disposição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/>
              <a:t> </a:t>
            </a:r>
            <a:r>
              <a:rPr lang="en-US">
                <a:hlinkClick r:id="rId2"/>
              </a:rPr>
              <a:t>https://anollba.github.io/comunicacoes_i_ufrj/</a:t>
            </a:r>
            <a:r>
              <a:rPr lang="en-US"/>
              <a:t> </a:t>
            </a:r>
            <a:endParaRPr lang="en-US" dirty="0">
              <a:solidFill>
                <a:srgbClr val="000000"/>
              </a:solidFill>
            </a:endParaRPr>
          </a:p>
          <a:p>
            <a:endParaRPr lang="en-US" u="sng" dirty="0">
              <a:solidFill>
                <a:srgbClr val="063DE8"/>
              </a:solidFill>
            </a:endParaRPr>
          </a:p>
          <a:p>
            <a:pPr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310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 autoUpdateAnimBg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403F3D-4274-B1ED-95CD-1313B2CAE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96EADEC-74C1-5BF5-D510-A7F44EA4D9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0670" indent="-280670"/>
            <a:r>
              <a:rPr lang="en-US" dirty="0"/>
              <a:t>3 </a:t>
            </a:r>
            <a:r>
              <a:rPr lang="en-US" dirty="0" err="1"/>
              <a:t>provas</a:t>
            </a:r>
            <a:r>
              <a:rPr lang="en-US" dirty="0"/>
              <a:t> </a:t>
            </a:r>
            <a:r>
              <a:rPr lang="en-US" dirty="0" err="1"/>
              <a:t>teóricas</a:t>
            </a:r>
            <a:r>
              <a:rPr lang="en-US" dirty="0"/>
              <a:t> (</a:t>
            </a:r>
            <a:r>
              <a:rPr lang="en-US" dirty="0" err="1"/>
              <a:t>datas</a:t>
            </a:r>
            <a:r>
              <a:rPr lang="en-US" dirty="0"/>
              <a:t> </a:t>
            </a:r>
            <a:r>
              <a:rPr lang="en-US" dirty="0" err="1"/>
              <a:t>previstas</a:t>
            </a:r>
            <a:r>
              <a:rPr lang="en-US" dirty="0"/>
              <a:t>, </a:t>
            </a:r>
            <a:r>
              <a:rPr lang="en-US" dirty="0" err="1"/>
              <a:t>sujeito</a:t>
            </a:r>
            <a:r>
              <a:rPr lang="en-US" dirty="0"/>
              <a:t> a </a:t>
            </a:r>
            <a:r>
              <a:rPr lang="en-US" dirty="0" err="1"/>
              <a:t>mudanças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	Dias 14/09/26, 19/10/26 e 07/12/26</a:t>
            </a:r>
          </a:p>
          <a:p>
            <a:pPr marL="280670" indent="-280670"/>
            <a:r>
              <a:rPr lang="en-US" dirty="0" err="1"/>
              <a:t>Prova</a:t>
            </a:r>
            <a:r>
              <a:rPr lang="en-US" dirty="0"/>
              <a:t> Final</a:t>
            </a:r>
          </a:p>
          <a:p>
            <a:pPr marL="0" lvl="2" indent="0">
              <a:spcBef>
                <a:spcPts val="1000"/>
              </a:spcBef>
              <a:buNone/>
            </a:pPr>
            <a:r>
              <a:rPr lang="en-US" sz="2800" dirty="0"/>
              <a:t>	Dia 14/12</a:t>
            </a:r>
          </a:p>
          <a:p>
            <a:pPr>
              <a:buNone/>
            </a:pPr>
            <a:endParaRPr lang="en-US" dirty="0"/>
          </a:p>
          <a:p>
            <a:pPr marL="280670" indent="-280670"/>
            <a:r>
              <a:rPr lang="en-US" dirty="0" err="1"/>
              <a:t>Trabalhos</a:t>
            </a:r>
            <a:r>
              <a:rPr lang="en-US" dirty="0"/>
              <a:t> (</a:t>
            </a:r>
            <a:r>
              <a:rPr lang="en-US" i="1" dirty="0">
                <a:latin typeface="Times New Roman" pitchFamily="18" charset="0"/>
                <a:cs typeface="Times New Roman" pitchFamily="18" charset="0"/>
              </a:rPr>
              <a:t>S</a:t>
            </a:r>
            <a:r>
              <a:rPr lang="en-US" dirty="0"/>
              <a:t>) de </a:t>
            </a:r>
            <a:r>
              <a:rPr lang="en-US" dirty="0" err="1"/>
              <a:t>Simulação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Python (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grupo</a:t>
            </a:r>
            <a:r>
              <a:rPr lang="en-US" dirty="0"/>
              <a:t>)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959374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7347C7-BA4F-5949-E097-C25C8627A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1D94118-AC8B-6730-6F5C-1DF3D78E2A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26464"/>
                <a:ext cx="10515600" cy="4520425"/>
              </a:xfrm>
            </p:spPr>
            <p:txBody>
              <a:bodyPr>
                <a:normAutofit/>
              </a:bodyPr>
              <a:lstStyle/>
              <a:p>
                <a:pPr marL="280670" indent="-280670"/>
                <a:r>
                  <a:rPr lang="en-US" dirty="0"/>
                  <a:t>Nota Final:</a:t>
                </a:r>
                <a:endParaRPr lang="en-US" dirty="0">
                  <a:latin typeface="Nokia Sans Wide"/>
                  <a:cs typeface="Times New Roman" pitchFamily="18" charset="0"/>
                </a:endParaRPr>
              </a:p>
              <a:p>
                <a:pPr lvl="1" indent="-194945"/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  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  <a:cs typeface="Times New Roman" pitchFamily="18" charset="0"/>
                      </a:rPr>
                      <m:t>𝑃</m:t>
                    </m:r>
                    <m:r>
                      <a:rPr lang="pt-BR" b="0" i="1" smtClean="0">
                        <a:latin typeface="Cambria Math" panose="02040503050406030204" pitchFamily="18" charset="0"/>
                        <a:cs typeface="Times New Roman" pitchFamily="18" charset="0"/>
                      </a:rPr>
                      <m:t>=</m:t>
                    </m:r>
                    <m:f>
                      <m:fPr>
                        <m:ctrlPr>
                          <a:rPr lang="pt-BR" b="0" i="1" smtClean="0">
                            <a:latin typeface="Cambria Math" panose="02040503050406030204" pitchFamily="18" charset="0"/>
                            <a:cs typeface="Times New Roman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3</m:t>
                            </m:r>
                          </m:sub>
                        </m:sSub>
                      </m:num>
                      <m:den>
                        <m:r>
                          <a:rPr lang="pt-BR" b="0" i="1" smtClean="0"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   </a:t>
                </a:r>
                <a:r>
                  <a:rPr lang="en-US" dirty="0" err="1">
                    <a:latin typeface="Times New Roman" pitchFamily="18" charset="0"/>
                    <a:cs typeface="Times New Roman" pitchFamily="18" charset="0"/>
                  </a:rPr>
                  <a:t>ou</a:t>
                </a: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  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  <a:cs typeface="Times New Roman" pitchFamily="18" charset="0"/>
                      </a:rPr>
                      <m:t>𝑃</m:t>
                    </m:r>
                    <m:r>
                      <a:rPr lang="pt-BR" b="0" i="1" smtClean="0">
                        <a:latin typeface="Cambria Math" panose="02040503050406030204" pitchFamily="18" charset="0"/>
                        <a:cs typeface="Times New Roman" pitchFamily="18" charset="0"/>
                      </a:rPr>
                      <m:t>=</m:t>
                    </m:r>
                    <m:f>
                      <m:fPr>
                        <m:ctrlPr>
                          <a:rPr lang="pt-BR" b="0" i="1" smtClean="0">
                            <a:latin typeface="Cambria Math" panose="02040503050406030204" pitchFamily="18" charset="0"/>
                            <a:cs typeface="Times New Roman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4</m:t>
                            </m:r>
                          </m:sub>
                        </m:sSub>
                      </m:num>
                      <m:den>
                        <m:r>
                          <a:rPr lang="pt-BR" b="0" i="1" smtClean="0"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4</m:t>
                        </m:r>
                      </m:den>
                    </m:f>
                  </m:oMath>
                </a14:m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pPr lvl="1"/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pPr lvl="1"/>
                <a:r>
                  <a:rPr lang="en-US" dirty="0"/>
                  <a:t>Se </a:t>
                </a:r>
                <a:r>
                  <a:rPr lang="en-US" i="1" dirty="0">
                    <a:latin typeface="Times New Roman" pitchFamily="18" charset="0"/>
                    <a:cs typeface="Times New Roman" pitchFamily="18" charset="0"/>
                  </a:rPr>
                  <a:t>P</a:t>
                </a: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 </a:t>
                </a:r>
                <a:r>
                  <a:rPr lang="pt-BR" dirty="0">
                    <a:latin typeface="Times New Roman" pitchFamily="18" charset="0"/>
                    <a:cs typeface="Times New Roman" pitchFamily="18" charset="0"/>
                  </a:rPr>
                  <a:t>≥ 5</a:t>
                </a:r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pPr lvl="2"/>
                <a:endParaRPr lang="en-US" dirty="0"/>
              </a:p>
              <a:p>
                <a:pPr lvl="2"/>
                <a:r>
                  <a:rPr lang="en-US" dirty="0"/>
                  <a:t> 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num>
                      <m:den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Se </a:t>
                </a:r>
                <a:r>
                  <a:rPr lang="en-US" i="1" dirty="0">
                    <a:latin typeface="Times New Roman" pitchFamily="18" charset="0"/>
                    <a:cs typeface="Times New Roman" pitchFamily="18" charset="0"/>
                  </a:rPr>
                  <a:t>P</a:t>
                </a: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 &lt; 5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pPr lvl="1"/>
                <a:endParaRPr lang="en-US" b="1" dirty="0"/>
              </a:p>
              <a:p>
                <a:pPr lvl="1" indent="-194945"/>
                <a:r>
                  <a:rPr lang="en-US" b="1" dirty="0"/>
                  <a:t>Só </a:t>
                </a:r>
                <a:r>
                  <a:rPr lang="en-US" b="1" dirty="0" err="1"/>
                  <a:t>será</a:t>
                </a:r>
                <a:r>
                  <a:rPr lang="en-US" b="1" dirty="0"/>
                  <a:t> </a:t>
                </a:r>
                <a:r>
                  <a:rPr lang="en-US" b="1" dirty="0" err="1"/>
                  <a:t>aprovado</a:t>
                </a:r>
                <a:r>
                  <a:rPr lang="en-US" b="1" dirty="0"/>
                  <a:t> o </a:t>
                </a:r>
                <a:r>
                  <a:rPr lang="en-US" b="1" dirty="0" err="1"/>
                  <a:t>aluno</a:t>
                </a:r>
                <a:r>
                  <a:rPr lang="en-US" b="1" dirty="0"/>
                  <a:t> </a:t>
                </a:r>
                <a:r>
                  <a:rPr lang="en-US" b="1" dirty="0" err="1"/>
                  <a:t>que</a:t>
                </a:r>
                <a:r>
                  <a:rPr lang="en-US" b="1" dirty="0"/>
                  <a:t> </a:t>
                </a:r>
                <a:r>
                  <a:rPr lang="en-US" b="1" dirty="0" err="1"/>
                  <a:t>tiver</a:t>
                </a:r>
                <a:r>
                  <a:rPr lang="en-US" b="1" dirty="0"/>
                  <a:t> </a:t>
                </a:r>
                <a:r>
                  <a:rPr lang="en-US" b="1" dirty="0" err="1"/>
                  <a:t>média</a:t>
                </a:r>
                <a:r>
                  <a:rPr lang="en-US" b="1" dirty="0"/>
                  <a:t> 5 </a:t>
                </a:r>
                <a:r>
                  <a:rPr lang="en-US" b="1" dirty="0" err="1"/>
                  <a:t>na</a:t>
                </a:r>
                <a:r>
                  <a:rPr lang="en-US" b="1" dirty="0"/>
                  <a:t> </a:t>
                </a:r>
                <a:r>
                  <a:rPr lang="en-US" b="1" dirty="0" err="1"/>
                  <a:t>parte</a:t>
                </a:r>
                <a:r>
                  <a:rPr lang="en-US" b="1" dirty="0"/>
                  <a:t> </a:t>
                </a:r>
                <a:r>
                  <a:rPr lang="en-US" b="1" dirty="0" err="1"/>
                  <a:t>teórica</a:t>
                </a:r>
                <a:r>
                  <a:rPr lang="en-US" b="1" dirty="0"/>
                  <a:t>!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1D94118-AC8B-6730-6F5C-1DF3D78E2A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26464"/>
                <a:ext cx="10515600" cy="4520425"/>
              </a:xfrm>
              <a:blipFill>
                <a:blip r:embed="rId2"/>
                <a:stretch>
                  <a:fillRect l="-1043" t="-215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454319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33A1F4-CBB9-117D-CFB6-6BD79ABFB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" pitchFamily="34" charset="0"/>
                <a:cs typeface="Arial" pitchFamily="34" charset="0"/>
              </a:rPr>
              <a:t>Atendimento</a:t>
            </a:r>
            <a:endParaRPr lang="pt-BR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6D7DB568-12E1-70E3-BB80-B892F11E0FE8}"/>
              </a:ext>
            </a:extLst>
          </p:cNvPr>
          <p:cNvSpPr txBox="1"/>
          <p:nvPr/>
        </p:nvSpPr>
        <p:spPr>
          <a:xfrm>
            <a:off x="907542" y="1450652"/>
            <a:ext cx="609447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2000" dirty="0">
              <a:latin typeface="Arial" pitchFamily="34" charset="0"/>
              <a:cs typeface="Arial" pitchFamily="34" charset="0"/>
            </a:endParaRPr>
          </a:p>
          <a:p>
            <a:r>
              <a:rPr lang="en-US" sz="2000" dirty="0">
                <a:latin typeface="Arial" pitchFamily="34" charset="0"/>
                <a:cs typeface="Arial" pitchFamily="34" charset="0"/>
              </a:rPr>
              <a:t>Professor: André Noll Barreto</a:t>
            </a:r>
          </a:p>
          <a:p>
            <a:pPr lvl="1"/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  <a:hlinkClick r:id="rId2"/>
              </a:rPr>
              <a:t>andre.nollba@gmail.com</a:t>
            </a: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  <a:hlinkClick r:id="rId3"/>
              </a:rPr>
              <a:t>thadeu.dias@smt.ufrj.br</a:t>
            </a:r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</a:p>
          <a:p>
            <a:pPr lvl="1"/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lvl="1"/>
            <a:r>
              <a:rPr lang="en-US" sz="2000" dirty="0" err="1">
                <a:latin typeface="Arial" pitchFamily="34" charset="0"/>
                <a:cs typeface="Arial" pitchFamily="34" charset="0"/>
              </a:rPr>
              <a:t>Atendimento</a:t>
            </a:r>
            <a:r>
              <a:rPr lang="en-US" sz="2000" dirty="0">
                <a:latin typeface="Arial" pitchFamily="34" charset="0"/>
                <a:cs typeface="Arial" pitchFamily="34" charset="0"/>
              </a:rPr>
              <a:t> a ser </a:t>
            </a:r>
            <a:r>
              <a:rPr lang="en-US" sz="2000" dirty="0" err="1">
                <a:latin typeface="Arial" pitchFamily="34" charset="0"/>
                <a:cs typeface="Arial" pitchFamily="34" charset="0"/>
              </a:rPr>
              <a:t>combinado</a:t>
            </a:r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err="1">
                <a:latin typeface="Arial" pitchFamily="34" charset="0"/>
                <a:cs typeface="Arial" pitchFamily="34" charset="0"/>
              </a:rPr>
              <a:t>por</a:t>
            </a:r>
            <a:r>
              <a:rPr lang="en-US" sz="2000" dirty="0">
                <a:latin typeface="Arial" pitchFamily="34" charset="0"/>
                <a:cs typeface="Arial" pitchFamily="34" charset="0"/>
              </a:rPr>
              <a:t> E-mail</a:t>
            </a:r>
          </a:p>
          <a:p>
            <a:pPr lvl="1"/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lvl="1"/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90259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Licks Attorneys - Brazil - Presentation EN.potx  -  versão 2.0: 06/01/2022 11:04  -  Somente Leitura" id="{A6674CF9-3814-4F73-9FDA-DA843D583E93}" vid="{DB5BBEE7-B585-4951-AEB8-B408A647032B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16BCB7353188E4C9571C1B2EA1322FC" ma:contentTypeVersion="35" ma:contentTypeDescription="Crie um novo documento." ma:contentTypeScope="" ma:versionID="92c51d0239284ad1c813a13c01a4fe40">
  <xsd:schema xmlns:xsd="http://www.w3.org/2001/XMLSchema" xmlns:xs="http://www.w3.org/2001/XMLSchema" xmlns:p="http://schemas.microsoft.com/office/2006/metadata/properties" xmlns:ns1="http://schemas.microsoft.com/sharepoint/v3" xmlns:ns2="95c025fe-a600-4cde-9b8b-77161b10ab73" xmlns:ns3="7338d0ee-48d0-42fd-8eee-cce9c16843bc" targetNamespace="http://schemas.microsoft.com/office/2006/metadata/properties" ma:root="true" ma:fieldsID="6edbb47d3ff2f476a00cc06bb1101404" ns1:_="" ns2:_="" ns3:_="">
    <xsd:import namespace="http://schemas.microsoft.com/sharepoint/v3"/>
    <xsd:import namespace="95c025fe-a600-4cde-9b8b-77161b10ab73"/>
    <xsd:import namespace="7338d0ee-48d0-42fd-8eee-cce9c16843bc"/>
    <xsd:element name="properties">
      <xsd:complexType>
        <xsd:sequence>
          <xsd:element name="documentManagement">
            <xsd:complexType>
              <xsd:all>
                <xsd:element ref="ns2:Country_x0020_1" minOccurs="0"/>
                <xsd:element ref="ns1:PublishingStartDate" minOccurs="0"/>
                <xsd:element ref="ns1:PublishingExpirationDate" minOccurs="0"/>
                <xsd:element ref="ns3:SharedWithUsers" minOccurs="0"/>
                <xsd:element ref="ns3:SharingHintHash" minOccurs="0"/>
                <xsd:element ref="ns3:SharedWithDetails" minOccurs="0"/>
                <xsd:element ref="ns3:LastSharedByUser" minOccurs="0"/>
                <xsd:element ref="ns3:LastSharedByTime" minOccurs="0"/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DateTaken" minOccurs="0"/>
                <xsd:element ref="ns2:MediaServiceLocation" minOccurs="0"/>
                <xsd:element ref="ns2:MediaServiceOCR" minOccurs="0"/>
                <xsd:element ref="ns2:MediaServiceEventHashCode" minOccurs="0"/>
                <xsd:element ref="ns2:MediaServiceGenerationTime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Agendamento de Data de Início" ma:description="Data de Início de Agendamento é uma coluna de site criada pelo recurso de Publicação. Ela é usada para especificar a data e hora em que essa página aparecerá pela primeira vez aos visitantes do site." ma:hidden="true" ma:internalName="PublishingStartDate" ma:readOnly="false">
      <xsd:simpleType>
        <xsd:restriction base="dms:Unknown"/>
      </xsd:simpleType>
    </xsd:element>
    <xsd:element name="PublishingExpirationDate" ma:index="9" nillable="true" ma:displayName="Agendamento de Data de Término" ma:description="Data Final de Agendamento é uma coluna de site criada pelo recurso de Publicação. Ela é usada para especificar a data e a hora em que essa página não será mais exibida aos visitantes do site." ma:hidden="true" ma:internalName="PublishingExpirationDate" ma:readOnly="fals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5c025fe-a600-4cde-9b8b-77161b10ab73" elementFormDefault="qualified">
    <xsd:import namespace="http://schemas.microsoft.com/office/2006/documentManagement/types"/>
    <xsd:import namespace="http://schemas.microsoft.com/office/infopath/2007/PartnerControls"/>
    <xsd:element name="Country_x0020_1" ma:index="2" nillable="true" ma:displayName="Country" ma:format="Dropdown" ma:internalName="Country_x0020_1" ma:readOnly="false">
      <xsd:simpleType>
        <xsd:restriction base="dms:Choice">
          <xsd:enumeration value="China"/>
          <xsd:enumeration value="France"/>
          <xsd:enumeration value="Germany"/>
          <xsd:enumeration value="Japan"/>
          <xsd:enumeration value="Netherlands"/>
          <xsd:enumeration value="UK"/>
          <xsd:enumeration value="USA"/>
        </xsd:restriction>
      </xsd:simpleType>
    </xsd:element>
    <xsd:element name="MediaServiceMetadata" ma:index="15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6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7" nillable="true" ma:displayName="MediaServiceAutoTags" ma:description="" ma:hidden="true" ma:internalName="MediaServiceAutoTags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9" nillable="true" ma:displayName="MediaServiceLocation" ma:hidden="true" ma:internalName="MediaServiceLocation" ma:readOnly="true">
      <xsd:simpleType>
        <xsd:restriction base="dms:Text"/>
      </xsd:simpleType>
    </xsd:element>
    <xsd:element name="MediaServiceOCR" ma:index="20" nillable="true" ma:displayName="MediaServiceOCR" ma:hidden="true" ma:internalName="MediaServiceOCR" ma:readOnly="true">
      <xsd:simpleType>
        <xsd:restriction base="dms:Note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2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2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4" nillable="true" ma:displayName="KeyPoints" ma:hidden="true" ma:internalName="MediaServiceKeyPoints" ma:readOnly="true">
      <xsd:simpleType>
        <xsd:restriction base="dms:Note"/>
      </xsd:simpleType>
    </xsd:element>
    <xsd:element name="MediaLengthInSeconds" ma:index="26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8" nillable="true" ma:taxonomy="true" ma:internalName="lcf76f155ced4ddcb4097134ff3c332f" ma:taxonomyFieldName="MediaServiceImageTags" ma:displayName="Marcações de imagem" ma:readOnly="false" ma:fieldId="{5cf76f15-5ced-4ddc-b409-7134ff3c332f}" ma:taxonomyMulti="true" ma:sspId="04e8a720-b6b8-4622-b52c-5ab72fdc0c0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3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32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38d0ee-48d0-42fd-8eee-cce9c16843bc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Compartilhado com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ingHintHash" ma:index="11" nillable="true" ma:displayName="Hash de Dica de Compartilhamento" ma:hidden="true" ma:internalName="SharingHintHash" ma:readOnly="true">
      <xsd:simpleType>
        <xsd:restriction base="dms:Text"/>
      </xsd:simpleType>
    </xsd:element>
    <xsd:element name="SharedWithDetails" ma:index="12" nillable="true" ma:displayName="Detalhes de Compartilhado Com" ma:description="" ma:hidden="true" ma:internalName="SharedWithDetails" ma:readOnly="true">
      <xsd:simpleType>
        <xsd:restriction base="dms:Note"/>
      </xsd:simpleType>
    </xsd:element>
    <xsd:element name="LastSharedByUser" ma:index="13" nillable="true" ma:displayName="Último Compartilhamento Por Usuário" ma:description="" ma:hidden="true" ma:internalName="LastSharedByUser" ma:readOnly="true">
      <xsd:simpleType>
        <xsd:restriction base="dms:Note"/>
      </xsd:simpleType>
    </xsd:element>
    <xsd:element name="LastSharedByTime" ma:index="14" nillable="true" ma:displayName="Último Compartilhamento Por Tempo" ma:description="" ma:hidden="true" ma:internalName="LastSharedByTime" ma:readOnly="true">
      <xsd:simpleType>
        <xsd:restriction base="dms:DateTime"/>
      </xsd:simpleType>
    </xsd:element>
    <xsd:element name="TaxCatchAll" ma:index="29" nillable="true" ma:displayName="Taxonomy Catch All Column" ma:hidden="true" ma:list="{8971a6ca-946b-442e-a300-cc99d2254307}" ma:internalName="TaxCatchAll" ma:showField="CatchAllData" ma:web="7338d0ee-48d0-42fd-8eee-cce9c16843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Tipo de Conteúdo"/>
        <xsd:element ref="dc:title" minOccurs="0" maxOccurs="1" ma:index="1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ublishingExpirationDate xmlns="http://schemas.microsoft.com/sharepoint/v3" xsi:nil="true"/>
    <PublishingStartDate xmlns="http://schemas.microsoft.com/sharepoint/v3" xsi:nil="true"/>
    <Country_x0020_1 xmlns="95c025fe-a600-4cde-9b8b-77161b10ab73" xsi:nil="true"/>
    <TaxCatchAll xmlns="7338d0ee-48d0-42fd-8eee-cce9c16843bc" xsi:nil="true"/>
    <lcf76f155ced4ddcb4097134ff3c332f xmlns="95c025fe-a600-4cde-9b8b-77161b10ab73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82BDDB90-0A5B-4A8F-A01B-30AFB72EE556}">
  <ds:schemaRefs>
    <ds:schemaRef ds:uri="7338d0ee-48d0-42fd-8eee-cce9c16843bc"/>
    <ds:schemaRef ds:uri="95c025fe-a600-4cde-9b8b-77161b10ab7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34FEC8D3-7B32-419B-A4A3-EBB3317EEE7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79FE441-B5D8-464E-B272-E5E9701C444C}">
  <ds:schemaRefs>
    <ds:schemaRef ds:uri="7338d0ee-48d0-42fd-8eee-cce9c16843bc"/>
    <ds:schemaRef ds:uri="95c025fe-a600-4cde-9b8b-77161b10ab73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756163f3-60ab-41f6-93dc-6e1b6af775b3}" enabled="1" method="Privileged" siteId="{a5a01691-338c-4b57-812c-24d594995cd6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Licks Attorneys - Brazil - Presentation EN</Template>
  <TotalTime>2055</TotalTime>
  <Words>391</Words>
  <Application>Microsoft Office PowerPoint</Application>
  <PresentationFormat>Widescreen</PresentationFormat>
  <Paragraphs>75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7" baseType="lpstr">
      <vt:lpstr>Arial</vt:lpstr>
      <vt:lpstr>Calibri</vt:lpstr>
      <vt:lpstr>Calibri Light</vt:lpstr>
      <vt:lpstr>Cambria Math</vt:lpstr>
      <vt:lpstr>Nokia Sans Wide</vt:lpstr>
      <vt:lpstr>Segoe UI Black</vt:lpstr>
      <vt:lpstr>Times New Roman</vt:lpstr>
      <vt:lpstr>Tema do Office</vt:lpstr>
      <vt:lpstr>Informações Gerais</vt:lpstr>
      <vt:lpstr>Pré-Requisitos</vt:lpstr>
      <vt:lpstr>Ementa Parte 1 –Introdução e Revisão </vt:lpstr>
      <vt:lpstr>Ementa Parte 2 – Modulação Analógica </vt:lpstr>
      <vt:lpstr>Ementa Parte 3 – Introdução à Transmissão Digital  </vt:lpstr>
      <vt:lpstr>Bibliografia</vt:lpstr>
      <vt:lpstr>Avaliação</vt:lpstr>
      <vt:lpstr>Avaliação</vt:lpstr>
      <vt:lpstr>Atendimento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June 29th, 2021</dc:title>
  <dc:creator>Sonia Ximenes</dc:creator>
  <cp:lastModifiedBy>André Barreto | Brazil | Licks Attorneys</cp:lastModifiedBy>
  <cp:revision>4</cp:revision>
  <cp:lastPrinted>2017-06-06T18:46:34Z</cp:lastPrinted>
  <dcterms:created xsi:type="dcterms:W3CDTF">2022-06-23T16:27:38Z</dcterms:created>
  <dcterms:modified xsi:type="dcterms:W3CDTF">2026-08-18T01:21:42Z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0x010100016BCB7353188E4C9571C1B2EA1322FC</vt:lpwstr>
  </property>
  <property fmtid="{D5CDD505-2E9C-101B-9397-08002B2CF9AE}" pid="3" name="MSIP_Label_8b38cb3f-a960-40d2-b589-fe5c7caef41b_Enabled">
    <vt:lpwstr>true</vt:lpwstr>
  </property>
  <property fmtid="{D5CDD505-2E9C-101B-9397-08002B2CF9AE}" pid="4" name="MSIP_Label_8b38cb3f-a960-40d2-b589-fe5c7caef41b_SetDate">
    <vt:lpwstr>2022-06-23T16:46:29Z</vt:lpwstr>
  </property>
  <property fmtid="{D5CDD505-2E9C-101B-9397-08002B2CF9AE}" pid="5" name="MSIP_Label_8b38cb3f-a960-40d2-b589-fe5c7caef41b_Method">
    <vt:lpwstr>Privileged</vt:lpwstr>
  </property>
  <property fmtid="{D5CDD505-2E9C-101B-9397-08002B2CF9AE}" pid="6" name="MSIP_Label_8b38cb3f-a960-40d2-b589-fe5c7caef41b_Name">
    <vt:lpwstr>CONFIDENTIAL</vt:lpwstr>
  </property>
  <property fmtid="{D5CDD505-2E9C-101B-9397-08002B2CF9AE}" pid="7" name="MSIP_Label_8b38cb3f-a960-40d2-b589-fe5c7caef41b_SiteId">
    <vt:lpwstr>a5a01691-338c-4b57-812c-24d594995cd6</vt:lpwstr>
  </property>
  <property fmtid="{D5CDD505-2E9C-101B-9397-08002B2CF9AE}" pid="8" name="MSIP_Label_8b38cb3f-a960-40d2-b589-fe5c7caef41b_ActionId">
    <vt:lpwstr>82308caf-a452-4fdc-9535-426c4b72816e</vt:lpwstr>
  </property>
  <property fmtid="{D5CDD505-2E9C-101B-9397-08002B2CF9AE}" pid="9" name="MSIP_Label_8b38cb3f-a960-40d2-b589-fe5c7caef41b_ContentBits">
    <vt:lpwstr>1</vt:lpwstr>
  </property>
  <property fmtid="{D5CDD505-2E9C-101B-9397-08002B2CF9AE}" pid="10" name="MediaServiceImageTags">
    <vt:lpwstr/>
  </property>
</Properties>
</file>