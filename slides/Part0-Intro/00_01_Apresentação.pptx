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221B6F"/>
    <a:srgbClr val="FFFFFF"/>
    <a:srgbClr val="231F20"/>
    <a:srgbClr val="1A203F"/>
    <a:srgbClr val="72BF44"/>
    <a:srgbClr val="383B71"/>
    <a:srgbClr val="C9252C"/>
    <a:srgbClr val="393C73"/>
    <a:srgbClr val="E6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E2FD8-2414-4687-AB0C-841F36F67FDA}" v="230" dt="2026-08-14T20:06:48.041"/>
    <p1510:client id="{9DFB60FD-7C5E-4764-B324-69A4091C7317}" v="39" dt="2026-08-13T22:05:57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ollba/comunicacoes_i_ufrj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Thadeu.dias@smt.ufrj.br" TargetMode="External"/><Relationship Id="rId2" Type="http://schemas.openxmlformats.org/officeDocument/2006/relationships/hyperlink" Target="mailto:andre.nollba@gmail.com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Informações Gerais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A533C-106D-5002-2C4A-F3FEF6E0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4156A0-101B-E293-F9A0-945B3825E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10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280670" indent="-280670">
              <a:buNone/>
            </a:pPr>
            <a:r>
              <a:rPr lang="en-US" dirty="0" err="1"/>
              <a:t>Conhecimentos</a:t>
            </a:r>
            <a:r>
              <a:rPr lang="en-US" dirty="0"/>
              <a:t> </a:t>
            </a:r>
            <a:r>
              <a:rPr lang="en-US" dirty="0" err="1"/>
              <a:t>prévios</a:t>
            </a:r>
            <a:r>
              <a:rPr lang="en-US" dirty="0"/>
              <a:t> </a:t>
            </a:r>
            <a:r>
              <a:rPr lang="en-US" dirty="0" err="1"/>
              <a:t>necessários</a:t>
            </a:r>
            <a:r>
              <a:rPr lang="en-US" dirty="0"/>
              <a:t>:</a:t>
            </a:r>
            <a:endParaRPr lang="pt-BR" dirty="0"/>
          </a:p>
          <a:p>
            <a:endParaRPr lang="en-US" dirty="0"/>
          </a:p>
          <a:p>
            <a:pPr marL="280670" indent="-280670"/>
            <a:r>
              <a:rPr lang="en-US" b="1" dirty="0" err="1">
                <a:solidFill>
                  <a:srgbClr val="0070C0"/>
                </a:solidFill>
              </a:rPr>
              <a:t>Cálculo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280670" indent="-280670"/>
            <a:r>
              <a:rPr lang="en-US" b="1" dirty="0" err="1">
                <a:solidFill>
                  <a:srgbClr val="0070C0"/>
                </a:solidFill>
              </a:rPr>
              <a:t>Circuitos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Elétricos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pPr marL="280670" indent="-280670"/>
            <a:r>
              <a:rPr lang="en-US" b="1" dirty="0" err="1">
                <a:solidFill>
                  <a:srgbClr val="0070C0"/>
                </a:solidFill>
              </a:rPr>
              <a:t>Números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Complexos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0070C0"/>
              </a:solidFill>
            </a:endParaRPr>
          </a:p>
          <a:p>
            <a:pPr marL="280670" indent="-280670"/>
            <a:r>
              <a:rPr lang="en-US" b="1" dirty="0">
                <a:solidFill>
                  <a:srgbClr val="0070C0"/>
                </a:solidFill>
              </a:rPr>
              <a:t>Sistemas </a:t>
            </a:r>
            <a:r>
              <a:rPr lang="en-US" b="1" dirty="0" err="1">
                <a:solidFill>
                  <a:srgbClr val="0070C0"/>
                </a:solidFill>
              </a:rPr>
              <a:t>Lineares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 err="1">
                <a:solidFill>
                  <a:srgbClr val="0070C0"/>
                </a:solidFill>
              </a:rPr>
              <a:t>vamos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revisar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  <a:p>
            <a:pPr marL="280670" indent="-280670"/>
            <a:r>
              <a:rPr lang="en-US" dirty="0" err="1"/>
              <a:t>Probabilidade</a:t>
            </a:r>
            <a:r>
              <a:rPr lang="en-US" dirty="0"/>
              <a:t> (</a:t>
            </a:r>
            <a:r>
              <a:rPr lang="en-US" dirty="0" err="1"/>
              <a:t>desejado</a:t>
            </a:r>
            <a:r>
              <a:rPr lang="en-US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753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ED28F-89AE-AED7-418F-5A3DAC48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  <a:br>
              <a:rPr lang="pt-BR" dirty="0"/>
            </a:br>
            <a:r>
              <a:rPr lang="en-US" sz="2400" dirty="0" err="1">
                <a:latin typeface="Arial" pitchFamily="34" charset="0"/>
                <a:cs typeface="Arial" pitchFamily="34" charset="0"/>
              </a:rPr>
              <a:t>Parte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1 –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Introdução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Revisão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12CF67-C846-D9CD-D7FF-D232B6D2F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Elementos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um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sistema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comunicação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Análise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representação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sinais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sistemas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Tempo 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frequência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Análise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Fourier</a:t>
            </a: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Transmissão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em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Sistemas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Lineares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Não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Lineares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Densidade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Espectral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Energia/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Potência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Conceito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dB</a:t>
            </a: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Ruído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Térmico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Envoltória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Complexa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sinal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em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banda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passante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52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B16D8-287A-F5E4-AF24-0F003D46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  <a:br>
              <a:rPr lang="pt-BR" dirty="0"/>
            </a:br>
            <a:r>
              <a:rPr lang="pt-BR" sz="2400" dirty="0"/>
              <a:t>Parte 2 – Modulação Analógica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534F70-5DBA-5F8C-C97A-2461227C2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r>
              <a:rPr lang="en-US" sz="2400" dirty="0" err="1"/>
              <a:t>Parte</a:t>
            </a:r>
            <a:r>
              <a:rPr lang="en-US" sz="2400" dirty="0"/>
              <a:t> 2 – </a:t>
            </a:r>
            <a:r>
              <a:rPr lang="en-US" sz="2400" dirty="0" err="1"/>
              <a:t>Modulação</a:t>
            </a:r>
            <a:r>
              <a:rPr lang="en-US" sz="2400" dirty="0"/>
              <a:t> </a:t>
            </a:r>
            <a:r>
              <a:rPr lang="en-US" sz="2400" dirty="0" err="1"/>
              <a:t>Analógica</a:t>
            </a:r>
            <a:endParaRPr lang="en-US" sz="2400" dirty="0"/>
          </a:p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endParaRPr lang="en-US" sz="2400" dirty="0"/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Modulação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amplitude (AM)</a:t>
            </a:r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Modulação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fase</a:t>
            </a:r>
            <a:r>
              <a:rPr lang="en-US" dirty="0"/>
              <a:t> (PM)</a:t>
            </a:r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Modulação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freqüência</a:t>
            </a:r>
            <a:r>
              <a:rPr lang="en-US" dirty="0"/>
              <a:t> (FM)</a:t>
            </a:r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Arquitetura</a:t>
            </a:r>
            <a:r>
              <a:rPr lang="en-US" dirty="0"/>
              <a:t> de </a:t>
            </a:r>
            <a:r>
              <a:rPr lang="en-US" dirty="0" err="1"/>
              <a:t>receptores</a:t>
            </a:r>
            <a:r>
              <a:rPr lang="en-US" dirty="0"/>
              <a:t> e </a:t>
            </a:r>
            <a:r>
              <a:rPr lang="en-US" dirty="0" err="1"/>
              <a:t>transmissores</a:t>
            </a:r>
            <a:endParaRPr lang="en-US" dirty="0"/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pt-BR" dirty="0"/>
              <a:t>Desempenho em ambiente ruidoso </a:t>
            </a:r>
            <a:endParaRPr lang="en-US" dirty="0"/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Multiplexação</a:t>
            </a:r>
            <a:r>
              <a:rPr lang="en-US" dirty="0"/>
              <a:t>/</a:t>
            </a:r>
            <a:r>
              <a:rPr lang="en-US" dirty="0" err="1"/>
              <a:t>Duplexação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divisão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endParaRPr lang="en-US" dirty="0"/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/>
              <a:t>Receptor </a:t>
            </a:r>
            <a:r>
              <a:rPr lang="en-US" dirty="0" err="1"/>
              <a:t>superheteródino</a:t>
            </a:r>
            <a:endParaRPr lang="en-US" dirty="0"/>
          </a:p>
          <a:p>
            <a:pPr marL="666750" lvl="1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/>
              <a:t>Sistemas de Comunicação - Enlace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1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D1546-1E16-816D-9E6F-ACE229A7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</a:t>
            </a:r>
            <a:br>
              <a:rPr lang="pt-BR" dirty="0"/>
            </a:br>
            <a:r>
              <a:rPr lang="en-US" sz="2400" b="0" dirty="0" err="1"/>
              <a:t>Parte</a:t>
            </a:r>
            <a:r>
              <a:rPr lang="en-US" sz="2400" b="0" dirty="0"/>
              <a:t> 3 – </a:t>
            </a:r>
            <a:r>
              <a:rPr lang="en-US" sz="2400" b="0" dirty="0" err="1"/>
              <a:t>Introdução</a:t>
            </a:r>
            <a:r>
              <a:rPr lang="en-US" sz="2400" b="0" dirty="0"/>
              <a:t> à </a:t>
            </a:r>
            <a:r>
              <a:rPr lang="en-US" sz="2400" b="0" dirty="0" err="1"/>
              <a:t>Transmissão</a:t>
            </a:r>
            <a:r>
              <a:rPr lang="en-US" sz="2400" b="0" dirty="0"/>
              <a:t> Digital</a:t>
            </a:r>
            <a:br>
              <a:rPr lang="en-US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87AC63-4603-3263-A06A-44CB61FCB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Conversão</a:t>
            </a:r>
            <a:r>
              <a:rPr lang="en-US" dirty="0"/>
              <a:t> </a:t>
            </a:r>
            <a:r>
              <a:rPr lang="en-US" dirty="0" err="1"/>
              <a:t>Analógico</a:t>
            </a:r>
            <a:r>
              <a:rPr lang="en-US" dirty="0"/>
              <a:t> Digital - </a:t>
            </a:r>
            <a:r>
              <a:rPr lang="en-US" dirty="0" err="1"/>
              <a:t>Amostragem</a:t>
            </a:r>
            <a:r>
              <a:rPr lang="en-US" dirty="0"/>
              <a:t> e </a:t>
            </a:r>
            <a:r>
              <a:rPr lang="en-US" dirty="0" err="1"/>
              <a:t>quantização</a:t>
            </a:r>
            <a:endParaRPr lang="en-US" dirty="0"/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Modulação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 de </a:t>
            </a:r>
            <a:r>
              <a:rPr lang="en-US" dirty="0" err="1"/>
              <a:t>pulsos</a:t>
            </a:r>
            <a:r>
              <a:rPr lang="en-US" dirty="0"/>
              <a:t> (PCM/DPCM)</a:t>
            </a:r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Códigos</a:t>
            </a:r>
            <a:r>
              <a:rPr lang="en-US" dirty="0"/>
              <a:t> de </a:t>
            </a:r>
            <a:r>
              <a:rPr lang="en-US" dirty="0" err="1"/>
              <a:t>Linha</a:t>
            </a:r>
            <a:endParaRPr lang="en-US" dirty="0"/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Multiplexação</a:t>
            </a:r>
            <a:endParaRPr lang="en-US" dirty="0"/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Transmissão</a:t>
            </a:r>
            <a:r>
              <a:rPr lang="en-US" dirty="0"/>
              <a:t> Digital com </a:t>
            </a:r>
            <a:r>
              <a:rPr lang="en-US" dirty="0" err="1"/>
              <a:t>Portadora</a:t>
            </a:r>
            <a:endParaRPr lang="en-US" dirty="0"/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presença</a:t>
            </a:r>
            <a:r>
              <a:rPr lang="en-US" dirty="0"/>
              <a:t> de </a:t>
            </a:r>
            <a:r>
              <a:rPr lang="en-US" dirty="0" err="1"/>
              <a:t>ruído</a:t>
            </a:r>
            <a:endParaRPr lang="en-US" dirty="0"/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en-US" dirty="0" err="1"/>
              <a:t>Multiplexação</a:t>
            </a:r>
            <a:r>
              <a:rPr lang="en-US" dirty="0"/>
              <a:t>/</a:t>
            </a:r>
            <a:r>
              <a:rPr lang="en-US" dirty="0" err="1"/>
              <a:t>Duplexação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divisão</a:t>
            </a:r>
            <a:r>
              <a:rPr lang="en-US" dirty="0"/>
              <a:t> no Tempo,</a:t>
            </a:r>
          </a:p>
          <a:p>
            <a:pPr marL="209550" indent="-195263" defTabSz="762000">
              <a:buClr>
                <a:schemeClr val="hlink"/>
              </a:buClr>
              <a:buSzPct val="75000"/>
              <a:buFontTx/>
              <a:buChar char="•"/>
            </a:pPr>
            <a:r>
              <a:rPr lang="pt-BR" dirty="0"/>
              <a:t>Interferência </a:t>
            </a:r>
            <a:r>
              <a:rPr lang="pt-BR" dirty="0" err="1"/>
              <a:t>Intersimbólica</a:t>
            </a:r>
            <a:r>
              <a:rPr lang="pt-BR" dirty="0"/>
              <a:t> - Critério de </a:t>
            </a:r>
            <a:r>
              <a:rPr lang="pt-BR" dirty="0" err="1"/>
              <a:t>Nyquist</a:t>
            </a:r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035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4AF1F-BB78-0CDD-530F-9661CD72F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872FFD-57E3-7792-42D9-9CC827BFC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95438"/>
            <a:ext cx="10515600" cy="4351337"/>
          </a:xfrm>
        </p:spPr>
        <p:txBody>
          <a:bodyPr>
            <a:normAutofit lnSpcReduction="10000"/>
          </a:bodyPr>
          <a:lstStyle/>
          <a:p>
            <a:pPr marL="280670" indent="-280670"/>
            <a:r>
              <a:rPr lang="en-US" b="1" dirty="0" err="1"/>
              <a:t>Livros</a:t>
            </a:r>
            <a:r>
              <a:rPr lang="en-US" b="1" dirty="0"/>
              <a:t> </a:t>
            </a:r>
            <a:r>
              <a:rPr lang="en-US" b="1" dirty="0" err="1"/>
              <a:t>Texto</a:t>
            </a:r>
            <a:r>
              <a:rPr lang="en-US" b="1" dirty="0"/>
              <a:t>:</a:t>
            </a:r>
            <a:endParaRPr lang="en-US" dirty="0"/>
          </a:p>
          <a:p>
            <a:pPr lvl="1" indent="-194945"/>
            <a:r>
              <a:rPr lang="en-US" dirty="0"/>
              <a:t>B. P. Lathi, </a:t>
            </a:r>
            <a:r>
              <a:rPr lang="en-US" i="1" dirty="0"/>
              <a:t>Modern Digital and Analog Communication Systems,  </a:t>
            </a:r>
            <a:r>
              <a:rPr lang="en-US" dirty="0"/>
              <a:t>Oxford University Press</a:t>
            </a:r>
            <a:r>
              <a:rPr lang="en-US" i="1" dirty="0"/>
              <a:t>, / </a:t>
            </a:r>
            <a:r>
              <a:rPr lang="pt-BR" i="1" dirty="0"/>
              <a:t>Sistemas de Comunicações Analógicos e Digitais, LTC, </a:t>
            </a:r>
            <a:r>
              <a:rPr lang="en-US" dirty="0"/>
              <a:t>4ª </a:t>
            </a:r>
            <a:r>
              <a:rPr lang="en-US" dirty="0" err="1"/>
              <a:t>Edição</a:t>
            </a:r>
            <a:r>
              <a:rPr lang="en-US" dirty="0"/>
              <a:t> </a:t>
            </a:r>
            <a:endParaRPr lang="en-US" b="1" dirty="0"/>
          </a:p>
          <a:p>
            <a:pPr lvl="1" indent="-194945"/>
            <a:r>
              <a:rPr lang="pt-BR" dirty="0"/>
              <a:t>S. </a:t>
            </a:r>
            <a:r>
              <a:rPr lang="pt-BR" dirty="0" err="1"/>
              <a:t>Haykin</a:t>
            </a:r>
            <a:r>
              <a:rPr lang="pt-BR" dirty="0"/>
              <a:t> e M. </a:t>
            </a:r>
            <a:r>
              <a:rPr lang="pt-BR" dirty="0" err="1"/>
              <a:t>Moher</a:t>
            </a:r>
            <a:r>
              <a:rPr lang="pt-BR" dirty="0"/>
              <a:t>, “</a:t>
            </a:r>
            <a:r>
              <a:rPr lang="pt-BR" i="1" dirty="0"/>
              <a:t>Introdução aos sistemas de comunicação</a:t>
            </a:r>
            <a:r>
              <a:rPr lang="pt-BR" dirty="0"/>
              <a:t>”, 2ª Ed., Editora Bookman, 2008</a:t>
            </a:r>
          </a:p>
          <a:p>
            <a:pPr lvl="1" indent="-194945"/>
            <a:r>
              <a:rPr lang="pt-BR" dirty="0"/>
              <a:t>L.W. </a:t>
            </a:r>
            <a:r>
              <a:rPr lang="pt-BR" dirty="0" err="1"/>
              <a:t>Couch</a:t>
            </a:r>
            <a:r>
              <a:rPr lang="pt-BR" dirty="0"/>
              <a:t>, “</a:t>
            </a:r>
            <a:r>
              <a:rPr lang="pt-BR" i="1" dirty="0"/>
              <a:t>Digital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analog</a:t>
            </a:r>
            <a:r>
              <a:rPr lang="pt-BR" i="1" dirty="0"/>
              <a:t> Communication Systems</a:t>
            </a:r>
            <a:r>
              <a:rPr lang="pt-BR" dirty="0"/>
              <a:t>”, 7ª Ed., Prentice-Hall, 2007</a:t>
            </a:r>
          </a:p>
          <a:p>
            <a:endParaRPr lang="en-US" dirty="0"/>
          </a:p>
          <a:p>
            <a:pPr marL="280670" indent="-280670"/>
            <a:r>
              <a:rPr lang="en-US" dirty="0"/>
              <a:t>Material </a:t>
            </a:r>
            <a:r>
              <a:rPr lang="en-US" dirty="0" err="1"/>
              <a:t>Didático</a:t>
            </a:r>
            <a:r>
              <a:rPr lang="en-US" dirty="0"/>
              <a:t> (slides, </a:t>
            </a:r>
            <a:r>
              <a:rPr lang="en-US" dirty="0" err="1"/>
              <a:t>listas</a:t>
            </a:r>
            <a:r>
              <a:rPr lang="en-US" dirty="0"/>
              <a:t> de </a:t>
            </a:r>
            <a:r>
              <a:rPr lang="en-US" dirty="0" err="1"/>
              <a:t>exercícios</a:t>
            </a:r>
            <a:r>
              <a:rPr lang="en-US" dirty="0"/>
              <a:t>) 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colocado</a:t>
            </a:r>
            <a:r>
              <a:rPr lang="en-US" dirty="0"/>
              <a:t> à </a:t>
            </a:r>
            <a:r>
              <a:rPr lang="en-US" dirty="0" err="1"/>
              <a:t>disposição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https://github.com/anollba/comunicacoes_i_ufrj</a:t>
            </a:r>
            <a:r>
              <a:rPr lang="en-US" dirty="0"/>
              <a:t> </a:t>
            </a:r>
            <a:endParaRPr lang="en-US" dirty="0">
              <a:solidFill>
                <a:srgbClr val="000000"/>
              </a:solidFill>
            </a:endParaRPr>
          </a:p>
          <a:p>
            <a:endParaRPr lang="en-US" u="sng" dirty="0">
              <a:solidFill>
                <a:srgbClr val="063DE8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1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03F3D-4274-B1ED-95CD-1313B2CA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6EADEC-74C1-5BF5-D510-A7F44EA4D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670" indent="-280670"/>
            <a:r>
              <a:rPr lang="en-US" dirty="0"/>
              <a:t>3 </a:t>
            </a:r>
            <a:r>
              <a:rPr lang="en-US" dirty="0" err="1"/>
              <a:t>provas</a:t>
            </a:r>
            <a:r>
              <a:rPr lang="en-US" dirty="0"/>
              <a:t> </a:t>
            </a:r>
            <a:r>
              <a:rPr lang="en-US" dirty="0" err="1"/>
              <a:t>teóricas</a:t>
            </a:r>
            <a:r>
              <a:rPr lang="en-US" dirty="0"/>
              <a:t> (</a:t>
            </a:r>
            <a:r>
              <a:rPr lang="en-US" dirty="0" err="1"/>
              <a:t>datas</a:t>
            </a:r>
            <a:r>
              <a:rPr lang="en-US" dirty="0"/>
              <a:t> </a:t>
            </a:r>
            <a:r>
              <a:rPr lang="en-US" dirty="0" err="1"/>
              <a:t>previstas</a:t>
            </a:r>
            <a:r>
              <a:rPr lang="en-US" dirty="0"/>
              <a:t>, </a:t>
            </a:r>
            <a:r>
              <a:rPr lang="en-US" dirty="0" err="1"/>
              <a:t>sujeito</a:t>
            </a:r>
            <a:r>
              <a:rPr lang="en-US" dirty="0"/>
              <a:t> a </a:t>
            </a:r>
            <a:r>
              <a:rPr lang="en-US" dirty="0" err="1"/>
              <a:t>mudanças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Dias 14/09/26, 19/10/26 e 07/12/26</a:t>
            </a:r>
          </a:p>
          <a:p>
            <a:pPr marL="280670" indent="-280670"/>
            <a:r>
              <a:rPr lang="en-US" dirty="0" err="1"/>
              <a:t>Prova</a:t>
            </a:r>
            <a:r>
              <a:rPr lang="en-US" dirty="0"/>
              <a:t> Final</a:t>
            </a:r>
          </a:p>
          <a:p>
            <a:pPr marL="0" lvl="2" indent="0">
              <a:spcBef>
                <a:spcPts val="1000"/>
              </a:spcBef>
              <a:buNone/>
            </a:pPr>
            <a:r>
              <a:rPr lang="en-US" sz="2800" dirty="0"/>
              <a:t>	Dia 14/12</a:t>
            </a:r>
          </a:p>
          <a:p>
            <a:pPr>
              <a:buNone/>
            </a:pPr>
            <a:endParaRPr lang="en-US" dirty="0"/>
          </a:p>
          <a:p>
            <a:pPr marL="280670" indent="-280670"/>
            <a:r>
              <a:rPr lang="en-US" dirty="0" err="1"/>
              <a:t>Trabalhos</a:t>
            </a:r>
            <a:r>
              <a:rPr lang="en-US" dirty="0"/>
              <a:t>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/>
              <a:t>) de </a:t>
            </a:r>
            <a:r>
              <a:rPr lang="en-US" dirty="0" err="1"/>
              <a:t>Simulação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Python (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593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347C7-BA4F-5949-E097-C25C8627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D94118-AC8B-6730-6F5C-1DF3D78E2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6464"/>
                <a:ext cx="10515600" cy="4520425"/>
              </a:xfrm>
            </p:spPr>
            <p:txBody>
              <a:bodyPr>
                <a:normAutofit/>
              </a:bodyPr>
              <a:lstStyle/>
              <a:p>
                <a:pPr marL="280670" indent="-280670"/>
                <a:r>
                  <a:rPr lang="en-US" dirty="0"/>
                  <a:t>Nota Final:</a:t>
                </a:r>
                <a:endParaRPr lang="en-US" dirty="0">
                  <a:latin typeface="Nokia Sans Wide"/>
                  <a:cs typeface="Times New Roman" pitchFamily="18" charset="0"/>
                </a:endParaRPr>
              </a:p>
              <a:p>
                <a:pPr lvl="1" indent="-194945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𝑃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ou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𝑃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dirty="0"/>
                  <a:t>Se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</a:rPr>
                  <a:t>≥ 5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2"/>
                <a:endParaRPr lang="en-US" dirty="0"/>
              </a:p>
              <a:p>
                <a:pPr lvl="2"/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 </a:t>
                </a:r>
                <a:r>
                  <a:rPr lang="en-US" i="1" dirty="0"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&lt; 5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b="1" dirty="0"/>
              </a:p>
              <a:p>
                <a:pPr lvl="1" indent="-194945"/>
                <a:r>
                  <a:rPr lang="en-US" b="1" dirty="0"/>
                  <a:t>Só </a:t>
                </a:r>
                <a:r>
                  <a:rPr lang="en-US" b="1" dirty="0" err="1"/>
                  <a:t>será</a:t>
                </a:r>
                <a:r>
                  <a:rPr lang="en-US" b="1" dirty="0"/>
                  <a:t> </a:t>
                </a:r>
                <a:r>
                  <a:rPr lang="en-US" b="1" dirty="0" err="1"/>
                  <a:t>aprovado</a:t>
                </a:r>
                <a:r>
                  <a:rPr lang="en-US" b="1" dirty="0"/>
                  <a:t> o </a:t>
                </a:r>
                <a:r>
                  <a:rPr lang="en-US" b="1" dirty="0" err="1"/>
                  <a:t>aluno</a:t>
                </a:r>
                <a:r>
                  <a:rPr lang="en-US" b="1" dirty="0"/>
                  <a:t> </a:t>
                </a:r>
                <a:r>
                  <a:rPr lang="en-US" b="1" dirty="0" err="1"/>
                  <a:t>que</a:t>
                </a:r>
                <a:r>
                  <a:rPr lang="en-US" b="1" dirty="0"/>
                  <a:t> </a:t>
                </a:r>
                <a:r>
                  <a:rPr lang="en-US" b="1" dirty="0" err="1"/>
                  <a:t>tiver</a:t>
                </a:r>
                <a:r>
                  <a:rPr lang="en-US" b="1" dirty="0"/>
                  <a:t> </a:t>
                </a:r>
                <a:r>
                  <a:rPr lang="en-US" b="1" dirty="0" err="1"/>
                  <a:t>média</a:t>
                </a:r>
                <a:r>
                  <a:rPr lang="en-US" b="1" dirty="0"/>
                  <a:t> 5 </a:t>
                </a:r>
                <a:r>
                  <a:rPr lang="en-US" b="1" dirty="0" err="1"/>
                  <a:t>na</a:t>
                </a:r>
                <a:r>
                  <a:rPr lang="en-US" b="1" dirty="0"/>
                  <a:t> </a:t>
                </a:r>
                <a:r>
                  <a:rPr lang="en-US" b="1" dirty="0" err="1"/>
                  <a:t>parte</a:t>
                </a:r>
                <a:r>
                  <a:rPr lang="en-US" b="1" dirty="0"/>
                  <a:t> </a:t>
                </a:r>
                <a:r>
                  <a:rPr lang="en-US" b="1" dirty="0" err="1"/>
                  <a:t>teórica</a:t>
                </a:r>
                <a:r>
                  <a:rPr lang="en-US" b="1" dirty="0"/>
                  <a:t>!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D94118-AC8B-6730-6F5C-1DF3D78E2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464"/>
                <a:ext cx="10515600" cy="4520425"/>
              </a:xfrm>
              <a:blipFill>
                <a:blip r:embed="rId2"/>
                <a:stretch>
                  <a:fillRect l="-1043" t="-21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43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3A1F4-CBB9-117D-CFB6-6BD79ABFB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itchFamily="34" charset="0"/>
                <a:cs typeface="Arial" pitchFamily="34" charset="0"/>
              </a:rPr>
              <a:t>Atendimento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7DB568-12E1-70E3-BB80-B892F11E0FE8}"/>
              </a:ext>
            </a:extLst>
          </p:cNvPr>
          <p:cNvSpPr txBox="1"/>
          <p:nvPr/>
        </p:nvSpPr>
        <p:spPr>
          <a:xfrm>
            <a:off x="907542" y="1450652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Professor: André Noll Barreto</a:t>
            </a:r>
          </a:p>
          <a:p>
            <a:pPr lvl="1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  <a:hlinkClick r:id="rId2"/>
              </a:rPr>
              <a:t>andre.nollba@gmail.com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  <a:hlinkClick r:id="rId3"/>
              </a:rPr>
              <a:t>thadeu.dias@smt.ufrj.br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dirty="0" err="1">
                <a:latin typeface="Arial" pitchFamily="34" charset="0"/>
                <a:cs typeface="Arial" pitchFamily="34" charset="0"/>
              </a:rPr>
              <a:t>Atendimento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 ser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combinado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por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E-mail</a:t>
            </a:r>
          </a:p>
          <a:p>
            <a:pPr lvl="1"/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02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9FE441-B5D8-464E-B272-E5E9701C444C}">
  <ds:schemaRefs>
    <ds:schemaRef ds:uri="7338d0ee-48d0-42fd-8eee-cce9c16843bc"/>
    <ds:schemaRef ds:uri="95c025fe-a600-4cde-9b8b-77161b10ab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1322</TotalTime>
  <Words>390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Nokia Sans Wide</vt:lpstr>
      <vt:lpstr>Segoe UI Black</vt:lpstr>
      <vt:lpstr>Times New Roman</vt:lpstr>
      <vt:lpstr>Tema do Office</vt:lpstr>
      <vt:lpstr>Informações Gerais</vt:lpstr>
      <vt:lpstr>Pré-Requisitos</vt:lpstr>
      <vt:lpstr>Ementa Parte 1 –Introdução e Revisão </vt:lpstr>
      <vt:lpstr>Ementa Parte 2 – Modulação Analógica </vt:lpstr>
      <vt:lpstr>Ementa Parte 3 – Introdução à Transmissão Digital  </vt:lpstr>
      <vt:lpstr>Bibliografia</vt:lpstr>
      <vt:lpstr>Avaliação</vt:lpstr>
      <vt:lpstr>Avaliação</vt:lpstr>
      <vt:lpstr>Atendimento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Andre Noll B</cp:lastModifiedBy>
  <cp:revision>3</cp:revision>
  <cp:lastPrinted>2017-06-06T18:46:34Z</cp:lastPrinted>
  <dcterms:created xsi:type="dcterms:W3CDTF">2022-06-23T16:27:38Z</dcterms:created>
  <dcterms:modified xsi:type="dcterms:W3CDTF">2026-08-14T21:12:44Z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