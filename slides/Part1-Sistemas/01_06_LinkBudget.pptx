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9" r:id="rId5"/>
    <p:sldId id="389" r:id="rId6"/>
    <p:sldId id="383" r:id="rId7"/>
    <p:sldId id="393" r:id="rId8"/>
    <p:sldId id="388" r:id="rId9"/>
    <p:sldId id="391" r:id="rId10"/>
    <p:sldId id="392" r:id="rId11"/>
    <p:sldId id="390" r:id="rId12"/>
    <p:sldId id="387" r:id="rId13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6F45CC5-03A4-427B-927A-123D5694A762}">
          <p14:sldIdLst>
            <p14:sldId id="259"/>
          </p14:sldIdLst>
        </p14:section>
        <p14:section name="Seção sem Título" id="{0AF02E1A-BA6A-4459-AB01-C48EDF29A88E}">
          <p14:sldIdLst>
            <p14:sldId id="389"/>
            <p14:sldId id="383"/>
            <p14:sldId id="393"/>
            <p14:sldId id="388"/>
            <p14:sldId id="391"/>
            <p14:sldId id="392"/>
            <p14:sldId id="390"/>
            <p14:sldId id="387"/>
          </p14:sldIdLst>
        </p14:section>
      </p14:sectionLst>
    </p:ex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72BF44"/>
    <a:srgbClr val="C9252C"/>
    <a:srgbClr val="FFFFFF"/>
    <a:srgbClr val="DDDDDD"/>
    <a:srgbClr val="221B6F"/>
    <a:srgbClr val="231F20"/>
    <a:srgbClr val="1A203F"/>
    <a:srgbClr val="383B71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Link Budget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C7AFE-2427-B39B-BB1D-7A5AF86A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DBDA0-0ABD-5F50-9F1E-470C5F15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 Budget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CBD01E-2654-5811-0FD9-8B6F800C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objetivo é termos no receptor uma certa RSR (SNR) desejada</a:t>
            </a:r>
          </a:p>
          <a:p>
            <a:r>
              <a:rPr lang="pt-BR" dirty="0"/>
              <a:t>Depende da técnica de transmissão e dos requisitos de qualidade desejados</a:t>
            </a:r>
          </a:p>
          <a:p>
            <a:pPr lvl="1"/>
            <a:r>
              <a:rPr lang="pt-BR" dirty="0"/>
              <a:t>Ex., velocidade de transmissão, banda do sinal, distorção, taxa de erro</a:t>
            </a:r>
          </a:p>
          <a:p>
            <a:pPr lvl="1"/>
            <a:endParaRPr lang="pt-BR" dirty="0"/>
          </a:p>
          <a:p>
            <a:r>
              <a:rPr lang="pt-BR" dirty="0"/>
              <a:t>O sistema apresenta várias perdas de potência no caminho</a:t>
            </a:r>
          </a:p>
          <a:p>
            <a:pPr lvl="1"/>
            <a:r>
              <a:rPr lang="pt-BR" dirty="0"/>
              <a:t>Qual a potência de transmissão necessária?</a:t>
            </a:r>
          </a:p>
          <a:p>
            <a:pPr lvl="1"/>
            <a:r>
              <a:rPr lang="pt-BR" dirty="0"/>
              <a:t>Qual a distância máxima entre transmissor e receptor?</a:t>
            </a:r>
            <a:br>
              <a:rPr lang="pt-BR" dirty="0"/>
            </a:br>
            <a:r>
              <a:rPr lang="pt-B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4253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C2E92-A301-3BDF-CC7A-271AAE7B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Link Budget</a:t>
            </a:r>
            <a:br>
              <a:rPr lang="pt-BR"/>
            </a:br>
            <a:r>
              <a:rPr lang="pt-BR"/>
              <a:t>Ruído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97AF446-073B-6096-6718-2EB0A9FFE5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Cada elemento de um  receptor tem perdas (filtros, </a:t>
                </a:r>
                <a:r>
                  <a:rPr lang="pt-BR" dirty="0" err="1"/>
                  <a:t>diplexers</a:t>
                </a:r>
                <a:r>
                  <a:rPr lang="pt-BR" dirty="0"/>
                  <a:t>, divisores conectores) e/ou adiciona ruído (LNA, </a:t>
                </a:r>
                <a:r>
                  <a:rPr lang="pt-BR" dirty="0" err="1"/>
                  <a:t>mixers</a:t>
                </a:r>
                <a:r>
                  <a:rPr lang="pt-BR" dirty="0"/>
                  <a:t>)</a:t>
                </a:r>
              </a:p>
              <a:p>
                <a:r>
                  <a:rPr lang="pt-BR" b="0" dirty="0"/>
                  <a:t>Noise </a:t>
                </a:r>
                <a:r>
                  <a:rPr lang="pt-BR" b="0" dirty="0" err="1"/>
                  <a:t>factor</a:t>
                </a:r>
                <a:r>
                  <a:rPr lang="pt-BR" b="0" dirty="0"/>
                  <a:t>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𝑆𝑁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𝑆𝑁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den>
                    </m:f>
                  </m:oMath>
                </a14:m>
                <a:endParaRPr lang="pt-BR" b="0" dirty="0"/>
              </a:p>
              <a:p>
                <a:r>
                  <a:rPr lang="pt-BR" dirty="0"/>
                  <a:t>Noise Figure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𝑁𝐹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func>
                  </m:oMath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Para Devices em Cascata</a:t>
                </a:r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97AF446-073B-6096-6718-2EB0A9FFE5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4D1D90C5-FFB1-04C5-69C3-2364060D7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478" y="5045460"/>
            <a:ext cx="8916644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6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75549-7145-A676-79DE-B3607A82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61E26-D09B-9F94-D9BC-0F400416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Noise Figure</a:t>
            </a:r>
            <a:br>
              <a:rPr lang="pt-BR" dirty="0"/>
            </a:br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EC7AF0-4C6C-5525-F315-36CD14E8C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 um receptor temos um filtro com NF 6 dB de atenuação seguido de um LNA com fator de ganho de 20 dB e NF de 3 dB, e um </a:t>
            </a:r>
            <a:r>
              <a:rPr lang="pt-BR" dirty="0" err="1"/>
              <a:t>mixer</a:t>
            </a:r>
            <a:r>
              <a:rPr lang="pt-BR" dirty="0"/>
              <a:t>, com perda de 7 dB e NF de 6 dB. Se precisamos de uma RSR de 20 dB para uma banda de 1 MHz, qual a potência desejada na entrada do receptor?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986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3336A-1E36-3E4A-2617-CB965FDC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23482-5390-805C-BFC7-BFE3AD172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Link Budget</a:t>
            </a:r>
            <a:br>
              <a:rPr lang="pt-BR"/>
            </a:br>
            <a:r>
              <a:rPr lang="pt-BR"/>
              <a:t>Sensibilidade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D13CA15-6E27-B8C2-4366-7C6BA03284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 sensibilidade do receptor (</a:t>
                </a:r>
                <a:r>
                  <a:rPr lang="pt-BR" dirty="0" err="1"/>
                  <a:t>sensitivity</a:t>
                </a:r>
                <a:r>
                  <a:rPr lang="pt-BR" dirty="0"/>
                  <a:t>) é a menor potência necessária para detectar o sinal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𝑟𝑥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𝑆𝑁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D13CA15-6E27-B8C2-4366-7C6BA0328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1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9AA1-A649-6880-8E92-138639AA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409DE-5B27-94EC-6F9D-12CF8A0A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Link Budget</a:t>
            </a:r>
            <a:br>
              <a:rPr lang="pt-BR"/>
            </a:br>
            <a:r>
              <a:rPr lang="pt-BR"/>
              <a:t>Cabeado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45135E5-45CF-742B-333B-F16FE93339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Sinal de transmitido passa por:</a:t>
                </a:r>
              </a:p>
              <a:p>
                <a:pPr lvl="1"/>
                <a:r>
                  <a:rPr lang="pt-BR" dirty="0"/>
                  <a:t>Perda de Propagação,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sub>
                    </m:sSub>
                  </m:oMath>
                </a14:m>
                <a:r>
                  <a:rPr lang="pt-BR" dirty="0"/>
                  <a:t> dB/km</a:t>
                </a:r>
              </a:p>
              <a:p>
                <a:pPr lvl="1"/>
                <a:r>
                  <a:rPr lang="pt-BR" dirty="0"/>
                  <a:t>Perdas em conectores</a:t>
                </a:r>
              </a:p>
              <a:p>
                <a:pPr lvl="1"/>
                <a:r>
                  <a:rPr lang="pt-BR" dirty="0"/>
                  <a:t>Filtros de recepção, LNA, com figura de ruído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br>
                  <a:rPr lang="pt-BR" dirty="0"/>
                </a:br>
                <a:r>
                  <a:rPr lang="pt-BR" dirty="0"/>
                  <a:t>	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45135E5-45CF-742B-333B-F16FE93339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917DDDEC-8637-605C-1E16-1FF202DB7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08764"/>
            <a:ext cx="11109028" cy="165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06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E3A3F-8FE6-6B5D-0C98-38370603E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C4A2D-D2F0-B9B7-6AEF-A78672BE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Link Budget </a:t>
            </a:r>
            <a:br>
              <a:rPr lang="pt-BR"/>
            </a:br>
            <a:r>
              <a:rPr lang="pt-BR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35604D-E741-10FD-E265-061DEEFF9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 um cabo coaxial, precisamos de RSR = 10 dB, em uma banda de 10 MHz, a figura de ruído do receptor é de 6 dB. O cabo apresenta uma perda de 30 dB por km. A potência de transmissão é de 1 W. Qual a sensibilidade do receptor? Qual o comprimento máximo do cabo (a uma temperatura de 300 K)?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232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28430A-F49C-82F8-54B8-C97D628CD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 Budget</a:t>
            </a:r>
            <a:br>
              <a:rPr lang="pt-BR" dirty="0"/>
            </a:br>
            <a:r>
              <a:rPr lang="pt-BR" dirty="0"/>
              <a:t>Sem Fio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FCBDD75-3305-274D-C268-E05FBF627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Sinal de rádio transmitido passa por:</a:t>
                </a:r>
              </a:p>
              <a:p>
                <a:pPr lvl="1"/>
                <a:r>
                  <a:rPr lang="pt-BR" dirty="0"/>
                  <a:t>Antenas de </a:t>
                </a:r>
                <a:r>
                  <a:rPr lang="pt-BR" dirty="0" err="1"/>
                  <a:t>Tx</a:t>
                </a:r>
                <a:r>
                  <a:rPr lang="pt-BR" dirty="0"/>
                  <a:t> Ganho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𝑡𝑥</m:t>
                        </m:r>
                      </m:sub>
                    </m:sSub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Perdas de cabo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dirty="0"/>
                  <a:t> (em dB)</a:t>
                </a:r>
              </a:p>
              <a:p>
                <a:pPr lvl="1"/>
                <a:r>
                  <a:rPr lang="pt-BR" dirty="0"/>
                  <a:t>Propagação </a:t>
                </a:r>
              </a:p>
              <a:p>
                <a:pPr lvl="2"/>
                <a:r>
                  <a:rPr lang="pt-BR" dirty="0"/>
                  <a:t>Perda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dirty="0"/>
                  <a:t>ou, em dB,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𝐶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func>
                  </m:oMath>
                </a14:m>
                <a:r>
                  <a:rPr lang="pt-BR" dirty="0"/>
                  <a:t> </a:t>
                </a:r>
              </a:p>
              <a:p>
                <a:pPr lvl="1"/>
                <a:r>
                  <a:rPr lang="pt-BR" dirty="0"/>
                  <a:t>Antenas de </a:t>
                </a:r>
                <a:r>
                  <a:rPr lang="pt-BR" dirty="0" err="1"/>
                  <a:t>Rx</a:t>
                </a:r>
                <a:r>
                  <a:rPr lang="pt-BR" dirty="0"/>
                  <a:t>, Ganho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Filtros de recepção, LNA, com figura de ruído</a:t>
                </a:r>
                <a:br>
                  <a:rPr lang="pt-BR" dirty="0"/>
                </a:br>
                <a:r>
                  <a:rPr lang="pt-BR" dirty="0"/>
                  <a:t>	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3FCBDD75-3305-274D-C268-E05FBF627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03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7F60D-6598-25A6-EF76-A374D95A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Link Budget </a:t>
            </a:r>
            <a:br>
              <a:rPr lang="pt-BR"/>
            </a:br>
            <a:r>
              <a:rPr lang="pt-BR"/>
              <a:t>Exemplos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71CB77C-A463-40FA-AAA6-94974D8D16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pt-BR" dirty="0"/>
              </a:p>
              <a:p>
                <a:r>
                  <a:rPr lang="pt-BR" dirty="0"/>
                  <a:t>Um enlace de comunicações móveis operando em 3,5 GHz exige uma RSR de 23 dB. A antena na torre de celular têm um ganho de 17 </a:t>
                </a:r>
                <a:r>
                  <a:rPr lang="pt-BR" dirty="0" err="1"/>
                  <a:t>dBi</a:t>
                </a:r>
                <a:r>
                  <a:rPr lang="pt-BR" dirty="0"/>
                  <a:t>  e no terminal móvel de 3 </a:t>
                </a:r>
                <a:r>
                  <a:rPr lang="pt-BR" dirty="0" err="1"/>
                  <a:t>dBi</a:t>
                </a:r>
                <a:r>
                  <a:rPr lang="pt-BR" dirty="0"/>
                  <a:t>, e o enlace tem uma perda de propagação de espaço livre, dada por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𝑟𝑥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𝑡𝑥</m:t>
                            </m:r>
                          </m:sub>
                        </m:sSub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𝑡𝑥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𝑟𝑥</m:t>
                        </m:r>
                      </m:sub>
                    </m:sSub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. Cabos e conectores adicionam mais 2 dB de perdas. Qual a potência de transmissão necessária a uma distância de 100m? Considera a temperatura de 300 K e uma figura de ruído de 3 dB. 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71CB77C-A463-40FA-AAA6-94974D8D16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8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750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9FE441-B5D8-464E-B272-E5E9701C444C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95c025fe-a600-4cde-9b8b-77161b10ab73"/>
    <ds:schemaRef ds:uri="http://schemas.openxmlformats.org/package/2006/metadata/core-properties"/>
    <ds:schemaRef ds:uri="7338d0ee-48d0-42fd-8eee-cce9c16843bc"/>
    <ds:schemaRef ds:uri="http://schemas.microsoft.com/office/2006/documentManagement/types"/>
    <ds:schemaRef ds:uri="http://purl.org/dc/elements/1.1/"/>
    <ds:schemaRef ds:uri="http://schemas.microsoft.com/sharepoint/v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13383</TotalTime>
  <Words>474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Segoe UI Black</vt:lpstr>
      <vt:lpstr>Tema do Office</vt:lpstr>
      <vt:lpstr>Link Budget</vt:lpstr>
      <vt:lpstr>Link Budget </vt:lpstr>
      <vt:lpstr>Link Budget Ruído</vt:lpstr>
      <vt:lpstr>Noise Figure Exemplos</vt:lpstr>
      <vt:lpstr>Link Budget Sensibilidade</vt:lpstr>
      <vt:lpstr>Link Budget Cabeado</vt:lpstr>
      <vt:lpstr>Link Budget  Exemplos</vt:lpstr>
      <vt:lpstr>Link Budget Sem Fio</vt:lpstr>
      <vt:lpstr>Link Budget  Exemplos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27</cp:revision>
  <cp:lastPrinted>2017-06-06T18:46:34Z</cp:lastPrinted>
  <dcterms:created xsi:type="dcterms:W3CDTF">2022-06-23T16:27:38Z</dcterms:created>
  <dcterms:modified xsi:type="dcterms:W3CDTF">2026-09-16T02:02:48Z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