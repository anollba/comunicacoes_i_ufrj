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59" r:id="rId5"/>
    <p:sldId id="349" r:id="rId6"/>
    <p:sldId id="366" r:id="rId7"/>
    <p:sldId id="380" r:id="rId8"/>
    <p:sldId id="377" r:id="rId9"/>
    <p:sldId id="378" r:id="rId10"/>
    <p:sldId id="381" r:id="rId11"/>
    <p:sldId id="283" r:id="rId12"/>
    <p:sldId id="284" r:id="rId13"/>
    <p:sldId id="291" r:id="rId14"/>
    <p:sldId id="352" r:id="rId15"/>
    <p:sldId id="286" r:id="rId16"/>
    <p:sldId id="287" r:id="rId17"/>
    <p:sldId id="288" r:id="rId18"/>
    <p:sldId id="353" r:id="rId19"/>
    <p:sldId id="351" r:id="rId20"/>
    <p:sldId id="355" r:id="rId21"/>
    <p:sldId id="356" r:id="rId22"/>
    <p:sldId id="357" r:id="rId23"/>
    <p:sldId id="358" r:id="rId24"/>
    <p:sldId id="354" r:id="rId25"/>
    <p:sldId id="359" r:id="rId26"/>
    <p:sldId id="360" r:id="rId27"/>
    <p:sldId id="369" r:id="rId28"/>
    <p:sldId id="370" r:id="rId29"/>
    <p:sldId id="371" r:id="rId30"/>
    <p:sldId id="363" r:id="rId31"/>
    <p:sldId id="364" r:id="rId32"/>
    <p:sldId id="374" r:id="rId33"/>
    <p:sldId id="373" r:id="rId34"/>
    <p:sldId id="375" r:id="rId35"/>
    <p:sldId id="368" r:id="rId36"/>
    <p:sldId id="382" r:id="rId37"/>
    <p:sldId id="383" r:id="rId38"/>
    <p:sldId id="384" r:id="rId39"/>
    <p:sldId id="367" r:id="rId40"/>
    <p:sldId id="376" r:id="rId41"/>
    <p:sldId id="365" r:id="rId42"/>
    <p:sldId id="379" r:id="rId43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49"/>
            <p14:sldId id="366"/>
            <p14:sldId id="380"/>
            <p14:sldId id="377"/>
            <p14:sldId id="378"/>
            <p14:sldId id="381"/>
            <p14:sldId id="283"/>
            <p14:sldId id="284"/>
            <p14:sldId id="291"/>
            <p14:sldId id="352"/>
            <p14:sldId id="286"/>
            <p14:sldId id="287"/>
            <p14:sldId id="288"/>
            <p14:sldId id="353"/>
            <p14:sldId id="351"/>
            <p14:sldId id="355"/>
            <p14:sldId id="356"/>
            <p14:sldId id="357"/>
            <p14:sldId id="358"/>
            <p14:sldId id="354"/>
            <p14:sldId id="359"/>
            <p14:sldId id="360"/>
            <p14:sldId id="369"/>
            <p14:sldId id="370"/>
            <p14:sldId id="371"/>
            <p14:sldId id="363"/>
            <p14:sldId id="364"/>
            <p14:sldId id="374"/>
            <p14:sldId id="373"/>
            <p14:sldId id="375"/>
            <p14:sldId id="368"/>
            <p14:sldId id="382"/>
            <p14:sldId id="383"/>
            <p14:sldId id="384"/>
            <p14:sldId id="367"/>
            <p14:sldId id="376"/>
            <p14:sldId id="365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C9252C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2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107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00F9-926D-F17A-4173-E99AA50A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427818-1BEB-4F9E-AC7F-B73FB2D40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DE9F58-5D52-8756-A2A2-7137CC707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3C8498-9127-D742-2850-8C9745166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760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44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Espectro, Banda e Ruído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40DEE-10B2-3F36-C386-3852E7E5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Energia, Potência e Banda</a:t>
            </a:r>
          </a:p>
        </p:txBody>
      </p:sp>
    </p:spTree>
    <p:extLst>
      <p:ext uri="{BB962C8B-B14F-4D97-AF65-F5344CB8AC3E}">
        <p14:creationId xmlns:p14="http://schemas.microsoft.com/office/powerpoint/2010/main" val="22198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CC890-A62A-D87F-8E24-6E4455EA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em decibéis (dB)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7C384A7-A5B0-8999-D096-2403AC9DC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dB é uma medida da relação entre potências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Quando se trata de amplitude,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 o inverso: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/10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7C384A7-A5B0-8999-D096-2403AC9DC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80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64DA4-5EFA-4303-7C13-691AFBBC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decibéis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5B000CA-65F0-1289-AF7D-12464106E6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Motivação</a:t>
                </a:r>
              </a:p>
              <a:p>
                <a:r>
                  <a:rPr lang="pt-BR" dirty="0"/>
                  <a:t>Perda de propagação em cabos é tipicamente dada por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𝑟𝑥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𝑡𝑥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pt-BR" b="0" dirty="0"/>
              </a:p>
              <a:p>
                <a:r>
                  <a:rPr lang="pt-BR" b="0" dirty="0"/>
                  <a:t>Em escala logarítmica:</a:t>
                </a:r>
                <a:br>
                  <a:rPr lang="pt-BR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𝑘𝑑</m:t>
                    </m:r>
                  </m:oMath>
                </a14:m>
                <a:endParaRPr lang="pt-BR" b="0" dirty="0"/>
              </a:p>
              <a:p>
                <a:r>
                  <a:rPr lang="pt-BR" b="0" dirty="0"/>
                  <a:t>Perda em dB é proporcional ao comprimento do cabo</a:t>
                </a:r>
              </a:p>
              <a:p>
                <a:pPr lvl="1"/>
                <a:r>
                  <a:rPr lang="pt-BR" dirty="0"/>
                  <a:t>Em 1924 (quando surgiu o dB), o padrão de projeto de telefonia  era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≈0,1</m:t>
                    </m:r>
                  </m:oMath>
                </a14:m>
                <a:endParaRPr lang="pt-BR" b="0" dirty="0"/>
              </a:p>
              <a:p>
                <a:pPr marL="457200" lvl="1" indent="0">
                  <a:buNone/>
                </a:pPr>
                <a:r>
                  <a:rPr lang="pt-BR" dirty="0"/>
                  <a:t>    para </a:t>
                </a:r>
                <a:r>
                  <a:rPr lang="pt-BR" i="1" dirty="0"/>
                  <a:t>d</a:t>
                </a:r>
                <a:r>
                  <a:rPr lang="pt-BR" dirty="0"/>
                  <a:t> = 1 milha, ou seja aproximadamente 1 dB/milha</a:t>
                </a:r>
                <a:endParaRPr lang="pt-BR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5B000CA-65F0-1289-AF7D-12464106E6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27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FAAC-6BE8-734D-3C13-4DEE3F12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FA6D1-29F6-19C8-183A-52FAB350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em 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6456AE-3833-EEA3-DCDD-17CFFC63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377"/>
            <a:ext cx="2978888" cy="517805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Propriedades: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Alguns valores: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47666C6-D386-474B-55E7-63F9DAAC805C}"/>
                  </a:ext>
                </a:extLst>
              </p:cNvPr>
              <p:cNvSpPr txBox="1"/>
              <p:nvPr/>
            </p:nvSpPr>
            <p:spPr>
              <a:xfrm>
                <a:off x="3282802" y="1338464"/>
                <a:ext cx="6097772" cy="1265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47666C6-D386-474B-55E7-63F9DAAC8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802" y="1338464"/>
                <a:ext cx="6097772" cy="12656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D584549-62E4-7920-13FB-7A05C7B0D8BF}"/>
                  </a:ext>
                </a:extLst>
              </p:cNvPr>
              <p:cNvSpPr txBox="1"/>
              <p:nvPr/>
            </p:nvSpPr>
            <p:spPr>
              <a:xfrm>
                <a:off x="3282802" y="2604067"/>
                <a:ext cx="6097772" cy="1677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D584549-62E4-7920-13FB-7A05C7B0D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802" y="2604067"/>
                <a:ext cx="6097772" cy="1677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BD6CD42-EACA-C793-92A7-6A8EF151ED77}"/>
                  </a:ext>
                </a:extLst>
              </p:cNvPr>
              <p:cNvSpPr txBox="1"/>
              <p:nvPr/>
            </p:nvSpPr>
            <p:spPr>
              <a:xfrm>
                <a:off x="2744086" y="4717771"/>
                <a:ext cx="6097772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10=10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</m:func>
                    </m:oMath>
                  </m:oMathPara>
                </a14:m>
                <a:endParaRPr lang="pt-BR" sz="3200" b="0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BD6CD42-EACA-C793-92A7-6A8EF151E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086" y="4717771"/>
                <a:ext cx="6097772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2CAE10D-47CB-2D58-8E35-72C4ED6FF3B0}"/>
                  </a:ext>
                </a:extLst>
              </p:cNvPr>
              <p:cNvSpPr txBox="1"/>
              <p:nvPr/>
            </p:nvSpPr>
            <p:spPr>
              <a:xfrm>
                <a:off x="2744086" y="5503686"/>
                <a:ext cx="60977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2≈3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</m:func>
                    </m:oMath>
                  </m:oMathPara>
                </a14:m>
                <a:endParaRPr lang="pt-BR" sz="3200" b="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2CAE10D-47CB-2D58-8E35-72C4ED6F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086" y="5503686"/>
                <a:ext cx="609777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9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423F5-22F9-A59A-194C-8728B5BE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Potências em dB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0EF226-1BAE-EDDF-C329-942DDCC2D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𝑑𝐵𝑊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𝑑𝐵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𝑑𝐵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=30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𝑑𝐵𝑊</m:t>
                        </m:r>
                      </m:sub>
                    </m:sSub>
                  </m:oMath>
                </a14:m>
                <a:endParaRPr lang="pt-BR" b="0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Ex. 500 W = 27 </a:t>
                </a:r>
                <a:r>
                  <a:rPr lang="pt-BR" dirty="0" err="1"/>
                  <a:t>dBW</a:t>
                </a:r>
                <a:r>
                  <a:rPr lang="pt-BR" dirty="0"/>
                  <a:t> = 57 </a:t>
                </a:r>
                <a:r>
                  <a:rPr lang="pt-BR" dirty="0" err="1"/>
                  <a:t>dBm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0EF226-1BAE-EDDF-C329-942DDCC2D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3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8B3DB-A546-654A-CDF5-B943810F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</a:t>
            </a:r>
          </a:p>
        </p:txBody>
      </p:sp>
    </p:spTree>
    <p:extLst>
      <p:ext uri="{BB962C8B-B14F-4D97-AF65-F5344CB8AC3E}">
        <p14:creationId xmlns:p14="http://schemas.microsoft.com/office/powerpoint/2010/main" val="193962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2CB6B-C77E-5DC4-AF16-F430F51F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 de um Sinal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>
                <a:extLst>
                  <a:ext uri="{FF2B5EF4-FFF2-40B4-BE49-F238E27FC236}">
                    <a16:creationId xmlns:a16="http://schemas.microsoft.com/office/drawing/2014/main" id="{3D202EF0-40BA-CBCB-4478-AC2E823B35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0796" y="2711969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2">
                <a:extLst>
                  <a:ext uri="{FF2B5EF4-FFF2-40B4-BE49-F238E27FC236}">
                    <a16:creationId xmlns:a16="http://schemas.microsoft.com/office/drawing/2014/main" id="{3D202EF0-40BA-CBCB-4478-AC2E823B3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796" y="2711969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1D3AC6B-865E-9B6B-28E0-2DA8951942AC}"/>
              </a:ext>
            </a:extLst>
          </p:cNvPr>
          <p:cNvSpPr/>
          <p:nvPr/>
        </p:nvSpPr>
        <p:spPr>
          <a:xfrm>
            <a:off x="6762308" y="2508509"/>
            <a:ext cx="1226288" cy="862012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0F8B7F8-6AEB-FC71-E92F-E16277BD6310}"/>
              </a:ext>
            </a:extLst>
          </p:cNvPr>
          <p:cNvCxnSpPr/>
          <p:nvPr/>
        </p:nvCxnSpPr>
        <p:spPr>
          <a:xfrm flipH="1" flipV="1">
            <a:off x="7687340" y="3370521"/>
            <a:ext cx="467833" cy="1137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40AD27D-7B24-1C12-23F0-0264379208BF}"/>
                  </a:ext>
                </a:extLst>
              </p:cNvPr>
              <p:cNvSpPr txBox="1"/>
              <p:nvPr/>
            </p:nvSpPr>
            <p:spPr>
              <a:xfrm>
                <a:off x="6449316" y="4402952"/>
                <a:ext cx="59532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dirty="0">
                    <a:solidFill>
                      <a:srgbClr val="0070C0"/>
                    </a:solidFill>
                  </a:rPr>
                  <a:t>Densidade Espectral de Energia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40AD27D-7B24-1C12-23F0-026437920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316" y="4402952"/>
                <a:ext cx="5953296" cy="523220"/>
              </a:xfrm>
              <a:prstGeom prst="rect">
                <a:avLst/>
              </a:prstGeom>
              <a:blipFill>
                <a:blip r:embed="rId3"/>
                <a:stretch>
                  <a:fillRect l="-2149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81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45004-B5B8-F1E7-C220-4CD6614D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</a:t>
            </a:r>
            <a:br>
              <a:rPr lang="pt-BR" dirty="0"/>
            </a:br>
            <a:r>
              <a:rPr lang="pt-BR" dirty="0"/>
              <a:t>Densidade Espectral de Energia (DEE / ESD)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F9D51C-1F19-F48F-9D0C-F70B15C8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335"/>
            <a:ext cx="10515600" cy="754912"/>
          </a:xfrm>
        </p:spPr>
        <p:txBody>
          <a:bodyPr/>
          <a:lstStyle/>
          <a:p>
            <a:r>
              <a:rPr lang="pt-BR" dirty="0"/>
              <a:t>Ex. pulso retangular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8587FA-CE38-C540-6C90-F19297628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72" y="1863792"/>
            <a:ext cx="6756607" cy="4303091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128C79B6-7C76-EA5E-A435-800161AB76F1}"/>
              </a:ext>
            </a:extLst>
          </p:cNvPr>
          <p:cNvSpPr/>
          <p:nvPr/>
        </p:nvSpPr>
        <p:spPr>
          <a:xfrm>
            <a:off x="7654014" y="4100949"/>
            <a:ext cx="3827721" cy="754912"/>
          </a:xfrm>
          <a:prstGeom prst="wedgeRectCallout">
            <a:avLst>
              <a:gd name="adj1" fmla="val -87777"/>
              <a:gd name="adj2" fmla="val 96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Energia em uma faixa </a:t>
            </a:r>
            <a:r>
              <a:rPr lang="pt-BR" dirty="0" err="1"/>
              <a:t>dp</a:t>
            </a:r>
            <a:r>
              <a:rPr lang="pt-BR" dirty="0"/>
              <a:t> espectro é dada pela integral da DEE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5A9A57-0734-9CBB-0A82-671322C11C89}"/>
                  </a:ext>
                </a:extLst>
              </p:cNvPr>
              <p:cNvSpPr txBox="1"/>
              <p:nvPr/>
            </p:nvSpPr>
            <p:spPr>
              <a:xfrm>
                <a:off x="8485632" y="5507665"/>
                <a:ext cx="19850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Frequência angular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5A9A57-0734-9CBB-0A82-671322C1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632" y="5507665"/>
                <a:ext cx="1985031" cy="646331"/>
              </a:xfrm>
              <a:prstGeom prst="rect">
                <a:avLst/>
              </a:prstGeom>
              <a:blipFill>
                <a:blip r:embed="rId3"/>
                <a:stretch>
                  <a:fillRect l="-2454" t="-4673" r="-1840" b="-65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69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9C850-B1FD-E631-3172-8B47715C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88FB11-5C8E-F116-7B56-CAC1F25E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7189381" cy="4351338"/>
          </a:xfrm>
        </p:spPr>
        <p:txBody>
          <a:bodyPr/>
          <a:lstStyle/>
          <a:p>
            <a:r>
              <a:rPr lang="pt-BR" dirty="0"/>
              <a:t>Significado Físico</a:t>
            </a:r>
          </a:p>
          <a:p>
            <a:pPr lvl="1"/>
            <a:r>
              <a:rPr lang="pt-BR" dirty="0"/>
              <a:t>Luz: Faixa de Cores</a:t>
            </a:r>
          </a:p>
          <a:p>
            <a:pPr lvl="1"/>
            <a:r>
              <a:rPr lang="pt-BR" dirty="0"/>
              <a:t>Rádio: Mesmo conceito, mas não vemos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6BEB58-1AD1-0C7A-6011-871959CD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06" y="3429000"/>
            <a:ext cx="4540483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9F5F-820C-B026-6D82-99F1B5A2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  <a:br>
              <a:rPr lang="pt-BR" dirty="0"/>
            </a:br>
            <a:r>
              <a:rPr lang="pt-BR" dirty="0"/>
              <a:t>Banda / Faixa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D5132-70C3-4BEA-06D4-6CD39CC23CA5}"/>
              </a:ext>
            </a:extLst>
          </p:cNvPr>
          <p:cNvSpPr txBox="1">
            <a:spLocks/>
          </p:cNvSpPr>
          <p:nvPr/>
        </p:nvSpPr>
        <p:spPr>
          <a:xfrm>
            <a:off x="838200" y="1159615"/>
            <a:ext cx="1086824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Valor Monetário!</a:t>
            </a:r>
          </a:p>
          <a:p>
            <a:pPr lvl="1"/>
            <a:r>
              <a:rPr lang="pt-BR" dirty="0"/>
              <a:t>Diversas bandas do espectro são alocadas para diferentes serviços</a:t>
            </a:r>
          </a:p>
          <a:p>
            <a:pPr lvl="1"/>
            <a:r>
              <a:rPr lang="pt-BR" dirty="0"/>
              <a:t>Bandas podem ser vendidas (uso reservado)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,., para redes celulares</a:t>
            </a:r>
          </a:p>
          <a:p>
            <a:pPr lvl="1"/>
            <a:endParaRPr lang="pt-BR" dirty="0"/>
          </a:p>
        </p:txBody>
      </p:sp>
      <p:pic>
        <p:nvPicPr>
          <p:cNvPr id="4" name="Imagem 3" descr="Resultado de imagem para alocação espectro anatel">
            <a:extLst>
              <a:ext uri="{FF2B5EF4-FFF2-40B4-BE49-F238E27FC236}">
                <a16:creationId xmlns:a16="http://schemas.microsoft.com/office/drawing/2014/main" id="{BF3CC58A-DAD5-882C-52A4-9F4FF7C0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56" y="2948936"/>
            <a:ext cx="5321939" cy="37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CB60-34B9-B8D8-E409-D2057464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47764-1138-9B1B-8952-2C9BD1860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1136579"/>
          </a:xfrm>
        </p:spPr>
        <p:txBody>
          <a:bodyPr/>
          <a:lstStyle/>
          <a:p>
            <a:r>
              <a:rPr lang="pt-BR" dirty="0"/>
              <a:t>Largura de banda </a:t>
            </a:r>
            <a:r>
              <a:rPr lang="pt-BR" i="1" dirty="0"/>
              <a:t>B</a:t>
            </a:r>
            <a:r>
              <a:rPr lang="pt-BR" dirty="0"/>
              <a:t>  é a parte do espectro (de frequência positiva) ocupado pelo sinal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57D62B2-760A-AC00-E4CA-A36F4C43A5F9}"/>
              </a:ext>
            </a:extLst>
          </p:cNvPr>
          <p:cNvGrpSpPr/>
          <p:nvPr/>
        </p:nvGrpSpPr>
        <p:grpSpPr>
          <a:xfrm>
            <a:off x="2517504" y="3482285"/>
            <a:ext cx="2924177" cy="1602045"/>
            <a:chOff x="7188200" y="3494088"/>
            <a:chExt cx="1947864" cy="1162050"/>
          </a:xfrm>
        </p:grpSpPr>
        <p:sp>
          <p:nvSpPr>
            <p:cNvPr id="4" name="Line 11">
              <a:extLst>
                <a:ext uri="{FF2B5EF4-FFF2-40B4-BE49-F238E27FC236}">
                  <a16:creationId xmlns:a16="http://schemas.microsoft.com/office/drawing/2014/main" id="{965D6DE9-14AF-DFE6-57FF-2AFFDF5D8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200" y="4216400"/>
              <a:ext cx="1746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C12BC501-0315-2BA5-F3F4-F6C46C10C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2588" y="3494088"/>
              <a:ext cx="0" cy="11620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B6E2A6D1-6FDD-5808-A076-9BAE8D23A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151" y="4192589"/>
              <a:ext cx="3159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87C4067-0454-35F6-8A17-32FB1065AD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99439" y="3590926"/>
                  <a:ext cx="463809" cy="22324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defTabSz="762000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400" b="0" i="0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sz="1400" b="0" i="1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i="1" dirty="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87C4067-0454-35F6-8A17-32FB1065A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99439" y="3590926"/>
                  <a:ext cx="463809" cy="223247"/>
                </a:xfrm>
                <a:prstGeom prst="rect">
                  <a:avLst/>
                </a:prstGeom>
                <a:blipFill>
                  <a:blip r:embed="rId2"/>
                  <a:stretch>
                    <a:fillRect b="-7843"/>
                  </a:stretch>
                </a:blip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20">
              <a:extLst>
                <a:ext uri="{FF2B5EF4-FFF2-40B4-BE49-F238E27FC236}">
                  <a16:creationId xmlns:a16="http://schemas.microsoft.com/office/drawing/2014/main" id="{A50E0E65-C64D-122C-FAE8-66A60F03A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8914" y="3690938"/>
              <a:ext cx="382587" cy="525462"/>
              <a:chOff x="3959" y="2466"/>
              <a:chExt cx="241" cy="190"/>
            </a:xfrm>
          </p:grpSpPr>
          <p:sp>
            <p:nvSpPr>
              <p:cNvPr id="9" name="Line 18">
                <a:extLst>
                  <a:ext uri="{FF2B5EF4-FFF2-40B4-BE49-F238E27FC236}">
                    <a16:creationId xmlns:a16="http://schemas.microsoft.com/office/drawing/2014/main" id="{2A408F31-2E9C-AE36-DC9F-5DB622503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Line 19">
                <a:extLst>
                  <a:ext uri="{FF2B5EF4-FFF2-40B4-BE49-F238E27FC236}">
                    <a16:creationId xmlns:a16="http://schemas.microsoft.com/office/drawing/2014/main" id="{A0B3DF6A-7C42-A0CB-3F12-7DAE162E6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35A8A13-6FE1-B5F2-A8CF-F32A82C61F4E}"/>
              </a:ext>
            </a:extLst>
          </p:cNvPr>
          <p:cNvGrpSpPr/>
          <p:nvPr/>
        </p:nvGrpSpPr>
        <p:grpSpPr>
          <a:xfrm>
            <a:off x="6923182" y="3395286"/>
            <a:ext cx="2750501" cy="1849308"/>
            <a:chOff x="7181850" y="4805363"/>
            <a:chExt cx="1947864" cy="1162050"/>
          </a:xfrm>
        </p:grpSpPr>
        <p:sp>
          <p:nvSpPr>
            <p:cNvPr id="11" name="Line 92">
              <a:extLst>
                <a:ext uri="{FF2B5EF4-FFF2-40B4-BE49-F238E27FC236}">
                  <a16:creationId xmlns:a16="http://schemas.microsoft.com/office/drawing/2014/main" id="{4588D22F-CF0E-DE3E-BC37-825B08BD5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1850" y="5527675"/>
              <a:ext cx="1746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Line 93">
              <a:extLst>
                <a:ext uri="{FF2B5EF4-FFF2-40B4-BE49-F238E27FC236}">
                  <a16:creationId xmlns:a16="http://schemas.microsoft.com/office/drawing/2014/main" id="{35586BE0-A7F0-60BB-C8CE-5759D9E46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6238" y="4805363"/>
              <a:ext cx="0" cy="11620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94">
              <a:extLst>
                <a:ext uri="{FF2B5EF4-FFF2-40B4-BE49-F238E27FC236}">
                  <a16:creationId xmlns:a16="http://schemas.microsoft.com/office/drawing/2014/main" id="{D3C8D507-94DD-FC53-2E53-16AB46E73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3801" y="5503864"/>
              <a:ext cx="3159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grpSp>
          <p:nvGrpSpPr>
            <p:cNvPr id="15" name="Group 96">
              <a:extLst>
                <a:ext uri="{FF2B5EF4-FFF2-40B4-BE49-F238E27FC236}">
                  <a16:creationId xmlns:a16="http://schemas.microsoft.com/office/drawing/2014/main" id="{6D5FB5BF-C6CF-3093-72C1-64FC571AF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6625" y="5002213"/>
              <a:ext cx="382588" cy="525462"/>
              <a:chOff x="3959" y="2466"/>
              <a:chExt cx="241" cy="190"/>
            </a:xfrm>
          </p:grpSpPr>
          <p:sp>
            <p:nvSpPr>
              <p:cNvPr id="16" name="Line 97">
                <a:extLst>
                  <a:ext uri="{FF2B5EF4-FFF2-40B4-BE49-F238E27FC236}">
                    <a16:creationId xmlns:a16="http://schemas.microsoft.com/office/drawing/2014/main" id="{BF2DD7D0-41D5-2914-30E0-E159397F5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Line 98">
                <a:extLst>
                  <a:ext uri="{FF2B5EF4-FFF2-40B4-BE49-F238E27FC236}">
                    <a16:creationId xmlns:a16="http://schemas.microsoft.com/office/drawing/2014/main" id="{C11B84A8-914A-438C-9189-917A9CDE8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8" name="Group 99">
              <a:extLst>
                <a:ext uri="{FF2B5EF4-FFF2-40B4-BE49-F238E27FC236}">
                  <a16:creationId xmlns:a16="http://schemas.microsoft.com/office/drawing/2014/main" id="{033B93E2-72DA-155A-A03C-B172104AC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0089" y="5011738"/>
              <a:ext cx="382587" cy="525462"/>
              <a:chOff x="3959" y="2466"/>
              <a:chExt cx="241" cy="190"/>
            </a:xfrm>
          </p:grpSpPr>
          <p:sp>
            <p:nvSpPr>
              <p:cNvPr id="19" name="Line 100">
                <a:extLst>
                  <a:ext uri="{FF2B5EF4-FFF2-40B4-BE49-F238E27FC236}">
                    <a16:creationId xmlns:a16="http://schemas.microsoft.com/office/drawing/2014/main" id="{68742AC4-EBEB-29EC-9289-544A5AA2C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Line 101">
                <a:extLst>
                  <a:ext uri="{FF2B5EF4-FFF2-40B4-BE49-F238E27FC236}">
                    <a16:creationId xmlns:a16="http://schemas.microsoft.com/office/drawing/2014/main" id="{B3FB19D7-D391-53F9-5905-E61990728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" name="Line 102">
              <a:extLst>
                <a:ext uri="{FF2B5EF4-FFF2-40B4-BE49-F238E27FC236}">
                  <a16:creationId xmlns:a16="http://schemas.microsoft.com/office/drawing/2014/main" id="{1722B700-35C0-D689-249C-730409AFC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538" y="5470525"/>
              <a:ext cx="0" cy="107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Box 103">
              <a:extLst>
                <a:ext uri="{FF2B5EF4-FFF2-40B4-BE49-F238E27FC236}">
                  <a16:creationId xmlns:a16="http://schemas.microsoft.com/office/drawing/2014/main" id="{BB3B1EF7-42B9-9159-A198-CBE82B973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1550" y="5599114"/>
              <a:ext cx="414338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-f</a:t>
              </a:r>
              <a:r>
                <a:rPr lang="en-US" sz="1400" i="1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  <p:sp>
          <p:nvSpPr>
            <p:cNvPr id="23" name="Line 104">
              <a:extLst>
                <a:ext uri="{FF2B5EF4-FFF2-40B4-BE49-F238E27FC236}">
                  <a16:creationId xmlns:a16="http://schemas.microsoft.com/office/drawing/2014/main" id="{D920C0B5-40A4-C679-E796-EB2839FDD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2813" y="5480050"/>
              <a:ext cx="0" cy="107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Box 105">
              <a:extLst>
                <a:ext uri="{FF2B5EF4-FFF2-40B4-BE49-F238E27FC236}">
                  <a16:creationId xmlns:a16="http://schemas.microsoft.com/office/drawing/2014/main" id="{E7F31023-DC54-3D70-1DDA-130BD0685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8825" y="5608639"/>
              <a:ext cx="414338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  <a:r>
                <a:rPr lang="en-US" sz="1400" i="1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0542C8C-F4ED-B22A-8F46-7E3EAFACFD23}"/>
              </a:ext>
            </a:extLst>
          </p:cNvPr>
          <p:cNvSpPr txBox="1"/>
          <p:nvPr/>
        </p:nvSpPr>
        <p:spPr>
          <a:xfrm>
            <a:off x="3887678" y="445383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B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C0CEF33-5AAF-6714-B649-F0AA6F417B02}"/>
              </a:ext>
            </a:extLst>
          </p:cNvPr>
          <p:cNvSpPr txBox="1"/>
          <p:nvPr/>
        </p:nvSpPr>
        <p:spPr>
          <a:xfrm>
            <a:off x="8664942" y="51851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B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C9B929E-7DF2-6A08-54B3-68A291AFE892}"/>
              </a:ext>
            </a:extLst>
          </p:cNvPr>
          <p:cNvCxnSpPr/>
          <p:nvPr/>
        </p:nvCxnSpPr>
        <p:spPr>
          <a:xfrm>
            <a:off x="8530444" y="5013879"/>
            <a:ext cx="5402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5">
                <a:extLst>
                  <a:ext uri="{FF2B5EF4-FFF2-40B4-BE49-F238E27FC236}">
                    <a16:creationId xmlns:a16="http://schemas.microsoft.com/office/drawing/2014/main" id="{67F33348-F27C-E45E-5BA2-B9D1503F2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05918" y="3439172"/>
                <a:ext cx="696280" cy="30777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defTabSz="76200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400" b="0" i="0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0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solidFill>
                    <a:schemeClr val="hlink"/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9" name="Text Box 15">
                <a:extLst>
                  <a:ext uri="{FF2B5EF4-FFF2-40B4-BE49-F238E27FC236}">
                    <a16:creationId xmlns:a16="http://schemas.microsoft.com/office/drawing/2014/main" id="{67F33348-F27C-E45E-5BA2-B9D1503F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5918" y="3439172"/>
                <a:ext cx="696280" cy="307777"/>
              </a:xfrm>
              <a:prstGeom prst="rect">
                <a:avLst/>
              </a:prstGeom>
              <a:blipFill>
                <a:blip r:embed="rId2"/>
                <a:stretch>
                  <a:fillRect b="-7843"/>
                </a:stretch>
              </a:blip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19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36CAB-8DD7-5AC2-1B4A-23E47B17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A185CD-378C-56B5-38BE-B072D3B52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7"/>
            <a:ext cx="10515600" cy="4585922"/>
          </a:xfrm>
        </p:spPr>
        <p:txBody>
          <a:bodyPr/>
          <a:lstStyle/>
          <a:p>
            <a:r>
              <a:rPr lang="pt-BR" dirty="0"/>
              <a:t>Todo sinal finito tem largura de banda infinita!</a:t>
            </a:r>
          </a:p>
          <a:p>
            <a:pPr lvl="1"/>
            <a:r>
              <a:rPr lang="pt-BR" dirty="0"/>
              <a:t>Sinais com banda finita teriam duração infinita</a:t>
            </a:r>
          </a:p>
          <a:p>
            <a:pPr lvl="1"/>
            <a:r>
              <a:rPr lang="pt-BR" dirty="0"/>
              <a:t>Mas sistemas têm banda finita</a:t>
            </a:r>
          </a:p>
          <a:p>
            <a:r>
              <a:rPr lang="pt-BR" dirty="0"/>
              <a:t>Mas qual a banda de um sinal para efeitos práticos de Engenharia?</a:t>
            </a:r>
          </a:p>
          <a:p>
            <a:r>
              <a:rPr lang="pt-BR" dirty="0"/>
              <a:t>Ex., Pulso retangular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E9ECCD-F7AB-AEAD-4706-F98AD8DE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852" y="4136921"/>
            <a:ext cx="6134956" cy="2029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46D1091-3774-B4D1-27A3-913C0ED2E1AD}"/>
                  </a:ext>
                </a:extLst>
              </p:cNvPr>
              <p:cNvSpPr txBox="1"/>
              <p:nvPr/>
            </p:nvSpPr>
            <p:spPr>
              <a:xfrm>
                <a:off x="5601702" y="6108777"/>
                <a:ext cx="135703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pt-BR" b="0" i="0" dirty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46D1091-3774-B4D1-27A3-913C0ED2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02" y="6108777"/>
                <a:ext cx="1357038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245F847-2285-DDF4-F141-5AF9D3578825}"/>
              </a:ext>
            </a:extLst>
          </p:cNvPr>
          <p:cNvCxnSpPr>
            <a:cxnSpLocks/>
          </p:cNvCxnSpPr>
          <p:nvPr/>
        </p:nvCxnSpPr>
        <p:spPr>
          <a:xfrm>
            <a:off x="4955140" y="6108777"/>
            <a:ext cx="1253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84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2FD5-0533-0208-DB44-19BC9FD1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D7093-DFDE-FA71-CA04-40973CA8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F684DB4-39C1-7809-251D-ED21DD529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768" y="1108253"/>
            <a:ext cx="7190232" cy="4314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48C5877-4C25-ADC5-0EAD-789F96021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1872"/>
                <a:ext cx="4712208" cy="4685017"/>
              </a:xfrm>
            </p:spPr>
            <p:txBody>
              <a:bodyPr/>
              <a:lstStyle/>
              <a:p>
                <a:r>
                  <a:rPr lang="pt-BR" dirty="0"/>
                  <a:t>Banda é muita vez definida em função da atenuação em relação ao pico </a:t>
                </a:r>
              </a:p>
              <a:p>
                <a:r>
                  <a:rPr lang="pt-BR" dirty="0"/>
                  <a:t>Valores Típicos :</a:t>
                </a:r>
              </a:p>
              <a:p>
                <a:pPr lvl="1"/>
                <a:r>
                  <a:rPr lang="pt-BR" dirty="0"/>
                  <a:t>   3dB: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10 dB: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48C5877-4C25-ADC5-0EAD-789F96021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1872"/>
                <a:ext cx="4712208" cy="4685017"/>
              </a:xfrm>
              <a:blipFill>
                <a:blip r:embed="rId4"/>
                <a:stretch>
                  <a:fillRect l="-2329" t="-2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1BD228A-F5E2-7158-2B63-79627154F0F0}"/>
              </a:ext>
            </a:extLst>
          </p:cNvPr>
          <p:cNvCxnSpPr/>
          <p:nvPr/>
        </p:nvCxnSpPr>
        <p:spPr>
          <a:xfrm>
            <a:off x="9528048" y="4626864"/>
            <a:ext cx="0" cy="338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56BF5171-A371-308A-EE5A-362DD732539B}"/>
              </a:ext>
            </a:extLst>
          </p:cNvPr>
          <p:cNvCxnSpPr/>
          <p:nvPr/>
        </p:nvCxnSpPr>
        <p:spPr>
          <a:xfrm>
            <a:off x="9208008" y="3364992"/>
            <a:ext cx="0" cy="153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10A977-FB28-1B67-7759-8259EA9BE525}"/>
              </a:ext>
            </a:extLst>
          </p:cNvPr>
          <p:cNvSpPr txBox="1"/>
          <p:nvPr/>
        </p:nvSpPr>
        <p:spPr>
          <a:xfrm>
            <a:off x="8800425" y="4956048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0,443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E25324C-EC13-7E7F-CDE9-FD998FC9D89A}"/>
              </a:ext>
            </a:extLst>
          </p:cNvPr>
          <p:cNvSpPr txBox="1"/>
          <p:nvPr/>
        </p:nvSpPr>
        <p:spPr>
          <a:xfrm>
            <a:off x="9208008" y="5073552"/>
            <a:ext cx="8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0,797</a:t>
            </a:r>
          </a:p>
        </p:txBody>
      </p:sp>
    </p:spTree>
    <p:extLst>
      <p:ext uri="{BB962C8B-B14F-4D97-AF65-F5344CB8AC3E}">
        <p14:creationId xmlns:p14="http://schemas.microsoft.com/office/powerpoint/2010/main" val="49837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07DC-3497-77E1-C9F2-C3707AED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75EBA-36D1-147F-7267-11C4D731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5FC93-ADD6-87A8-3F79-50004FA3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872"/>
            <a:ext cx="10515600" cy="4685017"/>
          </a:xfrm>
        </p:spPr>
        <p:txBody>
          <a:bodyPr/>
          <a:lstStyle/>
          <a:p>
            <a:r>
              <a:rPr lang="pt-BR" dirty="0"/>
              <a:t>Banda pode ser definida pela porcentagem de energia contida em uma parte do espectro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0E25B7-3E05-5B08-908D-251BB8EB5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424" y="2298999"/>
            <a:ext cx="7991866" cy="399593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4351C14-D891-8100-53C7-F56F50022AC5}"/>
              </a:ext>
            </a:extLst>
          </p:cNvPr>
          <p:cNvSpPr txBox="1"/>
          <p:nvPr/>
        </p:nvSpPr>
        <p:spPr>
          <a:xfrm>
            <a:off x="6336792" y="584999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1,89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D4622F-6F26-4CAD-B649-A11AC81D41E1}"/>
              </a:ext>
            </a:extLst>
          </p:cNvPr>
          <p:cNvSpPr txBox="1"/>
          <p:nvPr/>
        </p:nvSpPr>
        <p:spPr>
          <a:xfrm>
            <a:off x="6704838" y="5933139"/>
            <a:ext cx="646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2,82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977804-8846-14FA-AE19-161FCE46C9E8}"/>
              </a:ext>
            </a:extLst>
          </p:cNvPr>
          <p:cNvSpPr txBox="1"/>
          <p:nvPr/>
        </p:nvSpPr>
        <p:spPr>
          <a:xfrm>
            <a:off x="8951214" y="6003883"/>
            <a:ext cx="646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10,27</a:t>
            </a:r>
          </a:p>
        </p:txBody>
      </p:sp>
    </p:spTree>
    <p:extLst>
      <p:ext uri="{BB962C8B-B14F-4D97-AF65-F5344CB8AC3E}">
        <p14:creationId xmlns:p14="http://schemas.microsoft.com/office/powerpoint/2010/main" val="42549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81E18-8953-DA7E-C86B-ACD0246F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</a:t>
            </a:r>
            <a:br>
              <a:rPr lang="pt-BR" dirty="0"/>
            </a:br>
            <a:r>
              <a:rPr lang="pt-BR" dirty="0"/>
              <a:t>Energia na Saída de Sistemas Lineares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C8A37EA-C7EE-2144-F49C-0945B0ADBEF3}"/>
              </a:ext>
            </a:extLst>
          </p:cNvPr>
          <p:cNvSpPr/>
          <p:nvPr/>
        </p:nvSpPr>
        <p:spPr>
          <a:xfrm>
            <a:off x="4687546" y="2602292"/>
            <a:ext cx="2024742" cy="816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Linear</a:t>
            </a:r>
          </a:p>
          <a:p>
            <a:pPr algn="ctr"/>
            <a:r>
              <a:rPr lang="pt-BR" dirty="0"/>
              <a:t>H(f)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3F34EA4-92D9-799C-4120-3D91721810D4}"/>
              </a:ext>
            </a:extLst>
          </p:cNvPr>
          <p:cNvCxnSpPr>
            <a:cxnSpLocks/>
          </p:cNvCxnSpPr>
          <p:nvPr/>
        </p:nvCxnSpPr>
        <p:spPr>
          <a:xfrm>
            <a:off x="3827574" y="3010467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6DE3E37-8E23-B876-8118-FD151E113703}"/>
              </a:ext>
            </a:extLst>
          </p:cNvPr>
          <p:cNvCxnSpPr>
            <a:cxnSpLocks/>
          </p:cNvCxnSpPr>
          <p:nvPr/>
        </p:nvCxnSpPr>
        <p:spPr>
          <a:xfrm>
            <a:off x="6723171" y="3043121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B4AAB1-C8F9-B638-230B-C3CF1D27880D}"/>
                  </a:ext>
                </a:extLst>
              </p:cNvPr>
              <p:cNvSpPr txBox="1"/>
              <p:nvPr/>
            </p:nvSpPr>
            <p:spPr>
              <a:xfrm>
                <a:off x="3698055" y="2597658"/>
                <a:ext cx="6547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B4AAB1-C8F9-B638-230B-C3CF1D278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055" y="2597658"/>
                <a:ext cx="654731" cy="276999"/>
              </a:xfrm>
              <a:prstGeom prst="rect">
                <a:avLst/>
              </a:prstGeom>
              <a:blipFill>
                <a:blip r:embed="rId2"/>
                <a:stretch>
                  <a:fillRect l="-8411" t="-2174" r="-13084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5D6A4F5-73D2-2407-3B37-BA123C1D6ECE}"/>
                  </a:ext>
                </a:extLst>
              </p:cNvPr>
              <p:cNvSpPr txBox="1"/>
              <p:nvPr/>
            </p:nvSpPr>
            <p:spPr>
              <a:xfrm>
                <a:off x="6851279" y="2553288"/>
                <a:ext cx="2318199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5D6A4F5-73D2-2407-3B37-BA123C1D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279" y="2553288"/>
                <a:ext cx="2318199" cy="304442"/>
              </a:xfrm>
              <a:prstGeom prst="rect">
                <a:avLst/>
              </a:prstGeom>
              <a:blipFill>
                <a:blip r:embed="rId3"/>
                <a:stretch>
                  <a:fillRect l="-2105" r="-3158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87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AEAF9-3F96-3611-65CC-68467FC1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F4A019-5BA5-163F-5182-86AC70C00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Correlação entre 2 sinais 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É  o produto interno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=&lt;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b="0" i="1" dirty="0">
                  <a:latin typeface="Cambria Math" panose="02040503050406030204" pitchFamily="18" charset="0"/>
                </a:endParaRPr>
              </a:p>
              <a:p>
                <a:r>
                  <a:rPr lang="pt-BR" dirty="0"/>
                  <a:t>A autocorrelação e a Convolução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F4A019-5BA5-163F-5182-86AC70C00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21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40DAE-B6F4-95FE-E847-03251803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6F27A-716D-5BB6-75CB-6965F2B1C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551"/>
                <a:ext cx="10515600" cy="4351338"/>
              </a:xfrm>
            </p:spPr>
            <p:txBody>
              <a:bodyPr/>
              <a:lstStyle/>
              <a:p>
                <a:r>
                  <a:rPr lang="pt-BR" dirty="0"/>
                  <a:t>É a correlação de um sinal com ele mesmo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6F27A-716D-5BB6-75CB-6965F2B1C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551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F99110C4-42FC-8651-7BA9-73DFB1AFAAC3}"/>
              </a:ext>
            </a:extLst>
          </p:cNvPr>
          <p:cNvSpPr/>
          <p:nvPr/>
        </p:nvSpPr>
        <p:spPr>
          <a:xfrm>
            <a:off x="4669971" y="3265714"/>
            <a:ext cx="2100943" cy="53340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94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5D71E-B9E1-10C9-492C-0D269F3F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CA7AE4-EAF5-25D1-AD67-20C86779E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92" y="1393695"/>
            <a:ext cx="7854397" cy="47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8AFAC-6B1A-5A8B-5178-D62DE52D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 e Densidade Espectral de Energia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56560E-6986-0B00-EC67-C557AC13E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60714"/>
                <a:ext cx="10635343" cy="488768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Exemplo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sinc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𝑓𝑇</m:t>
                          </m:r>
                        </m:e>
                      </m:d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sin</m:t>
                      </m:r>
                      <m:sSup>
                        <m:sSup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tri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>
                          <a:latin typeface="Cambria Math" panose="02040503050406030204" pitchFamily="18" charset="0"/>
                        </a:rPr>
                        <m:t>sin</m:t>
                      </m:r>
                      <m:sSup>
                        <m:sSupPr>
                          <m:ctrlPr>
                            <a:rPr lang="pt-BR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𝑓𝑇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56560E-6986-0B00-EC67-C557AC13E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60714"/>
                <a:ext cx="10635343" cy="4887686"/>
              </a:xfrm>
              <a:blipFill>
                <a:blip r:embed="rId2"/>
                <a:stretch>
                  <a:fillRect l="-1146" t="-19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25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9438B-43D2-072A-5DBB-CE42332E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7657" y="1367660"/>
            <a:ext cx="5617700" cy="1579289"/>
          </a:xfrm>
        </p:spPr>
        <p:txBody>
          <a:bodyPr/>
          <a:lstStyle/>
          <a:p>
            <a:r>
              <a:rPr lang="pt-BR" dirty="0"/>
              <a:t>Densidade Espectral de Potência</a:t>
            </a:r>
          </a:p>
        </p:txBody>
      </p:sp>
    </p:spTree>
    <p:extLst>
      <p:ext uri="{BB962C8B-B14F-4D97-AF65-F5344CB8AC3E}">
        <p14:creationId xmlns:p14="http://schemas.microsoft.com/office/powerpoint/2010/main" val="115744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84A3A-A842-ECF6-30C7-F198685E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9BDF9A6-27F2-2ED6-3D37-ECE0111CF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5657"/>
                <a:ext cx="10515600" cy="4771232"/>
              </a:xfrm>
            </p:spPr>
            <p:txBody>
              <a:bodyPr/>
              <a:lstStyle/>
              <a:p>
                <a:r>
                  <a:rPr lang="pt-BR" dirty="0"/>
                  <a:t>E para sinais de Potência?</a:t>
                </a:r>
              </a:p>
              <a:p>
                <a:r>
                  <a:rPr lang="pt-BR" dirty="0"/>
                  <a:t>Queremos algo que permita achar a potência em uma banda, da forma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9BDF9A6-27F2-2ED6-3D37-ECE0111CF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5657"/>
                <a:ext cx="10515600" cy="4771232"/>
              </a:xfrm>
              <a:blipFill>
                <a:blip r:embed="rId2"/>
                <a:stretch>
                  <a:fillRect l="-1043" t="-21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C10584BC-3F1F-CB76-AAB9-2B543B0B0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24" y="3483424"/>
            <a:ext cx="6749152" cy="337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8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34DC4-EA76-DEF8-DBA6-992F0488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(PSD)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E0692-500B-C2BA-9C4C-7685380FC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5143"/>
                <a:ext cx="10515600" cy="4531746"/>
              </a:xfrm>
            </p:spPr>
            <p:txBody>
              <a:bodyPr/>
              <a:lstStyle/>
              <a:p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23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m:rPr>
                                    <m:brk m:alnAt="23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r>
                  <a:rPr lang="pt-BR" dirty="0"/>
                  <a:t>Definimos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E0692-500B-C2BA-9C4C-7685380FC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5143"/>
                <a:ext cx="10515600" cy="4531746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6170D5EE-88BC-ADA2-5823-9A4479E4FC3A}"/>
              </a:ext>
            </a:extLst>
          </p:cNvPr>
          <p:cNvSpPr/>
          <p:nvPr/>
        </p:nvSpPr>
        <p:spPr>
          <a:xfrm>
            <a:off x="4096379" y="3889489"/>
            <a:ext cx="3603171" cy="1088571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AE96A9-3DF0-FD57-A926-0751232FE975}"/>
              </a:ext>
            </a:extLst>
          </p:cNvPr>
          <p:cNvSpPr txBox="1"/>
          <p:nvPr/>
        </p:nvSpPr>
        <p:spPr>
          <a:xfrm>
            <a:off x="4096379" y="4985657"/>
            <a:ext cx="3574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Densidade Espectral de Potência</a:t>
            </a:r>
          </a:p>
        </p:txBody>
      </p:sp>
    </p:spTree>
    <p:extLst>
      <p:ext uri="{BB962C8B-B14F-4D97-AF65-F5344CB8AC3E}">
        <p14:creationId xmlns:p14="http://schemas.microsoft.com/office/powerpoint/2010/main" val="168282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3B8C3FE6-1BDA-8BEA-745C-75C7E14AA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607" y="1174018"/>
            <a:ext cx="9371351" cy="45099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39BA3B-E9C0-9429-2665-1FCF571D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(PSD)</a:t>
            </a:r>
            <a:br>
              <a:rPr lang="pt-BR" dirty="0"/>
            </a:br>
            <a:r>
              <a:rPr lang="pt-BR" dirty="0"/>
              <a:t>Senoide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07DBBC3-921C-6007-D221-B4F385D2A4C9}"/>
                  </a:ext>
                </a:extLst>
              </p:cNvPr>
              <p:cNvSpPr txBox="1"/>
              <p:nvPr/>
            </p:nvSpPr>
            <p:spPr>
              <a:xfrm>
                <a:off x="-729345" y="1397784"/>
                <a:ext cx="6096000" cy="486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1400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105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07DBBC3-921C-6007-D221-B4F385D2A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9345" y="1397784"/>
                <a:ext cx="6096000" cy="486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DCC8DCC-7889-F984-201F-79E72EEDF398}"/>
                  </a:ext>
                </a:extLst>
              </p:cNvPr>
              <p:cNvSpPr txBox="1"/>
              <p:nvPr/>
            </p:nvSpPr>
            <p:spPr>
              <a:xfrm>
                <a:off x="1598819" y="5843586"/>
                <a:ext cx="8486926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DCC8DCC-7889-F984-201F-79E72EEDF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819" y="5843586"/>
                <a:ext cx="8486926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ipse 19">
            <a:extLst>
              <a:ext uri="{FF2B5EF4-FFF2-40B4-BE49-F238E27FC236}">
                <a16:creationId xmlns:a16="http://schemas.microsoft.com/office/drawing/2014/main" id="{11EB88E8-28B4-0022-5AB9-6C9D59B48ACD}"/>
              </a:ext>
            </a:extLst>
          </p:cNvPr>
          <p:cNvSpPr/>
          <p:nvPr/>
        </p:nvSpPr>
        <p:spPr>
          <a:xfrm>
            <a:off x="8697685" y="1883814"/>
            <a:ext cx="1219200" cy="37005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7798BB0-713C-A778-6E8F-2B6502C12E90}"/>
              </a:ext>
            </a:extLst>
          </p:cNvPr>
          <p:cNvSpPr txBox="1"/>
          <p:nvPr/>
        </p:nvSpPr>
        <p:spPr>
          <a:xfrm>
            <a:off x="9307285" y="1299039"/>
            <a:ext cx="2687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70C0"/>
                </a:solidFill>
              </a:rPr>
              <a:t>Mesma energia</a:t>
            </a:r>
          </a:p>
          <a:p>
            <a:r>
              <a:rPr lang="pt-BR" sz="1600" dirty="0">
                <a:solidFill>
                  <a:srgbClr val="0070C0"/>
                </a:solidFill>
              </a:rPr>
              <a:t>No Limite tende a um impulso</a:t>
            </a:r>
          </a:p>
        </p:txBody>
      </p:sp>
    </p:spTree>
    <p:extLst>
      <p:ext uri="{BB962C8B-B14F-4D97-AF65-F5344CB8AC3E}">
        <p14:creationId xmlns:p14="http://schemas.microsoft.com/office/powerpoint/2010/main" val="1314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21BB1-F163-218E-0785-E82EE490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e Autocorrelação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3E4AAA-7FB2-0E2E-D26F-775FDA52D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Autocorrelação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Média Temporal</a:t>
                </a:r>
              </a:p>
              <a:p>
                <a:endParaRPr lang="pt-BR" dirty="0"/>
              </a:p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3E4AAA-7FB2-0E2E-D26F-775FDA52D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53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669F-889A-8232-01E2-2B7C3608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316C6-7578-FCD0-2B5A-69C37FFC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e Autocorrelação</a:t>
            </a:r>
            <a:br>
              <a:rPr lang="pt-BR" dirty="0"/>
            </a:br>
            <a:r>
              <a:rPr lang="pt-BR" dirty="0"/>
              <a:t>Sinais Aleatórios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72C4BA-B4B2-BA76-1E7D-BE042F2CC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Autocorrelação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Média Estatística</a:t>
                </a:r>
              </a:p>
              <a:p>
                <a:endParaRPr lang="pt-BR" dirty="0"/>
              </a:p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72C4BA-B4B2-BA76-1E7D-BE042F2CC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51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9BE8B-DDE0-2B5D-F910-0AF5A4ED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535984-DBB3-7EEC-447D-2F771A6D6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13" y="1387866"/>
            <a:ext cx="9575773" cy="38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7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C3F69-83E7-1488-CE83-C1BBF8FA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Filtrado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1E78E-B272-E94A-BD69-11A69A9C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757"/>
            <a:ext cx="10515600" cy="165583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Em analogia à luz branca, que contém luz de todas as frequências</a:t>
            </a:r>
          </a:p>
          <a:p>
            <a:r>
              <a:rPr lang="pt-BR" dirty="0"/>
              <a:t>Ruído branco é uma idealização, não existe na prática</a:t>
            </a:r>
          </a:p>
          <a:p>
            <a:pPr lvl="1"/>
            <a:r>
              <a:rPr lang="pt-BR" dirty="0"/>
              <a:t>Potência seria infinita</a:t>
            </a:r>
          </a:p>
          <a:p>
            <a:pPr lvl="1"/>
            <a:r>
              <a:rPr lang="pt-BR" dirty="0"/>
              <a:t>Mas na prática, todos os sistemas são limitados em banda</a:t>
            </a:r>
          </a:p>
          <a:p>
            <a:pPr lvl="1"/>
            <a:endParaRPr lang="pt-BR" dirty="0"/>
          </a:p>
        </p:txBody>
      </p:sp>
      <p:cxnSp>
        <p:nvCxnSpPr>
          <p:cNvPr id="4" name="Conector de seta reta 8">
            <a:extLst>
              <a:ext uri="{FF2B5EF4-FFF2-40B4-BE49-F238E27FC236}">
                <a16:creationId xmlns:a16="http://schemas.microsoft.com/office/drawing/2014/main" id="{822B490D-CB86-C764-9AF5-507235B3D7DF}"/>
              </a:ext>
            </a:extLst>
          </p:cNvPr>
          <p:cNvCxnSpPr/>
          <p:nvPr/>
        </p:nvCxnSpPr>
        <p:spPr bwMode="auto">
          <a:xfrm>
            <a:off x="3423684" y="4197342"/>
            <a:ext cx="2454442" cy="1588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" name="Conector de seta reta 10">
            <a:extLst>
              <a:ext uri="{FF2B5EF4-FFF2-40B4-BE49-F238E27FC236}">
                <a16:creationId xmlns:a16="http://schemas.microsoft.com/office/drawing/2014/main" id="{4BF519B4-3EC7-8591-F37C-86AC439BA4B4}"/>
              </a:ext>
            </a:extLst>
          </p:cNvPr>
          <p:cNvCxnSpPr/>
          <p:nvPr/>
        </p:nvCxnSpPr>
        <p:spPr bwMode="auto">
          <a:xfrm rot="5400000" flipH="1" flipV="1">
            <a:off x="4026057" y="3631858"/>
            <a:ext cx="1130175" cy="794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AA2DAAD-D538-54C9-1C10-4757A602DA02}"/>
              </a:ext>
            </a:extLst>
          </p:cNvPr>
          <p:cNvCxnSpPr/>
          <p:nvPr/>
        </p:nvCxnSpPr>
        <p:spPr bwMode="auto">
          <a:xfrm>
            <a:off x="4025262" y="3547637"/>
            <a:ext cx="1179095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D73818-619F-BCE8-66C2-303FFA2CFB41}"/>
              </a:ext>
            </a:extLst>
          </p:cNvPr>
          <p:cNvSpPr txBox="1"/>
          <p:nvPr/>
        </p:nvSpPr>
        <p:spPr>
          <a:xfrm>
            <a:off x="5565307" y="424545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65E533-3804-F6D1-4DCC-21E469E809C6}"/>
              </a:ext>
            </a:extLst>
          </p:cNvPr>
          <p:cNvSpPr txBox="1"/>
          <p:nvPr/>
        </p:nvSpPr>
        <p:spPr>
          <a:xfrm>
            <a:off x="5420926" y="31385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baseline="-25000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/2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2B1902B-5DBF-C8C5-5CBC-4F165F53B883}"/>
              </a:ext>
            </a:extLst>
          </p:cNvPr>
          <p:cNvCxnSpPr/>
          <p:nvPr/>
        </p:nvCxnSpPr>
        <p:spPr bwMode="auto">
          <a:xfrm rot="5400000">
            <a:off x="4873489" y="3866473"/>
            <a:ext cx="661737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098980A-B04E-61D2-71AE-387F4F8EA913}"/>
              </a:ext>
            </a:extLst>
          </p:cNvPr>
          <p:cNvCxnSpPr/>
          <p:nvPr/>
        </p:nvCxnSpPr>
        <p:spPr bwMode="auto">
          <a:xfrm rot="5400000">
            <a:off x="3702369" y="3886521"/>
            <a:ext cx="661737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3DE0E1-3A6E-56F4-0B0B-0D8A0D25233C}"/>
              </a:ext>
            </a:extLst>
          </p:cNvPr>
          <p:cNvSpPr txBox="1"/>
          <p:nvPr/>
        </p:nvSpPr>
        <p:spPr>
          <a:xfrm>
            <a:off x="5047942" y="4233414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6568CE-73EF-0567-AC07-D7E9AD3CCBE5}"/>
              </a:ext>
            </a:extLst>
          </p:cNvPr>
          <p:cNvSpPr txBox="1"/>
          <p:nvPr/>
        </p:nvSpPr>
        <p:spPr>
          <a:xfrm>
            <a:off x="3852758" y="424143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-B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to 12">
                <a:extLst>
                  <a:ext uri="{FF2B5EF4-FFF2-40B4-BE49-F238E27FC236}">
                    <a16:creationId xmlns:a16="http://schemas.microsoft.com/office/drawing/2014/main" id="{23A56B38-B1E2-69EC-83E0-87B5EA2D5137}"/>
                  </a:ext>
                </a:extLst>
              </p:cNvPr>
              <p:cNvSpPr txBox="1"/>
              <p:nvPr/>
            </p:nvSpPr>
            <p:spPr bwMode="auto">
              <a:xfrm>
                <a:off x="2358647" y="4879128"/>
                <a:ext cx="8539725" cy="8937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𝑠𝑖𝑛𝑐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Objeto 12">
                <a:extLst>
                  <a:ext uri="{FF2B5EF4-FFF2-40B4-BE49-F238E27FC236}">
                    <a16:creationId xmlns:a16="http://schemas.microsoft.com/office/drawing/2014/main" id="{23A56B38-B1E2-69EC-83E0-87B5EA2D5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8647" y="4879128"/>
                <a:ext cx="8539725" cy="893763"/>
              </a:xfrm>
              <a:prstGeom prst="rect">
                <a:avLst/>
              </a:prstGeom>
              <a:blipFill>
                <a:blip r:embed="rId2"/>
                <a:stretch>
                  <a:fillRect b="-74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83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C9AF2-8185-F6A2-5D71-2B913855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Filtrado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B888EF-7291-0B0C-E279-838B1BF44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71" y="1648046"/>
            <a:ext cx="9221448" cy="44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9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D45E7-355F-C505-A661-CEF02796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Gaussiano Aditivo</a:t>
            </a:r>
            <a:br>
              <a:rPr lang="pt-BR" dirty="0"/>
            </a:br>
            <a:r>
              <a:rPr lang="pt-BR" dirty="0"/>
              <a:t>AWGN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EB5A5E4-D708-0564-1DA5-6FD916878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551"/>
                <a:ext cx="6264349" cy="4351338"/>
              </a:xfrm>
            </p:spPr>
            <p:txBody>
              <a:bodyPr/>
              <a:lstStyle/>
              <a:p>
                <a:r>
                  <a:rPr lang="pt-BR" dirty="0"/>
                  <a:t>Ruído é aditivo</a:t>
                </a:r>
              </a:p>
              <a:p>
                <a:r>
                  <a:rPr lang="pt-BR" dirty="0"/>
                  <a:t>PSD é branca (dentro da banda)</a:t>
                </a:r>
              </a:p>
              <a:p>
                <a:r>
                  <a:rPr lang="pt-BR" dirty="0"/>
                  <a:t>Distribuição da amplitude é Gaussiana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)∽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𝐵𝑁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EB5A5E4-D708-0564-1DA5-6FD916878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551"/>
                <a:ext cx="6264349" cy="4351338"/>
              </a:xfrm>
              <a:blipFill>
                <a:blip r:embed="rId2"/>
                <a:stretch>
                  <a:fillRect l="-175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2C6FBF90-1FCD-7EF2-70DA-8BD16AD9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036" y="1683163"/>
            <a:ext cx="4226764" cy="17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3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7CB56-A9CC-739B-6E9B-4D90E967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Gaussiano Aditivo – AWGN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D744B3-49DA-FDBB-6E69-2324F2ACD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16" y="1295134"/>
            <a:ext cx="10374552" cy="49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8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3BC14-5430-9BC4-56BD-C0CB0E17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térmico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E9DD900-FFCD-2BF3-7DF8-731EECD72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90248"/>
                <a:ext cx="6413205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Em todo equipamento eletrônico movimento aleatório de elétrons gera uma tensão aleatória de ruído</a:t>
                </a:r>
              </a:p>
              <a:p>
                <a:pPr lvl="1"/>
                <a:r>
                  <a:rPr lang="pt-BR" dirty="0"/>
                  <a:t>PSD constante até faixas de RF</a:t>
                </a:r>
              </a:p>
              <a:p>
                <a:pPr lvl="1"/>
                <a:r>
                  <a:rPr lang="pt-BR" dirty="0"/>
                  <a:t>Modelo já não é adequado para frequências ópticas (ruído quântico)</a:t>
                </a:r>
              </a:p>
              <a:p>
                <a:pPr lvl="1"/>
                <a:endParaRPr lang="pt-BR" dirty="0"/>
              </a:p>
              <a:p>
                <a:r>
                  <a:rPr lang="pt-BR" b="0" dirty="0"/>
                  <a:t>A tensão em uma resistência é (Johnsson –</a:t>
                </a:r>
                <a:r>
                  <a:rPr lang="pt-BR" b="0" dirty="0" err="1"/>
                  <a:t>Nyquist</a:t>
                </a:r>
                <a:r>
                  <a:rPr lang="pt-BR" b="0" dirty="0"/>
                  <a:t>) </a:t>
                </a:r>
                <a:r>
                  <a:rPr lang="pt-BR" b="0" dirty="0" err="1"/>
                  <a:t>noise</a:t>
                </a:r>
                <a:endParaRPr lang="pt-B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𝑘𝑇𝑅</m:t>
                    </m:r>
                  </m:oMath>
                </a14:m>
                <a:r>
                  <a:rPr lang="pt-BR" dirty="0"/>
                  <a:t> V</a:t>
                </a:r>
                <a:r>
                  <a:rPr lang="pt-BR" baseline="30000" dirty="0"/>
                  <a:t>2</a:t>
                </a:r>
                <a:r>
                  <a:rPr lang="pt-BR" dirty="0"/>
                  <a:t>/Hz</a:t>
                </a:r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pt-BR" dirty="0"/>
                  <a:t> : constante de Boltzmann (~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</a:rPr>
                  <a:t>1,38</a:t>
                </a:r>
                <a:r>
                  <a:rPr lang="pt-BR" dirty="0"/>
                  <a:t> x 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</a:rPr>
                  <a:t>10</a:t>
                </a:r>
                <a:r>
                  <a:rPr lang="pt-BR" baseline="30000" dirty="0">
                    <a:latin typeface="Times New Roman" pitchFamily="18" charset="0"/>
                    <a:cs typeface="Times New Roman" pitchFamily="18" charset="0"/>
                  </a:rPr>
                  <a:t>-23</a:t>
                </a:r>
                <a:r>
                  <a:rPr lang="pt-BR" dirty="0"/>
                  <a:t>J/K)</a:t>
                </a:r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pt-BR" dirty="0"/>
                  <a:t>: temperatura em K</a:t>
                </a:r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pt-BR" dirty="0"/>
                  <a:t>: resistência em </a:t>
                </a:r>
                <a:r>
                  <a:rPr lang="pt-BR" dirty="0">
                    <a:latin typeface="Symbol" pitchFamily="18" charset="2"/>
                  </a:rPr>
                  <a:t>W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E9DD900-FFCD-2BF3-7DF8-731EECD72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90248"/>
                <a:ext cx="6413205" cy="4351338"/>
              </a:xfrm>
              <a:blipFill>
                <a:blip r:embed="rId2"/>
                <a:stretch>
                  <a:fillRect l="-1425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B10A4942-2B82-8301-4B86-48B5B7D68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080" y="1916519"/>
            <a:ext cx="4887104" cy="329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7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311A4-837A-DE55-128C-F1701156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Térmico</a:t>
            </a:r>
            <a:br>
              <a:rPr lang="pt-BR" dirty="0"/>
            </a:br>
            <a:r>
              <a:rPr lang="pt-BR" dirty="0"/>
              <a:t>Modelo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8077FE-4638-45C3-7F2D-278C68E30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73" y="1607003"/>
            <a:ext cx="3876675" cy="4057650"/>
          </a:xfrm>
          <a:prstGeom prst="rect">
            <a:avLst/>
          </a:prstGeom>
        </p:spPr>
      </p:pic>
      <p:pic>
        <p:nvPicPr>
          <p:cNvPr id="5" name="Imagem 4" descr="Norton model of resistor thermal noise. | Download Scientific Diagram">
            <a:extLst>
              <a:ext uri="{FF2B5EF4-FFF2-40B4-BE49-F238E27FC236}">
                <a16:creationId xmlns:a16="http://schemas.microsoft.com/office/drawing/2014/main" id="{3343386B-8A0B-A8A4-A7EE-975CC9DA1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76" y="1904765"/>
            <a:ext cx="5064962" cy="34621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994EE69-2C10-73DF-DCDA-9C59B13E6D59}"/>
                  </a:ext>
                </a:extLst>
              </p:cNvPr>
              <p:cNvSpPr txBox="1"/>
              <p:nvPr/>
            </p:nvSpPr>
            <p:spPr>
              <a:xfrm>
                <a:off x="5302905" y="2891233"/>
                <a:ext cx="1844349" cy="148919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f>
                        <m:fPr>
                          <m:ctrlPr>
                            <a:rPr lang="pt-BR" sz="4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sz="4400" b="1" i="1" smtClean="0">
                              <a:latin typeface="Cambria Math" panose="02040503050406030204" pitchFamily="18" charset="0"/>
                            </a:rPr>
                            <m:t>𝒌𝑻</m:t>
                          </m:r>
                        </m:num>
                        <m:den>
                          <m:sSub>
                            <m:sSubPr>
                              <m:ctrlPr>
                                <a:rPr lang="pt-BR" sz="4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4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pt-BR" sz="4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4400" b="1" baseline="-250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994EE69-2C10-73DF-DCDA-9C59B13E6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905" y="2891233"/>
                <a:ext cx="1844349" cy="1489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4144D399-F272-F5AA-21A6-CB4CA0B04EC7}"/>
              </a:ext>
            </a:extLst>
          </p:cNvPr>
          <p:cNvSpPr txBox="1"/>
          <p:nvPr/>
        </p:nvSpPr>
        <p:spPr>
          <a:xfrm>
            <a:off x="1262062" y="3814082"/>
            <a:ext cx="1844349" cy="76944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r"/>
            <a:r>
              <a:rPr lang="pt-BR" sz="4400" b="1" dirty="0"/>
              <a:t>2</a:t>
            </a:r>
            <a:r>
              <a:rPr lang="pt-BR" sz="4400" b="1" i="1" dirty="0"/>
              <a:t>kTR</a:t>
            </a:r>
            <a:r>
              <a:rPr lang="pt-BR" sz="4400" b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382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76E1E-5977-845C-FC67-13960D01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Térmico</a:t>
            </a:r>
            <a:br>
              <a:rPr lang="pt-BR" dirty="0"/>
            </a:br>
            <a:r>
              <a:rPr lang="pt-BR" dirty="0"/>
              <a:t>Dissipação de Potência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6767A1-99D7-F90F-884C-E7BB56EFA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73" y="1607003"/>
            <a:ext cx="3876675" cy="40576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8A44F0-6CA3-3EBE-1300-AF6572C60A7E}"/>
              </a:ext>
            </a:extLst>
          </p:cNvPr>
          <p:cNvSpPr txBox="1"/>
          <p:nvPr/>
        </p:nvSpPr>
        <p:spPr>
          <a:xfrm>
            <a:off x="1262062" y="3814082"/>
            <a:ext cx="1844349" cy="76944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r"/>
            <a:r>
              <a:rPr lang="pt-BR" sz="4400" b="1" dirty="0"/>
              <a:t>2</a:t>
            </a:r>
            <a:r>
              <a:rPr lang="pt-BR" sz="4400" b="1" i="1" dirty="0"/>
              <a:t>kTR</a:t>
            </a:r>
            <a:r>
              <a:rPr lang="pt-BR" sz="4400" b="1" baseline="-25000" dirty="0"/>
              <a:t>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39CC383-9E4E-187D-45D2-E3B8EE1CE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926" y="2917058"/>
            <a:ext cx="1751980" cy="1023884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F462E59-9BF0-0D73-84A0-6F6C0360A694}"/>
              </a:ext>
            </a:extLst>
          </p:cNvPr>
          <p:cNvCxnSpPr/>
          <p:nvPr/>
        </p:nvCxnSpPr>
        <p:spPr>
          <a:xfrm flipV="1">
            <a:off x="6411685" y="1905001"/>
            <a:ext cx="0" cy="1033829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89CC9CC-523D-D5B1-7B8D-133EC8B2417C}"/>
              </a:ext>
            </a:extLst>
          </p:cNvPr>
          <p:cNvCxnSpPr>
            <a:cxnSpLocks/>
          </p:cNvCxnSpPr>
          <p:nvPr/>
        </p:nvCxnSpPr>
        <p:spPr>
          <a:xfrm flipV="1">
            <a:off x="6411685" y="3897724"/>
            <a:ext cx="0" cy="1392733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CF2DD71-2BF6-25E2-DD24-50D0E1E9D219}"/>
              </a:ext>
            </a:extLst>
          </p:cNvPr>
          <p:cNvCxnSpPr/>
          <p:nvPr/>
        </p:nvCxnSpPr>
        <p:spPr>
          <a:xfrm>
            <a:off x="4724400" y="1905001"/>
            <a:ext cx="1687285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0514ED1-F872-F02E-0FCC-678D3DD9F8CF}"/>
              </a:ext>
            </a:extLst>
          </p:cNvPr>
          <p:cNvCxnSpPr/>
          <p:nvPr/>
        </p:nvCxnSpPr>
        <p:spPr>
          <a:xfrm>
            <a:off x="4735286" y="5236027"/>
            <a:ext cx="1687285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82416F9-6E7D-C98D-B2B4-85FAADF0E495}"/>
                  </a:ext>
                </a:extLst>
              </p:cNvPr>
              <p:cNvSpPr txBox="1"/>
              <p:nvPr/>
            </p:nvSpPr>
            <p:spPr>
              <a:xfrm>
                <a:off x="7293429" y="1905001"/>
                <a:ext cx="4463141" cy="2659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A carga casada maximiza a transferência de potência.</a:t>
                </a:r>
              </a:p>
              <a:p>
                <a:r>
                  <a:rPr lang="pt-BR" sz="2800" dirty="0"/>
                  <a:t>A potência dissipada no resistor casado tem PSD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pt-BR" sz="2800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Hz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82416F9-6E7D-C98D-B2B4-85FAADF0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29" y="1905001"/>
                <a:ext cx="4463141" cy="2659702"/>
              </a:xfrm>
              <a:prstGeom prst="rect">
                <a:avLst/>
              </a:prstGeom>
              <a:blipFill>
                <a:blip r:embed="rId4"/>
                <a:stretch>
                  <a:fillRect l="-2729" t="-22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06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E877C-C34A-CA4F-C15A-3D4DA7AA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Térmico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12B8568-630A-0CAB-AE17-9C9CB8645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Em receptores de comunicações, considera-se uma carga casada com temperatura de 300 K (26,85º C)</a:t>
                </a:r>
              </a:p>
              <a:p>
                <a:r>
                  <a:rPr lang="pt-BR" dirty="0"/>
                  <a:t>Neste caso a potência do ruído 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=2×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−21</m:t>
                          </m:r>
                        </m:sup>
                      </m:sSup>
                      <m:f>
                        <m:f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Hz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=−174 </m:t>
                      </m:r>
                      <m:r>
                        <m:rPr>
                          <m:sty m:val="p"/>
                        </m:rPr>
                        <a:rPr lang="pt-BR">
                          <a:latin typeface="Cambria Math" panose="02040503050406030204" pitchFamily="18" charset="0"/>
                        </a:rPr>
                        <m:t>dBm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 +10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12B8568-630A-0CAB-AE17-9C9CB8645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56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4857D-D9D0-D4EE-6BD1-9E0262B7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Colorido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1004B5C-AC5A-8250-111A-D58D2FCAF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Ruído rosa: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r>
                  <a:rPr lang="pt-BR" dirty="0"/>
                  <a:t>Ruído vermelho (Browniano):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Em Comunicações, ruído branco é o mais importante (presente em todo receptor)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1004B5C-AC5A-8250-111A-D58D2FCAF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12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2597-FC6E-D5CE-EC13-25FBF5A72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439AC-1C6B-4CAB-25BE-E4FB00C2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Colorido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A446372-10AD-DAFB-5B87-B7F5A9FC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65" y="1233377"/>
            <a:ext cx="10304035" cy="495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5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D2C93-2846-E5F0-3E08-8B6D6D20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 Ruído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464ADF-1B1D-7455-6C30-7C52C350B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Signal-</a:t>
                </a:r>
                <a:r>
                  <a:rPr lang="pt-BR" dirty="0" err="1"/>
                  <a:t>to</a:t>
                </a:r>
                <a:r>
                  <a:rPr lang="pt-BR" dirty="0"/>
                  <a:t>-Noise </a:t>
                </a:r>
                <a:r>
                  <a:rPr lang="pt-BR" dirty="0" err="1"/>
                  <a:t>Ratio</a:t>
                </a:r>
                <a:r>
                  <a:rPr lang="pt-BR" dirty="0"/>
                  <a:t> (SNR) ou Razão Sinal Ruído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𝑅𝑆𝑅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Desempenho de sistemas de comunicações depende da RSR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464ADF-1B1D-7455-6C30-7C52C350B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84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04F2F-D90C-6DF7-9B9C-F3682ED8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 Ruído – dB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055166-A7A0-383E-7D74-3A7E8019D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38" y="1280419"/>
            <a:ext cx="10515600" cy="50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8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FE441-B5D8-464E-B272-E5E9701C444C}">
  <ds:schemaRefs>
    <ds:schemaRef ds:uri="http://purl.org/dc/elements/1.1/"/>
    <ds:schemaRef ds:uri="http://schemas.microsoft.com/sharepoint/v3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338d0ee-48d0-42fd-8eee-cce9c16843bc"/>
    <ds:schemaRef ds:uri="95c025fe-a600-4cde-9b8b-77161b10ab73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13161</TotalTime>
  <Words>1048</Words>
  <Application>Microsoft Office PowerPoint</Application>
  <PresentationFormat>Widescreen</PresentationFormat>
  <Paragraphs>208</Paragraphs>
  <Slides>39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Segoe UI Black</vt:lpstr>
      <vt:lpstr>Symbol</vt:lpstr>
      <vt:lpstr>Times New Roman</vt:lpstr>
      <vt:lpstr>Tema do Office</vt:lpstr>
      <vt:lpstr>Espectro, Banda e Ruído</vt:lpstr>
      <vt:lpstr>Energia, Potência e Banda</vt:lpstr>
      <vt:lpstr>Cálculos em decibéis (dB)</vt:lpstr>
      <vt:lpstr>decibéis</vt:lpstr>
      <vt:lpstr>Cálculos em dB</vt:lpstr>
      <vt:lpstr>Potências em dB</vt:lpstr>
      <vt:lpstr>Energia</vt:lpstr>
      <vt:lpstr>Energia de um Sinal</vt:lpstr>
      <vt:lpstr>Energia Densidade Espectral de Energia (DEE / ESD)</vt:lpstr>
      <vt:lpstr>Espectro </vt:lpstr>
      <vt:lpstr>Espectro Banda / Faixa</vt:lpstr>
      <vt:lpstr>Largura de Banda</vt:lpstr>
      <vt:lpstr>Largura de Banda Definições</vt:lpstr>
      <vt:lpstr>Largura de Banda Definições</vt:lpstr>
      <vt:lpstr>Largura de Banda Definições</vt:lpstr>
      <vt:lpstr>Sistemas Energia na Saída de Sistemas Lineares</vt:lpstr>
      <vt:lpstr>Correlação</vt:lpstr>
      <vt:lpstr>Autocorrelação</vt:lpstr>
      <vt:lpstr>Autocorrelação Exemplo</vt:lpstr>
      <vt:lpstr>Autocorrelação e Densidade Espectral de Energia</vt:lpstr>
      <vt:lpstr>Densidade Espectral de Potência</vt:lpstr>
      <vt:lpstr>Densidade Espectral de Potência</vt:lpstr>
      <vt:lpstr>Densidade Espectral de Potência (PSD)</vt:lpstr>
      <vt:lpstr>Densidade Espectral de Potência (PSD) Senoide</vt:lpstr>
      <vt:lpstr>Densidade Espectral de Potência e Autocorrelação</vt:lpstr>
      <vt:lpstr>Densidade Espectral de Potência e Autocorrelação Sinais Aleatórios</vt:lpstr>
      <vt:lpstr>Ruído Branco</vt:lpstr>
      <vt:lpstr>Ruído Branco Filtrado</vt:lpstr>
      <vt:lpstr>Ruído Branco Filtrado Exemplo</vt:lpstr>
      <vt:lpstr>Ruído Branco Gaussiano Aditivo AWGN</vt:lpstr>
      <vt:lpstr>Ruído Branco Gaussiano Aditivo – AWGN Exemplo</vt:lpstr>
      <vt:lpstr>Ruído térmico</vt:lpstr>
      <vt:lpstr>Ruído Térmico Modelo</vt:lpstr>
      <vt:lpstr>Ruído Térmico Dissipação de Potência</vt:lpstr>
      <vt:lpstr>Ruído Térmico</vt:lpstr>
      <vt:lpstr>Ruído Colorido</vt:lpstr>
      <vt:lpstr>Ruído Colorido Exemplo</vt:lpstr>
      <vt:lpstr>Razão Sinal Ruído</vt:lpstr>
      <vt:lpstr>Razão Sinal Ruído – dB 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25</cp:revision>
  <cp:lastPrinted>2017-06-06T18:46:34Z</cp:lastPrinted>
  <dcterms:created xsi:type="dcterms:W3CDTF">2022-06-23T16:27:38Z</dcterms:created>
  <dcterms:modified xsi:type="dcterms:W3CDTF">2026-09-20T18:12:11Z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