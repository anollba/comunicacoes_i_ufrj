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</p:sldMasterIdLst>
  <p:notesMasterIdLst>
    <p:notesMasterId r:id="rId44"/>
  </p:notesMasterIdLst>
  <p:handoutMasterIdLst>
    <p:handoutMasterId r:id="rId45"/>
  </p:handoutMasterIdLst>
  <p:sldIdLst>
    <p:sldId id="259" r:id="rId5"/>
    <p:sldId id="349" r:id="rId6"/>
    <p:sldId id="366" r:id="rId7"/>
    <p:sldId id="380" r:id="rId8"/>
    <p:sldId id="377" r:id="rId9"/>
    <p:sldId id="378" r:id="rId10"/>
    <p:sldId id="381" r:id="rId11"/>
    <p:sldId id="283" r:id="rId12"/>
    <p:sldId id="284" r:id="rId13"/>
    <p:sldId id="291" r:id="rId14"/>
    <p:sldId id="352" r:id="rId15"/>
    <p:sldId id="286" r:id="rId16"/>
    <p:sldId id="287" r:id="rId17"/>
    <p:sldId id="288" r:id="rId18"/>
    <p:sldId id="353" r:id="rId19"/>
    <p:sldId id="351" r:id="rId20"/>
    <p:sldId id="355" r:id="rId21"/>
    <p:sldId id="356" r:id="rId22"/>
    <p:sldId id="357" r:id="rId23"/>
    <p:sldId id="358" r:id="rId24"/>
    <p:sldId id="354" r:id="rId25"/>
    <p:sldId id="359" r:id="rId26"/>
    <p:sldId id="360" r:id="rId27"/>
    <p:sldId id="369" r:id="rId28"/>
    <p:sldId id="370" r:id="rId29"/>
    <p:sldId id="371" r:id="rId30"/>
    <p:sldId id="363" r:id="rId31"/>
    <p:sldId id="364" r:id="rId32"/>
    <p:sldId id="374" r:id="rId33"/>
    <p:sldId id="373" r:id="rId34"/>
    <p:sldId id="375" r:id="rId35"/>
    <p:sldId id="368" r:id="rId36"/>
    <p:sldId id="382" r:id="rId37"/>
    <p:sldId id="383" r:id="rId38"/>
    <p:sldId id="384" r:id="rId39"/>
    <p:sldId id="367" r:id="rId40"/>
    <p:sldId id="376" r:id="rId41"/>
    <p:sldId id="365" r:id="rId42"/>
    <p:sldId id="379" r:id="rId43"/>
  </p:sldIdLst>
  <p:sldSz cx="12192000" cy="6858000"/>
  <p:notesSz cx="7104063" cy="10234613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Seção Padrão" id="{66F45CC5-03A4-427B-927A-123D5694A762}">
          <p14:sldIdLst>
            <p14:sldId id="259"/>
          </p14:sldIdLst>
        </p14:section>
        <p14:section name="Seção sem Título" id="{0AF02E1A-BA6A-4459-AB01-C48EDF29A88E}">
          <p14:sldIdLst>
            <p14:sldId id="349"/>
            <p14:sldId id="366"/>
            <p14:sldId id="380"/>
            <p14:sldId id="377"/>
            <p14:sldId id="378"/>
            <p14:sldId id="381"/>
            <p14:sldId id="283"/>
            <p14:sldId id="284"/>
            <p14:sldId id="291"/>
            <p14:sldId id="352"/>
            <p14:sldId id="286"/>
            <p14:sldId id="287"/>
            <p14:sldId id="288"/>
            <p14:sldId id="353"/>
            <p14:sldId id="351"/>
            <p14:sldId id="355"/>
            <p14:sldId id="356"/>
            <p14:sldId id="357"/>
            <p14:sldId id="358"/>
            <p14:sldId id="354"/>
            <p14:sldId id="359"/>
            <p14:sldId id="360"/>
            <p14:sldId id="369"/>
            <p14:sldId id="370"/>
            <p14:sldId id="371"/>
            <p14:sldId id="363"/>
            <p14:sldId id="364"/>
            <p14:sldId id="374"/>
            <p14:sldId id="373"/>
            <p14:sldId id="375"/>
            <p14:sldId id="368"/>
            <p14:sldId id="382"/>
            <p14:sldId id="383"/>
            <p14:sldId id="384"/>
            <p14:sldId id="367"/>
            <p14:sldId id="376"/>
            <p14:sldId id="365"/>
            <p14:sldId id="379"/>
          </p14:sldIdLst>
        </p14:section>
      </p14:sectionLst>
    </p:ext>
    <p:ext uri="{EFAFB233-063F-42B5-8137-9DF3F51BA10A}">
      <p15:sldGuideLst xmlns:p15="http://schemas.microsoft.com/office/powerpoint/2012/main">
        <p15:guide id="1" pos="529" userDrawn="1">
          <p15:clr>
            <a:srgbClr val="A4A3A4"/>
          </p15:clr>
        </p15:guide>
        <p15:guide id="2" pos="7151" userDrawn="1">
          <p15:clr>
            <a:srgbClr val="A4A3A4"/>
          </p15:clr>
        </p15:guide>
        <p15:guide id="3" orient="horz" pos="799" userDrawn="1">
          <p15:clr>
            <a:srgbClr val="A4A3A4"/>
          </p15:clr>
        </p15:guide>
      </p15:sld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Sonia Ximenes | Brazil | Licks Attorneys" initials="SX|B|LA" lastIdx="5" clrIdx="0">
    <p:extLst>
      <p:ext uri="{19B8F6BF-5375-455C-9EA6-DF929625EA0E}">
        <p15:presenceInfo xmlns:p15="http://schemas.microsoft.com/office/powerpoint/2012/main" userId="S-1-5-21-4064988553-3364987943-4011221069-2570" providerId="AD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FFFF"/>
    <a:srgbClr val="FF00FF"/>
    <a:srgbClr val="72BF44"/>
    <a:srgbClr val="C9252C"/>
    <a:srgbClr val="DDDDDD"/>
    <a:srgbClr val="221B6F"/>
    <a:srgbClr val="231F20"/>
    <a:srgbClr val="1A203F"/>
    <a:srgbClr val="383B71"/>
    <a:srgbClr val="393C7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793D81CF-94F2-401A-BA57-92F5A7B2D0C5}" styleName="Medium Style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59" d="100"/>
          <a:sy n="59" d="100"/>
        </p:scale>
        <p:origin x="216" y="52"/>
      </p:cViewPr>
      <p:guideLst>
        <p:guide pos="529"/>
        <p:guide pos="7151"/>
        <p:guide orient="horz" pos="799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slide" Target="slides/slide22.xml"/><Relationship Id="rId39" Type="http://schemas.openxmlformats.org/officeDocument/2006/relationships/slide" Target="slides/slide35.xml"/><Relationship Id="rId21" Type="http://schemas.openxmlformats.org/officeDocument/2006/relationships/slide" Target="slides/slide17.xml"/><Relationship Id="rId34" Type="http://schemas.openxmlformats.org/officeDocument/2006/relationships/slide" Target="slides/slide30.xml"/><Relationship Id="rId42" Type="http://schemas.openxmlformats.org/officeDocument/2006/relationships/slide" Target="slides/slide38.xml"/><Relationship Id="rId47" Type="http://schemas.openxmlformats.org/officeDocument/2006/relationships/presProps" Target="presProps.xml"/><Relationship Id="rId50" Type="http://schemas.openxmlformats.org/officeDocument/2006/relationships/tableStyles" Target="tableStyles.xml"/><Relationship Id="rId7" Type="http://schemas.openxmlformats.org/officeDocument/2006/relationships/slide" Target="slides/slide3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9" Type="http://schemas.openxmlformats.org/officeDocument/2006/relationships/slide" Target="slides/slide25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slide" Target="slides/slide28.xml"/><Relationship Id="rId37" Type="http://schemas.openxmlformats.org/officeDocument/2006/relationships/slide" Target="slides/slide33.xml"/><Relationship Id="rId40" Type="http://schemas.openxmlformats.org/officeDocument/2006/relationships/slide" Target="slides/slide36.xml"/><Relationship Id="rId45" Type="http://schemas.openxmlformats.org/officeDocument/2006/relationships/handoutMaster" Target="handoutMasters/handoutMaster1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36" Type="http://schemas.openxmlformats.org/officeDocument/2006/relationships/slide" Target="slides/slide32.xml"/><Relationship Id="rId49" Type="http://schemas.openxmlformats.org/officeDocument/2006/relationships/theme" Target="theme/theme1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31" Type="http://schemas.openxmlformats.org/officeDocument/2006/relationships/slide" Target="slides/slide27.xml"/><Relationship Id="rId44" Type="http://schemas.openxmlformats.org/officeDocument/2006/relationships/notesMaster" Target="notesMasters/notesMaster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slide" Target="slides/slide26.xml"/><Relationship Id="rId35" Type="http://schemas.openxmlformats.org/officeDocument/2006/relationships/slide" Target="slides/slide31.xml"/><Relationship Id="rId43" Type="http://schemas.openxmlformats.org/officeDocument/2006/relationships/slide" Target="slides/slide39.xml"/><Relationship Id="rId48" Type="http://schemas.openxmlformats.org/officeDocument/2006/relationships/viewProps" Target="viewProps.xml"/><Relationship Id="rId8" Type="http://schemas.openxmlformats.org/officeDocument/2006/relationships/slide" Target="slides/slide4.xml"/><Relationship Id="rId3" Type="http://schemas.openxmlformats.org/officeDocument/2006/relationships/customXml" Target="../customXml/item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slide" Target="slides/slide29.xml"/><Relationship Id="rId38" Type="http://schemas.openxmlformats.org/officeDocument/2006/relationships/slide" Target="slides/slide34.xml"/><Relationship Id="rId46" Type="http://schemas.openxmlformats.org/officeDocument/2006/relationships/commentAuthors" Target="commentAuthors.xml"/><Relationship Id="rId20" Type="http://schemas.openxmlformats.org/officeDocument/2006/relationships/slide" Target="slides/slide16.xml"/><Relationship Id="rId41" Type="http://schemas.openxmlformats.org/officeDocument/2006/relationships/slide" Target="slides/slide37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1" y="1"/>
            <a:ext cx="3078427" cy="513508"/>
          </a:xfrm>
          <a:prstGeom prst="rect">
            <a:avLst/>
          </a:prstGeom>
        </p:spPr>
        <p:txBody>
          <a:bodyPr vert="horz" lIns="94796" tIns="47398" rIns="94796" bIns="47398" rtlCol="0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sz="quarter" idx="1"/>
          </p:nvPr>
        </p:nvSpPr>
        <p:spPr>
          <a:xfrm>
            <a:off x="4023993" y="1"/>
            <a:ext cx="3078427" cy="513508"/>
          </a:xfrm>
          <a:prstGeom prst="rect">
            <a:avLst/>
          </a:prstGeom>
        </p:spPr>
        <p:txBody>
          <a:bodyPr vert="horz" lIns="94796" tIns="47398" rIns="94796" bIns="47398" rtlCol="0"/>
          <a:lstStyle>
            <a:lvl1pPr algn="r">
              <a:defRPr sz="1200"/>
            </a:lvl1pPr>
          </a:lstStyle>
          <a:p>
            <a:fld id="{073928FA-D2C6-41DE-B220-3F2DB2F37ACE}" type="datetimeFigureOut">
              <a:rPr lang="pt-BR" smtClean="0"/>
              <a:t>20/09/2026</a:t>
            </a:fld>
            <a:endParaRPr lang="pt-BR"/>
          </a:p>
        </p:txBody>
      </p:sp>
      <p:sp>
        <p:nvSpPr>
          <p:cNvPr id="4" name="Espaço Reservado para Rodapé 3"/>
          <p:cNvSpPr>
            <a:spLocks noGrp="1"/>
          </p:cNvSpPr>
          <p:nvPr>
            <p:ph type="ftr" sz="quarter" idx="2"/>
          </p:nvPr>
        </p:nvSpPr>
        <p:spPr>
          <a:xfrm>
            <a:off x="1" y="9721107"/>
            <a:ext cx="3078427" cy="513507"/>
          </a:xfrm>
          <a:prstGeom prst="rect">
            <a:avLst/>
          </a:prstGeom>
        </p:spPr>
        <p:txBody>
          <a:bodyPr vert="horz" lIns="94796" tIns="47398" rIns="94796" bIns="47398" rtlCol="0" anchor="b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5" name="Espaço Reservado para Número de Slide 4"/>
          <p:cNvSpPr>
            <a:spLocks noGrp="1"/>
          </p:cNvSpPr>
          <p:nvPr>
            <p:ph type="sldNum" sz="quarter" idx="3"/>
          </p:nvPr>
        </p:nvSpPr>
        <p:spPr>
          <a:xfrm>
            <a:off x="4023993" y="9721107"/>
            <a:ext cx="3078427" cy="513507"/>
          </a:xfrm>
          <a:prstGeom prst="rect">
            <a:avLst/>
          </a:prstGeom>
        </p:spPr>
        <p:txBody>
          <a:bodyPr vert="horz" lIns="94796" tIns="47398" rIns="94796" bIns="47398" rtlCol="0" anchor="b"/>
          <a:lstStyle>
            <a:lvl1pPr algn="r">
              <a:defRPr sz="1200"/>
            </a:lvl1pPr>
          </a:lstStyle>
          <a:p>
            <a:fld id="{B282AF58-AFB8-48A3-96B5-4550277F423C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05212787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1" y="1"/>
            <a:ext cx="3078427" cy="513508"/>
          </a:xfrm>
          <a:prstGeom prst="rect">
            <a:avLst/>
          </a:prstGeom>
        </p:spPr>
        <p:txBody>
          <a:bodyPr vert="horz" lIns="94796" tIns="47398" rIns="94796" bIns="47398" rtlCol="0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4023993" y="1"/>
            <a:ext cx="3078427" cy="513508"/>
          </a:xfrm>
          <a:prstGeom prst="rect">
            <a:avLst/>
          </a:prstGeom>
        </p:spPr>
        <p:txBody>
          <a:bodyPr vert="horz" lIns="94796" tIns="47398" rIns="94796" bIns="47398" rtlCol="0"/>
          <a:lstStyle>
            <a:lvl1pPr algn="r">
              <a:defRPr sz="1200"/>
            </a:lvl1pPr>
          </a:lstStyle>
          <a:p>
            <a:fld id="{BA67B741-5C22-4E92-9233-564803058EDF}" type="datetimeFigureOut">
              <a:rPr lang="pt-BR" smtClean="0"/>
              <a:t>20/09/2026</a:t>
            </a:fld>
            <a:endParaRPr lang="pt-BR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481013" y="1279525"/>
            <a:ext cx="6142037" cy="34544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4796" tIns="47398" rIns="94796" bIns="47398" rtlCol="0" anchor="ctr"/>
          <a:lstStyle/>
          <a:p>
            <a:endParaRPr lang="pt-BR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710407" y="4925408"/>
            <a:ext cx="5683250" cy="4029880"/>
          </a:xfrm>
          <a:prstGeom prst="rect">
            <a:avLst/>
          </a:prstGeom>
        </p:spPr>
        <p:txBody>
          <a:bodyPr vert="horz" lIns="94796" tIns="47398" rIns="94796" bIns="47398" rtlCol="0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1" y="9721107"/>
            <a:ext cx="3078427" cy="513507"/>
          </a:xfrm>
          <a:prstGeom prst="rect">
            <a:avLst/>
          </a:prstGeom>
        </p:spPr>
        <p:txBody>
          <a:bodyPr vert="horz" lIns="94796" tIns="47398" rIns="94796" bIns="47398" rtlCol="0" anchor="b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4023993" y="9721107"/>
            <a:ext cx="3078427" cy="513507"/>
          </a:xfrm>
          <a:prstGeom prst="rect">
            <a:avLst/>
          </a:prstGeom>
        </p:spPr>
        <p:txBody>
          <a:bodyPr vert="horz" lIns="94796" tIns="47398" rIns="94796" bIns="47398" rtlCol="0" anchor="b"/>
          <a:lstStyle>
            <a:lvl1pPr algn="r">
              <a:defRPr sz="1200"/>
            </a:lvl1pPr>
          </a:lstStyle>
          <a:p>
            <a:fld id="{943170F2-A307-469F-9C21-48DA32EBBF52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2288591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43170F2-A307-469F-9C21-48DA32EBBF52}" type="slidenum">
              <a:rPr lang="pt-BR" smtClean="0"/>
              <a:t>14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9710787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8C00F9-926D-F17A-4173-E99AA50AC4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15427818-1BEB-4F9E-AC7F-B73FB2D400E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A3DE9F58-5D52-8756-A2A2-7137CC70716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C63C8498-9127-D742-2850-8C9745166FC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43170F2-A307-469F-9C21-48DA32EBBF52}" type="slidenum">
              <a:rPr lang="pt-BR" smtClean="0"/>
              <a:t>15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61276088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43170F2-A307-469F-9C21-48DA32EBBF52}" type="slidenum">
              <a:rPr lang="pt-BR" smtClean="0"/>
              <a:t>23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11044898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m 4">
            <a:extLst>
              <a:ext uri="{FF2B5EF4-FFF2-40B4-BE49-F238E27FC236}">
                <a16:creationId xmlns:a16="http://schemas.microsoft.com/office/drawing/2014/main" id="{F2760AE9-7072-6665-A798-B16FE36959CB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3861054" cy="6858000"/>
          </a:xfrm>
          <a:prstGeom prst="rect">
            <a:avLst/>
          </a:prstGeom>
        </p:spPr>
      </p:pic>
      <p:sp>
        <p:nvSpPr>
          <p:cNvPr id="3" name="CaixaDeTexto 2">
            <a:extLst>
              <a:ext uri="{FF2B5EF4-FFF2-40B4-BE49-F238E27FC236}">
                <a16:creationId xmlns:a16="http://schemas.microsoft.com/office/drawing/2014/main" id="{6062421D-6B9C-2119-9B24-9A8301D37D45}"/>
              </a:ext>
            </a:extLst>
          </p:cNvPr>
          <p:cNvSpPr txBox="1"/>
          <p:nvPr userDrawn="1"/>
        </p:nvSpPr>
        <p:spPr>
          <a:xfrm>
            <a:off x="4211128" y="1747180"/>
            <a:ext cx="741009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400">
                <a:solidFill>
                  <a:srgbClr val="0070C0"/>
                </a:solidFill>
              </a:rPr>
              <a:t>Comunicações I</a:t>
            </a:r>
          </a:p>
        </p:txBody>
      </p:sp>
      <p:sp>
        <p:nvSpPr>
          <p:cNvPr id="2" name="Espaço Reservado para Título 1">
            <a:extLst>
              <a:ext uri="{FF2B5EF4-FFF2-40B4-BE49-F238E27FC236}">
                <a16:creationId xmlns:a16="http://schemas.microsoft.com/office/drawing/2014/main" id="{992CEFEA-E523-3B80-3BF1-555F84BF362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211128" y="212338"/>
            <a:ext cx="7410091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>
              <a:defRPr sz="3600" b="1">
                <a:solidFill>
                  <a:srgbClr val="0070C0"/>
                </a:solidFill>
              </a:defRPr>
            </a:lvl1pPr>
          </a:lstStyle>
          <a:p>
            <a:r>
              <a:rPr lang="pt-BR" noProof="0"/>
              <a:t>Título</a:t>
            </a:r>
          </a:p>
        </p:txBody>
      </p:sp>
    </p:spTree>
    <p:extLst>
      <p:ext uri="{BB962C8B-B14F-4D97-AF65-F5344CB8AC3E}">
        <p14:creationId xmlns:p14="http://schemas.microsoft.com/office/powerpoint/2010/main" val="99135905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visór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itle 1"/>
          <p:cNvSpPr>
            <a:spLocks noGrp="1"/>
          </p:cNvSpPr>
          <p:nvPr userDrawn="1">
            <p:ph type="title" hasCustomPrompt="1"/>
          </p:nvPr>
        </p:nvSpPr>
        <p:spPr>
          <a:xfrm>
            <a:off x="6096001" y="1367660"/>
            <a:ext cx="5269356" cy="1579289"/>
          </a:xfrm>
        </p:spPr>
        <p:txBody>
          <a:bodyPr anchor="t">
            <a:noAutofit/>
          </a:bodyPr>
          <a:lstStyle>
            <a:lvl1pPr>
              <a:lnSpc>
                <a:spcPct val="100000"/>
              </a:lnSpc>
              <a:spcBef>
                <a:spcPts val="600"/>
              </a:spcBef>
              <a:defRPr sz="4000">
                <a:solidFill>
                  <a:srgbClr val="383B71"/>
                </a:solidFill>
                <a:latin typeface="Segoe UI Black" panose="020B0A02040204020203" pitchFamily="34" charset="0"/>
                <a:ea typeface="Segoe UI Black" panose="020B0A02040204020203" pitchFamily="34" charset="0"/>
                <a:cs typeface="Segoe UI Black" panose="020B0A02040204020203" pitchFamily="34" charset="0"/>
              </a:defRPr>
            </a:lvl1pPr>
          </a:lstStyle>
          <a:p>
            <a:r>
              <a:rPr lang="pt-BR" noProof="0"/>
              <a:t>Click </a:t>
            </a:r>
            <a:r>
              <a:rPr lang="pt-BR" noProof="0" err="1"/>
              <a:t>to</a:t>
            </a:r>
            <a:r>
              <a:rPr lang="pt-BR" noProof="0"/>
              <a:t> </a:t>
            </a:r>
            <a:r>
              <a:rPr lang="pt-BR" noProof="0" err="1"/>
              <a:t>edit</a:t>
            </a:r>
            <a:r>
              <a:rPr lang="pt-BR" noProof="0"/>
              <a:t> Master </a:t>
            </a:r>
            <a:r>
              <a:rPr lang="pt-BR" noProof="0" err="1"/>
              <a:t>title</a:t>
            </a:r>
            <a:r>
              <a:rPr lang="pt-BR" noProof="0"/>
              <a:t> </a:t>
            </a:r>
            <a:r>
              <a:rPr lang="pt-BR" noProof="0" err="1"/>
              <a:t>style</a:t>
            </a:r>
            <a:endParaRPr lang="pt-BR" noProof="0"/>
          </a:p>
        </p:txBody>
      </p:sp>
      <p:sp>
        <p:nvSpPr>
          <p:cNvPr id="13" name="CaixaDeTexto 15">
            <a:extLst>
              <a:ext uri="{FF2B5EF4-FFF2-40B4-BE49-F238E27FC236}">
                <a16:creationId xmlns:a16="http://schemas.microsoft.com/office/drawing/2014/main" id="{3034A8DE-CBF7-4126-9C31-A37C294C2BE3}"/>
              </a:ext>
            </a:extLst>
          </p:cNvPr>
          <p:cNvSpPr txBox="1"/>
          <p:nvPr userDrawn="1"/>
        </p:nvSpPr>
        <p:spPr>
          <a:xfrm>
            <a:off x="10664324" y="6528028"/>
            <a:ext cx="458674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 defTabSz="855878"/>
            <a:fld id="{62780EB2-574A-44ED-8A24-CBC304E57FAD}" type="slidenum">
              <a:rPr lang="pt-BR" sz="900">
                <a:solidFill>
                  <a:schemeClr val="tx1"/>
                </a:solidFill>
              </a:rPr>
              <a:pPr algn="r" defTabSz="855878"/>
              <a:t>‹nº›</a:t>
            </a:fld>
            <a:endParaRPr lang="pt-BR" sz="90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07504922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ítulo somen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itle 1"/>
          <p:cNvSpPr>
            <a:spLocks noGrp="1"/>
          </p:cNvSpPr>
          <p:nvPr userDrawn="1">
            <p:ph type="title" hasCustomPrompt="1"/>
          </p:nvPr>
        </p:nvSpPr>
        <p:spPr>
          <a:xfrm>
            <a:off x="838200" y="152401"/>
            <a:ext cx="10515600" cy="862012"/>
          </a:xfrm>
        </p:spPr>
        <p:txBody>
          <a:bodyPr lIns="0" tIns="0" rIns="0" bIns="0" anchor="t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pt-BR" sz="2800" b="1" kern="1200" noProof="0" dirty="0">
                <a:solidFill>
                  <a:srgbClr val="383B71"/>
                </a:solidFill>
                <a:latin typeface="Segoe UI Black" panose="020B0A02040204020203" pitchFamily="34" charset="0"/>
                <a:ea typeface="Segoe UI Black" panose="020B0A02040204020203" pitchFamily="34" charset="0"/>
                <a:cs typeface="Segoe UI Black" panose="020B0A02040204020203" pitchFamily="34" charset="0"/>
              </a:defRPr>
            </a:lvl1pPr>
          </a:lstStyle>
          <a:p>
            <a:r>
              <a:rPr lang="pt-BR" noProof="0"/>
              <a:t>Click </a:t>
            </a:r>
            <a:r>
              <a:rPr lang="pt-BR" noProof="0" err="1"/>
              <a:t>to</a:t>
            </a:r>
            <a:r>
              <a:rPr lang="pt-BR" noProof="0"/>
              <a:t> </a:t>
            </a:r>
            <a:r>
              <a:rPr lang="pt-BR" noProof="0" err="1"/>
              <a:t>edit</a:t>
            </a:r>
            <a:r>
              <a:rPr lang="pt-BR" noProof="0"/>
              <a:t> Master </a:t>
            </a:r>
            <a:r>
              <a:rPr lang="pt-BR" noProof="0" err="1"/>
              <a:t>title</a:t>
            </a:r>
            <a:r>
              <a:rPr lang="pt-BR" noProof="0"/>
              <a:t> </a:t>
            </a:r>
            <a:r>
              <a:rPr lang="pt-BR" noProof="0" err="1"/>
              <a:t>style</a:t>
            </a:r>
            <a:endParaRPr lang="pt-BR" noProof="0"/>
          </a:p>
        </p:txBody>
      </p:sp>
      <p:cxnSp>
        <p:nvCxnSpPr>
          <p:cNvPr id="7" name="Conector reto 6">
            <a:extLst>
              <a:ext uri="{FF2B5EF4-FFF2-40B4-BE49-F238E27FC236}">
                <a16:creationId xmlns:a16="http://schemas.microsoft.com/office/drawing/2014/main" id="{BF8B259D-0248-B69D-71BA-B3EF94543820}"/>
              </a:ext>
            </a:extLst>
          </p:cNvPr>
          <p:cNvCxnSpPr/>
          <p:nvPr userDrawn="1"/>
        </p:nvCxnSpPr>
        <p:spPr>
          <a:xfrm>
            <a:off x="838200" y="1014413"/>
            <a:ext cx="10515600" cy="0"/>
          </a:xfrm>
          <a:prstGeom prst="line">
            <a:avLst/>
          </a:prstGeom>
          <a:ln w="412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3128773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ítulo somen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itle 1"/>
          <p:cNvSpPr>
            <a:spLocks noGrp="1"/>
          </p:cNvSpPr>
          <p:nvPr userDrawn="1">
            <p:ph type="title" hasCustomPrompt="1"/>
          </p:nvPr>
        </p:nvSpPr>
        <p:spPr>
          <a:xfrm>
            <a:off x="838200" y="152401"/>
            <a:ext cx="10515600" cy="862012"/>
          </a:xfrm>
        </p:spPr>
        <p:txBody>
          <a:bodyPr lIns="0" tIns="0" rIns="0" bIns="0" anchor="t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pt-BR" sz="2800" b="1" kern="1200" noProof="0" dirty="0">
                <a:solidFill>
                  <a:srgbClr val="383B71"/>
                </a:solidFill>
                <a:latin typeface="Segoe UI Black" panose="020B0A02040204020203" pitchFamily="34" charset="0"/>
                <a:ea typeface="Segoe UI Black" panose="020B0A02040204020203" pitchFamily="34" charset="0"/>
                <a:cs typeface="Segoe UI Black" panose="020B0A02040204020203" pitchFamily="34" charset="0"/>
              </a:defRPr>
            </a:lvl1pPr>
          </a:lstStyle>
          <a:p>
            <a:r>
              <a:rPr lang="pt-BR" noProof="0"/>
              <a:t>Click </a:t>
            </a:r>
            <a:r>
              <a:rPr lang="pt-BR" noProof="0" err="1"/>
              <a:t>to</a:t>
            </a:r>
            <a:r>
              <a:rPr lang="pt-BR" noProof="0"/>
              <a:t> </a:t>
            </a:r>
            <a:r>
              <a:rPr lang="pt-BR" noProof="0" err="1"/>
              <a:t>edit</a:t>
            </a:r>
            <a:r>
              <a:rPr lang="pt-BR" noProof="0"/>
              <a:t> Master </a:t>
            </a:r>
            <a:r>
              <a:rPr lang="pt-BR" noProof="0" err="1"/>
              <a:t>title</a:t>
            </a:r>
            <a:r>
              <a:rPr lang="pt-BR" noProof="0"/>
              <a:t> </a:t>
            </a:r>
            <a:r>
              <a:rPr lang="pt-BR" noProof="0" err="1"/>
              <a:t>style</a:t>
            </a:r>
            <a:endParaRPr lang="pt-BR" noProof="0"/>
          </a:p>
        </p:txBody>
      </p:sp>
      <p:sp>
        <p:nvSpPr>
          <p:cNvPr id="2" name="Espaço Reservado para Texto 2">
            <a:extLst>
              <a:ext uri="{FF2B5EF4-FFF2-40B4-BE49-F238E27FC236}">
                <a16:creationId xmlns:a16="http://schemas.microsoft.com/office/drawing/2014/main" id="{CD91DA93-1A48-C321-821D-9EA19546B47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95551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 noProof="0"/>
              <a:t>Editar estilos de texto Mestre</a:t>
            </a:r>
          </a:p>
          <a:p>
            <a:pPr lvl="1"/>
            <a:r>
              <a:rPr lang="pt-BR" noProof="0"/>
              <a:t>Segundo nível</a:t>
            </a:r>
          </a:p>
          <a:p>
            <a:pPr lvl="2"/>
            <a:r>
              <a:rPr lang="pt-BR" noProof="0"/>
              <a:t>Terceiro nível</a:t>
            </a:r>
          </a:p>
          <a:p>
            <a:pPr lvl="3"/>
            <a:r>
              <a:rPr lang="pt-BR" noProof="0"/>
              <a:t>Quarto nível</a:t>
            </a:r>
          </a:p>
          <a:p>
            <a:pPr lvl="4"/>
            <a:r>
              <a:rPr lang="pt-BR" noProof="0"/>
              <a:t>Quinto nível</a:t>
            </a:r>
          </a:p>
        </p:txBody>
      </p:sp>
      <p:cxnSp>
        <p:nvCxnSpPr>
          <p:cNvPr id="3" name="Conector reto 2">
            <a:extLst>
              <a:ext uri="{FF2B5EF4-FFF2-40B4-BE49-F238E27FC236}">
                <a16:creationId xmlns:a16="http://schemas.microsoft.com/office/drawing/2014/main" id="{9A349D25-7E18-DCA3-9D79-EDA429B7D62D}"/>
              </a:ext>
            </a:extLst>
          </p:cNvPr>
          <p:cNvCxnSpPr/>
          <p:nvPr userDrawn="1"/>
        </p:nvCxnSpPr>
        <p:spPr>
          <a:xfrm>
            <a:off x="838200" y="1014413"/>
            <a:ext cx="10515600" cy="0"/>
          </a:xfrm>
          <a:prstGeom prst="line">
            <a:avLst/>
          </a:prstGeom>
          <a:ln w="412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8967037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38642968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image" Target="../media/image1.pn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ítulo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 noProof="0"/>
              <a:t>Clique para editar o título mestre</a:t>
            </a:r>
          </a:p>
        </p:txBody>
      </p:sp>
      <p:sp>
        <p:nvSpPr>
          <p:cNvPr id="3" name="Espaço Reservado para Texto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 noProof="0"/>
              <a:t>Editar estilos de texto Mestre</a:t>
            </a:r>
          </a:p>
          <a:p>
            <a:pPr lvl="1"/>
            <a:r>
              <a:rPr lang="pt-BR" noProof="0"/>
              <a:t>Segundo nível</a:t>
            </a:r>
          </a:p>
          <a:p>
            <a:pPr lvl="2"/>
            <a:r>
              <a:rPr lang="pt-BR" noProof="0"/>
              <a:t>Terceiro nível</a:t>
            </a:r>
          </a:p>
          <a:p>
            <a:pPr lvl="3"/>
            <a:r>
              <a:rPr lang="pt-BR" noProof="0"/>
              <a:t>Quarto nível</a:t>
            </a:r>
          </a:p>
          <a:p>
            <a:pPr lvl="4"/>
            <a:r>
              <a:rPr lang="pt-BR" noProof="0"/>
              <a:t>Quinto nível</a:t>
            </a:r>
          </a:p>
        </p:txBody>
      </p:sp>
      <p:pic>
        <p:nvPicPr>
          <p:cNvPr id="11" name="Imagem 10">
            <a:extLst>
              <a:ext uri="{FF2B5EF4-FFF2-40B4-BE49-F238E27FC236}">
                <a16:creationId xmlns:a16="http://schemas.microsoft.com/office/drawing/2014/main" id="{9BE6A030-3DD1-D6A5-E876-EB091AB8E4C0}"/>
              </a:ext>
            </a:extLst>
          </p:cNvPr>
          <p:cNvPicPr>
            <a:picLocks noChangeAspect="1"/>
          </p:cNvPicPr>
          <p:nvPr userDrawn="1"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19" y="0"/>
            <a:ext cx="649089" cy="6858000"/>
          </a:xfrm>
          <a:prstGeom prst="rect">
            <a:avLst/>
          </a:prstGeom>
        </p:spPr>
      </p:pic>
      <p:sp>
        <p:nvSpPr>
          <p:cNvPr id="7" name="CaixaDeTexto 6">
            <a:extLst>
              <a:ext uri="{FF2B5EF4-FFF2-40B4-BE49-F238E27FC236}">
                <a16:creationId xmlns:a16="http://schemas.microsoft.com/office/drawing/2014/main" id="{38AEE830-9E8A-DF74-4039-CE307E4895E4}"/>
              </a:ext>
            </a:extLst>
          </p:cNvPr>
          <p:cNvSpPr txBox="1"/>
          <p:nvPr userDrawn="1"/>
        </p:nvSpPr>
        <p:spPr>
          <a:xfrm>
            <a:off x="838200" y="6383547"/>
            <a:ext cx="269863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pt-BR"/>
          </a:p>
        </p:txBody>
      </p:sp>
      <p:sp>
        <p:nvSpPr>
          <p:cNvPr id="8" name="CaixaDeTexto 7">
            <a:extLst>
              <a:ext uri="{FF2B5EF4-FFF2-40B4-BE49-F238E27FC236}">
                <a16:creationId xmlns:a16="http://schemas.microsoft.com/office/drawing/2014/main" id="{D2477187-2393-2A22-8770-9F34FADBFE4E}"/>
              </a:ext>
            </a:extLst>
          </p:cNvPr>
          <p:cNvSpPr txBox="1"/>
          <p:nvPr userDrawn="1"/>
        </p:nvSpPr>
        <p:spPr>
          <a:xfrm>
            <a:off x="838199" y="6418053"/>
            <a:ext cx="334561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400">
                <a:solidFill>
                  <a:srgbClr val="0070C0"/>
                </a:solidFill>
              </a:rPr>
              <a:t>Comunicações I</a:t>
            </a:r>
          </a:p>
        </p:txBody>
      </p:sp>
      <p:sp>
        <p:nvSpPr>
          <p:cNvPr id="10" name="CaixaDeTexto 9">
            <a:extLst>
              <a:ext uri="{FF2B5EF4-FFF2-40B4-BE49-F238E27FC236}">
                <a16:creationId xmlns:a16="http://schemas.microsoft.com/office/drawing/2014/main" id="{BA3DE7BE-E395-47CF-16B5-9329C7E53BC8}"/>
              </a:ext>
            </a:extLst>
          </p:cNvPr>
          <p:cNvSpPr txBox="1"/>
          <p:nvPr userDrawn="1"/>
        </p:nvSpPr>
        <p:spPr>
          <a:xfrm>
            <a:off x="9936191" y="6414324"/>
            <a:ext cx="141760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pt-BR" sz="1400">
                <a:solidFill>
                  <a:srgbClr val="0070C0"/>
                </a:solidFill>
              </a:rPr>
              <a:t>Prof. André Noll</a:t>
            </a:r>
          </a:p>
        </p:txBody>
      </p:sp>
    </p:spTree>
    <p:extLst>
      <p:ext uri="{BB962C8B-B14F-4D97-AF65-F5344CB8AC3E}">
        <p14:creationId xmlns:p14="http://schemas.microsoft.com/office/powerpoint/2010/main" val="268138123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9" r:id="rId2"/>
    <p:sldLayoutId id="2147483661" r:id="rId3"/>
    <p:sldLayoutId id="2147483662" r:id="rId4"/>
    <p:sldLayoutId id="2147483651" r:id="rId5"/>
  </p:sldLayoutIdLst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70.png"/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3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7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4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17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4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4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4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4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3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4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4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4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30.png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4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4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4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4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3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4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3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4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43.png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45.png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4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10.png"/><Relationship Id="rId1" Type="http://schemas.openxmlformats.org/officeDocument/2006/relationships/slideLayout" Target="../slideLayouts/slideLayout4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4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30.png"/><Relationship Id="rId1" Type="http://schemas.openxmlformats.org/officeDocument/2006/relationships/slideLayout" Target="../slideLayouts/slideLayout4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43F866E-AD52-F484-BC73-B5DC3F9FC9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pt-BR" dirty="0"/>
              <a:t>Espectro, Banda e Ruído</a:t>
            </a:r>
          </a:p>
        </p:txBody>
      </p:sp>
    </p:spTree>
    <p:extLst>
      <p:ext uri="{BB962C8B-B14F-4D97-AF65-F5344CB8AC3E}">
        <p14:creationId xmlns:p14="http://schemas.microsoft.com/office/powerpoint/2010/main" val="209690380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7C40DEE-10B2-3F36-C386-3852E7E56D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Energia, Potência e Banda</a:t>
            </a:r>
          </a:p>
        </p:txBody>
      </p:sp>
    </p:spTree>
    <p:extLst>
      <p:ext uri="{BB962C8B-B14F-4D97-AF65-F5344CB8AC3E}">
        <p14:creationId xmlns:p14="http://schemas.microsoft.com/office/powerpoint/2010/main" val="221986052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65CC890-A62A-D87F-8E24-6E4455EA44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Cálculos em decibéis (dB)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B7C384A7-A5B0-8999-D096-2403AC9DC80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 lnSpcReduction="10000"/>
              </a:bodyPr>
              <a:lstStyle/>
              <a:p>
                <a:r>
                  <a:rPr lang="pt-BR" dirty="0"/>
                  <a:t>dB é uma medida da relação entre potências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d>
                            <m:dPr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pt-BR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sSub>
                                    <m:sSubPr>
                                      <m:ctrlPr>
                                        <a:rPr lang="pt-BR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pt-BR" b="0" i="1" smtClean="0">
                                          <a:latin typeface="Cambria Math" panose="02040503050406030204" pitchFamily="18" charset="0"/>
                                        </a:rPr>
                                        <m:t>𝑃</m:t>
                                      </m:r>
                                    </m:e>
                                    <m:sub>
                                      <m:r>
                                        <a:rPr lang="pt-BR" b="0" i="1" smtClean="0">
                                          <a:latin typeface="Cambria Math" panose="02040503050406030204" pitchFamily="18" charset="0"/>
                                        </a:rPr>
                                        <m:t>1</m:t>
                                      </m:r>
                                    </m:sub>
                                  </m:sSub>
                                </m:num>
                                <m:den>
                                  <m:sSub>
                                    <m:sSubPr>
                                      <m:ctrlPr>
                                        <a:rPr lang="pt-BR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pt-BR" b="0" i="1" smtClean="0">
                                          <a:latin typeface="Cambria Math" panose="02040503050406030204" pitchFamily="18" charset="0"/>
                                        </a:rPr>
                                        <m:t>𝑃</m:t>
                                      </m:r>
                                    </m:e>
                                    <m:sub>
                                      <m:r>
                                        <a:rPr lang="pt-BR" b="0" i="1" smtClean="0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b>
                                  </m:sSub>
                                </m:den>
                              </m:f>
                            </m:e>
                          </m:d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𝑑𝐵</m:t>
                          </m:r>
                        </m:sub>
                      </m:sSub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=10</m:t>
                      </m:r>
                      <m:func>
                        <m:func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sSub>
                            <m:sSubPr>
                              <m:ctrlPr>
                                <a:rPr lang="pt-BR" b="0" i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pt-BR" b="0" i="0" smtClean="0">
                                  <a:latin typeface="Cambria Math" panose="02040503050406030204" pitchFamily="18" charset="0"/>
                                </a:rPr>
                                <m:t>log</m:t>
                              </m:r>
                            </m:e>
                            <m:sub>
                              <m:r>
                                <a:rPr lang="pt-BR" b="0" i="0" smtClean="0">
                                  <a:latin typeface="Cambria Math" panose="02040503050406030204" pitchFamily="18" charset="0"/>
                                </a:rPr>
                                <m:t>10</m:t>
                              </m:r>
                            </m:sub>
                          </m:sSub>
                        </m:fName>
                        <m:e>
                          <m:d>
                            <m:d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sSub>
                                    <m:sSubPr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𝑃</m:t>
                                      </m:r>
                                    </m:e>
                                    <m:sub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1</m:t>
                                      </m:r>
                                    </m:sub>
                                  </m:sSub>
                                </m:num>
                                <m:den>
                                  <m:sSub>
                                    <m:sSubPr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𝑃</m:t>
                                      </m:r>
                                    </m:e>
                                    <m:sub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b>
                                  </m:sSub>
                                </m:den>
                              </m:f>
                            </m:e>
                          </m:d>
                        </m:e>
                      </m:func>
                    </m:oMath>
                  </m:oMathPara>
                </a14:m>
                <a:endParaRPr lang="pt-BR" dirty="0"/>
              </a:p>
              <a:p>
                <a:pPr marL="0" indent="0">
                  <a:buNone/>
                </a:pPr>
                <a:endParaRPr lang="pt-BR" dirty="0"/>
              </a:p>
              <a:p>
                <a:pPr marL="0" indent="0">
                  <a:buNone/>
                </a:pPr>
                <a:r>
                  <a:rPr lang="pt-BR" dirty="0"/>
                  <a:t>Quando se trata de amplitude,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𝑃</m:t>
                    </m:r>
                    <m:r>
                      <a:rPr lang="pt-B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∝</m:t>
                    </m:r>
                    <m:sSup>
                      <m:sSupPr>
                        <m:ctrlPr>
                          <a:rPr lang="pt-B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𝐴</m:t>
                        </m:r>
                      </m:e>
                      <m:sup>
                        <m:r>
                          <a:rPr lang="pt-B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endParaRPr lang="pt-BR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d>
                            <m:d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pt-BR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sSub>
                                    <m:sSubPr>
                                      <m:ctrlPr>
                                        <a:rPr lang="pt-BR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pt-BR" b="0" i="1" smtClean="0">
                                          <a:latin typeface="Cambria Math" panose="02040503050406030204" pitchFamily="18" charset="0"/>
                                        </a:rPr>
                                        <m:t>𝐴</m:t>
                                      </m:r>
                                    </m:e>
                                    <m:sub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1</m:t>
                                      </m:r>
                                    </m:sub>
                                  </m:sSub>
                                </m:num>
                                <m:den>
                                  <m:sSub>
                                    <m:sSubPr>
                                      <m:ctrlPr>
                                        <a:rPr lang="pt-BR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pt-BR" b="0" i="1" smtClean="0">
                                          <a:latin typeface="Cambria Math" panose="02040503050406030204" pitchFamily="18" charset="0"/>
                                        </a:rPr>
                                        <m:t>𝐴</m:t>
                                      </m:r>
                                    </m:e>
                                    <m:sub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b>
                                  </m:sSub>
                                </m:den>
                              </m:f>
                            </m:e>
                          </m:d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𝑑𝐵</m:t>
                          </m:r>
                        </m:sub>
                      </m:sSub>
                      <m:r>
                        <a:rPr lang="pt-BR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2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0</m:t>
                      </m:r>
                      <m:func>
                        <m:func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sSub>
                            <m:sSubPr>
                              <m:ctrlPr>
                                <a:rPr lang="pt-BR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pt-BR">
                                  <a:latin typeface="Cambria Math" panose="02040503050406030204" pitchFamily="18" charset="0"/>
                                </a:rPr>
                                <m:t>log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10</m:t>
                              </m:r>
                            </m:sub>
                          </m:sSub>
                        </m:fName>
                        <m:e>
                          <m:d>
                            <m:d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pt-BR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sSub>
                                    <m:sSubPr>
                                      <m:ctrlPr>
                                        <a:rPr lang="pt-BR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pt-BR" b="0" i="1" smtClean="0">
                                          <a:latin typeface="Cambria Math" panose="02040503050406030204" pitchFamily="18" charset="0"/>
                                        </a:rPr>
                                        <m:t>𝐴</m:t>
                                      </m:r>
                                    </m:e>
                                    <m:sub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1</m:t>
                                      </m:r>
                                    </m:sub>
                                  </m:sSub>
                                </m:num>
                                <m:den>
                                  <m:sSub>
                                    <m:sSubPr>
                                      <m:ctrlPr>
                                        <a:rPr lang="pt-BR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pt-BR" b="0" i="1" smtClean="0">
                                          <a:latin typeface="Cambria Math" panose="02040503050406030204" pitchFamily="18" charset="0"/>
                                        </a:rPr>
                                        <m:t>𝐴</m:t>
                                      </m:r>
                                    </m:e>
                                    <m:sub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b>
                                  </m:sSub>
                                </m:den>
                              </m:f>
                            </m:e>
                          </m:d>
                        </m:e>
                      </m:func>
                    </m:oMath>
                  </m:oMathPara>
                </a14:m>
                <a:endParaRPr lang="pt-BR" dirty="0"/>
              </a:p>
              <a:p>
                <a:pPr marL="0" indent="0">
                  <a:buNone/>
                </a:pPr>
                <a:r>
                  <a:rPr lang="pt-BR" dirty="0"/>
                  <a:t>E o inverso: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d>
                        <m:d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pt-BR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</a:rPr>
                                    <m:t>𝑃</m:t>
                                  </m:r>
                                </m:e>
                                <m:sub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num>
                            <m:den>
                              <m:sSub>
                                <m:sSubPr>
                                  <m:ctrlPr>
                                    <a:rPr lang="pt-BR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</a:rPr>
                                    <m:t>𝑃</m:t>
                                  </m:r>
                                </m:e>
                                <m:sub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den>
                          </m:f>
                        </m:e>
                      </m:d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10</m:t>
                          </m:r>
                        </m:e>
                        <m:sup>
                          <m:sSub>
                            <m:sSub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d>
                                <m:d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f>
                                    <m:fPr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fPr>
                                    <m:num>
                                      <m:sSub>
                                        <m:sSubPr>
                                          <m:ctrlP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𝑃</m:t>
                                          </m:r>
                                        </m:e>
                                        <m:sub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1</m:t>
                                          </m:r>
                                        </m:sub>
                                      </m:sSub>
                                    </m:num>
                                    <m:den>
                                      <m:sSub>
                                        <m:sSubPr>
                                          <m:ctrlP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𝑃</m:t>
                                          </m:r>
                                        </m:e>
                                        <m:sub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</m:sub>
                                      </m:sSub>
                                    </m:den>
                                  </m:f>
                                </m:e>
                              </m:d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𝑑𝐵</m:t>
                              </m:r>
                            </m:sub>
                          </m:s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/10</m:t>
                          </m:r>
                        </m:sup>
                      </m:sSup>
                    </m:oMath>
                  </m:oMathPara>
                </a14:m>
                <a:endParaRPr lang="pt-BR" dirty="0"/>
              </a:p>
              <a:p>
                <a:endParaRPr lang="pt-BR" dirty="0"/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B7C384A7-A5B0-8999-D096-2403AC9DC80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941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26080021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EC64DA4-5EFA-4303-7C13-691AFBBCF0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decibéis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A5B000CA-65F0-1289-AF7D-12464106E65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pt-BR" dirty="0"/>
                  <a:t>Motivação</a:t>
                </a:r>
              </a:p>
              <a:p>
                <a:r>
                  <a:rPr lang="pt-BR" dirty="0"/>
                  <a:t>Perda de propagação em cabos é tipicamente dada por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pt-BR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𝑟𝑥</m:t>
                        </m:r>
                      </m:sub>
                    </m:sSub>
                    <m:r>
                      <a:rPr lang="pt-BR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pt-BR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𝑡𝑥</m:t>
                        </m:r>
                      </m:sub>
                    </m:sSub>
                    <m:sSup>
                      <m:sSupPr>
                        <m:ctrlPr>
                          <a:rPr lang="pt-BR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𝑑</m:t>
                        </m:r>
                      </m:e>
                      <m:sup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𝛼</m:t>
                        </m:r>
                      </m:sup>
                    </m:sSup>
                    <m:r>
                      <a:rPr lang="pt-BR" b="0" i="1" smtClean="0">
                        <a:latin typeface="Cambria Math" panose="02040503050406030204" pitchFamily="18" charset="0"/>
                      </a:rPr>
                      <m:t>⇒</m:t>
                    </m:r>
                    <m:f>
                      <m:fPr>
                        <m:ctrlPr>
                          <a:rPr lang="pt-BR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pt-BR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𝑃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𝑟𝑥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pt-BR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𝑃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𝑡𝑥</m:t>
                            </m:r>
                          </m:sub>
                        </m:sSub>
                      </m:den>
                    </m:f>
                    <m:r>
                      <a:rPr lang="pt-BR" b="0" i="1" smtClean="0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pt-BR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𝛼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𝑑</m:t>
                        </m:r>
                      </m:sup>
                    </m:sSup>
                  </m:oMath>
                </a14:m>
                <a:endParaRPr lang="pt-BR" b="0" dirty="0"/>
              </a:p>
              <a:p>
                <a:r>
                  <a:rPr lang="pt-BR" b="0" dirty="0"/>
                  <a:t>Em escala logarítmica:</a:t>
                </a:r>
                <a:br>
                  <a:rPr lang="pt-BR" b="0" dirty="0"/>
                </a:br>
                <a14:m>
                  <m:oMath xmlns:m="http://schemas.openxmlformats.org/officeDocument/2006/math">
                    <m:sSub>
                      <m:sSubPr>
                        <m:ctrlPr>
                          <a:rPr lang="pt-BR" b="0" i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pt-BR" b="0" i="0" smtClean="0">
                            <a:latin typeface="Cambria Math" panose="02040503050406030204" pitchFamily="18" charset="0"/>
                          </a:rPr>
                          <m:t>log</m:t>
                        </m:r>
                      </m:e>
                      <m:sub>
                        <m:r>
                          <a:rPr lang="pt-BR" b="0" i="0" smtClean="0">
                            <a:latin typeface="Cambria Math" panose="02040503050406030204" pitchFamily="18" charset="0"/>
                          </a:rPr>
                          <m:t>10</m:t>
                        </m:r>
                      </m:sub>
                    </m:sSub>
                    <m:r>
                      <a:rPr lang="pt-BR" b="0" i="0" smtClean="0">
                        <a:latin typeface="Cambria Math" panose="02040503050406030204" pitchFamily="18" charset="0"/>
                      </a:rPr>
                      <m:t> </m:t>
                    </m:r>
                    <m:f>
                      <m:f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𝑃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𝑟𝑥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𝑃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𝑡𝑥</m:t>
                            </m:r>
                          </m:sub>
                        </m:sSub>
                      </m:den>
                    </m:f>
                    <m:r>
                      <a:rPr lang="pt-BR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pt-BR" i="1" smtClean="0">
                        <a:latin typeface="Cambria Math" panose="02040503050406030204" pitchFamily="18" charset="0"/>
                      </a:rPr>
                      <m:t>𝛼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𝑑</m:t>
                    </m:r>
                    <m:func>
                      <m:funcPr>
                        <m:ctrlPr>
                          <a:rPr lang="pt-BR" b="0" i="1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sSub>
                          <m:sSubPr>
                            <m:ctrlPr>
                              <a:rPr lang="pt-BR" b="0" i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pt-BR" b="0" i="0" smtClean="0">
                                <a:latin typeface="Cambria Math" panose="02040503050406030204" pitchFamily="18" charset="0"/>
                              </a:rPr>
                              <m:t>log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10</m:t>
                            </m:r>
                          </m:sub>
                        </m:sSub>
                      </m:fName>
                      <m:e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</m:func>
                    <m:r>
                      <a:rPr lang="pt-BR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𝑘𝑑</m:t>
                    </m:r>
                  </m:oMath>
                </a14:m>
                <a:endParaRPr lang="pt-BR" b="0" dirty="0"/>
              </a:p>
              <a:p>
                <a:r>
                  <a:rPr lang="pt-BR" b="0" dirty="0"/>
                  <a:t>Perda em dB é proporcional ao comprimento do cabo</a:t>
                </a:r>
              </a:p>
              <a:p>
                <a:pPr lvl="1"/>
                <a:r>
                  <a:rPr lang="pt-BR" dirty="0"/>
                  <a:t>Em 1924 (quando surgiu o dB), o padrão de projeto de telefonia  era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𝑘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≈0,1</m:t>
                    </m:r>
                  </m:oMath>
                </a14:m>
                <a:endParaRPr lang="pt-BR" b="0" dirty="0"/>
              </a:p>
              <a:p>
                <a:pPr marL="457200" lvl="1" indent="0">
                  <a:buNone/>
                </a:pPr>
                <a:r>
                  <a:rPr lang="pt-BR" dirty="0"/>
                  <a:t>    para </a:t>
                </a:r>
                <a:r>
                  <a:rPr lang="pt-BR" i="1" dirty="0"/>
                  <a:t>d</a:t>
                </a:r>
                <a:r>
                  <a:rPr lang="pt-BR" dirty="0"/>
                  <a:t> = 1 milha, ou seja aproximadamente 1 dB/milha</a:t>
                </a:r>
                <a:endParaRPr lang="pt-BR" b="0" dirty="0"/>
              </a:p>
              <a:p>
                <a:endParaRPr lang="pt-BR" dirty="0"/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A5B000CA-65F0-1289-AF7D-12464106E65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381" b="-1961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74327405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FEFAAC-6BE8-734D-3C13-4DEE3F12A4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4DFA6D1-29F6-19C8-183A-52FAB35053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Cálculos em dB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A46456AE-3833-EEA3-DCDD-17CFFC637BD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233377"/>
            <a:ext cx="2978888" cy="5178056"/>
          </a:xfrm>
        </p:spPr>
        <p:txBody>
          <a:bodyPr/>
          <a:lstStyle/>
          <a:p>
            <a:pPr marL="0" indent="0">
              <a:buNone/>
            </a:pPr>
            <a:r>
              <a:rPr lang="pt-BR" dirty="0"/>
              <a:t>Propriedades:</a:t>
            </a:r>
          </a:p>
          <a:p>
            <a:pPr marL="0" indent="0">
              <a:buNone/>
            </a:pPr>
            <a:endParaRPr lang="pt-BR" dirty="0"/>
          </a:p>
          <a:p>
            <a:pPr marL="0" indent="0">
              <a:buNone/>
            </a:pPr>
            <a:endParaRPr lang="pt-BR" dirty="0"/>
          </a:p>
          <a:p>
            <a:pPr marL="0" indent="0">
              <a:buNone/>
            </a:pPr>
            <a:endParaRPr lang="pt-BR" dirty="0"/>
          </a:p>
          <a:p>
            <a:pPr marL="0" indent="0">
              <a:buNone/>
            </a:pPr>
            <a:endParaRPr lang="pt-BR" dirty="0"/>
          </a:p>
          <a:p>
            <a:pPr marL="0" indent="0">
              <a:buNone/>
            </a:pPr>
            <a:endParaRPr lang="pt-BR" dirty="0"/>
          </a:p>
          <a:p>
            <a:pPr marL="0" indent="0">
              <a:buNone/>
            </a:pPr>
            <a:r>
              <a:rPr lang="pt-BR" dirty="0"/>
              <a:t>Alguns valores: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CaixaDeTexto 4">
                <a:extLst>
                  <a:ext uri="{FF2B5EF4-FFF2-40B4-BE49-F238E27FC236}">
                    <a16:creationId xmlns:a16="http://schemas.microsoft.com/office/drawing/2014/main" id="{247666C6-D386-474B-55E7-63F9DAAC805C}"/>
                  </a:ext>
                </a:extLst>
              </p:cNvPr>
              <p:cNvSpPr txBox="1"/>
              <p:nvPr/>
            </p:nvSpPr>
            <p:spPr>
              <a:xfrm>
                <a:off x="3282802" y="1338464"/>
                <a:ext cx="6097772" cy="126560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pt-BR" sz="3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d>
                            <m:dPr>
                              <m:ctrlPr>
                                <a:rPr lang="pt-BR" sz="32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pt-BR" sz="32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sSub>
                                    <m:sSubPr>
                                      <m:ctrlPr>
                                        <a:rPr lang="pt-BR" sz="32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pt-BR" sz="3200" b="0" i="1" smtClean="0">
                                          <a:latin typeface="Cambria Math" panose="02040503050406030204" pitchFamily="18" charset="0"/>
                                        </a:rPr>
                                        <m:t>𝑃</m:t>
                                      </m:r>
                                    </m:e>
                                    <m:sub>
                                      <m:r>
                                        <a:rPr lang="pt-BR" sz="3200" b="0" i="1" smtClean="0">
                                          <a:latin typeface="Cambria Math" panose="02040503050406030204" pitchFamily="18" charset="0"/>
                                        </a:rPr>
                                        <m:t>1</m:t>
                                      </m:r>
                                    </m:sub>
                                  </m:sSub>
                                </m:num>
                                <m:den>
                                  <m:sSub>
                                    <m:sSubPr>
                                      <m:ctrlPr>
                                        <a:rPr lang="pt-BR" sz="32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pt-BR" sz="3200" b="0" i="1" smtClean="0">
                                          <a:latin typeface="Cambria Math" panose="02040503050406030204" pitchFamily="18" charset="0"/>
                                        </a:rPr>
                                        <m:t>𝑃</m:t>
                                      </m:r>
                                    </m:e>
                                    <m:sub>
                                      <m:r>
                                        <a:rPr lang="pt-BR" sz="3200" b="0" i="1" smtClean="0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b>
                                  </m:sSub>
                                </m:den>
                              </m:f>
                              <m:f>
                                <m:fPr>
                                  <m:ctrlPr>
                                    <a:rPr lang="pt-BR" sz="32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sSub>
                                    <m:sSubPr>
                                      <m:ctrlPr>
                                        <a:rPr lang="pt-BR" sz="32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pt-BR" sz="3200" b="0" i="1" smtClean="0">
                                          <a:latin typeface="Cambria Math" panose="02040503050406030204" pitchFamily="18" charset="0"/>
                                        </a:rPr>
                                        <m:t>𝑃</m:t>
                                      </m:r>
                                    </m:e>
                                    <m:sub>
                                      <m:r>
                                        <a:rPr lang="pt-BR" sz="3200" b="0" i="1" smtClean="0">
                                          <a:latin typeface="Cambria Math" panose="02040503050406030204" pitchFamily="18" charset="0"/>
                                        </a:rPr>
                                        <m:t>3</m:t>
                                      </m:r>
                                    </m:sub>
                                  </m:sSub>
                                </m:num>
                                <m:den>
                                  <m:sSub>
                                    <m:sSubPr>
                                      <m:ctrlPr>
                                        <a:rPr lang="pt-BR" sz="32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pt-BR" sz="3200" b="0" i="1" smtClean="0">
                                          <a:latin typeface="Cambria Math" panose="02040503050406030204" pitchFamily="18" charset="0"/>
                                        </a:rPr>
                                        <m:t>𝑃</m:t>
                                      </m:r>
                                    </m:e>
                                    <m:sub>
                                      <m:r>
                                        <a:rPr lang="pt-BR" sz="3200" b="0" i="1" smtClean="0">
                                          <a:latin typeface="Cambria Math" panose="02040503050406030204" pitchFamily="18" charset="0"/>
                                        </a:rPr>
                                        <m:t>4</m:t>
                                      </m:r>
                                    </m:sub>
                                  </m:sSub>
                                </m:den>
                              </m:f>
                            </m:e>
                          </m:d>
                        </m:e>
                        <m:sub>
                          <m:r>
                            <a:rPr lang="pt-BR" sz="3200" b="0" i="1" smtClean="0">
                              <a:latin typeface="Cambria Math" panose="02040503050406030204" pitchFamily="18" charset="0"/>
                            </a:rPr>
                            <m:t>𝑑𝐵</m:t>
                          </m:r>
                        </m:sub>
                      </m:sSub>
                      <m:r>
                        <a:rPr lang="pt-BR" sz="3200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pt-BR" sz="3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d>
                            <m:dPr>
                              <m:ctrlPr>
                                <a:rPr lang="pt-BR" sz="32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pt-BR" sz="32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sSub>
                                    <m:sSubPr>
                                      <m:ctrlPr>
                                        <a:rPr lang="pt-BR" sz="32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pt-BR" sz="3200" b="0" i="1" smtClean="0">
                                          <a:latin typeface="Cambria Math" panose="02040503050406030204" pitchFamily="18" charset="0"/>
                                        </a:rPr>
                                        <m:t>𝑃</m:t>
                                      </m:r>
                                    </m:e>
                                    <m:sub>
                                      <m:r>
                                        <a:rPr lang="pt-BR" sz="3200" b="0" i="1" smtClean="0">
                                          <a:latin typeface="Cambria Math" panose="02040503050406030204" pitchFamily="18" charset="0"/>
                                        </a:rPr>
                                        <m:t>1</m:t>
                                      </m:r>
                                    </m:sub>
                                  </m:sSub>
                                </m:num>
                                <m:den>
                                  <m:sSub>
                                    <m:sSubPr>
                                      <m:ctrlPr>
                                        <a:rPr lang="pt-BR" sz="32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pt-BR" sz="3200" b="0" i="1" smtClean="0">
                                          <a:latin typeface="Cambria Math" panose="02040503050406030204" pitchFamily="18" charset="0"/>
                                        </a:rPr>
                                        <m:t>𝑃</m:t>
                                      </m:r>
                                    </m:e>
                                    <m:sub>
                                      <m:r>
                                        <a:rPr lang="pt-BR" sz="3200" b="0" i="1" smtClean="0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b>
                                  </m:sSub>
                                </m:den>
                              </m:f>
                            </m:e>
                          </m:d>
                        </m:e>
                        <m:sub>
                          <m:r>
                            <a:rPr lang="pt-BR" sz="3200" b="0" i="1" smtClean="0">
                              <a:latin typeface="Cambria Math" panose="02040503050406030204" pitchFamily="18" charset="0"/>
                            </a:rPr>
                            <m:t>𝑑𝐵</m:t>
                          </m:r>
                        </m:sub>
                      </m:sSub>
                      <m:r>
                        <a:rPr lang="pt-BR" sz="3200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pt-BR" sz="3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d>
                            <m:dPr>
                              <m:ctrlPr>
                                <a:rPr lang="pt-BR" sz="32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pt-BR" sz="32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sSub>
                                    <m:sSubPr>
                                      <m:ctrlPr>
                                        <a:rPr lang="pt-BR" sz="32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pt-BR" sz="3200" b="0" i="1" smtClean="0">
                                          <a:latin typeface="Cambria Math" panose="02040503050406030204" pitchFamily="18" charset="0"/>
                                        </a:rPr>
                                        <m:t>𝑃</m:t>
                                      </m:r>
                                    </m:e>
                                    <m:sub>
                                      <m:r>
                                        <a:rPr lang="pt-BR" sz="3200" b="0" i="1" smtClean="0">
                                          <a:latin typeface="Cambria Math" panose="02040503050406030204" pitchFamily="18" charset="0"/>
                                        </a:rPr>
                                        <m:t>3</m:t>
                                      </m:r>
                                    </m:sub>
                                  </m:sSub>
                                </m:num>
                                <m:den>
                                  <m:sSub>
                                    <m:sSubPr>
                                      <m:ctrlPr>
                                        <a:rPr lang="pt-BR" sz="32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pt-BR" sz="3200" b="0" i="1" smtClean="0">
                                          <a:latin typeface="Cambria Math" panose="02040503050406030204" pitchFamily="18" charset="0"/>
                                        </a:rPr>
                                        <m:t>𝑃</m:t>
                                      </m:r>
                                    </m:e>
                                    <m:sub>
                                      <m:r>
                                        <a:rPr lang="pt-BR" sz="3200" b="0" i="1" smtClean="0">
                                          <a:latin typeface="Cambria Math" panose="02040503050406030204" pitchFamily="18" charset="0"/>
                                        </a:rPr>
                                        <m:t>4</m:t>
                                      </m:r>
                                    </m:sub>
                                  </m:sSub>
                                </m:den>
                              </m:f>
                            </m:e>
                          </m:d>
                        </m:e>
                        <m:sub>
                          <m:r>
                            <a:rPr lang="pt-BR" sz="3200" b="0" i="1" smtClean="0">
                              <a:latin typeface="Cambria Math" panose="02040503050406030204" pitchFamily="18" charset="0"/>
                            </a:rPr>
                            <m:t>𝑑𝐵</m:t>
                          </m:r>
                        </m:sub>
                      </m:sSub>
                    </m:oMath>
                  </m:oMathPara>
                </a14:m>
                <a:endParaRPr lang="pt-BR" dirty="0"/>
              </a:p>
            </p:txBody>
          </p:sp>
        </mc:Choice>
        <mc:Fallback xmlns="">
          <p:sp>
            <p:nvSpPr>
              <p:cNvPr id="5" name="CaixaDeTexto 4">
                <a:extLst>
                  <a:ext uri="{FF2B5EF4-FFF2-40B4-BE49-F238E27FC236}">
                    <a16:creationId xmlns:a16="http://schemas.microsoft.com/office/drawing/2014/main" id="{247666C6-D386-474B-55E7-63F9DAAC805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82802" y="1338464"/>
                <a:ext cx="6097772" cy="1265603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CaixaDeTexto 6">
                <a:extLst>
                  <a:ext uri="{FF2B5EF4-FFF2-40B4-BE49-F238E27FC236}">
                    <a16:creationId xmlns:a16="http://schemas.microsoft.com/office/drawing/2014/main" id="{2D584549-62E4-7920-13FB-7A05C7B0D8BF}"/>
                  </a:ext>
                </a:extLst>
              </p:cNvPr>
              <p:cNvSpPr txBox="1"/>
              <p:nvPr/>
            </p:nvSpPr>
            <p:spPr>
              <a:xfrm>
                <a:off x="3282802" y="2604067"/>
                <a:ext cx="6097772" cy="167776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pt-BR" sz="3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d>
                            <m:dPr>
                              <m:ctrlPr>
                                <a:rPr lang="pt-BR" sz="32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p>
                                <m:sSupPr>
                                  <m:ctrlPr>
                                    <a:rPr lang="pt-BR" sz="32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d>
                                    <m:dPr>
                                      <m:ctrlPr>
                                        <a:rPr lang="pt-BR" sz="32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f>
                                        <m:fPr>
                                          <m:ctrlPr>
                                            <a:rPr lang="pt-BR" sz="3200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fPr>
                                        <m:num>
                                          <m:sSub>
                                            <m:sSubPr>
                                              <m:ctrlPr>
                                                <a:rPr lang="pt-BR" sz="3200" b="0" i="1" smtClean="0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pt-BR" sz="3200" b="0" i="1" smtClean="0">
                                                  <a:latin typeface="Cambria Math" panose="02040503050406030204" pitchFamily="18" charset="0"/>
                                                </a:rPr>
                                                <m:t>𝑃</m:t>
                                              </m:r>
                                            </m:e>
                                            <m:sub>
                                              <m:r>
                                                <a:rPr lang="pt-BR" sz="3200" b="0" i="1" smtClean="0">
                                                  <a:latin typeface="Cambria Math" panose="02040503050406030204" pitchFamily="18" charset="0"/>
                                                </a:rPr>
                                                <m:t>1</m:t>
                                              </m:r>
                                            </m:sub>
                                          </m:sSub>
                                        </m:num>
                                        <m:den>
                                          <m:sSub>
                                            <m:sSubPr>
                                              <m:ctrlPr>
                                                <a:rPr lang="pt-BR" sz="3200" b="0" i="1" smtClean="0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pt-BR" sz="3200" b="0" i="1" smtClean="0">
                                                  <a:latin typeface="Cambria Math" panose="02040503050406030204" pitchFamily="18" charset="0"/>
                                                </a:rPr>
                                                <m:t>𝑃</m:t>
                                              </m:r>
                                            </m:e>
                                            <m:sub>
                                              <m:r>
                                                <a:rPr lang="pt-BR" sz="3200" b="0" i="1" smtClean="0">
                                                  <a:latin typeface="Cambria Math" panose="02040503050406030204" pitchFamily="18" charset="0"/>
                                                </a:rPr>
                                                <m:t>2</m:t>
                                              </m:r>
                                            </m:sub>
                                          </m:sSub>
                                        </m:den>
                                      </m:f>
                                    </m:e>
                                  </m:d>
                                </m:e>
                                <m:sup>
                                  <m:r>
                                    <a:rPr lang="pt-BR" sz="3200" b="0" i="1" smtClean="0">
                                      <a:latin typeface="Cambria Math" panose="02040503050406030204" pitchFamily="18" charset="0"/>
                                    </a:rPr>
                                    <m:t>𝛼</m:t>
                                  </m:r>
                                </m:sup>
                              </m:sSup>
                            </m:e>
                          </m:d>
                          <m:r>
                            <a:rPr lang="pt-BR" sz="3200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</m:e>
                        <m:sub>
                          <m:r>
                            <a:rPr lang="pt-BR" sz="3200" b="0" i="1" smtClean="0">
                              <a:latin typeface="Cambria Math" panose="02040503050406030204" pitchFamily="18" charset="0"/>
                            </a:rPr>
                            <m:t>𝑑𝐵</m:t>
                          </m:r>
                        </m:sub>
                      </m:sSub>
                      <m:r>
                        <a:rPr lang="pt-BR" sz="3200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pt-BR" sz="3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3200" b="0" i="1" smtClean="0">
                              <a:latin typeface="Cambria Math" panose="02040503050406030204" pitchFamily="18" charset="0"/>
                            </a:rPr>
                            <m:t>𝛼</m:t>
                          </m:r>
                          <m:d>
                            <m:dPr>
                              <m:ctrlPr>
                                <a:rPr lang="pt-BR" sz="32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pt-BR" sz="32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sSub>
                                    <m:sSubPr>
                                      <m:ctrlPr>
                                        <a:rPr lang="pt-BR" sz="32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pt-BR" sz="3200" b="0" i="1" smtClean="0">
                                          <a:latin typeface="Cambria Math" panose="02040503050406030204" pitchFamily="18" charset="0"/>
                                        </a:rPr>
                                        <m:t>𝑃</m:t>
                                      </m:r>
                                    </m:e>
                                    <m:sub>
                                      <m:r>
                                        <a:rPr lang="pt-BR" sz="3200" b="0" i="1" smtClean="0">
                                          <a:latin typeface="Cambria Math" panose="02040503050406030204" pitchFamily="18" charset="0"/>
                                        </a:rPr>
                                        <m:t>1</m:t>
                                      </m:r>
                                    </m:sub>
                                  </m:sSub>
                                </m:num>
                                <m:den>
                                  <m:sSub>
                                    <m:sSubPr>
                                      <m:ctrlPr>
                                        <a:rPr lang="pt-BR" sz="32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pt-BR" sz="3200" b="0" i="1" smtClean="0">
                                          <a:latin typeface="Cambria Math" panose="02040503050406030204" pitchFamily="18" charset="0"/>
                                        </a:rPr>
                                        <m:t>𝑃</m:t>
                                      </m:r>
                                    </m:e>
                                    <m:sub>
                                      <m:r>
                                        <a:rPr lang="pt-BR" sz="3200" b="0" i="1" smtClean="0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b>
                                  </m:sSub>
                                </m:den>
                              </m:f>
                            </m:e>
                          </m:d>
                        </m:e>
                        <m:sub>
                          <m:r>
                            <a:rPr lang="pt-BR" sz="3200" b="0" i="1" smtClean="0">
                              <a:latin typeface="Cambria Math" panose="02040503050406030204" pitchFamily="18" charset="0"/>
                            </a:rPr>
                            <m:t>𝑑𝐵</m:t>
                          </m:r>
                        </m:sub>
                      </m:sSub>
                    </m:oMath>
                  </m:oMathPara>
                </a14:m>
                <a:endParaRPr lang="pt-BR" dirty="0"/>
              </a:p>
            </p:txBody>
          </p:sp>
        </mc:Choice>
        <mc:Fallback xmlns="">
          <p:sp>
            <p:nvSpPr>
              <p:cNvPr id="7" name="CaixaDeTexto 6">
                <a:extLst>
                  <a:ext uri="{FF2B5EF4-FFF2-40B4-BE49-F238E27FC236}">
                    <a16:creationId xmlns:a16="http://schemas.microsoft.com/office/drawing/2014/main" id="{2D584549-62E4-7920-13FB-7A05C7B0D8B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82802" y="2604067"/>
                <a:ext cx="6097772" cy="1677767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CaixaDeTexto 8">
                <a:extLst>
                  <a:ext uri="{FF2B5EF4-FFF2-40B4-BE49-F238E27FC236}">
                    <a16:creationId xmlns:a16="http://schemas.microsoft.com/office/drawing/2014/main" id="{ABD6CD42-EACA-C793-92A7-6A8EF151ED77}"/>
                  </a:ext>
                </a:extLst>
              </p:cNvPr>
              <p:cNvSpPr txBox="1"/>
              <p:nvPr/>
            </p:nvSpPr>
            <p:spPr>
              <a:xfrm>
                <a:off x="2744086" y="4717771"/>
                <a:ext cx="6097772" cy="86177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pt-BR" sz="3200" b="0" i="1" smtClean="0">
                          <a:latin typeface="Cambria Math" panose="02040503050406030204" pitchFamily="18" charset="0"/>
                        </a:rPr>
                        <m:t>10</m:t>
                      </m:r>
                      <m:func>
                        <m:funcPr>
                          <m:ctrlPr>
                            <a:rPr lang="pt-BR" sz="3200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sSub>
                            <m:sSubPr>
                              <m:ctrlPr>
                                <a:rPr lang="pt-BR" sz="3200" b="0" i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pt-BR" sz="3200" b="0" i="0" smtClean="0">
                                  <a:latin typeface="Cambria Math" panose="02040503050406030204" pitchFamily="18" charset="0"/>
                                </a:rPr>
                                <m:t>log</m:t>
                              </m:r>
                            </m:e>
                            <m:sub>
                              <m:r>
                                <a:rPr lang="pt-BR" sz="3200" b="0" i="0" smtClean="0">
                                  <a:latin typeface="Cambria Math" panose="02040503050406030204" pitchFamily="18" charset="0"/>
                                </a:rPr>
                                <m:t>10</m:t>
                              </m:r>
                            </m:sub>
                          </m:sSub>
                        </m:fName>
                        <m:e>
                          <m:r>
                            <a:rPr lang="pt-BR" sz="3200" b="0" i="1" smtClean="0">
                              <a:latin typeface="Cambria Math" panose="02040503050406030204" pitchFamily="18" charset="0"/>
                            </a:rPr>
                            <m:t>10=10 </m:t>
                          </m:r>
                          <m:r>
                            <m:rPr>
                              <m:sty m:val="p"/>
                            </m:rPr>
                            <a:rPr lang="pt-BR" sz="3200" b="0" i="0" smtClean="0">
                              <a:latin typeface="Cambria Math" panose="02040503050406030204" pitchFamily="18" charset="0"/>
                            </a:rPr>
                            <m:t>dB</m:t>
                          </m:r>
                        </m:e>
                      </m:func>
                    </m:oMath>
                  </m:oMathPara>
                </a14:m>
                <a:endParaRPr lang="pt-BR" sz="3200" b="0" dirty="0"/>
              </a:p>
              <a:p>
                <a:endParaRPr lang="pt-BR" dirty="0"/>
              </a:p>
            </p:txBody>
          </p:sp>
        </mc:Choice>
        <mc:Fallback xmlns="">
          <p:sp>
            <p:nvSpPr>
              <p:cNvPr id="9" name="CaixaDeTexto 8">
                <a:extLst>
                  <a:ext uri="{FF2B5EF4-FFF2-40B4-BE49-F238E27FC236}">
                    <a16:creationId xmlns:a16="http://schemas.microsoft.com/office/drawing/2014/main" id="{ABD6CD42-EACA-C793-92A7-6A8EF151ED7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44086" y="4717771"/>
                <a:ext cx="6097772" cy="861774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CaixaDeTexto 10">
                <a:extLst>
                  <a:ext uri="{FF2B5EF4-FFF2-40B4-BE49-F238E27FC236}">
                    <a16:creationId xmlns:a16="http://schemas.microsoft.com/office/drawing/2014/main" id="{D2CAE10D-47CB-2D58-8E35-72C4ED6FF3B0}"/>
                  </a:ext>
                </a:extLst>
              </p:cNvPr>
              <p:cNvSpPr txBox="1"/>
              <p:nvPr/>
            </p:nvSpPr>
            <p:spPr>
              <a:xfrm>
                <a:off x="2744086" y="5503686"/>
                <a:ext cx="6097772" cy="58477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pt-BR" sz="3200" b="0" i="1" smtClean="0">
                          <a:latin typeface="Cambria Math" panose="02040503050406030204" pitchFamily="18" charset="0"/>
                        </a:rPr>
                        <m:t>10</m:t>
                      </m:r>
                      <m:func>
                        <m:funcPr>
                          <m:ctrlPr>
                            <a:rPr lang="pt-BR" sz="3200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sSub>
                            <m:sSubPr>
                              <m:ctrlPr>
                                <a:rPr lang="pt-BR" sz="3200" b="0" i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pt-BR" sz="3200" b="0" i="0" smtClean="0">
                                  <a:latin typeface="Cambria Math" panose="02040503050406030204" pitchFamily="18" charset="0"/>
                                </a:rPr>
                                <m:t>log</m:t>
                              </m:r>
                            </m:e>
                            <m:sub>
                              <m:r>
                                <a:rPr lang="pt-BR" sz="3200" b="0" i="0" smtClean="0">
                                  <a:latin typeface="Cambria Math" panose="02040503050406030204" pitchFamily="18" charset="0"/>
                                </a:rPr>
                                <m:t>10</m:t>
                              </m:r>
                            </m:sub>
                          </m:sSub>
                        </m:fName>
                        <m:e>
                          <m:r>
                            <a:rPr lang="pt-BR" sz="3200" b="0" i="0" smtClean="0">
                              <a:latin typeface="Cambria Math" panose="02040503050406030204" pitchFamily="18" charset="0"/>
                            </a:rPr>
                            <m:t>2≈3 </m:t>
                          </m:r>
                          <m:r>
                            <m:rPr>
                              <m:sty m:val="p"/>
                            </m:rPr>
                            <a:rPr lang="pt-BR" sz="3200" b="0" i="0" smtClean="0">
                              <a:latin typeface="Cambria Math" panose="02040503050406030204" pitchFamily="18" charset="0"/>
                            </a:rPr>
                            <m:t>dB</m:t>
                          </m:r>
                        </m:e>
                      </m:func>
                    </m:oMath>
                  </m:oMathPara>
                </a14:m>
                <a:endParaRPr lang="pt-BR" sz="3200" b="0" dirty="0"/>
              </a:p>
            </p:txBody>
          </p:sp>
        </mc:Choice>
        <mc:Fallback xmlns="">
          <p:sp>
            <p:nvSpPr>
              <p:cNvPr id="11" name="CaixaDeTexto 10">
                <a:extLst>
                  <a:ext uri="{FF2B5EF4-FFF2-40B4-BE49-F238E27FC236}">
                    <a16:creationId xmlns:a16="http://schemas.microsoft.com/office/drawing/2014/main" id="{D2CAE10D-47CB-2D58-8E35-72C4ED6FF3B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44086" y="5503686"/>
                <a:ext cx="6097772" cy="584775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23392192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6A423F5-22F9-A59A-194C-8728B5BEE6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Potências em dB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250EF226-1BAE-EDDF-C329-942DDCC2D2E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pt-BR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𝑑𝐵𝑊</m:t>
                        </m:r>
                      </m:sub>
                    </m:sSub>
                    <m:r>
                      <a:rPr lang="pt-BR" b="0" i="1" smtClean="0">
                        <a:latin typeface="Cambria Math" panose="02040503050406030204" pitchFamily="18" charset="0"/>
                      </a:rPr>
                      <m:t>=10</m:t>
                    </m:r>
                    <m:func>
                      <m:funcPr>
                        <m:ctrlPr>
                          <a:rPr lang="pt-BR" b="0" i="1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sSub>
                          <m:sSubPr>
                            <m:ctrlPr>
                              <a:rPr lang="pt-BR" b="0" i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pt-BR" b="0" i="0" smtClean="0">
                                <a:latin typeface="Cambria Math" panose="02040503050406030204" pitchFamily="18" charset="0"/>
                              </a:rPr>
                              <m:t>log</m:t>
                            </m:r>
                          </m:e>
                          <m:sub>
                            <m:r>
                              <a:rPr lang="pt-BR" b="0" i="0" smtClean="0">
                                <a:latin typeface="Cambria Math" panose="02040503050406030204" pitchFamily="18" charset="0"/>
                              </a:rPr>
                              <m:t>10</m:t>
                            </m:r>
                          </m:sub>
                        </m:sSub>
                      </m:fName>
                      <m:e>
                        <m:sSub>
                          <m:sSubPr>
                            <m:ctrlPr>
                              <a:rPr lang="pt-BR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𝑃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𝑊</m:t>
                            </m:r>
                          </m:sub>
                        </m:sSub>
                      </m:e>
                    </m:func>
                  </m:oMath>
                </a14:m>
                <a:endParaRPr lang="pt-BR" dirty="0"/>
              </a:p>
              <a:p>
                <a:r>
                  <a:rPr lang="pt-BR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𝑑𝐵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𝑚</m:t>
                        </m:r>
                      </m:sub>
                    </m:sSub>
                    <m:r>
                      <a:rPr lang="pt-BR" i="1">
                        <a:latin typeface="Cambria Math" panose="02040503050406030204" pitchFamily="18" charset="0"/>
                      </a:rPr>
                      <m:t>=10</m:t>
                    </m:r>
                    <m:func>
                      <m:func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sSub>
                          <m:sSubPr>
                            <m:ctrlPr>
                              <a:rPr lang="pt-BR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pt-BR">
                                <a:latin typeface="Cambria Math" panose="02040503050406030204" pitchFamily="18" charset="0"/>
                              </a:rPr>
                              <m:t>log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10</m:t>
                            </m:r>
                          </m:sub>
                        </m:sSub>
                      </m:fName>
                      <m:e>
                        <m:sSub>
                          <m:sSub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𝑃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𝑚</m:t>
                            </m:r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𝑊</m:t>
                            </m:r>
                          </m:sub>
                        </m:sSub>
                      </m:e>
                    </m:func>
                  </m:oMath>
                </a14:m>
                <a:endParaRPr lang="pt-BR" dirty="0"/>
              </a:p>
              <a:p>
                <a:endParaRPr lang="pt-BR" dirty="0"/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𝑑𝐵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𝑚</m:t>
                        </m:r>
                      </m:sub>
                    </m:sSub>
                    <m:r>
                      <a:rPr lang="pt-BR" b="0" i="1" smtClean="0">
                        <a:latin typeface="Cambria Math" panose="02040503050406030204" pitchFamily="18" charset="0"/>
                      </a:rPr>
                      <m:t>=30 </m:t>
                    </m:r>
                    <m:sSub>
                      <m:sSubPr>
                        <m:ctrlPr>
                          <a:rPr lang="pt-BR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𝑑𝐵𝑊</m:t>
                        </m:r>
                      </m:sub>
                    </m:sSub>
                  </m:oMath>
                </a14:m>
                <a:endParaRPr lang="pt-BR" b="0" dirty="0"/>
              </a:p>
              <a:p>
                <a:endParaRPr lang="pt-BR" dirty="0"/>
              </a:p>
              <a:p>
                <a:endParaRPr lang="pt-BR" dirty="0"/>
              </a:p>
              <a:p>
                <a:r>
                  <a:rPr lang="pt-BR" dirty="0"/>
                  <a:t>Ex. 500 W = 27 </a:t>
                </a:r>
                <a:r>
                  <a:rPr lang="pt-BR" dirty="0" err="1"/>
                  <a:t>dBW</a:t>
                </a:r>
                <a:r>
                  <a:rPr lang="pt-BR" dirty="0"/>
                  <a:t> = 57 </a:t>
                </a:r>
                <a:r>
                  <a:rPr lang="pt-BR" dirty="0" err="1"/>
                  <a:t>dBm</a:t>
                </a:r>
                <a:endParaRPr lang="pt-BR" dirty="0"/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250EF226-1BAE-EDDF-C329-942DDCC2D2E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82139285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608B3DB-A546-654A-CDF5-B943810F61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Energia</a:t>
            </a:r>
          </a:p>
        </p:txBody>
      </p:sp>
    </p:spTree>
    <p:extLst>
      <p:ext uri="{BB962C8B-B14F-4D97-AF65-F5344CB8AC3E}">
        <p14:creationId xmlns:p14="http://schemas.microsoft.com/office/powerpoint/2010/main" val="193962313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E02CB6B-C77E-5DC4-AF16-F430F51F67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Energia de um Sinal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Espaço Reservado para Conteúdo 2">
                <a:extLst>
                  <a:ext uri="{FF2B5EF4-FFF2-40B4-BE49-F238E27FC236}">
                    <a16:creationId xmlns:a16="http://schemas.microsoft.com/office/drawing/2014/main" id="{3D202EF0-40BA-CBCB-4478-AC2E823B35BD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2730796" y="2711969"/>
                <a:ext cx="10515600" cy="4351338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14:m>
                  <m:oMath xmlns:m="http://schemas.openxmlformats.org/officeDocument/2006/math">
                    <m:sSub>
                      <m:sSub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 smtClean="0">
                            <a:latin typeface="Cambria Math" panose="02040503050406030204" pitchFamily="18" charset="0"/>
                          </a:rPr>
                          <m:t>𝐸</m:t>
                        </m:r>
                      </m:e>
                      <m:sub>
                        <m:r>
                          <a:rPr lang="pt-BR" i="1" smtClean="0">
                            <a:latin typeface="Cambria Math" panose="02040503050406030204" pitchFamily="18" charset="0"/>
                          </a:rPr>
                          <m:t>𝑥</m:t>
                        </m:r>
                      </m:sub>
                    </m:sSub>
                    <m:r>
                      <a:rPr lang="pt-BR" i="1" smtClean="0">
                        <a:latin typeface="Cambria Math" panose="02040503050406030204" pitchFamily="18" charset="0"/>
                      </a:rPr>
                      <m:t>=</m:t>
                    </m:r>
                    <m:nary>
                      <m:nary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3"/>
                          </m:rPr>
                          <a:rPr lang="pt-BR" i="1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pt-BR" i="1" smtClean="0">
                            <a:latin typeface="Cambria Math" panose="02040503050406030204" pitchFamily="18" charset="0"/>
                          </a:rPr>
                          <m:t>∞</m:t>
                        </m:r>
                      </m:sub>
                      <m:sup>
                        <m:r>
                          <a:rPr lang="pt-BR" i="1" smtClean="0">
                            <a:latin typeface="Cambria Math" panose="02040503050406030204" pitchFamily="18" charset="0"/>
                          </a:rPr>
                          <m:t>∞</m:t>
                        </m:r>
                      </m:sup>
                      <m:e>
                        <m:sSup>
                          <m:sSup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d>
                              <m:dPr>
                                <m:begChr m:val="|"/>
                                <m:endChr m:val="|"/>
                                <m:ctrlPr>
                                  <a:rPr lang="pt-BR" i="1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pt-BR" i="1" smtClean="0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  <m:d>
                                  <m:dPr>
                                    <m:ctrlPr>
                                      <a:rPr lang="pt-BR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pt-BR" i="1" smtClean="0">
                                        <a:latin typeface="Cambria Math" panose="02040503050406030204" pitchFamily="18" charset="0"/>
                                      </a:rPr>
                                      <m:t>𝑡</m:t>
                                    </m:r>
                                  </m:e>
                                </m:d>
                              </m:e>
                            </m:d>
                          </m:e>
                          <m:sup>
                            <m:r>
                              <a:rPr lang="pt-BR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pt-BR" i="1" smtClean="0">
                            <a:latin typeface="Cambria Math" panose="02040503050406030204" pitchFamily="18" charset="0"/>
                          </a:rPr>
                          <m:t>𝑑𝑡</m:t>
                        </m:r>
                      </m:e>
                    </m:nary>
                    <m:r>
                      <a:rPr lang="pt-BR" i="1" smtClean="0"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pt-BR" dirty="0"/>
                  <a:t> </a:t>
                </a:r>
                <a14:m>
                  <m:oMath xmlns:m="http://schemas.openxmlformats.org/officeDocument/2006/math">
                    <m:nary>
                      <m:nary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3"/>
                          </m:rPr>
                          <a:rPr lang="pt-BR" i="1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∞</m:t>
                        </m:r>
                      </m:sub>
                      <m:sup>
                        <m:r>
                          <a:rPr lang="pt-BR" i="1">
                            <a:latin typeface="Cambria Math" panose="02040503050406030204" pitchFamily="18" charset="0"/>
                          </a:rPr>
                          <m:t>∞</m:t>
                        </m:r>
                      </m:sup>
                      <m:e>
                        <m:sSup>
                          <m:sSup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d>
                              <m:dPr>
                                <m:begChr m:val="|"/>
                                <m:endChr m:val="|"/>
                                <m:ctrlPr>
                                  <a:rPr lang="pt-BR" i="1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pt-BR" i="1" smtClean="0">
                                    <a:latin typeface="Cambria Math" panose="02040503050406030204" pitchFamily="18" charset="0"/>
                                  </a:rPr>
                                  <m:t>𝑋</m:t>
                                </m:r>
                                <m:d>
                                  <m:dPr>
                                    <m:ctrlPr>
                                      <a:rPr lang="pt-BR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pt-BR" i="1" smtClean="0">
                                        <a:latin typeface="Cambria Math" panose="02040503050406030204" pitchFamily="18" charset="0"/>
                                      </a:rPr>
                                      <m:t>𝑓</m:t>
                                    </m:r>
                                  </m:e>
                                </m:d>
                              </m:e>
                            </m:d>
                          </m:e>
                          <m:sup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pt-BR" i="1">
                            <a:latin typeface="Cambria Math" panose="02040503050406030204" pitchFamily="18" charset="0"/>
                          </a:rPr>
                          <m:t>𝑑</m:t>
                        </m:r>
                        <m:r>
                          <a:rPr lang="pt-BR" i="1" smtClean="0"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</m:nary>
                  </m:oMath>
                </a14:m>
                <a:endParaRPr lang="pt-BR" dirty="0"/>
              </a:p>
            </p:txBody>
          </p:sp>
        </mc:Choice>
        <mc:Fallback xmlns="">
          <p:sp>
            <p:nvSpPr>
              <p:cNvPr id="4" name="Espaço Reservado para Conteúdo 2">
                <a:extLst>
                  <a:ext uri="{FF2B5EF4-FFF2-40B4-BE49-F238E27FC236}">
                    <a16:creationId xmlns:a16="http://schemas.microsoft.com/office/drawing/2014/main" id="{3D202EF0-40BA-CBCB-4478-AC2E823B35B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30796" y="2711969"/>
                <a:ext cx="10515600" cy="4351338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Elipse 4">
            <a:extLst>
              <a:ext uri="{FF2B5EF4-FFF2-40B4-BE49-F238E27FC236}">
                <a16:creationId xmlns:a16="http://schemas.microsoft.com/office/drawing/2014/main" id="{91D3AC6B-865E-9B6B-28E0-2DA8951942AC}"/>
              </a:ext>
            </a:extLst>
          </p:cNvPr>
          <p:cNvSpPr/>
          <p:nvPr/>
        </p:nvSpPr>
        <p:spPr>
          <a:xfrm>
            <a:off x="6762308" y="2508509"/>
            <a:ext cx="1226288" cy="862012"/>
          </a:xfrm>
          <a:prstGeom prst="ellipse">
            <a:avLst/>
          </a:prstGeom>
          <a:solidFill>
            <a:schemeClr val="accent1">
              <a:alpha val="3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cxnSp>
        <p:nvCxnSpPr>
          <p:cNvPr id="6" name="Conector de Seta Reta 5">
            <a:extLst>
              <a:ext uri="{FF2B5EF4-FFF2-40B4-BE49-F238E27FC236}">
                <a16:creationId xmlns:a16="http://schemas.microsoft.com/office/drawing/2014/main" id="{E0F8B7F8-6AEB-FC71-E92F-E16277BD6310}"/>
              </a:ext>
            </a:extLst>
          </p:cNvPr>
          <p:cNvCxnSpPr/>
          <p:nvPr/>
        </p:nvCxnSpPr>
        <p:spPr>
          <a:xfrm flipH="1" flipV="1">
            <a:off x="7687340" y="3370521"/>
            <a:ext cx="467833" cy="113768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CaixaDeTexto 6">
                <a:extLst>
                  <a:ext uri="{FF2B5EF4-FFF2-40B4-BE49-F238E27FC236}">
                    <a16:creationId xmlns:a16="http://schemas.microsoft.com/office/drawing/2014/main" id="{740AD27D-7B24-1C12-23F0-0264379208BF}"/>
                  </a:ext>
                </a:extLst>
              </p:cNvPr>
              <p:cNvSpPr txBox="1"/>
              <p:nvPr/>
            </p:nvSpPr>
            <p:spPr>
              <a:xfrm>
                <a:off x="6449316" y="4402952"/>
                <a:ext cx="5953296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pt-BR" sz="2800" dirty="0">
                    <a:solidFill>
                      <a:srgbClr val="0070C0"/>
                    </a:solidFill>
                  </a:rPr>
                  <a:t>Densidade Espectral de Energia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sz="2800" b="0" i="0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pt-BR" sz="2800" b="0" i="0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Ψ</m:t>
                        </m:r>
                      </m:e>
                      <m:sub>
                        <m:r>
                          <a:rPr lang="pt-BR" sz="2800" b="0" i="1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sub>
                    </m:sSub>
                    <m:r>
                      <a:rPr lang="pt-BR" sz="2800" b="0" i="1" smtClean="0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sz="2800" b="0" i="1" smtClean="0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𝑓</m:t>
                    </m:r>
                    <m:r>
                      <a:rPr lang="pt-BR" sz="2800" b="0" i="1" smtClean="0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pt-BR" sz="2800" dirty="0">
                  <a:solidFill>
                    <a:srgbClr val="0070C0"/>
                  </a:solidFill>
                </a:endParaRPr>
              </a:p>
            </p:txBody>
          </p:sp>
        </mc:Choice>
        <mc:Fallback xmlns="">
          <p:sp>
            <p:nvSpPr>
              <p:cNvPr id="7" name="CaixaDeTexto 6">
                <a:extLst>
                  <a:ext uri="{FF2B5EF4-FFF2-40B4-BE49-F238E27FC236}">
                    <a16:creationId xmlns:a16="http://schemas.microsoft.com/office/drawing/2014/main" id="{740AD27D-7B24-1C12-23F0-0264379208B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49316" y="4402952"/>
                <a:ext cx="5953296" cy="523220"/>
              </a:xfrm>
              <a:prstGeom prst="rect">
                <a:avLst/>
              </a:prstGeom>
              <a:blipFill>
                <a:blip r:embed="rId3"/>
                <a:stretch>
                  <a:fillRect l="-2149" t="-10465" b="-32558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09381925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AF45004-B5B8-F1E7-C220-4CD6614D3F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Energia</a:t>
            </a:r>
            <a:br>
              <a:rPr lang="pt-BR" dirty="0"/>
            </a:br>
            <a:r>
              <a:rPr lang="pt-BR" dirty="0"/>
              <a:t>Densidade Espectral de Energia (DEE / ESD)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73F9D51C-1F19-F48F-9D0C-F70B15C82C5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50335"/>
            <a:ext cx="10515600" cy="754912"/>
          </a:xfrm>
        </p:spPr>
        <p:txBody>
          <a:bodyPr/>
          <a:lstStyle/>
          <a:p>
            <a:r>
              <a:rPr lang="pt-BR" dirty="0"/>
              <a:t>Ex. pulso retangular</a:t>
            </a:r>
          </a:p>
        </p:txBody>
      </p:sp>
      <p:pic>
        <p:nvPicPr>
          <p:cNvPr id="5" name="Imagem 4">
            <a:extLst>
              <a:ext uri="{FF2B5EF4-FFF2-40B4-BE49-F238E27FC236}">
                <a16:creationId xmlns:a16="http://schemas.microsoft.com/office/drawing/2014/main" id="{E08587FA-CE38-C540-6C90-F1929762805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82272" y="1863792"/>
            <a:ext cx="6756607" cy="4303091"/>
          </a:xfrm>
          <a:prstGeom prst="rect">
            <a:avLst/>
          </a:prstGeom>
        </p:spPr>
      </p:pic>
      <p:sp>
        <p:nvSpPr>
          <p:cNvPr id="6" name="Balão de Fala: Retângulo 5">
            <a:extLst>
              <a:ext uri="{FF2B5EF4-FFF2-40B4-BE49-F238E27FC236}">
                <a16:creationId xmlns:a16="http://schemas.microsoft.com/office/drawing/2014/main" id="{128C79B6-7C76-EA5E-A435-800161AB76F1}"/>
              </a:ext>
            </a:extLst>
          </p:cNvPr>
          <p:cNvSpPr/>
          <p:nvPr/>
        </p:nvSpPr>
        <p:spPr>
          <a:xfrm>
            <a:off x="7654014" y="4100949"/>
            <a:ext cx="3827721" cy="754912"/>
          </a:xfrm>
          <a:prstGeom prst="wedgeRectCallout">
            <a:avLst>
              <a:gd name="adj1" fmla="val -87777"/>
              <a:gd name="adj2" fmla="val 96303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dirty="0"/>
              <a:t>Energia em uma faixa </a:t>
            </a:r>
            <a:r>
              <a:rPr lang="pt-BR" dirty="0" err="1"/>
              <a:t>dp</a:t>
            </a:r>
            <a:r>
              <a:rPr lang="pt-BR" dirty="0"/>
              <a:t> espectro é dada pela integral da DEE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CaixaDeTexto 6">
                <a:extLst>
                  <a:ext uri="{FF2B5EF4-FFF2-40B4-BE49-F238E27FC236}">
                    <a16:creationId xmlns:a16="http://schemas.microsoft.com/office/drawing/2014/main" id="{585A9A57-0734-9CBB-0A82-671322C11C89}"/>
                  </a:ext>
                </a:extLst>
              </p:cNvPr>
              <p:cNvSpPr txBox="1"/>
              <p:nvPr/>
            </p:nvSpPr>
            <p:spPr>
              <a:xfrm>
                <a:off x="8485632" y="5507665"/>
                <a:ext cx="1985031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pt-BR" dirty="0"/>
                  <a:t>Frequência angular</a:t>
                </a:r>
              </a:p>
              <a:p>
                <a:pPr/>
                <a14:m>
                  <m:oMathPara xmlns:m="http://schemas.openxmlformats.org/officeDocument/2006/math">
                    <m:oMath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𝜔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=2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𝜋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𝑓</m:t>
                      </m:r>
                    </m:oMath>
                  </m:oMathPara>
                </a14:m>
                <a:endParaRPr lang="pt-BR" dirty="0"/>
              </a:p>
            </p:txBody>
          </p:sp>
        </mc:Choice>
        <mc:Fallback xmlns="">
          <p:sp>
            <p:nvSpPr>
              <p:cNvPr id="7" name="CaixaDeTexto 6">
                <a:extLst>
                  <a:ext uri="{FF2B5EF4-FFF2-40B4-BE49-F238E27FC236}">
                    <a16:creationId xmlns:a16="http://schemas.microsoft.com/office/drawing/2014/main" id="{585A9A57-0734-9CBB-0A82-671322C11C8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485632" y="5507665"/>
                <a:ext cx="1985031" cy="646331"/>
              </a:xfrm>
              <a:prstGeom prst="rect">
                <a:avLst/>
              </a:prstGeom>
              <a:blipFill>
                <a:blip r:embed="rId3"/>
                <a:stretch>
                  <a:fillRect l="-2454" t="-4673" r="-1840" b="-6542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22569731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6D9C850-B1FD-E631-3172-8B47715CC2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Espectro</a:t>
            </a:r>
            <a:br>
              <a:rPr lang="pt-BR" dirty="0"/>
            </a:br>
            <a:endParaRPr lang="pt-BR" dirty="0"/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8488FB11-5C8E-F116-7B56-CAC1F25E5BE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95551"/>
            <a:ext cx="7189381" cy="4351338"/>
          </a:xfrm>
        </p:spPr>
        <p:txBody>
          <a:bodyPr/>
          <a:lstStyle/>
          <a:p>
            <a:r>
              <a:rPr lang="pt-BR" dirty="0"/>
              <a:t>Significado Físico</a:t>
            </a:r>
          </a:p>
          <a:p>
            <a:pPr lvl="1"/>
            <a:r>
              <a:rPr lang="pt-BR" dirty="0"/>
              <a:t>Luz: Faixa de Cores</a:t>
            </a:r>
          </a:p>
          <a:p>
            <a:pPr lvl="1"/>
            <a:r>
              <a:rPr lang="pt-BR" dirty="0"/>
              <a:t>Rádio: Mesmo conceito, mas não vemos</a:t>
            </a:r>
          </a:p>
          <a:p>
            <a:pPr lvl="1"/>
            <a:endParaRPr lang="pt-BR" dirty="0"/>
          </a:p>
          <a:p>
            <a:pPr lvl="1"/>
            <a:endParaRPr lang="pt-BR" dirty="0"/>
          </a:p>
        </p:txBody>
      </p:sp>
      <p:pic>
        <p:nvPicPr>
          <p:cNvPr id="6" name="Imagem 5">
            <a:extLst>
              <a:ext uri="{FF2B5EF4-FFF2-40B4-BE49-F238E27FC236}">
                <a16:creationId xmlns:a16="http://schemas.microsoft.com/office/drawing/2014/main" id="{4B6BEB58-1AD1-0C7A-6011-871959CD955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02206" y="3429000"/>
            <a:ext cx="4540483" cy="18860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2613930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6769F5F-820C-B026-6D82-99F1B5A216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Espectro</a:t>
            </a:r>
            <a:br>
              <a:rPr lang="pt-BR" dirty="0"/>
            </a:br>
            <a:r>
              <a:rPr lang="pt-BR" dirty="0"/>
              <a:t>Banda / Faixa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0B5D5132-70C3-4BEA-06D4-6CD39CC23CA5}"/>
              </a:ext>
            </a:extLst>
          </p:cNvPr>
          <p:cNvSpPr txBox="1">
            <a:spLocks/>
          </p:cNvSpPr>
          <p:nvPr/>
        </p:nvSpPr>
        <p:spPr>
          <a:xfrm>
            <a:off x="838200" y="1159615"/>
            <a:ext cx="10868247" cy="4351338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 dirty="0"/>
              <a:t>Valor Monetário!</a:t>
            </a:r>
          </a:p>
          <a:p>
            <a:pPr lvl="1"/>
            <a:r>
              <a:rPr lang="pt-BR" dirty="0"/>
              <a:t>Diversas bandas do espectro são alocadas para diferentes serviços</a:t>
            </a:r>
          </a:p>
          <a:p>
            <a:pPr lvl="1"/>
            <a:r>
              <a:rPr lang="pt-BR" dirty="0"/>
              <a:t>Bandas podem ser vendidas (uso reservado)</a:t>
            </a:r>
          </a:p>
          <a:p>
            <a:pPr lvl="1"/>
            <a:r>
              <a:rPr lang="pt-BR" dirty="0" err="1"/>
              <a:t>ex</a:t>
            </a:r>
            <a:r>
              <a:rPr lang="pt-BR" dirty="0"/>
              <a:t>,., para redes celulares</a:t>
            </a:r>
          </a:p>
          <a:p>
            <a:pPr lvl="1"/>
            <a:endParaRPr lang="pt-BR" dirty="0"/>
          </a:p>
        </p:txBody>
      </p:sp>
      <p:pic>
        <p:nvPicPr>
          <p:cNvPr id="4" name="Imagem 3" descr="Resultado de imagem para alocação espectro anatel">
            <a:extLst>
              <a:ext uri="{FF2B5EF4-FFF2-40B4-BE49-F238E27FC236}">
                <a16:creationId xmlns:a16="http://schemas.microsoft.com/office/drawing/2014/main" id="{BF3CC58A-DAD5-882C-52A4-9F4FF7C08CA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6456" y="2948936"/>
            <a:ext cx="5321939" cy="37566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8066619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C31CB60-34B9-B8D8-E409-D205746477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Largura de Banda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EA047764-1138-9B1B-8952-2C9BD1860E0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09823"/>
            <a:ext cx="10515600" cy="1136579"/>
          </a:xfrm>
        </p:spPr>
        <p:txBody>
          <a:bodyPr/>
          <a:lstStyle/>
          <a:p>
            <a:r>
              <a:rPr lang="pt-BR" dirty="0"/>
              <a:t>Largura de banda </a:t>
            </a:r>
            <a:r>
              <a:rPr lang="pt-BR" i="1" dirty="0"/>
              <a:t>B</a:t>
            </a:r>
            <a:r>
              <a:rPr lang="pt-BR" dirty="0"/>
              <a:t>  é a parte do espectro (de frequência positiva) ocupado pelo sinal</a:t>
            </a:r>
          </a:p>
        </p:txBody>
      </p:sp>
      <p:grpSp>
        <p:nvGrpSpPr>
          <p:cNvPr id="25" name="Agrupar 24">
            <a:extLst>
              <a:ext uri="{FF2B5EF4-FFF2-40B4-BE49-F238E27FC236}">
                <a16:creationId xmlns:a16="http://schemas.microsoft.com/office/drawing/2014/main" id="{557D62B2-760A-AC00-E4CA-A36F4C43A5F9}"/>
              </a:ext>
            </a:extLst>
          </p:cNvPr>
          <p:cNvGrpSpPr/>
          <p:nvPr/>
        </p:nvGrpSpPr>
        <p:grpSpPr>
          <a:xfrm>
            <a:off x="2517504" y="3482285"/>
            <a:ext cx="2924177" cy="1602045"/>
            <a:chOff x="7188200" y="3494088"/>
            <a:chExt cx="1947864" cy="1162050"/>
          </a:xfrm>
        </p:grpSpPr>
        <p:sp>
          <p:nvSpPr>
            <p:cNvPr id="4" name="Line 11">
              <a:extLst>
                <a:ext uri="{FF2B5EF4-FFF2-40B4-BE49-F238E27FC236}">
                  <a16:creationId xmlns:a16="http://schemas.microsoft.com/office/drawing/2014/main" id="{965D6DE9-14AF-DFE6-57FF-2AFFDF5D83C7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7188200" y="4216400"/>
              <a:ext cx="1746250" cy="0"/>
            </a:xfrm>
            <a:prstGeom prst="line">
              <a:avLst/>
            </a:prstGeom>
            <a:noFill/>
            <a:ln w="6350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pt-BR"/>
            </a:p>
          </p:txBody>
        </p:sp>
        <p:sp>
          <p:nvSpPr>
            <p:cNvPr id="5" name="Line 12">
              <a:extLst>
                <a:ext uri="{FF2B5EF4-FFF2-40B4-BE49-F238E27FC236}">
                  <a16:creationId xmlns:a16="http://schemas.microsoft.com/office/drawing/2014/main" id="{C12BC501-0315-2BA5-F3F4-F6C46C10C512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8002588" y="3494088"/>
              <a:ext cx="0" cy="1162050"/>
            </a:xfrm>
            <a:prstGeom prst="line">
              <a:avLst/>
            </a:prstGeom>
            <a:noFill/>
            <a:ln w="6350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pt-BR"/>
            </a:p>
          </p:txBody>
        </p:sp>
        <p:sp>
          <p:nvSpPr>
            <p:cNvPr id="6" name="Text Box 13">
              <a:extLst>
                <a:ext uri="{FF2B5EF4-FFF2-40B4-BE49-F238E27FC236}">
                  <a16:creationId xmlns:a16="http://schemas.microsoft.com/office/drawing/2014/main" id="{B6E2A6D1-6FDD-5808-A076-9BAE8D23ADDB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8820151" y="4192589"/>
              <a:ext cx="315913" cy="307777"/>
            </a:xfrm>
            <a:prstGeom prst="rect">
              <a:avLst/>
            </a:prstGeom>
            <a:noFill/>
            <a:ln w="12700">
              <a:noFill/>
              <a:miter lim="800000"/>
              <a:headEnd/>
              <a:tailEnd/>
            </a:ln>
            <a:effectLst/>
          </p:spPr>
          <p:txBody>
            <a:bodyPr>
              <a:spAutoFit/>
            </a:bodyPr>
            <a:lstStyle/>
            <a:p>
              <a:pPr defTabSz="762000"/>
              <a:r>
                <a:rPr lang="en-US" sz="1400" i="1">
                  <a:latin typeface="Times New Roman" pitchFamily="18" charset="0"/>
                </a:rPr>
                <a:t>f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Text Box 15">
                  <a:extLst>
                    <a:ext uri="{FF2B5EF4-FFF2-40B4-BE49-F238E27FC236}">
                      <a16:creationId xmlns:a16="http://schemas.microsoft.com/office/drawing/2014/main" id="{C87C4067-0454-35F6-8A17-32FB1065AD99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8199439" y="3590926"/>
                  <a:ext cx="463809" cy="223247"/>
                </a:xfrm>
                <a:prstGeom prst="rect">
                  <a:avLst/>
                </a:prstGeom>
                <a:noFill/>
                <a:ln w="12700">
                  <a:noFill/>
                  <a:miter lim="800000"/>
                  <a:headEnd/>
                  <a:tailEnd/>
                </a:ln>
                <a:effectLst/>
              </p:spPr>
              <p:txBody>
                <a:bodyPr wrap="none">
                  <a:spAutoFit/>
                </a:bodyPr>
                <a:lstStyle/>
                <a:p>
                  <a:pPr defTabSz="762000"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pt-BR" sz="1400" b="0" i="0" smtClean="0">
                                <a:solidFill>
                                  <a:schemeClr val="hlink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pt-BR" sz="1400" b="0" i="0" smtClean="0">
                                <a:solidFill>
                                  <a:schemeClr val="hlink"/>
                                </a:solidFill>
                                <a:latin typeface="Cambria Math" panose="02040503050406030204" pitchFamily="18" charset="0"/>
                              </a:rPr>
                              <m:t>Ψ</m:t>
                            </m:r>
                          </m:e>
                          <m:sub>
                            <m:r>
                              <a:rPr lang="pt-BR" sz="1400" b="0" i="1" smtClean="0">
                                <a:solidFill>
                                  <a:schemeClr val="hlink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sub>
                        </m:sSub>
                        <m:r>
                          <a:rPr lang="pt-BR" sz="1400" b="0" i="1" smtClean="0">
                            <a:solidFill>
                              <a:schemeClr val="hlink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pt-BR" sz="1400" b="0" i="1" smtClean="0">
                            <a:solidFill>
                              <a:schemeClr val="hlink"/>
                            </a:solidFill>
                            <a:latin typeface="Cambria Math" panose="02040503050406030204" pitchFamily="18" charset="0"/>
                          </a:rPr>
                          <m:t>𝑓</m:t>
                        </m:r>
                        <m:r>
                          <a:rPr lang="pt-BR" sz="1400" b="0" i="1" smtClean="0">
                            <a:solidFill>
                              <a:schemeClr val="hlink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en-US" sz="1400" i="1" dirty="0">
                    <a:solidFill>
                      <a:schemeClr val="hlink"/>
                    </a:solidFill>
                    <a:latin typeface="Times New Roman" pitchFamily="18" charset="0"/>
                  </a:endParaRPr>
                </a:p>
              </p:txBody>
            </p:sp>
          </mc:Choice>
          <mc:Fallback xmlns="">
            <p:sp>
              <p:nvSpPr>
                <p:cNvPr id="7" name="Text Box 15">
                  <a:extLst>
                    <a:ext uri="{FF2B5EF4-FFF2-40B4-BE49-F238E27FC236}">
                      <a16:creationId xmlns:a16="http://schemas.microsoft.com/office/drawing/2014/main" id="{C87C4067-0454-35F6-8A17-32FB1065AD9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 bwMode="auto">
                <a:xfrm>
                  <a:off x="8199439" y="3590926"/>
                  <a:ext cx="463809" cy="223247"/>
                </a:xfrm>
                <a:prstGeom prst="rect">
                  <a:avLst/>
                </a:prstGeom>
                <a:blipFill>
                  <a:blip r:embed="rId2"/>
                  <a:stretch>
                    <a:fillRect b="-7843"/>
                  </a:stretch>
                </a:blipFill>
                <a:ln w="12700">
                  <a:noFill/>
                  <a:miter lim="800000"/>
                  <a:headEnd/>
                  <a:tailEnd/>
                </a:ln>
                <a:effectLst/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grpSp>
          <p:nvGrpSpPr>
            <p:cNvPr id="8" name="Group 20">
              <a:extLst>
                <a:ext uri="{FF2B5EF4-FFF2-40B4-BE49-F238E27FC236}">
                  <a16:creationId xmlns:a16="http://schemas.microsoft.com/office/drawing/2014/main" id="{A50E0E65-C64D-122C-FAE8-66A60F03AFBC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7808914" y="3690938"/>
              <a:ext cx="382587" cy="525462"/>
              <a:chOff x="3959" y="2466"/>
              <a:chExt cx="241" cy="190"/>
            </a:xfrm>
          </p:grpSpPr>
          <p:sp>
            <p:nvSpPr>
              <p:cNvPr id="9" name="Line 18">
                <a:extLst>
                  <a:ext uri="{FF2B5EF4-FFF2-40B4-BE49-F238E27FC236}">
                    <a16:creationId xmlns:a16="http://schemas.microsoft.com/office/drawing/2014/main" id="{2A408F31-2E9C-AE36-DC9F-5DB622503124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V="1">
                <a:off x="3959" y="2466"/>
                <a:ext cx="120" cy="184"/>
              </a:xfrm>
              <a:prstGeom prst="line">
                <a:avLst/>
              </a:prstGeom>
              <a:noFill/>
              <a:ln w="12700">
                <a:solidFill>
                  <a:schemeClr val="hlink"/>
                </a:solidFill>
                <a:round/>
                <a:headEnd/>
                <a:tailEnd/>
              </a:ln>
              <a:effectLst/>
            </p:spPr>
            <p:txBody>
              <a:bodyPr/>
              <a:lstStyle/>
              <a:p>
                <a:endParaRPr lang="pt-BR"/>
              </a:p>
            </p:txBody>
          </p:sp>
          <p:sp>
            <p:nvSpPr>
              <p:cNvPr id="10" name="Line 19">
                <a:extLst>
                  <a:ext uri="{FF2B5EF4-FFF2-40B4-BE49-F238E27FC236}">
                    <a16:creationId xmlns:a16="http://schemas.microsoft.com/office/drawing/2014/main" id="{A0B3DF6A-7C42-A0CB-3F12-7DAE162E60ED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H="1" flipV="1">
                <a:off x="4080" y="2472"/>
                <a:ext cx="120" cy="184"/>
              </a:xfrm>
              <a:prstGeom prst="line">
                <a:avLst/>
              </a:prstGeom>
              <a:noFill/>
              <a:ln w="12700">
                <a:solidFill>
                  <a:schemeClr val="hlink"/>
                </a:solidFill>
                <a:round/>
                <a:headEnd/>
                <a:tailEnd/>
              </a:ln>
              <a:effectLst/>
            </p:spPr>
            <p:txBody>
              <a:bodyPr/>
              <a:lstStyle/>
              <a:p>
                <a:endParaRPr lang="pt-BR"/>
              </a:p>
            </p:txBody>
          </p:sp>
        </p:grpSp>
      </p:grpSp>
      <p:grpSp>
        <p:nvGrpSpPr>
          <p:cNvPr id="26" name="Agrupar 25">
            <a:extLst>
              <a:ext uri="{FF2B5EF4-FFF2-40B4-BE49-F238E27FC236}">
                <a16:creationId xmlns:a16="http://schemas.microsoft.com/office/drawing/2014/main" id="{035A8A13-6FE1-B5F2-A8CF-F32A82C61F4E}"/>
              </a:ext>
            </a:extLst>
          </p:cNvPr>
          <p:cNvGrpSpPr/>
          <p:nvPr/>
        </p:nvGrpSpPr>
        <p:grpSpPr>
          <a:xfrm>
            <a:off x="6923182" y="3395286"/>
            <a:ext cx="2750501" cy="1849308"/>
            <a:chOff x="7181850" y="4805363"/>
            <a:chExt cx="1947864" cy="1162050"/>
          </a:xfrm>
        </p:grpSpPr>
        <p:sp>
          <p:nvSpPr>
            <p:cNvPr id="11" name="Line 92">
              <a:extLst>
                <a:ext uri="{FF2B5EF4-FFF2-40B4-BE49-F238E27FC236}">
                  <a16:creationId xmlns:a16="http://schemas.microsoft.com/office/drawing/2014/main" id="{4588D22F-CF0E-DE3E-BC37-825B08BD530D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7181850" y="5527675"/>
              <a:ext cx="1746250" cy="0"/>
            </a:xfrm>
            <a:prstGeom prst="line">
              <a:avLst/>
            </a:prstGeom>
            <a:noFill/>
            <a:ln w="6350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pt-BR"/>
            </a:p>
          </p:txBody>
        </p:sp>
        <p:sp>
          <p:nvSpPr>
            <p:cNvPr id="12" name="Line 93">
              <a:extLst>
                <a:ext uri="{FF2B5EF4-FFF2-40B4-BE49-F238E27FC236}">
                  <a16:creationId xmlns:a16="http://schemas.microsoft.com/office/drawing/2014/main" id="{35586BE0-A7F0-60BB-C8CE-5759D9E46543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7996238" y="4805363"/>
              <a:ext cx="0" cy="1162050"/>
            </a:xfrm>
            <a:prstGeom prst="line">
              <a:avLst/>
            </a:prstGeom>
            <a:noFill/>
            <a:ln w="6350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pt-BR"/>
            </a:p>
          </p:txBody>
        </p:sp>
        <p:sp>
          <p:nvSpPr>
            <p:cNvPr id="13" name="Text Box 94">
              <a:extLst>
                <a:ext uri="{FF2B5EF4-FFF2-40B4-BE49-F238E27FC236}">
                  <a16:creationId xmlns:a16="http://schemas.microsoft.com/office/drawing/2014/main" id="{D3C8D507-94DD-FC53-2E53-16AB46E73720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8813801" y="5503864"/>
              <a:ext cx="315913" cy="307777"/>
            </a:xfrm>
            <a:prstGeom prst="rect">
              <a:avLst/>
            </a:prstGeom>
            <a:noFill/>
            <a:ln w="12700">
              <a:noFill/>
              <a:miter lim="800000"/>
              <a:headEnd/>
              <a:tailEnd/>
            </a:ln>
            <a:effectLst/>
          </p:spPr>
          <p:txBody>
            <a:bodyPr>
              <a:spAutoFit/>
            </a:bodyPr>
            <a:lstStyle/>
            <a:p>
              <a:pPr defTabSz="762000"/>
              <a:r>
                <a:rPr lang="en-US" sz="1400" i="1">
                  <a:latin typeface="Times New Roman" pitchFamily="18" charset="0"/>
                </a:rPr>
                <a:t>f</a:t>
              </a:r>
            </a:p>
          </p:txBody>
        </p:sp>
        <p:grpSp>
          <p:nvGrpSpPr>
            <p:cNvPr id="15" name="Group 96">
              <a:extLst>
                <a:ext uri="{FF2B5EF4-FFF2-40B4-BE49-F238E27FC236}">
                  <a16:creationId xmlns:a16="http://schemas.microsoft.com/office/drawing/2014/main" id="{6D5FB5BF-C6CF-3093-72C1-64FC571AFD33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7286625" y="5002213"/>
              <a:ext cx="382588" cy="525462"/>
              <a:chOff x="3959" y="2466"/>
              <a:chExt cx="241" cy="190"/>
            </a:xfrm>
          </p:grpSpPr>
          <p:sp>
            <p:nvSpPr>
              <p:cNvPr id="16" name="Line 97">
                <a:extLst>
                  <a:ext uri="{FF2B5EF4-FFF2-40B4-BE49-F238E27FC236}">
                    <a16:creationId xmlns:a16="http://schemas.microsoft.com/office/drawing/2014/main" id="{BF2DD7D0-41D5-2914-30E0-E159397F584B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V="1">
                <a:off x="3959" y="2466"/>
                <a:ext cx="120" cy="184"/>
              </a:xfrm>
              <a:prstGeom prst="line">
                <a:avLst/>
              </a:prstGeom>
              <a:noFill/>
              <a:ln w="12700">
                <a:solidFill>
                  <a:schemeClr val="hlink"/>
                </a:solidFill>
                <a:round/>
                <a:headEnd/>
                <a:tailEnd/>
              </a:ln>
              <a:effectLst/>
            </p:spPr>
            <p:txBody>
              <a:bodyPr/>
              <a:lstStyle/>
              <a:p>
                <a:endParaRPr lang="pt-BR"/>
              </a:p>
            </p:txBody>
          </p:sp>
          <p:sp>
            <p:nvSpPr>
              <p:cNvPr id="17" name="Line 98">
                <a:extLst>
                  <a:ext uri="{FF2B5EF4-FFF2-40B4-BE49-F238E27FC236}">
                    <a16:creationId xmlns:a16="http://schemas.microsoft.com/office/drawing/2014/main" id="{C11B84A8-914A-438C-9189-917A9CDE8936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H="1" flipV="1">
                <a:off x="4080" y="2472"/>
                <a:ext cx="120" cy="184"/>
              </a:xfrm>
              <a:prstGeom prst="line">
                <a:avLst/>
              </a:prstGeom>
              <a:noFill/>
              <a:ln w="12700">
                <a:solidFill>
                  <a:schemeClr val="hlink"/>
                </a:solidFill>
                <a:round/>
                <a:headEnd/>
                <a:tailEnd/>
              </a:ln>
              <a:effectLst/>
            </p:spPr>
            <p:txBody>
              <a:bodyPr/>
              <a:lstStyle/>
              <a:p>
                <a:endParaRPr lang="pt-BR"/>
              </a:p>
            </p:txBody>
          </p:sp>
        </p:grpSp>
        <p:grpSp>
          <p:nvGrpSpPr>
            <p:cNvPr id="18" name="Group 99">
              <a:extLst>
                <a:ext uri="{FF2B5EF4-FFF2-40B4-BE49-F238E27FC236}">
                  <a16:creationId xmlns:a16="http://schemas.microsoft.com/office/drawing/2014/main" id="{033B93E2-72DA-155A-A03C-B172104ACCFF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8320089" y="5011738"/>
              <a:ext cx="382587" cy="525462"/>
              <a:chOff x="3959" y="2466"/>
              <a:chExt cx="241" cy="190"/>
            </a:xfrm>
          </p:grpSpPr>
          <p:sp>
            <p:nvSpPr>
              <p:cNvPr id="19" name="Line 100">
                <a:extLst>
                  <a:ext uri="{FF2B5EF4-FFF2-40B4-BE49-F238E27FC236}">
                    <a16:creationId xmlns:a16="http://schemas.microsoft.com/office/drawing/2014/main" id="{68742AC4-EBEB-29EC-9289-544A5AA2CAF2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V="1">
                <a:off x="3959" y="2466"/>
                <a:ext cx="120" cy="184"/>
              </a:xfrm>
              <a:prstGeom prst="line">
                <a:avLst/>
              </a:prstGeom>
              <a:noFill/>
              <a:ln w="12700">
                <a:solidFill>
                  <a:schemeClr val="hlink"/>
                </a:solidFill>
                <a:round/>
                <a:headEnd/>
                <a:tailEnd/>
              </a:ln>
              <a:effectLst/>
            </p:spPr>
            <p:txBody>
              <a:bodyPr/>
              <a:lstStyle/>
              <a:p>
                <a:endParaRPr lang="pt-BR"/>
              </a:p>
            </p:txBody>
          </p:sp>
          <p:sp>
            <p:nvSpPr>
              <p:cNvPr id="20" name="Line 101">
                <a:extLst>
                  <a:ext uri="{FF2B5EF4-FFF2-40B4-BE49-F238E27FC236}">
                    <a16:creationId xmlns:a16="http://schemas.microsoft.com/office/drawing/2014/main" id="{B3FB19D7-D391-53F9-5905-E61990728162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H="1" flipV="1">
                <a:off x="4080" y="2472"/>
                <a:ext cx="120" cy="184"/>
              </a:xfrm>
              <a:prstGeom prst="line">
                <a:avLst/>
              </a:prstGeom>
              <a:noFill/>
              <a:ln w="12700">
                <a:solidFill>
                  <a:schemeClr val="hlink"/>
                </a:solidFill>
                <a:round/>
                <a:headEnd/>
                <a:tailEnd/>
              </a:ln>
              <a:effectLst/>
            </p:spPr>
            <p:txBody>
              <a:bodyPr/>
              <a:lstStyle/>
              <a:p>
                <a:endParaRPr lang="pt-BR"/>
              </a:p>
            </p:txBody>
          </p:sp>
        </p:grpSp>
        <p:sp>
          <p:nvSpPr>
            <p:cNvPr id="21" name="Line 102">
              <a:extLst>
                <a:ext uri="{FF2B5EF4-FFF2-40B4-BE49-F238E27FC236}">
                  <a16:creationId xmlns:a16="http://schemas.microsoft.com/office/drawing/2014/main" id="{1722B700-35C0-D689-249C-730409AFC098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7475538" y="5470525"/>
              <a:ext cx="0" cy="10795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pt-BR"/>
            </a:p>
          </p:txBody>
        </p:sp>
        <p:sp>
          <p:nvSpPr>
            <p:cNvPr id="22" name="Text Box 103">
              <a:extLst>
                <a:ext uri="{FF2B5EF4-FFF2-40B4-BE49-F238E27FC236}">
                  <a16:creationId xmlns:a16="http://schemas.microsoft.com/office/drawing/2014/main" id="{BB3B1EF7-42B9-9159-A198-CBE82B973284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7321550" y="5599114"/>
              <a:ext cx="414338" cy="307777"/>
            </a:xfrm>
            <a:prstGeom prst="rect">
              <a:avLst/>
            </a:prstGeom>
            <a:noFill/>
            <a:ln w="12700">
              <a:noFill/>
              <a:miter lim="800000"/>
              <a:headEnd/>
              <a:tailEnd/>
            </a:ln>
            <a:effectLst/>
          </p:spPr>
          <p:txBody>
            <a:bodyPr>
              <a:spAutoFit/>
            </a:bodyPr>
            <a:lstStyle/>
            <a:p>
              <a:pPr defTabSz="762000"/>
              <a:r>
                <a:rPr lang="en-US" sz="1400" i="1">
                  <a:latin typeface="Times New Roman" pitchFamily="18" charset="0"/>
                </a:rPr>
                <a:t>-f</a:t>
              </a:r>
              <a:r>
                <a:rPr lang="en-US" sz="1400" i="1" baseline="-25000">
                  <a:latin typeface="Times New Roman" pitchFamily="18" charset="0"/>
                </a:rPr>
                <a:t>0</a:t>
              </a:r>
              <a:endParaRPr lang="en-US" sz="1400" i="1">
                <a:latin typeface="Times New Roman" pitchFamily="18" charset="0"/>
              </a:endParaRPr>
            </a:p>
          </p:txBody>
        </p:sp>
        <p:sp>
          <p:nvSpPr>
            <p:cNvPr id="23" name="Line 104">
              <a:extLst>
                <a:ext uri="{FF2B5EF4-FFF2-40B4-BE49-F238E27FC236}">
                  <a16:creationId xmlns:a16="http://schemas.microsoft.com/office/drawing/2014/main" id="{D920C0B5-40A4-C679-E796-EB2839FDD31D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8532813" y="5480050"/>
              <a:ext cx="0" cy="10795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pt-BR"/>
            </a:p>
          </p:txBody>
        </p:sp>
        <p:sp>
          <p:nvSpPr>
            <p:cNvPr id="24" name="Text Box 105">
              <a:extLst>
                <a:ext uri="{FF2B5EF4-FFF2-40B4-BE49-F238E27FC236}">
                  <a16:creationId xmlns:a16="http://schemas.microsoft.com/office/drawing/2014/main" id="{E7F31023-DC54-3D70-1DDA-130BD0685564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8378825" y="5608639"/>
              <a:ext cx="414338" cy="307777"/>
            </a:xfrm>
            <a:prstGeom prst="rect">
              <a:avLst/>
            </a:prstGeom>
            <a:noFill/>
            <a:ln w="12700">
              <a:noFill/>
              <a:miter lim="800000"/>
              <a:headEnd/>
              <a:tailEnd/>
            </a:ln>
            <a:effectLst/>
          </p:spPr>
          <p:txBody>
            <a:bodyPr>
              <a:spAutoFit/>
            </a:bodyPr>
            <a:lstStyle/>
            <a:p>
              <a:pPr defTabSz="762000"/>
              <a:r>
                <a:rPr lang="en-US" sz="1400" i="1">
                  <a:latin typeface="Times New Roman" pitchFamily="18" charset="0"/>
                </a:rPr>
                <a:t>f</a:t>
              </a:r>
              <a:r>
                <a:rPr lang="en-US" sz="1400" i="1" baseline="-25000">
                  <a:latin typeface="Times New Roman" pitchFamily="18" charset="0"/>
                </a:rPr>
                <a:t>0</a:t>
              </a:r>
              <a:endParaRPr lang="en-US" sz="1400" i="1">
                <a:latin typeface="Times New Roman" pitchFamily="18" charset="0"/>
              </a:endParaRPr>
            </a:p>
          </p:txBody>
        </p:sp>
      </p:grpSp>
      <p:sp>
        <p:nvSpPr>
          <p:cNvPr id="28" name="CaixaDeTexto 27">
            <a:extLst>
              <a:ext uri="{FF2B5EF4-FFF2-40B4-BE49-F238E27FC236}">
                <a16:creationId xmlns:a16="http://schemas.microsoft.com/office/drawing/2014/main" id="{90542C8C-F4ED-B22A-8F46-7E3EAFACFD23}"/>
              </a:ext>
            </a:extLst>
          </p:cNvPr>
          <p:cNvSpPr txBox="1"/>
          <p:nvPr/>
        </p:nvSpPr>
        <p:spPr>
          <a:xfrm>
            <a:off x="3887678" y="4453836"/>
            <a:ext cx="30970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i="1" dirty="0"/>
              <a:t>B</a:t>
            </a:r>
          </a:p>
        </p:txBody>
      </p:sp>
      <p:sp>
        <p:nvSpPr>
          <p:cNvPr id="30" name="CaixaDeTexto 29">
            <a:extLst>
              <a:ext uri="{FF2B5EF4-FFF2-40B4-BE49-F238E27FC236}">
                <a16:creationId xmlns:a16="http://schemas.microsoft.com/office/drawing/2014/main" id="{8C0CEF33-5AAF-6714-B649-F0AA6F417B02}"/>
              </a:ext>
            </a:extLst>
          </p:cNvPr>
          <p:cNvSpPr txBox="1"/>
          <p:nvPr/>
        </p:nvSpPr>
        <p:spPr>
          <a:xfrm>
            <a:off x="8664942" y="5185101"/>
            <a:ext cx="30970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i="1" dirty="0"/>
              <a:t>B</a:t>
            </a:r>
          </a:p>
        </p:txBody>
      </p:sp>
      <p:cxnSp>
        <p:nvCxnSpPr>
          <p:cNvPr id="32" name="Conector de Seta Reta 31">
            <a:extLst>
              <a:ext uri="{FF2B5EF4-FFF2-40B4-BE49-F238E27FC236}">
                <a16:creationId xmlns:a16="http://schemas.microsoft.com/office/drawing/2014/main" id="{6C9B929E-7DF2-6A08-54B3-68A291AFE892}"/>
              </a:ext>
            </a:extLst>
          </p:cNvPr>
          <p:cNvCxnSpPr/>
          <p:nvPr/>
        </p:nvCxnSpPr>
        <p:spPr>
          <a:xfrm>
            <a:off x="8530444" y="5013879"/>
            <a:ext cx="540236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9" name="Text Box 15">
                <a:extLst>
                  <a:ext uri="{FF2B5EF4-FFF2-40B4-BE49-F238E27FC236}">
                    <a16:creationId xmlns:a16="http://schemas.microsoft.com/office/drawing/2014/main" id="{67F33348-F27C-E45E-5BA2-B9D1503F25C3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8905918" y="3439172"/>
                <a:ext cx="696280" cy="307777"/>
              </a:xfrm>
              <a:prstGeom prst="rect">
                <a:avLst/>
              </a:prstGeom>
              <a:noFill/>
              <a:ln w="12700">
                <a:noFill/>
                <a:miter lim="800000"/>
                <a:headEnd/>
                <a:tailEnd/>
              </a:ln>
              <a:effectLst/>
            </p:spPr>
            <p:txBody>
              <a:bodyPr wrap="none">
                <a:spAutoFit/>
              </a:bodyPr>
              <a:lstStyle/>
              <a:p>
                <a:pPr defTabSz="762000"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pt-BR" sz="1400" b="0" i="0" smtClean="0">
                              <a:solidFill>
                                <a:schemeClr val="hlink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pt-BR" sz="1400" b="0" i="0" smtClean="0">
                              <a:solidFill>
                                <a:schemeClr val="hlink"/>
                              </a:solidFill>
                              <a:latin typeface="Cambria Math" panose="02040503050406030204" pitchFamily="18" charset="0"/>
                            </a:rPr>
                            <m:t>Ψ</m:t>
                          </m:r>
                        </m:e>
                        <m:sub>
                          <m:r>
                            <a:rPr lang="pt-BR" sz="1400" b="0" i="1" smtClean="0">
                              <a:solidFill>
                                <a:schemeClr val="hlink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sub>
                      </m:sSub>
                      <m:r>
                        <a:rPr lang="pt-BR" sz="1400" b="0" i="1" smtClean="0">
                          <a:solidFill>
                            <a:schemeClr val="hlink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pt-BR" sz="1400" b="0" i="1" smtClean="0">
                          <a:solidFill>
                            <a:schemeClr val="hlink"/>
                          </a:solidFill>
                          <a:latin typeface="Cambria Math" panose="02040503050406030204" pitchFamily="18" charset="0"/>
                        </a:rPr>
                        <m:t>𝑓</m:t>
                      </m:r>
                      <m:r>
                        <a:rPr lang="pt-BR" sz="1400" b="0" i="1" smtClean="0">
                          <a:solidFill>
                            <a:schemeClr val="hlink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1400" i="1" dirty="0">
                  <a:solidFill>
                    <a:schemeClr val="hlink"/>
                  </a:solidFill>
                  <a:latin typeface="Times New Roman" pitchFamily="18" charset="0"/>
                </a:endParaRPr>
              </a:p>
            </p:txBody>
          </p:sp>
        </mc:Choice>
        <mc:Fallback xmlns="">
          <p:sp>
            <p:nvSpPr>
              <p:cNvPr id="29" name="Text Box 15">
                <a:extLst>
                  <a:ext uri="{FF2B5EF4-FFF2-40B4-BE49-F238E27FC236}">
                    <a16:creationId xmlns:a16="http://schemas.microsoft.com/office/drawing/2014/main" id="{67F33348-F27C-E45E-5BA2-B9D1503F25C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8905918" y="3439172"/>
                <a:ext cx="696280" cy="307777"/>
              </a:xfrm>
              <a:prstGeom prst="rect">
                <a:avLst/>
              </a:prstGeom>
              <a:blipFill>
                <a:blip r:embed="rId2"/>
                <a:stretch>
                  <a:fillRect b="-7843"/>
                </a:stretch>
              </a:blipFill>
              <a:ln w="12700">
                <a:noFill/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86519225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3436CAB-8DD7-5AC2-1B4A-23E47B174B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Largura de Banda</a:t>
            </a:r>
            <a:br>
              <a:rPr lang="pt-BR" dirty="0"/>
            </a:br>
            <a:r>
              <a:rPr lang="pt-BR" dirty="0"/>
              <a:t>Definições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D8A185CD-378C-56B5-38BE-B072D3B52B3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60967"/>
            <a:ext cx="10515600" cy="4585922"/>
          </a:xfrm>
        </p:spPr>
        <p:txBody>
          <a:bodyPr/>
          <a:lstStyle/>
          <a:p>
            <a:r>
              <a:rPr lang="pt-BR" dirty="0"/>
              <a:t>Todo sinal finito tem largura de banda infinita!</a:t>
            </a:r>
          </a:p>
          <a:p>
            <a:pPr lvl="1"/>
            <a:r>
              <a:rPr lang="pt-BR" dirty="0"/>
              <a:t>Sinais com banda finita teriam duração infinita</a:t>
            </a:r>
          </a:p>
          <a:p>
            <a:pPr lvl="1"/>
            <a:r>
              <a:rPr lang="pt-BR" dirty="0"/>
              <a:t>Mas sistemas têm banda finita</a:t>
            </a:r>
          </a:p>
          <a:p>
            <a:r>
              <a:rPr lang="pt-BR" dirty="0"/>
              <a:t>Mas qual a banda de um sinal para efeitos práticos de Engenharia?</a:t>
            </a:r>
          </a:p>
          <a:p>
            <a:r>
              <a:rPr lang="pt-BR" dirty="0"/>
              <a:t>Ex., Pulso retangular</a:t>
            </a:r>
          </a:p>
          <a:p>
            <a:pPr lvl="1"/>
            <a:endParaRPr lang="pt-BR" dirty="0"/>
          </a:p>
        </p:txBody>
      </p:sp>
      <p:pic>
        <p:nvPicPr>
          <p:cNvPr id="5" name="Imagem 4">
            <a:extLst>
              <a:ext uri="{FF2B5EF4-FFF2-40B4-BE49-F238E27FC236}">
                <a16:creationId xmlns:a16="http://schemas.microsoft.com/office/drawing/2014/main" id="{35E9ECCD-F7AB-AEAD-4706-F98AD8DEB71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13852" y="4136921"/>
            <a:ext cx="6134956" cy="2029108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7" name="CaixaDeTexto 6">
                <a:extLst>
                  <a:ext uri="{FF2B5EF4-FFF2-40B4-BE49-F238E27FC236}">
                    <a16:creationId xmlns:a16="http://schemas.microsoft.com/office/drawing/2014/main" id="{546D1091-3774-B4D1-27A3-913C0ED2E1AD}"/>
                  </a:ext>
                </a:extLst>
              </p:cNvPr>
              <p:cNvSpPr txBox="1"/>
              <p:nvPr/>
            </p:nvSpPr>
            <p:spPr>
              <a:xfrm>
                <a:off x="5601702" y="6108777"/>
                <a:ext cx="1357038" cy="61093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pt-BR" b="0" i="1" dirty="0" smtClean="0">
                          <a:latin typeface="Cambria Math" panose="02040503050406030204" pitchFamily="18" charset="0"/>
                        </a:rPr>
                        <m:t>𝐵</m:t>
                      </m:r>
                      <m:r>
                        <a:rPr lang="pt-BR" b="0" i="1" dirty="0" smtClean="0">
                          <a:latin typeface="Cambria Math" panose="02040503050406030204" pitchFamily="18" charset="0"/>
                        </a:rPr>
                        <m:t>≈</m:t>
                      </m:r>
                      <m:f>
                        <m:fPr>
                          <m:ctrlPr>
                            <a:rPr lang="pt-BR" b="0" i="1" dirty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b="0" i="1" dirty="0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pt-BR" b="0" i="1" dirty="0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den>
                      </m:f>
                      <m:r>
                        <m:rPr>
                          <m:sty m:val="p"/>
                        </m:rPr>
                        <a:rPr lang="pt-BR" b="0" i="0" dirty="0" smtClean="0">
                          <a:latin typeface="Cambria Math" panose="02040503050406030204" pitchFamily="18" charset="0"/>
                        </a:rPr>
                        <m:t>Hz</m:t>
                      </m:r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7" name="CaixaDeTexto 6">
                <a:extLst>
                  <a:ext uri="{FF2B5EF4-FFF2-40B4-BE49-F238E27FC236}">
                    <a16:creationId xmlns:a16="http://schemas.microsoft.com/office/drawing/2014/main" id="{546D1091-3774-B4D1-27A3-913C0ED2E1A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01702" y="6108777"/>
                <a:ext cx="1357038" cy="610936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8" name="Conector de Seta Reta 7">
            <a:extLst>
              <a:ext uri="{FF2B5EF4-FFF2-40B4-BE49-F238E27FC236}">
                <a16:creationId xmlns:a16="http://schemas.microsoft.com/office/drawing/2014/main" id="{E245F847-2285-DDF4-F141-5AF9D3578825}"/>
              </a:ext>
            </a:extLst>
          </p:cNvPr>
          <p:cNvCxnSpPr>
            <a:cxnSpLocks/>
          </p:cNvCxnSpPr>
          <p:nvPr/>
        </p:nvCxnSpPr>
        <p:spPr>
          <a:xfrm>
            <a:off x="4955140" y="6108777"/>
            <a:ext cx="1253636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0884234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EF2FD5-0533-0208-DB44-19BC9FD1BA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CFD7093-DFDE-FA71-CA04-40973CA8F9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Largura de Banda</a:t>
            </a:r>
            <a:br>
              <a:rPr lang="pt-BR" dirty="0"/>
            </a:br>
            <a:r>
              <a:rPr lang="pt-BR" dirty="0"/>
              <a:t>Definições</a:t>
            </a:r>
          </a:p>
        </p:txBody>
      </p:sp>
      <p:pic>
        <p:nvPicPr>
          <p:cNvPr id="9" name="Imagem 8">
            <a:extLst>
              <a:ext uri="{FF2B5EF4-FFF2-40B4-BE49-F238E27FC236}">
                <a16:creationId xmlns:a16="http://schemas.microsoft.com/office/drawing/2014/main" id="{1F684DB4-39C1-7809-251D-ED21DD5294B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01768" y="1108253"/>
            <a:ext cx="7190232" cy="4314139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648C5877-4C25-ADC5-0EAD-789F960219E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261872"/>
                <a:ext cx="4712208" cy="4685017"/>
              </a:xfrm>
            </p:spPr>
            <p:txBody>
              <a:bodyPr/>
              <a:lstStyle/>
              <a:p>
                <a:r>
                  <a:rPr lang="pt-BR" dirty="0"/>
                  <a:t>Banda é muita vez definida em função da atenuação em relação ao pico </a:t>
                </a:r>
              </a:p>
              <a:p>
                <a:r>
                  <a:rPr lang="pt-BR" dirty="0"/>
                  <a:t>Valores Típicos :</a:t>
                </a:r>
              </a:p>
              <a:p>
                <a:pPr lvl="1"/>
                <a:r>
                  <a:rPr lang="pt-BR" dirty="0"/>
                  <a:t>   3dB: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b="0" i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pt-BR" b="0" i="0" smtClean="0">
                            <a:latin typeface="Cambria Math" panose="02040503050406030204" pitchFamily="18" charset="0"/>
                          </a:rPr>
                          <m:t>Ψ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sub>
                    </m:sSub>
                    <m:d>
                      <m:dPr>
                        <m:ctrlPr>
                          <a:rPr lang="pt-BR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d>
                    <m:r>
                      <a:rPr lang="pt-BR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pt-BR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pt-BR" b="0" i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pt-BR" b="0" i="0" smtClean="0">
                                <a:latin typeface="Cambria Math" panose="02040503050406030204" pitchFamily="18" charset="0"/>
                              </a:rPr>
                              <m:t>Ψ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𝑚𝑎𝑥</m:t>
                            </m:r>
                          </m:sub>
                        </m:sSub>
                        <m:d>
                          <m:dPr>
                            <m:ctrlPr>
                              <a:rPr lang="pt-BR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𝐵</m:t>
                            </m:r>
                          </m:e>
                        </m:d>
                      </m:num>
                      <m:den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</m:oMath>
                </a14:m>
                <a:endParaRPr lang="pt-BR" dirty="0"/>
              </a:p>
              <a:p>
                <a:pPr lvl="1"/>
                <a:r>
                  <a:rPr lang="pt-BR" dirty="0"/>
                  <a:t>10 dB: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b="0" i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pt-BR" b="0" i="0" smtClean="0">
                            <a:latin typeface="Cambria Math" panose="02040503050406030204" pitchFamily="18" charset="0"/>
                          </a:rPr>
                          <m:t>Ψ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𝑥</m:t>
                        </m:r>
                      </m:sub>
                    </m:sSub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d>
                    <m:r>
                      <a:rPr lang="pt-BR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pt-BR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pt-BR" b="0" i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pt-BR" b="0" i="0" smtClean="0">
                                <a:latin typeface="Cambria Math" panose="02040503050406030204" pitchFamily="18" charset="0"/>
                              </a:rPr>
                              <m:t>Ψ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𝑚𝑎𝑥</m:t>
                            </m:r>
                          </m:sub>
                        </m:sSub>
                        <m:d>
                          <m:d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𝐵</m:t>
                            </m:r>
                          </m:e>
                        </m:d>
                      </m:num>
                      <m:den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10</m:t>
                        </m:r>
                      </m:den>
                    </m:f>
                  </m:oMath>
                </a14:m>
                <a:endParaRPr lang="pt-BR" dirty="0"/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648C5877-4C25-ADC5-0EAD-789F960219E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261872"/>
                <a:ext cx="4712208" cy="4685017"/>
              </a:xfrm>
              <a:blipFill>
                <a:blip r:embed="rId4"/>
                <a:stretch>
                  <a:fillRect l="-2329" t="-2081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1" name="Conector reto 10">
            <a:extLst>
              <a:ext uri="{FF2B5EF4-FFF2-40B4-BE49-F238E27FC236}">
                <a16:creationId xmlns:a16="http://schemas.microsoft.com/office/drawing/2014/main" id="{F1BD228A-F5E2-7158-2B63-79627154F0F0}"/>
              </a:ext>
            </a:extLst>
          </p:cNvPr>
          <p:cNvCxnSpPr/>
          <p:nvPr/>
        </p:nvCxnSpPr>
        <p:spPr>
          <a:xfrm>
            <a:off x="9528048" y="4626864"/>
            <a:ext cx="0" cy="338328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Conector reto 12">
            <a:extLst>
              <a:ext uri="{FF2B5EF4-FFF2-40B4-BE49-F238E27FC236}">
                <a16:creationId xmlns:a16="http://schemas.microsoft.com/office/drawing/2014/main" id="{56BF5171-A371-308A-EE5A-362DD732539B}"/>
              </a:ext>
            </a:extLst>
          </p:cNvPr>
          <p:cNvCxnSpPr/>
          <p:nvPr/>
        </p:nvCxnSpPr>
        <p:spPr>
          <a:xfrm>
            <a:off x="9208008" y="3364992"/>
            <a:ext cx="0" cy="1536192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CaixaDeTexto 13">
            <a:extLst>
              <a:ext uri="{FF2B5EF4-FFF2-40B4-BE49-F238E27FC236}">
                <a16:creationId xmlns:a16="http://schemas.microsoft.com/office/drawing/2014/main" id="{BA10A977-FB28-1B67-7759-8259EA9BE525}"/>
              </a:ext>
            </a:extLst>
          </p:cNvPr>
          <p:cNvSpPr txBox="1"/>
          <p:nvPr/>
        </p:nvSpPr>
        <p:spPr>
          <a:xfrm>
            <a:off x="8800425" y="4956048"/>
            <a:ext cx="59503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400" dirty="0"/>
              <a:t>0,443</a:t>
            </a:r>
          </a:p>
        </p:txBody>
      </p:sp>
      <p:sp>
        <p:nvSpPr>
          <p:cNvPr id="16" name="CaixaDeTexto 15">
            <a:extLst>
              <a:ext uri="{FF2B5EF4-FFF2-40B4-BE49-F238E27FC236}">
                <a16:creationId xmlns:a16="http://schemas.microsoft.com/office/drawing/2014/main" id="{DE25324C-EC13-7E7F-CDE9-FD998FC9D89A}"/>
              </a:ext>
            </a:extLst>
          </p:cNvPr>
          <p:cNvSpPr txBox="1"/>
          <p:nvPr/>
        </p:nvSpPr>
        <p:spPr>
          <a:xfrm>
            <a:off x="9208008" y="5073552"/>
            <a:ext cx="84038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400" dirty="0"/>
              <a:t>0,797</a:t>
            </a:r>
          </a:p>
        </p:txBody>
      </p:sp>
    </p:spTree>
    <p:extLst>
      <p:ext uri="{BB962C8B-B14F-4D97-AF65-F5344CB8AC3E}">
        <p14:creationId xmlns:p14="http://schemas.microsoft.com/office/powerpoint/2010/main" val="49837758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E407DC-3497-77E1-C9F2-C3707AED0D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4F75EBA-36D1-147F-7267-11C4D73155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Largura de Banda</a:t>
            </a:r>
            <a:br>
              <a:rPr lang="pt-BR" dirty="0"/>
            </a:br>
            <a:r>
              <a:rPr lang="pt-BR" dirty="0"/>
              <a:t>Definições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54E5FC93-ADD6-87A8-3F79-50004FA3EA2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261872"/>
            <a:ext cx="10515600" cy="4685017"/>
          </a:xfrm>
        </p:spPr>
        <p:txBody>
          <a:bodyPr/>
          <a:lstStyle/>
          <a:p>
            <a:r>
              <a:rPr lang="pt-BR" dirty="0"/>
              <a:t>Banda pode ser definida pela porcentagem de energia contida em uma parte do espectro</a:t>
            </a:r>
          </a:p>
        </p:txBody>
      </p:sp>
      <p:pic>
        <p:nvPicPr>
          <p:cNvPr id="5" name="Imagem 4">
            <a:extLst>
              <a:ext uri="{FF2B5EF4-FFF2-40B4-BE49-F238E27FC236}">
                <a16:creationId xmlns:a16="http://schemas.microsoft.com/office/drawing/2014/main" id="{120E25B7-3E05-5B08-908D-251BB8EB57D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68424" y="2298999"/>
            <a:ext cx="7991866" cy="3995933"/>
          </a:xfrm>
          <a:prstGeom prst="rect">
            <a:avLst/>
          </a:prstGeom>
        </p:spPr>
      </p:pic>
      <p:sp>
        <p:nvSpPr>
          <p:cNvPr id="6" name="CaixaDeTexto 5">
            <a:extLst>
              <a:ext uri="{FF2B5EF4-FFF2-40B4-BE49-F238E27FC236}">
                <a16:creationId xmlns:a16="http://schemas.microsoft.com/office/drawing/2014/main" id="{64351C14-D891-8100-53C7-F56F50022AC5}"/>
              </a:ext>
            </a:extLst>
          </p:cNvPr>
          <p:cNvSpPr txBox="1"/>
          <p:nvPr/>
        </p:nvSpPr>
        <p:spPr>
          <a:xfrm>
            <a:off x="6336792" y="5849995"/>
            <a:ext cx="50366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400" dirty="0"/>
              <a:t>1,89</a:t>
            </a:r>
          </a:p>
        </p:txBody>
      </p:sp>
      <p:sp>
        <p:nvSpPr>
          <p:cNvPr id="8" name="CaixaDeTexto 7">
            <a:extLst>
              <a:ext uri="{FF2B5EF4-FFF2-40B4-BE49-F238E27FC236}">
                <a16:creationId xmlns:a16="http://schemas.microsoft.com/office/drawing/2014/main" id="{A2D4622F-6F26-4CAD-B649-A11AC81D41E1}"/>
              </a:ext>
            </a:extLst>
          </p:cNvPr>
          <p:cNvSpPr txBox="1"/>
          <p:nvPr/>
        </p:nvSpPr>
        <p:spPr>
          <a:xfrm>
            <a:off x="6704838" y="5933139"/>
            <a:ext cx="646938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sz="1400" dirty="0"/>
              <a:t>2,82</a:t>
            </a:r>
          </a:p>
        </p:txBody>
      </p:sp>
      <p:sp>
        <p:nvSpPr>
          <p:cNvPr id="12" name="CaixaDeTexto 11">
            <a:extLst>
              <a:ext uri="{FF2B5EF4-FFF2-40B4-BE49-F238E27FC236}">
                <a16:creationId xmlns:a16="http://schemas.microsoft.com/office/drawing/2014/main" id="{BA977804-8846-14FA-AE19-161FCE46C9E8}"/>
              </a:ext>
            </a:extLst>
          </p:cNvPr>
          <p:cNvSpPr txBox="1"/>
          <p:nvPr/>
        </p:nvSpPr>
        <p:spPr>
          <a:xfrm>
            <a:off x="8951214" y="6003883"/>
            <a:ext cx="646938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sz="1400" dirty="0"/>
              <a:t>10,27</a:t>
            </a:r>
          </a:p>
        </p:txBody>
      </p:sp>
    </p:spTree>
    <p:extLst>
      <p:ext uri="{BB962C8B-B14F-4D97-AF65-F5344CB8AC3E}">
        <p14:creationId xmlns:p14="http://schemas.microsoft.com/office/powerpoint/2010/main" val="425496472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0B81E18-8953-DA7E-C86B-ACD0246F77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Sistemas</a:t>
            </a:r>
            <a:br>
              <a:rPr lang="pt-BR" dirty="0"/>
            </a:br>
            <a:r>
              <a:rPr lang="pt-BR" dirty="0"/>
              <a:t>Energia na Saída de Sistemas Lineares</a:t>
            </a:r>
          </a:p>
        </p:txBody>
      </p:sp>
      <p:sp>
        <p:nvSpPr>
          <p:cNvPr id="4" name="Retângulo 3">
            <a:extLst>
              <a:ext uri="{FF2B5EF4-FFF2-40B4-BE49-F238E27FC236}">
                <a16:creationId xmlns:a16="http://schemas.microsoft.com/office/drawing/2014/main" id="{9C8A37EA-C7EE-2144-F49C-0945B0ADBEF3}"/>
              </a:ext>
            </a:extLst>
          </p:cNvPr>
          <p:cNvSpPr/>
          <p:nvPr/>
        </p:nvSpPr>
        <p:spPr>
          <a:xfrm>
            <a:off x="4687546" y="2602292"/>
            <a:ext cx="2024742" cy="81634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dirty="0"/>
              <a:t>Sistema Linear</a:t>
            </a:r>
          </a:p>
          <a:p>
            <a:pPr algn="ctr"/>
            <a:r>
              <a:rPr lang="pt-BR" dirty="0"/>
              <a:t>H(f)</a:t>
            </a:r>
          </a:p>
        </p:txBody>
      </p:sp>
      <p:cxnSp>
        <p:nvCxnSpPr>
          <p:cNvPr id="5" name="Conector de Seta Reta 4">
            <a:extLst>
              <a:ext uri="{FF2B5EF4-FFF2-40B4-BE49-F238E27FC236}">
                <a16:creationId xmlns:a16="http://schemas.microsoft.com/office/drawing/2014/main" id="{93F34EA4-92D9-799C-4120-3D91721810D4}"/>
              </a:ext>
            </a:extLst>
          </p:cNvPr>
          <p:cNvCxnSpPr>
            <a:cxnSpLocks/>
          </p:cNvCxnSpPr>
          <p:nvPr/>
        </p:nvCxnSpPr>
        <p:spPr>
          <a:xfrm>
            <a:off x="3827574" y="3010467"/>
            <a:ext cx="859972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Conector de Seta Reta 5">
            <a:extLst>
              <a:ext uri="{FF2B5EF4-FFF2-40B4-BE49-F238E27FC236}">
                <a16:creationId xmlns:a16="http://schemas.microsoft.com/office/drawing/2014/main" id="{56DE3E37-8E23-B876-8118-FD151E113703}"/>
              </a:ext>
            </a:extLst>
          </p:cNvPr>
          <p:cNvCxnSpPr>
            <a:cxnSpLocks/>
          </p:cNvCxnSpPr>
          <p:nvPr/>
        </p:nvCxnSpPr>
        <p:spPr>
          <a:xfrm>
            <a:off x="6723171" y="3043121"/>
            <a:ext cx="859972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CaixaDeTexto 6">
                <a:extLst>
                  <a:ext uri="{FF2B5EF4-FFF2-40B4-BE49-F238E27FC236}">
                    <a16:creationId xmlns:a16="http://schemas.microsoft.com/office/drawing/2014/main" id="{55B4AAB1-C8F9-B638-230B-C3CF1D27880D}"/>
                  </a:ext>
                </a:extLst>
              </p:cNvPr>
              <p:cNvSpPr txBox="1"/>
              <p:nvPr/>
            </p:nvSpPr>
            <p:spPr>
              <a:xfrm>
                <a:off x="3698055" y="2597658"/>
                <a:ext cx="654731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pt-BR" b="0" i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pt-BR" b="0" i="0" smtClean="0">
                              <a:latin typeface="Cambria Math" panose="02040503050406030204" pitchFamily="18" charset="0"/>
                            </a:rPr>
                            <m:t>Ψ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sub>
                      </m:sSub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𝑓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pt-BR" dirty="0"/>
              </a:p>
            </p:txBody>
          </p:sp>
        </mc:Choice>
        <mc:Fallback xmlns="">
          <p:sp>
            <p:nvSpPr>
              <p:cNvPr id="7" name="CaixaDeTexto 6">
                <a:extLst>
                  <a:ext uri="{FF2B5EF4-FFF2-40B4-BE49-F238E27FC236}">
                    <a16:creationId xmlns:a16="http://schemas.microsoft.com/office/drawing/2014/main" id="{55B4AAB1-C8F9-B638-230B-C3CF1D27880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98055" y="2597658"/>
                <a:ext cx="654731" cy="276999"/>
              </a:xfrm>
              <a:prstGeom prst="rect">
                <a:avLst/>
              </a:prstGeom>
              <a:blipFill>
                <a:blip r:embed="rId2"/>
                <a:stretch>
                  <a:fillRect l="-8411" t="-2174" r="-13084" b="-32609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CaixaDeTexto 13">
                <a:extLst>
                  <a:ext uri="{FF2B5EF4-FFF2-40B4-BE49-F238E27FC236}">
                    <a16:creationId xmlns:a16="http://schemas.microsoft.com/office/drawing/2014/main" id="{D5D6A4F5-73D2-2407-3B37-BA123C1D6ECE}"/>
                  </a:ext>
                </a:extLst>
              </p:cNvPr>
              <p:cNvSpPr txBox="1"/>
              <p:nvPr/>
            </p:nvSpPr>
            <p:spPr>
              <a:xfrm>
                <a:off x="6851279" y="2553288"/>
                <a:ext cx="2318199" cy="30444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pt-BR" b="0" i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pt-BR" b="0" i="0" smtClean="0">
                              <a:latin typeface="Cambria Math" panose="02040503050406030204" pitchFamily="18" charset="0"/>
                            </a:rPr>
                            <m:t>Ψ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sub>
                      </m:sSub>
                      <m:d>
                        <m:d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</m:d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begChr m:val="|"/>
                              <m:endChr m:val="|"/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𝐻</m:t>
                              </m:r>
                              <m:d>
                                <m:dPr>
                                  <m:ctrlPr>
                                    <a:rPr lang="pt-BR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</a:rPr>
                                    <m:t>𝑓</m:t>
                                  </m:r>
                                </m:e>
                              </m:d>
                            </m:e>
                          </m:d>
                        </m:e>
                        <m:sup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sSub>
                        <m:sSubPr>
                          <m:ctrlPr>
                            <a:rPr lang="pt-BR" b="0" i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pt-BR" b="0" i="0" smtClean="0">
                              <a:latin typeface="Cambria Math" panose="02040503050406030204" pitchFamily="18" charset="0"/>
                            </a:rPr>
                            <m:t>Ψ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sub>
                      </m:sSub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𝑓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pt-BR" dirty="0"/>
              </a:p>
            </p:txBody>
          </p:sp>
        </mc:Choice>
        <mc:Fallback xmlns="">
          <p:sp>
            <p:nvSpPr>
              <p:cNvPr id="14" name="CaixaDeTexto 13">
                <a:extLst>
                  <a:ext uri="{FF2B5EF4-FFF2-40B4-BE49-F238E27FC236}">
                    <a16:creationId xmlns:a16="http://schemas.microsoft.com/office/drawing/2014/main" id="{D5D6A4F5-73D2-2407-3B37-BA123C1D6EC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51279" y="2553288"/>
                <a:ext cx="2318199" cy="304442"/>
              </a:xfrm>
              <a:prstGeom prst="rect">
                <a:avLst/>
              </a:prstGeom>
              <a:blipFill>
                <a:blip r:embed="rId3"/>
                <a:stretch>
                  <a:fillRect l="-2105" r="-3158" b="-26000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87287203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51AEAF9-3F96-3611-65CC-68467FC102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Correlação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23F4A019-5BA5-163F-5182-86AC70C0036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pt-BR" dirty="0"/>
                  <a:t>Correlação entre 2 sinais é dada por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𝑥𝑦</m:t>
                          </m:r>
                        </m:sub>
                      </m:sSub>
                      <m:d>
                        <m:d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𝜏</m:t>
                          </m:r>
                        </m:e>
                      </m:d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pt-BR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∞</m:t>
                          </m:r>
                        </m:sub>
                        <m:sup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∞</m:t>
                          </m:r>
                        </m:sup>
                        <m:e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d>
                            <m:dPr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</m:d>
                          <m:sSup>
                            <m:sSupPr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p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∗</m:t>
                              </m:r>
                            </m:sup>
                          </m:sSup>
                          <m:d>
                            <m:dPr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𝜏</m:t>
                              </m:r>
                            </m:e>
                          </m:d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𝑑𝑡</m:t>
                          </m:r>
                        </m:e>
                      </m:nary>
                    </m:oMath>
                  </m:oMathPara>
                </a14:m>
                <a:endParaRPr lang="pt-BR" dirty="0"/>
              </a:p>
              <a:p>
                <a:pPr marL="0" indent="0">
                  <a:buNone/>
                </a:pPr>
                <a:endParaRPr lang="pt-BR" dirty="0"/>
              </a:p>
              <a:p>
                <a:r>
                  <a:rPr lang="pt-BR" dirty="0"/>
                  <a:t>É  o produto interno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𝑥𝑦</m:t>
                          </m:r>
                        </m:sub>
                      </m:sSub>
                      <m:d>
                        <m:d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𝜏</m:t>
                          </m:r>
                        </m:e>
                      </m:d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=&lt;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𝑥</m:t>
                      </m:r>
                      <m:d>
                        <m:d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, 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𝑦</m:t>
                      </m:r>
                      <m:d>
                        <m:d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𝜏</m:t>
                          </m:r>
                        </m:e>
                      </m:d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&gt;</m:t>
                      </m:r>
                    </m:oMath>
                  </m:oMathPara>
                </a14:m>
                <a:endParaRPr lang="pt-BR" b="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endParaRPr lang="pt-BR" b="0" i="1" dirty="0">
                  <a:latin typeface="Cambria Math" panose="02040503050406030204" pitchFamily="18" charset="0"/>
                </a:endParaRPr>
              </a:p>
              <a:p>
                <a:r>
                  <a:rPr lang="pt-BR" dirty="0"/>
                  <a:t>A autocorrelação e a Convolução</a:t>
                </a:r>
                <a14:m>
                  <m:oMath xmlns:m="http://schemas.openxmlformats.org/officeDocument/2006/math">
                    <m:r>
                      <a:rPr lang="pt-BR" b="0" i="0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endParaRPr lang="pt-BR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𝑥𝑦</m:t>
                          </m:r>
                        </m:sub>
                      </m:sSub>
                      <m:d>
                        <m:d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𝑥</m:t>
                      </m:r>
                      <m:d>
                        <m:d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∗</m:t>
                      </m:r>
                      <m:sSup>
                        <m:sSup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p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p>
                      <m:d>
                        <m:d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 </m:t>
                      </m:r>
                    </m:oMath>
                  </m:oMathPara>
                </a14:m>
                <a:endParaRPr lang="pt-BR" dirty="0"/>
              </a:p>
              <a:p>
                <a:pPr marL="0" indent="0">
                  <a:buNone/>
                </a:pPr>
                <a:endParaRPr lang="pt-BR" dirty="0"/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23F4A019-5BA5-163F-5182-86AC70C0036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381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14221632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B840DAE-B6F4-95FE-E847-0325180325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Autocorrelação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8BF6F27A-716D-5BB6-75CB-6965F2B1C84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595551"/>
                <a:ext cx="10515600" cy="4351338"/>
              </a:xfrm>
            </p:spPr>
            <p:txBody>
              <a:bodyPr/>
              <a:lstStyle/>
              <a:p>
                <a:r>
                  <a:rPr lang="pt-BR" dirty="0"/>
                  <a:t>É a correlação de um sinal com ele mesmo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𝑥</m:t>
                          </m:r>
                        </m:sub>
                      </m:sSub>
                      <m:d>
                        <m:d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𝜏</m:t>
                          </m:r>
                        </m:e>
                      </m:d>
                      <m:r>
                        <a:rPr lang="pt-BR" i="1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pt-BR" i="1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∞</m:t>
                          </m:r>
                        </m:sub>
                        <m:sup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∞</m:t>
                          </m:r>
                        </m:sup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𝑥</m:t>
                          </m:r>
                          <m:d>
                            <m:d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</m:d>
                          <m:sSup>
                            <m:sSupPr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∗</m:t>
                              </m:r>
                            </m:sup>
                          </m:sSup>
                          <m:d>
                            <m:d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𝜏</m:t>
                              </m:r>
                            </m:e>
                          </m:d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𝑑𝑡</m:t>
                          </m:r>
                        </m:e>
                      </m:nary>
                    </m:oMath>
                  </m:oMathPara>
                </a14:m>
                <a:endParaRPr lang="pt-BR" dirty="0"/>
              </a:p>
              <a:p>
                <a:pPr marL="0" indent="0">
                  <a:buNone/>
                </a:pPr>
                <a:endParaRPr lang="pt-BR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sub>
                      </m:sSub>
                      <m:d>
                        <m:d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𝐸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sub>
                      </m:sSub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&gt;0</m:t>
                      </m:r>
                    </m:oMath>
                  </m:oMathPara>
                </a14:m>
                <a:endParaRPr lang="pt-BR" b="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d>
                            <m:dPr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𝜏</m:t>
                              </m:r>
                            </m:e>
                          </m:d>
                        </m:sub>
                      </m:sSub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=</m:t>
                      </m:r>
                      <m:sSubSup>
                        <m:sSubSup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sub>
                        <m:sup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bSup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𝜏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pt-BR" b="0" dirty="0"/>
              </a:p>
              <a:p>
                <a:pPr marL="0" indent="0">
                  <a:buNone/>
                </a:pPr>
                <a:endParaRPr lang="pt-BR" dirty="0"/>
              </a:p>
              <a:p>
                <a:pPr marL="0" indent="0">
                  <a:buNone/>
                </a:pPr>
                <a:endParaRPr lang="pt-BR" dirty="0"/>
              </a:p>
              <a:p>
                <a:pPr marL="0" indent="0">
                  <a:buNone/>
                </a:pPr>
                <a:endParaRPr lang="pt-BR" dirty="0"/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8BF6F27A-716D-5BB6-75CB-6965F2B1C84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595551"/>
                <a:ext cx="10515600" cy="4351338"/>
              </a:xfrm>
              <a:blipFill>
                <a:blip r:embed="rId2"/>
                <a:stretch>
                  <a:fillRect l="-1043" t="-2381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Retângulo 5">
            <a:extLst>
              <a:ext uri="{FF2B5EF4-FFF2-40B4-BE49-F238E27FC236}">
                <a16:creationId xmlns:a16="http://schemas.microsoft.com/office/drawing/2014/main" id="{F99110C4-42FC-8651-7BA9-73DFB1AFAAC3}"/>
              </a:ext>
            </a:extLst>
          </p:cNvPr>
          <p:cNvSpPr/>
          <p:nvPr/>
        </p:nvSpPr>
        <p:spPr>
          <a:xfrm>
            <a:off x="4669971" y="3265714"/>
            <a:ext cx="2100943" cy="533400"/>
          </a:xfrm>
          <a:prstGeom prst="rect">
            <a:avLst/>
          </a:prstGeom>
          <a:solidFill>
            <a:schemeClr val="accent1">
              <a:alpha val="3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9094831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3E5D71E-B9E1-10C9-492C-0D269F3FB5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Autocorrelação</a:t>
            </a:r>
            <a:br>
              <a:rPr lang="pt-BR" dirty="0"/>
            </a:br>
            <a:r>
              <a:rPr lang="pt-BR" dirty="0"/>
              <a:t>Exemplo</a:t>
            </a:r>
          </a:p>
        </p:txBody>
      </p:sp>
      <p:pic>
        <p:nvPicPr>
          <p:cNvPr id="4" name="Imagem 3">
            <a:extLst>
              <a:ext uri="{FF2B5EF4-FFF2-40B4-BE49-F238E27FC236}">
                <a16:creationId xmlns:a16="http://schemas.microsoft.com/office/drawing/2014/main" id="{1ACA7AE4-EAF5-25D1-AD67-20C86779EEB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52692" y="1393695"/>
            <a:ext cx="7854397" cy="47676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4662743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F38AFAC-6B1A-5A8B-5178-D62DE52DA5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Autocorrelação e Densidade Espectral de Energia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8656560E-6986-0B00-EC67-C557AC13E9D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199" y="1360714"/>
                <a:ext cx="10635343" cy="4887686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Teorema de Wiener-</a:t>
                </a:r>
                <a:r>
                  <a:rPr lang="pt-BR" dirty="0" err="1"/>
                  <a:t>Kinchin</a:t>
                </a:r>
                <a:endParaRPr lang="pt-BR" dirty="0"/>
              </a:p>
              <a:p>
                <a:endParaRPr lang="pt-BR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pt-BR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ℱ</m:t>
                      </m:r>
                      <m:d>
                        <m:dPr>
                          <m:begChr m:val="{"/>
                          <m:endChr m:val="}"/>
                          <m:ctrlPr>
                            <a:rPr lang="pt-B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𝑅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𝑥</m:t>
                              </m:r>
                            </m:sub>
                          </m:sSub>
                          <m:d>
                            <m:dPr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𝜏</m:t>
                              </m:r>
                            </m:e>
                          </m:d>
                        </m:e>
                      </m:d>
                      <m:r>
                        <a:rPr lang="pt-B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pt-BR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pt-BR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Ψ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</m:sub>
                      </m:sSub>
                      <m:r>
                        <a:rPr lang="pt-B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(</m:t>
                      </m:r>
                      <m:r>
                        <a:rPr lang="pt-B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𝑓</m:t>
                      </m:r>
                      <m:r>
                        <a:rPr lang="pt-B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pt-BR" dirty="0"/>
              </a:p>
              <a:p>
                <a:pPr marL="0" indent="0">
                  <a:buNone/>
                </a:pPr>
                <a:r>
                  <a:rPr lang="pt-BR" dirty="0"/>
                  <a:t>Exemplo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𝑥</m:t>
                      </m:r>
                      <m:d>
                        <m:d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sty m:val="p"/>
                        </m:rPr>
                        <a:rPr lang="pt-BR" b="0" i="0" smtClean="0">
                          <a:latin typeface="Cambria Math" panose="02040503050406030204" pitchFamily="18" charset="0"/>
                        </a:rPr>
                        <m:t>rect</m:t>
                      </m:r>
                      <m:d>
                        <m:d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num>
                            <m:den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den>
                          </m:f>
                        </m:e>
                      </m:d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⇒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𝑋</m:t>
                      </m:r>
                      <m:d>
                        <m:d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</m:d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𝐴𝑇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sty m:val="p"/>
                        </m:rPr>
                        <a:rPr lang="pt-BR" b="0" i="0" smtClean="0">
                          <a:latin typeface="Cambria Math" panose="02040503050406030204" pitchFamily="18" charset="0"/>
                        </a:rPr>
                        <m:t>sinc</m:t>
                      </m:r>
                      <m:d>
                        <m:d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𝑓𝑇</m:t>
                          </m:r>
                        </m:e>
                      </m:d>
                    </m:oMath>
                  </m:oMathPara>
                </a14:m>
                <a:endParaRPr lang="pt-BR" b="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⇒</m:t>
                      </m:r>
                      <m:sSub>
                        <m:sSubPr>
                          <m:ctrlPr>
                            <a:rPr lang="pt-BR" b="0" i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pt-BR" b="0" i="0" smtClean="0">
                              <a:latin typeface="Cambria Math" panose="02040503050406030204" pitchFamily="18" charset="0"/>
                            </a:rPr>
                            <m:t>Ψ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sub>
                      </m:sSub>
                      <m:d>
                        <m:d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</m:d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begChr m:val="|"/>
                              <m:endChr m:val="|"/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𝑋</m:t>
                              </m:r>
                              <m:d>
                                <m:dPr>
                                  <m:ctrlPr>
                                    <a:rPr lang="pt-BR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</a:rPr>
                                    <m:t>𝑓</m:t>
                                  </m:r>
                                </m:e>
                              </m:d>
                            </m:e>
                          </m:d>
                        </m:e>
                        <m:sup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  <m:sup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sSup>
                        <m:sSup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p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sty m:val="p"/>
                        </m:rPr>
                        <a:rPr lang="pt-BR" b="0" i="0" smtClean="0">
                          <a:latin typeface="Cambria Math" panose="02040503050406030204" pitchFamily="18" charset="0"/>
                        </a:rPr>
                        <m:t>sin</m:t>
                      </m:r>
                      <m:sSup>
                        <m:sSupPr>
                          <m:ctrlPr>
                            <a:rPr lang="pt-BR" b="0" i="0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m:rPr>
                              <m:sty m:val="p"/>
                            </m:rPr>
                            <a:rPr lang="pt-BR" b="0" i="0" smtClean="0">
                              <a:latin typeface="Cambria Math" panose="02040503050406030204" pitchFamily="18" charset="0"/>
                            </a:rPr>
                            <m:t>c</m:t>
                          </m:r>
                        </m:e>
                        <m:sup>
                          <m:r>
                            <a:rPr lang="pt-BR" b="0" i="0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𝜋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𝑓𝑇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pt-BR" dirty="0"/>
              </a:p>
              <a:p>
                <a:pPr marL="0" indent="0">
                  <a:buNone/>
                </a:pPr>
                <a:r>
                  <a:rPr lang="pt-BR" dirty="0"/>
                  <a:t>ou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sub>
                      </m:sSub>
                      <m:d>
                        <m:d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𝜏</m:t>
                          </m:r>
                        </m:e>
                      </m:d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𝑇𝐴</m:t>
                          </m:r>
                        </m:e>
                        <m:sup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2 </m:t>
                          </m:r>
                        </m:sup>
                      </m:sSup>
                      <m:r>
                        <m:rPr>
                          <m:sty m:val="p"/>
                        </m:rPr>
                        <a:rPr lang="pt-BR" b="0" i="0" smtClean="0">
                          <a:latin typeface="Cambria Math" panose="02040503050406030204" pitchFamily="18" charset="0"/>
                        </a:rPr>
                        <m:t>tri</m:t>
                      </m:r>
                      <m:d>
                        <m:d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num>
                            <m:den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den>
                          </m:f>
                        </m:e>
                      </m:d>
                    </m:oMath>
                  </m:oMathPara>
                </a14:m>
                <a:endParaRPr lang="pt-BR" b="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⇒</m:t>
                      </m:r>
                      <m:sSub>
                        <m:sSubPr>
                          <m:ctrlPr>
                            <a:rPr lang="pt-BR" b="0" i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pt-BR" b="0" i="0" smtClean="0">
                              <a:latin typeface="Cambria Math" panose="02040503050406030204" pitchFamily="18" charset="0"/>
                            </a:rPr>
                            <m:t>Ψ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sub>
                      </m:sSub>
                      <m:d>
                        <m:d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</m:d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pt-BR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ℱ</m:t>
                      </m:r>
                      <m:d>
                        <m:dPr>
                          <m:begChr m:val="{"/>
                          <m:endChr m:val="}"/>
                          <m:ctrlPr>
                            <a:rPr lang="pt-B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pt-B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𝑅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𝑥</m:t>
                              </m:r>
                            </m:sub>
                          </m:sSub>
                          <m:d>
                            <m:dPr>
                              <m:ctrlPr>
                                <a:rPr lang="pt-B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𝜏</m:t>
                              </m:r>
                            </m:e>
                          </m:d>
                        </m:e>
                      </m:d>
                      <m:r>
                        <a:rPr lang="pt-B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pt-B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pt-B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𝐴</m:t>
                          </m:r>
                        </m:e>
                        <m:sup>
                          <m:r>
                            <a:rPr lang="pt-B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sSup>
                        <m:sSupPr>
                          <m:ctrlPr>
                            <a:rPr lang="pt-B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pt-B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𝑇</m:t>
                          </m:r>
                        </m:e>
                        <m:sup>
                          <m:r>
                            <a:rPr lang="pt-B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m:rPr>
                          <m:sty m:val="p"/>
                        </m:rPr>
                        <a:rPr lang="pt-BR">
                          <a:latin typeface="Cambria Math" panose="02040503050406030204" pitchFamily="18" charset="0"/>
                        </a:rPr>
                        <m:t>sin</m:t>
                      </m:r>
                      <m:sSup>
                        <m:sSupPr>
                          <m:ctrlPr>
                            <a:rPr lang="pt-BR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m:rPr>
                              <m:sty m:val="p"/>
                            </m:rPr>
                            <a:rPr lang="pt-BR">
                              <a:latin typeface="Cambria Math" panose="02040503050406030204" pitchFamily="18" charset="0"/>
                            </a:rPr>
                            <m:t>c</m:t>
                          </m:r>
                        </m:e>
                        <m:sup>
                          <m:r>
                            <a:rPr lang="pt-BR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pt-BR" i="1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𝜋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𝑓𝑇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pt-BR" dirty="0"/>
              </a:p>
              <a:p>
                <a:pPr marL="0" indent="0">
                  <a:buNone/>
                </a:pPr>
                <a:endParaRPr lang="pt-BR" dirty="0"/>
              </a:p>
              <a:p>
                <a:endParaRPr lang="pt-BR" dirty="0"/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8656560E-6986-0B00-EC67-C557AC13E9D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9" y="1360714"/>
                <a:ext cx="10635343" cy="4887686"/>
              </a:xfrm>
              <a:blipFill>
                <a:blip r:embed="rId2"/>
                <a:stretch>
                  <a:fillRect l="-1146" t="-1995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40025157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1A9438B-43D2-072A-5DBB-CE42332E421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47657" y="1367660"/>
            <a:ext cx="5617700" cy="1579289"/>
          </a:xfrm>
        </p:spPr>
        <p:txBody>
          <a:bodyPr/>
          <a:lstStyle/>
          <a:p>
            <a:r>
              <a:rPr lang="pt-BR" dirty="0"/>
              <a:t>Densidade Espectral de Potência</a:t>
            </a:r>
          </a:p>
        </p:txBody>
      </p:sp>
    </p:spTree>
    <p:extLst>
      <p:ext uri="{BB962C8B-B14F-4D97-AF65-F5344CB8AC3E}">
        <p14:creationId xmlns:p14="http://schemas.microsoft.com/office/powerpoint/2010/main" val="115744775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6184A3A-A842-ECF6-30C7-F198685ED9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Densidade Espectral de Potência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19BDF9A6-27F2-2ED6-3D37-ECE0111CFAD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175657"/>
                <a:ext cx="10515600" cy="4771232"/>
              </a:xfrm>
            </p:spPr>
            <p:txBody>
              <a:bodyPr/>
              <a:lstStyle/>
              <a:p>
                <a:r>
                  <a:rPr lang="pt-BR" dirty="0"/>
                  <a:t>E para sinais de Potência?</a:t>
                </a:r>
              </a:p>
              <a:p>
                <a:r>
                  <a:rPr lang="pt-BR" dirty="0"/>
                  <a:t>Queremos algo que permita achar a potência em uma banda, da forma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pt-BR" b="0" i="1" smtClean="0">
                              <a:latin typeface="Cambria Math" panose="02040503050406030204" pitchFamily="18" charset="0"/>
                            </a:rPr>
                            <m:t>𝐵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sub>
                          </m:sSub>
                          <m:d>
                            <m:dPr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e>
                          </m:d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𝑑𝑓</m:t>
                          </m:r>
                        </m:e>
                      </m:nary>
                    </m:oMath>
                  </m:oMathPara>
                </a14:m>
                <a:endParaRPr lang="pt-BR" dirty="0"/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19BDF9A6-27F2-2ED6-3D37-ECE0111CFAD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175657"/>
                <a:ext cx="10515600" cy="4771232"/>
              </a:xfrm>
              <a:blipFill>
                <a:blip r:embed="rId2"/>
                <a:stretch>
                  <a:fillRect l="-1043" t="-2171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Imagem 4">
            <a:extLst>
              <a:ext uri="{FF2B5EF4-FFF2-40B4-BE49-F238E27FC236}">
                <a16:creationId xmlns:a16="http://schemas.microsoft.com/office/drawing/2014/main" id="{C10584BC-3F1F-CB76-AAB9-2B543B0B000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21424" y="3483424"/>
            <a:ext cx="6749152" cy="33745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3218562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6034DC4-EA76-DEF8-DBA6-992F0488BD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Densidade Espectral de Potência (PSD)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A6AE0692-500B-C2BA-9C4C-7685380FCD0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415143"/>
                <a:ext cx="10515600" cy="4531746"/>
              </a:xfrm>
            </p:spPr>
            <p:txBody>
              <a:bodyPr/>
              <a:lstStyle/>
              <a:p>
                <a:r>
                  <a:rPr lang="pt-BR" dirty="0"/>
                  <a:t>Lembrando que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sub>
                    </m:sSub>
                    <m:r>
                      <a:rPr lang="pt-BR" b="0" i="1" smtClean="0">
                        <a:latin typeface="Cambria Math" panose="02040503050406030204" pitchFamily="18" charset="0"/>
                      </a:rPr>
                      <m:t>=</m:t>
                    </m:r>
                    <m:func>
                      <m:funcPr>
                        <m:ctrlPr>
                          <a:rPr lang="pt-BR" b="0" i="1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limLow>
                          <m:limLowPr>
                            <m:ctrlPr>
                              <a:rPr lang="pt-BR" b="0" i="0" smtClean="0">
                                <a:latin typeface="Cambria Math" panose="02040503050406030204" pitchFamily="18" charset="0"/>
                              </a:rPr>
                            </m:ctrlPr>
                          </m:limLowPr>
                          <m:e>
                            <m:r>
                              <m:rPr>
                                <m:sty m:val="p"/>
                              </m:rPr>
                              <a:rPr lang="pt-BR" b="0" i="0" smtClean="0">
                                <a:latin typeface="Cambria Math" panose="02040503050406030204" pitchFamily="18" charset="0"/>
                              </a:rPr>
                              <m:t>lim</m:t>
                            </m:r>
                          </m:e>
                          <m:lim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𝑇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→∞</m:t>
                            </m:r>
                          </m:lim>
                        </m:limLow>
                      </m:fName>
                      <m:e>
                        <m:f>
                          <m:fPr>
                            <m:ctrlPr>
                              <a:rPr lang="pt-BR" b="0" i="1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num>
                          <m:den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𝑇</m:t>
                            </m:r>
                          </m:den>
                        </m:f>
                        <m:nary>
                          <m:naryPr>
                            <m:ctrlPr>
                              <a:rPr lang="pt-BR" b="0" i="1" smtClean="0"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m:rPr>
                                <m:brk m:alnAt="23"/>
                              </m:rP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f>
                              <m:fPr>
                                <m:ctrlPr>
                                  <a:rPr lang="pt-BR" b="0" i="1" smtClean="0"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m:rPr>
                                    <m:brk m:alnAt="23"/>
                                  </m:rPr>
                                  <a:rPr lang="pt-BR" b="0" i="1" smtClean="0">
                                    <a:latin typeface="Cambria Math" panose="02040503050406030204" pitchFamily="18" charset="0"/>
                                  </a:rPr>
                                  <m:t>𝑇</m:t>
                                </m:r>
                              </m:num>
                              <m:den>
                                <m:r>
                                  <m:rPr>
                                    <m:brk m:alnAt="23"/>
                                  </m:rPr>
                                  <a:rPr lang="pt-BR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den>
                            </m:f>
                          </m:sub>
                          <m:sup>
                            <m:f>
                              <m:fPr>
                                <m:ctrlPr>
                                  <a:rPr lang="pt-BR" b="0" i="1" smtClean="0"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pt-BR" b="0" i="1" smtClean="0">
                                    <a:latin typeface="Cambria Math" panose="02040503050406030204" pitchFamily="18" charset="0"/>
                                  </a:rPr>
                                  <m:t>𝑇</m:t>
                                </m:r>
                              </m:num>
                              <m:den>
                                <m:r>
                                  <a:rPr lang="pt-BR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den>
                            </m:f>
                          </m:sup>
                          <m:e>
                            <m:sSup>
                              <m:sSupPr>
                                <m:ctrlPr>
                                  <a:rPr lang="pt-BR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d>
                                  <m:dPr>
                                    <m:begChr m:val="|"/>
                                    <m:endChr m:val="|"/>
                                    <m:ctrlPr>
                                      <a:rPr lang="pt-BR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pt-BR" b="0" i="1" smtClean="0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  <m:d>
                                      <m:dPr>
                                        <m:ctrlPr>
                                          <a:rPr lang="pt-BR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pt-BR" b="0" i="1" smtClean="0">
                                            <a:latin typeface="Cambria Math" panose="02040503050406030204" pitchFamily="18" charset="0"/>
                                          </a:rPr>
                                          <m:t>𝑡</m:t>
                                        </m:r>
                                      </m:e>
                                    </m:d>
                                  </m:e>
                                </m:d>
                              </m:e>
                              <m:sup>
                                <m:r>
                                  <a:rPr lang="pt-BR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p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𝑑𝑡</m:t>
                            </m:r>
                          </m:e>
                        </m:nary>
                      </m:e>
                    </m:func>
                    <m:r>
                      <a:rPr lang="pt-BR" b="0" i="1" smtClean="0">
                        <a:latin typeface="Cambria Math" panose="02040503050406030204" pitchFamily="18" charset="0"/>
                      </a:rPr>
                      <m:t>=</m:t>
                    </m:r>
                    <m:func>
                      <m:funcPr>
                        <m:ctrlPr>
                          <a:rPr lang="pt-BR" b="0" i="1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limLow>
                          <m:limLowPr>
                            <m:ctrlPr>
                              <a:rPr lang="pt-BR" b="0" i="0" smtClean="0">
                                <a:latin typeface="Cambria Math" panose="02040503050406030204" pitchFamily="18" charset="0"/>
                              </a:rPr>
                            </m:ctrlPr>
                          </m:limLowPr>
                          <m:e>
                            <m:r>
                              <m:rPr>
                                <m:sty m:val="p"/>
                              </m:rPr>
                              <a:rPr lang="pt-BR" b="0" i="0" smtClean="0">
                                <a:latin typeface="Cambria Math" panose="02040503050406030204" pitchFamily="18" charset="0"/>
                              </a:rPr>
                              <m:t>lim</m:t>
                            </m:r>
                          </m:e>
                          <m:lim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𝑇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→∞</m:t>
                            </m:r>
                          </m:lim>
                        </m:limLow>
                      </m:fName>
                      <m:e>
                        <m:sSub>
                          <m:sSubPr>
                            <m:ctrlPr>
                              <a:rPr lang="pt-BR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f>
                              <m:fPr>
                                <m:ctrlPr>
                                  <a:rPr lang="pt-BR" b="0" i="1" smtClean="0"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pt-BR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num>
                              <m:den>
                                <m:r>
                                  <a:rPr lang="pt-BR" b="0" i="1" smtClean="0">
                                    <a:latin typeface="Cambria Math" panose="02040503050406030204" pitchFamily="18" charset="0"/>
                                  </a:rPr>
                                  <m:t>𝑇</m:t>
                                </m:r>
                              </m:den>
                            </m:f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𝐸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𝑇</m:t>
                            </m:r>
                          </m:sub>
                        </m:sSub>
                      </m:e>
                    </m:func>
                  </m:oMath>
                </a14:m>
                <a:endParaRPr lang="pt-BR" dirty="0"/>
              </a:p>
              <a:p>
                <a:r>
                  <a:rPr lang="pt-BR" dirty="0"/>
                  <a:t>Definimos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sub>
                      </m:sSub>
                      <m:d>
                        <m:d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𝑥</m:t>
                      </m:r>
                      <m:d>
                        <m:d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m:rPr>
                          <m:sty m:val="p"/>
                        </m:rPr>
                        <a:rPr lang="pt-BR" b="0" i="0" smtClean="0">
                          <a:latin typeface="Cambria Math" panose="02040503050406030204" pitchFamily="18" charset="0"/>
                        </a:rPr>
                        <m:t>rect</m:t>
                      </m:r>
                      <m:d>
                        <m:d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num>
                            <m:den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den>
                          </m:f>
                        </m:e>
                      </m:d>
                    </m:oMath>
                  </m:oMathPara>
                </a14:m>
                <a:endParaRPr lang="pt-BR" b="0" dirty="0"/>
              </a:p>
              <a:p>
                <a:pPr marL="0" indent="0">
                  <a:buNone/>
                </a:pPr>
                <a:r>
                  <a:rPr lang="pt-BR" dirty="0"/>
                  <a:t>e</a:t>
                </a:r>
              </a:p>
              <a:p>
                <a:pPr marL="457200" lvl="1" indent="0">
                  <a:buNone/>
                </a:pP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sub>
                      </m:sSub>
                      <m:d>
                        <m:d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</m:d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pt-BR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pt-BR">
                                  <a:latin typeface="Cambria Math" panose="02040503050406030204" pitchFamily="18" charset="0"/>
                                </a:rPr>
                                <m:t>lim</m:t>
                              </m:r>
                            </m:e>
                            <m:lim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→∞</m:t>
                              </m:r>
                            </m:lim>
                          </m:limLow>
                        </m:fName>
                        <m:e>
                          <m:f>
                            <m:fPr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den>
                          </m:f>
                          <m:sSup>
                            <m:sSupPr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begChr m:val="|"/>
                                  <m:endChr m:val="|"/>
                                  <m:ctrlPr>
                                    <a:rPr lang="pt-BR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pt-BR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pt-BR" b="0" i="1" smtClean="0">
                                          <a:latin typeface="Cambria Math" panose="02040503050406030204" pitchFamily="18" charset="0"/>
                                        </a:rPr>
                                        <m:t>𝑋</m:t>
                                      </m:r>
                                    </m:e>
                                    <m:sub>
                                      <m:r>
                                        <a:rPr lang="pt-BR" b="0" i="1" smtClean="0">
                                          <a:latin typeface="Cambria Math" panose="02040503050406030204" pitchFamily="18" charset="0"/>
                                        </a:rPr>
                                        <m:t>𝑇</m:t>
                                      </m:r>
                                    </m:sub>
                                  </m:sSub>
                                  <m:d>
                                    <m:dPr>
                                      <m:ctrlPr>
                                        <a:rPr lang="pt-BR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pt-BR" b="0" i="1" smtClean="0">
                                          <a:latin typeface="Cambria Math" panose="02040503050406030204" pitchFamily="18" charset="0"/>
                                        </a:rPr>
                                        <m:t>𝑓</m:t>
                                      </m:r>
                                    </m:e>
                                  </m:d>
                                </m:e>
                              </m:d>
                            </m:e>
                            <m:sup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e>
                      </m:func>
                    </m:oMath>
                  </m:oMathPara>
                </a14:m>
                <a:endParaRPr lang="pt-BR" dirty="0"/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A6AE0692-500B-C2BA-9C4C-7685380FCD0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415143"/>
                <a:ext cx="10515600" cy="4531746"/>
              </a:xfrm>
              <a:blipFill>
                <a:blip r:embed="rId3"/>
                <a:stretch>
                  <a:fillRect l="-1217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tângulo 3">
            <a:extLst>
              <a:ext uri="{FF2B5EF4-FFF2-40B4-BE49-F238E27FC236}">
                <a16:creationId xmlns:a16="http://schemas.microsoft.com/office/drawing/2014/main" id="{6170D5EE-88BC-ADA2-5823-9A4479E4FC3A}"/>
              </a:ext>
            </a:extLst>
          </p:cNvPr>
          <p:cNvSpPr/>
          <p:nvPr/>
        </p:nvSpPr>
        <p:spPr>
          <a:xfrm>
            <a:off x="4096379" y="3889489"/>
            <a:ext cx="3603171" cy="1088571"/>
          </a:xfrm>
          <a:prstGeom prst="rect">
            <a:avLst/>
          </a:prstGeom>
          <a:solidFill>
            <a:schemeClr val="accent1">
              <a:alpha val="3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5" name="CaixaDeTexto 4">
            <a:extLst>
              <a:ext uri="{FF2B5EF4-FFF2-40B4-BE49-F238E27FC236}">
                <a16:creationId xmlns:a16="http://schemas.microsoft.com/office/drawing/2014/main" id="{AFAE96A9-3DF0-FD57-A926-0751232FE975}"/>
              </a:ext>
            </a:extLst>
          </p:cNvPr>
          <p:cNvSpPr txBox="1"/>
          <p:nvPr/>
        </p:nvSpPr>
        <p:spPr>
          <a:xfrm>
            <a:off x="4096379" y="4985657"/>
            <a:ext cx="357469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2000" dirty="0">
                <a:solidFill>
                  <a:srgbClr val="0070C0"/>
                </a:solidFill>
              </a:rPr>
              <a:t>Densidade Espectral de Potência</a:t>
            </a:r>
          </a:p>
        </p:txBody>
      </p:sp>
    </p:spTree>
    <p:extLst>
      <p:ext uri="{BB962C8B-B14F-4D97-AF65-F5344CB8AC3E}">
        <p14:creationId xmlns:p14="http://schemas.microsoft.com/office/powerpoint/2010/main" val="168282442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" name="Imagem 18">
            <a:extLst>
              <a:ext uri="{FF2B5EF4-FFF2-40B4-BE49-F238E27FC236}">
                <a16:creationId xmlns:a16="http://schemas.microsoft.com/office/drawing/2014/main" id="{3B8C3FE6-1BDA-8BEA-745C-75C7E14AA99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56607" y="1174018"/>
            <a:ext cx="9371351" cy="4509963"/>
          </a:xfrm>
          <a:prstGeom prst="rect">
            <a:avLst/>
          </a:prstGeom>
        </p:spPr>
      </p:pic>
      <p:sp>
        <p:nvSpPr>
          <p:cNvPr id="2" name="Título 1">
            <a:extLst>
              <a:ext uri="{FF2B5EF4-FFF2-40B4-BE49-F238E27FC236}">
                <a16:creationId xmlns:a16="http://schemas.microsoft.com/office/drawing/2014/main" id="{9E39BA3B-E9C0-9429-2665-1FCF571DD2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Densidade Espectral de Potência (PSD)</a:t>
            </a:r>
            <a:br>
              <a:rPr lang="pt-BR" dirty="0"/>
            </a:br>
            <a:r>
              <a:rPr lang="pt-BR" dirty="0"/>
              <a:t>Senoide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CaixaDeTexto 8">
                <a:extLst>
                  <a:ext uri="{FF2B5EF4-FFF2-40B4-BE49-F238E27FC236}">
                    <a16:creationId xmlns:a16="http://schemas.microsoft.com/office/drawing/2014/main" id="{907DBBC3-921C-6007-D221-B4F385D2A4C9}"/>
                  </a:ext>
                </a:extLst>
              </p:cNvPr>
              <p:cNvSpPr txBox="1"/>
              <p:nvPr/>
            </p:nvSpPr>
            <p:spPr>
              <a:xfrm>
                <a:off x="-729345" y="1397784"/>
                <a:ext cx="6096000" cy="48603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pt-BR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sub>
                      </m:sSub>
                      <m:d>
                        <m:dPr>
                          <m:ctrlPr>
                            <a:rPr lang="pt-BR" sz="1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pt-BR" sz="14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pt-BR" sz="1400" b="0" i="1" smtClean="0">
                          <a:latin typeface="Cambria Math" panose="02040503050406030204" pitchFamily="18" charset="0"/>
                        </a:rPr>
                        <m:t>𝑐𝑜𝑠</m:t>
                      </m:r>
                      <m:d>
                        <m:dPr>
                          <m:ctrlPr>
                            <a:rPr lang="pt-BR" sz="1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𝜋</m:t>
                          </m:r>
                          <m:sSub>
                            <m:sSubPr>
                              <m:ctrlPr>
                                <a:rPr lang="pt-BR" sz="14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sz="1400" b="0" i="1" smtClean="0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a:rPr lang="pt-BR" sz="1400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m:rPr>
                          <m:sty m:val="p"/>
                        </m:rPr>
                        <a:rPr lang="pt-BR" sz="1400" b="0" i="0" smtClean="0">
                          <a:latin typeface="Cambria Math" panose="02040503050406030204" pitchFamily="18" charset="0"/>
                        </a:rPr>
                        <m:t>rect</m:t>
                      </m:r>
                      <m:d>
                        <m:dPr>
                          <m:ctrlPr>
                            <a:rPr lang="pt-BR" sz="1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pt-BR" sz="1400" b="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pt-BR" sz="1400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num>
                            <m:den>
                              <m:r>
                                <a:rPr lang="pt-BR" sz="1400" b="0" i="1" smtClean="0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den>
                          </m:f>
                        </m:e>
                      </m:d>
                    </m:oMath>
                  </m:oMathPara>
                </a14:m>
                <a:endParaRPr lang="pt-BR" sz="1050" dirty="0"/>
              </a:p>
            </p:txBody>
          </p:sp>
        </mc:Choice>
        <mc:Fallback xmlns="">
          <p:sp>
            <p:nvSpPr>
              <p:cNvPr id="9" name="CaixaDeTexto 8">
                <a:extLst>
                  <a:ext uri="{FF2B5EF4-FFF2-40B4-BE49-F238E27FC236}">
                    <a16:creationId xmlns:a16="http://schemas.microsoft.com/office/drawing/2014/main" id="{907DBBC3-921C-6007-D221-B4F385D2A4C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729345" y="1397784"/>
                <a:ext cx="6096000" cy="48603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" name="CaixaDeTexto 16">
                <a:extLst>
                  <a:ext uri="{FF2B5EF4-FFF2-40B4-BE49-F238E27FC236}">
                    <a16:creationId xmlns:a16="http://schemas.microsoft.com/office/drawing/2014/main" id="{6DCC8DCC-7889-F984-201F-79E72EEDF398}"/>
                  </a:ext>
                </a:extLst>
              </p:cNvPr>
              <p:cNvSpPr txBox="1"/>
              <p:nvPr/>
            </p:nvSpPr>
            <p:spPr>
              <a:xfrm>
                <a:off x="1598819" y="5843586"/>
                <a:ext cx="8486926" cy="78380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pt-BR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2400" b="0" i="1" smtClean="0"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a:rPr lang="pt-BR" sz="24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pt-BR" sz="24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pt-BR" sz="24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sub>
                      </m:sSub>
                      <m:d>
                        <m:dPr>
                          <m:ctrlPr>
                            <a:rPr lang="pt-BR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sz="2400" b="0" i="1" smtClean="0"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</m:d>
                      <m:r>
                        <a:rPr lang="pt-BR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pt-BR" sz="2400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pt-BR" sz="2400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pt-BR" sz="2400">
                                  <a:latin typeface="Cambria Math" panose="02040503050406030204" pitchFamily="18" charset="0"/>
                                </a:rPr>
                                <m:t>lim</m:t>
                              </m:r>
                            </m:e>
                            <m:lim>
                              <m:r>
                                <a:rPr lang="pt-BR" sz="2400" i="1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  <m:r>
                                <a:rPr lang="pt-BR" sz="2400" i="1">
                                  <a:latin typeface="Cambria Math" panose="02040503050406030204" pitchFamily="18" charset="0"/>
                                </a:rPr>
                                <m:t>→∞</m:t>
                              </m:r>
                            </m:lim>
                          </m:limLow>
                        </m:fName>
                        <m:e>
                          <m:f>
                            <m:fPr>
                              <m:ctrlPr>
                                <a:rPr lang="pt-BR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pt-BR" sz="24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pt-BR" sz="2400" b="0" i="1" smtClean="0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den>
                          </m:f>
                          <m:sSup>
                            <m:sSupPr>
                              <m:ctrlPr>
                                <a:rPr lang="pt-BR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begChr m:val="|"/>
                                  <m:endChr m:val="|"/>
                                  <m:ctrlPr>
                                    <a:rPr lang="pt-BR" sz="24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pt-BR" sz="24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pt-BR" sz="2400" b="0" i="1" smtClean="0">
                                          <a:latin typeface="Cambria Math" panose="02040503050406030204" pitchFamily="18" charset="0"/>
                                        </a:rPr>
                                        <m:t>𝑋</m:t>
                                      </m:r>
                                    </m:e>
                                    <m:sub>
                                      <m:r>
                                        <a:rPr lang="pt-BR" sz="2400" b="0" i="1" smtClean="0">
                                          <a:latin typeface="Cambria Math" panose="02040503050406030204" pitchFamily="18" charset="0"/>
                                        </a:rPr>
                                        <m:t>𝑇</m:t>
                                      </m:r>
                                    </m:sub>
                                  </m:sSub>
                                  <m:d>
                                    <m:dPr>
                                      <m:ctrlPr>
                                        <a:rPr lang="pt-BR" sz="24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pt-BR" sz="2400" b="0" i="1" smtClean="0">
                                          <a:latin typeface="Cambria Math" panose="02040503050406030204" pitchFamily="18" charset="0"/>
                                        </a:rPr>
                                        <m:t>𝑓</m:t>
                                      </m:r>
                                    </m:e>
                                  </m:d>
                                </m:e>
                              </m:d>
                            </m:e>
                            <m:sup>
                              <m:r>
                                <a:rPr lang="pt-BR" sz="24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e>
                      </m:func>
                      <m:r>
                        <a:rPr lang="pt-BR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sz="24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sz="2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pt-BR" sz="2400" b="0" i="1" smtClean="0">
                              <a:latin typeface="Cambria Math" panose="02040503050406030204" pitchFamily="18" charset="0"/>
                            </a:rPr>
                            <m:t>4</m:t>
                          </m:r>
                        </m:den>
                      </m:f>
                      <m:r>
                        <a:rPr lang="pt-BR" sz="2400" b="0" i="1" smtClean="0">
                          <a:latin typeface="Cambria Math" panose="02040503050406030204" pitchFamily="18" charset="0"/>
                        </a:rPr>
                        <m:t>[</m:t>
                      </m:r>
                      <m:r>
                        <a:rPr lang="pt-BR" sz="2400" b="0" i="1" smtClean="0">
                          <a:latin typeface="Cambria Math" panose="02040503050406030204" pitchFamily="18" charset="0"/>
                        </a:rPr>
                        <m:t>𝛿</m:t>
                      </m:r>
                      <m:d>
                        <m:dPr>
                          <m:ctrlPr>
                            <a:rPr lang="pt-BR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sz="2400" b="0" i="1" smtClean="0">
                              <a:latin typeface="Cambria Math" panose="02040503050406030204" pitchFamily="18" charset="0"/>
                            </a:rPr>
                            <m:t>𝑓</m:t>
                          </m:r>
                          <m:r>
                            <a:rPr lang="pt-BR" sz="2400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pt-BR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sz="2400" b="0" i="1" smtClean="0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a:rPr lang="pt-BR" sz="2400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e>
                      </m:d>
                      <m:r>
                        <a:rPr lang="pt-BR" sz="2400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pt-BR" sz="2400" b="0" i="1" smtClean="0">
                          <a:latin typeface="Cambria Math" panose="02040503050406030204" pitchFamily="18" charset="0"/>
                        </a:rPr>
                        <m:t>𝛿</m:t>
                      </m:r>
                      <m:d>
                        <m:dPr>
                          <m:ctrlPr>
                            <a:rPr lang="pt-BR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sz="2400" b="0" i="1" smtClean="0">
                              <a:latin typeface="Cambria Math" panose="02040503050406030204" pitchFamily="18" charset="0"/>
                            </a:rPr>
                            <m:t>𝑓</m:t>
                          </m:r>
                          <m:r>
                            <a:rPr lang="pt-BR" sz="2400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pt-BR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sz="2400" b="0" i="1" smtClean="0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a:rPr lang="pt-BR" sz="2400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e>
                      </m:d>
                      <m:r>
                        <a:rPr lang="pt-BR" sz="2400" b="0" i="1" smtClean="0">
                          <a:latin typeface="Cambria Math" panose="02040503050406030204" pitchFamily="18" charset="0"/>
                        </a:rPr>
                        <m:t>]</m:t>
                      </m:r>
                    </m:oMath>
                  </m:oMathPara>
                </a14:m>
                <a:endParaRPr lang="pt-BR" sz="1600" dirty="0"/>
              </a:p>
            </p:txBody>
          </p:sp>
        </mc:Choice>
        <mc:Fallback xmlns="">
          <p:sp>
            <p:nvSpPr>
              <p:cNvPr id="17" name="CaixaDeTexto 16">
                <a:extLst>
                  <a:ext uri="{FF2B5EF4-FFF2-40B4-BE49-F238E27FC236}">
                    <a16:creationId xmlns:a16="http://schemas.microsoft.com/office/drawing/2014/main" id="{6DCC8DCC-7889-F984-201F-79E72EEDF39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98819" y="5843586"/>
                <a:ext cx="8486926" cy="783804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0" name="Elipse 19">
            <a:extLst>
              <a:ext uri="{FF2B5EF4-FFF2-40B4-BE49-F238E27FC236}">
                <a16:creationId xmlns:a16="http://schemas.microsoft.com/office/drawing/2014/main" id="{11EB88E8-28B4-0022-5AB9-6C9D59B48ACD}"/>
              </a:ext>
            </a:extLst>
          </p:cNvPr>
          <p:cNvSpPr/>
          <p:nvPr/>
        </p:nvSpPr>
        <p:spPr>
          <a:xfrm>
            <a:off x="8697685" y="1883814"/>
            <a:ext cx="1219200" cy="3700557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22" name="CaixaDeTexto 21">
            <a:extLst>
              <a:ext uri="{FF2B5EF4-FFF2-40B4-BE49-F238E27FC236}">
                <a16:creationId xmlns:a16="http://schemas.microsoft.com/office/drawing/2014/main" id="{A7798BB0-713C-A778-6E8F-2B6502C12E90}"/>
              </a:ext>
            </a:extLst>
          </p:cNvPr>
          <p:cNvSpPr txBox="1"/>
          <p:nvPr/>
        </p:nvSpPr>
        <p:spPr>
          <a:xfrm>
            <a:off x="9307285" y="1299039"/>
            <a:ext cx="268740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600" dirty="0">
                <a:solidFill>
                  <a:srgbClr val="0070C0"/>
                </a:solidFill>
              </a:rPr>
              <a:t>Mesma energia</a:t>
            </a:r>
          </a:p>
          <a:p>
            <a:r>
              <a:rPr lang="pt-BR" sz="1600" dirty="0">
                <a:solidFill>
                  <a:srgbClr val="0070C0"/>
                </a:solidFill>
              </a:rPr>
              <a:t>No Limite tende a um impulso</a:t>
            </a:r>
          </a:p>
        </p:txBody>
      </p:sp>
    </p:spTree>
    <p:extLst>
      <p:ext uri="{BB962C8B-B14F-4D97-AF65-F5344CB8AC3E}">
        <p14:creationId xmlns:p14="http://schemas.microsoft.com/office/powerpoint/2010/main" val="1314493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9021BB1-F163-218E-0785-E82EE490A5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Densidade Espectral de Potência e Autocorrelação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BA3E4AAA-7FB2-0E2E-D26F-775FDA52DC9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pt-BR" dirty="0"/>
                  <a:t>Autocorrelação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𝑥</m:t>
                        </m:r>
                      </m:sub>
                    </m:sSub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𝜏</m:t>
                        </m:r>
                      </m:e>
                    </m:d>
                    <m:r>
                      <a:rPr lang="pt-BR" i="1">
                        <a:latin typeface="Cambria Math" panose="02040503050406030204" pitchFamily="18" charset="0"/>
                      </a:rPr>
                      <m:t>=</m:t>
                    </m:r>
                    <m:func>
                      <m:func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limLow>
                          <m:limLowPr>
                            <m:ctrlPr>
                              <a:rPr lang="pt-BR" i="0" smtClean="0">
                                <a:latin typeface="Cambria Math" panose="02040503050406030204" pitchFamily="18" charset="0"/>
                              </a:rPr>
                            </m:ctrlPr>
                          </m:limLowPr>
                          <m:e>
                            <m:r>
                              <m:rPr>
                                <m:sty m:val="p"/>
                              </m:rPr>
                              <a:rPr lang="pt-BR" i="0" smtClean="0">
                                <a:latin typeface="Cambria Math" panose="02040503050406030204" pitchFamily="18" charset="0"/>
                              </a:rPr>
                              <m:t>lim</m:t>
                            </m:r>
                          </m:e>
                          <m:lim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𝑇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→∞</m:t>
                            </m:r>
                          </m:lim>
                        </m:limLow>
                      </m:fName>
                      <m:e>
                        <m:f>
                          <m:fPr>
                            <m:ctrlPr>
                              <a:rPr lang="pt-BR" b="0" i="1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num>
                          <m:den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𝑇</m:t>
                            </m:r>
                          </m:den>
                        </m:f>
                        <m:nary>
                          <m:naryPr>
                            <m:ctrlPr>
                              <a:rPr lang="pt-BR" b="0" i="1" smtClean="0"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m:rPr>
                                <m:brk m:alnAt="23"/>
                              </m:rP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m:rPr>
                                <m:brk m:alnAt="23"/>
                              </m:rP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𝑇</m:t>
                            </m:r>
                            <m:r>
                              <m:rPr>
                                <m:brk m:alnAt="23"/>
                              </m:rPr>
                              <a:rPr lang="pt-BR" b="0" i="1" smtClean="0">
                                <a:latin typeface="Cambria Math" panose="02040503050406030204" pitchFamily="18" charset="0"/>
                              </a:rPr>
                              <m:t>/</m:t>
                            </m:r>
                            <m:r>
                              <m:rPr>
                                <m:brk m:alnAt="23"/>
                              </m:rPr>
                              <a:rPr lang="pt-BR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  <m:sup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𝑇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/2</m:t>
                            </m:r>
                          </m:sup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  <m:d>
                              <m:dPr>
                                <m:ctrlPr>
                                  <a:rPr lang="pt-BR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</m:e>
                            </m:d>
                            <m:sSup>
                              <m:sSupPr>
                                <m:ctrlPr>
                                  <a:rPr lang="pt-BR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p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∗</m:t>
                                </m:r>
                              </m:sup>
                            </m:sSup>
                            <m:d>
                              <m:dPr>
                                <m:ctrlPr>
                                  <a:rPr lang="pt-BR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𝜏</m:t>
                                </m:r>
                              </m:e>
                            </m:d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𝑑𝑡</m:t>
                            </m:r>
                          </m:e>
                        </m:nary>
                      </m:e>
                    </m:func>
                  </m:oMath>
                </a14:m>
                <a:endParaRPr lang="pt-BR" dirty="0"/>
              </a:p>
              <a:p>
                <a:pPr lvl="1"/>
                <a:r>
                  <a:rPr lang="pt-BR" dirty="0"/>
                  <a:t>Média Temporal</a:t>
                </a:r>
              </a:p>
              <a:p>
                <a:endParaRPr lang="pt-BR" dirty="0"/>
              </a:p>
              <a:p>
                <a:r>
                  <a:rPr lang="pt-BR" dirty="0"/>
                  <a:t>Teorema de Wiener-</a:t>
                </a:r>
                <a:r>
                  <a:rPr lang="pt-BR" dirty="0" err="1"/>
                  <a:t>Kinchin</a:t>
                </a:r>
                <a:endParaRPr lang="pt-BR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pt-B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</m:sub>
                      </m:sSub>
                      <m:d>
                        <m:dPr>
                          <m:ctrlPr>
                            <a:rPr lang="pt-B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𝑓</m:t>
                          </m:r>
                        </m:e>
                      </m:d>
                      <m:r>
                        <a:rPr lang="pt-B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pt-BR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ℱ</m:t>
                      </m:r>
                      <m:d>
                        <m:dPr>
                          <m:begChr m:val="{"/>
                          <m:endChr m:val="}"/>
                          <m:ctrlPr>
                            <a:rPr lang="pt-B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pt-B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𝑅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𝑥</m:t>
                              </m:r>
                            </m:sub>
                          </m:sSub>
                          <m:d>
                            <m:dPr>
                              <m:ctrlPr>
                                <a:rPr lang="pt-B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𝜏</m:t>
                              </m:r>
                            </m:e>
                          </m:d>
                        </m:e>
                      </m:d>
                    </m:oMath>
                  </m:oMathPara>
                </a14:m>
                <a:endParaRPr lang="pt-BR" dirty="0"/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BA3E4AAA-7FB2-0E2E-D26F-775FDA52DC9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07953264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BC669F-889A-8232-01E2-2B7C360838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28316C6-7578-FCD0-2B5A-69C37FFCB8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Densidade Espectral de Potência e Autocorrelação</a:t>
            </a:r>
            <a:br>
              <a:rPr lang="pt-BR" dirty="0"/>
            </a:br>
            <a:r>
              <a:rPr lang="pt-BR" dirty="0"/>
              <a:t>Sinais Aleatórios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D872C4BA-B4B2-BA76-1E7D-BE042F2CC24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pt-BR" dirty="0"/>
                  <a:t>Autocorrelação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𝑥</m:t>
                        </m:r>
                      </m:sub>
                    </m:sSub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𝜏</m:t>
                        </m:r>
                      </m:e>
                    </m:d>
                    <m:r>
                      <a:rPr lang="pt-BR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𝐸</m:t>
                    </m:r>
                    <m:d>
                      <m:dPr>
                        <m:begChr m:val="["/>
                        <m:endChr m:val="]"/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𝑥</m:t>
                        </m:r>
                        <m:d>
                          <m:d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</m:d>
                        <m:sSup>
                          <m:sSup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p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∗</m:t>
                            </m:r>
                          </m:sup>
                        </m:sSup>
                        <m:d>
                          <m:d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𝜏</m:t>
                            </m:r>
                          </m:e>
                        </m:d>
                      </m:e>
                    </m:d>
                  </m:oMath>
                </a14:m>
                <a:endParaRPr lang="pt-BR" dirty="0"/>
              </a:p>
              <a:p>
                <a:pPr lvl="1"/>
                <a:r>
                  <a:rPr lang="pt-BR" dirty="0"/>
                  <a:t>Média Estatística</a:t>
                </a:r>
              </a:p>
              <a:p>
                <a:endParaRPr lang="pt-BR" dirty="0"/>
              </a:p>
              <a:p>
                <a:r>
                  <a:rPr lang="pt-BR" dirty="0"/>
                  <a:t>Teorema de Wiener-</a:t>
                </a:r>
                <a:r>
                  <a:rPr lang="pt-BR" dirty="0" err="1"/>
                  <a:t>Kinchin</a:t>
                </a:r>
                <a:endParaRPr lang="pt-BR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pt-B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</m:sub>
                      </m:sSub>
                      <m:d>
                        <m:dPr>
                          <m:ctrlPr>
                            <a:rPr lang="pt-B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𝑓</m:t>
                          </m:r>
                        </m:e>
                      </m:d>
                      <m:r>
                        <a:rPr lang="pt-B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pt-BR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ℱ</m:t>
                      </m:r>
                      <m:d>
                        <m:dPr>
                          <m:begChr m:val="{"/>
                          <m:endChr m:val="}"/>
                          <m:ctrlPr>
                            <a:rPr lang="pt-B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pt-B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𝑅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𝑥</m:t>
                              </m:r>
                            </m:sub>
                          </m:sSub>
                          <m:d>
                            <m:dPr>
                              <m:ctrlPr>
                                <a:rPr lang="pt-B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𝜏</m:t>
                              </m:r>
                            </m:e>
                          </m:d>
                        </m:e>
                      </m:d>
                    </m:oMath>
                  </m:oMathPara>
                </a14:m>
                <a:endParaRPr lang="pt-BR" dirty="0"/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D872C4BA-B4B2-BA76-1E7D-BE042F2CC24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381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83351923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AB9BE8B-DDE0-2B5D-F910-0AF5A4ED66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Ruído Branco</a:t>
            </a:r>
          </a:p>
        </p:txBody>
      </p:sp>
      <p:pic>
        <p:nvPicPr>
          <p:cNvPr id="6" name="Imagem 5">
            <a:extLst>
              <a:ext uri="{FF2B5EF4-FFF2-40B4-BE49-F238E27FC236}">
                <a16:creationId xmlns:a16="http://schemas.microsoft.com/office/drawing/2014/main" id="{C4535984-DBB3-7EEC-447D-2F771A6D639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08113" y="1387866"/>
            <a:ext cx="9575773" cy="38539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9467303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D9C3F69-83E7-1488-CE83-C1BBF8FACA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Ruído Branco Filtrado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9AE1E78E-B272-E94A-BD69-11A69A9CFBC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278757"/>
            <a:ext cx="10515600" cy="1655830"/>
          </a:xfrm>
        </p:spPr>
        <p:txBody>
          <a:bodyPr>
            <a:normAutofit lnSpcReduction="10000"/>
          </a:bodyPr>
          <a:lstStyle/>
          <a:p>
            <a:r>
              <a:rPr lang="pt-BR" dirty="0"/>
              <a:t>Em analogia à luz branca, que contém luz de todas as frequências</a:t>
            </a:r>
          </a:p>
          <a:p>
            <a:r>
              <a:rPr lang="pt-BR" dirty="0"/>
              <a:t>Ruído branco é uma idealização, não existe na prática</a:t>
            </a:r>
          </a:p>
          <a:p>
            <a:pPr lvl="1"/>
            <a:r>
              <a:rPr lang="pt-BR" dirty="0"/>
              <a:t>Potência seria infinita</a:t>
            </a:r>
          </a:p>
          <a:p>
            <a:pPr lvl="1"/>
            <a:r>
              <a:rPr lang="pt-BR" dirty="0"/>
              <a:t>Mas na prática, todos os sistemas são limitados em banda</a:t>
            </a:r>
          </a:p>
          <a:p>
            <a:pPr lvl="1"/>
            <a:endParaRPr lang="pt-BR" dirty="0"/>
          </a:p>
        </p:txBody>
      </p:sp>
      <p:cxnSp>
        <p:nvCxnSpPr>
          <p:cNvPr id="4" name="Conector de seta reta 8">
            <a:extLst>
              <a:ext uri="{FF2B5EF4-FFF2-40B4-BE49-F238E27FC236}">
                <a16:creationId xmlns:a16="http://schemas.microsoft.com/office/drawing/2014/main" id="{822B490D-CB86-C764-9AF5-507235B3D7DF}"/>
              </a:ext>
            </a:extLst>
          </p:cNvPr>
          <p:cNvCxnSpPr/>
          <p:nvPr/>
        </p:nvCxnSpPr>
        <p:spPr bwMode="auto">
          <a:xfrm>
            <a:off x="3423684" y="4197342"/>
            <a:ext cx="2454442" cy="1588"/>
          </a:xfrm>
          <a:prstGeom prst="straightConnector1">
            <a:avLst/>
          </a:prstGeom>
          <a:solidFill>
            <a:schemeClr val="bg1"/>
          </a:solidFill>
          <a:ln w="12700" cap="flat" cmpd="sng" algn="ctr">
            <a:solidFill>
              <a:schemeClr val="tx1"/>
            </a:solidFill>
            <a:prstDash val="solid"/>
            <a:round/>
            <a:headEnd type="none" w="med" len="med"/>
            <a:tailEnd type="arrow"/>
          </a:ln>
          <a:effectLst/>
        </p:spPr>
      </p:cxnSp>
      <p:cxnSp>
        <p:nvCxnSpPr>
          <p:cNvPr id="5" name="Conector de seta reta 10">
            <a:extLst>
              <a:ext uri="{FF2B5EF4-FFF2-40B4-BE49-F238E27FC236}">
                <a16:creationId xmlns:a16="http://schemas.microsoft.com/office/drawing/2014/main" id="{4BF519B4-3EC7-8591-F37C-86AC439BA4B4}"/>
              </a:ext>
            </a:extLst>
          </p:cNvPr>
          <p:cNvCxnSpPr/>
          <p:nvPr/>
        </p:nvCxnSpPr>
        <p:spPr bwMode="auto">
          <a:xfrm rot="5400000" flipH="1" flipV="1">
            <a:off x="4026057" y="3631858"/>
            <a:ext cx="1130175" cy="794"/>
          </a:xfrm>
          <a:prstGeom prst="straightConnector1">
            <a:avLst/>
          </a:prstGeom>
          <a:solidFill>
            <a:schemeClr val="bg1"/>
          </a:solidFill>
          <a:ln w="12700" cap="flat" cmpd="sng" algn="ctr">
            <a:solidFill>
              <a:schemeClr val="tx1"/>
            </a:solidFill>
            <a:prstDash val="solid"/>
            <a:round/>
            <a:headEnd type="none" w="med" len="med"/>
            <a:tailEnd type="arrow"/>
          </a:ln>
          <a:effectLst/>
        </p:spPr>
      </p:cxnSp>
      <p:cxnSp>
        <p:nvCxnSpPr>
          <p:cNvPr id="6" name="Conector reto 5">
            <a:extLst>
              <a:ext uri="{FF2B5EF4-FFF2-40B4-BE49-F238E27FC236}">
                <a16:creationId xmlns:a16="http://schemas.microsoft.com/office/drawing/2014/main" id="{5AA2DAAD-D538-54C9-1C10-4757A602DA02}"/>
              </a:ext>
            </a:extLst>
          </p:cNvPr>
          <p:cNvCxnSpPr/>
          <p:nvPr/>
        </p:nvCxnSpPr>
        <p:spPr bwMode="auto">
          <a:xfrm>
            <a:off x="4025262" y="3547637"/>
            <a:ext cx="1179095" cy="0"/>
          </a:xfrm>
          <a:prstGeom prst="line">
            <a:avLst/>
          </a:prstGeom>
          <a:solidFill>
            <a:schemeClr val="bg1"/>
          </a:solidFill>
          <a:ln w="25400" cap="flat" cmpd="sng" algn="ctr">
            <a:solidFill>
              <a:srgbClr val="063DE8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7" name="CaixaDeTexto 6">
            <a:extLst>
              <a:ext uri="{FF2B5EF4-FFF2-40B4-BE49-F238E27FC236}">
                <a16:creationId xmlns:a16="http://schemas.microsoft.com/office/drawing/2014/main" id="{B1D73818-619F-BCE8-66C2-303FFA2CFB41}"/>
              </a:ext>
            </a:extLst>
          </p:cNvPr>
          <p:cNvSpPr txBox="1"/>
          <p:nvPr/>
        </p:nvSpPr>
        <p:spPr>
          <a:xfrm>
            <a:off x="5565307" y="4245453"/>
            <a:ext cx="2551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i="1" dirty="0">
                <a:latin typeface="Times New Roman" pitchFamily="18" charset="0"/>
                <a:cs typeface="Times New Roman" pitchFamily="18" charset="0"/>
              </a:rPr>
              <a:t>f</a:t>
            </a:r>
          </a:p>
        </p:txBody>
      </p:sp>
      <p:sp>
        <p:nvSpPr>
          <p:cNvPr id="8" name="CaixaDeTexto 7">
            <a:extLst>
              <a:ext uri="{FF2B5EF4-FFF2-40B4-BE49-F238E27FC236}">
                <a16:creationId xmlns:a16="http://schemas.microsoft.com/office/drawing/2014/main" id="{5765E533-3804-F6D1-4DCC-21E469E809C6}"/>
              </a:ext>
            </a:extLst>
          </p:cNvPr>
          <p:cNvSpPr txBox="1"/>
          <p:nvPr/>
        </p:nvSpPr>
        <p:spPr>
          <a:xfrm>
            <a:off x="5420926" y="3138563"/>
            <a:ext cx="63991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i="1" dirty="0">
                <a:solidFill>
                  <a:srgbClr val="063DE8"/>
                </a:solidFill>
                <a:latin typeface="Times New Roman" pitchFamily="18" charset="0"/>
                <a:cs typeface="Times New Roman" pitchFamily="18" charset="0"/>
              </a:rPr>
              <a:t>N</a:t>
            </a:r>
            <a:r>
              <a:rPr lang="pt-BR" baseline="-25000" dirty="0">
                <a:solidFill>
                  <a:srgbClr val="063DE8"/>
                </a:solidFill>
                <a:latin typeface="Times New Roman" pitchFamily="18" charset="0"/>
                <a:cs typeface="Times New Roman" pitchFamily="18" charset="0"/>
              </a:rPr>
              <a:t>0</a:t>
            </a:r>
            <a:r>
              <a:rPr lang="pt-BR" dirty="0">
                <a:solidFill>
                  <a:srgbClr val="063DE8"/>
                </a:solidFill>
                <a:latin typeface="Times New Roman" pitchFamily="18" charset="0"/>
                <a:cs typeface="Times New Roman" pitchFamily="18" charset="0"/>
              </a:rPr>
              <a:t>/2</a:t>
            </a:r>
          </a:p>
        </p:txBody>
      </p:sp>
      <p:cxnSp>
        <p:nvCxnSpPr>
          <p:cNvPr id="9" name="Conector reto 8">
            <a:extLst>
              <a:ext uri="{FF2B5EF4-FFF2-40B4-BE49-F238E27FC236}">
                <a16:creationId xmlns:a16="http://schemas.microsoft.com/office/drawing/2014/main" id="{72B1902B-5DBF-C8C5-5CBC-4F165F53B883}"/>
              </a:ext>
            </a:extLst>
          </p:cNvPr>
          <p:cNvCxnSpPr/>
          <p:nvPr/>
        </p:nvCxnSpPr>
        <p:spPr bwMode="auto">
          <a:xfrm rot="5400000">
            <a:off x="4873489" y="3866473"/>
            <a:ext cx="661737" cy="0"/>
          </a:xfrm>
          <a:prstGeom prst="line">
            <a:avLst/>
          </a:prstGeom>
          <a:solidFill>
            <a:schemeClr val="bg1"/>
          </a:solidFill>
          <a:ln w="25400" cap="flat" cmpd="sng" algn="ctr">
            <a:solidFill>
              <a:srgbClr val="063DE8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10" name="Conector reto 9">
            <a:extLst>
              <a:ext uri="{FF2B5EF4-FFF2-40B4-BE49-F238E27FC236}">
                <a16:creationId xmlns:a16="http://schemas.microsoft.com/office/drawing/2014/main" id="{2098980A-B04E-61D2-71AE-387F4F8EA913}"/>
              </a:ext>
            </a:extLst>
          </p:cNvPr>
          <p:cNvCxnSpPr/>
          <p:nvPr/>
        </p:nvCxnSpPr>
        <p:spPr bwMode="auto">
          <a:xfrm rot="5400000">
            <a:off x="3702369" y="3886521"/>
            <a:ext cx="661737" cy="0"/>
          </a:xfrm>
          <a:prstGeom prst="line">
            <a:avLst/>
          </a:prstGeom>
          <a:solidFill>
            <a:schemeClr val="bg1"/>
          </a:solidFill>
          <a:ln w="25400" cap="flat" cmpd="sng" algn="ctr">
            <a:solidFill>
              <a:srgbClr val="063DE8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11" name="CaixaDeTexto 10">
            <a:extLst>
              <a:ext uri="{FF2B5EF4-FFF2-40B4-BE49-F238E27FC236}">
                <a16:creationId xmlns:a16="http://schemas.microsoft.com/office/drawing/2014/main" id="{CE3DE0E1-3A6E-56F4-0B0B-0D8A0D25233C}"/>
              </a:ext>
            </a:extLst>
          </p:cNvPr>
          <p:cNvSpPr txBox="1"/>
          <p:nvPr/>
        </p:nvSpPr>
        <p:spPr>
          <a:xfrm>
            <a:off x="5047942" y="4233414"/>
            <a:ext cx="3417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i="1" dirty="0">
                <a:latin typeface="Times New Roman" pitchFamily="18" charset="0"/>
                <a:cs typeface="Times New Roman" pitchFamily="18" charset="0"/>
              </a:rPr>
              <a:t>B</a:t>
            </a:r>
          </a:p>
        </p:txBody>
      </p:sp>
      <p:sp>
        <p:nvSpPr>
          <p:cNvPr id="12" name="CaixaDeTexto 11">
            <a:extLst>
              <a:ext uri="{FF2B5EF4-FFF2-40B4-BE49-F238E27FC236}">
                <a16:creationId xmlns:a16="http://schemas.microsoft.com/office/drawing/2014/main" id="{F76568CE-73EF-0567-AC07-D7E9AD3CCBE5}"/>
              </a:ext>
            </a:extLst>
          </p:cNvPr>
          <p:cNvSpPr txBox="1"/>
          <p:nvPr/>
        </p:nvSpPr>
        <p:spPr>
          <a:xfrm>
            <a:off x="3852758" y="4241430"/>
            <a:ext cx="4267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i="1" dirty="0">
                <a:latin typeface="Times New Roman" pitchFamily="18" charset="0"/>
                <a:cs typeface="Times New Roman" pitchFamily="18" charset="0"/>
              </a:rPr>
              <a:t>-B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Objeto 12">
                <a:extLst>
                  <a:ext uri="{FF2B5EF4-FFF2-40B4-BE49-F238E27FC236}">
                    <a16:creationId xmlns:a16="http://schemas.microsoft.com/office/drawing/2014/main" id="{23A56B38-B1E2-69EC-83E0-87B5EA2D5137}"/>
                  </a:ext>
                </a:extLst>
              </p:cNvPr>
              <p:cNvSpPr txBox="1"/>
              <p:nvPr/>
            </p:nvSpPr>
            <p:spPr bwMode="auto">
              <a:xfrm>
                <a:off x="2358647" y="4879128"/>
                <a:ext cx="8539725" cy="893763"/>
              </a:xfrm>
              <a:prstGeom prst="rect">
                <a:avLst/>
              </a:prstGeom>
              <a:noFill/>
            </p:spPr>
            <p:txBody>
              <a:bodyPr>
                <a:no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sSub>
                        <m:sSubPr>
                          <m:ctrlPr>
                            <a:rPr lang="pt-BR" sz="24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24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a:rPr lang="pt-BR" sz="24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d>
                        <m:dPr>
                          <m:ctrlPr>
                            <a:rPr lang="pt-BR" sz="24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sz="24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</m:d>
                      <m:r>
                        <a:rPr lang="pt-BR" sz="2400" b="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sz="24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pt-BR" sz="24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sz="24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pt-BR" sz="24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num>
                        <m:den>
                          <m:r>
                            <a:rPr lang="pt-BR" sz="24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r>
                        <m:rPr>
                          <m:sty m:val="p"/>
                        </m:rPr>
                        <a:rPr lang="pt-BR" sz="2400" b="0" i="0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rect</m:t>
                      </m:r>
                      <m:d>
                        <m:dPr>
                          <m:ctrlPr>
                            <a:rPr lang="pt-BR" sz="24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pt-BR" sz="24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pt-BR" sz="24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num>
                            <m:den>
                              <m:r>
                                <a:rPr lang="pt-BR" sz="24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  <m:r>
                                <a:rPr lang="pt-BR" sz="24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den>
                          </m:f>
                        </m:e>
                      </m:d>
                      <m:r>
                        <a:rPr lang="pt-BR" sz="2400" b="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⇒</m:t>
                      </m:r>
                      <m:sSub>
                        <m:sSubPr>
                          <m:ctrlPr>
                            <a:rPr lang="pt-BR" sz="24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24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pt-BR" sz="24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d>
                        <m:dPr>
                          <m:ctrlPr>
                            <a:rPr lang="pt-BR" sz="24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sz="24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𝜏</m:t>
                          </m:r>
                        </m:e>
                      </m:d>
                      <m:r>
                        <a:rPr lang="pt-BR" sz="2400" b="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pt-BR" sz="24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24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𝑁</m:t>
                          </m:r>
                        </m:e>
                        <m:sub>
                          <m:r>
                            <a:rPr lang="pt-BR" sz="24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pt-BR" sz="2400" b="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𝐵</m:t>
                      </m:r>
                      <m:r>
                        <a:rPr lang="pt-BR" sz="2400" b="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pt-BR" sz="2400" b="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𝑠𝑖𝑛𝑐</m:t>
                      </m:r>
                      <m:r>
                        <a:rPr lang="pt-BR" sz="2400" b="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(2</m:t>
                      </m:r>
                      <m:r>
                        <a:rPr lang="pt-BR" sz="2400" b="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𝐵</m:t>
                      </m:r>
                      <m:r>
                        <a:rPr lang="pt-BR" sz="2400" b="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𝜏</m:t>
                      </m:r>
                      <m:r>
                        <a:rPr lang="pt-BR" sz="2400" b="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pt-BR" sz="2400" i="1" dirty="0">
                  <a:solidFill>
                    <a:srgbClr val="000000"/>
                  </a:solidFill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sSub>
                        <m:sSubPr>
                          <m:ctrlPr>
                            <a:rPr lang="pt-BR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pt-BR" sz="24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pt-BR" sz="24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trlPr>
                            <a:rPr lang="pt-BR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pt-BR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−∞</m:t>
                          </m:r>
                        </m:sub>
                        <m:sup>
                          <m:r>
                            <a:rPr lang="pt-BR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∞</m:t>
                          </m:r>
                        </m:sup>
                        <m:e>
                          <m:sSub>
                            <m:sSubPr>
                              <m:ctrlPr>
                                <a:rPr lang="pt-BR" sz="24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sz="24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pt-BR" sz="24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r>
                            <a:rPr lang="pt-BR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pt-BR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𝑓</m:t>
                          </m:r>
                          <m:r>
                            <a:rPr lang="pt-BR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  <m:r>
                            <a:rPr lang="pt-BR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𝑑𝑓</m:t>
                          </m:r>
                          <m:r>
                            <a:rPr lang="pt-BR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=</m:t>
                          </m:r>
                          <m:nary>
                            <m:naryPr>
                              <m:ctrlPr>
                                <a:rPr lang="pt-BR" sz="24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a:rPr lang="pt-BR" sz="24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pt-BR" sz="24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sub>
                            <m:sup>
                              <m:r>
                                <a:rPr lang="pt-BR" sz="24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sup>
                            <m:e>
                              <m:f>
                                <m:fPr>
                                  <m:ctrlPr>
                                    <a:rPr lang="pt-BR" sz="24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sSub>
                                    <m:sSubPr>
                                      <m:ctrlPr>
                                        <a:rPr lang="pt-BR" sz="2400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pt-BR" sz="2400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𝑁</m:t>
                                      </m:r>
                                    </m:e>
                                    <m:sub>
                                      <m:r>
                                        <a:rPr lang="pt-BR" sz="2400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0</m:t>
                                      </m:r>
                                    </m:sub>
                                  </m:sSub>
                                </m:num>
                                <m:den>
                                  <m:r>
                                    <a:rPr lang="pt-BR" sz="24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den>
                              </m:f>
                              <m:r>
                                <a:rPr lang="pt-BR" sz="24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𝑑𝑓</m:t>
                              </m:r>
                              <m:r>
                                <a:rPr lang="pt-BR" sz="24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=</m:t>
                              </m:r>
                              <m:r>
                                <a:rPr lang="pt-BR" sz="24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  <m:sSub>
                                <m:sSubPr>
                                  <m:ctrlPr>
                                    <a:rPr lang="pt-BR" sz="24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sz="24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𝑁</m:t>
                                  </m:r>
                                </m:e>
                                <m:sub>
                                  <m:r>
                                    <a:rPr lang="pt-BR" sz="24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</m:e>
                          </m:nary>
                        </m:e>
                      </m:nary>
                    </m:oMath>
                  </m:oMathPara>
                </a14:m>
                <a:endParaRPr lang="pt-BR" sz="2400" dirty="0"/>
              </a:p>
            </p:txBody>
          </p:sp>
        </mc:Choice>
        <mc:Fallback xmlns="">
          <p:sp>
            <p:nvSpPr>
              <p:cNvPr id="13" name="Objeto 12">
                <a:extLst>
                  <a:ext uri="{FF2B5EF4-FFF2-40B4-BE49-F238E27FC236}">
                    <a16:creationId xmlns:a16="http://schemas.microsoft.com/office/drawing/2014/main" id="{23A56B38-B1E2-69EC-83E0-87B5EA2D513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2358647" y="4879128"/>
                <a:ext cx="8539725" cy="893763"/>
              </a:xfrm>
              <a:prstGeom prst="rect">
                <a:avLst/>
              </a:prstGeom>
              <a:blipFill>
                <a:blip r:embed="rId2"/>
                <a:stretch>
                  <a:fillRect b="-74150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62583742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2CC9AF2-8185-F6A2-5D71-2B9138558E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Ruído Branco Filtrado</a:t>
            </a:r>
            <a:br>
              <a:rPr lang="pt-BR" dirty="0"/>
            </a:br>
            <a:r>
              <a:rPr lang="pt-BR" dirty="0"/>
              <a:t>Exemplo</a:t>
            </a:r>
          </a:p>
        </p:txBody>
      </p:sp>
      <p:pic>
        <p:nvPicPr>
          <p:cNvPr id="6" name="Imagem 5">
            <a:extLst>
              <a:ext uri="{FF2B5EF4-FFF2-40B4-BE49-F238E27FC236}">
                <a16:creationId xmlns:a16="http://schemas.microsoft.com/office/drawing/2014/main" id="{38B888EF-7291-0B0C-E279-838B1BF44A3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32571" y="1648046"/>
            <a:ext cx="9221448" cy="44378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0379118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26D45E7-355F-C505-A661-CEF027964F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Ruído Branco Gaussiano Aditivo</a:t>
            </a:r>
            <a:br>
              <a:rPr lang="pt-BR" dirty="0"/>
            </a:br>
            <a:r>
              <a:rPr lang="pt-BR" dirty="0"/>
              <a:t>AWGN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4EB5A5E4-D708-0564-1DA5-6FD916878AB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595551"/>
                <a:ext cx="6264349" cy="4351338"/>
              </a:xfrm>
            </p:spPr>
            <p:txBody>
              <a:bodyPr/>
              <a:lstStyle/>
              <a:p>
                <a:r>
                  <a:rPr lang="pt-BR" dirty="0"/>
                  <a:t>Ruído é aditivo</a:t>
                </a:r>
              </a:p>
              <a:p>
                <a:r>
                  <a:rPr lang="pt-BR" dirty="0"/>
                  <a:t>PSD é branca (dentro da banda)</a:t>
                </a:r>
              </a:p>
              <a:p>
                <a:r>
                  <a:rPr lang="pt-BR" dirty="0"/>
                  <a:t>Distribuição da amplitude é Gaussiana</a:t>
                </a:r>
                <a14:m>
                  <m:oMath xmlns:m="http://schemas.openxmlformats.org/officeDocument/2006/math">
                    <m:r>
                      <a:rPr lang="pt-BR" b="0" i="0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endParaRPr lang="pt-BR" b="0" i="0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pt-BR" b="0" i="0" smtClean="0">
                              <a:latin typeface="Cambria Math" panose="02040503050406030204" pitchFamily="18" charset="0"/>
                            </a:rPr>
                            <m:t>n</m:t>
                          </m:r>
                        </m:sub>
                      </m:sSub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𝑛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)∽</m:t>
                      </m:r>
                      <m:r>
                        <a:rPr lang="pt-B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𝒩</m:t>
                      </m:r>
                      <m:r>
                        <a:rPr lang="pt-B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(0,</m:t>
                      </m:r>
                      <m:sSub>
                        <m:sSubPr>
                          <m:ctrlPr>
                            <a:rPr lang="pt-B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𝐵𝑁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pt-B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pt-BR" dirty="0"/>
              </a:p>
              <a:p>
                <a:pPr marL="457200" lvl="1" indent="0">
                  <a:buNone/>
                </a:pPr>
                <a:endParaRPr lang="pt-BR" dirty="0"/>
              </a:p>
              <a:p>
                <a:endParaRPr lang="pt-BR" dirty="0"/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4EB5A5E4-D708-0564-1DA5-6FD916878AB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595551"/>
                <a:ext cx="6264349" cy="4351338"/>
              </a:xfrm>
              <a:blipFill>
                <a:blip r:embed="rId2"/>
                <a:stretch>
                  <a:fillRect l="-1753" t="-2381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Imagem 4">
            <a:extLst>
              <a:ext uri="{FF2B5EF4-FFF2-40B4-BE49-F238E27FC236}">
                <a16:creationId xmlns:a16="http://schemas.microsoft.com/office/drawing/2014/main" id="{2C6FBF90-1FCD-7EF2-70DA-8BD16AD950F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27036" y="1683163"/>
            <a:ext cx="4226764" cy="17458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1523051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C87CB56-A9CC-739B-6E9B-4D90E9678D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Ruído Branco Gaussiano Aditivo – AWGN</a:t>
            </a:r>
            <a:br>
              <a:rPr lang="pt-BR" dirty="0"/>
            </a:br>
            <a:r>
              <a:rPr lang="pt-BR" dirty="0"/>
              <a:t>Exemplo</a:t>
            </a:r>
          </a:p>
        </p:txBody>
      </p:sp>
      <p:pic>
        <p:nvPicPr>
          <p:cNvPr id="4" name="Imagem 3">
            <a:extLst>
              <a:ext uri="{FF2B5EF4-FFF2-40B4-BE49-F238E27FC236}">
                <a16:creationId xmlns:a16="http://schemas.microsoft.com/office/drawing/2014/main" id="{2ED744B3-49DA-FDBB-6E69-2324F2ACDA4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8316" y="1295134"/>
            <a:ext cx="10374552" cy="49927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9648514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3E3BC14-5430-9BC4-56BD-C0CB0E174E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Ruído térmico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FE9DD900-FFCD-2BF3-7DF8-731EECD72D6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199" y="1390248"/>
                <a:ext cx="6413205" cy="4351338"/>
              </a:xfrm>
            </p:spPr>
            <p:txBody>
              <a:bodyPr>
                <a:normAutofit fontScale="92500" lnSpcReduction="20000"/>
              </a:bodyPr>
              <a:lstStyle/>
              <a:p>
                <a:r>
                  <a:rPr lang="pt-BR" dirty="0"/>
                  <a:t>Em todo equipamento eletrônico movimento aleatório de elétrons gera uma tensão aleatória de ruído</a:t>
                </a:r>
              </a:p>
              <a:p>
                <a:pPr lvl="1"/>
                <a:r>
                  <a:rPr lang="pt-BR" dirty="0"/>
                  <a:t>PSD constante até faixas de RF</a:t>
                </a:r>
              </a:p>
              <a:p>
                <a:pPr lvl="1"/>
                <a:r>
                  <a:rPr lang="pt-BR" dirty="0"/>
                  <a:t>Modelo já não é adequado para frequências ópticas (ruído quântico)</a:t>
                </a:r>
              </a:p>
              <a:p>
                <a:pPr lvl="1"/>
                <a:endParaRPr lang="pt-BR" dirty="0"/>
              </a:p>
              <a:p>
                <a:r>
                  <a:rPr lang="pt-BR" b="0" dirty="0"/>
                  <a:t>A tensão em uma resistência é (Johnsson –</a:t>
                </a:r>
                <a:r>
                  <a:rPr lang="pt-BR" b="0" dirty="0" err="1"/>
                  <a:t>Nyquist</a:t>
                </a:r>
                <a:r>
                  <a:rPr lang="pt-BR" b="0" dirty="0"/>
                  <a:t>) </a:t>
                </a:r>
                <a:r>
                  <a:rPr lang="pt-BR" b="0" dirty="0" err="1"/>
                  <a:t>noise</a:t>
                </a:r>
                <a:endParaRPr lang="pt-BR" b="0" dirty="0"/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pt-BR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d>
                      <m:dPr>
                        <m:ctrlPr>
                          <a:rPr lang="pt-BR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</m:d>
                    <m:r>
                      <a:rPr lang="pt-BR" b="0" i="1" smtClean="0">
                        <a:latin typeface="Cambria Math" panose="02040503050406030204" pitchFamily="18" charset="0"/>
                      </a:rPr>
                      <m:t>=2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𝑘𝑇𝑅</m:t>
                    </m:r>
                  </m:oMath>
                </a14:m>
                <a:r>
                  <a:rPr lang="pt-BR" dirty="0"/>
                  <a:t> V</a:t>
                </a:r>
                <a:r>
                  <a:rPr lang="pt-BR" baseline="30000" dirty="0"/>
                  <a:t>2</a:t>
                </a:r>
                <a:r>
                  <a:rPr lang="pt-BR" dirty="0"/>
                  <a:t>/Hz</a:t>
                </a:r>
              </a:p>
              <a:p>
                <a:pPr lvl="1"/>
                <a:r>
                  <a:rPr lang="pt-BR" i="1" dirty="0">
                    <a:latin typeface="Times New Roman" pitchFamily="18" charset="0"/>
                    <a:cs typeface="Times New Roman" pitchFamily="18" charset="0"/>
                  </a:rPr>
                  <a:t>k</a:t>
                </a:r>
                <a:r>
                  <a:rPr lang="pt-BR" dirty="0"/>
                  <a:t> : constante de Boltzmann (~</a:t>
                </a:r>
                <a:r>
                  <a:rPr lang="pt-BR" dirty="0">
                    <a:latin typeface="Times New Roman" pitchFamily="18" charset="0"/>
                    <a:cs typeface="Times New Roman" pitchFamily="18" charset="0"/>
                  </a:rPr>
                  <a:t>1,38</a:t>
                </a:r>
                <a:r>
                  <a:rPr lang="pt-BR" dirty="0"/>
                  <a:t> x </a:t>
                </a:r>
                <a:r>
                  <a:rPr lang="pt-BR" dirty="0">
                    <a:latin typeface="Times New Roman" pitchFamily="18" charset="0"/>
                    <a:cs typeface="Times New Roman" pitchFamily="18" charset="0"/>
                  </a:rPr>
                  <a:t>10</a:t>
                </a:r>
                <a:r>
                  <a:rPr lang="pt-BR" baseline="30000" dirty="0">
                    <a:latin typeface="Times New Roman" pitchFamily="18" charset="0"/>
                    <a:cs typeface="Times New Roman" pitchFamily="18" charset="0"/>
                  </a:rPr>
                  <a:t>-23</a:t>
                </a:r>
                <a:r>
                  <a:rPr lang="pt-BR" dirty="0"/>
                  <a:t>J/K)</a:t>
                </a:r>
              </a:p>
              <a:p>
                <a:pPr lvl="1"/>
                <a:r>
                  <a:rPr lang="pt-BR" i="1" dirty="0">
                    <a:latin typeface="Times New Roman" pitchFamily="18" charset="0"/>
                    <a:cs typeface="Times New Roman" pitchFamily="18" charset="0"/>
                  </a:rPr>
                  <a:t>T</a:t>
                </a:r>
                <a:r>
                  <a:rPr lang="pt-BR" dirty="0"/>
                  <a:t>: temperatura em K</a:t>
                </a:r>
              </a:p>
              <a:p>
                <a:pPr lvl="1"/>
                <a:r>
                  <a:rPr lang="pt-BR" i="1" dirty="0">
                    <a:latin typeface="Times New Roman" pitchFamily="18" charset="0"/>
                    <a:cs typeface="Times New Roman" pitchFamily="18" charset="0"/>
                  </a:rPr>
                  <a:t>R</a:t>
                </a:r>
                <a:r>
                  <a:rPr lang="pt-BR" dirty="0"/>
                  <a:t>: resistência em </a:t>
                </a:r>
                <a:r>
                  <a:rPr lang="pt-BR" dirty="0">
                    <a:latin typeface="Symbol" pitchFamily="18" charset="2"/>
                  </a:rPr>
                  <a:t>W</a:t>
                </a:r>
              </a:p>
              <a:p>
                <a:endParaRPr lang="pt-BR" dirty="0"/>
              </a:p>
              <a:p>
                <a:endParaRPr lang="pt-BR" dirty="0"/>
              </a:p>
              <a:p>
                <a:endParaRPr lang="pt-BR" dirty="0"/>
              </a:p>
              <a:p>
                <a:endParaRPr lang="pt-BR" dirty="0"/>
              </a:p>
              <a:p>
                <a:endParaRPr lang="pt-BR" dirty="0"/>
              </a:p>
            </p:txBody>
          </p:sp>
        </mc:Choice>
        <mc:Fallback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FE9DD900-FFCD-2BF3-7DF8-731EECD72D6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9" y="1390248"/>
                <a:ext cx="6413205" cy="4351338"/>
              </a:xfrm>
              <a:blipFill>
                <a:blip r:embed="rId2"/>
                <a:stretch>
                  <a:fillRect l="-1425" t="-3501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Imagem 4">
            <a:extLst>
              <a:ext uri="{FF2B5EF4-FFF2-40B4-BE49-F238E27FC236}">
                <a16:creationId xmlns:a16="http://schemas.microsoft.com/office/drawing/2014/main" id="{B10A4942-2B82-8301-4B86-48B5B7D686F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45080" y="1916519"/>
            <a:ext cx="4887104" cy="32987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0837111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CE311A4-837A-DE55-128C-F1701156EB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Ruído Térmico</a:t>
            </a:r>
            <a:br>
              <a:rPr lang="pt-BR" dirty="0"/>
            </a:br>
            <a:r>
              <a:rPr lang="pt-BR" dirty="0"/>
              <a:t>Modelo</a:t>
            </a:r>
          </a:p>
        </p:txBody>
      </p:sp>
      <p:pic>
        <p:nvPicPr>
          <p:cNvPr id="4" name="Imagem 3">
            <a:extLst>
              <a:ext uri="{FF2B5EF4-FFF2-40B4-BE49-F238E27FC236}">
                <a16:creationId xmlns:a16="http://schemas.microsoft.com/office/drawing/2014/main" id="{B28077FE-4638-45C3-7F2D-278C68E309C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68073" y="1607003"/>
            <a:ext cx="3876675" cy="4057650"/>
          </a:xfrm>
          <a:prstGeom prst="rect">
            <a:avLst/>
          </a:prstGeom>
        </p:spPr>
      </p:pic>
      <p:pic>
        <p:nvPicPr>
          <p:cNvPr id="5" name="Imagem 4" descr="Norton model of resistor thermal noise. | Download Scientific Diagram">
            <a:extLst>
              <a:ext uri="{FF2B5EF4-FFF2-40B4-BE49-F238E27FC236}">
                <a16:creationId xmlns:a16="http://schemas.microsoft.com/office/drawing/2014/main" id="{3343386B-8A0B-A8A4-A7EE-975CC9DA11A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64976" y="1904765"/>
            <a:ext cx="5064962" cy="3462126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6" name="CaixaDeTexto 5">
                <a:extLst>
                  <a:ext uri="{FF2B5EF4-FFF2-40B4-BE49-F238E27FC236}">
                    <a16:creationId xmlns:a16="http://schemas.microsoft.com/office/drawing/2014/main" id="{E994EE69-2C10-73DF-DCDA-9C59B13E6D59}"/>
                  </a:ext>
                </a:extLst>
              </p:cNvPr>
              <p:cNvSpPr txBox="1"/>
              <p:nvPr/>
            </p:nvSpPr>
            <p:spPr>
              <a:xfrm>
                <a:off x="5302905" y="2891233"/>
                <a:ext cx="1844349" cy="1489190"/>
              </a:xfrm>
              <a:prstGeom prst="rect">
                <a:avLst/>
              </a:prstGeom>
              <a:solidFill>
                <a:srgbClr val="FFFFFF"/>
              </a:solidFill>
            </p:spPr>
            <p:txBody>
              <a:bodyPr wrap="square" rtlCol="0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right"/>
                    </m:oMathParaPr>
                    <m:oMath>
                      <m:f>
                        <m:fPr>
                          <m:ctrlPr>
                            <a:rPr lang="pt-BR" sz="4400" b="1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sz="4400" b="1" i="1" smtClean="0">
                              <a:latin typeface="Cambria Math" panose="02040503050406030204" pitchFamily="18" charset="0"/>
                            </a:rPr>
                            <m:t>𝟐</m:t>
                          </m:r>
                          <m:r>
                            <a:rPr lang="pt-BR" sz="4400" b="1" i="1" smtClean="0">
                              <a:latin typeface="Cambria Math" panose="02040503050406030204" pitchFamily="18" charset="0"/>
                            </a:rPr>
                            <m:t>𝒌𝑻</m:t>
                          </m:r>
                        </m:num>
                        <m:den>
                          <m:sSub>
                            <m:sSubPr>
                              <m:ctrlPr>
                                <a:rPr lang="pt-BR" sz="4400" b="1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sz="4400" b="1" i="1" smtClean="0">
                                  <a:latin typeface="Cambria Math" panose="02040503050406030204" pitchFamily="18" charset="0"/>
                                </a:rPr>
                                <m:t>𝑹</m:t>
                              </m:r>
                            </m:e>
                            <m:sub>
                              <m:r>
                                <a:rPr lang="pt-BR" sz="4400" b="1" i="1" smtClean="0">
                                  <a:latin typeface="Cambria Math" panose="02040503050406030204" pitchFamily="18" charset="0"/>
                                </a:rPr>
                                <m:t>𝟏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  <a:endParaRPr lang="pt-BR" sz="4400" b="1" baseline="-25000" dirty="0"/>
              </a:p>
            </p:txBody>
          </p:sp>
        </mc:Choice>
        <mc:Fallback>
          <p:sp>
            <p:nvSpPr>
              <p:cNvPr id="6" name="CaixaDeTexto 5">
                <a:extLst>
                  <a:ext uri="{FF2B5EF4-FFF2-40B4-BE49-F238E27FC236}">
                    <a16:creationId xmlns:a16="http://schemas.microsoft.com/office/drawing/2014/main" id="{E994EE69-2C10-73DF-DCDA-9C59B13E6D5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02905" y="2891233"/>
                <a:ext cx="1844349" cy="1489190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CaixaDeTexto 7">
            <a:extLst>
              <a:ext uri="{FF2B5EF4-FFF2-40B4-BE49-F238E27FC236}">
                <a16:creationId xmlns:a16="http://schemas.microsoft.com/office/drawing/2014/main" id="{4144D399-F272-F5AA-21A6-CB4CA0B04EC7}"/>
              </a:ext>
            </a:extLst>
          </p:cNvPr>
          <p:cNvSpPr txBox="1"/>
          <p:nvPr/>
        </p:nvSpPr>
        <p:spPr>
          <a:xfrm>
            <a:off x="1262062" y="3814082"/>
            <a:ext cx="1844349" cy="769441"/>
          </a:xfrm>
          <a:prstGeom prst="rect">
            <a:avLst/>
          </a:prstGeom>
          <a:solidFill>
            <a:srgbClr val="FFFFFF"/>
          </a:solidFill>
        </p:spPr>
        <p:txBody>
          <a:bodyPr wrap="square" rtlCol="0">
            <a:spAutoFit/>
          </a:bodyPr>
          <a:lstStyle/>
          <a:p>
            <a:pPr algn="r"/>
            <a:r>
              <a:rPr lang="pt-BR" sz="4400" b="1" dirty="0"/>
              <a:t>2</a:t>
            </a:r>
            <a:r>
              <a:rPr lang="pt-BR" sz="4400" b="1" i="1" dirty="0"/>
              <a:t>kTR</a:t>
            </a:r>
            <a:r>
              <a:rPr lang="pt-BR" sz="4400" b="1" baseline="-25000" dirty="0"/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208382130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DC76E1E-5977-845C-FC67-13960D0110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Ruído Térmico</a:t>
            </a:r>
            <a:br>
              <a:rPr lang="pt-BR" dirty="0"/>
            </a:br>
            <a:r>
              <a:rPr lang="pt-BR" dirty="0"/>
              <a:t>Dissipação de Potência</a:t>
            </a:r>
          </a:p>
        </p:txBody>
      </p:sp>
      <p:pic>
        <p:nvPicPr>
          <p:cNvPr id="4" name="Imagem 3">
            <a:extLst>
              <a:ext uri="{FF2B5EF4-FFF2-40B4-BE49-F238E27FC236}">
                <a16:creationId xmlns:a16="http://schemas.microsoft.com/office/drawing/2014/main" id="{A76767A1-99D7-F90F-884C-E7BB56EFA99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68073" y="1607003"/>
            <a:ext cx="3876675" cy="4057650"/>
          </a:xfrm>
          <a:prstGeom prst="rect">
            <a:avLst/>
          </a:prstGeom>
        </p:spPr>
      </p:pic>
      <p:sp>
        <p:nvSpPr>
          <p:cNvPr id="6" name="CaixaDeTexto 5">
            <a:extLst>
              <a:ext uri="{FF2B5EF4-FFF2-40B4-BE49-F238E27FC236}">
                <a16:creationId xmlns:a16="http://schemas.microsoft.com/office/drawing/2014/main" id="{0D8A44F0-6CA3-3EBE-1300-AF6572C60A7E}"/>
              </a:ext>
            </a:extLst>
          </p:cNvPr>
          <p:cNvSpPr txBox="1"/>
          <p:nvPr/>
        </p:nvSpPr>
        <p:spPr>
          <a:xfrm>
            <a:off x="1262062" y="3814082"/>
            <a:ext cx="1844349" cy="769441"/>
          </a:xfrm>
          <a:prstGeom prst="rect">
            <a:avLst/>
          </a:prstGeom>
          <a:solidFill>
            <a:srgbClr val="FFFFFF"/>
          </a:solidFill>
        </p:spPr>
        <p:txBody>
          <a:bodyPr wrap="square" rtlCol="0">
            <a:spAutoFit/>
          </a:bodyPr>
          <a:lstStyle/>
          <a:p>
            <a:pPr algn="r"/>
            <a:r>
              <a:rPr lang="pt-BR" sz="4400" b="1" dirty="0"/>
              <a:t>2</a:t>
            </a:r>
            <a:r>
              <a:rPr lang="pt-BR" sz="4400" b="1" i="1" dirty="0"/>
              <a:t>kTR</a:t>
            </a:r>
            <a:r>
              <a:rPr lang="pt-BR" sz="4400" b="1" baseline="-25000" dirty="0"/>
              <a:t>1</a:t>
            </a:r>
          </a:p>
        </p:txBody>
      </p:sp>
      <p:pic>
        <p:nvPicPr>
          <p:cNvPr id="8" name="Imagem 7">
            <a:extLst>
              <a:ext uri="{FF2B5EF4-FFF2-40B4-BE49-F238E27FC236}">
                <a16:creationId xmlns:a16="http://schemas.microsoft.com/office/drawing/2014/main" id="{B39CC383-9E4E-187D-45D2-E3B8EE1CE63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37926" y="2917058"/>
            <a:ext cx="1751980" cy="1023884"/>
          </a:xfrm>
          <a:prstGeom prst="rect">
            <a:avLst/>
          </a:prstGeom>
        </p:spPr>
      </p:pic>
      <p:cxnSp>
        <p:nvCxnSpPr>
          <p:cNvPr id="10" name="Conector reto 9">
            <a:extLst>
              <a:ext uri="{FF2B5EF4-FFF2-40B4-BE49-F238E27FC236}">
                <a16:creationId xmlns:a16="http://schemas.microsoft.com/office/drawing/2014/main" id="{CF462E59-9BF0-0D73-84A0-6F6C0360A694}"/>
              </a:ext>
            </a:extLst>
          </p:cNvPr>
          <p:cNvCxnSpPr/>
          <p:nvPr/>
        </p:nvCxnSpPr>
        <p:spPr>
          <a:xfrm flipV="1">
            <a:off x="6411685" y="1905001"/>
            <a:ext cx="0" cy="1033829"/>
          </a:xfrm>
          <a:prstGeom prst="line">
            <a:avLst/>
          </a:prstGeom>
          <a:ln w="34925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Conector reto 10">
            <a:extLst>
              <a:ext uri="{FF2B5EF4-FFF2-40B4-BE49-F238E27FC236}">
                <a16:creationId xmlns:a16="http://schemas.microsoft.com/office/drawing/2014/main" id="{389CC9CC-523D-D5B1-7B8D-133EC8B2417C}"/>
              </a:ext>
            </a:extLst>
          </p:cNvPr>
          <p:cNvCxnSpPr>
            <a:cxnSpLocks/>
          </p:cNvCxnSpPr>
          <p:nvPr/>
        </p:nvCxnSpPr>
        <p:spPr>
          <a:xfrm flipV="1">
            <a:off x="6411685" y="3897724"/>
            <a:ext cx="0" cy="1392733"/>
          </a:xfrm>
          <a:prstGeom prst="line">
            <a:avLst/>
          </a:prstGeom>
          <a:ln w="34925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Conector reto 13">
            <a:extLst>
              <a:ext uri="{FF2B5EF4-FFF2-40B4-BE49-F238E27FC236}">
                <a16:creationId xmlns:a16="http://schemas.microsoft.com/office/drawing/2014/main" id="{9CF2DD71-2BF6-25E2-DD24-50D0E1E9D219}"/>
              </a:ext>
            </a:extLst>
          </p:cNvPr>
          <p:cNvCxnSpPr/>
          <p:nvPr/>
        </p:nvCxnSpPr>
        <p:spPr>
          <a:xfrm>
            <a:off x="4724400" y="1905001"/>
            <a:ext cx="1687285" cy="0"/>
          </a:xfrm>
          <a:prstGeom prst="line">
            <a:avLst/>
          </a:prstGeom>
          <a:ln w="317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Conector reto 14">
            <a:extLst>
              <a:ext uri="{FF2B5EF4-FFF2-40B4-BE49-F238E27FC236}">
                <a16:creationId xmlns:a16="http://schemas.microsoft.com/office/drawing/2014/main" id="{E0514ED1-F872-F02E-0FCC-678D3DD9F8CF}"/>
              </a:ext>
            </a:extLst>
          </p:cNvPr>
          <p:cNvCxnSpPr/>
          <p:nvPr/>
        </p:nvCxnSpPr>
        <p:spPr>
          <a:xfrm>
            <a:off x="4735286" y="5236027"/>
            <a:ext cx="1687285" cy="0"/>
          </a:xfrm>
          <a:prstGeom prst="line">
            <a:avLst/>
          </a:prstGeom>
          <a:ln w="317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16" name="CaixaDeTexto 15">
                <a:extLst>
                  <a:ext uri="{FF2B5EF4-FFF2-40B4-BE49-F238E27FC236}">
                    <a16:creationId xmlns:a16="http://schemas.microsoft.com/office/drawing/2014/main" id="{F82416F9-6E7D-C98D-B2B4-85FAADF0E495}"/>
                  </a:ext>
                </a:extLst>
              </p:cNvPr>
              <p:cNvSpPr txBox="1"/>
              <p:nvPr/>
            </p:nvSpPr>
            <p:spPr>
              <a:xfrm>
                <a:off x="7293429" y="1905001"/>
                <a:ext cx="4463141" cy="265970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pt-BR" sz="2800" dirty="0"/>
                  <a:t>A carga casada maximiza a transferência de potência.</a:t>
                </a:r>
              </a:p>
              <a:p>
                <a:r>
                  <a:rPr lang="pt-BR" sz="2800" dirty="0"/>
                  <a:t>A potência dissipada no resistor casado tem PSD</a:t>
                </a:r>
              </a:p>
              <a:p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pt-BR" sz="2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2800" b="0" i="1" smtClean="0"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a:rPr lang="pt-BR" sz="28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sub>
                      </m:sSub>
                      <m:d>
                        <m:dPr>
                          <m:ctrlPr>
                            <a:rPr lang="pt-BR" sz="28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sz="2800" b="0" i="1" smtClean="0"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</m:d>
                      <m:r>
                        <a:rPr lang="pt-BR" sz="28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sz="28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sz="2800" b="0" i="1" smtClean="0">
                              <a:latin typeface="Cambria Math" panose="02040503050406030204" pitchFamily="18" charset="0"/>
                            </a:rPr>
                            <m:t>𝑘𝑇</m:t>
                          </m:r>
                        </m:num>
                        <m:den>
                          <m:r>
                            <a:rPr lang="pt-BR" sz="28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f>
                        <m:fPr>
                          <m:ctrlPr>
                            <a:rPr lang="pt-BR" sz="2800" b="0" i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m:rPr>
                              <m:sty m:val="p"/>
                            </m:rPr>
                            <a:rPr lang="pt-BR" sz="2800" b="0" i="0" smtClean="0">
                              <a:latin typeface="Cambria Math" panose="02040503050406030204" pitchFamily="18" charset="0"/>
                            </a:rPr>
                            <m:t>W</m:t>
                          </m:r>
                        </m:num>
                        <m:den>
                          <m:r>
                            <m:rPr>
                              <m:sty m:val="p"/>
                            </m:rPr>
                            <a:rPr lang="pt-BR" sz="2800" b="0" i="0" smtClean="0">
                              <a:latin typeface="Cambria Math" panose="02040503050406030204" pitchFamily="18" charset="0"/>
                            </a:rPr>
                            <m:t>Hz</m:t>
                          </m:r>
                        </m:den>
                      </m:f>
                    </m:oMath>
                  </m:oMathPara>
                </a14:m>
                <a:endParaRPr lang="pt-BR" sz="2800" dirty="0"/>
              </a:p>
            </p:txBody>
          </p:sp>
        </mc:Choice>
        <mc:Fallback>
          <p:sp>
            <p:nvSpPr>
              <p:cNvPr id="16" name="CaixaDeTexto 15">
                <a:extLst>
                  <a:ext uri="{FF2B5EF4-FFF2-40B4-BE49-F238E27FC236}">
                    <a16:creationId xmlns:a16="http://schemas.microsoft.com/office/drawing/2014/main" id="{F82416F9-6E7D-C98D-B2B4-85FAADF0E49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93429" y="1905001"/>
                <a:ext cx="4463141" cy="2659702"/>
              </a:xfrm>
              <a:prstGeom prst="rect">
                <a:avLst/>
              </a:prstGeom>
              <a:blipFill>
                <a:blip r:embed="rId4"/>
                <a:stretch>
                  <a:fillRect l="-2729" t="-2294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42006871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EDE877C-C34A-CA4F-C15A-3D4DA7AAD8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Ruído Térmico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112B8568-630A-0CAB-AE17-9C9CB86454D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pt-BR" dirty="0"/>
                  <a:t>Em receptores de comunicações, considera-se uma carga casada com temperatura de 300 K (26,85º C)</a:t>
                </a:r>
              </a:p>
              <a:p>
                <a:r>
                  <a:rPr lang="pt-BR" dirty="0"/>
                  <a:t>Neste caso a potência do ruído é dada por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sSub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=2×</m:t>
                      </m:r>
                      <m:sSup>
                        <m:sSup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10</m:t>
                          </m:r>
                        </m:e>
                        <m:sup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−21</m:t>
                          </m:r>
                        </m:sup>
                      </m:sSup>
                      <m:f>
                        <m:fPr>
                          <m:ctrlPr>
                            <a:rPr lang="pt-BR" b="0" i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m:rPr>
                              <m:sty m:val="p"/>
                            </m:rPr>
                            <a:rPr lang="pt-BR" b="0" i="0" smtClean="0">
                              <a:latin typeface="Cambria Math" panose="02040503050406030204" pitchFamily="18" charset="0"/>
                            </a:rPr>
                            <m:t>W</m:t>
                          </m:r>
                        </m:num>
                        <m:den>
                          <m:r>
                            <m:rPr>
                              <m:sty m:val="p"/>
                            </m:rPr>
                            <a:rPr lang="pt-BR" b="0" i="0" smtClean="0">
                              <a:latin typeface="Cambria Math" panose="02040503050406030204" pitchFamily="18" charset="0"/>
                            </a:rPr>
                            <m:t>Hz</m:t>
                          </m:r>
                        </m:den>
                      </m:f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×2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𝐵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=−174 </m:t>
                      </m:r>
                      <m:r>
                        <m:rPr>
                          <m:sty m:val="p"/>
                        </m:rPr>
                        <a:rPr lang="pt-BR">
                          <a:latin typeface="Cambria Math" panose="02040503050406030204" pitchFamily="18" charset="0"/>
                        </a:rPr>
                        <m:t>dBm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 +10</m:t>
                      </m:r>
                      <m:func>
                        <m:func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sSub>
                            <m:sSubPr>
                              <m:ctrlPr>
                                <a:rPr lang="pt-BR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pt-BR">
                                  <a:latin typeface="Cambria Math" panose="02040503050406030204" pitchFamily="18" charset="0"/>
                                </a:rPr>
                                <m:t>log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10</m:t>
                              </m:r>
                            </m:sub>
                          </m:sSub>
                        </m:fName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</m:func>
                    </m:oMath>
                  </m:oMathPara>
                </a14:m>
                <a:endParaRPr lang="pt-BR" dirty="0"/>
              </a:p>
              <a:p>
                <a:pPr marL="0" indent="0">
                  <a:buNone/>
                </a:pPr>
                <a:endParaRPr lang="pt-BR" dirty="0"/>
              </a:p>
            </p:txBody>
          </p:sp>
        </mc:Choice>
        <mc:Fallback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112B8568-630A-0CAB-AE17-9C9CB86454D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381" r="-754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80356912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114857D-D9D0-D4EE-6BD1-9E0262B7F0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Ruído Colorido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41004B5C-AC5A-8250-111A-D58D2FCAF33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pt-BR" dirty="0"/>
                  <a:t>Ruído rosa: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d>
                      <m:dPr>
                        <m:ctrlPr>
                          <a:rPr lang="pt-BR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</m:d>
                    <m:r>
                      <a:rPr lang="pt-BR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pt-BR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</m:num>
                      <m:den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|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𝑓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|</m:t>
                        </m:r>
                      </m:den>
                    </m:f>
                  </m:oMath>
                </a14:m>
                <a:endParaRPr lang="pt-BR" dirty="0"/>
              </a:p>
              <a:p>
                <a:pPr lvl="1"/>
                <a:endParaRPr lang="pt-BR" dirty="0"/>
              </a:p>
              <a:p>
                <a:r>
                  <a:rPr lang="pt-BR" dirty="0"/>
                  <a:t>Ruído vermelho (Browniano):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</m:d>
                    <m:r>
                      <a:rPr lang="pt-BR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pt-BR" i="1">
                            <a:latin typeface="Cambria Math" panose="02040503050406030204" pitchFamily="18" charset="0"/>
                          </a:rPr>
                          <m:t>𝐴</m:t>
                        </m:r>
                      </m:num>
                      <m:den>
                        <m:sSup>
                          <m:sSup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d>
                              <m:dPr>
                                <m:begChr m:val="|"/>
                                <m:endChr m:val="|"/>
                                <m:ctrlPr>
                                  <a:rPr lang="pt-BR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𝑓</m:t>
                                </m:r>
                              </m:e>
                            </m:d>
                          </m:e>
                          <m:sup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den>
                    </m:f>
                  </m:oMath>
                </a14:m>
                <a:endParaRPr lang="pt-BR" dirty="0"/>
              </a:p>
              <a:p>
                <a:endParaRPr lang="pt-BR" dirty="0"/>
              </a:p>
              <a:p>
                <a:r>
                  <a:rPr lang="pt-BR" dirty="0"/>
                  <a:t>Em Comunicações, ruído branco é o mais importante (presente em todo receptor)</a:t>
                </a:r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41004B5C-AC5A-8250-111A-D58D2FCAF33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420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10912510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222597-FC6E-D5CE-EC13-25FBF5A725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44439AC-1C6B-4CAB-25BE-E4FB00C2E8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Ruído Colorido</a:t>
            </a:r>
            <a:br>
              <a:rPr lang="pt-BR" dirty="0"/>
            </a:br>
            <a:r>
              <a:rPr lang="pt-BR" dirty="0"/>
              <a:t>Exemplo</a:t>
            </a:r>
          </a:p>
        </p:txBody>
      </p:sp>
      <p:pic>
        <p:nvPicPr>
          <p:cNvPr id="7" name="Imagem 6">
            <a:extLst>
              <a:ext uri="{FF2B5EF4-FFF2-40B4-BE49-F238E27FC236}">
                <a16:creationId xmlns:a16="http://schemas.microsoft.com/office/drawing/2014/main" id="{9A446372-10AD-DAFB-5B87-B7F5A9FC7A1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49765" y="1233377"/>
            <a:ext cx="10304035" cy="49588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2085805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C3D2C93-2846-E5F0-3E08-8B6D6D20AA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Razão Sinal Ruído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BD464ADF-1B1D-7455-6C30-7C52C350B57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pt-BR" dirty="0"/>
                  <a:t>Signal-</a:t>
                </a:r>
                <a:r>
                  <a:rPr lang="pt-BR" dirty="0" err="1"/>
                  <a:t>to</a:t>
                </a:r>
                <a:r>
                  <a:rPr lang="pt-BR" dirty="0"/>
                  <a:t>-Noise </a:t>
                </a:r>
                <a:r>
                  <a:rPr lang="pt-BR" dirty="0" err="1"/>
                  <a:t>Ratio</a:t>
                </a:r>
                <a:r>
                  <a:rPr lang="pt-BR" dirty="0"/>
                  <a:t> (SNR) ou Razão Sinal Ruído</a:t>
                </a:r>
              </a:p>
              <a:p>
                <a:endParaRPr lang="pt-BR" dirty="0"/>
              </a:p>
              <a:p>
                <a:pPr marL="0" indent="0">
                  <a:buNone/>
                </a:pPr>
                <a:endParaRPr lang="pt-BR" b="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𝑅𝑆𝑅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𝑃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sub>
                          </m:sSub>
                        </m:num>
                        <m:den>
                          <m:sSub>
                            <m:sSubPr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𝑃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sub>
                          </m:sSub>
                        </m:den>
                      </m:f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𝑃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sub>
                          </m:sSub>
                        </m:num>
                        <m:den>
                          <m:sSub>
                            <m:sSubPr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𝐵</m:t>
                          </m:r>
                        </m:den>
                      </m:f>
                    </m:oMath>
                  </m:oMathPara>
                </a14:m>
                <a:endParaRPr lang="pt-BR" dirty="0"/>
              </a:p>
              <a:p>
                <a:pPr marL="0" indent="0">
                  <a:buNone/>
                </a:pPr>
                <a:endParaRPr lang="pt-BR" dirty="0"/>
              </a:p>
              <a:p>
                <a:pPr marL="0" indent="0">
                  <a:buNone/>
                </a:pPr>
                <a:r>
                  <a:rPr lang="pt-BR" dirty="0"/>
                  <a:t>Desempenho de sistemas de comunicações depende da RSR</a:t>
                </a:r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BD464ADF-1B1D-7455-6C30-7C52C350B57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217" t="-2381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55884861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AF04F2F-D90C-6DF7-9B9C-F3682ED8DD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Razão Sinal Ruído – dB</a:t>
            </a:r>
            <a:br>
              <a:rPr lang="pt-BR" dirty="0"/>
            </a:br>
            <a:r>
              <a:rPr lang="pt-BR" dirty="0"/>
              <a:t>Exemplo</a:t>
            </a:r>
          </a:p>
        </p:txBody>
      </p:sp>
      <p:pic>
        <p:nvPicPr>
          <p:cNvPr id="6" name="Imagem 5">
            <a:extLst>
              <a:ext uri="{FF2B5EF4-FFF2-40B4-BE49-F238E27FC236}">
                <a16:creationId xmlns:a16="http://schemas.microsoft.com/office/drawing/2014/main" id="{9E055166-A7A0-383E-7D74-3A7E8019DBB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4738" y="1280419"/>
            <a:ext cx="10515600" cy="50606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2738515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theme/theme1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Licks Attorneys - Brazil - Presentation EN.potx  -  versão 2.0: 06/01/2022 11:04  -  Somente Leitura" id="{A6674CF9-3814-4F73-9FDA-DA843D583E93}" vid="{DB5BBEE7-B585-4951-AEB8-B408A647032B}"/>
    </a:ext>
  </a:extLst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PublishingExpirationDate xmlns="http://schemas.microsoft.com/sharepoint/v3" xsi:nil="true"/>
    <PublishingStartDate xmlns="http://schemas.microsoft.com/sharepoint/v3" xsi:nil="true"/>
    <Country_x0020_1 xmlns="95c025fe-a600-4cde-9b8b-77161b10ab73" xsi:nil="true"/>
    <TaxCatchAll xmlns="7338d0ee-48d0-42fd-8eee-cce9c16843bc" xsi:nil="true"/>
    <lcf76f155ced4ddcb4097134ff3c332f xmlns="95c025fe-a600-4cde-9b8b-77161b10ab73">
      <Terms xmlns="http://schemas.microsoft.com/office/infopath/2007/PartnerControls"/>
    </lcf76f155ced4ddcb4097134ff3c332f>
  </documentManagement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o" ma:contentTypeID="0x010100016BCB7353188E4C9571C1B2EA1322FC" ma:contentTypeVersion="35" ma:contentTypeDescription="Crie um novo documento." ma:contentTypeScope="" ma:versionID="92c51d0239284ad1c813a13c01a4fe40">
  <xsd:schema xmlns:xsd="http://www.w3.org/2001/XMLSchema" xmlns:xs="http://www.w3.org/2001/XMLSchema" xmlns:p="http://schemas.microsoft.com/office/2006/metadata/properties" xmlns:ns1="http://schemas.microsoft.com/sharepoint/v3" xmlns:ns2="95c025fe-a600-4cde-9b8b-77161b10ab73" xmlns:ns3="7338d0ee-48d0-42fd-8eee-cce9c16843bc" targetNamespace="http://schemas.microsoft.com/office/2006/metadata/properties" ma:root="true" ma:fieldsID="6edbb47d3ff2f476a00cc06bb1101404" ns1:_="" ns2:_="" ns3:_="">
    <xsd:import namespace="http://schemas.microsoft.com/sharepoint/v3"/>
    <xsd:import namespace="95c025fe-a600-4cde-9b8b-77161b10ab73"/>
    <xsd:import namespace="7338d0ee-48d0-42fd-8eee-cce9c16843bc"/>
    <xsd:element name="properties">
      <xsd:complexType>
        <xsd:sequence>
          <xsd:element name="documentManagement">
            <xsd:complexType>
              <xsd:all>
                <xsd:element ref="ns2:Country_x0020_1" minOccurs="0"/>
                <xsd:element ref="ns1:PublishingStartDate" minOccurs="0"/>
                <xsd:element ref="ns1:PublishingExpirationDate" minOccurs="0"/>
                <xsd:element ref="ns3:SharedWithUsers" minOccurs="0"/>
                <xsd:element ref="ns3:SharingHintHash" minOccurs="0"/>
                <xsd:element ref="ns3:SharedWithDetails" minOccurs="0"/>
                <xsd:element ref="ns3:LastSharedByUser" minOccurs="0"/>
                <xsd:element ref="ns3:LastSharedByTime" minOccurs="0"/>
                <xsd:element ref="ns2:MediaServiceMetadata" minOccurs="0"/>
                <xsd:element ref="ns2:MediaServiceFastMetadata" minOccurs="0"/>
                <xsd:element ref="ns2:MediaServiceAutoTags" minOccurs="0"/>
                <xsd:element ref="ns2:MediaServiceDateTaken" minOccurs="0"/>
                <xsd:element ref="ns2:MediaServiceLocation" minOccurs="0"/>
                <xsd:element ref="ns2:MediaServiceOCR" minOccurs="0"/>
                <xsd:element ref="ns2:MediaServiceEventHashCode" minOccurs="0"/>
                <xsd:element ref="ns2:MediaServiceGenerationTime" minOccurs="0"/>
                <xsd:element ref="ns2:MediaServiceAutoKeyPoints" minOccurs="0"/>
                <xsd:element ref="ns2:MediaServiceKeyPoints" minOccurs="0"/>
                <xsd:element ref="ns2:MediaLengthInSeconds" minOccurs="0"/>
                <xsd:element ref="ns2:lcf76f155ced4ddcb4097134ff3c332f" minOccurs="0"/>
                <xsd:element ref="ns3:TaxCatchAll" minOccurs="0"/>
                <xsd:element ref="ns2:MediaServiceSearchProperties" minOccurs="0"/>
                <xsd:element ref="ns2:MediaServiceObjectDetectorVersions" minOccurs="0"/>
                <xsd:element ref="ns2:MediaServiceBilling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PublishingStartDate" ma:index="8" nillable="true" ma:displayName="Agendamento de Data de Início" ma:description="Data de Início de Agendamento é uma coluna de site criada pelo recurso de Publicação. Ela é usada para especificar a data e hora em que essa página aparecerá pela primeira vez aos visitantes do site." ma:hidden="true" ma:internalName="PublishingStartDate" ma:readOnly="false">
      <xsd:simpleType>
        <xsd:restriction base="dms:Unknown"/>
      </xsd:simpleType>
    </xsd:element>
    <xsd:element name="PublishingExpirationDate" ma:index="9" nillable="true" ma:displayName="Agendamento de Data de Término" ma:description="Data Final de Agendamento é uma coluna de site criada pelo recurso de Publicação. Ela é usada para especificar a data e a hora em que essa página não será mais exibida aos visitantes do site." ma:hidden="true" ma:internalName="PublishingExpirationDate" ma:readOnly="false">
      <xsd:simpleType>
        <xsd:restriction base="dms:Unknown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95c025fe-a600-4cde-9b8b-77161b10ab73" elementFormDefault="qualified">
    <xsd:import namespace="http://schemas.microsoft.com/office/2006/documentManagement/types"/>
    <xsd:import namespace="http://schemas.microsoft.com/office/infopath/2007/PartnerControls"/>
    <xsd:element name="Country_x0020_1" ma:index="2" nillable="true" ma:displayName="Country" ma:format="Dropdown" ma:internalName="Country_x0020_1" ma:readOnly="false">
      <xsd:simpleType>
        <xsd:restriction base="dms:Choice">
          <xsd:enumeration value="China"/>
          <xsd:enumeration value="France"/>
          <xsd:enumeration value="Germany"/>
          <xsd:enumeration value="Japan"/>
          <xsd:enumeration value="Netherlands"/>
          <xsd:enumeration value="UK"/>
          <xsd:enumeration value="USA"/>
        </xsd:restriction>
      </xsd:simpleType>
    </xsd:element>
    <xsd:element name="MediaServiceMetadata" ma:index="15" nillable="true" ma:displayName="MediaServiceMetadata" ma:description="" ma:hidden="true" ma:internalName="MediaServiceMetadata" ma:readOnly="true">
      <xsd:simpleType>
        <xsd:restriction base="dms:Note"/>
      </xsd:simpleType>
    </xsd:element>
    <xsd:element name="MediaServiceFastMetadata" ma:index="16" nillable="true" ma:displayName="MediaServiceFastMetadata" ma:description="" ma:hidden="true" ma:internalName="MediaServiceFastMetadata" ma:readOnly="true">
      <xsd:simpleType>
        <xsd:restriction base="dms:Note"/>
      </xsd:simpleType>
    </xsd:element>
    <xsd:element name="MediaServiceAutoTags" ma:index="17" nillable="true" ma:displayName="MediaServiceAutoTags" ma:description="" ma:hidden="true" ma:internalName="MediaServiceAutoTags" ma:readOnly="true">
      <xsd:simpleType>
        <xsd:restriction base="dms:Text"/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MediaServiceLocation" ma:index="19" nillable="true" ma:displayName="MediaServiceLocation" ma:hidden="true" ma:internalName="MediaServiceLocation" ma:readOnly="true">
      <xsd:simpleType>
        <xsd:restriction base="dms:Text"/>
      </xsd:simpleType>
    </xsd:element>
    <xsd:element name="MediaServiceOCR" ma:index="20" nillable="true" ma:displayName="MediaServiceOCR" ma:hidden="true" ma:internalName="MediaServiceOCR" ma:readOnly="true">
      <xsd:simpleType>
        <xsd:restriction base="dms:Note"/>
      </xsd:simpleType>
    </xsd:element>
    <xsd:element name="MediaServiceEventHashCode" ma:index="21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22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23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24" nillable="true" ma:displayName="KeyPoints" ma:hidden="true" ma:internalName="MediaServiceKeyPoints" ma:readOnly="true">
      <xsd:simpleType>
        <xsd:restriction base="dms:Note"/>
      </xsd:simpleType>
    </xsd:element>
    <xsd:element name="MediaLengthInSeconds" ma:index="26" nillable="true" ma:displayName="Length (seconds)" ma:internalName="MediaLengthInSeconds" ma:readOnly="true">
      <xsd:simpleType>
        <xsd:restriction base="dms:Unknown"/>
      </xsd:simpleType>
    </xsd:element>
    <xsd:element name="lcf76f155ced4ddcb4097134ff3c332f" ma:index="28" nillable="true" ma:taxonomy="true" ma:internalName="lcf76f155ced4ddcb4097134ff3c332f" ma:taxonomyFieldName="MediaServiceImageTags" ma:displayName="Marcações de imagem" ma:readOnly="false" ma:fieldId="{5cf76f15-5ced-4ddc-b409-7134ff3c332f}" ma:taxonomyMulti="true" ma:sspId="04e8a720-b6b8-4622-b52c-5ab72fdc0c06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SearchProperties" ma:index="3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ObjectDetectorVersions" ma:index="31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BillingMetadata" ma:index="32" nillable="true" ma:displayName="MediaServiceBillingMetadata" ma:hidden="true" ma:internalName="MediaServiceBillingMetadata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338d0ee-48d0-42fd-8eee-cce9c16843bc" elementFormDefault="qualified">
    <xsd:import namespace="http://schemas.microsoft.com/office/2006/documentManagement/types"/>
    <xsd:import namespace="http://schemas.microsoft.com/office/infopath/2007/PartnerControls"/>
    <xsd:element name="SharedWithUsers" ma:index="10" nillable="true" ma:displayName="Compartilhado com" ma:hidden="true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ingHintHash" ma:index="11" nillable="true" ma:displayName="Hash de Dica de Compartilhamento" ma:hidden="true" ma:internalName="SharingHintHash" ma:readOnly="true">
      <xsd:simpleType>
        <xsd:restriction base="dms:Text"/>
      </xsd:simpleType>
    </xsd:element>
    <xsd:element name="SharedWithDetails" ma:index="12" nillable="true" ma:displayName="Detalhes de Compartilhado Com" ma:description="" ma:hidden="true" ma:internalName="SharedWithDetails" ma:readOnly="true">
      <xsd:simpleType>
        <xsd:restriction base="dms:Note"/>
      </xsd:simpleType>
    </xsd:element>
    <xsd:element name="LastSharedByUser" ma:index="13" nillable="true" ma:displayName="Último Compartilhamento Por Usuário" ma:description="" ma:hidden="true" ma:internalName="LastSharedByUser" ma:readOnly="true">
      <xsd:simpleType>
        <xsd:restriction base="dms:Note"/>
      </xsd:simpleType>
    </xsd:element>
    <xsd:element name="LastSharedByTime" ma:index="14" nillable="true" ma:displayName="Último Compartilhamento Por Tempo" ma:description="" ma:hidden="true" ma:internalName="LastSharedByTime" ma:readOnly="true">
      <xsd:simpleType>
        <xsd:restriction base="dms:DateTime"/>
      </xsd:simpleType>
    </xsd:element>
    <xsd:element name="TaxCatchAll" ma:index="29" nillable="true" ma:displayName="Taxonomy Catch All Column" ma:hidden="true" ma:list="{8971a6ca-946b-442e-a300-cc99d2254307}" ma:internalName="TaxCatchAll" ma:showField="CatchAllData" ma:web="7338d0ee-48d0-42fd-8eee-cce9c16843b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displayName="Tipo de Conteúdo"/>
        <xsd:element ref="dc:title" minOccurs="0" maxOccurs="1" ma:index="1" ma:displayName="Título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279FE441-B5D8-464E-B272-E5E9701C444C}">
  <ds:schemaRefs>
    <ds:schemaRef ds:uri="http://purl.org/dc/elements/1.1/"/>
    <ds:schemaRef ds:uri="http://schemas.microsoft.com/sharepoint/v3"/>
    <ds:schemaRef ds:uri="http://purl.org/dc/dcmitype/"/>
    <ds:schemaRef ds:uri="http://schemas.microsoft.com/office/2006/documentManagement/types"/>
    <ds:schemaRef ds:uri="http://purl.org/dc/terms/"/>
    <ds:schemaRef ds:uri="http://www.w3.org/XML/1998/namespace"/>
    <ds:schemaRef ds:uri="http://schemas.microsoft.com/office/infopath/2007/PartnerControls"/>
    <ds:schemaRef ds:uri="http://schemas.microsoft.com/office/2006/metadata/properties"/>
    <ds:schemaRef ds:uri="http://schemas.openxmlformats.org/package/2006/metadata/core-properties"/>
    <ds:schemaRef ds:uri="7338d0ee-48d0-42fd-8eee-cce9c16843bc"/>
    <ds:schemaRef ds:uri="95c025fe-a600-4cde-9b8b-77161b10ab73"/>
  </ds:schemaRefs>
</ds:datastoreItem>
</file>

<file path=customXml/itemProps2.xml><?xml version="1.0" encoding="utf-8"?>
<ds:datastoreItem xmlns:ds="http://schemas.openxmlformats.org/officeDocument/2006/customXml" ds:itemID="{82BDDB90-0A5B-4A8F-A01B-30AFB72EE556}">
  <ds:schemaRefs>
    <ds:schemaRef ds:uri="7338d0ee-48d0-42fd-8eee-cce9c16843bc"/>
    <ds:schemaRef ds:uri="95c025fe-a600-4cde-9b8b-77161b10ab73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microsoft.com/sharepoint/v3"/>
    <ds:schemaRef ds:uri="http://schemas.openxmlformats.org/package/2006/metadata/core-properties"/>
    <ds:schemaRef ds:uri="http://www.w3.org/2001/XMLSchema"/>
  </ds:schemaRefs>
</ds:datastoreItem>
</file>

<file path=customXml/itemProps3.xml><?xml version="1.0" encoding="utf-8"?>
<ds:datastoreItem xmlns:ds="http://schemas.openxmlformats.org/officeDocument/2006/customXml" ds:itemID="{34FEC8D3-7B32-419B-A4A3-EBB3317EEE79}">
  <ds:schemaRefs>
    <ds:schemaRef ds:uri="http://schemas.microsoft.com/sharepoint/v3/contenttype/forms"/>
  </ds:schemaRefs>
</ds:datastoreItem>
</file>

<file path=docMetadata/LabelInfo.xml><?xml version="1.0" encoding="utf-8"?>
<clbl:labelList xmlns:clbl="http://schemas.microsoft.com/office/2020/mipLabelMetadata">
  <clbl:label id="{756163f3-60ab-41f6-93dc-6e1b6af775b3}" enabled="1" method="Privileged" siteId="{a5a01691-338c-4b57-812c-24d594995cd6}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Licks Attorneys - Brazil - Presentation EN</Template>
  <TotalTime>13262</TotalTime>
  <Words>1048</Words>
  <Application>Microsoft Office PowerPoint</Application>
  <PresentationFormat>Widescreen</PresentationFormat>
  <Paragraphs>208</Paragraphs>
  <Slides>39</Slides>
  <Notes>3</Notes>
  <HiddenSlides>0</HiddenSlides>
  <MMClips>0</MMClips>
  <ScaleCrop>false</ScaleCrop>
  <HeadingPairs>
    <vt:vector size="6" baseType="variant">
      <vt:variant>
        <vt:lpstr>Fontes usadas</vt:lpstr>
      </vt:variant>
      <vt:variant>
        <vt:i4>7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39</vt:i4>
      </vt:variant>
    </vt:vector>
  </HeadingPairs>
  <TitlesOfParts>
    <vt:vector size="47" baseType="lpstr">
      <vt:lpstr>Arial</vt:lpstr>
      <vt:lpstr>Calibri</vt:lpstr>
      <vt:lpstr>Calibri Light</vt:lpstr>
      <vt:lpstr>Cambria Math</vt:lpstr>
      <vt:lpstr>Segoe UI Black</vt:lpstr>
      <vt:lpstr>Symbol</vt:lpstr>
      <vt:lpstr>Times New Roman</vt:lpstr>
      <vt:lpstr>Tema do Office</vt:lpstr>
      <vt:lpstr>Espectro, Banda e Ruído</vt:lpstr>
      <vt:lpstr>Energia, Potência e Banda</vt:lpstr>
      <vt:lpstr>Cálculos em decibéis (dB)</vt:lpstr>
      <vt:lpstr>decibéis</vt:lpstr>
      <vt:lpstr>Cálculos em dB</vt:lpstr>
      <vt:lpstr>Potências em dB</vt:lpstr>
      <vt:lpstr>Energia</vt:lpstr>
      <vt:lpstr>Energia de um Sinal</vt:lpstr>
      <vt:lpstr>Energia Densidade Espectral de Energia (DEE / ESD)</vt:lpstr>
      <vt:lpstr>Espectro </vt:lpstr>
      <vt:lpstr>Espectro Banda / Faixa</vt:lpstr>
      <vt:lpstr>Largura de Banda</vt:lpstr>
      <vt:lpstr>Largura de Banda Definições</vt:lpstr>
      <vt:lpstr>Largura de Banda Definições</vt:lpstr>
      <vt:lpstr>Largura de Banda Definições</vt:lpstr>
      <vt:lpstr>Sistemas Energia na Saída de Sistemas Lineares</vt:lpstr>
      <vt:lpstr>Correlação</vt:lpstr>
      <vt:lpstr>Autocorrelação</vt:lpstr>
      <vt:lpstr>Autocorrelação Exemplo</vt:lpstr>
      <vt:lpstr>Autocorrelação e Densidade Espectral de Energia</vt:lpstr>
      <vt:lpstr>Densidade Espectral de Potência</vt:lpstr>
      <vt:lpstr>Densidade Espectral de Potência</vt:lpstr>
      <vt:lpstr>Densidade Espectral de Potência (PSD)</vt:lpstr>
      <vt:lpstr>Densidade Espectral de Potência (PSD) Senoide</vt:lpstr>
      <vt:lpstr>Densidade Espectral de Potência e Autocorrelação</vt:lpstr>
      <vt:lpstr>Densidade Espectral de Potência e Autocorrelação Sinais Aleatórios</vt:lpstr>
      <vt:lpstr>Ruído Branco</vt:lpstr>
      <vt:lpstr>Ruído Branco Filtrado</vt:lpstr>
      <vt:lpstr>Ruído Branco Filtrado Exemplo</vt:lpstr>
      <vt:lpstr>Ruído Branco Gaussiano Aditivo AWGN</vt:lpstr>
      <vt:lpstr>Ruído Branco Gaussiano Aditivo – AWGN Exemplo</vt:lpstr>
      <vt:lpstr>Ruído térmico</vt:lpstr>
      <vt:lpstr>Ruído Térmico Modelo</vt:lpstr>
      <vt:lpstr>Ruído Térmico Dissipação de Potência</vt:lpstr>
      <vt:lpstr>Ruído Térmico</vt:lpstr>
      <vt:lpstr>Ruído Colorido</vt:lpstr>
      <vt:lpstr>Ruído Colorido Exemplo</vt:lpstr>
      <vt:lpstr>Razão Sinal Ruído</vt:lpstr>
      <vt:lpstr>Razão Sinal Ruído – dB Exemplo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Title June 29th, 2021</dc:title>
  <dc:creator>Sonia Ximenes</dc:creator>
  <cp:lastModifiedBy>André Barreto | Brazil | Licks Attorneys</cp:lastModifiedBy>
  <cp:revision>25</cp:revision>
  <cp:lastPrinted>2017-06-06T18:46:34Z</cp:lastPrinted>
  <dcterms:created xsi:type="dcterms:W3CDTF">2022-06-23T16:27:38Z</dcterms:created>
  <dcterms:modified xsi:type="dcterms:W3CDTF">2026-09-20T19:52:45Z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0x010100016BCB7353188E4C9571C1B2EA1322FC</vt:lpwstr>
  </property>
  <property fmtid="{D5CDD505-2E9C-101B-9397-08002B2CF9AE}" pid="3" name="MSIP_Label_8b38cb3f-a960-40d2-b589-fe5c7caef41b_Enabled">
    <vt:lpwstr>true</vt:lpwstr>
  </property>
  <property fmtid="{D5CDD505-2E9C-101B-9397-08002B2CF9AE}" pid="4" name="MSIP_Label_8b38cb3f-a960-40d2-b589-fe5c7caef41b_SetDate">
    <vt:lpwstr>2022-06-23T16:46:29Z</vt:lpwstr>
  </property>
  <property fmtid="{D5CDD505-2E9C-101B-9397-08002B2CF9AE}" pid="5" name="MSIP_Label_8b38cb3f-a960-40d2-b589-fe5c7caef41b_Method">
    <vt:lpwstr>Privileged</vt:lpwstr>
  </property>
  <property fmtid="{D5CDD505-2E9C-101B-9397-08002B2CF9AE}" pid="6" name="MSIP_Label_8b38cb3f-a960-40d2-b589-fe5c7caef41b_Name">
    <vt:lpwstr>CONFIDENTIAL</vt:lpwstr>
  </property>
  <property fmtid="{D5CDD505-2E9C-101B-9397-08002B2CF9AE}" pid="7" name="MSIP_Label_8b38cb3f-a960-40d2-b589-fe5c7caef41b_SiteId">
    <vt:lpwstr>a5a01691-338c-4b57-812c-24d594995cd6</vt:lpwstr>
  </property>
  <property fmtid="{D5CDD505-2E9C-101B-9397-08002B2CF9AE}" pid="8" name="MSIP_Label_8b38cb3f-a960-40d2-b589-fe5c7caef41b_ActionId">
    <vt:lpwstr>82308caf-a452-4fdc-9535-426c4b72816e</vt:lpwstr>
  </property>
  <property fmtid="{D5CDD505-2E9C-101B-9397-08002B2CF9AE}" pid="9" name="MSIP_Label_8b38cb3f-a960-40d2-b589-fe5c7caef41b_ContentBits">
    <vt:lpwstr>1</vt:lpwstr>
  </property>
  <property fmtid="{D5CDD505-2E9C-101B-9397-08002B2CF9AE}" pid="10" name="MediaServiceImageTags">
    <vt:lpwstr/>
  </property>
</Properties>
</file>