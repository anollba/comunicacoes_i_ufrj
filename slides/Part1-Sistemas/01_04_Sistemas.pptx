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7"/>
  </p:notesMasterIdLst>
  <p:handoutMasterIdLst>
    <p:handoutMasterId r:id="rId38"/>
  </p:handoutMasterIdLst>
  <p:sldIdLst>
    <p:sldId id="259" r:id="rId5"/>
    <p:sldId id="336" r:id="rId6"/>
    <p:sldId id="339" r:id="rId7"/>
    <p:sldId id="261" r:id="rId8"/>
    <p:sldId id="338" r:id="rId9"/>
    <p:sldId id="262" r:id="rId10"/>
    <p:sldId id="266" r:id="rId11"/>
    <p:sldId id="337" r:id="rId12"/>
    <p:sldId id="328" r:id="rId13"/>
    <p:sldId id="329" r:id="rId14"/>
    <p:sldId id="264" r:id="rId15"/>
    <p:sldId id="330" r:id="rId16"/>
    <p:sldId id="331" r:id="rId17"/>
    <p:sldId id="333" r:id="rId18"/>
    <p:sldId id="334" r:id="rId19"/>
    <p:sldId id="335" r:id="rId20"/>
    <p:sldId id="275" r:id="rId21"/>
    <p:sldId id="342" r:id="rId22"/>
    <p:sldId id="327" r:id="rId23"/>
    <p:sldId id="343" r:id="rId24"/>
    <p:sldId id="344" r:id="rId25"/>
    <p:sldId id="332" r:id="rId26"/>
    <p:sldId id="340" r:id="rId27"/>
    <p:sldId id="341" r:id="rId28"/>
    <p:sldId id="277" r:id="rId29"/>
    <p:sldId id="345" r:id="rId30"/>
    <p:sldId id="346" r:id="rId31"/>
    <p:sldId id="347" r:id="rId32"/>
    <p:sldId id="348" r:id="rId33"/>
    <p:sldId id="281" r:id="rId34"/>
    <p:sldId id="350" r:id="rId35"/>
    <p:sldId id="276" r:id="rId36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66F45CC5-03A4-427B-927A-123D5694A762}">
          <p14:sldIdLst>
            <p14:sldId id="259"/>
            <p14:sldId id="336"/>
            <p14:sldId id="339"/>
            <p14:sldId id="261"/>
            <p14:sldId id="338"/>
            <p14:sldId id="262"/>
            <p14:sldId id="266"/>
            <p14:sldId id="337"/>
            <p14:sldId id="328"/>
            <p14:sldId id="329"/>
            <p14:sldId id="264"/>
            <p14:sldId id="330"/>
            <p14:sldId id="331"/>
            <p14:sldId id="333"/>
            <p14:sldId id="334"/>
            <p14:sldId id="335"/>
          </p14:sldIdLst>
        </p14:section>
        <p14:section name="Seção sem Título" id="{0AF02E1A-BA6A-4459-AB01-C48EDF29A88E}">
          <p14:sldIdLst>
            <p14:sldId id="275"/>
            <p14:sldId id="342"/>
            <p14:sldId id="327"/>
            <p14:sldId id="343"/>
            <p14:sldId id="344"/>
            <p14:sldId id="332"/>
            <p14:sldId id="340"/>
            <p14:sldId id="341"/>
            <p14:sldId id="277"/>
            <p14:sldId id="345"/>
            <p14:sldId id="346"/>
            <p14:sldId id="347"/>
            <p14:sldId id="348"/>
            <p14:sldId id="281"/>
            <p14:sldId id="350"/>
            <p14:sldId id="276"/>
          </p14:sldIdLst>
        </p14:section>
      </p14:sectionLst>
    </p:ext>
    <p:ext uri="{EFAFB233-063F-42B5-8137-9DF3F51BA10A}">
      <p15:sldGuideLst xmlns:p15="http://schemas.microsoft.com/office/powerpoint/2012/main">
        <p15:guide id="1" pos="529" userDrawn="1">
          <p15:clr>
            <a:srgbClr val="A4A3A4"/>
          </p15:clr>
        </p15:guide>
        <p15:guide id="2" pos="7151" userDrawn="1">
          <p15:clr>
            <a:srgbClr val="A4A3A4"/>
          </p15:clr>
        </p15:guide>
        <p15:guide id="3" orient="horz" pos="79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nia Ximenes | Brazil | Licks Attorneys" initials="SX|B|LA" lastIdx="5" clrIdx="0">
    <p:extLst>
      <p:ext uri="{19B8F6BF-5375-455C-9EA6-DF929625EA0E}">
        <p15:presenceInfo xmlns:p15="http://schemas.microsoft.com/office/powerpoint/2012/main" userId="S-1-5-21-4064988553-3364987943-4011221069-25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72BF44"/>
    <a:srgbClr val="C9252C"/>
    <a:srgbClr val="FFFFFF"/>
    <a:srgbClr val="DDDDDD"/>
    <a:srgbClr val="221B6F"/>
    <a:srgbClr val="231F20"/>
    <a:srgbClr val="1A203F"/>
    <a:srgbClr val="383B71"/>
    <a:srgbClr val="393C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pos="529"/>
        <p:guide pos="7151"/>
        <p:guide orient="horz" pos="7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commentAuthors" Target="commentAuthor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 Barreto | Brazil | Licks Attorneys" userId="3c3fe784-f930-47d0-846e-891377665023" providerId="ADAL" clId="{35C1CF4C-9921-4844-8781-4D02391BE441}"/>
    <pc:docChg chg="delSld modSld modSection">
      <pc:chgData name="André Barreto | Brazil | Licks Attorneys" userId="3c3fe784-f930-47d0-846e-891377665023" providerId="ADAL" clId="{35C1CF4C-9921-4844-8781-4D02391BE441}" dt="2026-08-26T14:41:48.043" v="1" actId="47"/>
      <pc:docMkLst>
        <pc:docMk/>
      </pc:docMkLst>
      <pc:sldChg chg="del">
        <pc:chgData name="André Barreto | Brazil | Licks Attorneys" userId="3c3fe784-f930-47d0-846e-891377665023" providerId="ADAL" clId="{35C1CF4C-9921-4844-8781-4D02391BE441}" dt="2026-08-26T14:41:48.043" v="1" actId="47"/>
        <pc:sldMkLst>
          <pc:docMk/>
          <pc:sldMk cId="1905372911" sldId="292"/>
        </pc:sldMkLst>
      </pc:sldChg>
      <pc:sldChg chg="modSp mod">
        <pc:chgData name="André Barreto | Brazil | Licks Attorneys" userId="3c3fe784-f930-47d0-846e-891377665023" providerId="ADAL" clId="{35C1CF4C-9921-4844-8781-4D02391BE441}" dt="2026-08-26T14:41:05.589" v="0" actId="1076"/>
        <pc:sldMkLst>
          <pc:docMk/>
          <pc:sldMk cId="3461935922" sldId="339"/>
        </pc:sldMkLst>
        <pc:spChg chg="mod">
          <ac:chgData name="André Barreto | Brazil | Licks Attorneys" userId="3c3fe784-f930-47d0-846e-891377665023" providerId="ADAL" clId="{35C1CF4C-9921-4844-8781-4D02391BE441}" dt="2026-08-26T14:41:05.589" v="0" actId="1076"/>
          <ac:spMkLst>
            <pc:docMk/>
            <pc:sldMk cId="3461935922" sldId="339"/>
            <ac:spMk id="16" creationId="{F116F497-FD68-3CB4-F531-34601193C4B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073928FA-D2C6-41DE-B220-3F2DB2F37ACE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B282AF58-AFB8-48A3-96B5-4550277F4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2127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BA67B741-5C22-4E92-9233-564803058EDF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96" tIns="47398" rIns="94796" bIns="4739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80"/>
          </a:xfrm>
          <a:prstGeom prst="rect">
            <a:avLst/>
          </a:prstGeom>
        </p:spPr>
        <p:txBody>
          <a:bodyPr vert="horz" lIns="94796" tIns="47398" rIns="94796" bIns="47398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943170F2-A307-469F-9C21-48DA32EBB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885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170F2-A307-469F-9C21-48DA32EBBF52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3568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2760AE9-7072-6665-A798-B16FE36959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61054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062421D-6B9C-2119-9B24-9A8301D37D45}"/>
              </a:ext>
            </a:extLst>
          </p:cNvPr>
          <p:cNvSpPr txBox="1"/>
          <p:nvPr userDrawn="1"/>
        </p:nvSpPr>
        <p:spPr>
          <a:xfrm>
            <a:off x="4211128" y="1747180"/>
            <a:ext cx="7410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>
                <a:solidFill>
                  <a:srgbClr val="0070C0"/>
                </a:solidFill>
              </a:rPr>
              <a:t>Comunicações I</a:t>
            </a:r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92CEFEA-E523-3B80-3BF1-555F84BF36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1128" y="212338"/>
            <a:ext cx="74100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pt-BR" noProof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991359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ór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6096001" y="1367660"/>
            <a:ext cx="5269356" cy="1579289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400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sp>
        <p:nvSpPr>
          <p:cNvPr id="13" name="CaixaDeTexto 15">
            <a:extLst>
              <a:ext uri="{FF2B5EF4-FFF2-40B4-BE49-F238E27FC236}">
                <a16:creationId xmlns:a16="http://schemas.microsoft.com/office/drawing/2014/main" id="{3034A8DE-CBF7-4126-9C31-A37C294C2BE3}"/>
              </a:ext>
            </a:extLst>
          </p:cNvPr>
          <p:cNvSpPr txBox="1"/>
          <p:nvPr userDrawn="1"/>
        </p:nvSpPr>
        <p:spPr>
          <a:xfrm>
            <a:off x="10664324" y="6528028"/>
            <a:ext cx="4586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55878"/>
            <a:fld id="{62780EB2-574A-44ED-8A24-CBC304E57FAD}" type="slidenum">
              <a:rPr lang="pt-BR" sz="900">
                <a:solidFill>
                  <a:schemeClr val="tx1"/>
                </a:solidFill>
              </a:rPr>
              <a:pPr algn="r" defTabSz="855878"/>
              <a:t>‹nº›</a:t>
            </a:fld>
            <a:endParaRPr lang="pt-BR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04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som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8200" y="152401"/>
            <a:ext cx="10515600" cy="862012"/>
          </a:xfr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BF8B259D-0248-B69D-71BA-B3EF94543820}"/>
              </a:ext>
            </a:extLst>
          </p:cNvPr>
          <p:cNvCxnSpPr/>
          <p:nvPr userDrawn="1"/>
        </p:nvCxnSpPr>
        <p:spPr>
          <a:xfrm>
            <a:off x="838200" y="1014413"/>
            <a:ext cx="1051560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28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som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8200" y="152401"/>
            <a:ext cx="10515600" cy="862012"/>
          </a:xfr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sp>
        <p:nvSpPr>
          <p:cNvPr id="2" name="Espaço Reservado para Texto 2">
            <a:extLst>
              <a:ext uri="{FF2B5EF4-FFF2-40B4-BE49-F238E27FC236}">
                <a16:creationId xmlns:a16="http://schemas.microsoft.com/office/drawing/2014/main" id="{CD91DA93-1A48-C321-821D-9EA19546B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55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9A349D25-7E18-DCA3-9D79-EDA429B7D62D}"/>
              </a:ext>
            </a:extLst>
          </p:cNvPr>
          <p:cNvCxnSpPr/>
          <p:nvPr userDrawn="1"/>
        </p:nvCxnSpPr>
        <p:spPr>
          <a:xfrm>
            <a:off x="838200" y="1014413"/>
            <a:ext cx="1051560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67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429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BE6A030-3DD1-D6A5-E876-EB091AB8E4C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" y="0"/>
            <a:ext cx="649089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8AEE830-9E8A-DF74-4039-CE307E4895E4}"/>
              </a:ext>
            </a:extLst>
          </p:cNvPr>
          <p:cNvSpPr txBox="1"/>
          <p:nvPr userDrawn="1"/>
        </p:nvSpPr>
        <p:spPr>
          <a:xfrm>
            <a:off x="838200" y="6383547"/>
            <a:ext cx="2698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2477187-2393-2A22-8770-9F34FADBFE4E}"/>
              </a:ext>
            </a:extLst>
          </p:cNvPr>
          <p:cNvSpPr txBox="1"/>
          <p:nvPr userDrawn="1"/>
        </p:nvSpPr>
        <p:spPr>
          <a:xfrm>
            <a:off x="838199" y="6418053"/>
            <a:ext cx="33456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>
                <a:solidFill>
                  <a:srgbClr val="0070C0"/>
                </a:solidFill>
              </a:rPr>
              <a:t>Comunicações I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3DE7BE-E395-47CF-16B5-9329C7E53BC8}"/>
              </a:ext>
            </a:extLst>
          </p:cNvPr>
          <p:cNvSpPr txBox="1"/>
          <p:nvPr userDrawn="1"/>
        </p:nvSpPr>
        <p:spPr>
          <a:xfrm>
            <a:off x="9936191" y="6414324"/>
            <a:ext cx="1417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>
                <a:solidFill>
                  <a:srgbClr val="0070C0"/>
                </a:solidFill>
              </a:rPr>
              <a:t>Prof. André Noll</a:t>
            </a:r>
          </a:p>
        </p:txBody>
      </p:sp>
    </p:spTree>
    <p:extLst>
      <p:ext uri="{BB962C8B-B14F-4D97-AF65-F5344CB8AC3E}">
        <p14:creationId xmlns:p14="http://schemas.microsoft.com/office/powerpoint/2010/main" val="2681381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1" r:id="rId3"/>
    <p:sldLayoutId id="2147483662" r:id="rId4"/>
    <p:sldLayoutId id="2147483651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22.wmf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12.bin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20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emf"/><Relationship Id="rId4" Type="http://schemas.openxmlformats.org/officeDocument/2006/relationships/oleObject" Target="../embeddings/oleObject14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6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28.wmf"/><Relationship Id="rId7" Type="http://schemas.openxmlformats.org/officeDocument/2006/relationships/image" Target="../media/image30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31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image" Target="../media/image32.wmf"/><Relationship Id="rId7" Type="http://schemas.openxmlformats.org/officeDocument/2006/relationships/image" Target="../media/image20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35.wmf"/><Relationship Id="rId5" Type="http://schemas.openxmlformats.org/officeDocument/2006/relationships/image" Target="../media/image33.wmf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34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7" Type="http://schemas.openxmlformats.org/officeDocument/2006/relationships/image" Target="../media/image39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38.wmf"/><Relationship Id="rId4" Type="http://schemas.openxmlformats.org/officeDocument/2006/relationships/oleObject" Target="../embeddings/oleObject27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7" Type="http://schemas.openxmlformats.org/officeDocument/2006/relationships/image" Target="../media/image42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0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F866E-AD52-F484-BC73-B5DC3F9F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Transformada de Fourier</a:t>
            </a:r>
            <a:br>
              <a:rPr lang="pt-BR" dirty="0"/>
            </a:br>
            <a:r>
              <a:rPr lang="pt-BR" dirty="0"/>
              <a:t>Resposta em Frequência, Energia e Banda</a:t>
            </a:r>
          </a:p>
        </p:txBody>
      </p:sp>
    </p:spTree>
    <p:extLst>
      <p:ext uri="{BB962C8B-B14F-4D97-AF65-F5344CB8AC3E}">
        <p14:creationId xmlns:p14="http://schemas.microsoft.com/office/powerpoint/2010/main" val="209690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65EFDB-13A3-6A6F-BB09-4679E1FDD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</a:t>
            </a:r>
          </a:p>
        </p:txBody>
      </p:sp>
    </p:spTree>
    <p:extLst>
      <p:ext uri="{BB962C8B-B14F-4D97-AF65-F5344CB8AC3E}">
        <p14:creationId xmlns:p14="http://schemas.microsoft.com/office/powerpoint/2010/main" val="333068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F10ED-A550-1432-359E-9317A28DB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transformada de Fourier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02F1C580-B397-CEF7-C412-104E7E7BA3DC}"/>
                  </a:ext>
                </a:extLst>
              </p:cNvPr>
              <p:cNvSpPr txBox="1"/>
              <p:nvPr/>
            </p:nvSpPr>
            <p:spPr bwMode="auto">
              <a:xfrm>
                <a:off x="2544761" y="1449388"/>
                <a:ext cx="7110867" cy="1223964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pt-BR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pt-BR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pt-BR" sz="2800" i="0"/>
                        <m:t>ℱ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𝑓𝑡</m:t>
                              </m:r>
                            </m:sup>
                          </m:sSup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02F1C580-B397-CEF7-C412-104E7E7BA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4761" y="1449388"/>
                <a:ext cx="7110867" cy="12239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7">
                <a:extLst>
                  <a:ext uri="{FF2B5EF4-FFF2-40B4-BE49-F238E27FC236}">
                    <a16:creationId xmlns:a16="http://schemas.microsoft.com/office/drawing/2014/main" id="{8CA92583-E31F-E3DE-8744-E5A022273382}"/>
                  </a:ext>
                </a:extLst>
              </p:cNvPr>
              <p:cNvSpPr txBox="1"/>
              <p:nvPr/>
            </p:nvSpPr>
            <p:spPr bwMode="auto">
              <a:xfrm>
                <a:off x="2544761" y="2859087"/>
                <a:ext cx="6961641" cy="1223964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pt-BR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pt-BR" sz="2800" i="0"/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pt-BR" sz="2800" i="0"/>
                            <m:t>ℱ</m:t>
                          </m:r>
                        </m:e>
                        <m:sup>
                          <m: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𝑓𝑡</m:t>
                              </m:r>
                            </m:sup>
                          </m:sSup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5" name="Object 7">
                <a:extLst>
                  <a:ext uri="{FF2B5EF4-FFF2-40B4-BE49-F238E27FC236}">
                    <a16:creationId xmlns:a16="http://schemas.microsoft.com/office/drawing/2014/main" id="{8CA92583-E31F-E3DE-8744-E5A022273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4761" y="2859087"/>
                <a:ext cx="6961641" cy="12239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8">
                <a:extLst>
                  <a:ext uri="{FF2B5EF4-FFF2-40B4-BE49-F238E27FC236}">
                    <a16:creationId xmlns:a16="http://schemas.microsoft.com/office/drawing/2014/main" id="{C6674097-08AA-3601-0E77-64B8D3A59962}"/>
                  </a:ext>
                </a:extLst>
              </p:cNvPr>
              <p:cNvSpPr txBox="1"/>
              <p:nvPr/>
            </p:nvSpPr>
            <p:spPr bwMode="auto">
              <a:xfrm>
                <a:off x="4659993" y="4268786"/>
                <a:ext cx="2361293" cy="78422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groupChr>
                        <m:groupChrPr>
                          <m:chr m:val="⇔"/>
                          <m:pos m:val="top"/>
                          <m:vertJc m:val="top"/>
                          <m:ctrlPr>
                            <a:rPr lang="pt-BR" sz="2800" i="0"/>
                          </m:ctrlPr>
                        </m:groupChrPr>
                        <m:e>
                          <m:r>
                            <m:rPr>
                              <m:nor/>
                            </m:rPr>
                            <a:rPr lang="pt-BR" sz="2800" i="0"/>
                            <m:t>ℱ</m:t>
                          </m:r>
                        </m:e>
                      </m:groupChr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Object 8">
                <a:extLst>
                  <a:ext uri="{FF2B5EF4-FFF2-40B4-BE49-F238E27FC236}">
                    <a16:creationId xmlns:a16="http://schemas.microsoft.com/office/drawing/2014/main" id="{C6674097-08AA-3601-0E77-64B8D3A59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59993" y="4268786"/>
                <a:ext cx="2361293" cy="7842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tângulo 13">
            <a:extLst>
              <a:ext uri="{FF2B5EF4-FFF2-40B4-BE49-F238E27FC236}">
                <a16:creationId xmlns:a16="http://schemas.microsoft.com/office/drawing/2014/main" id="{E0E53B21-249C-0395-50D1-71DCDD8B46FC}"/>
              </a:ext>
            </a:extLst>
          </p:cNvPr>
          <p:cNvSpPr/>
          <p:nvPr/>
        </p:nvSpPr>
        <p:spPr>
          <a:xfrm>
            <a:off x="2452667" y="1411137"/>
            <a:ext cx="6185582" cy="1103313"/>
          </a:xfrm>
          <a:prstGeom prst="rect">
            <a:avLst/>
          </a:prstGeom>
          <a:solidFill>
            <a:srgbClr val="92D050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116F497-FD68-3CB4-F531-34601193C4B0}"/>
              </a:ext>
            </a:extLst>
          </p:cNvPr>
          <p:cNvSpPr/>
          <p:nvPr/>
        </p:nvSpPr>
        <p:spPr>
          <a:xfrm>
            <a:off x="2517298" y="2979738"/>
            <a:ext cx="6185582" cy="1103313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0522C53-BAD3-9841-4DC2-5A4B37FA131F}"/>
              </a:ext>
            </a:extLst>
          </p:cNvPr>
          <p:cNvSpPr txBox="1"/>
          <p:nvPr/>
        </p:nvSpPr>
        <p:spPr>
          <a:xfrm>
            <a:off x="8702880" y="1564636"/>
            <a:ext cx="32571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solidFill>
                  <a:srgbClr val="00B050"/>
                </a:solidFill>
              </a:rPr>
              <a:t>Transformada de Fourier</a:t>
            </a:r>
          </a:p>
          <a:p>
            <a:pPr algn="ctr"/>
            <a:r>
              <a:rPr lang="pt-BR" sz="2400" dirty="0">
                <a:solidFill>
                  <a:srgbClr val="00B050"/>
                </a:solidFill>
              </a:rPr>
              <a:t>direta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703D190-5635-8324-D243-76A322E154B9}"/>
              </a:ext>
            </a:extLst>
          </p:cNvPr>
          <p:cNvSpPr txBox="1"/>
          <p:nvPr/>
        </p:nvSpPr>
        <p:spPr>
          <a:xfrm>
            <a:off x="8801217" y="2945856"/>
            <a:ext cx="32571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solidFill>
                  <a:srgbClr val="0070C0"/>
                </a:solidFill>
              </a:rPr>
              <a:t>Transformada de Fourier</a:t>
            </a:r>
          </a:p>
          <a:p>
            <a:pPr algn="ctr"/>
            <a:r>
              <a:rPr lang="pt-BR" sz="2400" dirty="0">
                <a:solidFill>
                  <a:srgbClr val="0070C0"/>
                </a:solidFill>
              </a:rPr>
              <a:t>inversa</a:t>
            </a:r>
          </a:p>
        </p:txBody>
      </p:sp>
    </p:spTree>
    <p:extLst>
      <p:ext uri="{BB962C8B-B14F-4D97-AF65-F5344CB8AC3E}">
        <p14:creationId xmlns:p14="http://schemas.microsoft.com/office/powerpoint/2010/main" val="3461935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88A70A-49CD-BBD2-D9C5-7E55C80BB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Transformada de Fourier</a:t>
            </a:r>
            <a:br>
              <a:rPr lang="pt-BR" dirty="0"/>
            </a:br>
            <a:r>
              <a:rPr lang="pt-BR" dirty="0"/>
              <a:t>Algumas funções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2C3B4D65-F970-CD63-5816-522396F639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5029303"/>
                  </p:ext>
                </p:extLst>
              </p:nvPr>
            </p:nvGraphicFramePr>
            <p:xfrm>
              <a:off x="816429" y="1306287"/>
              <a:ext cx="7772400" cy="4758443"/>
            </p:xfrm>
            <a:graphic>
              <a:graphicData uri="http://schemas.openxmlformats.org/drawingml/2006/table">
                <a:tbl>
                  <a:tblPr firstRow="1">
                    <a:tableStyleId>{5C22544A-7EE6-4342-B048-85BDC9FD1C3A}</a:tableStyleId>
                  </a:tblPr>
                  <a:tblGrid>
                    <a:gridCol w="3156857">
                      <a:extLst>
                        <a:ext uri="{9D8B030D-6E8A-4147-A177-3AD203B41FA5}">
                          <a16:colId xmlns:a16="http://schemas.microsoft.com/office/drawing/2014/main" val="2282280206"/>
                        </a:ext>
                      </a:extLst>
                    </a:gridCol>
                    <a:gridCol w="4615543">
                      <a:extLst>
                        <a:ext uri="{9D8B030D-6E8A-4147-A177-3AD203B41FA5}">
                          <a16:colId xmlns:a16="http://schemas.microsoft.com/office/drawing/2014/main" val="3446756185"/>
                        </a:ext>
                      </a:extLst>
                    </a:gridCol>
                  </a:tblGrid>
                  <a:tr h="49935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2800" b="1" dirty="0">
                              <a:effectLst/>
                            </a:rPr>
                            <a:t>Sinal no tempo </a:t>
                          </a:r>
                          <a14:m>
                            <m:oMath xmlns:m="http://schemas.openxmlformats.org/officeDocument/2006/math">
                              <m:r>
                                <a:rPr lang="pt-BR" sz="28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</m:oMath>
                          </a14:m>
                          <a:endParaRPr lang="pt-BR" sz="2800" b="1" i="1" dirty="0">
                            <a:effectLst/>
                          </a:endParaRPr>
                        </a:p>
                      </a:txBody>
                      <a:tcPr marL="55060" marR="55060" marT="27530" marB="2753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2800" b="1" dirty="0">
                              <a:effectLst/>
                            </a:rPr>
                            <a:t>Transformada </a:t>
                          </a:r>
                          <a14:m>
                            <m:oMath xmlns:m="http://schemas.openxmlformats.org/officeDocument/2006/math">
                              <m:r>
                                <a:rPr lang="pt-BR" sz="28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d>
                                <m:dPr>
                                  <m:ctrlPr>
                                    <a:rPr lang="pt-BR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1" i="1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</m:d>
                            </m:oMath>
                          </a14:m>
                          <a:endParaRPr lang="pt-BR" sz="2800" b="1" i="1" dirty="0">
                            <a:effectLst/>
                          </a:endParaRPr>
                        </a:p>
                      </a:txBody>
                      <a:tcPr marL="55060" marR="55060" marT="27530" marB="27530" anchor="ctr"/>
                    </a:tc>
                    <a:extLst>
                      <a:ext uri="{0D108BD9-81ED-4DB2-BD59-A6C34878D82A}">
                        <a16:rowId xmlns:a16="http://schemas.microsoft.com/office/drawing/2014/main" val="2622697435"/>
                      </a:ext>
                    </a:extLst>
                  </a:tr>
                  <a:tr h="54137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280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d>
                                  <m:dPr>
                                    <m:ctrlP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800">
                            <a:effectLst/>
                          </a:endParaRPr>
                        </a:p>
                      </a:txBody>
                      <a:tcPr marL="55060" marR="55060" marT="27530" marB="2753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28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pt-BR" sz="2800" dirty="0">
                            <a:effectLst/>
                          </a:endParaRPr>
                        </a:p>
                      </a:txBody>
                      <a:tcPr marL="55060" marR="55060" marT="27530" marB="27530" anchor="ctr"/>
                    </a:tc>
                    <a:extLst>
                      <a:ext uri="{0D108BD9-81ED-4DB2-BD59-A6C34878D82A}">
                        <a16:rowId xmlns:a16="http://schemas.microsoft.com/office/drawing/2014/main" val="4202027040"/>
                      </a:ext>
                    </a:extLst>
                  </a:tr>
                  <a:tr h="49935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28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pt-BR" sz="2800">
                            <a:effectLst/>
                          </a:endParaRPr>
                        </a:p>
                      </a:txBody>
                      <a:tcPr marL="55060" marR="55060" marT="27530" marB="2753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280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d>
                                  <m:dPr>
                                    <m:ctrlP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800" dirty="0">
                            <a:effectLst/>
                          </a:endParaRPr>
                        </a:p>
                      </a:txBody>
                      <a:tcPr marL="55060" marR="55060" marT="27530" marB="27530" anchor="ctr"/>
                    </a:tc>
                    <a:extLst>
                      <a:ext uri="{0D108BD9-81ED-4DB2-BD59-A6C34878D82A}">
                        <a16:rowId xmlns:a16="http://schemas.microsoft.com/office/drawing/2014/main" val="152066265"/>
                      </a:ext>
                    </a:extLst>
                  </a:tr>
                  <a:tr h="51653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280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d>
                                  <m:dPr>
                                    <m:ctrlP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pt-BR" sz="2800" dirty="0">
                            <a:effectLst/>
                          </a:endParaRPr>
                        </a:p>
                      </a:txBody>
                      <a:tcPr marL="55060" marR="55060" marT="27530" marB="2753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sSub>
                                      <m:sSubPr>
                                        <m:ctrlP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p>
                                </m:sSup>
                              </m:oMath>
                            </m:oMathPara>
                          </a14:m>
                          <a:endParaRPr lang="pt-BR" sz="2800" dirty="0">
                            <a:effectLst/>
                          </a:endParaRPr>
                        </a:p>
                      </a:txBody>
                      <a:tcPr marL="55060" marR="55060" marT="27530" marB="27530" anchor="ctr"/>
                    </a:tc>
                    <a:extLst>
                      <a:ext uri="{0D108BD9-81ED-4DB2-BD59-A6C34878D82A}">
                        <a16:rowId xmlns:a16="http://schemas.microsoft.com/office/drawing/2014/main" val="555080618"/>
                      </a:ext>
                    </a:extLst>
                  </a:tr>
                  <a:tr h="51653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sSub>
                                      <m:sSubPr>
                                        <m:ctrlP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pt-BR" sz="2800">
                            <a:effectLst/>
                          </a:endParaRPr>
                        </a:p>
                      </a:txBody>
                      <a:tcPr marL="55060" marR="55060" marT="27530" marB="2753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280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d>
                                  <m:dPr>
                                    <m:ctrlP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pt-BR" sz="2800">
                            <a:effectLst/>
                          </a:endParaRPr>
                        </a:p>
                      </a:txBody>
                      <a:tcPr marL="55060" marR="55060" marT="27530" marB="27530" anchor="ctr"/>
                    </a:tc>
                    <a:extLst>
                      <a:ext uri="{0D108BD9-81ED-4DB2-BD59-A6C34878D82A}">
                        <a16:rowId xmlns:a16="http://schemas.microsoft.com/office/drawing/2014/main" val="2649642824"/>
                      </a:ext>
                    </a:extLst>
                  </a:tr>
                  <a:tr h="106103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pt-BR" sz="280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pt-BR" sz="280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sSub>
                                      <m:sSubPr>
                                        <m:ctrlP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800">
                            <a:effectLst/>
                          </a:endParaRPr>
                        </a:p>
                      </a:txBody>
                      <a:tcPr marL="55060" marR="55060" marT="27530" marB="2753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d>
                                      <m:dPr>
                                        <m:ctrlP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  <m: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pt-BR" sz="280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2800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pt-BR" sz="280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d>
                                      <m:dPr>
                                        <m:ctrlP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  <m: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pt-BR" sz="280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2800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pt-BR" sz="280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pt-BR" sz="2800">
                            <a:effectLst/>
                          </a:endParaRPr>
                        </a:p>
                      </a:txBody>
                      <a:tcPr marL="55060" marR="55060" marT="27530" marB="27530" anchor="ctr"/>
                    </a:tc>
                    <a:extLst>
                      <a:ext uri="{0D108BD9-81ED-4DB2-BD59-A6C34878D82A}">
                        <a16:rowId xmlns:a16="http://schemas.microsoft.com/office/drawing/2014/main" val="498969356"/>
                      </a:ext>
                    </a:extLst>
                  </a:tr>
                  <a:tr h="112425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pt-BR" sz="280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pt-BR" sz="280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sSub>
                                      <m:sSubPr>
                                        <m:ctrlP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800">
                            <a:effectLst/>
                          </a:endParaRPr>
                        </a:p>
                      </a:txBody>
                      <a:tcPr marL="55060" marR="55060" marT="27530" marB="2753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den>
                                </m:f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d>
                                      <m:dPr>
                                        <m:ctrlP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  <m: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pt-BR" sz="280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2800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pt-BR" sz="280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sz="280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d>
                                      <m:dPr>
                                        <m:ctrlP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  <m:r>
                                          <a:rPr lang="pt-BR" sz="28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pt-BR" sz="280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2800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pt-BR" sz="280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pt-BR" sz="2800" dirty="0">
                            <a:effectLst/>
                          </a:endParaRPr>
                        </a:p>
                      </a:txBody>
                      <a:tcPr marL="55060" marR="55060" marT="27530" marB="27530" anchor="ctr"/>
                    </a:tc>
                    <a:extLst>
                      <a:ext uri="{0D108BD9-81ED-4DB2-BD59-A6C34878D82A}">
                        <a16:rowId xmlns:a16="http://schemas.microsoft.com/office/drawing/2014/main" val="10569304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2C3B4D65-F970-CD63-5816-522396F639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5029303"/>
                  </p:ext>
                </p:extLst>
              </p:nvPr>
            </p:nvGraphicFramePr>
            <p:xfrm>
              <a:off x="816429" y="1306287"/>
              <a:ext cx="7772400" cy="4758443"/>
            </p:xfrm>
            <a:graphic>
              <a:graphicData uri="http://schemas.openxmlformats.org/drawingml/2006/table">
                <a:tbl>
                  <a:tblPr firstRow="1">
                    <a:tableStyleId>{5C22544A-7EE6-4342-B048-85BDC9FD1C3A}</a:tableStyleId>
                  </a:tblPr>
                  <a:tblGrid>
                    <a:gridCol w="3156857">
                      <a:extLst>
                        <a:ext uri="{9D8B030D-6E8A-4147-A177-3AD203B41FA5}">
                          <a16:colId xmlns:a16="http://schemas.microsoft.com/office/drawing/2014/main" val="2282280206"/>
                        </a:ext>
                      </a:extLst>
                    </a:gridCol>
                    <a:gridCol w="4615543">
                      <a:extLst>
                        <a:ext uri="{9D8B030D-6E8A-4147-A177-3AD203B41FA5}">
                          <a16:colId xmlns:a16="http://schemas.microsoft.com/office/drawing/2014/main" val="3446756185"/>
                        </a:ext>
                      </a:extLst>
                    </a:gridCol>
                  </a:tblGrid>
                  <a:tr h="49935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193" t="-13415" r="-147297" b="-85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68470" t="-13415" r="-660" b="-8548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2697435"/>
                      </a:ext>
                    </a:extLst>
                  </a:tr>
                  <a:tr h="54137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193" t="-104494" r="-147297" b="-6876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68470" t="-104494" r="-660" b="-6876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2027040"/>
                      </a:ext>
                    </a:extLst>
                  </a:tr>
                  <a:tr h="49935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193" t="-221951" r="-147297" b="-6463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68470" t="-221951" r="-660" b="-6463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066265"/>
                      </a:ext>
                    </a:extLst>
                  </a:tr>
                  <a:tr h="51653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193" t="-310588" r="-147297" b="-5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68470" t="-310588" r="-660" b="-5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5080618"/>
                      </a:ext>
                    </a:extLst>
                  </a:tr>
                  <a:tr h="51653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193" t="-415476" r="-147297" b="-429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68470" t="-415476" r="-660" b="-429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9642824"/>
                      </a:ext>
                    </a:extLst>
                  </a:tr>
                  <a:tr h="106103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193" t="-248851" r="-147297" b="-107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68470" t="-248851" r="-660" b="-107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8969356"/>
                      </a:ext>
                    </a:extLst>
                  </a:tr>
                  <a:tr h="1124251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193" t="-328108" r="-147297" b="-10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68470" t="-328108" r="-660" b="-10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9304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Balão de Fala: Retângulo 4">
            <a:extLst>
              <a:ext uri="{FF2B5EF4-FFF2-40B4-BE49-F238E27FC236}">
                <a16:creationId xmlns:a16="http://schemas.microsoft.com/office/drawing/2014/main" id="{E9F10064-4EFF-4BF0-DEB9-5B0A7E251891}"/>
              </a:ext>
            </a:extLst>
          </p:cNvPr>
          <p:cNvSpPr/>
          <p:nvPr/>
        </p:nvSpPr>
        <p:spPr>
          <a:xfrm>
            <a:off x="8756550" y="1655064"/>
            <a:ext cx="3295242" cy="512065"/>
          </a:xfrm>
          <a:prstGeom prst="wedgeRectCallout">
            <a:avLst>
              <a:gd name="adj1" fmla="val -83624"/>
              <a:gd name="adj2" fmla="val 3392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Impulso Contém todas as componentes espectrais</a:t>
            </a:r>
          </a:p>
        </p:txBody>
      </p:sp>
      <p:sp>
        <p:nvSpPr>
          <p:cNvPr id="7" name="Balão de Fala: Retângulo 6">
            <a:extLst>
              <a:ext uri="{FF2B5EF4-FFF2-40B4-BE49-F238E27FC236}">
                <a16:creationId xmlns:a16="http://schemas.microsoft.com/office/drawing/2014/main" id="{5BEB88F6-F0A5-D777-D8B6-24B0EEDFD44C}"/>
              </a:ext>
            </a:extLst>
          </p:cNvPr>
          <p:cNvSpPr/>
          <p:nvPr/>
        </p:nvSpPr>
        <p:spPr>
          <a:xfrm>
            <a:off x="9027822" y="2295715"/>
            <a:ext cx="2539338" cy="512065"/>
          </a:xfrm>
          <a:prstGeom prst="wedgeRectCallout">
            <a:avLst>
              <a:gd name="adj1" fmla="val -90612"/>
              <a:gd name="adj2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Componente DC</a:t>
            </a:r>
          </a:p>
        </p:txBody>
      </p:sp>
      <p:sp>
        <p:nvSpPr>
          <p:cNvPr id="9" name="Balão de Fala: Retângulo 8">
            <a:extLst>
              <a:ext uri="{FF2B5EF4-FFF2-40B4-BE49-F238E27FC236}">
                <a16:creationId xmlns:a16="http://schemas.microsoft.com/office/drawing/2014/main" id="{FDE7712E-D1DF-DBA8-7331-D804317EC3C2}"/>
              </a:ext>
            </a:extLst>
          </p:cNvPr>
          <p:cNvSpPr/>
          <p:nvPr/>
        </p:nvSpPr>
        <p:spPr>
          <a:xfrm>
            <a:off x="8887614" y="4608575"/>
            <a:ext cx="3164178" cy="594361"/>
          </a:xfrm>
          <a:prstGeom prst="wedgeRectCallout">
            <a:avLst>
              <a:gd name="adj1" fmla="val -90612"/>
              <a:gd name="adj2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Tom representado por frequência negativa e positiva</a:t>
            </a:r>
          </a:p>
        </p:txBody>
      </p:sp>
    </p:spTree>
    <p:extLst>
      <p:ext uri="{BB962C8B-B14F-4D97-AF65-F5344CB8AC3E}">
        <p14:creationId xmlns:p14="http://schemas.microsoft.com/office/powerpoint/2010/main" val="361108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46BF5-6095-36FE-9CB1-9BB2C20D8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132E3A-E722-206C-CB8B-84A16B8B0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Transformada de Fourier</a:t>
            </a:r>
            <a:br>
              <a:rPr lang="pt-BR" dirty="0"/>
            </a:br>
            <a:r>
              <a:rPr lang="pt-BR" dirty="0"/>
              <a:t>Algumas funções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62D0A85A-9868-1F8A-DA04-2CA338E123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8081574"/>
                  </p:ext>
                </p:extLst>
              </p:nvPr>
            </p:nvGraphicFramePr>
            <p:xfrm>
              <a:off x="838200" y="1309564"/>
              <a:ext cx="8058558" cy="4882487"/>
            </p:xfrm>
            <a:graphic>
              <a:graphicData uri="http://schemas.openxmlformats.org/drawingml/2006/table">
                <a:tbl>
                  <a:tblPr firstRow="1">
                    <a:tableStyleId>{5C22544A-7EE6-4342-B048-85BDC9FD1C3A}</a:tableStyleId>
                  </a:tblPr>
                  <a:tblGrid>
                    <a:gridCol w="3985153">
                      <a:extLst>
                        <a:ext uri="{9D8B030D-6E8A-4147-A177-3AD203B41FA5}">
                          <a16:colId xmlns:a16="http://schemas.microsoft.com/office/drawing/2014/main" val="2282280206"/>
                        </a:ext>
                      </a:extLst>
                    </a:gridCol>
                    <a:gridCol w="4073405">
                      <a:extLst>
                        <a:ext uri="{9D8B030D-6E8A-4147-A177-3AD203B41FA5}">
                          <a16:colId xmlns:a16="http://schemas.microsoft.com/office/drawing/2014/main" val="3446756185"/>
                        </a:ext>
                      </a:extLst>
                    </a:gridCol>
                  </a:tblGrid>
                  <a:tr h="585784"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>
                            <a:buNone/>
                          </a:pPr>
                          <a:r>
                            <a:rPr lang="pt-BR" sz="2800" b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Sinal no tempo </a:t>
                          </a:r>
                          <a14:m>
                            <m:oMath xmlns:m="http://schemas.openxmlformats.org/officeDocument/2006/math">
                              <m:r>
                                <a:rPr lang="pt-BR" sz="2800" b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𝐱</m:t>
                              </m:r>
                              <m:d>
                                <m:dPr>
                                  <m:ctrlPr>
                                    <a:rPr lang="pt-BR" sz="2800" b="1" kern="1200">
                                      <a:solidFill>
                                        <a:schemeClr val="lt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1" kern="1200">
                                      <a:solidFill>
                                        <a:schemeClr val="lt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𝐭</m:t>
                                  </m:r>
                                </m:e>
                              </m:d>
                            </m:oMath>
                          </a14:m>
                          <a:endParaRPr lang="pt-BR" sz="2800" b="1" kern="1200" dirty="0">
                            <a:solidFill>
                              <a:schemeClr val="lt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5060" marR="55060" marT="27530" marB="27530" anchor="ctr"/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>
                            <a:buNone/>
                          </a:pPr>
                          <a:r>
                            <a:rPr lang="pt-BR" sz="2800" b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Transformada </a:t>
                          </a:r>
                          <a14:m>
                            <m:oMath xmlns:m="http://schemas.openxmlformats.org/officeDocument/2006/math">
                              <m:r>
                                <a:rPr lang="pt-BR" sz="2800" b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𝐗</m:t>
                              </m:r>
                              <m:d>
                                <m:dPr>
                                  <m:ctrlPr>
                                    <a:rPr lang="pt-BR" sz="2800" b="1" kern="1200">
                                      <a:solidFill>
                                        <a:schemeClr val="lt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1" kern="1200">
                                      <a:solidFill>
                                        <a:schemeClr val="lt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𝐟</m:t>
                                  </m:r>
                                </m:e>
                              </m:d>
                            </m:oMath>
                          </a14:m>
                          <a:endParaRPr lang="pt-BR" sz="2800" b="1" kern="1200" dirty="0">
                            <a:solidFill>
                              <a:schemeClr val="lt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5060" marR="55060" marT="27530" marB="27530" anchor="ctr"/>
                    </a:tc>
                    <a:extLst>
                      <a:ext uri="{0D108BD9-81ED-4DB2-BD59-A6C34878D82A}">
                        <a16:rowId xmlns:a16="http://schemas.microsoft.com/office/drawing/2014/main" val="2622697435"/>
                      </a:ext>
                    </a:extLst>
                  </a:tr>
                  <a:tr h="43754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pt-BR" sz="2400">
                                    <a:latin typeface="Cambria Math" panose="02040503050406030204" pitchFamily="18" charset="0"/>
                                  </a:rPr>
                                  <m:t>rect</m:t>
                                </m:r>
                                <m:d>
                                  <m:dPr>
                                    <m:ctrl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>
                            <a:effectLst/>
                          </a:endParaRPr>
                        </a:p>
                      </a:txBody>
                      <a:tcPr marL="55060" marR="55060" marT="27530" marB="2753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240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m:rPr>
                                    <m:nor/>
                                  </m:rPr>
                                  <a:rPr lang="pt-BR" sz="2400" i="0"/>
                                  <m:t> </m:t>
                                </m:r>
                                <m:r>
                                  <m:rPr>
                                    <m:sty m:val="p"/>
                                  </m:rPr>
                                  <a:rPr lang="pt-BR" sz="2400">
                                    <a:latin typeface="Cambria Math" panose="02040503050406030204" pitchFamily="18" charset="0"/>
                                  </a:rPr>
                                  <m:t>sinc</m:t>
                                </m:r>
                                <m:d>
                                  <m:dPr>
                                    <m:ctrl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𝑓𝑇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>
                            <a:effectLst/>
                          </a:endParaRPr>
                        </a:p>
                      </a:txBody>
                      <a:tcPr marL="55060" marR="55060" marT="27530" marB="27530" anchor="ctr"/>
                    </a:tc>
                    <a:extLst>
                      <a:ext uri="{0D108BD9-81ED-4DB2-BD59-A6C34878D82A}">
                        <a16:rowId xmlns:a16="http://schemas.microsoft.com/office/drawing/2014/main" val="2289849849"/>
                      </a:ext>
                    </a:extLst>
                  </a:tr>
                  <a:tr h="3920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pt-BR" sz="2400">
                                    <a:latin typeface="Cambria Math" panose="02040503050406030204" pitchFamily="18" charset="0"/>
                                  </a:rPr>
                                  <m:t>sinc</m:t>
                                </m:r>
                                <m:d>
                                  <m:dPr>
                                    <m:ctrl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>
                            <a:effectLst/>
                          </a:endParaRPr>
                        </a:p>
                      </a:txBody>
                      <a:tcPr marL="55060" marR="55060" marT="27530" marB="2753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240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m:rPr>
                                    <m:nor/>
                                  </m:rPr>
                                  <a:rPr lang="pt-BR" sz="2400" i="0"/>
                                  <m:t> </m:t>
                                </m:r>
                                <m:r>
                                  <m:rPr>
                                    <m:sty m:val="p"/>
                                  </m:rPr>
                                  <a:rPr lang="pt-BR" sz="2400">
                                    <a:latin typeface="Cambria Math" panose="02040503050406030204" pitchFamily="18" charset="0"/>
                                  </a:rPr>
                                  <m:t>rect</m:t>
                                </m:r>
                                <m:d>
                                  <m:dPr>
                                    <m:ctrl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𝑓𝑇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>
                            <a:effectLst/>
                          </a:endParaRPr>
                        </a:p>
                      </a:txBody>
                      <a:tcPr marL="55060" marR="55060" marT="27530" marB="27530" anchor="ctr"/>
                    </a:tc>
                    <a:extLst>
                      <a:ext uri="{0D108BD9-81ED-4DB2-BD59-A6C34878D82A}">
                        <a16:rowId xmlns:a16="http://schemas.microsoft.com/office/drawing/2014/main" val="54617613"/>
                      </a:ext>
                    </a:extLst>
                  </a:tr>
                  <a:tr h="8281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𝑎𝑡</m:t>
                                    </m:r>
                                  </m:sup>
                                </m:sSup>
                                <m:r>
                                  <a:rPr lang="pt-BR" sz="240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d>
                                  <m:dPr>
                                    <m:ctrl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>
                            <a:effectLst/>
                          </a:endParaRPr>
                        </a:p>
                      </a:txBody>
                      <a:tcPr marL="55060" marR="55060" marT="27530" marB="2753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pt-BR" sz="2400" dirty="0">
                            <a:effectLst/>
                          </a:endParaRPr>
                        </a:p>
                      </a:txBody>
                      <a:tcPr marL="55060" marR="55060" marT="27530" marB="27530" anchor="ctr"/>
                    </a:tc>
                    <a:extLst>
                      <a:ext uri="{0D108BD9-81ED-4DB2-BD59-A6C34878D82A}">
                        <a16:rowId xmlns:a16="http://schemas.microsoft.com/office/drawing/2014/main" val="1888143206"/>
                      </a:ext>
                    </a:extLst>
                  </a:tr>
                  <a:tr h="8281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pt-BR" sz="2400">
                                    <a:latin typeface="Cambria Math" panose="02040503050406030204" pitchFamily="18" charset="0"/>
                                  </a:rPr>
                                  <m:t>sgn</m:t>
                                </m:r>
                                <m:d>
                                  <m:dPr>
                                    <m:ctrl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>
                            <a:effectLst/>
                          </a:endParaRPr>
                        </a:p>
                      </a:txBody>
                      <a:tcPr marL="55060" marR="55060" marT="27530" marB="2753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pt-BR" sz="2400" dirty="0">
                            <a:effectLst/>
                          </a:endParaRPr>
                        </a:p>
                      </a:txBody>
                      <a:tcPr marL="55060" marR="55060" marT="27530" marB="27530" anchor="ctr"/>
                    </a:tc>
                    <a:extLst>
                      <a:ext uri="{0D108BD9-81ED-4DB2-BD59-A6C34878D82A}">
                        <a16:rowId xmlns:a16="http://schemas.microsoft.com/office/drawing/2014/main" val="266450536"/>
                      </a:ext>
                    </a:extLst>
                  </a:tr>
                  <a:tr h="8281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240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d>
                                  <m:dPr>
                                    <m:ctrl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>
                            <a:effectLst/>
                          </a:endParaRPr>
                        </a:p>
                      </a:txBody>
                      <a:tcPr marL="55060" marR="55060" marT="27530" marB="2753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den>
                                </m:f>
                                <m:r>
                                  <a:rPr lang="pt-BR" sz="24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pt-BR" sz="240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d>
                                  <m:dPr>
                                    <m:ctrl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>
                            <a:effectLst/>
                          </a:endParaRPr>
                        </a:p>
                      </a:txBody>
                      <a:tcPr marL="55060" marR="55060" marT="27530" marB="27530" anchor="ctr"/>
                    </a:tc>
                    <a:extLst>
                      <a:ext uri="{0D108BD9-81ED-4DB2-BD59-A6C34878D82A}">
                        <a16:rowId xmlns:a16="http://schemas.microsoft.com/office/drawing/2014/main" val="1016256754"/>
                      </a:ext>
                    </a:extLst>
                  </a:tr>
                  <a:tr h="44596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pt-BR" sz="2400">
                                    <a:latin typeface="Cambria Math" panose="02040503050406030204" pitchFamily="18" charset="0"/>
                                  </a:rPr>
                                  <m:t>tri</m:t>
                                </m:r>
                                <m:d>
                                  <m:dPr>
                                    <m:ctrl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>
                            <a:effectLst/>
                          </a:endParaRPr>
                        </a:p>
                      </a:txBody>
                      <a:tcPr marL="55060" marR="55060" marT="27530" marB="2753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240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m:rPr>
                                    <m:nor/>
                                  </m:rPr>
                                  <a:rPr lang="pt-BR" sz="2400" i="0"/>
                                  <m:t> </m:t>
                                </m:r>
                                <m:sSup>
                                  <m:sSupPr>
                                    <m:ctrl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sinc</m:t>
                                    </m:r>
                                  </m:e>
                                  <m:sup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𝑓𝑇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>
                            <a:effectLst/>
                          </a:endParaRPr>
                        </a:p>
                      </a:txBody>
                      <a:tcPr marL="55060" marR="55060" marT="27530" marB="27530" anchor="ctr"/>
                    </a:tc>
                    <a:extLst>
                      <a:ext uri="{0D108BD9-81ED-4DB2-BD59-A6C34878D82A}">
                        <a16:rowId xmlns:a16="http://schemas.microsoft.com/office/drawing/2014/main" val="1611440358"/>
                      </a:ext>
                    </a:extLst>
                  </a:tr>
                  <a:tr h="50795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pt-BR" sz="2400" smtClean="0">
                                    <a:latin typeface="Cambria Math" panose="02040503050406030204" pitchFamily="18" charset="0"/>
                                  </a:rPr>
                                  <m:t>comb</m:t>
                                </m:r>
                                <m:d>
                                  <m:dPr>
                                    <m:ctrl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d>
                                <m:r>
                                  <a:rPr lang="pt-BR" sz="24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∑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𝑛𝑇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sz="2400" dirty="0">
                            <a:effectLst/>
                          </a:endParaRPr>
                        </a:p>
                      </a:txBody>
                      <a:tcPr marL="55060" marR="55060" marT="27530" marB="27530" anchor="ctr"/>
                    </a:tc>
                    <a:tc>
                      <a:txBody>
                        <a:bodyPr/>
                        <a:lstStyle/>
                        <a:p>
                          <a:pPr fontAlgn="t">
                            <a:lnSpc>
                              <a:spcPct val="119048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240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m:rPr>
                                    <m:nor/>
                                  </m:rPr>
                                  <a:rPr lang="pt-BR" sz="2400" i="0"/>
                                  <m:t> </m:t>
                                </m:r>
                                <m:r>
                                  <m:rPr>
                                    <m:sty m:val="p"/>
                                  </m:rPr>
                                  <a:rPr lang="pt-BR" sz="2400">
                                    <a:latin typeface="Cambria Math" panose="02040503050406030204" pitchFamily="18" charset="0"/>
                                  </a:rPr>
                                  <m:t>comb</m:t>
                                </m:r>
                                <m:d>
                                  <m:dPr>
                                    <m:ctrl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𝑓𝑇</m:t>
                                    </m:r>
                                  </m:e>
                                </m:d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∑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sz="2400" b="0" i="0" dirty="0"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55060" marR="55060" marT="27530" marB="27530" anchor="ctr"/>
                    </a:tc>
                    <a:extLst>
                      <a:ext uri="{0D108BD9-81ED-4DB2-BD59-A6C34878D82A}">
                        <a16:rowId xmlns:a16="http://schemas.microsoft.com/office/drawing/2014/main" val="141495789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62D0A85A-9868-1F8A-DA04-2CA338E123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8081574"/>
                  </p:ext>
                </p:extLst>
              </p:nvPr>
            </p:nvGraphicFramePr>
            <p:xfrm>
              <a:off x="838200" y="1309564"/>
              <a:ext cx="8058558" cy="4882487"/>
            </p:xfrm>
            <a:graphic>
              <a:graphicData uri="http://schemas.openxmlformats.org/drawingml/2006/table">
                <a:tbl>
                  <a:tblPr firstRow="1">
                    <a:tableStyleId>{5C22544A-7EE6-4342-B048-85BDC9FD1C3A}</a:tableStyleId>
                  </a:tblPr>
                  <a:tblGrid>
                    <a:gridCol w="3985153">
                      <a:extLst>
                        <a:ext uri="{9D8B030D-6E8A-4147-A177-3AD203B41FA5}">
                          <a16:colId xmlns:a16="http://schemas.microsoft.com/office/drawing/2014/main" val="2282280206"/>
                        </a:ext>
                      </a:extLst>
                    </a:gridCol>
                    <a:gridCol w="4073405">
                      <a:extLst>
                        <a:ext uri="{9D8B030D-6E8A-4147-A177-3AD203B41FA5}">
                          <a16:colId xmlns:a16="http://schemas.microsoft.com/office/drawing/2014/main" val="3446756185"/>
                        </a:ext>
                      </a:extLst>
                    </a:gridCol>
                  </a:tblGrid>
                  <a:tr h="58578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153" t="-3125" r="-102905" b="-74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97907" t="-3125" r="-598" b="-745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2697435"/>
                      </a:ext>
                    </a:extLst>
                  </a:tr>
                  <a:tr h="43754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153" t="-137500" r="-102905" b="-89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97907" t="-137500" r="-598" b="-89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9849849"/>
                      </a:ext>
                    </a:extLst>
                  </a:tr>
                  <a:tr h="42082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153" t="-247826" r="-102905" b="-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97907" t="-247826" r="-598" b="-8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617613"/>
                      </a:ext>
                    </a:extLst>
                  </a:tr>
                  <a:tr h="82814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153" t="-176471" r="-102905" b="-3227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97907" t="-176471" r="-598" b="-3227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8143206"/>
                      </a:ext>
                    </a:extLst>
                  </a:tr>
                  <a:tr h="82814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153" t="-276471" r="-102905" b="-2227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97907" t="-276471" r="-598" b="-2227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450536"/>
                      </a:ext>
                    </a:extLst>
                  </a:tr>
                  <a:tr h="82814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153" t="-376471" r="-102905" b="-1227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97907" t="-376471" r="-598" b="-1227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6256754"/>
                      </a:ext>
                    </a:extLst>
                  </a:tr>
                  <a:tr h="445961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153" t="-875676" r="-102905" b="-125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97907" t="-875676" r="-598" b="-125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1440358"/>
                      </a:ext>
                    </a:extLst>
                  </a:tr>
                  <a:tr h="50795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153" t="-869880" r="-102905" b="-12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5060" marR="55060" marT="27530" marB="27530" anchor="ctr">
                        <a:blipFill>
                          <a:blip r:embed="rId2"/>
                          <a:stretch>
                            <a:fillRect l="-97907" t="-869880" r="-598" b="-120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495789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Balão de Fala: Retângulo 4">
            <a:extLst>
              <a:ext uri="{FF2B5EF4-FFF2-40B4-BE49-F238E27FC236}">
                <a16:creationId xmlns:a16="http://schemas.microsoft.com/office/drawing/2014/main" id="{78A288BC-C964-7994-1219-CCEE81519872}"/>
              </a:ext>
            </a:extLst>
          </p:cNvPr>
          <p:cNvSpPr/>
          <p:nvPr/>
        </p:nvSpPr>
        <p:spPr>
          <a:xfrm>
            <a:off x="8756550" y="1655064"/>
            <a:ext cx="3295242" cy="512065"/>
          </a:xfrm>
          <a:prstGeom prst="wedgeRectCallout">
            <a:avLst>
              <a:gd name="adj1" fmla="val -83624"/>
              <a:gd name="adj2" fmla="val 3392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Pulso retangular</a:t>
            </a:r>
          </a:p>
        </p:txBody>
      </p:sp>
      <p:sp>
        <p:nvSpPr>
          <p:cNvPr id="7" name="Balão de Fala: Retângulo 6">
            <a:extLst>
              <a:ext uri="{FF2B5EF4-FFF2-40B4-BE49-F238E27FC236}">
                <a16:creationId xmlns:a16="http://schemas.microsoft.com/office/drawing/2014/main" id="{F4F2C7FE-0F2F-EAB1-0B8B-7A204E94A299}"/>
              </a:ext>
            </a:extLst>
          </p:cNvPr>
          <p:cNvSpPr/>
          <p:nvPr/>
        </p:nvSpPr>
        <p:spPr>
          <a:xfrm>
            <a:off x="8756550" y="2295715"/>
            <a:ext cx="3295242" cy="512065"/>
          </a:xfrm>
          <a:prstGeom prst="wedgeRectCallout">
            <a:avLst>
              <a:gd name="adj1" fmla="val -86399"/>
              <a:gd name="adj2" fmla="val -1071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Sinal limitado em banda</a:t>
            </a:r>
          </a:p>
        </p:txBody>
      </p:sp>
      <p:sp>
        <p:nvSpPr>
          <p:cNvPr id="9" name="Balão de Fala: Retângulo 8">
            <a:extLst>
              <a:ext uri="{FF2B5EF4-FFF2-40B4-BE49-F238E27FC236}">
                <a16:creationId xmlns:a16="http://schemas.microsoft.com/office/drawing/2014/main" id="{D77247AD-E1E9-5D24-5CFE-39306EBF5541}"/>
              </a:ext>
            </a:extLst>
          </p:cNvPr>
          <p:cNvSpPr/>
          <p:nvPr/>
        </p:nvSpPr>
        <p:spPr>
          <a:xfrm>
            <a:off x="8896758" y="4434839"/>
            <a:ext cx="3155034" cy="512065"/>
          </a:xfrm>
          <a:prstGeom prst="wedgeRectCallout">
            <a:avLst>
              <a:gd name="adj1" fmla="val -83624"/>
              <a:gd name="adj2" fmla="val 3392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Degrau</a:t>
            </a:r>
          </a:p>
        </p:txBody>
      </p:sp>
    </p:spTree>
    <p:extLst>
      <p:ext uri="{BB962C8B-B14F-4D97-AF65-F5344CB8AC3E}">
        <p14:creationId xmlns:p14="http://schemas.microsoft.com/office/powerpoint/2010/main" val="2529512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6BB1D-7321-A8A4-18FE-E0A4B80D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66044E-9446-0E18-15E9-85952403A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Transformada de Fourier</a:t>
            </a:r>
            <a:br>
              <a:rPr lang="pt-BR" dirty="0"/>
            </a:br>
            <a:r>
              <a:rPr lang="pt-BR" dirty="0"/>
              <a:t>Algumas propriedades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a 5">
                <a:extLst>
                  <a:ext uri="{FF2B5EF4-FFF2-40B4-BE49-F238E27FC236}">
                    <a16:creationId xmlns:a16="http://schemas.microsoft.com/office/drawing/2014/main" id="{F6855962-95C1-FBF8-ACDD-48D69BE1CC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6863975"/>
                  </p:ext>
                </p:extLst>
              </p:nvPr>
            </p:nvGraphicFramePr>
            <p:xfrm>
              <a:off x="1251858" y="1143001"/>
              <a:ext cx="7714934" cy="4541795"/>
            </p:xfrm>
            <a:graphic>
              <a:graphicData uri="http://schemas.openxmlformats.org/drawingml/2006/table">
                <a:tbl>
                  <a:tblPr firstRow="1">
                    <a:tableStyleId>{5C22544A-7EE6-4342-B048-85BDC9FD1C3A}</a:tableStyleId>
                  </a:tblPr>
                  <a:tblGrid>
                    <a:gridCol w="2325858">
                      <a:extLst>
                        <a:ext uri="{9D8B030D-6E8A-4147-A177-3AD203B41FA5}">
                          <a16:colId xmlns:a16="http://schemas.microsoft.com/office/drawing/2014/main" val="1162884937"/>
                        </a:ext>
                      </a:extLst>
                    </a:gridCol>
                    <a:gridCol w="2410265">
                      <a:extLst>
                        <a:ext uri="{9D8B030D-6E8A-4147-A177-3AD203B41FA5}">
                          <a16:colId xmlns:a16="http://schemas.microsoft.com/office/drawing/2014/main" val="3333813632"/>
                        </a:ext>
                      </a:extLst>
                    </a:gridCol>
                    <a:gridCol w="2978811">
                      <a:extLst>
                        <a:ext uri="{9D8B030D-6E8A-4147-A177-3AD203B41FA5}">
                          <a16:colId xmlns:a16="http://schemas.microsoft.com/office/drawing/2014/main" val="1837310470"/>
                        </a:ext>
                      </a:extLst>
                    </a:gridCol>
                  </a:tblGrid>
                  <a:tr h="2675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pt-BR" sz="1800" dirty="0">
                            <a:effectLst/>
                          </a:endParaRP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800" dirty="0">
                              <a:effectLst/>
                            </a:rPr>
                            <a:t>Operação no tempo</a:t>
                          </a: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800" dirty="0">
                              <a:effectLst/>
                            </a:rPr>
                            <a:t>Efeito na frequência</a:t>
                          </a:r>
                        </a:p>
                      </a:txBody>
                      <a:tcPr marL="57806" marR="57806" marT="28903" marB="28903" anchor="ctr"/>
                    </a:tc>
                    <a:extLst>
                      <a:ext uri="{0D108BD9-81ED-4DB2-BD59-A6C34878D82A}">
                        <a16:rowId xmlns:a16="http://schemas.microsoft.com/office/drawing/2014/main" val="3662353464"/>
                      </a:ext>
                    </a:extLst>
                  </a:tr>
                  <a:tr h="2675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800" dirty="0">
                              <a:effectLst/>
                            </a:rPr>
                            <a:t>Linearidade</a:t>
                          </a: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sSub>
                                  <m:sSubPr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pt-BR" sz="18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1800" dirty="0">
                            <a:effectLst/>
                          </a:endParaRP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d>
                                <m:r>
                                  <a:rPr lang="pt-BR" sz="18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1800" dirty="0">
                            <a:effectLst/>
                          </a:endParaRPr>
                        </a:p>
                      </a:txBody>
                      <a:tcPr marL="57806" marR="57806" marT="28903" marB="28903" anchor="ctr"/>
                    </a:tc>
                    <a:extLst>
                      <a:ext uri="{0D108BD9-81ED-4DB2-BD59-A6C34878D82A}">
                        <a16:rowId xmlns:a16="http://schemas.microsoft.com/office/drawing/2014/main" val="3844643936"/>
                      </a:ext>
                    </a:extLst>
                  </a:tr>
                  <a:tr h="27395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800" dirty="0">
                              <a:effectLst/>
                            </a:rPr>
                            <a:t>Deslocamento no tempo</a:t>
                          </a: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80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pt-BR" sz="18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pt-BR" sz="180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pt-BR" sz="1800" dirty="0">
                            <a:effectLst/>
                          </a:endParaRP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80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d>
                                  <m:dPr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sSub>
                                      <m:sSubPr>
                                        <m:ctrlPr>
                                          <a:rPr lang="pt-BR" sz="18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pt-BR" sz="180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p>
                                </m:sSup>
                              </m:oMath>
                            </m:oMathPara>
                          </a14:m>
                          <a:endParaRPr lang="pt-BR" sz="1800">
                            <a:effectLst/>
                          </a:endParaRPr>
                        </a:p>
                      </a:txBody>
                      <a:tcPr marL="57806" marR="57806" marT="28903" marB="28903" anchor="ctr"/>
                    </a:tc>
                    <a:extLst>
                      <a:ext uri="{0D108BD9-81ED-4DB2-BD59-A6C34878D82A}">
                        <a16:rowId xmlns:a16="http://schemas.microsoft.com/office/drawing/2014/main" val="1399418682"/>
                      </a:ext>
                    </a:extLst>
                  </a:tr>
                  <a:tr h="27395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800" dirty="0">
                              <a:effectLst/>
                            </a:rPr>
                            <a:t>Deslocamento na freq.</a:t>
                          </a: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sSub>
                                      <m:sSubPr>
                                        <m:ctrlPr>
                                          <a:rPr lang="pt-BR" sz="18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pt-BR" sz="180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pt-BR" sz="180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1800">
                            <a:effectLst/>
                          </a:endParaRP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80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d>
                                  <m:dPr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pt-BR" sz="18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pt-BR" sz="180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pt-BR" sz="1800" dirty="0">
                            <a:effectLst/>
                          </a:endParaRPr>
                        </a:p>
                      </a:txBody>
                      <a:tcPr marL="57806" marR="57806" marT="28903" marB="28903" anchor="ctr"/>
                    </a:tc>
                    <a:extLst>
                      <a:ext uri="{0D108BD9-81ED-4DB2-BD59-A6C34878D82A}">
                        <a16:rowId xmlns:a16="http://schemas.microsoft.com/office/drawing/2014/main" val="657788860"/>
                      </a:ext>
                    </a:extLst>
                  </a:tr>
                  <a:tr h="2675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800" dirty="0">
                              <a:effectLst/>
                            </a:rPr>
                            <a:t>Expansão / Compressão</a:t>
                          </a: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80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𝑎𝑡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1800" dirty="0">
                            <a:effectLst/>
                          </a:endParaRP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pt-BR" sz="18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8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pt-BR" sz="18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18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</m:den>
                                </m:f>
                                <m:r>
                                  <a:rPr lang="pt-BR" sz="18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d>
                                  <m:dPr>
                                    <m:ctrlPr>
                                      <a:rPr lang="pt-BR" sz="18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pt-BR" sz="18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sz="18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num>
                                      <m:den>
                                        <m:r>
                                          <a:rPr lang="pt-BR" sz="18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pt-BR" sz="1800" dirty="0">
                            <a:effectLst/>
                          </a:endParaRPr>
                        </a:p>
                      </a:txBody>
                      <a:tcPr marL="57806" marR="57806" marT="28903" marB="28903" anchor="ctr"/>
                    </a:tc>
                    <a:extLst>
                      <a:ext uri="{0D108BD9-81ED-4DB2-BD59-A6C34878D82A}">
                        <a16:rowId xmlns:a16="http://schemas.microsoft.com/office/drawing/2014/main" val="1727202810"/>
                      </a:ext>
                    </a:extLst>
                  </a:tr>
                  <a:tr h="2675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800" dirty="0">
                              <a:effectLst/>
                            </a:rPr>
                            <a:t>Conjugado</a:t>
                          </a: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1800" dirty="0">
                            <a:effectLst/>
                          </a:endParaRP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1800" dirty="0">
                            <a:effectLst/>
                          </a:endParaRPr>
                        </a:p>
                      </a:txBody>
                      <a:tcPr marL="57806" marR="57806" marT="28903" marB="28903" anchor="ctr"/>
                    </a:tc>
                    <a:extLst>
                      <a:ext uri="{0D108BD9-81ED-4DB2-BD59-A6C34878D82A}">
                        <a16:rowId xmlns:a16="http://schemas.microsoft.com/office/drawing/2014/main" val="3017837023"/>
                      </a:ext>
                    </a:extLst>
                  </a:tr>
                  <a:tr h="45618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800" dirty="0">
                              <a:effectLst/>
                            </a:rPr>
                            <a:t>Diferenciação</a:t>
                          </a: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𝑑𝑥</m:t>
                                    </m:r>
                                    <m:d>
                                      <m:dPr>
                                        <m:ctrlPr>
                                          <a:rPr lang="pt-BR" sz="18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180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pt-BR" sz="1800" dirty="0">
                            <a:effectLst/>
                          </a:endParaRP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80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pt-BR" sz="18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pt-BR" sz="180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pt-BR" sz="1800">
                                    <a:latin typeface="Cambria Math" panose="02040503050406030204" pitchFamily="18" charset="0"/>
                                  </a:rPr>
                                  <m:t>𝑓𝑋</m:t>
                                </m:r>
                                <m:d>
                                  <m:dPr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1800" dirty="0">
                            <a:effectLst/>
                          </a:endParaRPr>
                        </a:p>
                      </a:txBody>
                      <a:tcPr marL="57806" marR="57806" marT="28903" marB="28903" anchor="ctr"/>
                    </a:tc>
                    <a:extLst>
                      <a:ext uri="{0D108BD9-81ED-4DB2-BD59-A6C34878D82A}">
                        <a16:rowId xmlns:a16="http://schemas.microsoft.com/office/drawing/2014/main" val="3853750101"/>
                      </a:ext>
                    </a:extLst>
                  </a:tr>
                  <a:tr h="5142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800" dirty="0">
                              <a:effectLst/>
                            </a:rPr>
                            <a:t>Integração</a:t>
                          </a: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nary>
                                  <m:naryPr>
                                    <m:grow m:val="on"/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−∞</m:t>
                                    </m:r>
                                  </m:sub>
                                  <m:sup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  <m:e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nary>
                                <m:d>
                                  <m:dPr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pt-BR" sz="180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180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pt-BR" sz="1800" dirty="0">
                            <a:effectLst/>
                          </a:endParaRP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d>
                                      <m:dPr>
                                        <m:ctrlPr>
                                          <a:rPr lang="pt-BR" sz="1800" b="0" i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1800" b="0" i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d>
                                      <m:dPr>
                                        <m:ctrlPr>
                                          <a:rPr lang="pt-BR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18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pt-BR" sz="18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d>
                                      <m:dPr>
                                        <m:ctrlPr>
                                          <a:rPr lang="pt-BR" sz="18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180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pt-BR" sz="1800" dirty="0">
                            <a:effectLst/>
                          </a:endParaRPr>
                        </a:p>
                      </a:txBody>
                      <a:tcPr marL="57806" marR="57806" marT="28903" marB="28903" anchor="ctr"/>
                    </a:tc>
                    <a:extLst>
                      <a:ext uri="{0D108BD9-81ED-4DB2-BD59-A6C34878D82A}">
                        <a16:rowId xmlns:a16="http://schemas.microsoft.com/office/drawing/2014/main" val="2448917475"/>
                      </a:ext>
                    </a:extLst>
                  </a:tr>
                  <a:tr h="2675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800" dirty="0">
                              <a:effectLst/>
                            </a:rPr>
                            <a:t>Convolução</a:t>
                          </a: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80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pt-BR" sz="180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pt-BR" sz="1800"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  <m:d>
                                  <m:dPr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1800" dirty="0">
                            <a:effectLst/>
                          </a:endParaRP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80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d>
                                  <m:dPr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d>
                                <m:r>
                                  <a:rPr lang="pt-BR" sz="180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  <m:d>
                                  <m:dPr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1800" dirty="0">
                            <a:effectLst/>
                          </a:endParaRPr>
                        </a:p>
                      </a:txBody>
                      <a:tcPr marL="57806" marR="57806" marT="28903" marB="28903" anchor="ctr"/>
                    </a:tc>
                    <a:extLst>
                      <a:ext uri="{0D108BD9-81ED-4DB2-BD59-A6C34878D82A}">
                        <a16:rowId xmlns:a16="http://schemas.microsoft.com/office/drawing/2014/main" val="4037957308"/>
                      </a:ext>
                    </a:extLst>
                  </a:tr>
                  <a:tr h="2675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800" dirty="0">
                              <a:effectLst/>
                            </a:rPr>
                            <a:t>Multiplicação</a:t>
                          </a: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80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pt-BR" sz="1800"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  <m:d>
                                  <m:dPr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1800">
                            <a:effectLst/>
                          </a:endParaRP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80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d>
                                  <m:dPr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d>
                                <m:r>
                                  <a:rPr lang="pt-BR" sz="180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pt-BR" sz="180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  <m:d>
                                  <m:dPr>
                                    <m:ctrlP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1800" dirty="0">
                            <a:effectLst/>
                          </a:endParaRPr>
                        </a:p>
                      </a:txBody>
                      <a:tcPr marL="57806" marR="57806" marT="28903" marB="28903" anchor="ctr"/>
                    </a:tc>
                    <a:extLst>
                      <a:ext uri="{0D108BD9-81ED-4DB2-BD59-A6C34878D82A}">
                        <a16:rowId xmlns:a16="http://schemas.microsoft.com/office/drawing/2014/main" val="36899231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a 5">
                <a:extLst>
                  <a:ext uri="{FF2B5EF4-FFF2-40B4-BE49-F238E27FC236}">
                    <a16:creationId xmlns:a16="http://schemas.microsoft.com/office/drawing/2014/main" id="{F6855962-95C1-FBF8-ACDD-48D69BE1CC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6863975"/>
                  </p:ext>
                </p:extLst>
              </p:nvPr>
            </p:nvGraphicFramePr>
            <p:xfrm>
              <a:off x="1251858" y="1143001"/>
              <a:ext cx="7714934" cy="4539508"/>
            </p:xfrm>
            <a:graphic>
              <a:graphicData uri="http://schemas.openxmlformats.org/drawingml/2006/table">
                <a:tbl>
                  <a:tblPr firstRow="1">
                    <a:tableStyleId>{5C22544A-7EE6-4342-B048-85BDC9FD1C3A}</a:tableStyleId>
                  </a:tblPr>
                  <a:tblGrid>
                    <a:gridCol w="2325858">
                      <a:extLst>
                        <a:ext uri="{9D8B030D-6E8A-4147-A177-3AD203B41FA5}">
                          <a16:colId xmlns:a16="http://schemas.microsoft.com/office/drawing/2014/main" val="1162884937"/>
                        </a:ext>
                      </a:extLst>
                    </a:gridCol>
                    <a:gridCol w="2410265">
                      <a:extLst>
                        <a:ext uri="{9D8B030D-6E8A-4147-A177-3AD203B41FA5}">
                          <a16:colId xmlns:a16="http://schemas.microsoft.com/office/drawing/2014/main" val="3333813632"/>
                        </a:ext>
                      </a:extLst>
                    </a:gridCol>
                    <a:gridCol w="2978811">
                      <a:extLst>
                        <a:ext uri="{9D8B030D-6E8A-4147-A177-3AD203B41FA5}">
                          <a16:colId xmlns:a16="http://schemas.microsoft.com/office/drawing/2014/main" val="1837310470"/>
                        </a:ext>
                      </a:extLst>
                    </a:gridCol>
                  </a:tblGrid>
                  <a:tr h="33212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pt-BR" sz="1800" dirty="0">
                            <a:effectLst/>
                          </a:endParaRP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800" dirty="0">
                              <a:effectLst/>
                            </a:rPr>
                            <a:t>Operação no tempo</a:t>
                          </a: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800" dirty="0">
                              <a:effectLst/>
                            </a:rPr>
                            <a:t>Efeito na frequência</a:t>
                          </a:r>
                        </a:p>
                      </a:txBody>
                      <a:tcPr marL="57806" marR="57806" marT="28903" marB="28903" anchor="ctr"/>
                    </a:tc>
                    <a:extLst>
                      <a:ext uri="{0D108BD9-81ED-4DB2-BD59-A6C34878D82A}">
                        <a16:rowId xmlns:a16="http://schemas.microsoft.com/office/drawing/2014/main" val="3662353464"/>
                      </a:ext>
                    </a:extLst>
                  </a:tr>
                  <a:tr h="33212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800" dirty="0">
                              <a:effectLst/>
                            </a:rPr>
                            <a:t>Linearidade</a:t>
                          </a: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7806" marR="57806" marT="28903" marB="28903" anchor="ctr">
                        <a:blipFill>
                          <a:blip r:embed="rId2"/>
                          <a:stretch>
                            <a:fillRect l="-96962" t="-116667" r="-125063" b="-121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7806" marR="57806" marT="28903" marB="28903" anchor="ctr">
                        <a:blipFill>
                          <a:blip r:embed="rId2"/>
                          <a:stretch>
                            <a:fillRect l="-159100" t="-116667" r="-1022" b="-12129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4643936"/>
                      </a:ext>
                    </a:extLst>
                  </a:tr>
                  <a:tr h="60644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800" dirty="0">
                              <a:effectLst/>
                            </a:rPr>
                            <a:t>Deslocamento no tempo</a:t>
                          </a: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7806" marR="57806" marT="28903" marB="28903" anchor="ctr">
                        <a:blipFill>
                          <a:blip r:embed="rId2"/>
                          <a:stretch>
                            <a:fillRect l="-96962" t="-117000" r="-125063" b="-55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7806" marR="57806" marT="28903" marB="28903" anchor="ctr">
                        <a:blipFill>
                          <a:blip r:embed="rId2"/>
                          <a:stretch>
                            <a:fillRect l="-159100" t="-117000" r="-1022" b="-55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9418682"/>
                      </a:ext>
                    </a:extLst>
                  </a:tr>
                  <a:tr h="34279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800" dirty="0">
                              <a:effectLst/>
                            </a:rPr>
                            <a:t>Deslocamento na freq.</a:t>
                          </a: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7806" marR="57806" marT="28903" marB="28903" anchor="ctr">
                        <a:blipFill>
                          <a:blip r:embed="rId2"/>
                          <a:stretch>
                            <a:fillRect l="-96962" t="-387500" r="-125063" b="-8910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7806" marR="57806" marT="28903" marB="28903" anchor="ctr">
                        <a:blipFill>
                          <a:blip r:embed="rId2"/>
                          <a:stretch>
                            <a:fillRect l="-159100" t="-387500" r="-1022" b="-8910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7788860"/>
                      </a:ext>
                    </a:extLst>
                  </a:tr>
                  <a:tr h="67413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800" dirty="0">
                              <a:effectLst/>
                            </a:rPr>
                            <a:t>Expansão / Compressão</a:t>
                          </a: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7806" marR="57806" marT="28903" marB="28903" anchor="ctr">
                        <a:blipFill>
                          <a:blip r:embed="rId2"/>
                          <a:stretch>
                            <a:fillRect l="-96962" t="-245946" r="-125063" b="-3495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7806" marR="57806" marT="28903" marB="28903" anchor="ctr">
                        <a:blipFill>
                          <a:blip r:embed="rId2"/>
                          <a:stretch>
                            <a:fillRect l="-159100" t="-245946" r="-1022" b="-3495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7202810"/>
                      </a:ext>
                    </a:extLst>
                  </a:tr>
                  <a:tr h="33212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800" dirty="0">
                              <a:effectLst/>
                            </a:rPr>
                            <a:t>Conjugado</a:t>
                          </a: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7806" marR="57806" marT="28903" marB="28903" anchor="ctr">
                        <a:blipFill>
                          <a:blip r:embed="rId2"/>
                          <a:stretch>
                            <a:fillRect l="-96962" t="-698182" r="-125063" b="-6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7806" marR="57806" marT="28903" marB="28903" anchor="ctr">
                        <a:blipFill>
                          <a:blip r:embed="rId2"/>
                          <a:stretch>
                            <a:fillRect l="-159100" t="-698182" r="-1022" b="-60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7837023"/>
                      </a:ext>
                    </a:extLst>
                  </a:tr>
                  <a:tr h="59012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800" dirty="0">
                              <a:effectLst/>
                            </a:rPr>
                            <a:t>Diferenciação</a:t>
                          </a: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7806" marR="57806" marT="28903" marB="28903" anchor="ctr">
                        <a:blipFill>
                          <a:blip r:embed="rId2"/>
                          <a:stretch>
                            <a:fillRect l="-96962" t="-457292" r="-125063" b="-246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7806" marR="57806" marT="28903" marB="28903" anchor="ctr">
                        <a:blipFill>
                          <a:blip r:embed="rId2"/>
                          <a:stretch>
                            <a:fillRect l="-159100" t="-457292" r="-1022" b="-2468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3750101"/>
                      </a:ext>
                    </a:extLst>
                  </a:tr>
                  <a:tr h="66537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800" dirty="0">
                              <a:effectLst/>
                            </a:rPr>
                            <a:t>Integração</a:t>
                          </a: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7806" marR="57806" marT="28903" marB="28903" anchor="ctr">
                        <a:blipFill>
                          <a:blip r:embed="rId2"/>
                          <a:stretch>
                            <a:fillRect l="-96962" t="-486364" r="-125063" b="-11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7806" marR="57806" marT="28903" marB="28903" anchor="ctr">
                        <a:blipFill>
                          <a:blip r:embed="rId2"/>
                          <a:stretch>
                            <a:fillRect l="-159100" t="-486364" r="-1022" b="-11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8917475"/>
                      </a:ext>
                    </a:extLst>
                  </a:tr>
                  <a:tr h="33212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800" dirty="0">
                              <a:effectLst/>
                            </a:rPr>
                            <a:t>Convolução</a:t>
                          </a: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7806" marR="57806" marT="28903" marB="28903" anchor="ctr">
                        <a:blipFill>
                          <a:blip r:embed="rId2"/>
                          <a:stretch>
                            <a:fillRect l="-96962" t="-1194444" r="-125063" b="-1351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7806" marR="57806" marT="28903" marB="28903" anchor="ctr">
                        <a:blipFill>
                          <a:blip r:embed="rId2"/>
                          <a:stretch>
                            <a:fillRect l="-159100" t="-1194444" r="-1022" b="-1351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7957308"/>
                      </a:ext>
                    </a:extLst>
                  </a:tr>
                  <a:tr h="33212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800" dirty="0">
                              <a:effectLst/>
                            </a:rPr>
                            <a:t>Multiplicação</a:t>
                          </a:r>
                        </a:p>
                      </a:txBody>
                      <a:tcPr marL="57806" marR="57806" marT="28903" marB="28903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7806" marR="57806" marT="28903" marB="28903" anchor="ctr">
                        <a:blipFill>
                          <a:blip r:embed="rId2"/>
                          <a:stretch>
                            <a:fillRect l="-96962" t="-1270909" r="-125063" b="-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57806" marR="57806" marT="28903" marB="28903" anchor="ctr">
                        <a:blipFill>
                          <a:blip r:embed="rId2"/>
                          <a:stretch>
                            <a:fillRect l="-159100" t="-1270909" r="-1022" b="-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99231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Balão de Fala: Retângulo 7">
            <a:extLst>
              <a:ext uri="{FF2B5EF4-FFF2-40B4-BE49-F238E27FC236}">
                <a16:creationId xmlns:a16="http://schemas.microsoft.com/office/drawing/2014/main" id="{545A0A09-76C0-6103-C662-A0B5A345A8F3}"/>
              </a:ext>
            </a:extLst>
          </p:cNvPr>
          <p:cNvSpPr/>
          <p:nvPr/>
        </p:nvSpPr>
        <p:spPr>
          <a:xfrm>
            <a:off x="9292521" y="1636776"/>
            <a:ext cx="2311215" cy="530353"/>
          </a:xfrm>
          <a:prstGeom prst="wedgeRectCallout">
            <a:avLst>
              <a:gd name="adj1" fmla="val -83624"/>
              <a:gd name="adj2" fmla="val 3392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Fase Linear</a:t>
            </a:r>
          </a:p>
        </p:txBody>
      </p:sp>
      <p:sp>
        <p:nvSpPr>
          <p:cNvPr id="10" name="Balão de Fala: Retângulo 9">
            <a:extLst>
              <a:ext uri="{FF2B5EF4-FFF2-40B4-BE49-F238E27FC236}">
                <a16:creationId xmlns:a16="http://schemas.microsoft.com/office/drawing/2014/main" id="{473119D0-F0BD-F704-1F85-D5D3220484E0}"/>
              </a:ext>
            </a:extLst>
          </p:cNvPr>
          <p:cNvSpPr/>
          <p:nvPr/>
        </p:nvSpPr>
        <p:spPr>
          <a:xfrm>
            <a:off x="9463209" y="2259139"/>
            <a:ext cx="2311215" cy="530353"/>
          </a:xfrm>
          <a:prstGeom prst="wedgeRectCallout">
            <a:avLst>
              <a:gd name="adj1" fmla="val -103801"/>
              <a:gd name="adj2" fmla="val 11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Modulação AM</a:t>
            </a:r>
          </a:p>
        </p:txBody>
      </p:sp>
      <p:sp>
        <p:nvSpPr>
          <p:cNvPr id="12" name="Balão de Fala: Retângulo 11">
            <a:extLst>
              <a:ext uri="{FF2B5EF4-FFF2-40B4-BE49-F238E27FC236}">
                <a16:creationId xmlns:a16="http://schemas.microsoft.com/office/drawing/2014/main" id="{F574012A-1F82-669C-1F04-12ADB4EC7210}"/>
              </a:ext>
            </a:extLst>
          </p:cNvPr>
          <p:cNvSpPr/>
          <p:nvPr/>
        </p:nvSpPr>
        <p:spPr>
          <a:xfrm>
            <a:off x="9463209" y="2882402"/>
            <a:ext cx="2311215" cy="530353"/>
          </a:xfrm>
          <a:prstGeom prst="wedgeRectCallout">
            <a:avLst>
              <a:gd name="adj1" fmla="val -103801"/>
              <a:gd name="adj2" fmla="val 11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Compressão no Tempo = </a:t>
            </a:r>
            <a:r>
              <a:rPr lang="pt-BR" dirty="0" err="1"/>
              <a:t>Expansçao</a:t>
            </a:r>
            <a:r>
              <a:rPr lang="pt-BR" dirty="0"/>
              <a:t> na Freq.</a:t>
            </a:r>
          </a:p>
        </p:txBody>
      </p:sp>
      <p:sp>
        <p:nvSpPr>
          <p:cNvPr id="14" name="Balão de Fala: Retângulo 13">
            <a:extLst>
              <a:ext uri="{FF2B5EF4-FFF2-40B4-BE49-F238E27FC236}">
                <a16:creationId xmlns:a16="http://schemas.microsoft.com/office/drawing/2014/main" id="{C122ED8F-0CC9-5795-E1D4-CE8C5AED491A}"/>
              </a:ext>
            </a:extLst>
          </p:cNvPr>
          <p:cNvSpPr/>
          <p:nvPr/>
        </p:nvSpPr>
        <p:spPr>
          <a:xfrm>
            <a:off x="9292520" y="5071872"/>
            <a:ext cx="2311215" cy="530353"/>
          </a:xfrm>
          <a:prstGeom prst="wedgeRectCallout">
            <a:avLst>
              <a:gd name="adj1" fmla="val -89954"/>
              <a:gd name="adj2" fmla="val -3503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Motivação para uso de Fourier</a:t>
            </a:r>
          </a:p>
        </p:txBody>
      </p:sp>
      <p:sp>
        <p:nvSpPr>
          <p:cNvPr id="16" name="Balão de Fala: Retângulo 15">
            <a:extLst>
              <a:ext uri="{FF2B5EF4-FFF2-40B4-BE49-F238E27FC236}">
                <a16:creationId xmlns:a16="http://schemas.microsoft.com/office/drawing/2014/main" id="{394EF0BE-206E-DCF2-CC06-87E44DA1A0AF}"/>
              </a:ext>
            </a:extLst>
          </p:cNvPr>
          <p:cNvSpPr/>
          <p:nvPr/>
        </p:nvSpPr>
        <p:spPr>
          <a:xfrm>
            <a:off x="9292520" y="4068509"/>
            <a:ext cx="2603824" cy="622363"/>
          </a:xfrm>
          <a:prstGeom prst="wedgeRectCallout">
            <a:avLst>
              <a:gd name="adj1" fmla="val -83624"/>
              <a:gd name="adj2" fmla="val 3392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Integração = convolução com degrau</a:t>
            </a:r>
          </a:p>
        </p:txBody>
      </p:sp>
    </p:spTree>
    <p:extLst>
      <p:ext uri="{BB962C8B-B14F-4D97-AF65-F5344CB8AC3E}">
        <p14:creationId xmlns:p14="http://schemas.microsoft.com/office/powerpoint/2010/main" val="329484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F8F3C-4614-6A66-08B1-F35F1FDF8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Transformada de Fourier</a:t>
            </a:r>
            <a:br>
              <a:rPr lang="pt-BR" dirty="0"/>
            </a:br>
            <a:r>
              <a:rPr lang="pt-BR" dirty="0"/>
              <a:t>Magnitude e Fase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6308B0-8EA9-2170-70A9-973B73CB1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4840" y="1115569"/>
            <a:ext cx="6918960" cy="1051560"/>
          </a:xfrm>
        </p:spPr>
        <p:txBody>
          <a:bodyPr>
            <a:normAutofit fontScale="92500" lnSpcReduction="20000"/>
          </a:bodyPr>
          <a:lstStyle/>
          <a:p>
            <a:endParaRPr lang="pt-BR" dirty="0"/>
          </a:p>
          <a:p>
            <a:pPr marL="0" indent="0">
              <a:buNone/>
            </a:pPr>
            <a:r>
              <a:rPr lang="pt-BR" dirty="0"/>
              <a:t>fase também contém informação e pode alterar o sinal</a:t>
            </a:r>
          </a:p>
          <a:p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8">
                <a:extLst>
                  <a:ext uri="{FF2B5EF4-FFF2-40B4-BE49-F238E27FC236}">
                    <a16:creationId xmlns:a16="http://schemas.microsoft.com/office/drawing/2014/main" id="{09F13F48-759C-94FB-2E95-57D3D3583C7D}"/>
                  </a:ext>
                </a:extLst>
              </p:cNvPr>
              <p:cNvSpPr txBox="1"/>
              <p:nvPr/>
            </p:nvSpPr>
            <p:spPr bwMode="auto">
              <a:xfrm>
                <a:off x="1137427" y="1521758"/>
                <a:ext cx="5079430" cy="78422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pt-BR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pt-BR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pt-BR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d>
                      <m:r>
                        <a:rPr lang="pt-BR" sz="2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pt-BR" sz="2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pt-BR" sz="2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5" name="Object 8">
                <a:extLst>
                  <a:ext uri="{FF2B5EF4-FFF2-40B4-BE49-F238E27FC236}">
                    <a16:creationId xmlns:a16="http://schemas.microsoft.com/office/drawing/2014/main" id="{09F13F48-759C-94FB-2E95-57D3D3583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7427" y="1521758"/>
                <a:ext cx="5079430" cy="7842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1425324B-1442-5DB6-1BE1-E8254B78A017}"/>
              </a:ext>
            </a:extLst>
          </p:cNvPr>
          <p:cNvSpPr txBox="1"/>
          <p:nvPr/>
        </p:nvSpPr>
        <p:spPr>
          <a:xfrm>
            <a:off x="2442509" y="1152426"/>
            <a:ext cx="1326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0070C0"/>
                </a:solidFill>
              </a:rPr>
              <a:t>Magnitude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E8115BC-231B-3834-8D15-DF0D0B67EDD0}"/>
              </a:ext>
            </a:extLst>
          </p:cNvPr>
          <p:cNvSpPr txBox="1"/>
          <p:nvPr/>
        </p:nvSpPr>
        <p:spPr>
          <a:xfrm>
            <a:off x="3610491" y="1943394"/>
            <a:ext cx="6490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00B050"/>
                </a:solidFill>
              </a:rPr>
              <a:t>Fase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571E9F5-54F3-204D-04F0-08BD6D831F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0" y="2266378"/>
            <a:ext cx="9224355" cy="44392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77229F3B-FB80-2FCA-C385-31C038E42EA8}"/>
                  </a:ext>
                </a:extLst>
              </p:cNvPr>
              <p:cNvSpPr txBox="1"/>
              <p:nvPr/>
            </p:nvSpPr>
            <p:spPr>
              <a:xfrm>
                <a:off x="5362956" y="4552018"/>
                <a:ext cx="75482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pt-BR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pt-BR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1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77229F3B-FB80-2FCA-C385-31C038E42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956" y="4552018"/>
                <a:ext cx="754822" cy="215444"/>
              </a:xfrm>
              <a:prstGeom prst="rect">
                <a:avLst/>
              </a:prstGeom>
              <a:blipFill>
                <a:blip r:embed="rId4"/>
                <a:stretch>
                  <a:fillRect l="-8065" r="-4839" b="-314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ED6CFF9F-38CF-888B-FB35-CF4A3C8C07B3}"/>
                  </a:ext>
                </a:extLst>
              </p:cNvPr>
              <p:cNvSpPr txBox="1"/>
              <p:nvPr/>
            </p:nvSpPr>
            <p:spPr>
              <a:xfrm>
                <a:off x="9084594" y="4659740"/>
                <a:ext cx="155395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14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pt-BR" sz="14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4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pt-BR" sz="14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pt-BR" sz="14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pt-BR" sz="14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4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pt-BR" sz="14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1400" dirty="0" err="1">
                    <a:solidFill>
                      <a:srgbClr val="FFC000"/>
                    </a:solidFill>
                  </a:rPr>
                  <a:t>sign</a:t>
                </a:r>
                <a:r>
                  <a:rPr lang="pt-BR" sz="1400" dirty="0">
                    <a:solidFill>
                      <a:srgbClr val="FFC000"/>
                    </a:solidFill>
                  </a:rPr>
                  <a:t>(</a:t>
                </a:r>
                <a:r>
                  <a:rPr lang="pt-BR" sz="1400" i="1" dirty="0">
                    <a:solidFill>
                      <a:srgbClr val="FFC000"/>
                    </a:solidFill>
                  </a:rPr>
                  <a:t>f</a:t>
                </a:r>
                <a:r>
                  <a:rPr lang="pt-BR" sz="1400" dirty="0">
                    <a:solidFill>
                      <a:srgbClr val="FFC000"/>
                    </a:solidFill>
                  </a:rPr>
                  <a:t>) </a:t>
                </a:r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ED6CFF9F-38CF-888B-FB35-CF4A3C8C0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4594" y="4659740"/>
                <a:ext cx="1553952" cy="215444"/>
              </a:xfrm>
              <a:prstGeom prst="rect">
                <a:avLst/>
              </a:prstGeom>
              <a:blipFill>
                <a:blip r:embed="rId5"/>
                <a:stretch>
                  <a:fillRect l="-5098" t="-22222" r="-5882" b="-5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8436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4ABFC3-999C-B4AC-DF98-830BC4AD4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Sistemas</a:t>
            </a:r>
          </a:p>
        </p:txBody>
      </p:sp>
    </p:spTree>
    <p:extLst>
      <p:ext uri="{BB962C8B-B14F-4D97-AF65-F5344CB8AC3E}">
        <p14:creationId xmlns:p14="http://schemas.microsoft.com/office/powerpoint/2010/main" val="1245629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E67C8-A68E-8142-7605-3969C5E48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Transmissão em Sistemas Lineares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85A8523-FE27-D994-BDAC-9C76EDB7A559}"/>
              </a:ext>
            </a:extLst>
          </p:cNvPr>
          <p:cNvSpPr txBox="1">
            <a:spLocks noChangeArrowheads="1"/>
          </p:cNvSpPr>
          <p:nvPr/>
        </p:nvSpPr>
        <p:spPr>
          <a:xfrm>
            <a:off x="1110343" y="1186542"/>
            <a:ext cx="8299450" cy="61753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Sistema linear pode ser caracterizado pela resposta impulsional</a:t>
            </a:r>
          </a:p>
        </p:txBody>
      </p:sp>
      <p:grpSp>
        <p:nvGrpSpPr>
          <p:cNvPr id="4" name="Group 33">
            <a:extLst>
              <a:ext uri="{FF2B5EF4-FFF2-40B4-BE49-F238E27FC236}">
                <a16:creationId xmlns:a16="http://schemas.microsoft.com/office/drawing/2014/main" id="{1C9F8371-08EE-2C7E-2574-29CA9E15AC11}"/>
              </a:ext>
            </a:extLst>
          </p:cNvPr>
          <p:cNvGrpSpPr>
            <a:grpSpLocks/>
          </p:cNvGrpSpPr>
          <p:nvPr/>
        </p:nvGrpSpPr>
        <p:grpSpPr bwMode="auto">
          <a:xfrm>
            <a:off x="1900919" y="2005693"/>
            <a:ext cx="6169025" cy="1622425"/>
            <a:chOff x="738" y="1236"/>
            <a:chExt cx="3886" cy="102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64F6474-D8A9-DD6E-94BA-F82D03D4B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7" y="1236"/>
              <a:ext cx="796" cy="37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62000">
                <a:spcBef>
                  <a:spcPct val="0"/>
                </a:spcBef>
              </a:pPr>
              <a:r>
                <a:rPr lang="en-US">
                  <a:latin typeface="Nokia Sans Wide" pitchFamily="34" charset="0"/>
                </a:rPr>
                <a:t>Sistema</a:t>
              </a:r>
            </a:p>
            <a:p>
              <a:pPr defTabSz="762000">
                <a:spcBef>
                  <a:spcPct val="0"/>
                </a:spcBef>
              </a:pPr>
              <a:r>
                <a:rPr lang="en-US">
                  <a:latin typeface="Nokia Sans Wide" pitchFamily="34" charset="0"/>
                </a:rPr>
                <a:t>Linear</a:t>
              </a:r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F3966757-3B37-2BAF-4DCC-31FF884A98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2" y="1430"/>
              <a:ext cx="67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Line 10">
              <a:extLst>
                <a:ext uri="{FF2B5EF4-FFF2-40B4-BE49-F238E27FC236}">
                  <a16:creationId xmlns:a16="http://schemas.microsoft.com/office/drawing/2014/main" id="{836C4C74-C430-612E-B384-3AB464258A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8" y="1431"/>
              <a:ext cx="67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 Box 11">
              <a:extLst>
                <a:ext uri="{FF2B5EF4-FFF2-40B4-BE49-F238E27FC236}">
                  <a16:creationId xmlns:a16="http://schemas.microsoft.com/office/drawing/2014/main" id="{6136465D-583D-6E63-415C-AB8C6CAB64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1" y="1287"/>
              <a:ext cx="833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762000"/>
              <a:r>
                <a:rPr lang="en-US">
                  <a:latin typeface="Symbol" pitchFamily="18" charset="2"/>
                </a:rPr>
                <a:t>d</a:t>
              </a:r>
              <a:r>
                <a:rPr lang="en-US">
                  <a:latin typeface="Times New Roman" pitchFamily="18" charset="0"/>
                </a:rPr>
                <a:t>(</a:t>
              </a:r>
              <a:r>
                <a:rPr lang="en-US" i="1">
                  <a:latin typeface="Times New Roman" pitchFamily="18" charset="0"/>
                </a:rPr>
                <a:t>t</a:t>
              </a:r>
              <a:r>
                <a:rPr lang="en-US">
                  <a:latin typeface="Times New Roman" pitchFamily="18" charset="0"/>
                </a:rPr>
                <a:t>)</a:t>
              </a:r>
              <a:endParaRPr lang="en-US">
                <a:latin typeface="Symbol" pitchFamily="18" charset="2"/>
              </a:endParaRPr>
            </a:p>
          </p:txBody>
        </p:sp>
        <p:sp>
          <p:nvSpPr>
            <p:cNvPr id="9" name="Text Box 12">
              <a:extLst>
                <a:ext uri="{FF2B5EF4-FFF2-40B4-BE49-F238E27FC236}">
                  <a16:creationId xmlns:a16="http://schemas.microsoft.com/office/drawing/2014/main" id="{CFC7C901-32A1-2CCD-51AC-D7433208AF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0" y="1309"/>
              <a:ext cx="326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i="1">
                  <a:latin typeface="Times New Roman" pitchFamily="18" charset="0"/>
                </a:rPr>
                <a:t>h</a:t>
              </a:r>
              <a:r>
                <a:rPr lang="en-US">
                  <a:latin typeface="Times New Roman" pitchFamily="18" charset="0"/>
                </a:rPr>
                <a:t>(</a:t>
              </a:r>
              <a:r>
                <a:rPr lang="en-US" i="1">
                  <a:latin typeface="Times New Roman" pitchFamily="18" charset="0"/>
                </a:rPr>
                <a:t>t</a:t>
              </a:r>
              <a:r>
                <a:rPr lang="en-US">
                  <a:latin typeface="Times New Roman" pitchFamily="18" charset="0"/>
                </a:rPr>
                <a:t>)</a:t>
              </a:r>
              <a:endParaRPr lang="en-US" i="1">
                <a:latin typeface="Times New Roman" pitchFamily="18" charset="0"/>
              </a:endParaRPr>
            </a:p>
          </p:txBody>
        </p:sp>
        <p:sp>
          <p:nvSpPr>
            <p:cNvPr id="10" name="Line 13">
              <a:extLst>
                <a:ext uri="{FF2B5EF4-FFF2-40B4-BE49-F238E27FC236}">
                  <a16:creationId xmlns:a16="http://schemas.microsoft.com/office/drawing/2014/main" id="{8CFDE910-921A-D631-62EA-5B8728FFFD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8" y="1985"/>
              <a:ext cx="99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11" name="Line 14">
              <a:extLst>
                <a:ext uri="{FF2B5EF4-FFF2-40B4-BE49-F238E27FC236}">
                  <a16:creationId xmlns:a16="http://schemas.microsoft.com/office/drawing/2014/main" id="{8B7CA2D4-A835-9051-FCD4-09229BB2E2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22" y="1660"/>
              <a:ext cx="0" cy="597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12" name="Line 15">
              <a:extLst>
                <a:ext uri="{FF2B5EF4-FFF2-40B4-BE49-F238E27FC236}">
                  <a16:creationId xmlns:a16="http://schemas.microsoft.com/office/drawing/2014/main" id="{B713C606-60D1-D159-7F88-5C61CA14DE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20" y="1770"/>
              <a:ext cx="0" cy="220"/>
            </a:xfrm>
            <a:prstGeom prst="line">
              <a:avLst/>
            </a:prstGeom>
            <a:noFill/>
            <a:ln w="28575">
              <a:solidFill>
                <a:srgbClr val="063DE8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13" name="Line 16">
              <a:extLst>
                <a:ext uri="{FF2B5EF4-FFF2-40B4-BE49-F238E27FC236}">
                  <a16:creationId xmlns:a16="http://schemas.microsoft.com/office/drawing/2014/main" id="{EBD7CA08-2524-C598-2366-52EFED989C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9" y="1986"/>
              <a:ext cx="99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14" name="Line 17">
              <a:extLst>
                <a:ext uri="{FF2B5EF4-FFF2-40B4-BE49-F238E27FC236}">
                  <a16:creationId xmlns:a16="http://schemas.microsoft.com/office/drawing/2014/main" id="{FB29BD26-77EB-B5F0-8A3F-108E16DA4F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08" y="1661"/>
              <a:ext cx="0" cy="597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15" name="Freeform 19">
              <a:extLst>
                <a:ext uri="{FF2B5EF4-FFF2-40B4-BE49-F238E27FC236}">
                  <a16:creationId xmlns:a16="http://schemas.microsoft.com/office/drawing/2014/main" id="{1C213660-6788-5990-7401-6892EABF2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" y="1748"/>
              <a:ext cx="655" cy="233"/>
            </a:xfrm>
            <a:custGeom>
              <a:avLst/>
              <a:gdLst/>
              <a:ahLst/>
              <a:cxnLst>
                <a:cxn ang="0">
                  <a:pos x="0" y="231"/>
                </a:cxn>
                <a:cxn ang="0">
                  <a:pos x="100" y="22"/>
                </a:cxn>
                <a:cxn ang="0">
                  <a:pos x="184" y="100"/>
                </a:cxn>
                <a:cxn ang="0">
                  <a:pos x="320" y="163"/>
                </a:cxn>
                <a:cxn ang="0">
                  <a:pos x="493" y="310"/>
                </a:cxn>
                <a:cxn ang="0">
                  <a:pos x="655" y="247"/>
                </a:cxn>
              </a:cxnLst>
              <a:rect l="0" t="0" r="r" b="b"/>
              <a:pathLst>
                <a:path w="655" h="324">
                  <a:moveTo>
                    <a:pt x="0" y="231"/>
                  </a:moveTo>
                  <a:cubicBezTo>
                    <a:pt x="34" y="137"/>
                    <a:pt x="69" y="44"/>
                    <a:pt x="100" y="22"/>
                  </a:cubicBezTo>
                  <a:cubicBezTo>
                    <a:pt x="131" y="0"/>
                    <a:pt x="147" y="77"/>
                    <a:pt x="184" y="100"/>
                  </a:cubicBezTo>
                  <a:cubicBezTo>
                    <a:pt x="221" y="123"/>
                    <a:pt x="269" y="128"/>
                    <a:pt x="320" y="163"/>
                  </a:cubicBezTo>
                  <a:cubicBezTo>
                    <a:pt x="371" y="198"/>
                    <a:pt x="437" y="296"/>
                    <a:pt x="493" y="310"/>
                  </a:cubicBezTo>
                  <a:cubicBezTo>
                    <a:pt x="549" y="324"/>
                    <a:pt x="628" y="257"/>
                    <a:pt x="655" y="247"/>
                  </a:cubicBezTo>
                </a:path>
              </a:pathLst>
            </a:custGeom>
            <a:noFill/>
            <a:ln w="28575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</p:grpSp>
      <p:grpSp>
        <p:nvGrpSpPr>
          <p:cNvPr id="16" name="Group 34">
            <a:extLst>
              <a:ext uri="{FF2B5EF4-FFF2-40B4-BE49-F238E27FC236}">
                <a16:creationId xmlns:a16="http://schemas.microsoft.com/office/drawing/2014/main" id="{B426C416-0DE9-A512-48A5-8D3E1CD6BFB0}"/>
              </a:ext>
            </a:extLst>
          </p:cNvPr>
          <p:cNvGrpSpPr>
            <a:grpSpLocks/>
          </p:cNvGrpSpPr>
          <p:nvPr/>
        </p:nvGrpSpPr>
        <p:grpSpPr bwMode="auto">
          <a:xfrm>
            <a:off x="1894569" y="4166281"/>
            <a:ext cx="6315075" cy="1749425"/>
            <a:chOff x="734" y="2597"/>
            <a:chExt cx="3978" cy="1102"/>
          </a:xfrm>
        </p:grpSpPr>
        <p:sp>
          <p:nvSpPr>
            <p:cNvPr id="17" name="Rectangle 20">
              <a:extLst>
                <a:ext uri="{FF2B5EF4-FFF2-40B4-BE49-F238E27FC236}">
                  <a16:creationId xmlns:a16="http://schemas.microsoft.com/office/drawing/2014/main" id="{9B33941F-5B28-5EAD-66BF-407325B343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" y="2597"/>
              <a:ext cx="796" cy="37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62000">
                <a:spcBef>
                  <a:spcPct val="0"/>
                </a:spcBef>
              </a:pPr>
              <a:r>
                <a:rPr lang="en-US">
                  <a:latin typeface="Nokia Sans Wide" pitchFamily="34" charset="0"/>
                </a:rPr>
                <a:t>Sistema</a:t>
              </a:r>
            </a:p>
            <a:p>
              <a:pPr defTabSz="762000">
                <a:spcBef>
                  <a:spcPct val="0"/>
                </a:spcBef>
              </a:pPr>
              <a:r>
                <a:rPr lang="en-US">
                  <a:latin typeface="Nokia Sans Wide" pitchFamily="34" charset="0"/>
                </a:rPr>
                <a:t>Linear</a:t>
              </a:r>
            </a:p>
          </p:txBody>
        </p:sp>
        <p:sp>
          <p:nvSpPr>
            <p:cNvPr id="18" name="Line 21">
              <a:extLst>
                <a:ext uri="{FF2B5EF4-FFF2-40B4-BE49-F238E27FC236}">
                  <a16:creationId xmlns:a16="http://schemas.microsoft.com/office/drawing/2014/main" id="{29348ED8-A3DB-B7D2-3655-9F73684CF7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3" y="2791"/>
              <a:ext cx="67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Line 22">
              <a:extLst>
                <a:ext uri="{FF2B5EF4-FFF2-40B4-BE49-F238E27FC236}">
                  <a16:creationId xmlns:a16="http://schemas.microsoft.com/office/drawing/2014/main" id="{2BF5F554-6FFE-59CF-6900-7F86EE3FFB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9" y="2792"/>
              <a:ext cx="67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 Box 23">
              <a:extLst>
                <a:ext uri="{FF2B5EF4-FFF2-40B4-BE49-F238E27FC236}">
                  <a16:creationId xmlns:a16="http://schemas.microsoft.com/office/drawing/2014/main" id="{4EA89ADE-99D8-1E89-E169-AAA569E132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" y="2648"/>
              <a:ext cx="833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762000"/>
              <a:r>
                <a:rPr lang="en-US">
                  <a:latin typeface="Symbol" pitchFamily="18" charset="2"/>
                </a:rPr>
                <a:t>d</a:t>
              </a:r>
              <a:r>
                <a:rPr lang="en-US">
                  <a:latin typeface="Times New Roman" pitchFamily="18" charset="0"/>
                </a:rPr>
                <a:t>(</a:t>
              </a:r>
              <a:r>
                <a:rPr lang="en-US" i="1">
                  <a:latin typeface="Times New Roman" pitchFamily="18" charset="0"/>
                </a:rPr>
                <a:t>t</a:t>
              </a:r>
              <a:r>
                <a:rPr lang="en-US">
                  <a:latin typeface="Symbol" pitchFamily="18" charset="2"/>
                </a:rPr>
                <a:t>-</a:t>
              </a:r>
              <a:r>
                <a:rPr lang="en-US" i="1">
                  <a:latin typeface="Symbol" pitchFamily="18" charset="2"/>
                </a:rPr>
                <a:t>t</a:t>
              </a:r>
              <a:r>
                <a:rPr lang="en-US">
                  <a:latin typeface="Symbol" pitchFamily="18" charset="2"/>
                </a:rPr>
                <a:t>)</a:t>
              </a:r>
            </a:p>
          </p:txBody>
        </p:sp>
        <p:sp>
          <p:nvSpPr>
            <p:cNvPr id="21" name="Text Box 24">
              <a:extLst>
                <a:ext uri="{FF2B5EF4-FFF2-40B4-BE49-F238E27FC236}">
                  <a16:creationId xmlns:a16="http://schemas.microsoft.com/office/drawing/2014/main" id="{4815CBB2-F430-EC55-B3D8-6B038B1318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1" y="2667"/>
              <a:ext cx="506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i="1">
                  <a:latin typeface="Times New Roman" pitchFamily="18" charset="0"/>
                </a:rPr>
                <a:t>h</a:t>
              </a:r>
              <a:r>
                <a:rPr lang="en-US">
                  <a:latin typeface="Times New Roman" pitchFamily="18" charset="0"/>
                </a:rPr>
                <a:t>(</a:t>
              </a:r>
              <a:r>
                <a:rPr lang="en-US" i="1">
                  <a:latin typeface="Times New Roman" pitchFamily="18" charset="0"/>
                </a:rPr>
                <a:t>t</a:t>
              </a:r>
              <a:r>
                <a:rPr lang="en-US" i="1">
                  <a:latin typeface="Symbol" pitchFamily="18" charset="2"/>
                </a:rPr>
                <a:t>- t</a:t>
              </a:r>
              <a:r>
                <a:rPr lang="en-US">
                  <a:latin typeface="Symbol" pitchFamily="18" charset="2"/>
                </a:rPr>
                <a:t>)</a:t>
              </a:r>
              <a:endParaRPr lang="en-US" i="1">
                <a:latin typeface="Symbol" pitchFamily="18" charset="2"/>
              </a:endParaRPr>
            </a:p>
          </p:txBody>
        </p:sp>
        <p:sp>
          <p:nvSpPr>
            <p:cNvPr id="22" name="Line 25">
              <a:extLst>
                <a:ext uri="{FF2B5EF4-FFF2-40B4-BE49-F238E27FC236}">
                  <a16:creationId xmlns:a16="http://schemas.microsoft.com/office/drawing/2014/main" id="{7DCDB27F-0662-255B-B783-3137CC22FA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4" y="3426"/>
              <a:ext cx="99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23" name="Line 26">
              <a:extLst>
                <a:ext uri="{FF2B5EF4-FFF2-40B4-BE49-F238E27FC236}">
                  <a16:creationId xmlns:a16="http://schemas.microsoft.com/office/drawing/2014/main" id="{800C814E-A326-EC7E-CE08-1FCD770272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18" y="3101"/>
              <a:ext cx="0" cy="597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24" name="Line 27">
              <a:extLst>
                <a:ext uri="{FF2B5EF4-FFF2-40B4-BE49-F238E27FC236}">
                  <a16:creationId xmlns:a16="http://schemas.microsoft.com/office/drawing/2014/main" id="{AF8F0C5A-6DBF-8416-B642-F8EF7C07F9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71" y="3211"/>
              <a:ext cx="0" cy="220"/>
            </a:xfrm>
            <a:prstGeom prst="line">
              <a:avLst/>
            </a:prstGeom>
            <a:noFill/>
            <a:ln w="28575">
              <a:solidFill>
                <a:srgbClr val="063DE8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25" name="Text Box 28">
              <a:extLst>
                <a:ext uri="{FF2B5EF4-FFF2-40B4-BE49-F238E27FC236}">
                  <a16:creationId xmlns:a16="http://schemas.microsoft.com/office/drawing/2014/main" id="{C299DF09-0280-4867-1D8A-3120D932BC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0" y="3379"/>
              <a:ext cx="254" cy="23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762000"/>
              <a:r>
                <a:rPr lang="en-US" i="1">
                  <a:latin typeface="Symbol" pitchFamily="18" charset="2"/>
                </a:rPr>
                <a:t>t</a:t>
              </a:r>
            </a:p>
          </p:txBody>
        </p:sp>
        <p:sp>
          <p:nvSpPr>
            <p:cNvPr id="26" name="Line 29">
              <a:extLst>
                <a:ext uri="{FF2B5EF4-FFF2-40B4-BE49-F238E27FC236}">
                  <a16:creationId xmlns:a16="http://schemas.microsoft.com/office/drawing/2014/main" id="{180C19C7-8227-0A09-FA42-4F1000D423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5" y="3427"/>
              <a:ext cx="99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27" name="Line 30">
              <a:extLst>
                <a:ext uri="{FF2B5EF4-FFF2-40B4-BE49-F238E27FC236}">
                  <a16:creationId xmlns:a16="http://schemas.microsoft.com/office/drawing/2014/main" id="{04E5027E-5C2E-4A8B-F240-21FF3D589D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04" y="3102"/>
              <a:ext cx="0" cy="597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7D54AB51-8CBF-3FE0-F5DB-48F55B6F9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" y="3189"/>
              <a:ext cx="655" cy="233"/>
            </a:xfrm>
            <a:custGeom>
              <a:avLst/>
              <a:gdLst/>
              <a:ahLst/>
              <a:cxnLst>
                <a:cxn ang="0">
                  <a:pos x="0" y="231"/>
                </a:cxn>
                <a:cxn ang="0">
                  <a:pos x="100" y="22"/>
                </a:cxn>
                <a:cxn ang="0">
                  <a:pos x="184" y="100"/>
                </a:cxn>
                <a:cxn ang="0">
                  <a:pos x="320" y="163"/>
                </a:cxn>
                <a:cxn ang="0">
                  <a:pos x="493" y="310"/>
                </a:cxn>
                <a:cxn ang="0">
                  <a:pos x="655" y="247"/>
                </a:cxn>
              </a:cxnLst>
              <a:rect l="0" t="0" r="r" b="b"/>
              <a:pathLst>
                <a:path w="655" h="324">
                  <a:moveTo>
                    <a:pt x="0" y="231"/>
                  </a:moveTo>
                  <a:cubicBezTo>
                    <a:pt x="34" y="137"/>
                    <a:pt x="69" y="44"/>
                    <a:pt x="100" y="22"/>
                  </a:cubicBezTo>
                  <a:cubicBezTo>
                    <a:pt x="131" y="0"/>
                    <a:pt x="147" y="77"/>
                    <a:pt x="184" y="100"/>
                  </a:cubicBezTo>
                  <a:cubicBezTo>
                    <a:pt x="221" y="123"/>
                    <a:pt x="269" y="128"/>
                    <a:pt x="320" y="163"/>
                  </a:cubicBezTo>
                  <a:cubicBezTo>
                    <a:pt x="371" y="198"/>
                    <a:pt x="437" y="296"/>
                    <a:pt x="493" y="310"/>
                  </a:cubicBezTo>
                  <a:cubicBezTo>
                    <a:pt x="549" y="324"/>
                    <a:pt x="628" y="257"/>
                    <a:pt x="655" y="247"/>
                  </a:cubicBezTo>
                </a:path>
              </a:pathLst>
            </a:custGeom>
            <a:noFill/>
            <a:ln w="28575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29" name="Text Box 32">
              <a:extLst>
                <a:ext uri="{FF2B5EF4-FFF2-40B4-BE49-F238E27FC236}">
                  <a16:creationId xmlns:a16="http://schemas.microsoft.com/office/drawing/2014/main" id="{4D987EF6-4155-EE91-5AB3-A235A34E51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5" y="3367"/>
              <a:ext cx="254" cy="23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762000"/>
              <a:r>
                <a:rPr lang="en-US" i="1">
                  <a:latin typeface="Symbol" pitchFamily="18" charset="2"/>
                </a:rPr>
                <a:t>t</a:t>
              </a:r>
            </a:p>
          </p:txBody>
        </p:sp>
      </p:grpSp>
      <p:sp>
        <p:nvSpPr>
          <p:cNvPr id="30" name="Rectangle 35">
            <a:extLst>
              <a:ext uri="{FF2B5EF4-FFF2-40B4-BE49-F238E27FC236}">
                <a16:creationId xmlns:a16="http://schemas.microsoft.com/office/drawing/2014/main" id="{0C958C10-E055-6BF6-6D79-A16B755BA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868" y="3648756"/>
            <a:ext cx="8299450" cy="617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80988" indent="-280988" defTabSz="762000">
              <a:spcBef>
                <a:spcPct val="40000"/>
              </a:spcBef>
              <a:buClr>
                <a:schemeClr val="hlink"/>
              </a:buClr>
              <a:buFontTx/>
              <a:buChar char="•"/>
            </a:pPr>
            <a:r>
              <a:rPr lang="en-US" sz="2400" dirty="0">
                <a:latin typeface="Nokia Sans Wide" pitchFamily="34" charset="0"/>
              </a:rPr>
              <a:t>Se </a:t>
            </a:r>
            <a:r>
              <a:rPr lang="en-US" sz="2400" dirty="0" err="1">
                <a:latin typeface="Nokia Sans Wide" pitchFamily="34" charset="0"/>
              </a:rPr>
              <a:t>sistema</a:t>
            </a:r>
            <a:r>
              <a:rPr lang="en-US" sz="2400" dirty="0">
                <a:latin typeface="Nokia Sans Wide" pitchFamily="34" charset="0"/>
              </a:rPr>
              <a:t> for </a:t>
            </a:r>
            <a:r>
              <a:rPr lang="en-US" sz="2400" dirty="0" err="1">
                <a:latin typeface="Nokia Sans Wide" pitchFamily="34" charset="0"/>
              </a:rPr>
              <a:t>invariante</a:t>
            </a:r>
            <a:r>
              <a:rPr lang="en-US" sz="2400" dirty="0">
                <a:latin typeface="Nokia Sans Wide" pitchFamily="34" charset="0"/>
              </a:rPr>
              <a:t> no tempo:</a:t>
            </a:r>
          </a:p>
        </p:txBody>
      </p:sp>
    </p:spTree>
    <p:extLst>
      <p:ext uri="{BB962C8B-B14F-4D97-AF65-F5344CB8AC3E}">
        <p14:creationId xmlns:p14="http://schemas.microsoft.com/office/powerpoint/2010/main" val="407254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3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58A234-A495-3FB3-0EC2-494FFD50E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Transformada de Fourier</a:t>
            </a:r>
            <a:br>
              <a:rPr lang="pt-BR" dirty="0"/>
            </a:br>
            <a:r>
              <a:rPr lang="pt-BR" dirty="0"/>
              <a:t>Sistemas Lineares</a:t>
            </a:r>
          </a:p>
        </p:txBody>
      </p:sp>
      <p:sp>
        <p:nvSpPr>
          <p:cNvPr id="3" name="Oval 23">
            <a:extLst>
              <a:ext uri="{FF2B5EF4-FFF2-40B4-BE49-F238E27FC236}">
                <a16:creationId xmlns:a16="http://schemas.microsoft.com/office/drawing/2014/main" id="{5FD504FF-4275-C653-AFA9-4CEC0738E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0217" y="6110835"/>
            <a:ext cx="989013" cy="519351"/>
          </a:xfrm>
          <a:prstGeom prst="ellipse">
            <a:avLst/>
          </a:prstGeom>
          <a:solidFill>
            <a:srgbClr val="FFFFFF"/>
          </a:solidFill>
          <a:ln w="6350">
            <a:solidFill>
              <a:srgbClr val="063DE8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4" name="Oval 19">
            <a:extLst>
              <a:ext uri="{FF2B5EF4-FFF2-40B4-BE49-F238E27FC236}">
                <a16:creationId xmlns:a16="http://schemas.microsoft.com/office/drawing/2014/main" id="{5A577E10-81E3-860F-4BEB-7B3B834E2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7754" y="5577435"/>
            <a:ext cx="914400" cy="519351"/>
          </a:xfrm>
          <a:prstGeom prst="ellipse">
            <a:avLst/>
          </a:prstGeom>
          <a:solidFill>
            <a:srgbClr val="FFFFFF"/>
          </a:solidFill>
          <a:ln w="6350">
            <a:solidFill>
              <a:srgbClr val="063DE8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5" name="Oval 17">
            <a:extLst>
              <a:ext uri="{FF2B5EF4-FFF2-40B4-BE49-F238E27FC236}">
                <a16:creationId xmlns:a16="http://schemas.microsoft.com/office/drawing/2014/main" id="{4B993250-A58C-3E32-11CF-50CEC79CD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9004" y="4610648"/>
            <a:ext cx="806450" cy="519351"/>
          </a:xfrm>
          <a:prstGeom prst="ellipse">
            <a:avLst/>
          </a:prstGeom>
          <a:solidFill>
            <a:srgbClr val="FFFFFF"/>
          </a:solidFill>
          <a:ln w="6350">
            <a:solidFill>
              <a:srgbClr val="063DE8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463AFC2-5F45-72F6-BC32-8AC21519F80E}"/>
              </a:ext>
            </a:extLst>
          </p:cNvPr>
          <p:cNvSpPr txBox="1">
            <a:spLocks noChangeArrowheads="1"/>
          </p:cNvSpPr>
          <p:nvPr/>
        </p:nvSpPr>
        <p:spPr>
          <a:xfrm>
            <a:off x="818358" y="1201617"/>
            <a:ext cx="10829356" cy="53641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Qualquer</a:t>
            </a:r>
            <a:r>
              <a:rPr lang="en-US" dirty="0"/>
              <a:t> </a:t>
            </a:r>
            <a:r>
              <a:rPr lang="en-US" dirty="0" err="1"/>
              <a:t>sinal</a:t>
            </a:r>
            <a:r>
              <a:rPr lang="en-US" dirty="0"/>
              <a:t> </a:t>
            </a:r>
            <a:r>
              <a:rPr lang="en-US" i="1" dirty="0">
                <a:latin typeface="Times New Roman" pitchFamily="18" charset="0"/>
              </a:rPr>
              <a:t>x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i="1" dirty="0">
                <a:latin typeface="Times New Roman" pitchFamily="18" charset="0"/>
              </a:rPr>
              <a:t>t</a:t>
            </a:r>
            <a:r>
              <a:rPr lang="en-US" dirty="0">
                <a:latin typeface="Times New Roman" pitchFamily="18" charset="0"/>
              </a:rPr>
              <a:t>)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ser </a:t>
            </a:r>
            <a:r>
              <a:rPr lang="en-US" dirty="0" err="1"/>
              <a:t>escrito</a:t>
            </a:r>
            <a:r>
              <a:rPr lang="en-US" dirty="0"/>
              <a:t> </a:t>
            </a:r>
            <a:r>
              <a:rPr lang="en-US" dirty="0" err="1"/>
              <a:t>como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Portanto</a:t>
            </a:r>
            <a:r>
              <a:rPr lang="en-US" dirty="0"/>
              <a:t> </a:t>
            </a:r>
            <a:r>
              <a:rPr lang="en-US" dirty="0" err="1"/>
              <a:t>resposta</a:t>
            </a:r>
            <a:r>
              <a:rPr lang="en-US" dirty="0"/>
              <a:t> de </a:t>
            </a:r>
            <a:r>
              <a:rPr lang="en-US" dirty="0" err="1"/>
              <a:t>sistema</a:t>
            </a:r>
            <a:r>
              <a:rPr lang="en-US" dirty="0"/>
              <a:t> linear a </a:t>
            </a:r>
            <a:r>
              <a:rPr lang="en-US" dirty="0" err="1"/>
              <a:t>qualquer</a:t>
            </a:r>
            <a:r>
              <a:rPr lang="en-US" dirty="0"/>
              <a:t> </a:t>
            </a:r>
            <a:r>
              <a:rPr lang="en-US" dirty="0" err="1"/>
              <a:t>sinal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ser dada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função</a:t>
            </a:r>
            <a:r>
              <a:rPr lang="en-US" dirty="0"/>
              <a:t> de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/>
              <a:t>resposta</a:t>
            </a:r>
            <a:r>
              <a:rPr lang="en-US" dirty="0"/>
              <a:t> </a:t>
            </a:r>
            <a:r>
              <a:rPr lang="en-US" dirty="0" err="1"/>
              <a:t>impulsional</a:t>
            </a:r>
            <a:endParaRPr lang="en-US" dirty="0"/>
          </a:p>
          <a:p>
            <a:endParaRPr lang="en-US" dirty="0"/>
          </a:p>
          <a:p>
            <a:pPr>
              <a:spcBef>
                <a:spcPct val="95000"/>
              </a:spcBef>
            </a:pPr>
            <a:r>
              <a:rPr lang="en-US" dirty="0"/>
              <a:t>Na </a:t>
            </a:r>
            <a:r>
              <a:rPr lang="en-US" dirty="0" err="1"/>
              <a:t>frequência</a:t>
            </a:r>
            <a:r>
              <a:rPr lang="en-US" dirty="0"/>
              <a:t>, </a:t>
            </a:r>
            <a:r>
              <a:rPr lang="en-US" dirty="0" err="1"/>
              <a:t>convolução</a:t>
            </a:r>
            <a:r>
              <a:rPr lang="en-US" dirty="0"/>
              <a:t> </a:t>
            </a:r>
            <a:r>
              <a:rPr lang="en-US" dirty="0" err="1"/>
              <a:t>vira</a:t>
            </a:r>
            <a:r>
              <a:rPr lang="en-US" dirty="0"/>
              <a:t> </a:t>
            </a:r>
            <a:r>
              <a:rPr lang="en-US" dirty="0" err="1"/>
              <a:t>multiplicação</a:t>
            </a:r>
            <a:endParaRPr lang="en-US" dirty="0"/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B660827B-40A1-0785-C8E3-91943612FC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8941409"/>
              </p:ext>
            </p:extLst>
          </p:nvPr>
        </p:nvGraphicFramePr>
        <p:xfrm>
          <a:off x="7527923" y="1127680"/>
          <a:ext cx="3065463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1280" imgH="330120" progId="Equation.3">
                  <p:embed/>
                </p:oleObj>
              </mc:Choice>
              <mc:Fallback>
                <p:oleObj name="Equation" r:id="rId2" imgW="1511280" imgH="330120" progId="Equation.3">
                  <p:embed/>
                  <p:pic>
                    <p:nvPicPr>
                      <p:cNvPr id="7" name="Object 4">
                        <a:extLst>
                          <a:ext uri="{FF2B5EF4-FFF2-40B4-BE49-F238E27FC236}">
                            <a16:creationId xmlns:a16="http://schemas.microsoft.com/office/drawing/2014/main" id="{B660827B-40A1-0785-C8E3-91943612FC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7923" y="1127680"/>
                        <a:ext cx="3065463" cy="668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>
            <a:extLst>
              <a:ext uri="{FF2B5EF4-FFF2-40B4-BE49-F238E27FC236}">
                <a16:creationId xmlns:a16="http://schemas.microsoft.com/office/drawing/2014/main" id="{DC4120C4-1468-A193-7A21-CE0A9368A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3076" y="3119556"/>
            <a:ext cx="1263650" cy="5905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762000">
              <a:spcBef>
                <a:spcPct val="0"/>
              </a:spcBef>
            </a:pPr>
            <a:r>
              <a:rPr lang="en-US" i="1" dirty="0">
                <a:latin typeface="Times New Roman" pitchFamily="18" charset="0"/>
              </a:rPr>
              <a:t>h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i="1" dirty="0">
                <a:latin typeface="Times New Roman" pitchFamily="18" charset="0"/>
              </a:rPr>
              <a:t>t</a:t>
            </a:r>
            <a:r>
              <a:rPr lang="en-US" dirty="0">
                <a:latin typeface="Times New Roman" pitchFamily="18" charset="0"/>
              </a:rPr>
              <a:t>)</a:t>
            </a: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B27F20FA-0497-F946-042B-DEEB9058D10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7427" y="3394875"/>
            <a:ext cx="7477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A8A51205-DA51-9A02-AB6D-9C2B4E51B0E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8789" y="3396463"/>
            <a:ext cx="7731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1CCC607E-642F-34D2-6FB9-3E80F6344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4" y="3200519"/>
            <a:ext cx="641350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/>
            <a:r>
              <a:rPr lang="en-US" i="1">
                <a:latin typeface="Times New Roman" pitchFamily="18" charset="0"/>
              </a:rPr>
              <a:t>x</a:t>
            </a:r>
            <a:r>
              <a:rPr lang="en-US">
                <a:latin typeface="Times New Roman" pitchFamily="18" charset="0"/>
              </a:rPr>
              <a:t>(</a:t>
            </a:r>
            <a:r>
              <a:rPr lang="en-US" i="1">
                <a:latin typeface="Times New Roman" pitchFamily="18" charset="0"/>
              </a:rPr>
              <a:t>t</a:t>
            </a:r>
            <a:r>
              <a:rPr lang="en-US">
                <a:latin typeface="Times New Roman" pitchFamily="18" charset="0"/>
              </a:rPr>
              <a:t>)</a:t>
            </a:r>
            <a:endParaRPr lang="en-US">
              <a:latin typeface="Symbol" pitchFamily="18" charset="2"/>
            </a:endParaRPr>
          </a:p>
        </p:txBody>
      </p:sp>
      <p:graphicFrame>
        <p:nvGraphicFramePr>
          <p:cNvPr id="12" name="Object 10">
            <a:extLst>
              <a:ext uri="{FF2B5EF4-FFF2-40B4-BE49-F238E27FC236}">
                <a16:creationId xmlns:a16="http://schemas.microsoft.com/office/drawing/2014/main" id="{EEA7D9B9-8CE5-2060-6429-555835D09F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3711442"/>
              </p:ext>
            </p:extLst>
          </p:nvPr>
        </p:nvGraphicFramePr>
        <p:xfrm>
          <a:off x="5068889" y="3057645"/>
          <a:ext cx="4533900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34880" imgH="330120" progId="Equation.3">
                  <p:embed/>
                </p:oleObj>
              </mc:Choice>
              <mc:Fallback>
                <p:oleObj name="Equation" r:id="rId4" imgW="2234880" imgH="330120" progId="Equation.3">
                  <p:embed/>
                  <p:pic>
                    <p:nvPicPr>
                      <p:cNvPr id="12" name="Object 10">
                        <a:extLst>
                          <a:ext uri="{FF2B5EF4-FFF2-40B4-BE49-F238E27FC236}">
                            <a16:creationId xmlns:a16="http://schemas.microsoft.com/office/drawing/2014/main" id="{EEA7D9B9-8CE5-2060-6429-555835D09F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8889" y="3057645"/>
                        <a:ext cx="4533900" cy="668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1">
            <a:extLst>
              <a:ext uri="{FF2B5EF4-FFF2-40B4-BE49-F238E27FC236}">
                <a16:creationId xmlns:a16="http://schemas.microsoft.com/office/drawing/2014/main" id="{6B93B0E4-A713-B4D5-06BB-6C824F6AE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3654" y="4610648"/>
            <a:ext cx="1263650" cy="5905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762000">
              <a:spcBef>
                <a:spcPct val="0"/>
              </a:spcBef>
            </a:pPr>
            <a:r>
              <a:rPr lang="en-US" i="1">
                <a:latin typeface="Times New Roman" pitchFamily="18" charset="0"/>
              </a:rPr>
              <a:t>H</a:t>
            </a:r>
            <a:r>
              <a:rPr lang="en-US">
                <a:latin typeface="Times New Roman" pitchFamily="18" charset="0"/>
              </a:rPr>
              <a:t>(</a:t>
            </a:r>
            <a:r>
              <a:rPr lang="en-US" i="1">
                <a:latin typeface="Times New Roman" pitchFamily="18" charset="0"/>
              </a:rPr>
              <a:t>f</a:t>
            </a:r>
            <a:r>
              <a:rPr lang="en-US">
                <a:latin typeface="Times New Roman" pitchFamily="18" charset="0"/>
              </a:rPr>
              <a:t>)</a:t>
            </a:r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73FBE3AE-3573-6B88-65F3-A5C28BEF76D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8004" y="4918623"/>
            <a:ext cx="7477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5" name="Line 13">
            <a:extLst>
              <a:ext uri="{FF2B5EF4-FFF2-40B4-BE49-F238E27FC236}">
                <a16:creationId xmlns:a16="http://schemas.microsoft.com/office/drawing/2014/main" id="{194CC183-566B-301C-7004-28E806175E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9367" y="4920211"/>
            <a:ext cx="7731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F5D6566A-CA82-586E-C34C-F48A06102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441" y="4691611"/>
            <a:ext cx="641350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/>
            <a:r>
              <a:rPr lang="en-US" i="1">
                <a:latin typeface="Times New Roman" pitchFamily="18" charset="0"/>
              </a:rPr>
              <a:t>X</a:t>
            </a:r>
            <a:r>
              <a:rPr lang="en-US">
                <a:latin typeface="Times New Roman" pitchFamily="18" charset="0"/>
              </a:rPr>
              <a:t>(</a:t>
            </a:r>
            <a:r>
              <a:rPr lang="en-US" i="1">
                <a:latin typeface="Times New Roman" pitchFamily="18" charset="0"/>
              </a:rPr>
              <a:t>f</a:t>
            </a:r>
            <a:r>
              <a:rPr lang="en-US">
                <a:latin typeface="Times New Roman" pitchFamily="18" charset="0"/>
              </a:rPr>
              <a:t>)</a:t>
            </a:r>
            <a:endParaRPr lang="en-US">
              <a:latin typeface="Symbol" pitchFamily="18" charset="2"/>
            </a:endParaRPr>
          </a:p>
        </p:txBody>
      </p:sp>
      <p:graphicFrame>
        <p:nvGraphicFramePr>
          <p:cNvPr id="17" name="Object 15">
            <a:extLst>
              <a:ext uri="{FF2B5EF4-FFF2-40B4-BE49-F238E27FC236}">
                <a16:creationId xmlns:a16="http://schemas.microsoft.com/office/drawing/2014/main" id="{A78DD224-CE34-8981-03CD-EF5963B80D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1478778"/>
              </p:ext>
            </p:extLst>
          </p:nvPr>
        </p:nvGraphicFramePr>
        <p:xfrm>
          <a:off x="5660230" y="4686967"/>
          <a:ext cx="3400425" cy="184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76160" imgH="914400" progId="Equation.3">
                  <p:embed/>
                </p:oleObj>
              </mc:Choice>
              <mc:Fallback>
                <p:oleObj name="Equation" r:id="rId6" imgW="1676160" imgH="914400" progId="Equation.3">
                  <p:embed/>
                  <p:pic>
                    <p:nvPicPr>
                      <p:cNvPr id="17" name="Object 15">
                        <a:extLst>
                          <a:ext uri="{FF2B5EF4-FFF2-40B4-BE49-F238E27FC236}">
                            <a16:creationId xmlns:a16="http://schemas.microsoft.com/office/drawing/2014/main" id="{A78DD224-CE34-8981-03CD-EF5963B80D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0230" y="4686967"/>
                        <a:ext cx="3400425" cy="1849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6">
            <a:extLst>
              <a:ext uri="{FF2B5EF4-FFF2-40B4-BE49-F238E27FC236}">
                <a16:creationId xmlns:a16="http://schemas.microsoft.com/office/drawing/2014/main" id="{5AE47112-4DA1-2A4C-DE3D-DE201BDD5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3379" y="4147217"/>
            <a:ext cx="3503075" cy="30777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dirty="0" err="1">
                <a:solidFill>
                  <a:srgbClr val="063DE8"/>
                </a:solidFill>
                <a:latin typeface="Nokia Sans Wide" pitchFamily="34" charset="0"/>
              </a:rPr>
              <a:t>resposta</a:t>
            </a:r>
            <a:r>
              <a:rPr lang="en-US" sz="1400" dirty="0">
                <a:solidFill>
                  <a:srgbClr val="063DE8"/>
                </a:solidFill>
                <a:latin typeface="Nokia Sans Wide" pitchFamily="34" charset="0"/>
              </a:rPr>
              <a:t> </a:t>
            </a:r>
            <a:r>
              <a:rPr lang="en-US" sz="1400" dirty="0" err="1">
                <a:solidFill>
                  <a:srgbClr val="063DE8"/>
                </a:solidFill>
                <a:latin typeface="Nokia Sans Wide" pitchFamily="34" charset="0"/>
              </a:rPr>
              <a:t>espectral</a:t>
            </a:r>
            <a:r>
              <a:rPr lang="en-US" sz="1400" dirty="0">
                <a:solidFill>
                  <a:srgbClr val="063DE8"/>
                </a:solidFill>
                <a:latin typeface="Nokia Sans Wide" pitchFamily="34" charset="0"/>
              </a:rPr>
              <a:t> / </a:t>
            </a:r>
            <a:r>
              <a:rPr lang="en-US" sz="1400" dirty="0" err="1">
                <a:solidFill>
                  <a:srgbClr val="063DE8"/>
                </a:solidFill>
                <a:latin typeface="Nokia Sans Wide" pitchFamily="34" charset="0"/>
              </a:rPr>
              <a:t>Função</a:t>
            </a:r>
            <a:r>
              <a:rPr lang="en-US" sz="1400" dirty="0">
                <a:solidFill>
                  <a:srgbClr val="063DE8"/>
                </a:solidFill>
                <a:latin typeface="Nokia Sans Wide" pitchFamily="34" charset="0"/>
              </a:rPr>
              <a:t> de </a:t>
            </a:r>
            <a:r>
              <a:rPr lang="en-US" sz="1400" dirty="0" err="1">
                <a:solidFill>
                  <a:srgbClr val="063DE8"/>
                </a:solidFill>
                <a:latin typeface="Nokia Sans Wide" pitchFamily="34" charset="0"/>
              </a:rPr>
              <a:t>transferêmcial</a:t>
            </a:r>
            <a:endParaRPr lang="en-US" sz="1400" dirty="0">
              <a:solidFill>
                <a:srgbClr val="063DE8"/>
              </a:solidFill>
              <a:latin typeface="Nokia Sans Wide" pitchFamily="34" charset="0"/>
            </a:endParaRPr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BC0D6614-3A2F-1A19-D734-76ED21ABB7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14492" y="4439317"/>
            <a:ext cx="747713" cy="306387"/>
          </a:xfrm>
          <a:prstGeom prst="line">
            <a:avLst/>
          </a:prstGeom>
          <a:noFill/>
          <a:ln w="6350">
            <a:solidFill>
              <a:srgbClr val="063DE8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20" name="Text Box 20">
            <a:extLst>
              <a:ext uri="{FF2B5EF4-FFF2-40B4-BE49-F238E27FC236}">
                <a16:creationId xmlns:a16="http://schemas.microsoft.com/office/drawing/2014/main" id="{72AD855B-7167-9C4D-1D8E-6B4FD017F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9405" y="5217192"/>
            <a:ext cx="1819601" cy="30777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>
                <a:solidFill>
                  <a:srgbClr val="063DE8"/>
                </a:solidFill>
                <a:latin typeface="Nokia Sans Wide" pitchFamily="34" charset="0"/>
              </a:rPr>
              <a:t>resposta de amplitude</a:t>
            </a:r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68E08CDA-C125-CED8-BCCE-5007E9E273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3416" y="5523578"/>
            <a:ext cx="407988" cy="82550"/>
          </a:xfrm>
          <a:prstGeom prst="line">
            <a:avLst/>
          </a:prstGeom>
          <a:noFill/>
          <a:ln w="6350">
            <a:solidFill>
              <a:srgbClr val="063DE8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22" name="Text Box 24">
            <a:extLst>
              <a:ext uri="{FF2B5EF4-FFF2-40B4-BE49-F238E27FC236}">
                <a16:creationId xmlns:a16="http://schemas.microsoft.com/office/drawing/2014/main" id="{14F4253F-185E-BC04-46CC-30B160348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3141" y="5741067"/>
            <a:ext cx="1370440" cy="30777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>
                <a:solidFill>
                  <a:srgbClr val="063DE8"/>
                </a:solidFill>
                <a:latin typeface="Nokia Sans Wide" pitchFamily="34" charset="0"/>
              </a:rPr>
              <a:t>resposta de fase</a:t>
            </a:r>
          </a:p>
        </p:txBody>
      </p:sp>
      <p:sp>
        <p:nvSpPr>
          <p:cNvPr id="23" name="Line 25">
            <a:extLst>
              <a:ext uri="{FF2B5EF4-FFF2-40B4-BE49-F238E27FC236}">
                <a16:creationId xmlns:a16="http://schemas.microsoft.com/office/drawing/2014/main" id="{DD133D5B-91BD-4B83-994F-99050354CA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971755" y="6025228"/>
            <a:ext cx="282575" cy="107950"/>
          </a:xfrm>
          <a:prstGeom prst="line">
            <a:avLst/>
          </a:prstGeom>
          <a:noFill/>
          <a:ln w="6350">
            <a:solidFill>
              <a:srgbClr val="063DE8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3599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17">
            <a:extLst>
              <a:ext uri="{FF2B5EF4-FFF2-40B4-BE49-F238E27FC236}">
                <a16:creationId xmlns:a16="http://schemas.microsoft.com/office/drawing/2014/main" id="{A49D81B7-A510-A8D6-87C7-79B2AEFC1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0032" y="2498426"/>
            <a:ext cx="1067748" cy="578678"/>
          </a:xfrm>
          <a:prstGeom prst="ellipse">
            <a:avLst/>
          </a:prstGeom>
          <a:solidFill>
            <a:srgbClr val="FFFFFF"/>
          </a:solidFill>
          <a:ln w="6350">
            <a:solidFill>
              <a:srgbClr val="063DE8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pt-BR"/>
          </a:p>
        </p:txBody>
      </p:sp>
      <p:sp>
        <p:nvSpPr>
          <p:cNvPr id="17" name="Oval 17">
            <a:extLst>
              <a:ext uri="{FF2B5EF4-FFF2-40B4-BE49-F238E27FC236}">
                <a16:creationId xmlns:a16="http://schemas.microsoft.com/office/drawing/2014/main" id="{039C252D-9C92-E549-B76A-680B265DE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7020" y="2539689"/>
            <a:ext cx="1067748" cy="578678"/>
          </a:xfrm>
          <a:prstGeom prst="ellipse">
            <a:avLst/>
          </a:prstGeom>
          <a:solidFill>
            <a:srgbClr val="FFFFFF"/>
          </a:solidFill>
          <a:ln w="6350">
            <a:solidFill>
              <a:srgbClr val="063DE8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pt-BR"/>
          </a:p>
        </p:txBody>
      </p:sp>
      <p:sp>
        <p:nvSpPr>
          <p:cNvPr id="11" name="Oval 17">
            <a:extLst>
              <a:ext uri="{FF2B5EF4-FFF2-40B4-BE49-F238E27FC236}">
                <a16:creationId xmlns:a16="http://schemas.microsoft.com/office/drawing/2014/main" id="{955DC743-1EBA-ECCA-9CF6-31A73AE71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9921" y="2559619"/>
            <a:ext cx="806450" cy="519351"/>
          </a:xfrm>
          <a:prstGeom prst="ellipse">
            <a:avLst/>
          </a:prstGeom>
          <a:solidFill>
            <a:srgbClr val="FFFFFF"/>
          </a:solidFill>
          <a:ln w="6350">
            <a:solidFill>
              <a:srgbClr val="063DE8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04DB418-503D-B169-B7DD-E8B5C9F0A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Transformada de Fourier</a:t>
            </a:r>
            <a:br>
              <a:rPr lang="pt-BR" dirty="0"/>
            </a:br>
            <a:r>
              <a:rPr lang="pt-BR" dirty="0"/>
              <a:t>Sistemas Lineares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D3BAEB4-1DF3-4716-4D4D-D3ACB54E4F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34441"/>
                <a:ext cx="10515600" cy="1043957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pt-BR" dirty="0"/>
                  <a:t> representa o que acontece com cada componente de frequência quando atravessa um sistema LTI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D3BAEB4-1DF3-4716-4D4D-D3ACB54E4F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34441"/>
                <a:ext cx="10515600" cy="1043957"/>
              </a:xfrm>
              <a:blipFill>
                <a:blip r:embed="rId2"/>
                <a:stretch>
                  <a:fillRect t="-994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2A2EE517-E2D0-FEEB-7CDD-DDB9FEB58811}"/>
                  </a:ext>
                </a:extLst>
              </p:cNvPr>
              <p:cNvSpPr/>
              <p:nvPr/>
            </p:nvSpPr>
            <p:spPr>
              <a:xfrm>
                <a:off x="3781763" y="2498426"/>
                <a:ext cx="2024742" cy="112122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/>
                  <a:t>Sistema LTI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2A2EE517-E2D0-FEEB-7CDD-DDB9FEB588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1763" y="2498426"/>
                <a:ext cx="2024742" cy="11212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EB894800-F5A5-F026-CDAC-A3141D89B5DD}"/>
              </a:ext>
            </a:extLst>
          </p:cNvPr>
          <p:cNvCxnSpPr>
            <a:cxnSpLocks/>
          </p:cNvCxnSpPr>
          <p:nvPr/>
        </p:nvCxnSpPr>
        <p:spPr>
          <a:xfrm>
            <a:off x="2921791" y="3037778"/>
            <a:ext cx="8599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37375A16-4834-9CA3-FF78-388EEA47C625}"/>
              </a:ext>
            </a:extLst>
          </p:cNvPr>
          <p:cNvCxnSpPr>
            <a:cxnSpLocks/>
          </p:cNvCxnSpPr>
          <p:nvPr/>
        </p:nvCxnSpPr>
        <p:spPr>
          <a:xfrm>
            <a:off x="5817388" y="3070432"/>
            <a:ext cx="8599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47F8E22D-4207-1579-5AC4-BA3E85A66F70}"/>
                  </a:ext>
                </a:extLst>
              </p:cNvPr>
              <p:cNvSpPr txBox="1"/>
              <p:nvPr/>
            </p:nvSpPr>
            <p:spPr>
              <a:xfrm>
                <a:off x="838200" y="2491409"/>
                <a:ext cx="303730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28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47F8E22D-4207-1579-5AC4-BA3E85A66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91409"/>
                <a:ext cx="303730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E63860C8-CA04-E304-39E8-5D32F194072E}"/>
                  </a:ext>
                </a:extLst>
              </p:cNvPr>
              <p:cNvSpPr txBox="1"/>
              <p:nvPr/>
            </p:nvSpPr>
            <p:spPr>
              <a:xfrm>
                <a:off x="6339840" y="2491409"/>
                <a:ext cx="5368586" cy="5786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28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)|</m:t>
                          </m:r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E63860C8-CA04-E304-39E8-5D32F1940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9840" y="2491409"/>
                <a:ext cx="5368586" cy="5786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Box 16">
            <a:extLst>
              <a:ext uri="{FF2B5EF4-FFF2-40B4-BE49-F238E27FC236}">
                <a16:creationId xmlns:a16="http://schemas.microsoft.com/office/drawing/2014/main" id="{1AD4972E-8D97-73A3-B0DA-E9EF8C3E5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5097" y="1903711"/>
            <a:ext cx="1549655" cy="30777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dirty="0" err="1">
                <a:solidFill>
                  <a:srgbClr val="063DE8"/>
                </a:solidFill>
                <a:latin typeface="Nokia Sans Wide" pitchFamily="34" charset="0"/>
              </a:rPr>
              <a:t>Mesma</a:t>
            </a:r>
            <a:r>
              <a:rPr lang="en-US" sz="1400" dirty="0">
                <a:solidFill>
                  <a:srgbClr val="063DE8"/>
                </a:solidFill>
                <a:latin typeface="Nokia Sans Wide" pitchFamily="34" charset="0"/>
              </a:rPr>
              <a:t> </a:t>
            </a:r>
            <a:r>
              <a:rPr lang="en-US" sz="1400" dirty="0" err="1">
                <a:solidFill>
                  <a:srgbClr val="063DE8"/>
                </a:solidFill>
                <a:latin typeface="Nokia Sans Wide" pitchFamily="34" charset="0"/>
              </a:rPr>
              <a:t>frequência</a:t>
            </a:r>
            <a:endParaRPr lang="en-US" sz="1400" dirty="0">
              <a:solidFill>
                <a:srgbClr val="063DE8"/>
              </a:solidFill>
              <a:latin typeface="Nokia Sans Wide" pitchFamily="34" charset="0"/>
            </a:endParaRPr>
          </a:p>
        </p:txBody>
      </p:sp>
      <p:sp>
        <p:nvSpPr>
          <p:cNvPr id="15" name="Line 18">
            <a:extLst>
              <a:ext uri="{FF2B5EF4-FFF2-40B4-BE49-F238E27FC236}">
                <a16:creationId xmlns:a16="http://schemas.microsoft.com/office/drawing/2014/main" id="{D3B0D357-5F5B-38F3-E08F-AEC71A6270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075097" y="2261572"/>
            <a:ext cx="747713" cy="306387"/>
          </a:xfrm>
          <a:prstGeom prst="line">
            <a:avLst/>
          </a:prstGeom>
          <a:noFill/>
          <a:ln w="6350">
            <a:solidFill>
              <a:srgbClr val="063DE8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19" name="Text Box 16">
            <a:extLst>
              <a:ext uri="{FF2B5EF4-FFF2-40B4-BE49-F238E27FC236}">
                <a16:creationId xmlns:a16="http://schemas.microsoft.com/office/drawing/2014/main" id="{1C670007-4C6B-E751-B4D2-DDDCD0B33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3671" y="3403512"/>
            <a:ext cx="897938" cy="30777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dirty="0" err="1">
                <a:solidFill>
                  <a:srgbClr val="063DE8"/>
                </a:solidFill>
                <a:latin typeface="Nokia Sans Wide" pitchFamily="34" charset="0"/>
              </a:rPr>
              <a:t>Atenuado</a:t>
            </a:r>
            <a:endParaRPr lang="en-US" sz="1400" dirty="0">
              <a:solidFill>
                <a:srgbClr val="063DE8"/>
              </a:solidFill>
              <a:latin typeface="Nokia Sans Wide" pitchFamily="34" charset="0"/>
            </a:endParaRPr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B33572FF-F71E-9DE7-9FB5-9C047C854A3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200718" y="3123591"/>
            <a:ext cx="384049" cy="258319"/>
          </a:xfrm>
          <a:prstGeom prst="line">
            <a:avLst/>
          </a:prstGeom>
          <a:noFill/>
          <a:ln w="6350">
            <a:solidFill>
              <a:srgbClr val="063DE8"/>
            </a:solidFill>
            <a:round/>
            <a:headEnd/>
            <a:tailEnd type="triangle" w="med" len="med"/>
          </a:ln>
          <a:effectLst/>
        </p:spPr>
        <p:txBody>
          <a:bodyPr wrap="square">
            <a:spAutoFit/>
          </a:bodyPr>
          <a:lstStyle/>
          <a:p>
            <a:endParaRPr lang="pt-BR"/>
          </a:p>
        </p:txBody>
      </p:sp>
      <p:sp>
        <p:nvSpPr>
          <p:cNvPr id="25" name="Text Box 16">
            <a:extLst>
              <a:ext uri="{FF2B5EF4-FFF2-40B4-BE49-F238E27FC236}">
                <a16:creationId xmlns:a16="http://schemas.microsoft.com/office/drawing/2014/main" id="{B14597A7-7594-4E2F-3C13-1CFB8A3B6A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88363" y="3396314"/>
            <a:ext cx="867225" cy="30777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dirty="0" err="1">
                <a:solidFill>
                  <a:srgbClr val="063DE8"/>
                </a:solidFill>
                <a:latin typeface="Nokia Sans Wide" pitchFamily="34" charset="0"/>
              </a:rPr>
              <a:t>Defasado</a:t>
            </a:r>
            <a:endParaRPr lang="en-US" sz="1400" dirty="0">
              <a:solidFill>
                <a:srgbClr val="063DE8"/>
              </a:solidFill>
              <a:latin typeface="Nokia Sans Wide" pitchFamily="34" charset="0"/>
            </a:endParaRPr>
          </a:p>
        </p:txBody>
      </p:sp>
      <p:sp>
        <p:nvSpPr>
          <p:cNvPr id="27" name="Line 18">
            <a:extLst>
              <a:ext uri="{FF2B5EF4-FFF2-40B4-BE49-F238E27FC236}">
                <a16:creationId xmlns:a16="http://schemas.microsoft.com/office/drawing/2014/main" id="{11BFCA31-A76A-6CA3-47C9-C279C7F28B9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1117655" y="3108998"/>
            <a:ext cx="9145" cy="400936"/>
          </a:xfrm>
          <a:prstGeom prst="line">
            <a:avLst/>
          </a:prstGeom>
          <a:noFill/>
          <a:ln w="6350">
            <a:solidFill>
              <a:srgbClr val="063DE8"/>
            </a:solidFill>
            <a:round/>
            <a:headEnd/>
            <a:tailEnd type="triangle" w="med" len="med"/>
          </a:ln>
          <a:effectLst/>
        </p:spPr>
        <p:txBody>
          <a:bodyPr wrap="square">
            <a:spAutoFit/>
          </a:bodyPr>
          <a:lstStyle/>
          <a:p>
            <a:endParaRPr lang="pt-BR"/>
          </a:p>
        </p:txBody>
      </p: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CF7F3BC7-E2E1-1AE3-6781-AB426E20EFF3}"/>
              </a:ext>
            </a:extLst>
          </p:cNvPr>
          <p:cNvGrpSpPr/>
          <p:nvPr/>
        </p:nvGrpSpPr>
        <p:grpSpPr>
          <a:xfrm>
            <a:off x="995779" y="4763020"/>
            <a:ext cx="3609620" cy="1482093"/>
            <a:chOff x="995779" y="3784819"/>
            <a:chExt cx="2928938" cy="995686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C306C538-850C-6BE1-7110-52EFACF1E7B7}"/>
                </a:ext>
              </a:extLst>
            </p:cNvPr>
            <p:cNvSpPr>
              <a:spLocks noChangeAspect="1"/>
            </p:cNvSpPr>
            <p:nvPr/>
          </p:nvSpPr>
          <p:spPr bwMode="black">
            <a:xfrm>
              <a:off x="1032292" y="3839683"/>
              <a:ext cx="2843213" cy="876959"/>
            </a:xfrm>
            <a:custGeom>
              <a:avLst/>
              <a:gdLst/>
              <a:ahLst/>
              <a:cxnLst>
                <a:cxn ang="0">
                  <a:pos x="0" y="628"/>
                </a:cxn>
                <a:cxn ang="0">
                  <a:pos x="297" y="52"/>
                </a:cxn>
                <a:cxn ang="0">
                  <a:pos x="732" y="940"/>
                </a:cxn>
                <a:cxn ang="0">
                  <a:pos x="1188" y="58"/>
                </a:cxn>
                <a:cxn ang="0">
                  <a:pos x="1647" y="943"/>
                </a:cxn>
                <a:cxn ang="0">
                  <a:pos x="2100" y="58"/>
                </a:cxn>
                <a:cxn ang="0">
                  <a:pos x="2565" y="940"/>
                </a:cxn>
                <a:cxn ang="0">
                  <a:pos x="3015" y="52"/>
                </a:cxn>
                <a:cxn ang="0">
                  <a:pos x="3474" y="943"/>
                </a:cxn>
                <a:cxn ang="0">
                  <a:pos x="3930" y="58"/>
                </a:cxn>
                <a:cxn ang="0">
                  <a:pos x="4314" y="883"/>
                </a:cxn>
                <a:cxn ang="0">
                  <a:pos x="4479" y="868"/>
                </a:cxn>
              </a:cxnLst>
              <a:rect l="0" t="0" r="r" b="b"/>
              <a:pathLst>
                <a:path w="4479" h="1018">
                  <a:moveTo>
                    <a:pt x="0" y="628"/>
                  </a:moveTo>
                  <a:cubicBezTo>
                    <a:pt x="49" y="532"/>
                    <a:pt x="175" y="0"/>
                    <a:pt x="297" y="52"/>
                  </a:cubicBezTo>
                  <a:cubicBezTo>
                    <a:pt x="419" y="104"/>
                    <a:pt x="584" y="939"/>
                    <a:pt x="732" y="940"/>
                  </a:cubicBezTo>
                  <a:cubicBezTo>
                    <a:pt x="880" y="941"/>
                    <a:pt x="1036" y="58"/>
                    <a:pt x="1188" y="58"/>
                  </a:cubicBezTo>
                  <a:cubicBezTo>
                    <a:pt x="1340" y="58"/>
                    <a:pt x="1495" y="943"/>
                    <a:pt x="1647" y="943"/>
                  </a:cubicBezTo>
                  <a:cubicBezTo>
                    <a:pt x="1799" y="943"/>
                    <a:pt x="1947" y="58"/>
                    <a:pt x="2100" y="58"/>
                  </a:cubicBezTo>
                  <a:cubicBezTo>
                    <a:pt x="2253" y="58"/>
                    <a:pt x="2413" y="941"/>
                    <a:pt x="2565" y="940"/>
                  </a:cubicBezTo>
                  <a:cubicBezTo>
                    <a:pt x="2717" y="939"/>
                    <a:pt x="2864" y="52"/>
                    <a:pt x="3015" y="52"/>
                  </a:cubicBezTo>
                  <a:cubicBezTo>
                    <a:pt x="3166" y="52"/>
                    <a:pt x="3322" y="942"/>
                    <a:pt x="3474" y="943"/>
                  </a:cubicBezTo>
                  <a:cubicBezTo>
                    <a:pt x="3626" y="944"/>
                    <a:pt x="3790" y="68"/>
                    <a:pt x="3930" y="58"/>
                  </a:cubicBezTo>
                  <a:cubicBezTo>
                    <a:pt x="4070" y="48"/>
                    <a:pt x="4223" y="748"/>
                    <a:pt x="4314" y="883"/>
                  </a:cubicBezTo>
                  <a:cubicBezTo>
                    <a:pt x="4405" y="1018"/>
                    <a:pt x="4445" y="871"/>
                    <a:pt x="4479" y="868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" name="Line 8">
              <a:extLst>
                <a:ext uri="{FF2B5EF4-FFF2-40B4-BE49-F238E27FC236}">
                  <a16:creationId xmlns:a16="http://schemas.microsoft.com/office/drawing/2014/main" id="{8C1487C9-21B4-F32E-F820-81AF014F201F}"/>
                </a:ext>
              </a:extLst>
            </p:cNvPr>
            <p:cNvSpPr>
              <a:spLocks noChangeAspect="1" noChangeShapeType="1"/>
            </p:cNvSpPr>
            <p:nvPr/>
          </p:nvSpPr>
          <p:spPr bwMode="black">
            <a:xfrm>
              <a:off x="995779" y="4271416"/>
              <a:ext cx="29289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3" name="Line 9">
              <a:extLst>
                <a:ext uri="{FF2B5EF4-FFF2-40B4-BE49-F238E27FC236}">
                  <a16:creationId xmlns:a16="http://schemas.microsoft.com/office/drawing/2014/main" id="{C72840D3-169E-8782-31F9-60A547A30DFA}"/>
                </a:ext>
              </a:extLst>
            </p:cNvPr>
            <p:cNvSpPr>
              <a:spLocks noChangeAspect="1" noChangeShapeType="1"/>
            </p:cNvSpPr>
            <p:nvPr/>
          </p:nvSpPr>
          <p:spPr bwMode="black">
            <a:xfrm flipV="1">
              <a:off x="2356852" y="3784819"/>
              <a:ext cx="1588" cy="9956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42" name="Freeform 7">
            <a:extLst>
              <a:ext uri="{FF2B5EF4-FFF2-40B4-BE49-F238E27FC236}">
                <a16:creationId xmlns:a16="http://schemas.microsoft.com/office/drawing/2014/main" id="{4B7A0870-AED1-70FE-EB0B-992C3CB1122F}"/>
              </a:ext>
            </a:extLst>
          </p:cNvPr>
          <p:cNvSpPr>
            <a:spLocks noChangeAspect="1"/>
          </p:cNvSpPr>
          <p:nvPr/>
        </p:nvSpPr>
        <p:spPr bwMode="black">
          <a:xfrm>
            <a:off x="6801750" y="4838899"/>
            <a:ext cx="3503973" cy="1305366"/>
          </a:xfrm>
          <a:custGeom>
            <a:avLst/>
            <a:gdLst/>
            <a:ahLst/>
            <a:cxnLst>
              <a:cxn ang="0">
                <a:pos x="0" y="628"/>
              </a:cxn>
              <a:cxn ang="0">
                <a:pos x="297" y="52"/>
              </a:cxn>
              <a:cxn ang="0">
                <a:pos x="732" y="940"/>
              </a:cxn>
              <a:cxn ang="0">
                <a:pos x="1188" y="58"/>
              </a:cxn>
              <a:cxn ang="0">
                <a:pos x="1647" y="943"/>
              </a:cxn>
              <a:cxn ang="0">
                <a:pos x="2100" y="58"/>
              </a:cxn>
              <a:cxn ang="0">
                <a:pos x="2565" y="940"/>
              </a:cxn>
              <a:cxn ang="0">
                <a:pos x="3015" y="52"/>
              </a:cxn>
              <a:cxn ang="0">
                <a:pos x="3474" y="943"/>
              </a:cxn>
              <a:cxn ang="0">
                <a:pos x="3930" y="58"/>
              </a:cxn>
              <a:cxn ang="0">
                <a:pos x="4314" y="883"/>
              </a:cxn>
              <a:cxn ang="0">
                <a:pos x="4479" y="868"/>
              </a:cxn>
            </a:cxnLst>
            <a:rect l="0" t="0" r="r" b="b"/>
            <a:pathLst>
              <a:path w="4479" h="1018">
                <a:moveTo>
                  <a:pt x="0" y="628"/>
                </a:moveTo>
                <a:cubicBezTo>
                  <a:pt x="49" y="532"/>
                  <a:pt x="175" y="0"/>
                  <a:pt x="297" y="52"/>
                </a:cubicBezTo>
                <a:cubicBezTo>
                  <a:pt x="419" y="104"/>
                  <a:pt x="584" y="939"/>
                  <a:pt x="732" y="940"/>
                </a:cubicBezTo>
                <a:cubicBezTo>
                  <a:pt x="880" y="941"/>
                  <a:pt x="1036" y="58"/>
                  <a:pt x="1188" y="58"/>
                </a:cubicBezTo>
                <a:cubicBezTo>
                  <a:pt x="1340" y="58"/>
                  <a:pt x="1495" y="943"/>
                  <a:pt x="1647" y="943"/>
                </a:cubicBezTo>
                <a:cubicBezTo>
                  <a:pt x="1799" y="943"/>
                  <a:pt x="1947" y="58"/>
                  <a:pt x="2100" y="58"/>
                </a:cubicBezTo>
                <a:cubicBezTo>
                  <a:pt x="2253" y="58"/>
                  <a:pt x="2413" y="941"/>
                  <a:pt x="2565" y="940"/>
                </a:cubicBezTo>
                <a:cubicBezTo>
                  <a:pt x="2717" y="939"/>
                  <a:pt x="2864" y="52"/>
                  <a:pt x="3015" y="52"/>
                </a:cubicBezTo>
                <a:cubicBezTo>
                  <a:pt x="3166" y="52"/>
                  <a:pt x="3322" y="942"/>
                  <a:pt x="3474" y="943"/>
                </a:cubicBezTo>
                <a:cubicBezTo>
                  <a:pt x="3626" y="944"/>
                  <a:pt x="3790" y="68"/>
                  <a:pt x="3930" y="58"/>
                </a:cubicBezTo>
                <a:cubicBezTo>
                  <a:pt x="4070" y="48"/>
                  <a:pt x="4223" y="748"/>
                  <a:pt x="4314" y="883"/>
                </a:cubicBezTo>
                <a:cubicBezTo>
                  <a:pt x="4405" y="1018"/>
                  <a:pt x="4445" y="871"/>
                  <a:pt x="4479" y="868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3" name="Line 8">
            <a:extLst>
              <a:ext uri="{FF2B5EF4-FFF2-40B4-BE49-F238E27FC236}">
                <a16:creationId xmlns:a16="http://schemas.microsoft.com/office/drawing/2014/main" id="{90CB4935-5955-74C6-8121-E83AF88706FA}"/>
              </a:ext>
            </a:extLst>
          </p:cNvPr>
          <p:cNvSpPr>
            <a:spLocks noChangeAspect="1" noChangeShapeType="1"/>
          </p:cNvSpPr>
          <p:nvPr/>
        </p:nvSpPr>
        <p:spPr bwMode="black">
          <a:xfrm>
            <a:off x="6756751" y="5481540"/>
            <a:ext cx="360962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4" name="Line 9">
            <a:extLst>
              <a:ext uri="{FF2B5EF4-FFF2-40B4-BE49-F238E27FC236}">
                <a16:creationId xmlns:a16="http://schemas.microsoft.com/office/drawing/2014/main" id="{C181BF93-963C-6EC5-6685-FC1BF4DE67B4}"/>
              </a:ext>
            </a:extLst>
          </p:cNvPr>
          <p:cNvSpPr>
            <a:spLocks noChangeAspect="1" noChangeShapeType="1"/>
          </p:cNvSpPr>
          <p:nvPr/>
        </p:nvSpPr>
        <p:spPr bwMode="black">
          <a:xfrm flipV="1">
            <a:off x="8434136" y="4757233"/>
            <a:ext cx="1957" cy="148209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6FEF69AA-9BCD-9517-7FFB-ACCCB3E41604}"/>
                  </a:ext>
                </a:extLst>
              </p:cNvPr>
              <p:cNvSpPr txBox="1"/>
              <p:nvPr/>
            </p:nvSpPr>
            <p:spPr>
              <a:xfrm>
                <a:off x="4235161" y="5481540"/>
                <a:ext cx="8011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6FEF69AA-9BCD-9517-7FFB-ACCCB3E41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5161" y="5481540"/>
                <a:ext cx="80112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EEEEEB02-BB58-740C-D981-EE6D49F406A7}"/>
                  </a:ext>
                </a:extLst>
              </p:cNvPr>
              <p:cNvSpPr txBox="1"/>
              <p:nvPr/>
            </p:nvSpPr>
            <p:spPr>
              <a:xfrm>
                <a:off x="9996133" y="5421755"/>
                <a:ext cx="8011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EEEEEB02-BB58-740C-D981-EE6D49F40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6133" y="5421755"/>
                <a:ext cx="80112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Freeform 7">
            <a:extLst>
              <a:ext uri="{FF2B5EF4-FFF2-40B4-BE49-F238E27FC236}">
                <a16:creationId xmlns:a16="http://schemas.microsoft.com/office/drawing/2014/main" id="{C103DDD5-5FF8-2A8D-934C-49E7118F4547}"/>
              </a:ext>
            </a:extLst>
          </p:cNvPr>
          <p:cNvSpPr>
            <a:spLocks noChangeAspect="1"/>
          </p:cNvSpPr>
          <p:nvPr/>
        </p:nvSpPr>
        <p:spPr bwMode="black">
          <a:xfrm>
            <a:off x="7045590" y="5098173"/>
            <a:ext cx="3503973" cy="741291"/>
          </a:xfrm>
          <a:custGeom>
            <a:avLst/>
            <a:gdLst/>
            <a:ahLst/>
            <a:cxnLst>
              <a:cxn ang="0">
                <a:pos x="0" y="628"/>
              </a:cxn>
              <a:cxn ang="0">
                <a:pos x="297" y="52"/>
              </a:cxn>
              <a:cxn ang="0">
                <a:pos x="732" y="940"/>
              </a:cxn>
              <a:cxn ang="0">
                <a:pos x="1188" y="58"/>
              </a:cxn>
              <a:cxn ang="0">
                <a:pos x="1647" y="943"/>
              </a:cxn>
              <a:cxn ang="0">
                <a:pos x="2100" y="58"/>
              </a:cxn>
              <a:cxn ang="0">
                <a:pos x="2565" y="940"/>
              </a:cxn>
              <a:cxn ang="0">
                <a:pos x="3015" y="52"/>
              </a:cxn>
              <a:cxn ang="0">
                <a:pos x="3474" y="943"/>
              </a:cxn>
              <a:cxn ang="0">
                <a:pos x="3930" y="58"/>
              </a:cxn>
              <a:cxn ang="0">
                <a:pos x="4314" y="883"/>
              </a:cxn>
              <a:cxn ang="0">
                <a:pos x="4479" y="868"/>
              </a:cxn>
            </a:cxnLst>
            <a:rect l="0" t="0" r="r" b="b"/>
            <a:pathLst>
              <a:path w="4479" h="1018">
                <a:moveTo>
                  <a:pt x="0" y="628"/>
                </a:moveTo>
                <a:cubicBezTo>
                  <a:pt x="49" y="532"/>
                  <a:pt x="175" y="0"/>
                  <a:pt x="297" y="52"/>
                </a:cubicBezTo>
                <a:cubicBezTo>
                  <a:pt x="419" y="104"/>
                  <a:pt x="584" y="939"/>
                  <a:pt x="732" y="940"/>
                </a:cubicBezTo>
                <a:cubicBezTo>
                  <a:pt x="880" y="941"/>
                  <a:pt x="1036" y="58"/>
                  <a:pt x="1188" y="58"/>
                </a:cubicBezTo>
                <a:cubicBezTo>
                  <a:pt x="1340" y="58"/>
                  <a:pt x="1495" y="943"/>
                  <a:pt x="1647" y="943"/>
                </a:cubicBezTo>
                <a:cubicBezTo>
                  <a:pt x="1799" y="943"/>
                  <a:pt x="1947" y="58"/>
                  <a:pt x="2100" y="58"/>
                </a:cubicBezTo>
                <a:cubicBezTo>
                  <a:pt x="2253" y="58"/>
                  <a:pt x="2413" y="941"/>
                  <a:pt x="2565" y="940"/>
                </a:cubicBezTo>
                <a:cubicBezTo>
                  <a:pt x="2717" y="939"/>
                  <a:pt x="2864" y="52"/>
                  <a:pt x="3015" y="52"/>
                </a:cubicBezTo>
                <a:cubicBezTo>
                  <a:pt x="3166" y="52"/>
                  <a:pt x="3322" y="942"/>
                  <a:pt x="3474" y="943"/>
                </a:cubicBezTo>
                <a:cubicBezTo>
                  <a:pt x="3626" y="944"/>
                  <a:pt x="3790" y="68"/>
                  <a:pt x="3930" y="58"/>
                </a:cubicBezTo>
                <a:cubicBezTo>
                  <a:pt x="4070" y="48"/>
                  <a:pt x="4223" y="748"/>
                  <a:pt x="4314" y="883"/>
                </a:cubicBezTo>
                <a:cubicBezTo>
                  <a:pt x="4405" y="1018"/>
                  <a:pt x="4445" y="871"/>
                  <a:pt x="4479" y="868"/>
                </a:cubicBezTo>
              </a:path>
            </a:pathLst>
          </a:custGeom>
          <a:noFill/>
          <a:ln w="28575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cxnSp>
        <p:nvCxnSpPr>
          <p:cNvPr id="52" name="Conector de Seta Reta 51">
            <a:extLst>
              <a:ext uri="{FF2B5EF4-FFF2-40B4-BE49-F238E27FC236}">
                <a16:creationId xmlns:a16="http://schemas.microsoft.com/office/drawing/2014/main" id="{0F262242-56E6-B8D6-294B-0D31A52238BB}"/>
              </a:ext>
            </a:extLst>
          </p:cNvPr>
          <p:cNvCxnSpPr>
            <a:cxnSpLocks/>
          </p:cNvCxnSpPr>
          <p:nvPr/>
        </p:nvCxnSpPr>
        <p:spPr>
          <a:xfrm>
            <a:off x="3757865" y="6228619"/>
            <a:ext cx="709161" cy="57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578F2765-8C00-892B-DFC7-9E50B78A3CFC}"/>
                  </a:ext>
                </a:extLst>
              </p:cNvPr>
              <p:cNvSpPr txBox="1"/>
              <p:nvPr/>
            </p:nvSpPr>
            <p:spPr>
              <a:xfrm>
                <a:off x="8526432" y="4480976"/>
                <a:ext cx="12903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/2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578F2765-8C00-892B-DFC7-9E50B78A3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6432" y="4480976"/>
                <a:ext cx="1290353" cy="276999"/>
              </a:xfrm>
              <a:prstGeom prst="rect">
                <a:avLst/>
              </a:prstGeom>
              <a:blipFill>
                <a:blip r:embed="rId8"/>
                <a:stretch>
                  <a:fillRect l="-4265" t="-2174" r="-2370" b="-326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F82708B2-DDAA-2515-5480-12A17AD33BFD}"/>
                  </a:ext>
                </a:extLst>
              </p:cNvPr>
              <p:cNvSpPr txBox="1"/>
              <p:nvPr/>
            </p:nvSpPr>
            <p:spPr>
              <a:xfrm>
                <a:off x="2714494" y="4700399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F82708B2-DDAA-2515-5480-12A17AD33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4494" y="4700399"/>
                <a:ext cx="181140" cy="276999"/>
              </a:xfrm>
              <a:prstGeom prst="rect">
                <a:avLst/>
              </a:prstGeom>
              <a:blipFill>
                <a:blip r:embed="rId9"/>
                <a:stretch>
                  <a:fillRect l="-30000" r="-30000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6E89D9BC-E289-7E6B-3756-636A3C93F083}"/>
              </a:ext>
            </a:extLst>
          </p:cNvPr>
          <p:cNvCxnSpPr>
            <a:cxnSpLocks/>
          </p:cNvCxnSpPr>
          <p:nvPr/>
        </p:nvCxnSpPr>
        <p:spPr>
          <a:xfrm>
            <a:off x="8434136" y="4826234"/>
            <a:ext cx="28850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aixaDeTexto 59">
                <a:extLst>
                  <a:ext uri="{FF2B5EF4-FFF2-40B4-BE49-F238E27FC236}">
                    <a16:creationId xmlns:a16="http://schemas.microsoft.com/office/drawing/2014/main" id="{2FA7DF12-9142-CF69-48F6-6CBC2B203630}"/>
                  </a:ext>
                </a:extLst>
              </p:cNvPr>
              <p:cNvSpPr txBox="1"/>
              <p:nvPr/>
            </p:nvSpPr>
            <p:spPr>
              <a:xfrm>
                <a:off x="3944796" y="6410781"/>
                <a:ext cx="4763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1/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0" name="CaixaDeTexto 59">
                <a:extLst>
                  <a:ext uri="{FF2B5EF4-FFF2-40B4-BE49-F238E27FC236}">
                    <a16:creationId xmlns:a16="http://schemas.microsoft.com/office/drawing/2014/main" id="{2FA7DF12-9142-CF69-48F6-6CBC2B203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4796" y="6410781"/>
                <a:ext cx="476348" cy="276999"/>
              </a:xfrm>
              <a:prstGeom prst="rect">
                <a:avLst/>
              </a:prstGeom>
              <a:blipFill>
                <a:blip r:embed="rId10"/>
                <a:stretch>
                  <a:fillRect l="-10256" t="-4444" r="-7692" b="-3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7067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0DEBA9-B99A-2716-90AE-D12682C07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Transmissão sem Distorção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632C9AA-3D6B-3A4B-63B0-0148E70B5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5363" y="1485900"/>
            <a:ext cx="1263650" cy="5905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762000">
              <a:spcBef>
                <a:spcPct val="0"/>
              </a:spcBef>
            </a:pPr>
            <a:r>
              <a:rPr lang="en-US" i="1">
                <a:latin typeface="Times New Roman" pitchFamily="18" charset="0"/>
              </a:rPr>
              <a:t>h</a:t>
            </a:r>
            <a:r>
              <a:rPr lang="en-US">
                <a:latin typeface="Times New Roman" pitchFamily="18" charset="0"/>
              </a:rPr>
              <a:t>(</a:t>
            </a:r>
            <a:r>
              <a:rPr lang="en-US" i="1">
                <a:latin typeface="Times New Roman" pitchFamily="18" charset="0"/>
              </a:rPr>
              <a:t>t</a:t>
            </a:r>
            <a:r>
              <a:rPr lang="en-US">
                <a:latin typeface="Times New Roman" pitchFamily="18" charset="0"/>
              </a:rPr>
              <a:t>)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7FF1B67B-FFD8-4E06-2763-93863AE511E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9713" y="1793875"/>
            <a:ext cx="7477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B976E06A-6DD9-E2E0-5D47-B2CBF3DB1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1076" y="1795463"/>
            <a:ext cx="7731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D7409E27-F625-F4A6-717F-4374648C2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150" y="1566863"/>
            <a:ext cx="6413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/>
            <a:r>
              <a:rPr lang="en-US" sz="2400" i="1" dirty="0">
                <a:latin typeface="Times New Roman" pitchFamily="18" charset="0"/>
              </a:rPr>
              <a:t>x</a:t>
            </a:r>
            <a:r>
              <a:rPr lang="en-US" sz="2400" dirty="0">
                <a:latin typeface="Times New Roman" pitchFamily="18" charset="0"/>
              </a:rPr>
              <a:t>(</a:t>
            </a:r>
            <a:r>
              <a:rPr lang="en-US" sz="2400" i="1" dirty="0">
                <a:latin typeface="Times New Roman" pitchFamily="18" charset="0"/>
              </a:rPr>
              <a:t>t</a:t>
            </a:r>
            <a:r>
              <a:rPr lang="en-US" sz="2400" dirty="0">
                <a:latin typeface="Times New Roman" pitchFamily="18" charset="0"/>
              </a:rPr>
              <a:t>)</a:t>
            </a:r>
            <a:endParaRPr lang="en-US" sz="2400" dirty="0">
              <a:latin typeface="Symbol" pitchFamily="18" charset="2"/>
            </a:endParaRPr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2929DA79-90A2-373A-99BB-F738A92B2F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4826" y="1527176"/>
          <a:ext cx="2087563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28520" imgH="228600" progId="Equation.3">
                  <p:embed/>
                </p:oleObj>
              </mc:Choice>
              <mc:Fallback>
                <p:oleObj name="Equation" r:id="rId2" imgW="1028520" imgH="228600" progId="Equation.3">
                  <p:embed/>
                  <p:pic>
                    <p:nvPicPr>
                      <p:cNvPr id="7" name="Object 8">
                        <a:extLst>
                          <a:ext uri="{FF2B5EF4-FFF2-40B4-BE49-F238E27FC236}">
                            <a16:creationId xmlns:a16="http://schemas.microsoft.com/office/drawing/2014/main" id="{2929DA79-90A2-373A-99BB-F738A92B2F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4826" y="1527176"/>
                        <a:ext cx="2087563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A27A77B9-F77B-3901-520A-64961ACAD8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3225" y="1897064"/>
          <a:ext cx="4484688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09680" imgH="736560" progId="Equation.3">
                  <p:embed/>
                </p:oleObj>
              </mc:Choice>
              <mc:Fallback>
                <p:oleObj name="Equation" r:id="rId4" imgW="2209680" imgH="736560" progId="Equation.3">
                  <p:embed/>
                  <p:pic>
                    <p:nvPicPr>
                      <p:cNvPr id="8" name="Object 9">
                        <a:extLst>
                          <a:ext uri="{FF2B5EF4-FFF2-40B4-BE49-F238E27FC236}">
                            <a16:creationId xmlns:a16="http://schemas.microsoft.com/office/drawing/2014/main" id="{A27A77B9-F77B-3901-520A-64961ACAD8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3225" y="1897064"/>
                        <a:ext cx="4484688" cy="148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0">
            <a:extLst>
              <a:ext uri="{FF2B5EF4-FFF2-40B4-BE49-F238E27FC236}">
                <a16:creationId xmlns:a16="http://schemas.microsoft.com/office/drawing/2014/main" id="{84DE724E-F049-C6D3-12C5-AEF18207A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9100" y="3806825"/>
            <a:ext cx="1017588" cy="53975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>
              <a:lnSpc>
                <a:spcPct val="105000"/>
              </a:lnSpc>
              <a:spcBef>
                <a:spcPct val="0"/>
              </a:spcBef>
            </a:pPr>
            <a:r>
              <a:rPr lang="en-US" sz="1400">
                <a:solidFill>
                  <a:srgbClr val="063DE8"/>
                </a:solidFill>
                <a:latin typeface="Nokia Sans Wide" pitchFamily="34" charset="0"/>
              </a:rPr>
              <a:t>amplitude</a:t>
            </a:r>
          </a:p>
          <a:p>
            <a:pPr defTabSz="762000">
              <a:lnSpc>
                <a:spcPct val="105000"/>
              </a:lnSpc>
              <a:spcBef>
                <a:spcPct val="0"/>
              </a:spcBef>
            </a:pPr>
            <a:r>
              <a:rPr lang="en-US" sz="1400">
                <a:solidFill>
                  <a:srgbClr val="063DE8"/>
                </a:solidFill>
                <a:latin typeface="Nokia Sans Wide" pitchFamily="34" charset="0"/>
              </a:rPr>
              <a:t>constante</a:t>
            </a: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B705B0DC-5793-FA41-1FC1-5F20062C5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3564" y="3768726"/>
            <a:ext cx="1017587" cy="31591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>
              <a:lnSpc>
                <a:spcPct val="105000"/>
              </a:lnSpc>
              <a:spcBef>
                <a:spcPct val="5000"/>
              </a:spcBef>
            </a:pPr>
            <a:r>
              <a:rPr lang="en-US" sz="1400">
                <a:solidFill>
                  <a:schemeClr val="hlink"/>
                </a:solidFill>
                <a:latin typeface="Nokia Sans Wide" pitchFamily="34" charset="0"/>
              </a:rPr>
              <a:t>fase linear</a:t>
            </a: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70E49B65-43BD-A850-3465-9334803B6F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0439" y="3316289"/>
            <a:ext cx="439737" cy="498475"/>
          </a:xfrm>
          <a:prstGeom prst="line">
            <a:avLst/>
          </a:prstGeom>
          <a:noFill/>
          <a:ln w="6350">
            <a:solidFill>
              <a:srgbClr val="063DE8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C690E16-0D89-8E5F-018C-22E5BA1531E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464551" y="3175001"/>
            <a:ext cx="258763" cy="549275"/>
          </a:xfrm>
          <a:prstGeom prst="line">
            <a:avLst/>
          </a:prstGeom>
          <a:noFill/>
          <a:ln w="63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pt-BR"/>
          </a:p>
        </p:txBody>
      </p:sp>
      <p:grpSp>
        <p:nvGrpSpPr>
          <p:cNvPr id="13" name="Group 3">
            <a:extLst>
              <a:ext uri="{FF2B5EF4-FFF2-40B4-BE49-F238E27FC236}">
                <a16:creationId xmlns:a16="http://schemas.microsoft.com/office/drawing/2014/main" id="{EAEBE00D-40A6-D484-B726-C192578336C3}"/>
              </a:ext>
            </a:extLst>
          </p:cNvPr>
          <p:cNvGrpSpPr>
            <a:grpSpLocks/>
          </p:cNvGrpSpPr>
          <p:nvPr/>
        </p:nvGrpSpPr>
        <p:grpSpPr bwMode="auto">
          <a:xfrm>
            <a:off x="1946276" y="4105276"/>
            <a:ext cx="3128963" cy="1878013"/>
            <a:chOff x="485" y="2358"/>
            <a:chExt cx="1971" cy="1183"/>
          </a:xfrm>
        </p:grpSpPr>
        <p:sp>
          <p:nvSpPr>
            <p:cNvPr id="14" name="Line 4">
              <a:extLst>
                <a:ext uri="{FF2B5EF4-FFF2-40B4-BE49-F238E27FC236}">
                  <a16:creationId xmlns:a16="http://schemas.microsoft.com/office/drawing/2014/main" id="{2872297B-74BB-4B12-BA1B-0AE06A909A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2" y="2443"/>
              <a:ext cx="0" cy="9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Line 5">
              <a:extLst>
                <a:ext uri="{FF2B5EF4-FFF2-40B4-BE49-F238E27FC236}">
                  <a16:creationId xmlns:a16="http://schemas.microsoft.com/office/drawing/2014/main" id="{E4EC2A39-5C36-EF88-F268-86AEB7E6ED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" y="3047"/>
              <a:ext cx="17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Line 6">
              <a:extLst>
                <a:ext uri="{FF2B5EF4-FFF2-40B4-BE49-F238E27FC236}">
                  <a16:creationId xmlns:a16="http://schemas.microsoft.com/office/drawing/2014/main" id="{66C6DE78-50A2-57DF-66C6-F3D567FEB8A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670833">
              <a:off x="549" y="2581"/>
              <a:ext cx="1554" cy="96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 Box 7">
              <a:extLst>
                <a:ext uri="{FF2B5EF4-FFF2-40B4-BE49-F238E27FC236}">
                  <a16:creationId xmlns:a16="http://schemas.microsoft.com/office/drawing/2014/main" id="{57F27DA0-F47D-3494-CF9B-40218E491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" y="2358"/>
              <a:ext cx="58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pt-BR" i="1">
                  <a:latin typeface="Times New Roman" pitchFamily="18" charset="0"/>
                  <a:sym typeface="Symbol" pitchFamily="18" charset="2"/>
                </a:rPr>
                <a:t></a:t>
              </a:r>
              <a:r>
                <a:rPr lang="pt-BR" i="1" baseline="-25000">
                  <a:latin typeface="Times New Roman" pitchFamily="18" charset="0"/>
                  <a:sym typeface="Symbol" pitchFamily="18" charset="2"/>
                </a:rPr>
                <a:t>h</a:t>
              </a:r>
              <a:r>
                <a:rPr lang="pt-PT" i="1">
                  <a:latin typeface="Times New Roman" pitchFamily="18" charset="0"/>
                  <a:sym typeface="Symbol" pitchFamily="18" charset="2"/>
                </a:rPr>
                <a:t> </a:t>
              </a:r>
              <a:r>
                <a:rPr lang="pt-PT">
                  <a:latin typeface="Times New Roman" pitchFamily="18" charset="0"/>
                  <a:sym typeface="Symbol" pitchFamily="18" charset="2"/>
                </a:rPr>
                <a:t>( </a:t>
              </a:r>
              <a:r>
                <a:rPr lang="pt-PT" i="1">
                  <a:latin typeface="Times New Roman" pitchFamily="18" charset="0"/>
                  <a:sym typeface="Symbol" pitchFamily="18" charset="2"/>
                </a:rPr>
                <a:t>f</a:t>
              </a:r>
              <a:r>
                <a:rPr lang="pt-PT">
                  <a:latin typeface="Times New Roman" pitchFamily="18" charset="0"/>
                  <a:sym typeface="Symbol" pitchFamily="18" charset="2"/>
                </a:rPr>
                <a:t> </a:t>
              </a:r>
              <a:r>
                <a:rPr lang="pt-PT" sz="900" baseline="-25000">
                  <a:latin typeface="Times New Roman" pitchFamily="18" charset="0"/>
                  <a:sym typeface="Symbol" pitchFamily="18" charset="2"/>
                </a:rPr>
                <a:t> </a:t>
              </a:r>
              <a:r>
                <a:rPr lang="pt-PT">
                  <a:latin typeface="Times New Roman" pitchFamily="18" charset="0"/>
                  <a:sym typeface="Symbol" pitchFamily="18" charset="2"/>
                </a:rPr>
                <a:t>)</a:t>
              </a:r>
              <a:endParaRPr lang="pt-BR" i="1">
                <a:latin typeface="Times New Roman" pitchFamily="18" charset="0"/>
              </a:endParaRPr>
            </a:p>
          </p:txBody>
        </p:sp>
        <p:sp>
          <p:nvSpPr>
            <p:cNvPr id="18" name="Text Box 8">
              <a:extLst>
                <a:ext uri="{FF2B5EF4-FFF2-40B4-BE49-F238E27FC236}">
                  <a16:creationId xmlns:a16="http://schemas.microsoft.com/office/drawing/2014/main" id="{9FC41CAE-4AEB-666D-C46B-20DD0486FB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1" y="2913"/>
              <a:ext cx="25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pt-PT" i="1">
                  <a:latin typeface="Times New Roman" pitchFamily="18" charset="0"/>
                  <a:sym typeface="Symbol" pitchFamily="18" charset="2"/>
                </a:rPr>
                <a:t>f</a:t>
              </a:r>
              <a:r>
                <a:rPr lang="pt-PT">
                  <a:latin typeface="Times New Roman" pitchFamily="18" charset="0"/>
                  <a:sym typeface="Symbol" pitchFamily="18" charset="2"/>
                </a:rPr>
                <a:t> </a:t>
              </a:r>
              <a:endParaRPr lang="pt-BR" i="1">
                <a:latin typeface="Times New Roman" pitchFamily="18" charset="0"/>
              </a:endParaRPr>
            </a:p>
          </p:txBody>
        </p:sp>
        <p:sp>
          <p:nvSpPr>
            <p:cNvPr id="19" name="Text Box 9">
              <a:extLst>
                <a:ext uri="{FF2B5EF4-FFF2-40B4-BE49-F238E27FC236}">
                  <a16:creationId xmlns:a16="http://schemas.microsoft.com/office/drawing/2014/main" id="{1A1D4C8E-8176-F164-2628-55125AA7C2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1" y="3015"/>
              <a:ext cx="25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pt-PT">
                  <a:latin typeface="Times New Roman" pitchFamily="18" charset="0"/>
                  <a:sym typeface="Symbol" pitchFamily="18" charset="2"/>
                </a:rPr>
                <a:t>0</a:t>
              </a:r>
              <a:endParaRPr lang="pt-BR">
                <a:latin typeface="Times New Roman" pitchFamily="18" charset="0"/>
              </a:endParaRPr>
            </a:p>
          </p:txBody>
        </p:sp>
      </p:grpSp>
      <p:graphicFrame>
        <p:nvGraphicFramePr>
          <p:cNvPr id="20" name="Object 11">
            <a:extLst>
              <a:ext uri="{FF2B5EF4-FFF2-40B4-BE49-F238E27FC236}">
                <a16:creationId xmlns:a16="http://schemas.microsoft.com/office/drawing/2014/main" id="{31585813-051A-9955-193E-2684180A1D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9114" y="3124200"/>
          <a:ext cx="22113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1104840" imgH="228600" progId="Equation.3">
                  <p:embed/>
                </p:oleObj>
              </mc:Choice>
              <mc:Fallback>
                <p:oleObj name="Equação" r:id="rId6" imgW="1104840" imgH="228600" progId="Equation.3">
                  <p:embed/>
                  <p:pic>
                    <p:nvPicPr>
                      <p:cNvPr id="20" name="Object 11">
                        <a:extLst>
                          <a:ext uri="{FF2B5EF4-FFF2-40B4-BE49-F238E27FC236}">
                            <a16:creationId xmlns:a16="http://schemas.microsoft.com/office/drawing/2014/main" id="{31585813-051A-9955-193E-2684180A1D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114" y="3124200"/>
                        <a:ext cx="2211387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17">
            <a:extLst>
              <a:ext uri="{FF2B5EF4-FFF2-40B4-BE49-F238E27FC236}">
                <a16:creationId xmlns:a16="http://schemas.microsoft.com/office/drawing/2014/main" id="{6681E775-5B25-BB42-DDB9-9C1D3D6063C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151690" y="4442661"/>
            <a:ext cx="5356225" cy="92333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BR" dirty="0">
                <a:solidFill>
                  <a:schemeClr val="accent2"/>
                </a:solidFill>
              </a:rPr>
              <a:t>O atraso (ou retardo ou </a:t>
            </a:r>
            <a:r>
              <a:rPr lang="pt-PT" dirty="0">
                <a:solidFill>
                  <a:schemeClr val="accent2"/>
                </a:solidFill>
              </a:rPr>
              <a:t>tempo de trânsito</a:t>
            </a:r>
            <a:r>
              <a:rPr lang="pt-BR" dirty="0">
                <a:solidFill>
                  <a:schemeClr val="accent2"/>
                </a:solidFill>
              </a:rPr>
              <a:t>) causado por um sistema sem distorção </a:t>
            </a:r>
            <a:r>
              <a:rPr lang="pt-PT" dirty="0">
                <a:solidFill>
                  <a:schemeClr val="accent2"/>
                </a:solidFill>
              </a:rPr>
              <a:t>é independente da frequência</a:t>
            </a:r>
            <a:endParaRPr lang="pt-B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437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ED2F14-BEDF-AF98-9F29-C7E0D0058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Transmissão sem Distorção</a:t>
            </a:r>
            <a:br>
              <a:rPr lang="pt-BR" dirty="0"/>
            </a:br>
            <a:r>
              <a:rPr lang="pt-BR" dirty="0"/>
              <a:t>Exemplo</a:t>
            </a:r>
          </a:p>
        </p:txBody>
      </p:sp>
      <p:sp>
        <p:nvSpPr>
          <p:cNvPr id="3" name="Line 2">
            <a:extLst>
              <a:ext uri="{FF2B5EF4-FFF2-40B4-BE49-F238E27FC236}">
                <a16:creationId xmlns:a16="http://schemas.microsoft.com/office/drawing/2014/main" id="{BA8A9D76-ADE9-5A93-82E7-454291DCA468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5035550" y="3670300"/>
            <a:ext cx="2216150" cy="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4" name="Line 3">
            <a:extLst>
              <a:ext uri="{FF2B5EF4-FFF2-40B4-BE49-F238E27FC236}">
                <a16:creationId xmlns:a16="http://schemas.microsoft.com/office/drawing/2014/main" id="{855145F3-D053-F525-8AEF-877F8F688B62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5035550" y="5003800"/>
            <a:ext cx="2216150" cy="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7D2468-B570-4FE6-8035-435347D53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151" y="1163638"/>
            <a:ext cx="2117725" cy="1816100"/>
          </a:xfrm>
          <a:prstGeom prst="rect">
            <a:avLst/>
          </a:prstGeom>
          <a:solidFill>
            <a:srgbClr val="FFFF99"/>
          </a:solidFill>
          <a:ln w="28575">
            <a:solidFill>
              <a:srgbClr val="996633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DC2FEFF3-F698-CF88-984E-AD085B0FFE1F}"/>
              </a:ext>
            </a:extLst>
          </p:cNvPr>
          <p:cNvGrpSpPr>
            <a:grpSpLocks/>
          </p:cNvGrpSpPr>
          <p:nvPr/>
        </p:nvGrpSpPr>
        <p:grpSpPr bwMode="auto">
          <a:xfrm>
            <a:off x="1638300" y="3063876"/>
            <a:ext cx="2928938" cy="1033463"/>
            <a:chOff x="564" y="982"/>
            <a:chExt cx="1845" cy="38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A67F084-4F2A-0ED8-C911-5CD6B9AE13F9}"/>
                </a:ext>
              </a:extLst>
            </p:cNvPr>
            <p:cNvSpPr>
              <a:spLocks noChangeAspect="1"/>
            </p:cNvSpPr>
            <p:nvPr/>
          </p:nvSpPr>
          <p:spPr bwMode="black">
            <a:xfrm>
              <a:off x="587" y="1040"/>
              <a:ext cx="1791" cy="325"/>
            </a:xfrm>
            <a:custGeom>
              <a:avLst/>
              <a:gdLst/>
              <a:ahLst/>
              <a:cxnLst>
                <a:cxn ang="0">
                  <a:pos x="0" y="628"/>
                </a:cxn>
                <a:cxn ang="0">
                  <a:pos x="297" y="52"/>
                </a:cxn>
                <a:cxn ang="0">
                  <a:pos x="732" y="940"/>
                </a:cxn>
                <a:cxn ang="0">
                  <a:pos x="1188" y="58"/>
                </a:cxn>
                <a:cxn ang="0">
                  <a:pos x="1647" y="943"/>
                </a:cxn>
                <a:cxn ang="0">
                  <a:pos x="2100" y="58"/>
                </a:cxn>
                <a:cxn ang="0">
                  <a:pos x="2565" y="940"/>
                </a:cxn>
                <a:cxn ang="0">
                  <a:pos x="3015" y="52"/>
                </a:cxn>
                <a:cxn ang="0">
                  <a:pos x="3474" y="943"/>
                </a:cxn>
                <a:cxn ang="0">
                  <a:pos x="3930" y="58"/>
                </a:cxn>
                <a:cxn ang="0">
                  <a:pos x="4314" y="883"/>
                </a:cxn>
                <a:cxn ang="0">
                  <a:pos x="4479" y="868"/>
                </a:cxn>
              </a:cxnLst>
              <a:rect l="0" t="0" r="r" b="b"/>
              <a:pathLst>
                <a:path w="4479" h="1018">
                  <a:moveTo>
                    <a:pt x="0" y="628"/>
                  </a:moveTo>
                  <a:cubicBezTo>
                    <a:pt x="49" y="532"/>
                    <a:pt x="175" y="0"/>
                    <a:pt x="297" y="52"/>
                  </a:cubicBezTo>
                  <a:cubicBezTo>
                    <a:pt x="419" y="104"/>
                    <a:pt x="584" y="939"/>
                    <a:pt x="732" y="940"/>
                  </a:cubicBezTo>
                  <a:cubicBezTo>
                    <a:pt x="880" y="941"/>
                    <a:pt x="1036" y="58"/>
                    <a:pt x="1188" y="58"/>
                  </a:cubicBezTo>
                  <a:cubicBezTo>
                    <a:pt x="1340" y="58"/>
                    <a:pt x="1495" y="943"/>
                    <a:pt x="1647" y="943"/>
                  </a:cubicBezTo>
                  <a:cubicBezTo>
                    <a:pt x="1799" y="943"/>
                    <a:pt x="1947" y="58"/>
                    <a:pt x="2100" y="58"/>
                  </a:cubicBezTo>
                  <a:cubicBezTo>
                    <a:pt x="2253" y="58"/>
                    <a:pt x="2413" y="941"/>
                    <a:pt x="2565" y="940"/>
                  </a:cubicBezTo>
                  <a:cubicBezTo>
                    <a:pt x="2717" y="939"/>
                    <a:pt x="2864" y="52"/>
                    <a:pt x="3015" y="52"/>
                  </a:cubicBezTo>
                  <a:cubicBezTo>
                    <a:pt x="3166" y="52"/>
                    <a:pt x="3322" y="942"/>
                    <a:pt x="3474" y="943"/>
                  </a:cubicBezTo>
                  <a:cubicBezTo>
                    <a:pt x="3626" y="944"/>
                    <a:pt x="3790" y="68"/>
                    <a:pt x="3930" y="58"/>
                  </a:cubicBezTo>
                  <a:cubicBezTo>
                    <a:pt x="4070" y="48"/>
                    <a:pt x="4223" y="748"/>
                    <a:pt x="4314" y="883"/>
                  </a:cubicBezTo>
                  <a:cubicBezTo>
                    <a:pt x="4405" y="1018"/>
                    <a:pt x="4445" y="871"/>
                    <a:pt x="4479" y="868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90C2C919-1AFB-772C-32EB-11FAFFC91D12}"/>
                </a:ext>
              </a:extLst>
            </p:cNvPr>
            <p:cNvSpPr>
              <a:spLocks noChangeAspect="1" noChangeShapeType="1"/>
            </p:cNvSpPr>
            <p:nvPr/>
          </p:nvSpPr>
          <p:spPr bwMode="black">
            <a:xfrm>
              <a:off x="564" y="1200"/>
              <a:ext cx="18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998DE08C-A9BC-0867-CBD4-F35FD4BB0471}"/>
                </a:ext>
              </a:extLst>
            </p:cNvPr>
            <p:cNvSpPr>
              <a:spLocks noChangeAspect="1" noChangeShapeType="1"/>
            </p:cNvSpPr>
            <p:nvPr/>
          </p:nvSpPr>
          <p:spPr bwMode="black">
            <a:xfrm flipV="1">
              <a:off x="1428" y="982"/>
              <a:ext cx="1" cy="3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3C52024-E0E1-22D4-145C-AC5D4923FDBF}"/>
              </a:ext>
            </a:extLst>
          </p:cNvPr>
          <p:cNvGrpSpPr>
            <a:grpSpLocks/>
          </p:cNvGrpSpPr>
          <p:nvPr/>
        </p:nvGrpSpPr>
        <p:grpSpPr bwMode="auto">
          <a:xfrm>
            <a:off x="1644650" y="1401763"/>
            <a:ext cx="2928938" cy="1047750"/>
            <a:chOff x="568" y="2035"/>
            <a:chExt cx="1845" cy="66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FAB74EA-A078-7640-8460-0118F6CC176F}"/>
                </a:ext>
              </a:extLst>
            </p:cNvPr>
            <p:cNvSpPr>
              <a:spLocks noChangeAspect="1"/>
            </p:cNvSpPr>
            <p:nvPr/>
          </p:nvSpPr>
          <p:spPr bwMode="black">
            <a:xfrm>
              <a:off x="593" y="2097"/>
              <a:ext cx="1788" cy="598"/>
            </a:xfrm>
            <a:custGeom>
              <a:avLst/>
              <a:gdLst/>
              <a:ahLst/>
              <a:cxnLst>
                <a:cxn ang="0">
                  <a:pos x="0" y="1684"/>
                </a:cxn>
                <a:cxn ang="0">
                  <a:pos x="68" y="1383"/>
                </a:cxn>
                <a:cxn ang="0">
                  <a:pos x="276" y="40"/>
                </a:cxn>
                <a:cxn ang="0">
                  <a:pos x="525" y="1621"/>
                </a:cxn>
                <a:cxn ang="0">
                  <a:pos x="726" y="1522"/>
                </a:cxn>
                <a:cxn ang="0">
                  <a:pos x="942" y="1618"/>
                </a:cxn>
                <a:cxn ang="0">
                  <a:pos x="1188" y="43"/>
                </a:cxn>
                <a:cxn ang="0">
                  <a:pos x="1434" y="1618"/>
                </a:cxn>
                <a:cxn ang="0">
                  <a:pos x="1644" y="1522"/>
                </a:cxn>
                <a:cxn ang="0">
                  <a:pos x="1854" y="1615"/>
                </a:cxn>
                <a:cxn ang="0">
                  <a:pos x="2103" y="34"/>
                </a:cxn>
                <a:cxn ang="0">
                  <a:pos x="2349" y="1618"/>
                </a:cxn>
                <a:cxn ang="0">
                  <a:pos x="2559" y="1519"/>
                </a:cxn>
                <a:cxn ang="0">
                  <a:pos x="2769" y="1615"/>
                </a:cxn>
                <a:cxn ang="0">
                  <a:pos x="3015" y="46"/>
                </a:cxn>
                <a:cxn ang="0">
                  <a:pos x="3264" y="1618"/>
                </a:cxn>
                <a:cxn ang="0">
                  <a:pos x="3471" y="1522"/>
                </a:cxn>
                <a:cxn ang="0">
                  <a:pos x="3681" y="1618"/>
                </a:cxn>
                <a:cxn ang="0">
                  <a:pos x="3930" y="46"/>
                </a:cxn>
                <a:cxn ang="0">
                  <a:pos x="4182" y="1615"/>
                </a:cxn>
                <a:cxn ang="0">
                  <a:pos x="4374" y="1522"/>
                </a:cxn>
                <a:cxn ang="0">
                  <a:pos x="4473" y="1627"/>
                </a:cxn>
              </a:cxnLst>
              <a:rect l="0" t="0" r="r" b="b"/>
              <a:pathLst>
                <a:path w="4473" h="1868">
                  <a:moveTo>
                    <a:pt x="0" y="1684"/>
                  </a:moveTo>
                  <a:cubicBezTo>
                    <a:pt x="11" y="1634"/>
                    <a:pt x="22" y="1657"/>
                    <a:pt x="68" y="1383"/>
                  </a:cubicBezTo>
                  <a:cubicBezTo>
                    <a:pt x="114" y="1109"/>
                    <a:pt x="200" y="0"/>
                    <a:pt x="276" y="40"/>
                  </a:cubicBezTo>
                  <a:cubicBezTo>
                    <a:pt x="352" y="80"/>
                    <a:pt x="450" y="1374"/>
                    <a:pt x="525" y="1621"/>
                  </a:cubicBezTo>
                  <a:cubicBezTo>
                    <a:pt x="600" y="1868"/>
                    <a:pt x="657" y="1522"/>
                    <a:pt x="726" y="1522"/>
                  </a:cubicBezTo>
                  <a:cubicBezTo>
                    <a:pt x="795" y="1522"/>
                    <a:pt x="865" y="1865"/>
                    <a:pt x="942" y="1618"/>
                  </a:cubicBezTo>
                  <a:cubicBezTo>
                    <a:pt x="1019" y="1371"/>
                    <a:pt x="1106" y="43"/>
                    <a:pt x="1188" y="43"/>
                  </a:cubicBezTo>
                  <a:cubicBezTo>
                    <a:pt x="1270" y="43"/>
                    <a:pt x="1358" y="1372"/>
                    <a:pt x="1434" y="1618"/>
                  </a:cubicBezTo>
                  <a:cubicBezTo>
                    <a:pt x="1510" y="1864"/>
                    <a:pt x="1574" y="1523"/>
                    <a:pt x="1644" y="1522"/>
                  </a:cubicBezTo>
                  <a:cubicBezTo>
                    <a:pt x="1714" y="1521"/>
                    <a:pt x="1778" y="1863"/>
                    <a:pt x="1854" y="1615"/>
                  </a:cubicBezTo>
                  <a:cubicBezTo>
                    <a:pt x="1930" y="1367"/>
                    <a:pt x="2021" y="34"/>
                    <a:pt x="2103" y="34"/>
                  </a:cubicBezTo>
                  <a:cubicBezTo>
                    <a:pt x="2185" y="34"/>
                    <a:pt x="2273" y="1371"/>
                    <a:pt x="2349" y="1618"/>
                  </a:cubicBezTo>
                  <a:cubicBezTo>
                    <a:pt x="2425" y="1865"/>
                    <a:pt x="2489" y="1519"/>
                    <a:pt x="2559" y="1519"/>
                  </a:cubicBezTo>
                  <a:cubicBezTo>
                    <a:pt x="2629" y="1519"/>
                    <a:pt x="2693" y="1861"/>
                    <a:pt x="2769" y="1615"/>
                  </a:cubicBezTo>
                  <a:cubicBezTo>
                    <a:pt x="2845" y="1369"/>
                    <a:pt x="2933" y="46"/>
                    <a:pt x="3015" y="46"/>
                  </a:cubicBezTo>
                  <a:cubicBezTo>
                    <a:pt x="3097" y="46"/>
                    <a:pt x="3188" y="1372"/>
                    <a:pt x="3264" y="1618"/>
                  </a:cubicBezTo>
                  <a:cubicBezTo>
                    <a:pt x="3340" y="1864"/>
                    <a:pt x="3402" y="1522"/>
                    <a:pt x="3471" y="1522"/>
                  </a:cubicBezTo>
                  <a:cubicBezTo>
                    <a:pt x="3540" y="1522"/>
                    <a:pt x="3605" y="1864"/>
                    <a:pt x="3681" y="1618"/>
                  </a:cubicBezTo>
                  <a:cubicBezTo>
                    <a:pt x="3757" y="1372"/>
                    <a:pt x="3847" y="46"/>
                    <a:pt x="3930" y="46"/>
                  </a:cubicBezTo>
                  <a:cubicBezTo>
                    <a:pt x="4013" y="46"/>
                    <a:pt x="4108" y="1369"/>
                    <a:pt x="4182" y="1615"/>
                  </a:cubicBezTo>
                  <a:cubicBezTo>
                    <a:pt x="4256" y="1861"/>
                    <a:pt x="4326" y="1520"/>
                    <a:pt x="4374" y="1522"/>
                  </a:cubicBezTo>
                  <a:cubicBezTo>
                    <a:pt x="4422" y="1524"/>
                    <a:pt x="4453" y="1605"/>
                    <a:pt x="4473" y="1627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65D4F181-97A6-A4C2-1BFE-86471295156E}"/>
                </a:ext>
              </a:extLst>
            </p:cNvPr>
            <p:cNvSpPr>
              <a:spLocks noChangeAspect="1" noChangeShapeType="1"/>
            </p:cNvSpPr>
            <p:nvPr/>
          </p:nvSpPr>
          <p:spPr bwMode="black">
            <a:xfrm>
              <a:off x="568" y="2468"/>
              <a:ext cx="18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F3395F62-4643-1B33-4125-1921F88451F7}"/>
                </a:ext>
              </a:extLst>
            </p:cNvPr>
            <p:cNvSpPr>
              <a:spLocks noChangeAspect="1" noChangeShapeType="1"/>
            </p:cNvSpPr>
            <p:nvPr/>
          </p:nvSpPr>
          <p:spPr bwMode="black">
            <a:xfrm flipH="1" flipV="1">
              <a:off x="1433" y="2035"/>
              <a:ext cx="1" cy="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0B88C8C8-8235-BD94-C16A-86B02C55A194}"/>
              </a:ext>
            </a:extLst>
          </p:cNvPr>
          <p:cNvGrpSpPr>
            <a:grpSpLocks/>
          </p:cNvGrpSpPr>
          <p:nvPr/>
        </p:nvGrpSpPr>
        <p:grpSpPr bwMode="auto">
          <a:xfrm>
            <a:off x="1638300" y="4635501"/>
            <a:ext cx="2928938" cy="639763"/>
            <a:chOff x="564" y="1428"/>
            <a:chExt cx="1845" cy="237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3002B99B-DB3A-16E3-0F90-58EBF106DB0A}"/>
                </a:ext>
              </a:extLst>
            </p:cNvPr>
            <p:cNvSpPr>
              <a:spLocks noChangeAspect="1"/>
            </p:cNvSpPr>
            <p:nvPr/>
          </p:nvSpPr>
          <p:spPr bwMode="black">
            <a:xfrm>
              <a:off x="590" y="1480"/>
              <a:ext cx="1787" cy="168"/>
            </a:xfrm>
            <a:custGeom>
              <a:avLst/>
              <a:gdLst/>
              <a:ahLst/>
              <a:cxnLst>
                <a:cxn ang="0">
                  <a:pos x="0" y="449"/>
                </a:cxn>
                <a:cxn ang="0">
                  <a:pos x="80" y="457"/>
                </a:cxn>
                <a:cxn ang="0">
                  <a:pos x="270" y="43"/>
                </a:cxn>
                <a:cxn ang="0">
                  <a:pos x="498" y="487"/>
                </a:cxn>
                <a:cxn ang="0">
                  <a:pos x="726" y="43"/>
                </a:cxn>
                <a:cxn ang="0">
                  <a:pos x="952" y="485"/>
                </a:cxn>
                <a:cxn ang="0">
                  <a:pos x="1180" y="43"/>
                </a:cxn>
                <a:cxn ang="0">
                  <a:pos x="1410" y="487"/>
                </a:cxn>
                <a:cxn ang="0">
                  <a:pos x="1640" y="43"/>
                </a:cxn>
                <a:cxn ang="0">
                  <a:pos x="1866" y="487"/>
                </a:cxn>
                <a:cxn ang="0">
                  <a:pos x="2098" y="39"/>
                </a:cxn>
                <a:cxn ang="0">
                  <a:pos x="2324" y="487"/>
                </a:cxn>
                <a:cxn ang="0">
                  <a:pos x="2554" y="43"/>
                </a:cxn>
                <a:cxn ang="0">
                  <a:pos x="2784" y="487"/>
                </a:cxn>
                <a:cxn ang="0">
                  <a:pos x="3010" y="41"/>
                </a:cxn>
                <a:cxn ang="0">
                  <a:pos x="3238" y="483"/>
                </a:cxn>
                <a:cxn ang="0">
                  <a:pos x="3468" y="45"/>
                </a:cxn>
                <a:cxn ang="0">
                  <a:pos x="3694" y="487"/>
                </a:cxn>
                <a:cxn ang="0">
                  <a:pos x="3922" y="41"/>
                </a:cxn>
                <a:cxn ang="0">
                  <a:pos x="4148" y="487"/>
                </a:cxn>
                <a:cxn ang="0">
                  <a:pos x="4360" y="51"/>
                </a:cxn>
                <a:cxn ang="0">
                  <a:pos x="4470" y="183"/>
                </a:cxn>
              </a:cxnLst>
              <a:rect l="0" t="0" r="r" b="b"/>
              <a:pathLst>
                <a:path w="4470" h="525">
                  <a:moveTo>
                    <a:pt x="0" y="449"/>
                  </a:moveTo>
                  <a:cubicBezTo>
                    <a:pt x="13" y="450"/>
                    <a:pt x="35" y="525"/>
                    <a:pt x="80" y="457"/>
                  </a:cubicBezTo>
                  <a:cubicBezTo>
                    <a:pt x="125" y="389"/>
                    <a:pt x="200" y="38"/>
                    <a:pt x="270" y="43"/>
                  </a:cubicBezTo>
                  <a:cubicBezTo>
                    <a:pt x="340" y="48"/>
                    <a:pt x="422" y="487"/>
                    <a:pt x="498" y="487"/>
                  </a:cubicBezTo>
                  <a:cubicBezTo>
                    <a:pt x="574" y="487"/>
                    <a:pt x="650" y="43"/>
                    <a:pt x="726" y="43"/>
                  </a:cubicBezTo>
                  <a:cubicBezTo>
                    <a:pt x="802" y="43"/>
                    <a:pt x="876" y="485"/>
                    <a:pt x="952" y="485"/>
                  </a:cubicBezTo>
                  <a:cubicBezTo>
                    <a:pt x="1028" y="485"/>
                    <a:pt x="1104" y="43"/>
                    <a:pt x="1180" y="43"/>
                  </a:cubicBezTo>
                  <a:cubicBezTo>
                    <a:pt x="1256" y="43"/>
                    <a:pt x="1333" y="487"/>
                    <a:pt x="1410" y="487"/>
                  </a:cubicBezTo>
                  <a:cubicBezTo>
                    <a:pt x="1487" y="487"/>
                    <a:pt x="1564" y="43"/>
                    <a:pt x="1640" y="43"/>
                  </a:cubicBezTo>
                  <a:cubicBezTo>
                    <a:pt x="1716" y="43"/>
                    <a:pt x="1790" y="488"/>
                    <a:pt x="1866" y="487"/>
                  </a:cubicBezTo>
                  <a:cubicBezTo>
                    <a:pt x="1942" y="486"/>
                    <a:pt x="2022" y="39"/>
                    <a:pt x="2098" y="39"/>
                  </a:cubicBezTo>
                  <a:cubicBezTo>
                    <a:pt x="2174" y="39"/>
                    <a:pt x="2248" y="486"/>
                    <a:pt x="2324" y="487"/>
                  </a:cubicBezTo>
                  <a:cubicBezTo>
                    <a:pt x="2400" y="488"/>
                    <a:pt x="2477" y="43"/>
                    <a:pt x="2554" y="43"/>
                  </a:cubicBezTo>
                  <a:cubicBezTo>
                    <a:pt x="2631" y="43"/>
                    <a:pt x="2708" y="487"/>
                    <a:pt x="2784" y="487"/>
                  </a:cubicBezTo>
                  <a:cubicBezTo>
                    <a:pt x="2860" y="487"/>
                    <a:pt x="2934" y="42"/>
                    <a:pt x="3010" y="41"/>
                  </a:cubicBezTo>
                  <a:cubicBezTo>
                    <a:pt x="3086" y="40"/>
                    <a:pt x="3162" y="482"/>
                    <a:pt x="3238" y="483"/>
                  </a:cubicBezTo>
                  <a:cubicBezTo>
                    <a:pt x="3314" y="484"/>
                    <a:pt x="3392" y="44"/>
                    <a:pt x="3468" y="45"/>
                  </a:cubicBezTo>
                  <a:cubicBezTo>
                    <a:pt x="3544" y="46"/>
                    <a:pt x="3618" y="488"/>
                    <a:pt x="3694" y="487"/>
                  </a:cubicBezTo>
                  <a:cubicBezTo>
                    <a:pt x="3770" y="486"/>
                    <a:pt x="3846" y="41"/>
                    <a:pt x="3922" y="41"/>
                  </a:cubicBezTo>
                  <a:cubicBezTo>
                    <a:pt x="3998" y="41"/>
                    <a:pt x="4075" y="485"/>
                    <a:pt x="4148" y="487"/>
                  </a:cubicBezTo>
                  <a:cubicBezTo>
                    <a:pt x="4221" y="489"/>
                    <a:pt x="4306" y="102"/>
                    <a:pt x="4360" y="51"/>
                  </a:cubicBezTo>
                  <a:cubicBezTo>
                    <a:pt x="4414" y="0"/>
                    <a:pt x="4447" y="156"/>
                    <a:pt x="4470" y="183"/>
                  </a:cubicBezTo>
                </a:path>
              </a:pathLst>
            </a:custGeom>
            <a:noFill/>
            <a:ln w="28575" cap="flat" cmpd="sng">
              <a:solidFill>
                <a:srgbClr val="33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8A83D1A3-E858-1719-1F04-96A58EFD7042}"/>
                </a:ext>
              </a:extLst>
            </p:cNvPr>
            <p:cNvSpPr>
              <a:spLocks noChangeAspect="1" noChangeShapeType="1"/>
            </p:cNvSpPr>
            <p:nvPr/>
          </p:nvSpPr>
          <p:spPr bwMode="black">
            <a:xfrm>
              <a:off x="564" y="1566"/>
              <a:ext cx="18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303BD7C9-2F3D-7EB2-DB3F-9A58C6684F44}"/>
                </a:ext>
              </a:extLst>
            </p:cNvPr>
            <p:cNvSpPr>
              <a:spLocks noChangeAspect="1" noChangeShapeType="1"/>
            </p:cNvSpPr>
            <p:nvPr/>
          </p:nvSpPr>
          <p:spPr bwMode="black">
            <a:xfrm flipV="1">
              <a:off x="1428" y="1428"/>
              <a:ext cx="1" cy="2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8" name="Text Box 18">
            <a:extLst>
              <a:ext uri="{FF2B5EF4-FFF2-40B4-BE49-F238E27FC236}">
                <a16:creationId xmlns:a16="http://schemas.microsoft.com/office/drawing/2014/main" id="{3F5D1CFF-A5EC-F3B2-777B-D870022EC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100" y="4070350"/>
            <a:ext cx="355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BR">
                <a:latin typeface="Arial" pitchFamily="34" charset="0"/>
              </a:rPr>
              <a:t>+</a:t>
            </a:r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DB35919C-5791-D851-5E8C-8B16827F1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100" y="2495550"/>
            <a:ext cx="355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BR">
                <a:latin typeface="Arial" pitchFamily="34" charset="0"/>
              </a:rPr>
              <a:t>=</a:t>
            </a:r>
          </a:p>
        </p:txBody>
      </p:sp>
      <p:graphicFrame>
        <p:nvGraphicFramePr>
          <p:cNvPr id="20" name="Object 20">
            <a:extLst>
              <a:ext uri="{FF2B5EF4-FFF2-40B4-BE49-F238E27FC236}">
                <a16:creationId xmlns:a16="http://schemas.microsoft.com/office/drawing/2014/main" id="{21291C60-67F3-7AA6-2FBC-17B58FDC10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9439" y="5532439"/>
          <a:ext cx="226377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409400" imgH="457200" progId="Equation.3">
                  <p:embed/>
                </p:oleObj>
              </mc:Choice>
              <mc:Fallback>
                <p:oleObj name="Equação" r:id="rId2" imgW="1409400" imgH="457200" progId="Equation.3">
                  <p:embed/>
                  <p:pic>
                    <p:nvPicPr>
                      <p:cNvPr id="20" name="Object 20">
                        <a:extLst>
                          <a:ext uri="{FF2B5EF4-FFF2-40B4-BE49-F238E27FC236}">
                            <a16:creationId xmlns:a16="http://schemas.microsoft.com/office/drawing/2014/main" id="{21291C60-67F3-7AA6-2FBC-17B58FDC10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9439" y="5532439"/>
                        <a:ext cx="2263775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>
            <a:extLst>
              <a:ext uri="{FF2B5EF4-FFF2-40B4-BE49-F238E27FC236}">
                <a16:creationId xmlns:a16="http://schemas.microsoft.com/office/drawing/2014/main" id="{C4CBA9A2-CF8C-E0CE-070C-9EE1F57ED2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5389" y="5534025"/>
          <a:ext cx="2814637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1752480" imgH="457200" progId="Equation.3">
                  <p:embed/>
                </p:oleObj>
              </mc:Choice>
              <mc:Fallback>
                <p:oleObj name="Equação" r:id="rId4" imgW="1752480" imgH="457200" progId="Equation.3">
                  <p:embed/>
                  <p:pic>
                    <p:nvPicPr>
                      <p:cNvPr id="21" name="Object 21">
                        <a:extLst>
                          <a:ext uri="{FF2B5EF4-FFF2-40B4-BE49-F238E27FC236}">
                            <a16:creationId xmlns:a16="http://schemas.microsoft.com/office/drawing/2014/main" id="{C4CBA9A2-CF8C-E0CE-070C-9EE1F57ED2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5389" y="5534025"/>
                        <a:ext cx="2814637" cy="731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51">
            <a:extLst>
              <a:ext uri="{FF2B5EF4-FFF2-40B4-BE49-F238E27FC236}">
                <a16:creationId xmlns:a16="http://schemas.microsoft.com/office/drawing/2014/main" id="{48304842-69D3-E89D-2ADC-1E5BFF83AA93}"/>
              </a:ext>
            </a:extLst>
          </p:cNvPr>
          <p:cNvGrpSpPr>
            <a:grpSpLocks/>
          </p:cNvGrpSpPr>
          <p:nvPr/>
        </p:nvGrpSpPr>
        <p:grpSpPr bwMode="auto">
          <a:xfrm>
            <a:off x="7607300" y="3046414"/>
            <a:ext cx="2928938" cy="1055687"/>
            <a:chOff x="3736" y="1919"/>
            <a:chExt cx="1845" cy="391"/>
          </a:xfrm>
        </p:grpSpPr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32336BA5-7937-032E-4E5B-69C9D3042C13}"/>
                </a:ext>
              </a:extLst>
            </p:cNvPr>
            <p:cNvSpPr>
              <a:spLocks noChangeAspect="1"/>
            </p:cNvSpPr>
            <p:nvPr/>
          </p:nvSpPr>
          <p:spPr bwMode="black">
            <a:xfrm>
              <a:off x="3757" y="1999"/>
              <a:ext cx="1812" cy="311"/>
            </a:xfrm>
            <a:custGeom>
              <a:avLst/>
              <a:gdLst/>
              <a:ahLst/>
              <a:cxnLst>
                <a:cxn ang="0">
                  <a:pos x="0" y="897"/>
                </a:cxn>
                <a:cxn ang="0">
                  <a:pos x="136" y="833"/>
                </a:cxn>
                <a:cxn ang="0">
                  <a:pos x="514" y="33"/>
                </a:cxn>
                <a:cxn ang="0">
                  <a:pos x="961" y="915"/>
                </a:cxn>
                <a:cxn ang="0">
                  <a:pos x="1417" y="33"/>
                </a:cxn>
                <a:cxn ang="0">
                  <a:pos x="1876" y="918"/>
                </a:cxn>
                <a:cxn ang="0">
                  <a:pos x="2329" y="33"/>
                </a:cxn>
                <a:cxn ang="0">
                  <a:pos x="2788" y="919"/>
                </a:cxn>
                <a:cxn ang="0">
                  <a:pos x="3244" y="27"/>
                </a:cxn>
                <a:cxn ang="0">
                  <a:pos x="3703" y="918"/>
                </a:cxn>
                <a:cxn ang="0">
                  <a:pos x="4144" y="31"/>
                </a:cxn>
                <a:cxn ang="0">
                  <a:pos x="4476" y="733"/>
                </a:cxn>
                <a:cxn ang="0">
                  <a:pos x="4478" y="735"/>
                </a:cxn>
              </a:cxnLst>
              <a:rect l="0" t="0" r="r" b="b"/>
              <a:pathLst>
                <a:path w="4532" h="977">
                  <a:moveTo>
                    <a:pt x="0" y="897"/>
                  </a:moveTo>
                  <a:cubicBezTo>
                    <a:pt x="23" y="886"/>
                    <a:pt x="50" y="977"/>
                    <a:pt x="136" y="833"/>
                  </a:cubicBezTo>
                  <a:cubicBezTo>
                    <a:pt x="222" y="689"/>
                    <a:pt x="377" y="19"/>
                    <a:pt x="514" y="33"/>
                  </a:cubicBezTo>
                  <a:cubicBezTo>
                    <a:pt x="651" y="47"/>
                    <a:pt x="811" y="915"/>
                    <a:pt x="961" y="915"/>
                  </a:cubicBezTo>
                  <a:cubicBezTo>
                    <a:pt x="1111" y="915"/>
                    <a:pt x="1265" y="33"/>
                    <a:pt x="1417" y="33"/>
                  </a:cubicBezTo>
                  <a:cubicBezTo>
                    <a:pt x="1569" y="33"/>
                    <a:pt x="1724" y="918"/>
                    <a:pt x="1876" y="918"/>
                  </a:cubicBezTo>
                  <a:cubicBezTo>
                    <a:pt x="2028" y="918"/>
                    <a:pt x="2177" y="33"/>
                    <a:pt x="2329" y="33"/>
                  </a:cubicBezTo>
                  <a:cubicBezTo>
                    <a:pt x="2481" y="33"/>
                    <a:pt x="2636" y="920"/>
                    <a:pt x="2788" y="919"/>
                  </a:cubicBezTo>
                  <a:cubicBezTo>
                    <a:pt x="2940" y="918"/>
                    <a:pt x="3092" y="27"/>
                    <a:pt x="3244" y="27"/>
                  </a:cubicBezTo>
                  <a:cubicBezTo>
                    <a:pt x="3396" y="27"/>
                    <a:pt x="3553" y="917"/>
                    <a:pt x="3703" y="918"/>
                  </a:cubicBezTo>
                  <a:cubicBezTo>
                    <a:pt x="3853" y="919"/>
                    <a:pt x="4015" y="62"/>
                    <a:pt x="4144" y="31"/>
                  </a:cubicBezTo>
                  <a:cubicBezTo>
                    <a:pt x="4273" y="0"/>
                    <a:pt x="4420" y="616"/>
                    <a:pt x="4476" y="733"/>
                  </a:cubicBezTo>
                  <a:cubicBezTo>
                    <a:pt x="4532" y="850"/>
                    <a:pt x="4478" y="735"/>
                    <a:pt x="4478" y="735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4" name="Line 28">
              <a:extLst>
                <a:ext uri="{FF2B5EF4-FFF2-40B4-BE49-F238E27FC236}">
                  <a16:creationId xmlns:a16="http://schemas.microsoft.com/office/drawing/2014/main" id="{7DCCBF83-E7F4-EEFD-22BD-075408351308}"/>
                </a:ext>
              </a:extLst>
            </p:cNvPr>
            <p:cNvSpPr>
              <a:spLocks noChangeAspect="1" noChangeShapeType="1"/>
            </p:cNvSpPr>
            <p:nvPr/>
          </p:nvSpPr>
          <p:spPr bwMode="black">
            <a:xfrm>
              <a:off x="3736" y="2151"/>
              <a:ext cx="18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5" name="Line 29">
              <a:extLst>
                <a:ext uri="{FF2B5EF4-FFF2-40B4-BE49-F238E27FC236}">
                  <a16:creationId xmlns:a16="http://schemas.microsoft.com/office/drawing/2014/main" id="{CF7E27B9-9AF0-22BE-7963-78014133F1D8}"/>
                </a:ext>
              </a:extLst>
            </p:cNvPr>
            <p:cNvSpPr>
              <a:spLocks noChangeAspect="1" noChangeShapeType="1"/>
            </p:cNvSpPr>
            <p:nvPr/>
          </p:nvSpPr>
          <p:spPr bwMode="black">
            <a:xfrm flipV="1">
              <a:off x="4596" y="1919"/>
              <a:ext cx="1" cy="3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26" name="Group 52">
            <a:extLst>
              <a:ext uri="{FF2B5EF4-FFF2-40B4-BE49-F238E27FC236}">
                <a16:creationId xmlns:a16="http://schemas.microsoft.com/office/drawing/2014/main" id="{0FF63E84-EEE2-6CB1-80B2-F80CA673052C}"/>
              </a:ext>
            </a:extLst>
          </p:cNvPr>
          <p:cNvGrpSpPr>
            <a:grpSpLocks/>
          </p:cNvGrpSpPr>
          <p:nvPr/>
        </p:nvGrpSpPr>
        <p:grpSpPr bwMode="auto">
          <a:xfrm>
            <a:off x="7613650" y="4624389"/>
            <a:ext cx="2928938" cy="661987"/>
            <a:chOff x="3740" y="2589"/>
            <a:chExt cx="1845" cy="245"/>
          </a:xfrm>
        </p:grpSpPr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94B7475E-FB04-3E53-D284-2F362CBAF7B8}"/>
                </a:ext>
              </a:extLst>
            </p:cNvPr>
            <p:cNvSpPr>
              <a:spLocks noChangeAspect="1"/>
            </p:cNvSpPr>
            <p:nvPr/>
          </p:nvSpPr>
          <p:spPr bwMode="black">
            <a:xfrm>
              <a:off x="3759" y="2643"/>
              <a:ext cx="1806" cy="172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24" y="23"/>
                </a:cxn>
                <a:cxn ang="0">
                  <a:pos x="105" y="159"/>
                </a:cxn>
                <a:cxn ang="0">
                  <a:pos x="195" y="18"/>
                </a:cxn>
                <a:cxn ang="0">
                  <a:pos x="285" y="158"/>
                </a:cxn>
                <a:cxn ang="0">
                  <a:pos x="377" y="18"/>
                </a:cxn>
                <a:cxn ang="0">
                  <a:pos x="468" y="158"/>
                </a:cxn>
                <a:cxn ang="0">
                  <a:pos x="559" y="18"/>
                </a:cxn>
                <a:cxn ang="0">
                  <a:pos x="651" y="159"/>
                </a:cxn>
                <a:cxn ang="0">
                  <a:pos x="743" y="18"/>
                </a:cxn>
                <a:cxn ang="0">
                  <a:pos x="833" y="159"/>
                </a:cxn>
                <a:cxn ang="0">
                  <a:pos x="925" y="18"/>
                </a:cxn>
                <a:cxn ang="0">
                  <a:pos x="1016" y="159"/>
                </a:cxn>
                <a:cxn ang="0">
                  <a:pos x="1108" y="18"/>
                </a:cxn>
                <a:cxn ang="0">
                  <a:pos x="1200" y="159"/>
                </a:cxn>
                <a:cxn ang="0">
                  <a:pos x="1291" y="17"/>
                </a:cxn>
                <a:cxn ang="0">
                  <a:pos x="1382" y="158"/>
                </a:cxn>
                <a:cxn ang="0">
                  <a:pos x="1474" y="18"/>
                </a:cxn>
                <a:cxn ang="0">
                  <a:pos x="1564" y="159"/>
                </a:cxn>
                <a:cxn ang="0">
                  <a:pos x="1655" y="17"/>
                </a:cxn>
                <a:cxn ang="0">
                  <a:pos x="1745" y="160"/>
                </a:cxn>
                <a:cxn ang="0">
                  <a:pos x="1793" y="89"/>
                </a:cxn>
                <a:cxn ang="0">
                  <a:pos x="1806" y="56"/>
                </a:cxn>
              </a:cxnLst>
              <a:rect l="0" t="0" r="r" b="b"/>
              <a:pathLst>
                <a:path w="1806" h="172">
                  <a:moveTo>
                    <a:pt x="0" y="20"/>
                  </a:moveTo>
                  <a:cubicBezTo>
                    <a:pt x="4" y="21"/>
                    <a:pt x="7" y="0"/>
                    <a:pt x="24" y="23"/>
                  </a:cubicBezTo>
                  <a:cubicBezTo>
                    <a:pt x="41" y="46"/>
                    <a:pt x="77" y="160"/>
                    <a:pt x="105" y="159"/>
                  </a:cubicBezTo>
                  <a:cubicBezTo>
                    <a:pt x="133" y="158"/>
                    <a:pt x="165" y="18"/>
                    <a:pt x="195" y="18"/>
                  </a:cubicBezTo>
                  <a:cubicBezTo>
                    <a:pt x="225" y="18"/>
                    <a:pt x="254" y="158"/>
                    <a:pt x="285" y="158"/>
                  </a:cubicBezTo>
                  <a:cubicBezTo>
                    <a:pt x="315" y="158"/>
                    <a:pt x="347" y="18"/>
                    <a:pt x="377" y="18"/>
                  </a:cubicBezTo>
                  <a:cubicBezTo>
                    <a:pt x="408" y="18"/>
                    <a:pt x="437" y="158"/>
                    <a:pt x="468" y="158"/>
                  </a:cubicBezTo>
                  <a:cubicBezTo>
                    <a:pt x="498" y="158"/>
                    <a:pt x="529" y="18"/>
                    <a:pt x="559" y="18"/>
                  </a:cubicBezTo>
                  <a:cubicBezTo>
                    <a:pt x="589" y="18"/>
                    <a:pt x="620" y="159"/>
                    <a:pt x="651" y="159"/>
                  </a:cubicBezTo>
                  <a:cubicBezTo>
                    <a:pt x="682" y="159"/>
                    <a:pt x="712" y="18"/>
                    <a:pt x="743" y="18"/>
                  </a:cubicBezTo>
                  <a:cubicBezTo>
                    <a:pt x="773" y="18"/>
                    <a:pt x="803" y="159"/>
                    <a:pt x="833" y="159"/>
                  </a:cubicBezTo>
                  <a:cubicBezTo>
                    <a:pt x="864" y="159"/>
                    <a:pt x="894" y="18"/>
                    <a:pt x="925" y="18"/>
                  </a:cubicBezTo>
                  <a:cubicBezTo>
                    <a:pt x="955" y="18"/>
                    <a:pt x="986" y="159"/>
                    <a:pt x="1016" y="159"/>
                  </a:cubicBezTo>
                  <a:cubicBezTo>
                    <a:pt x="1047" y="159"/>
                    <a:pt x="1078" y="18"/>
                    <a:pt x="1108" y="18"/>
                  </a:cubicBezTo>
                  <a:cubicBezTo>
                    <a:pt x="1139" y="18"/>
                    <a:pt x="1170" y="159"/>
                    <a:pt x="1200" y="159"/>
                  </a:cubicBezTo>
                  <a:cubicBezTo>
                    <a:pt x="1231" y="159"/>
                    <a:pt x="1260" y="17"/>
                    <a:pt x="1291" y="17"/>
                  </a:cubicBezTo>
                  <a:cubicBezTo>
                    <a:pt x="1321" y="17"/>
                    <a:pt x="1351" y="157"/>
                    <a:pt x="1382" y="158"/>
                  </a:cubicBezTo>
                  <a:cubicBezTo>
                    <a:pt x="1412" y="158"/>
                    <a:pt x="1443" y="18"/>
                    <a:pt x="1474" y="18"/>
                  </a:cubicBezTo>
                  <a:cubicBezTo>
                    <a:pt x="1504" y="19"/>
                    <a:pt x="1534" y="159"/>
                    <a:pt x="1564" y="159"/>
                  </a:cubicBezTo>
                  <a:cubicBezTo>
                    <a:pt x="1595" y="159"/>
                    <a:pt x="1625" y="17"/>
                    <a:pt x="1655" y="17"/>
                  </a:cubicBezTo>
                  <a:cubicBezTo>
                    <a:pt x="1685" y="17"/>
                    <a:pt x="1722" y="148"/>
                    <a:pt x="1745" y="160"/>
                  </a:cubicBezTo>
                  <a:cubicBezTo>
                    <a:pt x="1768" y="172"/>
                    <a:pt x="1783" y="106"/>
                    <a:pt x="1793" y="89"/>
                  </a:cubicBezTo>
                  <a:cubicBezTo>
                    <a:pt x="1803" y="72"/>
                    <a:pt x="1803" y="63"/>
                    <a:pt x="1806" y="56"/>
                  </a:cubicBezTo>
                </a:path>
              </a:pathLst>
            </a:custGeom>
            <a:noFill/>
            <a:ln w="28575" cap="flat" cmpd="sng">
              <a:solidFill>
                <a:srgbClr val="33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8" name="Line 32">
              <a:extLst>
                <a:ext uri="{FF2B5EF4-FFF2-40B4-BE49-F238E27FC236}">
                  <a16:creationId xmlns:a16="http://schemas.microsoft.com/office/drawing/2014/main" id="{47758F9D-2E69-8E46-B7E5-4B0F27BD9FEE}"/>
                </a:ext>
              </a:extLst>
            </p:cNvPr>
            <p:cNvSpPr>
              <a:spLocks noChangeAspect="1" noChangeShapeType="1"/>
            </p:cNvSpPr>
            <p:nvPr/>
          </p:nvSpPr>
          <p:spPr bwMode="black">
            <a:xfrm>
              <a:off x="3740" y="2732"/>
              <a:ext cx="18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9" name="Line 33">
              <a:extLst>
                <a:ext uri="{FF2B5EF4-FFF2-40B4-BE49-F238E27FC236}">
                  <a16:creationId xmlns:a16="http://schemas.microsoft.com/office/drawing/2014/main" id="{EAD1426F-CDE4-0FFE-8A3C-C7105288E4D2}"/>
                </a:ext>
              </a:extLst>
            </p:cNvPr>
            <p:cNvSpPr>
              <a:spLocks noChangeAspect="1" noChangeShapeType="1"/>
            </p:cNvSpPr>
            <p:nvPr/>
          </p:nvSpPr>
          <p:spPr bwMode="black">
            <a:xfrm flipV="1">
              <a:off x="4594" y="2589"/>
              <a:ext cx="1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30" name="Text Box 34">
            <a:extLst>
              <a:ext uri="{FF2B5EF4-FFF2-40B4-BE49-F238E27FC236}">
                <a16:creationId xmlns:a16="http://schemas.microsoft.com/office/drawing/2014/main" id="{5395DF53-5712-CFA7-E557-2F08568F0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2050" y="4076700"/>
            <a:ext cx="355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BR">
                <a:latin typeface="Arial" pitchFamily="34" charset="0"/>
              </a:rPr>
              <a:t>+</a:t>
            </a:r>
          </a:p>
        </p:txBody>
      </p:sp>
      <p:sp>
        <p:nvSpPr>
          <p:cNvPr id="31" name="Text Box 35">
            <a:extLst>
              <a:ext uri="{FF2B5EF4-FFF2-40B4-BE49-F238E27FC236}">
                <a16:creationId xmlns:a16="http://schemas.microsoft.com/office/drawing/2014/main" id="{02C60329-3D0B-721A-E1E8-D9285C280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2050" y="2501900"/>
            <a:ext cx="355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BR">
                <a:latin typeface="Arial" pitchFamily="34" charset="0"/>
              </a:rPr>
              <a:t>=</a:t>
            </a:r>
          </a:p>
        </p:txBody>
      </p:sp>
      <p:graphicFrame>
        <p:nvGraphicFramePr>
          <p:cNvPr id="32" name="Object 36">
            <a:extLst>
              <a:ext uri="{FF2B5EF4-FFF2-40B4-BE49-F238E27FC236}">
                <a16:creationId xmlns:a16="http://schemas.microsoft.com/office/drawing/2014/main" id="{79BCE22F-B75F-98CB-686B-3163CAB2CF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3650" y="1184276"/>
          <a:ext cx="2019300" cy="177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57120" imgH="1104840" progId="Equation.3">
                  <p:embed/>
                </p:oleObj>
              </mc:Choice>
              <mc:Fallback>
                <p:oleObj name="Equation" r:id="rId6" imgW="1257120" imgH="1104840" progId="Equation.3">
                  <p:embed/>
                  <p:pic>
                    <p:nvPicPr>
                      <p:cNvPr id="32" name="Object 36">
                        <a:extLst>
                          <a:ext uri="{FF2B5EF4-FFF2-40B4-BE49-F238E27FC236}">
                            <a16:creationId xmlns:a16="http://schemas.microsoft.com/office/drawing/2014/main" id="{79BCE22F-B75F-98CB-686B-3163CAB2CF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3650" y="1184276"/>
                        <a:ext cx="2019300" cy="177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AutoShape 37">
            <a:extLst>
              <a:ext uri="{FF2B5EF4-FFF2-40B4-BE49-F238E27FC236}">
                <a16:creationId xmlns:a16="http://schemas.microsoft.com/office/drawing/2014/main" id="{1E5D8C79-B77D-5C8F-107E-A45BCB709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3450" y="1957388"/>
            <a:ext cx="247650" cy="2667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99"/>
          </a:solidFill>
          <a:ln w="28575">
            <a:solidFill>
              <a:srgbClr val="996633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4" name="AutoShape 38">
            <a:extLst>
              <a:ext uri="{FF2B5EF4-FFF2-40B4-BE49-F238E27FC236}">
                <a16:creationId xmlns:a16="http://schemas.microsoft.com/office/drawing/2014/main" id="{FB04BEED-A7D4-937E-B53D-160B2F9B4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1050" y="1957388"/>
            <a:ext cx="247650" cy="2667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99"/>
          </a:solidFill>
          <a:ln w="28575">
            <a:solidFill>
              <a:srgbClr val="996633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35" name="Object 39">
            <a:extLst>
              <a:ext uri="{FF2B5EF4-FFF2-40B4-BE49-F238E27FC236}">
                <a16:creationId xmlns:a16="http://schemas.microsoft.com/office/drawing/2014/main" id="{C06D260C-000A-A70C-604C-20614631E4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7964" y="3351214"/>
          <a:ext cx="1603375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27000" imgH="380880" progId="Equation.3">
                  <p:embed/>
                </p:oleObj>
              </mc:Choice>
              <mc:Fallback>
                <p:oleObj name="Equation" r:id="rId8" imgW="927000" imgH="380880" progId="Equation.3">
                  <p:embed/>
                  <p:pic>
                    <p:nvPicPr>
                      <p:cNvPr id="35" name="Object 39">
                        <a:extLst>
                          <a:ext uri="{FF2B5EF4-FFF2-40B4-BE49-F238E27FC236}">
                            <a16:creationId xmlns:a16="http://schemas.microsoft.com/office/drawing/2014/main" id="{C06D260C-000A-A70C-604C-20614631E4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3883" r="-3883"/>
                      <a:stretch>
                        <a:fillRect/>
                      </a:stretch>
                    </p:blipFill>
                    <p:spPr bwMode="auto">
                      <a:xfrm>
                        <a:off x="5287964" y="3351214"/>
                        <a:ext cx="1603375" cy="6111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40">
            <a:extLst>
              <a:ext uri="{FF2B5EF4-FFF2-40B4-BE49-F238E27FC236}">
                <a16:creationId xmlns:a16="http://schemas.microsoft.com/office/drawing/2014/main" id="{E930620C-40A4-470F-B988-BC8E62C0E7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75263" y="4687888"/>
          <a:ext cx="1630362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39600" imgH="368280" progId="Equation.3">
                  <p:embed/>
                </p:oleObj>
              </mc:Choice>
              <mc:Fallback>
                <p:oleObj name="Equation" r:id="rId10" imgW="939600" imgH="368280" progId="Equation.3">
                  <p:embed/>
                  <p:pic>
                    <p:nvPicPr>
                      <p:cNvPr id="36" name="Object 40">
                        <a:extLst>
                          <a:ext uri="{FF2B5EF4-FFF2-40B4-BE49-F238E27FC236}">
                            <a16:creationId xmlns:a16="http://schemas.microsoft.com/office/drawing/2014/main" id="{E930620C-40A4-470F-B988-BC8E62C0E7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3883" r="-3883"/>
                      <a:stretch>
                        <a:fillRect/>
                      </a:stretch>
                    </p:blipFill>
                    <p:spPr bwMode="auto">
                      <a:xfrm>
                        <a:off x="5275263" y="4687888"/>
                        <a:ext cx="1630362" cy="590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Group 50">
            <a:extLst>
              <a:ext uri="{FF2B5EF4-FFF2-40B4-BE49-F238E27FC236}">
                <a16:creationId xmlns:a16="http://schemas.microsoft.com/office/drawing/2014/main" id="{1082A77D-2FCA-3C1B-CA1F-DA2DC1C13B09}"/>
              </a:ext>
            </a:extLst>
          </p:cNvPr>
          <p:cNvGrpSpPr>
            <a:grpSpLocks/>
          </p:cNvGrpSpPr>
          <p:nvPr/>
        </p:nvGrpSpPr>
        <p:grpSpPr bwMode="auto">
          <a:xfrm>
            <a:off x="7613650" y="1400175"/>
            <a:ext cx="2928938" cy="1047750"/>
            <a:chOff x="3740" y="882"/>
            <a:chExt cx="1845" cy="660"/>
          </a:xfrm>
        </p:grpSpPr>
        <p:sp>
          <p:nvSpPr>
            <p:cNvPr id="38" name="Freeform 42">
              <a:extLst>
                <a:ext uri="{FF2B5EF4-FFF2-40B4-BE49-F238E27FC236}">
                  <a16:creationId xmlns:a16="http://schemas.microsoft.com/office/drawing/2014/main" id="{4D90E8E9-C086-ADC0-3A59-FB722CC234F4}"/>
                </a:ext>
              </a:extLst>
            </p:cNvPr>
            <p:cNvSpPr>
              <a:spLocks noChangeAspect="1"/>
            </p:cNvSpPr>
            <p:nvPr/>
          </p:nvSpPr>
          <p:spPr bwMode="black">
            <a:xfrm>
              <a:off x="3758" y="944"/>
              <a:ext cx="1809" cy="598"/>
            </a:xfrm>
            <a:custGeom>
              <a:avLst/>
              <a:gdLst/>
              <a:ahLst/>
              <a:cxnLst>
                <a:cxn ang="0">
                  <a:pos x="0" y="493"/>
                </a:cxn>
                <a:cxn ang="0">
                  <a:pos x="27" y="486"/>
                </a:cxn>
                <a:cxn ang="0">
                  <a:pos x="79" y="544"/>
                </a:cxn>
                <a:cxn ang="0">
                  <a:pos x="118" y="442"/>
                </a:cxn>
                <a:cxn ang="0">
                  <a:pos x="201" y="13"/>
                </a:cxn>
                <a:cxn ang="0">
                  <a:pos x="301" y="519"/>
                </a:cxn>
                <a:cxn ang="0">
                  <a:pos x="381" y="487"/>
                </a:cxn>
                <a:cxn ang="0">
                  <a:pos x="468" y="518"/>
                </a:cxn>
                <a:cxn ang="0">
                  <a:pos x="566" y="14"/>
                </a:cxn>
                <a:cxn ang="0">
                  <a:pos x="664" y="518"/>
                </a:cxn>
                <a:cxn ang="0">
                  <a:pos x="748" y="487"/>
                </a:cxn>
                <a:cxn ang="0">
                  <a:pos x="832" y="517"/>
                </a:cxn>
                <a:cxn ang="0">
                  <a:pos x="932" y="11"/>
                </a:cxn>
                <a:cxn ang="0">
                  <a:pos x="1030" y="518"/>
                </a:cxn>
                <a:cxn ang="0">
                  <a:pos x="1114" y="486"/>
                </a:cxn>
                <a:cxn ang="0">
                  <a:pos x="1198" y="517"/>
                </a:cxn>
                <a:cxn ang="0">
                  <a:pos x="1296" y="15"/>
                </a:cxn>
                <a:cxn ang="0">
                  <a:pos x="1396" y="518"/>
                </a:cxn>
                <a:cxn ang="0">
                  <a:pos x="1478" y="487"/>
                </a:cxn>
                <a:cxn ang="0">
                  <a:pos x="1562" y="518"/>
                </a:cxn>
                <a:cxn ang="0">
                  <a:pos x="1662" y="15"/>
                </a:cxn>
                <a:cxn ang="0">
                  <a:pos x="1746" y="447"/>
                </a:cxn>
                <a:cxn ang="0">
                  <a:pos x="1776" y="541"/>
                </a:cxn>
                <a:cxn ang="0">
                  <a:pos x="1809" y="525"/>
                </a:cxn>
              </a:cxnLst>
              <a:rect l="0" t="0" r="r" b="b"/>
              <a:pathLst>
                <a:path w="1809" h="598">
                  <a:moveTo>
                    <a:pt x="0" y="493"/>
                  </a:moveTo>
                  <a:cubicBezTo>
                    <a:pt x="4" y="492"/>
                    <a:pt x="14" y="477"/>
                    <a:pt x="27" y="486"/>
                  </a:cubicBezTo>
                  <a:cubicBezTo>
                    <a:pt x="40" y="495"/>
                    <a:pt x="64" y="551"/>
                    <a:pt x="79" y="544"/>
                  </a:cubicBezTo>
                  <a:cubicBezTo>
                    <a:pt x="94" y="537"/>
                    <a:pt x="98" y="530"/>
                    <a:pt x="118" y="442"/>
                  </a:cubicBezTo>
                  <a:cubicBezTo>
                    <a:pt x="138" y="354"/>
                    <a:pt x="171" y="0"/>
                    <a:pt x="201" y="13"/>
                  </a:cubicBezTo>
                  <a:cubicBezTo>
                    <a:pt x="231" y="26"/>
                    <a:pt x="271" y="440"/>
                    <a:pt x="301" y="519"/>
                  </a:cubicBezTo>
                  <a:cubicBezTo>
                    <a:pt x="331" y="598"/>
                    <a:pt x="354" y="487"/>
                    <a:pt x="381" y="487"/>
                  </a:cubicBezTo>
                  <a:cubicBezTo>
                    <a:pt x="409" y="487"/>
                    <a:pt x="437" y="597"/>
                    <a:pt x="468" y="518"/>
                  </a:cubicBezTo>
                  <a:cubicBezTo>
                    <a:pt x="498" y="439"/>
                    <a:pt x="533" y="14"/>
                    <a:pt x="566" y="14"/>
                  </a:cubicBezTo>
                  <a:cubicBezTo>
                    <a:pt x="599" y="14"/>
                    <a:pt x="634" y="439"/>
                    <a:pt x="664" y="518"/>
                  </a:cubicBezTo>
                  <a:cubicBezTo>
                    <a:pt x="695" y="597"/>
                    <a:pt x="720" y="488"/>
                    <a:pt x="748" y="487"/>
                  </a:cubicBezTo>
                  <a:cubicBezTo>
                    <a:pt x="776" y="487"/>
                    <a:pt x="802" y="596"/>
                    <a:pt x="832" y="517"/>
                  </a:cubicBezTo>
                  <a:cubicBezTo>
                    <a:pt x="862" y="438"/>
                    <a:pt x="899" y="11"/>
                    <a:pt x="932" y="11"/>
                  </a:cubicBezTo>
                  <a:cubicBezTo>
                    <a:pt x="964" y="11"/>
                    <a:pt x="1000" y="439"/>
                    <a:pt x="1030" y="518"/>
                  </a:cubicBezTo>
                  <a:cubicBezTo>
                    <a:pt x="1060" y="597"/>
                    <a:pt x="1086" y="486"/>
                    <a:pt x="1114" y="486"/>
                  </a:cubicBezTo>
                  <a:cubicBezTo>
                    <a:pt x="1142" y="486"/>
                    <a:pt x="1167" y="596"/>
                    <a:pt x="1198" y="517"/>
                  </a:cubicBezTo>
                  <a:cubicBezTo>
                    <a:pt x="1228" y="438"/>
                    <a:pt x="1263" y="15"/>
                    <a:pt x="1296" y="15"/>
                  </a:cubicBezTo>
                  <a:cubicBezTo>
                    <a:pt x="1329" y="15"/>
                    <a:pt x="1365" y="439"/>
                    <a:pt x="1396" y="518"/>
                  </a:cubicBezTo>
                  <a:cubicBezTo>
                    <a:pt x="1426" y="597"/>
                    <a:pt x="1451" y="487"/>
                    <a:pt x="1478" y="487"/>
                  </a:cubicBezTo>
                  <a:cubicBezTo>
                    <a:pt x="1506" y="487"/>
                    <a:pt x="1532" y="597"/>
                    <a:pt x="1562" y="518"/>
                  </a:cubicBezTo>
                  <a:cubicBezTo>
                    <a:pt x="1593" y="439"/>
                    <a:pt x="1631" y="27"/>
                    <a:pt x="1662" y="15"/>
                  </a:cubicBezTo>
                  <a:cubicBezTo>
                    <a:pt x="1693" y="3"/>
                    <a:pt x="1727" y="359"/>
                    <a:pt x="1746" y="447"/>
                  </a:cubicBezTo>
                  <a:cubicBezTo>
                    <a:pt x="1765" y="535"/>
                    <a:pt x="1766" y="528"/>
                    <a:pt x="1776" y="541"/>
                  </a:cubicBezTo>
                  <a:cubicBezTo>
                    <a:pt x="1786" y="554"/>
                    <a:pt x="1802" y="528"/>
                    <a:pt x="1809" y="525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9" name="Line 43">
              <a:extLst>
                <a:ext uri="{FF2B5EF4-FFF2-40B4-BE49-F238E27FC236}">
                  <a16:creationId xmlns:a16="http://schemas.microsoft.com/office/drawing/2014/main" id="{A11812F6-2473-8FD8-434A-0F7B3E429A32}"/>
                </a:ext>
              </a:extLst>
            </p:cNvPr>
            <p:cNvSpPr>
              <a:spLocks noChangeAspect="1" noChangeShapeType="1"/>
            </p:cNvSpPr>
            <p:nvPr/>
          </p:nvSpPr>
          <p:spPr bwMode="black">
            <a:xfrm>
              <a:off x="3740" y="1315"/>
              <a:ext cx="18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0" name="Line 44">
              <a:extLst>
                <a:ext uri="{FF2B5EF4-FFF2-40B4-BE49-F238E27FC236}">
                  <a16:creationId xmlns:a16="http://schemas.microsoft.com/office/drawing/2014/main" id="{BA796B59-F37E-172C-59A6-2DEE92F93CEF}"/>
                </a:ext>
              </a:extLst>
            </p:cNvPr>
            <p:cNvSpPr>
              <a:spLocks noChangeAspect="1" noChangeShapeType="1"/>
            </p:cNvSpPr>
            <p:nvPr/>
          </p:nvSpPr>
          <p:spPr bwMode="black">
            <a:xfrm flipH="1" flipV="1">
              <a:off x="4598" y="882"/>
              <a:ext cx="1" cy="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5B59BBB1-9C00-B800-411F-9B7175DAEA66}"/>
              </a:ext>
            </a:extLst>
          </p:cNvPr>
          <p:cNvSpPr txBox="1"/>
          <p:nvPr/>
        </p:nvSpPr>
        <p:spPr>
          <a:xfrm>
            <a:off x="4760494" y="4018548"/>
            <a:ext cx="2179956" cy="646331"/>
          </a:xfrm>
          <a:prstGeom prst="rect">
            <a:avLst/>
          </a:prstGeom>
          <a:solidFill>
            <a:srgbClr val="063DE8"/>
          </a:solidFill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FF00"/>
                </a:solidFill>
              </a:rPr>
              <a:t>Mesmo atraso para</a:t>
            </a:r>
          </a:p>
          <a:p>
            <a:r>
              <a:rPr lang="pt-BR" dirty="0">
                <a:solidFill>
                  <a:srgbClr val="FFFF00"/>
                </a:solidFill>
              </a:rPr>
              <a:t>todas as </a:t>
            </a:r>
            <a:r>
              <a:rPr lang="pt-BR" dirty="0" err="1">
                <a:solidFill>
                  <a:srgbClr val="FFFF00"/>
                </a:solidFill>
              </a:rPr>
              <a:t>frequências</a:t>
            </a:r>
            <a:r>
              <a:rPr lang="pt-BR" dirty="0">
                <a:solidFill>
                  <a:srgbClr val="FFFF00"/>
                </a:solidFill>
              </a:rPr>
              <a:t>!</a:t>
            </a:r>
          </a:p>
        </p:txBody>
      </p:sp>
      <p:graphicFrame>
        <p:nvGraphicFramePr>
          <p:cNvPr id="42" name="Object 7">
            <a:extLst>
              <a:ext uri="{FF2B5EF4-FFF2-40B4-BE49-F238E27FC236}">
                <a16:creationId xmlns:a16="http://schemas.microsoft.com/office/drawing/2014/main" id="{1A569F01-19AD-CE09-669E-72767DE3DD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11775" y="5599114"/>
          <a:ext cx="126365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2" imgW="787320" imgH="419040" progId="Equation.3">
                  <p:embed/>
                </p:oleObj>
              </mc:Choice>
              <mc:Fallback>
                <p:oleObj name="Equação" r:id="rId12" imgW="787320" imgH="419040" progId="Equation.3">
                  <p:embed/>
                  <p:pic>
                    <p:nvPicPr>
                      <p:cNvPr id="42" name="Object 7">
                        <a:extLst>
                          <a:ext uri="{FF2B5EF4-FFF2-40B4-BE49-F238E27FC236}">
                            <a16:creationId xmlns:a16="http://schemas.microsoft.com/office/drawing/2014/main" id="{1A569F01-19AD-CE09-669E-72767DE3DD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1775" y="5599114"/>
                        <a:ext cx="1263650" cy="669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7692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30" grpId="0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34716D-55C0-ACA4-A217-5009FF789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Filtros Ideais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89E4AB0-6F4D-D239-772B-52DEBCB3A4D2}"/>
              </a:ext>
            </a:extLst>
          </p:cNvPr>
          <p:cNvSpPr txBox="1">
            <a:spLocks noChangeArrowheads="1"/>
          </p:cNvSpPr>
          <p:nvPr/>
        </p:nvSpPr>
        <p:spPr>
          <a:xfrm>
            <a:off x="831291" y="1039413"/>
            <a:ext cx="10515600" cy="53403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Deixa </a:t>
            </a:r>
            <a:r>
              <a:rPr lang="en-US" dirty="0" err="1"/>
              <a:t>passar</a:t>
            </a:r>
            <a:r>
              <a:rPr lang="en-US" dirty="0"/>
              <a:t> </a:t>
            </a:r>
            <a:r>
              <a:rPr lang="en-US" dirty="0" err="1"/>
              <a:t>sinal</a:t>
            </a:r>
            <a:r>
              <a:rPr lang="en-US" dirty="0"/>
              <a:t> </a:t>
            </a:r>
            <a:r>
              <a:rPr lang="en-US" dirty="0" err="1"/>
              <a:t>desejado</a:t>
            </a:r>
            <a:r>
              <a:rPr lang="en-US" dirty="0"/>
              <a:t> </a:t>
            </a:r>
            <a:r>
              <a:rPr lang="en-US" i="1" dirty="0">
                <a:latin typeface="Times New Roman" pitchFamily="18" charset="0"/>
              </a:rPr>
              <a:t>g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i="1" dirty="0">
                <a:latin typeface="Times New Roman" pitchFamily="18" charset="0"/>
              </a:rPr>
              <a:t>t</a:t>
            </a:r>
            <a:r>
              <a:rPr lang="en-US" dirty="0">
                <a:latin typeface="Times New Roman" pitchFamily="18" charset="0"/>
              </a:rPr>
              <a:t>)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certa</a:t>
            </a:r>
            <a:r>
              <a:rPr lang="en-US" dirty="0"/>
              <a:t> </a:t>
            </a:r>
            <a:r>
              <a:rPr lang="en-US" dirty="0" err="1"/>
              <a:t>faixa</a:t>
            </a:r>
            <a:r>
              <a:rPr lang="en-US" dirty="0"/>
              <a:t> de </a:t>
            </a:r>
            <a:r>
              <a:rPr lang="en-US" dirty="0" err="1"/>
              <a:t>frequências</a:t>
            </a:r>
            <a:endParaRPr lang="en-US" dirty="0"/>
          </a:p>
          <a:p>
            <a:pPr lvl="1"/>
            <a:r>
              <a:rPr lang="en-US" dirty="0"/>
              <a:t>Sem </a:t>
            </a:r>
            <a:r>
              <a:rPr lang="en-US" dirty="0" err="1"/>
              <a:t>distorção</a:t>
            </a:r>
            <a:endParaRPr lang="en-US" dirty="0"/>
          </a:p>
          <a:p>
            <a:r>
              <a:rPr lang="en-US" dirty="0" err="1"/>
              <a:t>Suprime</a:t>
            </a:r>
            <a:r>
              <a:rPr lang="en-US" dirty="0"/>
              <a:t> </a:t>
            </a:r>
            <a:r>
              <a:rPr lang="en-US" dirty="0" err="1"/>
              <a:t>todos</a:t>
            </a:r>
            <a:r>
              <a:rPr lang="en-US" dirty="0"/>
              <a:t> outros </a:t>
            </a:r>
            <a:r>
              <a:rPr lang="en-US" dirty="0" err="1"/>
              <a:t>componentes</a:t>
            </a:r>
            <a:r>
              <a:rPr lang="en-US" dirty="0"/>
              <a:t> de </a:t>
            </a:r>
            <a:r>
              <a:rPr lang="en-US" dirty="0" err="1"/>
              <a:t>sinal</a:t>
            </a:r>
            <a:endParaRPr lang="en-US" dirty="0"/>
          </a:p>
          <a:p>
            <a:r>
              <a:rPr lang="en-US" dirty="0"/>
              <a:t>Ex. </a:t>
            </a:r>
            <a:r>
              <a:rPr lang="en-US" dirty="0" err="1"/>
              <a:t>Filtro</a:t>
            </a:r>
            <a:r>
              <a:rPr lang="en-US" dirty="0"/>
              <a:t> </a:t>
            </a:r>
            <a:r>
              <a:rPr lang="en-US" dirty="0" err="1"/>
              <a:t>passa-baixa</a:t>
            </a:r>
            <a:r>
              <a:rPr lang="en-US" dirty="0"/>
              <a:t> ideal:</a:t>
            </a:r>
          </a:p>
          <a:p>
            <a:pPr lvl="1"/>
            <a:r>
              <a:rPr lang="en-US" dirty="0"/>
              <a:t>Se </a:t>
            </a:r>
            <a:r>
              <a:rPr lang="en-US" i="1" dirty="0">
                <a:latin typeface="Times New Roman" pitchFamily="18" charset="0"/>
              </a:rPr>
              <a:t>g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i="1" dirty="0">
                <a:latin typeface="Times New Roman" pitchFamily="18" charset="0"/>
              </a:rPr>
              <a:t>t</a:t>
            </a:r>
            <a:r>
              <a:rPr lang="en-US" dirty="0">
                <a:latin typeface="Times New Roman" pitchFamily="18" charset="0"/>
              </a:rPr>
              <a:t>)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</a:t>
            </a:r>
            <a:r>
              <a:rPr lang="en-US" dirty="0" err="1"/>
              <a:t>banda</a:t>
            </a:r>
            <a:r>
              <a:rPr lang="en-US" dirty="0"/>
              <a:t> &lt; </a:t>
            </a:r>
            <a:r>
              <a:rPr lang="en-US" i="1" dirty="0">
                <a:latin typeface="Times New Roman" pitchFamily="18" charset="0"/>
              </a:rPr>
              <a:t>B, </a:t>
            </a:r>
            <a:r>
              <a:rPr lang="en-US" dirty="0" err="1"/>
              <a:t>resposta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filtro</a:t>
            </a:r>
            <a:r>
              <a:rPr lang="en-US" dirty="0"/>
              <a:t> é</a:t>
            </a: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DC9A8613-60B5-363C-11EB-37B9DCA8FB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2368525"/>
              </p:ext>
            </p:extLst>
          </p:nvPr>
        </p:nvGraphicFramePr>
        <p:xfrm>
          <a:off x="2223963" y="3480101"/>
          <a:ext cx="3276600" cy="187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612800" imgH="927000" progId="Equation.3">
                  <p:embed/>
                </p:oleObj>
              </mc:Choice>
              <mc:Fallback>
                <p:oleObj name="Equação" r:id="rId2" imgW="1612800" imgH="927000" progId="Equation.3">
                  <p:embed/>
                  <p:pic>
                    <p:nvPicPr>
                      <p:cNvPr id="4" name="Object 5">
                        <a:extLst>
                          <a:ext uri="{FF2B5EF4-FFF2-40B4-BE49-F238E27FC236}">
                            <a16:creationId xmlns:a16="http://schemas.microsoft.com/office/drawing/2014/main" id="{DC9A8613-60B5-363C-11EB-37B9DCA8FB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3963" y="3480101"/>
                        <a:ext cx="3276600" cy="1874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Line 6">
            <a:extLst>
              <a:ext uri="{FF2B5EF4-FFF2-40B4-BE49-F238E27FC236}">
                <a16:creationId xmlns:a16="http://schemas.microsoft.com/office/drawing/2014/main" id="{1B37181E-C522-D824-2A06-D20A4E1AC66C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6011" y="3601411"/>
            <a:ext cx="1579563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1305776-BC32-7EF9-283D-978BE94B54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17535" y="2861637"/>
            <a:ext cx="0" cy="1087437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AAA5A8B6-949E-E1C0-D9C8-416DB3E7E3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36523" y="3258511"/>
            <a:ext cx="0" cy="341312"/>
          </a:xfrm>
          <a:prstGeom prst="line">
            <a:avLst/>
          </a:prstGeom>
          <a:noFill/>
          <a:ln w="19050">
            <a:solidFill>
              <a:srgbClr val="063DE8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8" name="Line 10">
            <a:extLst>
              <a:ext uri="{FF2B5EF4-FFF2-40B4-BE49-F238E27FC236}">
                <a16:creationId xmlns:a16="http://schemas.microsoft.com/office/drawing/2014/main" id="{DCBF6C74-1A68-4C91-7575-675CCC21C5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98548" y="3260099"/>
            <a:ext cx="0" cy="341313"/>
          </a:xfrm>
          <a:prstGeom prst="line">
            <a:avLst/>
          </a:prstGeom>
          <a:noFill/>
          <a:ln w="19050">
            <a:solidFill>
              <a:srgbClr val="063DE8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6CAC70F2-98E1-E53C-E745-8E59976EC210}"/>
              </a:ext>
            </a:extLst>
          </p:cNvPr>
          <p:cNvSpPr>
            <a:spLocks noChangeShapeType="1"/>
          </p:cNvSpPr>
          <p:nvPr/>
        </p:nvSpPr>
        <p:spPr bwMode="auto">
          <a:xfrm>
            <a:off x="7836524" y="3268036"/>
            <a:ext cx="955675" cy="0"/>
          </a:xfrm>
          <a:prstGeom prst="line">
            <a:avLst/>
          </a:prstGeom>
          <a:noFill/>
          <a:ln w="19050">
            <a:solidFill>
              <a:srgbClr val="063DE8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10" name="Text Box 13">
            <a:extLst>
              <a:ext uri="{FF2B5EF4-FFF2-40B4-BE49-F238E27FC236}">
                <a16:creationId xmlns:a16="http://schemas.microsoft.com/office/drawing/2014/main" id="{3EFE5970-B08C-99ED-A7C4-D0B681ABB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2585" y="2861636"/>
            <a:ext cx="1930400" cy="36671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/>
            <a:r>
              <a:rPr lang="en-US" b="1" dirty="0">
                <a:solidFill>
                  <a:srgbClr val="063DE8"/>
                </a:solidFill>
                <a:latin typeface="Symbol" pitchFamily="18" charset="2"/>
              </a:rPr>
              <a:t>|</a:t>
            </a:r>
            <a:r>
              <a:rPr lang="en-US" i="1" dirty="0">
                <a:solidFill>
                  <a:srgbClr val="063DE8"/>
                </a:solidFill>
                <a:latin typeface="Times New Roman" pitchFamily="18" charset="0"/>
              </a:rPr>
              <a:t>H</a:t>
            </a:r>
            <a:r>
              <a:rPr lang="en-US" dirty="0">
                <a:solidFill>
                  <a:srgbClr val="063DE8"/>
                </a:solidFill>
                <a:latin typeface="Times New Roman" pitchFamily="18" charset="0"/>
              </a:rPr>
              <a:t>( </a:t>
            </a:r>
            <a:r>
              <a:rPr lang="en-US" i="1" dirty="0">
                <a:solidFill>
                  <a:srgbClr val="063DE8"/>
                </a:solidFill>
                <a:latin typeface="Times New Roman" pitchFamily="18" charset="0"/>
              </a:rPr>
              <a:t>f </a:t>
            </a:r>
            <a:r>
              <a:rPr lang="en-US" dirty="0">
                <a:solidFill>
                  <a:srgbClr val="063DE8"/>
                </a:solidFill>
                <a:latin typeface="Times New Roman" pitchFamily="18" charset="0"/>
              </a:rPr>
              <a:t>)</a:t>
            </a:r>
            <a:r>
              <a:rPr lang="en-US" b="1" dirty="0">
                <a:solidFill>
                  <a:srgbClr val="063DE8"/>
                </a:solidFill>
                <a:latin typeface="Times New Roman" pitchFamily="18" charset="0"/>
              </a:rPr>
              <a:t>|</a:t>
            </a:r>
            <a:endParaRPr lang="en-US" b="1" dirty="0">
              <a:solidFill>
                <a:srgbClr val="063DE8"/>
              </a:solidFill>
              <a:latin typeface="Symbol" pitchFamily="18" charset="2"/>
            </a:endParaRPr>
          </a:p>
        </p:txBody>
      </p:sp>
      <p:sp>
        <p:nvSpPr>
          <p:cNvPr id="11" name="Line 14">
            <a:extLst>
              <a:ext uri="{FF2B5EF4-FFF2-40B4-BE49-F238E27FC236}">
                <a16:creationId xmlns:a16="http://schemas.microsoft.com/office/drawing/2014/main" id="{E1131863-BE3F-63CF-0368-CF613703F151}"/>
              </a:ext>
            </a:extLst>
          </p:cNvPr>
          <p:cNvSpPr>
            <a:spLocks noChangeShapeType="1"/>
          </p:cNvSpPr>
          <p:nvPr/>
        </p:nvSpPr>
        <p:spPr bwMode="auto">
          <a:xfrm>
            <a:off x="7811124" y="3044198"/>
            <a:ext cx="955675" cy="1030288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12" name="Text Box 15">
            <a:extLst>
              <a:ext uri="{FF2B5EF4-FFF2-40B4-BE49-F238E27FC236}">
                <a16:creationId xmlns:a16="http://schemas.microsoft.com/office/drawing/2014/main" id="{AD88C29A-FB8A-238A-A67D-19245723B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7897" y="3899603"/>
            <a:ext cx="2141537" cy="73866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/>
            <a:r>
              <a:rPr lang="en-US" sz="2400" dirty="0">
                <a:solidFill>
                  <a:schemeClr val="hlink"/>
                </a:solidFill>
                <a:latin typeface="Symbol" pitchFamily="18" charset="2"/>
              </a:rPr>
              <a:t>Ð</a:t>
            </a:r>
            <a:r>
              <a:rPr lang="en-US" i="1" dirty="0">
                <a:solidFill>
                  <a:schemeClr val="hlink"/>
                </a:solidFill>
                <a:latin typeface="Times New Roman" pitchFamily="18" charset="0"/>
              </a:rPr>
              <a:t>H</a:t>
            </a:r>
            <a:r>
              <a:rPr lang="en-US" dirty="0">
                <a:solidFill>
                  <a:schemeClr val="hlink"/>
                </a:solidFill>
                <a:latin typeface="Times New Roman" pitchFamily="18" charset="0"/>
              </a:rPr>
              <a:t>( </a:t>
            </a:r>
            <a:r>
              <a:rPr lang="en-US" i="1" dirty="0">
                <a:solidFill>
                  <a:schemeClr val="hlink"/>
                </a:solidFill>
                <a:latin typeface="Times New Roman" pitchFamily="18" charset="0"/>
              </a:rPr>
              <a:t>f </a:t>
            </a:r>
            <a:r>
              <a:rPr lang="en-US" dirty="0">
                <a:solidFill>
                  <a:schemeClr val="hlink"/>
                </a:solidFill>
                <a:latin typeface="Times New Roman" pitchFamily="18" charset="0"/>
              </a:rPr>
              <a:t>) = -2</a:t>
            </a:r>
            <a:r>
              <a:rPr lang="en-US" dirty="0">
                <a:solidFill>
                  <a:schemeClr val="hlink"/>
                </a:solidFill>
                <a:latin typeface="Symbol" pitchFamily="18" charset="2"/>
              </a:rPr>
              <a:t>p</a:t>
            </a:r>
            <a:r>
              <a:rPr lang="en-US" i="1" dirty="0">
                <a:solidFill>
                  <a:schemeClr val="hlink"/>
                </a:solidFill>
                <a:latin typeface="Times New Roman" pitchFamily="18" charset="0"/>
              </a:rPr>
              <a:t>fT</a:t>
            </a:r>
            <a:r>
              <a:rPr lang="en-US" baseline="-25000" dirty="0">
                <a:solidFill>
                  <a:schemeClr val="hlink"/>
                </a:solidFill>
                <a:latin typeface="Times New Roman" pitchFamily="18" charset="0"/>
              </a:rPr>
              <a:t>0</a:t>
            </a:r>
            <a:endParaRPr lang="en-US" dirty="0">
              <a:solidFill>
                <a:schemeClr val="hlink"/>
              </a:solidFill>
              <a:latin typeface="MS Shell Dlg" charset="0"/>
            </a:endParaRPr>
          </a:p>
          <a:p>
            <a:pPr defTabSz="762000"/>
            <a:endParaRPr lang="en-US" dirty="0">
              <a:solidFill>
                <a:schemeClr val="hlink"/>
              </a:solidFill>
              <a:latin typeface="Symbol" pitchFamily="18" charset="2"/>
            </a:endParaRPr>
          </a:p>
        </p:txBody>
      </p:sp>
      <p:sp>
        <p:nvSpPr>
          <p:cNvPr id="13" name="Text Box 16">
            <a:extLst>
              <a:ext uri="{FF2B5EF4-FFF2-40B4-BE49-F238E27FC236}">
                <a16:creationId xmlns:a16="http://schemas.microsoft.com/office/drawing/2014/main" id="{90131147-9E65-A4D3-0FB6-B2DA8825F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3974" y="3517274"/>
            <a:ext cx="307975" cy="30777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/>
            <a:r>
              <a:rPr lang="en-US" sz="1400" i="1">
                <a:latin typeface="Times New Roman" pitchFamily="18" charset="0"/>
              </a:rPr>
              <a:t>f</a:t>
            </a:r>
          </a:p>
        </p:txBody>
      </p:sp>
      <p:graphicFrame>
        <p:nvGraphicFramePr>
          <p:cNvPr id="14" name="Object 17">
            <a:extLst>
              <a:ext uri="{FF2B5EF4-FFF2-40B4-BE49-F238E27FC236}">
                <a16:creationId xmlns:a16="http://schemas.microsoft.com/office/drawing/2014/main" id="{32C21B8B-7CF3-7F30-7AA9-5EB475F269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7210529"/>
              </p:ext>
            </p:extLst>
          </p:nvPr>
        </p:nvGraphicFramePr>
        <p:xfrm>
          <a:off x="6714003" y="4363160"/>
          <a:ext cx="3729038" cy="198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6431760" imgH="4026960" progId="Excel.Sheet.8">
                  <p:embed/>
                </p:oleObj>
              </mc:Choice>
              <mc:Fallback>
                <p:oleObj name="Chart" r:id="rId4" imgW="6431760" imgH="4026960" progId="Excel.Sheet.8">
                  <p:embed/>
                  <p:pic>
                    <p:nvPicPr>
                      <p:cNvPr id="14" name="Object 17">
                        <a:extLst>
                          <a:ext uri="{FF2B5EF4-FFF2-40B4-BE49-F238E27FC236}">
                            <a16:creationId xmlns:a16="http://schemas.microsoft.com/office/drawing/2014/main" id="{32C21B8B-7CF3-7F30-7AA9-5EB475F269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4003" y="4363160"/>
                        <a:ext cx="3729038" cy="198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8">
            <a:extLst>
              <a:ext uri="{FF2B5EF4-FFF2-40B4-BE49-F238E27FC236}">
                <a16:creationId xmlns:a16="http://schemas.microsoft.com/office/drawing/2014/main" id="{6CD7BB5B-531D-790B-8B0A-94BB51DD8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7778" y="5985585"/>
            <a:ext cx="307975" cy="30777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/>
            <a:r>
              <a:rPr lang="en-US" sz="1400" i="1">
                <a:latin typeface="Times New Roman" pitchFamily="18" charset="0"/>
              </a:rPr>
              <a:t>t</a:t>
            </a:r>
          </a:p>
        </p:txBody>
      </p:sp>
      <p:sp>
        <p:nvSpPr>
          <p:cNvPr id="16" name="Text Box 19">
            <a:extLst>
              <a:ext uri="{FF2B5EF4-FFF2-40B4-BE49-F238E27FC236}">
                <a16:creationId xmlns:a16="http://schemas.microsoft.com/office/drawing/2014/main" id="{352525E3-1F1B-47FF-25C5-306321CFD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1135" y="4875497"/>
            <a:ext cx="1930400" cy="36933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/>
            <a:r>
              <a:rPr lang="en-US" i="1">
                <a:solidFill>
                  <a:srgbClr val="063DE8"/>
                </a:solidFill>
                <a:latin typeface="Times New Roman" pitchFamily="18" charset="0"/>
              </a:rPr>
              <a:t>h</a:t>
            </a:r>
            <a:r>
              <a:rPr lang="en-US">
                <a:solidFill>
                  <a:srgbClr val="063DE8"/>
                </a:solidFill>
                <a:latin typeface="Times New Roman" pitchFamily="18" charset="0"/>
              </a:rPr>
              <a:t>(</a:t>
            </a:r>
            <a:r>
              <a:rPr lang="en-US" i="1">
                <a:solidFill>
                  <a:srgbClr val="063DE8"/>
                </a:solidFill>
                <a:latin typeface="Times New Roman" pitchFamily="18" charset="0"/>
              </a:rPr>
              <a:t>t</a:t>
            </a:r>
            <a:r>
              <a:rPr lang="en-US">
                <a:solidFill>
                  <a:srgbClr val="063DE8"/>
                </a:solidFill>
                <a:latin typeface="Times New Roman" pitchFamily="18" charset="0"/>
              </a:rPr>
              <a:t>)</a:t>
            </a:r>
            <a:endParaRPr lang="en-US" b="1">
              <a:solidFill>
                <a:srgbClr val="063DE8"/>
              </a:solidFill>
              <a:latin typeface="Symbol" pitchFamily="18" charset="2"/>
            </a:endParaRPr>
          </a:p>
        </p:txBody>
      </p:sp>
      <p:sp>
        <p:nvSpPr>
          <p:cNvPr id="17" name="Text Box 21">
            <a:extLst>
              <a:ext uri="{FF2B5EF4-FFF2-40B4-BE49-F238E27FC236}">
                <a16:creationId xmlns:a16="http://schemas.microsoft.com/office/drawing/2014/main" id="{7B6A4E2E-5552-DDE7-DDD2-27C56256D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6852" y="5904623"/>
            <a:ext cx="343364" cy="30777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i="1">
                <a:latin typeface="Times New Roman" pitchFamily="18" charset="0"/>
              </a:rPr>
              <a:t>T</a:t>
            </a:r>
            <a:r>
              <a:rPr lang="en-US" sz="1400" baseline="-25000">
                <a:latin typeface="Times New Roman" pitchFamily="18" charset="0"/>
              </a:rPr>
              <a:t>0</a:t>
            </a:r>
            <a:endParaRPr lang="en-US" sz="1400" i="1">
              <a:latin typeface="Times New Roman" pitchFamily="18" charset="0"/>
            </a:endParaRPr>
          </a:p>
        </p:txBody>
      </p:sp>
      <p:sp>
        <p:nvSpPr>
          <p:cNvPr id="18" name="Text Box 22">
            <a:extLst>
              <a:ext uri="{FF2B5EF4-FFF2-40B4-BE49-F238E27FC236}">
                <a16:creationId xmlns:a16="http://schemas.microsoft.com/office/drawing/2014/main" id="{89D3DCBE-EAE6-7404-C3B8-73399F84E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67" y="5462365"/>
            <a:ext cx="2666949" cy="52322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dirty="0" err="1">
                <a:latin typeface="Nokia Sans Wide" pitchFamily="34" charset="0"/>
              </a:rPr>
              <a:t>Resposta</a:t>
            </a:r>
            <a:r>
              <a:rPr lang="en-US" sz="1400" dirty="0">
                <a:latin typeface="Nokia Sans Wide" pitchFamily="34" charset="0"/>
              </a:rPr>
              <a:t> </a:t>
            </a:r>
            <a:r>
              <a:rPr lang="en-US" sz="1400" dirty="0" err="1">
                <a:latin typeface="Nokia Sans Wide" pitchFamily="34" charset="0"/>
              </a:rPr>
              <a:t>impulsional</a:t>
            </a:r>
            <a:r>
              <a:rPr lang="en-US" sz="1400" dirty="0">
                <a:latin typeface="Nokia Sans Wide" pitchFamily="34" charset="0"/>
              </a:rPr>
              <a:t> é </a:t>
            </a:r>
            <a:r>
              <a:rPr lang="en-US" sz="1400" dirty="0" err="1">
                <a:latin typeface="Nokia Sans Wide" pitchFamily="34" charset="0"/>
              </a:rPr>
              <a:t>não</a:t>
            </a:r>
            <a:r>
              <a:rPr lang="en-US" sz="1400" dirty="0">
                <a:latin typeface="Nokia Sans Wide" pitchFamily="34" charset="0"/>
              </a:rPr>
              <a:t> causal</a:t>
            </a:r>
          </a:p>
          <a:p>
            <a:pPr defTabSz="762000"/>
            <a:r>
              <a:rPr lang="en-US" sz="1400" dirty="0" err="1">
                <a:latin typeface="Nokia Sans Wide" pitchFamily="34" charset="0"/>
              </a:rPr>
              <a:t>Filtro</a:t>
            </a:r>
            <a:r>
              <a:rPr lang="en-US" sz="1400" dirty="0">
                <a:latin typeface="Nokia Sans Wide" pitchFamily="34" charset="0"/>
              </a:rPr>
              <a:t> </a:t>
            </a:r>
            <a:r>
              <a:rPr lang="en-US" sz="1400" dirty="0" err="1">
                <a:latin typeface="Nokia Sans Wide" pitchFamily="34" charset="0"/>
              </a:rPr>
              <a:t>não</a:t>
            </a:r>
            <a:r>
              <a:rPr lang="en-US" sz="1400" dirty="0">
                <a:latin typeface="Nokia Sans Wide" pitchFamily="34" charset="0"/>
              </a:rPr>
              <a:t> é </a:t>
            </a:r>
            <a:r>
              <a:rPr lang="en-US" sz="1400" dirty="0" err="1">
                <a:latin typeface="Nokia Sans Wide" pitchFamily="34" charset="0"/>
              </a:rPr>
              <a:t>realizável</a:t>
            </a:r>
            <a:r>
              <a:rPr lang="en-US" sz="1400" dirty="0">
                <a:latin typeface="Nokia Sans Wide" pitchFamily="34" charset="0"/>
              </a:rPr>
              <a:t> </a:t>
            </a:r>
            <a:r>
              <a:rPr lang="en-US" sz="1400" dirty="0" err="1">
                <a:latin typeface="Nokia Sans Wide" pitchFamily="34" charset="0"/>
              </a:rPr>
              <a:t>na</a:t>
            </a:r>
            <a:r>
              <a:rPr lang="en-US" sz="1400" dirty="0">
                <a:latin typeface="Nokia Sans Wide" pitchFamily="34" charset="0"/>
              </a:rPr>
              <a:t> </a:t>
            </a:r>
            <a:r>
              <a:rPr lang="en-US" sz="1400" dirty="0" err="1">
                <a:latin typeface="Nokia Sans Wide" pitchFamily="34" charset="0"/>
              </a:rPr>
              <a:t>prática</a:t>
            </a:r>
            <a:endParaRPr lang="en-US" sz="1400" dirty="0">
              <a:latin typeface="Nokia Sans Wide" pitchFamily="34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50B46D6-DC4F-5C8B-03BD-14E895BB3FFF}"/>
              </a:ext>
            </a:extLst>
          </p:cNvPr>
          <p:cNvSpPr txBox="1"/>
          <p:nvPr/>
        </p:nvSpPr>
        <p:spPr>
          <a:xfrm>
            <a:off x="8673623" y="364442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i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69D4FC6-38EB-CF7D-5303-5EB89040E558}"/>
              </a:ext>
            </a:extLst>
          </p:cNvPr>
          <p:cNvSpPr txBox="1"/>
          <p:nvPr/>
        </p:nvSpPr>
        <p:spPr>
          <a:xfrm>
            <a:off x="7695054" y="3616350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i="1" dirty="0">
                <a:latin typeface="Times New Roman" pitchFamily="18" charset="0"/>
                <a:cs typeface="Times New Roman" pitchFamily="18" charset="0"/>
              </a:rPr>
              <a:t>-B</a:t>
            </a:r>
          </a:p>
        </p:txBody>
      </p:sp>
    </p:spTree>
    <p:extLst>
      <p:ext uri="{BB962C8B-B14F-4D97-AF65-F5344CB8AC3E}">
        <p14:creationId xmlns:p14="http://schemas.microsoft.com/office/powerpoint/2010/main" val="181926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987DC0-5267-C454-2A1E-EDE607844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Filtros Ideais</a:t>
            </a:r>
          </a:p>
        </p:txBody>
      </p:sp>
      <p:sp>
        <p:nvSpPr>
          <p:cNvPr id="3" name="Line 6">
            <a:extLst>
              <a:ext uri="{FF2B5EF4-FFF2-40B4-BE49-F238E27FC236}">
                <a16:creationId xmlns:a16="http://schemas.microsoft.com/office/drawing/2014/main" id="{4CD96DD8-9059-33BD-EC4E-77D858DCE5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5526" y="1949116"/>
            <a:ext cx="2851486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endParaRPr lang="pt-BR"/>
          </a:p>
        </p:txBody>
      </p:sp>
      <p:sp>
        <p:nvSpPr>
          <p:cNvPr id="4" name="Line 7">
            <a:extLst>
              <a:ext uri="{FF2B5EF4-FFF2-40B4-BE49-F238E27FC236}">
                <a16:creationId xmlns:a16="http://schemas.microsoft.com/office/drawing/2014/main" id="{F52B1AC9-ACB2-5E35-082D-CDCAE649CD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28068" y="1214446"/>
            <a:ext cx="0" cy="1087437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5" name="Line 9">
            <a:extLst>
              <a:ext uri="{FF2B5EF4-FFF2-40B4-BE49-F238E27FC236}">
                <a16:creationId xmlns:a16="http://schemas.microsoft.com/office/drawing/2014/main" id="{2FAAFDA2-1D20-EEC7-73A6-0E69C091D7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47056" y="1611320"/>
            <a:ext cx="0" cy="341312"/>
          </a:xfrm>
          <a:prstGeom prst="line">
            <a:avLst/>
          </a:prstGeom>
          <a:noFill/>
          <a:ln w="19050">
            <a:solidFill>
              <a:srgbClr val="063DE8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9B297C0F-B3C2-9D19-481D-1A13CFD8D3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09081" y="1612908"/>
            <a:ext cx="0" cy="341313"/>
          </a:xfrm>
          <a:prstGeom prst="line">
            <a:avLst/>
          </a:prstGeom>
          <a:noFill/>
          <a:ln w="19050">
            <a:solidFill>
              <a:srgbClr val="063DE8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7" name="Line 11">
            <a:extLst>
              <a:ext uri="{FF2B5EF4-FFF2-40B4-BE49-F238E27FC236}">
                <a16:creationId xmlns:a16="http://schemas.microsoft.com/office/drawing/2014/main" id="{06F0B1C4-7AF7-0F85-F300-08D3A708D227}"/>
              </a:ext>
            </a:extLst>
          </p:cNvPr>
          <p:cNvSpPr>
            <a:spLocks noChangeShapeType="1"/>
          </p:cNvSpPr>
          <p:nvPr/>
        </p:nvSpPr>
        <p:spPr bwMode="auto">
          <a:xfrm>
            <a:off x="7797585" y="1620845"/>
            <a:ext cx="955675" cy="0"/>
          </a:xfrm>
          <a:prstGeom prst="line">
            <a:avLst/>
          </a:prstGeom>
          <a:noFill/>
          <a:ln w="19050">
            <a:solidFill>
              <a:srgbClr val="063DE8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8" name="Text Box 13">
            <a:extLst>
              <a:ext uri="{FF2B5EF4-FFF2-40B4-BE49-F238E27FC236}">
                <a16:creationId xmlns:a16="http://schemas.microsoft.com/office/drawing/2014/main" id="{92A3381F-FF98-850B-47BA-6E45218180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3118" y="1214445"/>
            <a:ext cx="1930400" cy="36671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/>
            <a:r>
              <a:rPr lang="en-US" b="1">
                <a:solidFill>
                  <a:srgbClr val="063DE8"/>
                </a:solidFill>
                <a:latin typeface="Symbol" pitchFamily="18" charset="2"/>
              </a:rPr>
              <a:t>|</a:t>
            </a:r>
            <a:r>
              <a:rPr lang="en-US" i="1">
                <a:solidFill>
                  <a:srgbClr val="063DE8"/>
                </a:solidFill>
                <a:latin typeface="Times New Roman" pitchFamily="18" charset="0"/>
              </a:rPr>
              <a:t>H</a:t>
            </a:r>
            <a:r>
              <a:rPr lang="en-US">
                <a:solidFill>
                  <a:srgbClr val="063DE8"/>
                </a:solidFill>
                <a:latin typeface="Times New Roman" pitchFamily="18" charset="0"/>
              </a:rPr>
              <a:t>( </a:t>
            </a:r>
            <a:r>
              <a:rPr lang="en-US" i="1">
                <a:solidFill>
                  <a:srgbClr val="063DE8"/>
                </a:solidFill>
                <a:latin typeface="Times New Roman" pitchFamily="18" charset="0"/>
              </a:rPr>
              <a:t>f </a:t>
            </a:r>
            <a:r>
              <a:rPr lang="en-US">
                <a:solidFill>
                  <a:srgbClr val="063DE8"/>
                </a:solidFill>
                <a:latin typeface="Times New Roman" pitchFamily="18" charset="0"/>
              </a:rPr>
              <a:t>)</a:t>
            </a:r>
            <a:r>
              <a:rPr lang="en-US" b="1">
                <a:solidFill>
                  <a:srgbClr val="063DE8"/>
                </a:solidFill>
                <a:latin typeface="Times New Roman" pitchFamily="18" charset="0"/>
              </a:rPr>
              <a:t>|</a:t>
            </a:r>
            <a:endParaRPr lang="en-US" b="1">
              <a:solidFill>
                <a:srgbClr val="063DE8"/>
              </a:solidFill>
              <a:latin typeface="Symbol" pitchFamily="18" charset="2"/>
            </a:endParaRPr>
          </a:p>
        </p:txBody>
      </p:sp>
      <p:sp>
        <p:nvSpPr>
          <p:cNvPr id="9" name="Line 14">
            <a:extLst>
              <a:ext uri="{FF2B5EF4-FFF2-40B4-BE49-F238E27FC236}">
                <a16:creationId xmlns:a16="http://schemas.microsoft.com/office/drawing/2014/main" id="{83B978CC-B619-9EB3-ED86-27E1EFC40E4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2254" y="1359568"/>
            <a:ext cx="2165683" cy="1106906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endParaRPr lang="pt-BR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B5EA077D-08B1-933F-458D-8E048DA0D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187" y="2011733"/>
            <a:ext cx="2141537" cy="73866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/>
            <a:r>
              <a:rPr lang="en-US" sz="2400" dirty="0">
                <a:solidFill>
                  <a:schemeClr val="hlink"/>
                </a:solidFill>
                <a:latin typeface="Symbol" pitchFamily="18" charset="2"/>
              </a:rPr>
              <a:t>Ð</a:t>
            </a:r>
            <a:r>
              <a:rPr lang="en-US" i="1" dirty="0">
                <a:solidFill>
                  <a:schemeClr val="hlink"/>
                </a:solidFill>
                <a:latin typeface="Times New Roman" pitchFamily="18" charset="0"/>
              </a:rPr>
              <a:t>H</a:t>
            </a:r>
            <a:r>
              <a:rPr lang="en-US" dirty="0">
                <a:solidFill>
                  <a:schemeClr val="hlink"/>
                </a:solidFill>
                <a:latin typeface="Times New Roman" pitchFamily="18" charset="0"/>
              </a:rPr>
              <a:t>( </a:t>
            </a:r>
            <a:r>
              <a:rPr lang="en-US" i="1" dirty="0">
                <a:solidFill>
                  <a:schemeClr val="hlink"/>
                </a:solidFill>
                <a:latin typeface="Times New Roman" pitchFamily="18" charset="0"/>
              </a:rPr>
              <a:t>f </a:t>
            </a:r>
            <a:r>
              <a:rPr lang="en-US" dirty="0">
                <a:solidFill>
                  <a:schemeClr val="hlink"/>
                </a:solidFill>
                <a:latin typeface="Times New Roman" pitchFamily="18" charset="0"/>
              </a:rPr>
              <a:t>) = -2</a:t>
            </a:r>
            <a:r>
              <a:rPr lang="en-US" dirty="0">
                <a:solidFill>
                  <a:schemeClr val="hlink"/>
                </a:solidFill>
                <a:latin typeface="Symbol" pitchFamily="18" charset="2"/>
              </a:rPr>
              <a:t>p</a:t>
            </a:r>
            <a:r>
              <a:rPr lang="en-US" i="1" dirty="0">
                <a:solidFill>
                  <a:schemeClr val="hlink"/>
                </a:solidFill>
                <a:latin typeface="Times New Roman" pitchFamily="18" charset="0"/>
              </a:rPr>
              <a:t>fT</a:t>
            </a:r>
            <a:r>
              <a:rPr lang="en-US" baseline="-25000" dirty="0">
                <a:solidFill>
                  <a:schemeClr val="hlink"/>
                </a:solidFill>
                <a:latin typeface="Times New Roman" pitchFamily="18" charset="0"/>
              </a:rPr>
              <a:t>0</a:t>
            </a:r>
            <a:endParaRPr lang="en-US" dirty="0">
              <a:solidFill>
                <a:schemeClr val="hlink"/>
              </a:solidFill>
              <a:latin typeface="MS Shell Dlg" charset="0"/>
            </a:endParaRPr>
          </a:p>
          <a:p>
            <a:pPr defTabSz="762000"/>
            <a:endParaRPr lang="en-US" dirty="0">
              <a:solidFill>
                <a:schemeClr val="hlink"/>
              </a:solidFill>
              <a:latin typeface="Symbol" pitchFamily="18" charset="2"/>
            </a:endParaRPr>
          </a:p>
        </p:txBody>
      </p:sp>
      <p:sp>
        <p:nvSpPr>
          <p:cNvPr id="11" name="Text Box 16">
            <a:extLst>
              <a:ext uri="{FF2B5EF4-FFF2-40B4-BE49-F238E27FC236}">
                <a16:creationId xmlns:a16="http://schemas.microsoft.com/office/drawing/2014/main" id="{EC5BA47C-7B87-0087-16A4-F2B53D483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8459" y="1870083"/>
            <a:ext cx="307975" cy="30777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/>
            <a:r>
              <a:rPr lang="en-US" sz="1400" i="1">
                <a:latin typeface="Times New Roman" pitchFamily="18" charset="0"/>
              </a:rPr>
              <a:t>f</a:t>
            </a:r>
          </a:p>
        </p:txBody>
      </p:sp>
      <p:sp>
        <p:nvSpPr>
          <p:cNvPr id="12" name="Espaço Reservado para Conteúdo 19">
            <a:extLst>
              <a:ext uri="{FF2B5EF4-FFF2-40B4-BE49-F238E27FC236}">
                <a16:creationId xmlns:a16="http://schemas.microsoft.com/office/drawing/2014/main" id="{FA8314A3-0684-9257-4C50-E06AE0E4F61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Filtro passa-alta ideal</a:t>
            </a:r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r>
              <a:rPr lang="pt-BR"/>
              <a:t>Filtro passa-faixa ideal</a:t>
            </a:r>
            <a:endParaRPr lang="pt-BR" dirty="0"/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E05384EE-F25E-8AB6-1C0B-5EFE018B54AE}"/>
              </a:ext>
            </a:extLst>
          </p:cNvPr>
          <p:cNvSpPr>
            <a:spLocks noChangeShapeType="1"/>
          </p:cNvSpPr>
          <p:nvPr/>
        </p:nvSpPr>
        <p:spPr bwMode="auto">
          <a:xfrm>
            <a:off x="5892513" y="1628861"/>
            <a:ext cx="955675" cy="0"/>
          </a:xfrm>
          <a:prstGeom prst="line">
            <a:avLst/>
          </a:prstGeom>
          <a:noFill/>
          <a:ln w="19050">
            <a:solidFill>
              <a:srgbClr val="063DE8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14" name="Line 6">
            <a:extLst>
              <a:ext uri="{FF2B5EF4-FFF2-40B4-BE49-F238E27FC236}">
                <a16:creationId xmlns:a16="http://schemas.microsoft.com/office/drawing/2014/main" id="{C9A2DC44-0712-4597-5326-65E0E0ED45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1510" y="4483852"/>
            <a:ext cx="2851486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endParaRPr lang="pt-BR"/>
          </a:p>
        </p:txBody>
      </p:sp>
      <p:sp>
        <p:nvSpPr>
          <p:cNvPr id="15" name="Line 7">
            <a:extLst>
              <a:ext uri="{FF2B5EF4-FFF2-40B4-BE49-F238E27FC236}">
                <a16:creationId xmlns:a16="http://schemas.microsoft.com/office/drawing/2014/main" id="{3B32C30C-3110-CFE7-B6A7-DA009D6531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24052" y="3749182"/>
            <a:ext cx="0" cy="1087437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16" name="Line 9">
            <a:extLst>
              <a:ext uri="{FF2B5EF4-FFF2-40B4-BE49-F238E27FC236}">
                <a16:creationId xmlns:a16="http://schemas.microsoft.com/office/drawing/2014/main" id="{5C9C95ED-463A-26CA-0186-C412CF8510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43040" y="4146056"/>
            <a:ext cx="0" cy="341312"/>
          </a:xfrm>
          <a:prstGeom prst="line">
            <a:avLst/>
          </a:prstGeom>
          <a:noFill/>
          <a:ln w="19050">
            <a:solidFill>
              <a:srgbClr val="063DE8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17" name="Line 10">
            <a:extLst>
              <a:ext uri="{FF2B5EF4-FFF2-40B4-BE49-F238E27FC236}">
                <a16:creationId xmlns:a16="http://schemas.microsoft.com/office/drawing/2014/main" id="{1385FBD5-35B1-2F9F-CF51-CC1364B139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05065" y="4147644"/>
            <a:ext cx="0" cy="341313"/>
          </a:xfrm>
          <a:prstGeom prst="line">
            <a:avLst/>
          </a:prstGeom>
          <a:noFill/>
          <a:ln w="19050">
            <a:solidFill>
              <a:srgbClr val="063DE8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18" name="Line 11">
            <a:extLst>
              <a:ext uri="{FF2B5EF4-FFF2-40B4-BE49-F238E27FC236}">
                <a16:creationId xmlns:a16="http://schemas.microsoft.com/office/drawing/2014/main" id="{7C035618-742A-6E9A-5D91-2E1661694C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93569" y="4150895"/>
            <a:ext cx="576400" cy="4686"/>
          </a:xfrm>
          <a:prstGeom prst="line">
            <a:avLst/>
          </a:prstGeom>
          <a:noFill/>
          <a:ln w="19050">
            <a:solidFill>
              <a:srgbClr val="063DE8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endParaRPr lang="pt-BR"/>
          </a:p>
        </p:txBody>
      </p:sp>
      <p:sp>
        <p:nvSpPr>
          <p:cNvPr id="19" name="Text Box 13">
            <a:extLst>
              <a:ext uri="{FF2B5EF4-FFF2-40B4-BE49-F238E27FC236}">
                <a16:creationId xmlns:a16="http://schemas.microsoft.com/office/drawing/2014/main" id="{FBE16157-1575-6FC1-5B6D-533442D4C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9102" y="3749181"/>
            <a:ext cx="1930400" cy="36671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/>
            <a:r>
              <a:rPr lang="en-US" b="1">
                <a:solidFill>
                  <a:srgbClr val="063DE8"/>
                </a:solidFill>
                <a:latin typeface="Symbol" pitchFamily="18" charset="2"/>
              </a:rPr>
              <a:t>|</a:t>
            </a:r>
            <a:r>
              <a:rPr lang="en-US" i="1">
                <a:solidFill>
                  <a:srgbClr val="063DE8"/>
                </a:solidFill>
                <a:latin typeface="Times New Roman" pitchFamily="18" charset="0"/>
              </a:rPr>
              <a:t>H</a:t>
            </a:r>
            <a:r>
              <a:rPr lang="en-US">
                <a:solidFill>
                  <a:srgbClr val="063DE8"/>
                </a:solidFill>
                <a:latin typeface="Times New Roman" pitchFamily="18" charset="0"/>
              </a:rPr>
              <a:t>( </a:t>
            </a:r>
            <a:r>
              <a:rPr lang="en-US" i="1">
                <a:solidFill>
                  <a:srgbClr val="063DE8"/>
                </a:solidFill>
                <a:latin typeface="Times New Roman" pitchFamily="18" charset="0"/>
              </a:rPr>
              <a:t>f </a:t>
            </a:r>
            <a:r>
              <a:rPr lang="en-US">
                <a:solidFill>
                  <a:srgbClr val="063DE8"/>
                </a:solidFill>
                <a:latin typeface="Times New Roman" pitchFamily="18" charset="0"/>
              </a:rPr>
              <a:t>)</a:t>
            </a:r>
            <a:r>
              <a:rPr lang="en-US" b="1">
                <a:solidFill>
                  <a:srgbClr val="063DE8"/>
                </a:solidFill>
                <a:latin typeface="Times New Roman" pitchFamily="18" charset="0"/>
              </a:rPr>
              <a:t>|</a:t>
            </a:r>
            <a:endParaRPr lang="en-US" b="1">
              <a:solidFill>
                <a:srgbClr val="063DE8"/>
              </a:solidFill>
              <a:latin typeface="Symbol" pitchFamily="18" charset="2"/>
            </a:endParaRPr>
          </a:p>
        </p:txBody>
      </p:sp>
      <p:sp>
        <p:nvSpPr>
          <p:cNvPr id="20" name="Line 14">
            <a:extLst>
              <a:ext uri="{FF2B5EF4-FFF2-40B4-BE49-F238E27FC236}">
                <a16:creationId xmlns:a16="http://schemas.microsoft.com/office/drawing/2014/main" id="{33D4074C-FFF4-346C-4A48-44EB2DD660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8238" y="3894304"/>
            <a:ext cx="2165683" cy="1106906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endParaRPr lang="pt-BR"/>
          </a:p>
        </p:txBody>
      </p:sp>
      <p:sp>
        <p:nvSpPr>
          <p:cNvPr id="21" name="Text Box 15">
            <a:extLst>
              <a:ext uri="{FF2B5EF4-FFF2-40B4-BE49-F238E27FC236}">
                <a16:creationId xmlns:a16="http://schemas.microsoft.com/office/drawing/2014/main" id="{7105E19C-6658-FEAB-C035-B78900E800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329" y="4943511"/>
            <a:ext cx="2141537" cy="73866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/>
            <a:r>
              <a:rPr lang="en-US" sz="2400" dirty="0">
                <a:solidFill>
                  <a:schemeClr val="hlink"/>
                </a:solidFill>
                <a:latin typeface="Symbol" pitchFamily="18" charset="2"/>
              </a:rPr>
              <a:t>Ð</a:t>
            </a:r>
            <a:r>
              <a:rPr lang="en-US" i="1" dirty="0">
                <a:solidFill>
                  <a:schemeClr val="hlink"/>
                </a:solidFill>
                <a:latin typeface="Times New Roman" pitchFamily="18" charset="0"/>
              </a:rPr>
              <a:t>H</a:t>
            </a:r>
            <a:r>
              <a:rPr lang="en-US" dirty="0">
                <a:solidFill>
                  <a:schemeClr val="hlink"/>
                </a:solidFill>
                <a:latin typeface="Times New Roman" pitchFamily="18" charset="0"/>
              </a:rPr>
              <a:t>( </a:t>
            </a:r>
            <a:r>
              <a:rPr lang="en-US" i="1" dirty="0">
                <a:solidFill>
                  <a:schemeClr val="hlink"/>
                </a:solidFill>
                <a:latin typeface="Times New Roman" pitchFamily="18" charset="0"/>
              </a:rPr>
              <a:t>f </a:t>
            </a:r>
            <a:r>
              <a:rPr lang="en-US" dirty="0">
                <a:solidFill>
                  <a:schemeClr val="hlink"/>
                </a:solidFill>
                <a:latin typeface="Times New Roman" pitchFamily="18" charset="0"/>
              </a:rPr>
              <a:t>) = -2</a:t>
            </a:r>
            <a:r>
              <a:rPr lang="en-US" dirty="0">
                <a:solidFill>
                  <a:schemeClr val="hlink"/>
                </a:solidFill>
                <a:latin typeface="Symbol" pitchFamily="18" charset="2"/>
              </a:rPr>
              <a:t>p</a:t>
            </a:r>
            <a:r>
              <a:rPr lang="en-US" i="1" dirty="0">
                <a:solidFill>
                  <a:schemeClr val="hlink"/>
                </a:solidFill>
                <a:latin typeface="Times New Roman" pitchFamily="18" charset="0"/>
              </a:rPr>
              <a:t>fT</a:t>
            </a:r>
            <a:r>
              <a:rPr lang="en-US" baseline="-25000" dirty="0">
                <a:solidFill>
                  <a:schemeClr val="hlink"/>
                </a:solidFill>
                <a:latin typeface="Times New Roman" pitchFamily="18" charset="0"/>
              </a:rPr>
              <a:t>0</a:t>
            </a:r>
            <a:endParaRPr lang="en-US" dirty="0">
              <a:solidFill>
                <a:schemeClr val="hlink"/>
              </a:solidFill>
              <a:latin typeface="MS Shell Dlg" charset="0"/>
            </a:endParaRPr>
          </a:p>
          <a:p>
            <a:pPr defTabSz="762000"/>
            <a:endParaRPr lang="en-US" dirty="0">
              <a:solidFill>
                <a:schemeClr val="hlink"/>
              </a:solidFill>
              <a:latin typeface="Symbol" pitchFamily="18" charset="2"/>
            </a:endParaRPr>
          </a:p>
        </p:txBody>
      </p:sp>
      <p:sp>
        <p:nvSpPr>
          <p:cNvPr id="22" name="Text Box 16">
            <a:extLst>
              <a:ext uri="{FF2B5EF4-FFF2-40B4-BE49-F238E27FC236}">
                <a16:creationId xmlns:a16="http://schemas.microsoft.com/office/drawing/2014/main" id="{6DBFA98B-D8E7-7BB8-CC18-A6977C49F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2571" y="4368723"/>
            <a:ext cx="307975" cy="30777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/>
            <a:r>
              <a:rPr lang="en-US" sz="1400" i="1" dirty="0">
                <a:latin typeface="Times New Roman" pitchFamily="18" charset="0"/>
              </a:rPr>
              <a:t>f</a:t>
            </a:r>
          </a:p>
        </p:txBody>
      </p:sp>
      <p:sp>
        <p:nvSpPr>
          <p:cNvPr id="23" name="Line 11">
            <a:extLst>
              <a:ext uri="{FF2B5EF4-FFF2-40B4-BE49-F238E27FC236}">
                <a16:creationId xmlns:a16="http://schemas.microsoft.com/office/drawing/2014/main" id="{EC2968EB-484A-4994-1B9F-CBA1D10945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73521" y="4146879"/>
            <a:ext cx="576400" cy="4686"/>
          </a:xfrm>
          <a:prstGeom prst="line">
            <a:avLst/>
          </a:prstGeom>
          <a:noFill/>
          <a:ln w="19050">
            <a:solidFill>
              <a:srgbClr val="063DE8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endParaRPr lang="pt-BR"/>
          </a:p>
        </p:txBody>
      </p:sp>
      <p:sp>
        <p:nvSpPr>
          <p:cNvPr id="24" name="Line 10">
            <a:extLst>
              <a:ext uri="{FF2B5EF4-FFF2-40B4-BE49-F238E27FC236}">
                <a16:creationId xmlns:a16="http://schemas.microsoft.com/office/drawing/2014/main" id="{9A645A82-FD94-6C4D-320E-9C3F80D33D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54521" y="4155660"/>
            <a:ext cx="0" cy="341313"/>
          </a:xfrm>
          <a:prstGeom prst="line">
            <a:avLst/>
          </a:prstGeom>
          <a:noFill/>
          <a:ln w="19050">
            <a:solidFill>
              <a:srgbClr val="063DE8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25" name="Line 9">
            <a:extLst>
              <a:ext uri="{FF2B5EF4-FFF2-40B4-BE49-F238E27FC236}">
                <a16:creationId xmlns:a16="http://schemas.microsoft.com/office/drawing/2014/main" id="{D3C953A3-0545-D40E-61C7-F556400931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85552" y="4142040"/>
            <a:ext cx="0" cy="341312"/>
          </a:xfrm>
          <a:prstGeom prst="line">
            <a:avLst/>
          </a:prstGeom>
          <a:noFill/>
          <a:ln w="19050">
            <a:solidFill>
              <a:srgbClr val="063DE8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03F5732-159A-7D8A-7857-32C951A4841D}"/>
              </a:ext>
            </a:extLst>
          </p:cNvPr>
          <p:cNvSpPr txBox="1"/>
          <p:nvPr/>
        </p:nvSpPr>
        <p:spPr>
          <a:xfrm>
            <a:off x="7948863" y="4572002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i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27" name="Conector de seta reta 36">
            <a:extLst>
              <a:ext uri="{FF2B5EF4-FFF2-40B4-BE49-F238E27FC236}">
                <a16:creationId xmlns:a16="http://schemas.microsoft.com/office/drawing/2014/main" id="{93A098DF-D385-48D2-BD08-73577007A1A7}"/>
              </a:ext>
            </a:extLst>
          </p:cNvPr>
          <p:cNvCxnSpPr/>
          <p:nvPr/>
        </p:nvCxnSpPr>
        <p:spPr bwMode="auto">
          <a:xfrm>
            <a:off x="7792454" y="4547937"/>
            <a:ext cx="589547" cy="1588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392976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026C90-5886-3966-D656-2D594C36E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Filtros Realizáveis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F657E1C-C0C7-8F62-9997-2CBB8D8EC32F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253331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Filtro é realizável na prática se:</a:t>
            </a:r>
          </a:p>
          <a:p>
            <a:endParaRPr lang="en-US"/>
          </a:p>
          <a:p>
            <a:pPr lvl="1"/>
            <a:r>
              <a:rPr lang="en-US"/>
              <a:t>Resposta impulsional é causal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r>
              <a:rPr lang="en-US"/>
              <a:t>Ou na freqüência, condição de Paley-Wiener</a:t>
            </a:r>
            <a:endParaRPr lang="en-US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64AFD118-3198-A3C0-FB9D-1557CED69F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4249001"/>
              </p:ext>
            </p:extLst>
          </p:nvPr>
        </p:nvGraphicFramePr>
        <p:xfrm>
          <a:off x="4017963" y="1716882"/>
          <a:ext cx="1985962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760" imgH="203040" progId="Equation.3">
                  <p:embed/>
                </p:oleObj>
              </mc:Choice>
              <mc:Fallback>
                <p:oleObj name="Equation" r:id="rId2" imgW="977760" imgH="203040" progId="Equation.3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64AFD118-3198-A3C0-FB9D-1557CED69F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7963" y="1716882"/>
                        <a:ext cx="1985962" cy="41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FD962A73-4FC9-6797-46B6-0CE9CBB9D1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8279813"/>
              </p:ext>
            </p:extLst>
          </p:nvPr>
        </p:nvGraphicFramePr>
        <p:xfrm>
          <a:off x="3690939" y="2813844"/>
          <a:ext cx="2528887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1244520" imgH="469800" progId="Equation.3">
                  <p:embed/>
                </p:oleObj>
              </mc:Choice>
              <mc:Fallback>
                <p:oleObj name="Equação" r:id="rId4" imgW="1244520" imgH="469800" progId="Equation.3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FD962A73-4FC9-6797-46B6-0CE9CBB9D1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0939" y="2813844"/>
                        <a:ext cx="2528887" cy="950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873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56AEB6-C14F-63DB-521F-981DD733B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Causalidade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8431D49-D0A4-60B2-8DF5-11134215AD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Sistemas Causais são aqueles em que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=0, ∀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pt-BR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pt-BR" b="0" dirty="0"/>
                  <a:t>Resposta não pode vir antes da excitação</a:t>
                </a:r>
              </a:p>
              <a:p>
                <a:pPr lvl="1"/>
                <a:r>
                  <a:rPr lang="pt-BR" dirty="0"/>
                  <a:t>Sistemas físicos reais são todos causais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pt-BR" dirty="0"/>
              </a:p>
              <a:p>
                <a:r>
                  <a:rPr lang="pt-BR" dirty="0"/>
                  <a:t>Por que estudar sistemas não causais?</a:t>
                </a:r>
              </a:p>
              <a:p>
                <a:pPr lvl="1"/>
                <a:r>
                  <a:rPr lang="pt-BR" dirty="0"/>
                  <a:t>Processamento digital offline em blocos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8431D49-D0A4-60B2-8DF5-11134215AD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6338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533DC7-2F6C-7AF6-0253-648948A06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Filtros Realizáveis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9E15033-F8EC-CDC0-0EA0-45797EEB6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842" y="2354260"/>
            <a:ext cx="8997276" cy="4329939"/>
          </a:xfrm>
          <a:prstGeom prst="rect">
            <a:avLst/>
          </a:prstGeom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2B75C984-4F60-9D21-1C40-A8A3767C6C7A}"/>
              </a:ext>
            </a:extLst>
          </p:cNvPr>
          <p:cNvSpPr txBox="1">
            <a:spLocks/>
          </p:cNvSpPr>
          <p:nvPr/>
        </p:nvSpPr>
        <p:spPr>
          <a:xfrm>
            <a:off x="838200" y="1159616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Filtros causais podem ser obtidos com deslocamento e truncagem</a:t>
            </a:r>
          </a:p>
          <a:p>
            <a:r>
              <a:rPr lang="pt-BR" dirty="0"/>
              <a:t>Não existem filtros ideais realizáveis...</a:t>
            </a:r>
          </a:p>
          <a:p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378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FD1C35-A2A1-D1BA-121D-AD400686B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Sistemas de Comunicações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40B85630-16C3-ED45-758B-B67C173AD265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952171" y="1230251"/>
            <a:ext cx="6519734" cy="369332"/>
          </a:xfrm>
          <a:prstGeom prst="rect">
            <a:avLst/>
          </a:prstGeom>
          <a:solidFill>
            <a:srgbClr val="FFFF99"/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pt-BR" b="1" dirty="0">
                <a:solidFill>
                  <a:srgbClr val="0000CC"/>
                </a:solidFill>
                <a:latin typeface="Arial" pitchFamily="34" charset="0"/>
              </a:rPr>
              <a:t>Deteriorações dos sinais em um sistema de comunicação</a:t>
            </a:r>
          </a:p>
        </p:txBody>
      </p:sp>
      <p:grpSp>
        <p:nvGrpSpPr>
          <p:cNvPr id="4" name="Group 10">
            <a:extLst>
              <a:ext uri="{FF2B5EF4-FFF2-40B4-BE49-F238E27FC236}">
                <a16:creationId xmlns:a16="http://schemas.microsoft.com/office/drawing/2014/main" id="{C59B2E2B-A3F5-D759-F8E2-FCA4F897F922}"/>
              </a:ext>
            </a:extLst>
          </p:cNvPr>
          <p:cNvGrpSpPr>
            <a:grpSpLocks/>
          </p:cNvGrpSpPr>
          <p:nvPr/>
        </p:nvGrpSpPr>
        <p:grpSpPr bwMode="auto">
          <a:xfrm>
            <a:off x="2433184" y="1600655"/>
            <a:ext cx="7243762" cy="1508125"/>
            <a:chOff x="487" y="925"/>
            <a:chExt cx="4563" cy="9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 Box 11">
                  <a:extLst>
                    <a:ext uri="{FF2B5EF4-FFF2-40B4-BE49-F238E27FC236}">
                      <a16:creationId xmlns:a16="http://schemas.microsoft.com/office/drawing/2014/main" id="{24D239C8-C46C-7A52-E03C-6E9AB08FFEA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blackWhite">
                <a:xfrm>
                  <a:off x="487" y="1468"/>
                  <a:ext cx="1835" cy="407"/>
                </a:xfrm>
                <a:prstGeom prst="rect">
                  <a:avLst/>
                </a:prstGeom>
                <a:solidFill>
                  <a:srgbClr val="CCFFCC"/>
                </a:solidFill>
                <a:ln w="38100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lang="pt-BR" dirty="0">
                      <a:solidFill>
                        <a:srgbClr val="0000CC"/>
                      </a:solidFill>
                    </a:rPr>
                    <a:t>Dependentes do sinal (distorção) = </a:t>
                  </a:r>
                  <a14:m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pt-BR" dirty="0">
                    <a:solidFill>
                      <a:srgbClr val="0000CC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Text Box 11">
                  <a:extLst>
                    <a:ext uri="{FF2B5EF4-FFF2-40B4-BE49-F238E27FC236}">
                      <a16:creationId xmlns:a16="http://schemas.microsoft.com/office/drawing/2014/main" id="{24D239C8-C46C-7A52-E03C-6E9AB08FFE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blackWhite">
                <a:xfrm>
                  <a:off x="487" y="1468"/>
                  <a:ext cx="1835" cy="407"/>
                </a:xfrm>
                <a:prstGeom prst="rect">
                  <a:avLst/>
                </a:prstGeom>
                <a:blipFill>
                  <a:blip r:embed="rId2"/>
                  <a:stretch>
                    <a:fillRect l="-1033" t="-2679" b="-10714"/>
                  </a:stretch>
                </a:blipFill>
                <a:ln w="38100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 Box 12">
                  <a:extLst>
                    <a:ext uri="{FF2B5EF4-FFF2-40B4-BE49-F238E27FC236}">
                      <a16:creationId xmlns:a16="http://schemas.microsoft.com/office/drawing/2014/main" id="{11F9FDB2-F38B-40DC-5FDE-7203542A505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blackWhite">
                <a:xfrm>
                  <a:off x="3110" y="1468"/>
                  <a:ext cx="1940" cy="407"/>
                </a:xfrm>
                <a:prstGeom prst="rect">
                  <a:avLst/>
                </a:prstGeom>
                <a:solidFill>
                  <a:srgbClr val="CCFFCC"/>
                </a:solidFill>
                <a:ln w="38100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lang="pt-BR" dirty="0">
                      <a:solidFill>
                        <a:srgbClr val="0000CC"/>
                      </a:solidFill>
                    </a:rPr>
                    <a:t>Independentes do sinal (ruídos) </a:t>
                  </a:r>
                  <a14:m>
                    <m:oMath xmlns:m="http://schemas.openxmlformats.org/officeDocument/2006/math">
                      <m:r>
                        <a:rPr lang="pt-BR" i="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pt-BR" dirty="0">
                    <a:solidFill>
                      <a:srgbClr val="0000CC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 Box 12">
                  <a:extLst>
                    <a:ext uri="{FF2B5EF4-FFF2-40B4-BE49-F238E27FC236}">
                      <a16:creationId xmlns:a16="http://schemas.microsoft.com/office/drawing/2014/main" id="{11F9FDB2-F38B-40DC-5FDE-7203542A50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blackWhite">
                <a:xfrm>
                  <a:off x="3110" y="1468"/>
                  <a:ext cx="1940" cy="407"/>
                </a:xfrm>
                <a:prstGeom prst="rect">
                  <a:avLst/>
                </a:prstGeom>
                <a:blipFill>
                  <a:blip r:embed="rId3"/>
                  <a:stretch>
                    <a:fillRect l="-978" t="-2679" b="-10714"/>
                  </a:stretch>
                </a:blipFill>
                <a:ln w="38100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AutoShape 13">
              <a:extLst>
                <a:ext uri="{FF2B5EF4-FFF2-40B4-BE49-F238E27FC236}">
                  <a16:creationId xmlns:a16="http://schemas.microsoft.com/office/drawing/2014/main" id="{A32AA75A-92C3-3E42-3498-8BBBE7E7EE88}"/>
                </a:ext>
              </a:extLst>
            </p:cNvPr>
            <p:cNvCxnSpPr>
              <a:cxnSpLocks noChangeShapeType="1"/>
              <a:stCxn id="3" idx="2"/>
              <a:endCxn id="5" idx="0"/>
            </p:cNvCxnSpPr>
            <p:nvPr/>
          </p:nvCxnSpPr>
          <p:spPr bwMode="blackWhite">
            <a:xfrm rot="5400000">
              <a:off x="1549" y="780"/>
              <a:ext cx="544" cy="833"/>
            </a:xfrm>
            <a:prstGeom prst="bentConnector3">
              <a:avLst>
                <a:gd name="adj1" fmla="val 50000"/>
              </a:avLst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</p:cxnSp>
        <p:cxnSp>
          <p:nvCxnSpPr>
            <p:cNvPr id="8" name="AutoShape 14">
              <a:extLst>
                <a:ext uri="{FF2B5EF4-FFF2-40B4-BE49-F238E27FC236}">
                  <a16:creationId xmlns:a16="http://schemas.microsoft.com/office/drawing/2014/main" id="{516BF07C-A09E-8DEB-58C2-BC0FCC239399}"/>
                </a:ext>
              </a:extLst>
            </p:cNvPr>
            <p:cNvCxnSpPr>
              <a:cxnSpLocks noChangeShapeType="1"/>
              <a:stCxn id="3" idx="2"/>
              <a:endCxn id="6" idx="0"/>
            </p:cNvCxnSpPr>
            <p:nvPr/>
          </p:nvCxnSpPr>
          <p:spPr bwMode="blackWhite">
            <a:xfrm rot="16200000" flipH="1">
              <a:off x="2887" y="275"/>
              <a:ext cx="544" cy="1843"/>
            </a:xfrm>
            <a:prstGeom prst="bentConnector3">
              <a:avLst>
                <a:gd name="adj1" fmla="val 50000"/>
              </a:avLst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</p:cxnSp>
      </p:grpSp>
      <p:grpSp>
        <p:nvGrpSpPr>
          <p:cNvPr id="9" name="Group 15">
            <a:extLst>
              <a:ext uri="{FF2B5EF4-FFF2-40B4-BE49-F238E27FC236}">
                <a16:creationId xmlns:a16="http://schemas.microsoft.com/office/drawing/2014/main" id="{8A9F2E5F-A2B3-8DAA-4646-53A32AA284DE}"/>
              </a:ext>
            </a:extLst>
          </p:cNvPr>
          <p:cNvGrpSpPr>
            <a:grpSpLocks/>
          </p:cNvGrpSpPr>
          <p:nvPr/>
        </p:nvGrpSpPr>
        <p:grpSpPr bwMode="auto">
          <a:xfrm>
            <a:off x="6031590" y="3106961"/>
            <a:ext cx="3492500" cy="1744664"/>
            <a:chOff x="2788" y="1832"/>
            <a:chExt cx="2200" cy="1099"/>
          </a:xfrm>
        </p:grpSpPr>
        <p:sp>
          <p:nvSpPr>
            <p:cNvPr id="10" name="Text Box 16">
              <a:extLst>
                <a:ext uri="{FF2B5EF4-FFF2-40B4-BE49-F238E27FC236}">
                  <a16:creationId xmlns:a16="http://schemas.microsoft.com/office/drawing/2014/main" id="{4D7A5412-E7B6-FCBB-016F-E93597501C54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788" y="2698"/>
              <a:ext cx="1197" cy="233"/>
            </a:xfrm>
            <a:prstGeom prst="rect">
              <a:avLst/>
            </a:prstGeom>
            <a:solidFill>
              <a:srgbClr val="FFCC99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pt-BR">
                  <a:solidFill>
                    <a:srgbClr val="0000CC"/>
                  </a:solidFill>
                </a:rPr>
                <a:t>Interferências</a:t>
              </a:r>
            </a:p>
          </p:txBody>
        </p:sp>
        <p:sp>
          <p:nvSpPr>
            <p:cNvPr id="11" name="Text Box 17">
              <a:extLst>
                <a:ext uri="{FF2B5EF4-FFF2-40B4-BE49-F238E27FC236}">
                  <a16:creationId xmlns:a16="http://schemas.microsoft.com/office/drawing/2014/main" id="{BA4896B1-7FF8-B991-6DC5-B9F865476A27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4473" y="2698"/>
              <a:ext cx="515" cy="233"/>
            </a:xfrm>
            <a:prstGeom prst="rect">
              <a:avLst/>
            </a:prstGeom>
            <a:solidFill>
              <a:srgbClr val="FFCC99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pt-BR">
                  <a:solidFill>
                    <a:srgbClr val="0000CC"/>
                  </a:solidFill>
                </a:rPr>
                <a:t>Ruídos</a:t>
              </a:r>
            </a:p>
          </p:txBody>
        </p:sp>
        <p:cxnSp>
          <p:nvCxnSpPr>
            <p:cNvPr id="12" name="AutoShape 18">
              <a:extLst>
                <a:ext uri="{FF2B5EF4-FFF2-40B4-BE49-F238E27FC236}">
                  <a16:creationId xmlns:a16="http://schemas.microsoft.com/office/drawing/2014/main" id="{B7049B44-3581-A567-FDFC-AB370529E762}"/>
                </a:ext>
              </a:extLst>
            </p:cNvPr>
            <p:cNvCxnSpPr>
              <a:cxnSpLocks noChangeShapeType="1"/>
              <a:stCxn id="6" idx="2"/>
              <a:endCxn id="10" idx="0"/>
            </p:cNvCxnSpPr>
            <p:nvPr/>
          </p:nvCxnSpPr>
          <p:spPr bwMode="blackWhite">
            <a:xfrm rot="5400000">
              <a:off x="3318" y="1902"/>
              <a:ext cx="865" cy="728"/>
            </a:xfrm>
            <a:prstGeom prst="bentConnector3">
              <a:avLst>
                <a:gd name="adj1" fmla="val 50000"/>
              </a:avLst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</p:cxnSp>
        <p:cxnSp>
          <p:nvCxnSpPr>
            <p:cNvPr id="13" name="AutoShape 19">
              <a:extLst>
                <a:ext uri="{FF2B5EF4-FFF2-40B4-BE49-F238E27FC236}">
                  <a16:creationId xmlns:a16="http://schemas.microsoft.com/office/drawing/2014/main" id="{DFD93FA5-FFB1-1EF9-348F-2B6F2BE0637A}"/>
                </a:ext>
              </a:extLst>
            </p:cNvPr>
            <p:cNvCxnSpPr>
              <a:cxnSpLocks noChangeShapeType="1"/>
              <a:stCxn id="6" idx="2"/>
              <a:endCxn id="11" idx="0"/>
            </p:cNvCxnSpPr>
            <p:nvPr/>
          </p:nvCxnSpPr>
          <p:spPr bwMode="blackWhite">
            <a:xfrm rot="16200000" flipH="1">
              <a:off x="3990" y="1957"/>
              <a:ext cx="865" cy="616"/>
            </a:xfrm>
            <a:prstGeom prst="bentConnector3">
              <a:avLst>
                <a:gd name="adj1" fmla="val 50000"/>
              </a:avLst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</p:cxnSp>
      </p:grpSp>
      <p:grpSp>
        <p:nvGrpSpPr>
          <p:cNvPr id="14" name="Group 20">
            <a:extLst>
              <a:ext uri="{FF2B5EF4-FFF2-40B4-BE49-F238E27FC236}">
                <a16:creationId xmlns:a16="http://schemas.microsoft.com/office/drawing/2014/main" id="{C376C78E-68A4-F844-3DD8-7D3120B9613B}"/>
              </a:ext>
            </a:extLst>
          </p:cNvPr>
          <p:cNvGrpSpPr>
            <a:grpSpLocks/>
          </p:cNvGrpSpPr>
          <p:nvPr/>
        </p:nvGrpSpPr>
        <p:grpSpPr bwMode="auto">
          <a:xfrm>
            <a:off x="2089830" y="3106961"/>
            <a:ext cx="3367087" cy="1744663"/>
            <a:chOff x="305" y="1832"/>
            <a:chExt cx="2121" cy="1099"/>
          </a:xfrm>
        </p:grpSpPr>
        <p:sp>
          <p:nvSpPr>
            <p:cNvPr id="15" name="Text Box 21">
              <a:extLst>
                <a:ext uri="{FF2B5EF4-FFF2-40B4-BE49-F238E27FC236}">
                  <a16:creationId xmlns:a16="http://schemas.microsoft.com/office/drawing/2014/main" id="{81BEE1E5-06E1-70A8-8142-3CF160AAC074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305" y="2698"/>
              <a:ext cx="820" cy="233"/>
            </a:xfrm>
            <a:prstGeom prst="rect">
              <a:avLst/>
            </a:prstGeom>
            <a:solidFill>
              <a:srgbClr val="CCFFFF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pt-BR">
                  <a:solidFill>
                    <a:srgbClr val="0000CC"/>
                  </a:solidFill>
                </a:rPr>
                <a:t>Lineares</a:t>
              </a:r>
            </a:p>
          </p:txBody>
        </p:sp>
        <p:sp>
          <p:nvSpPr>
            <p:cNvPr id="16" name="Text Box 22">
              <a:extLst>
                <a:ext uri="{FF2B5EF4-FFF2-40B4-BE49-F238E27FC236}">
                  <a16:creationId xmlns:a16="http://schemas.microsoft.com/office/drawing/2014/main" id="{D29BDC03-7EF0-4BBD-0820-90DEFAC826B9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260" y="2698"/>
              <a:ext cx="1166" cy="233"/>
            </a:xfrm>
            <a:prstGeom prst="rect">
              <a:avLst/>
            </a:prstGeom>
            <a:solidFill>
              <a:srgbClr val="CCFFFF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pt-BR">
                  <a:solidFill>
                    <a:srgbClr val="0000CC"/>
                  </a:solidFill>
                </a:rPr>
                <a:t>Não-lineares</a:t>
              </a:r>
            </a:p>
          </p:txBody>
        </p:sp>
        <p:cxnSp>
          <p:nvCxnSpPr>
            <p:cNvPr id="17" name="AutoShape 23">
              <a:extLst>
                <a:ext uri="{FF2B5EF4-FFF2-40B4-BE49-F238E27FC236}">
                  <a16:creationId xmlns:a16="http://schemas.microsoft.com/office/drawing/2014/main" id="{45851D88-9A04-EDE6-89BE-C1CC3B1A4EE8}"/>
                </a:ext>
              </a:extLst>
            </p:cNvPr>
            <p:cNvCxnSpPr>
              <a:cxnSpLocks noChangeShapeType="1"/>
              <a:stCxn id="5" idx="2"/>
              <a:endCxn id="16" idx="0"/>
            </p:cNvCxnSpPr>
            <p:nvPr/>
          </p:nvCxnSpPr>
          <p:spPr bwMode="blackWhite">
            <a:xfrm rot="16200000" flipH="1">
              <a:off x="1208" y="2063"/>
              <a:ext cx="865" cy="404"/>
            </a:xfrm>
            <a:prstGeom prst="bentConnector3">
              <a:avLst>
                <a:gd name="adj1" fmla="val 50000"/>
              </a:avLst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</p:cxnSp>
        <p:cxnSp>
          <p:nvCxnSpPr>
            <p:cNvPr id="18" name="AutoShape 24">
              <a:extLst>
                <a:ext uri="{FF2B5EF4-FFF2-40B4-BE49-F238E27FC236}">
                  <a16:creationId xmlns:a16="http://schemas.microsoft.com/office/drawing/2014/main" id="{D41C7BD6-E464-2160-9916-21EFEF59525A}"/>
                </a:ext>
              </a:extLst>
            </p:cNvPr>
            <p:cNvCxnSpPr>
              <a:cxnSpLocks noChangeShapeType="1"/>
              <a:stCxn id="5" idx="2"/>
              <a:endCxn id="15" idx="0"/>
            </p:cNvCxnSpPr>
            <p:nvPr/>
          </p:nvCxnSpPr>
          <p:spPr bwMode="blackWhite">
            <a:xfrm rot="5400000">
              <a:off x="644" y="1904"/>
              <a:ext cx="865" cy="724"/>
            </a:xfrm>
            <a:prstGeom prst="bentConnector3">
              <a:avLst>
                <a:gd name="adj1" fmla="val 50000"/>
              </a:avLst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</p:cxnSp>
      </p:grpSp>
      <p:grpSp>
        <p:nvGrpSpPr>
          <p:cNvPr id="19" name="Group 25">
            <a:extLst>
              <a:ext uri="{FF2B5EF4-FFF2-40B4-BE49-F238E27FC236}">
                <a16:creationId xmlns:a16="http://schemas.microsoft.com/office/drawing/2014/main" id="{29D6A0DD-84B9-0CA5-C73F-68172D017DD7}"/>
              </a:ext>
            </a:extLst>
          </p:cNvPr>
          <p:cNvGrpSpPr>
            <a:grpSpLocks/>
          </p:cNvGrpSpPr>
          <p:nvPr/>
        </p:nvGrpSpPr>
        <p:grpSpPr bwMode="auto">
          <a:xfrm>
            <a:off x="7631791" y="4850037"/>
            <a:ext cx="2832100" cy="1166825"/>
            <a:chOff x="3796" y="2966"/>
            <a:chExt cx="1784" cy="735"/>
          </a:xfrm>
        </p:grpSpPr>
        <p:sp>
          <p:nvSpPr>
            <p:cNvPr id="20" name="Text Box 26">
              <a:extLst>
                <a:ext uri="{FF2B5EF4-FFF2-40B4-BE49-F238E27FC236}">
                  <a16:creationId xmlns:a16="http://schemas.microsoft.com/office/drawing/2014/main" id="{91F1D1B8-4911-841C-B45B-6B17C2116641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4804" y="3468"/>
              <a:ext cx="776" cy="233"/>
            </a:xfrm>
            <a:prstGeom prst="rect">
              <a:avLst/>
            </a:prstGeom>
            <a:solidFill>
              <a:srgbClr val="DDDDDD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pt-BR">
                  <a:solidFill>
                    <a:srgbClr val="0000CC"/>
                  </a:solidFill>
                </a:rPr>
                <a:t>Internos</a:t>
              </a:r>
            </a:p>
          </p:txBody>
        </p:sp>
        <p:sp>
          <p:nvSpPr>
            <p:cNvPr id="21" name="Text Box 27">
              <a:extLst>
                <a:ext uri="{FF2B5EF4-FFF2-40B4-BE49-F238E27FC236}">
                  <a16:creationId xmlns:a16="http://schemas.microsoft.com/office/drawing/2014/main" id="{7A5D8D2C-29B2-F89D-70D5-6644DEEAFFC3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3796" y="3468"/>
              <a:ext cx="854" cy="233"/>
            </a:xfrm>
            <a:prstGeom prst="rect">
              <a:avLst/>
            </a:prstGeom>
            <a:solidFill>
              <a:srgbClr val="DDDDDD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pt-BR">
                  <a:solidFill>
                    <a:srgbClr val="0000CC"/>
                  </a:solidFill>
                </a:rPr>
                <a:t>Externos</a:t>
              </a:r>
            </a:p>
          </p:txBody>
        </p:sp>
        <p:cxnSp>
          <p:nvCxnSpPr>
            <p:cNvPr id="22" name="AutoShape 28">
              <a:extLst>
                <a:ext uri="{FF2B5EF4-FFF2-40B4-BE49-F238E27FC236}">
                  <a16:creationId xmlns:a16="http://schemas.microsoft.com/office/drawing/2014/main" id="{78B494C9-BCF5-9A80-46BD-5B5038281DDF}"/>
                </a:ext>
              </a:extLst>
            </p:cNvPr>
            <p:cNvCxnSpPr>
              <a:cxnSpLocks noChangeShapeType="1"/>
              <a:stCxn id="11" idx="2"/>
              <a:endCxn id="21" idx="0"/>
            </p:cNvCxnSpPr>
            <p:nvPr/>
          </p:nvCxnSpPr>
          <p:spPr bwMode="blackWhite">
            <a:xfrm rot="5400000">
              <a:off x="4223" y="2967"/>
              <a:ext cx="501" cy="501"/>
            </a:xfrm>
            <a:prstGeom prst="bentConnector3">
              <a:avLst>
                <a:gd name="adj1" fmla="val 50000"/>
              </a:avLst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</p:cxnSp>
        <p:cxnSp>
          <p:nvCxnSpPr>
            <p:cNvPr id="23" name="AutoShape 29">
              <a:extLst>
                <a:ext uri="{FF2B5EF4-FFF2-40B4-BE49-F238E27FC236}">
                  <a16:creationId xmlns:a16="http://schemas.microsoft.com/office/drawing/2014/main" id="{60345D76-5E2E-637B-648E-F79A6DB2F6F7}"/>
                </a:ext>
              </a:extLst>
            </p:cNvPr>
            <p:cNvCxnSpPr>
              <a:cxnSpLocks noChangeShapeType="1"/>
              <a:stCxn id="11" idx="2"/>
              <a:endCxn id="20" idx="0"/>
            </p:cNvCxnSpPr>
            <p:nvPr/>
          </p:nvCxnSpPr>
          <p:spPr bwMode="blackWhite">
            <a:xfrm rot="16200000" flipH="1">
              <a:off x="4707" y="2983"/>
              <a:ext cx="501" cy="468"/>
            </a:xfrm>
            <a:prstGeom prst="bentConnector3">
              <a:avLst>
                <a:gd name="adj1" fmla="val 50000"/>
              </a:avLst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</p:cxnSp>
      </p:grpSp>
      <p:sp>
        <p:nvSpPr>
          <p:cNvPr id="26" name="Elipse 25">
            <a:extLst>
              <a:ext uri="{FF2B5EF4-FFF2-40B4-BE49-F238E27FC236}">
                <a16:creationId xmlns:a16="http://schemas.microsoft.com/office/drawing/2014/main" id="{81CCCEC0-D594-7F33-3686-86CCDCF0DF93}"/>
              </a:ext>
            </a:extLst>
          </p:cNvPr>
          <p:cNvSpPr/>
          <p:nvPr/>
        </p:nvSpPr>
        <p:spPr>
          <a:xfrm>
            <a:off x="1818167" y="4253023"/>
            <a:ext cx="1787724" cy="86201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683FC93-15FA-13F8-98A1-30F5915CF74A}"/>
              </a:ext>
            </a:extLst>
          </p:cNvPr>
          <p:cNvSpPr txBox="1"/>
          <p:nvPr/>
        </p:nvSpPr>
        <p:spPr>
          <a:xfrm>
            <a:off x="1829277" y="5231623"/>
            <a:ext cx="1821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Filtros Realizáveis</a:t>
            </a:r>
          </a:p>
        </p:txBody>
      </p:sp>
    </p:spTree>
    <p:extLst>
      <p:ext uri="{BB962C8B-B14F-4D97-AF65-F5344CB8AC3E}">
        <p14:creationId xmlns:p14="http://schemas.microsoft.com/office/powerpoint/2010/main" val="154413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FC8D22-01BC-A7C8-6BB8-EA0B66F28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Distorção Linear</a:t>
            </a:r>
          </a:p>
        </p:txBody>
      </p:sp>
      <p:sp>
        <p:nvSpPr>
          <p:cNvPr id="3" name="Line 5">
            <a:extLst>
              <a:ext uri="{FF2B5EF4-FFF2-40B4-BE49-F238E27FC236}">
                <a16:creationId xmlns:a16="http://schemas.microsoft.com/office/drawing/2014/main" id="{56E1C5D3-2362-AB5C-EC6D-4841794DBC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6275" y="1999071"/>
            <a:ext cx="263525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4" name="Line 6">
            <a:extLst>
              <a:ext uri="{FF2B5EF4-FFF2-40B4-BE49-F238E27FC236}">
                <a16:creationId xmlns:a16="http://schemas.microsoft.com/office/drawing/2014/main" id="{6C138B0B-A9BA-FCC3-DB20-D9D245460F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67625" y="1449797"/>
            <a:ext cx="0" cy="557213"/>
          </a:xfrm>
          <a:prstGeom prst="line">
            <a:avLst/>
          </a:prstGeom>
          <a:noFill/>
          <a:ln w="19050">
            <a:solidFill>
              <a:srgbClr val="063DE8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5" name="Line 7">
            <a:extLst>
              <a:ext uri="{FF2B5EF4-FFF2-40B4-BE49-F238E27FC236}">
                <a16:creationId xmlns:a16="http://schemas.microsoft.com/office/drawing/2014/main" id="{56087A59-86CC-7DBF-620F-C42CD50F7F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0150" y="1451384"/>
            <a:ext cx="0" cy="557212"/>
          </a:xfrm>
          <a:prstGeom prst="line">
            <a:avLst/>
          </a:prstGeom>
          <a:noFill/>
          <a:ln w="19050">
            <a:solidFill>
              <a:srgbClr val="063DE8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4EC1A107-EB05-89BD-B706-13F910F379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23250" y="902109"/>
            <a:ext cx="0" cy="1928812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E9E06CE3-3C8C-264E-E72F-AD04C8E69980}"/>
              </a:ext>
            </a:extLst>
          </p:cNvPr>
          <p:cNvSpPr>
            <a:spLocks/>
          </p:cNvSpPr>
          <p:nvPr/>
        </p:nvSpPr>
        <p:spPr bwMode="auto">
          <a:xfrm>
            <a:off x="7658100" y="1256121"/>
            <a:ext cx="1155700" cy="369332"/>
          </a:xfrm>
          <a:custGeom>
            <a:avLst/>
            <a:gdLst/>
            <a:ahLst/>
            <a:cxnLst>
              <a:cxn ang="0">
                <a:pos x="0" y="128"/>
              </a:cxn>
              <a:cxn ang="0">
                <a:pos x="163" y="33"/>
              </a:cxn>
              <a:cxn ang="0">
                <a:pos x="362" y="2"/>
              </a:cxn>
              <a:cxn ang="0">
                <a:pos x="582" y="23"/>
              </a:cxn>
              <a:cxn ang="0">
                <a:pos x="728" y="117"/>
              </a:cxn>
            </a:cxnLst>
            <a:rect l="0" t="0" r="r" b="b"/>
            <a:pathLst>
              <a:path w="728" h="128">
                <a:moveTo>
                  <a:pt x="0" y="128"/>
                </a:moveTo>
                <a:cubicBezTo>
                  <a:pt x="51" y="91"/>
                  <a:pt x="103" y="54"/>
                  <a:pt x="163" y="33"/>
                </a:cubicBezTo>
                <a:cubicBezTo>
                  <a:pt x="223" y="12"/>
                  <a:pt x="292" y="4"/>
                  <a:pt x="362" y="2"/>
                </a:cubicBezTo>
                <a:cubicBezTo>
                  <a:pt x="432" y="0"/>
                  <a:pt x="521" y="4"/>
                  <a:pt x="582" y="23"/>
                </a:cubicBezTo>
                <a:cubicBezTo>
                  <a:pt x="643" y="42"/>
                  <a:pt x="704" y="101"/>
                  <a:pt x="728" y="117"/>
                </a:cubicBezTo>
              </a:path>
            </a:pathLst>
          </a:custGeom>
          <a:noFill/>
          <a:ln w="19050" cap="flat" cmpd="sng">
            <a:solidFill>
              <a:srgbClr val="063DE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8" name="Line 10">
            <a:extLst>
              <a:ext uri="{FF2B5EF4-FFF2-40B4-BE49-F238E27FC236}">
                <a16:creationId xmlns:a16="http://schemas.microsoft.com/office/drawing/2014/main" id="{73201679-65C1-E403-445C-3827EF2AF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7650164" y="1143409"/>
            <a:ext cx="1114425" cy="1636712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9" name="Text Box 11">
            <a:extLst>
              <a:ext uri="{FF2B5EF4-FFF2-40B4-BE49-F238E27FC236}">
                <a16:creationId xmlns:a16="http://schemas.microsoft.com/office/drawing/2014/main" id="{0E9B513E-905A-C425-9F75-D37AA108E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1140234"/>
            <a:ext cx="1930400" cy="36671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/>
            <a:r>
              <a:rPr lang="en-US" b="1">
                <a:solidFill>
                  <a:srgbClr val="063DE8"/>
                </a:solidFill>
                <a:latin typeface="Symbol" pitchFamily="18" charset="2"/>
              </a:rPr>
              <a:t>|</a:t>
            </a:r>
            <a:r>
              <a:rPr lang="en-US" i="1">
                <a:solidFill>
                  <a:srgbClr val="063DE8"/>
                </a:solidFill>
                <a:latin typeface="Times New Roman" pitchFamily="18" charset="0"/>
              </a:rPr>
              <a:t>H</a:t>
            </a:r>
            <a:r>
              <a:rPr lang="en-US">
                <a:solidFill>
                  <a:srgbClr val="063DE8"/>
                </a:solidFill>
                <a:latin typeface="Times New Roman" pitchFamily="18" charset="0"/>
              </a:rPr>
              <a:t>( </a:t>
            </a:r>
            <a:r>
              <a:rPr lang="en-US" i="1">
                <a:solidFill>
                  <a:srgbClr val="063DE8"/>
                </a:solidFill>
                <a:latin typeface="Times New Roman" pitchFamily="18" charset="0"/>
              </a:rPr>
              <a:t>f </a:t>
            </a:r>
            <a:r>
              <a:rPr lang="en-US">
                <a:solidFill>
                  <a:srgbClr val="063DE8"/>
                </a:solidFill>
                <a:latin typeface="Times New Roman" pitchFamily="18" charset="0"/>
              </a:rPr>
              <a:t>)</a:t>
            </a:r>
            <a:r>
              <a:rPr lang="en-US" b="1">
                <a:solidFill>
                  <a:srgbClr val="063DE8"/>
                </a:solidFill>
                <a:latin typeface="Times New Roman" pitchFamily="18" charset="0"/>
              </a:rPr>
              <a:t>|</a:t>
            </a:r>
            <a:endParaRPr lang="en-US" b="1">
              <a:solidFill>
                <a:srgbClr val="063DE8"/>
              </a:solidFill>
              <a:latin typeface="Symbol" pitchFamily="18" charset="2"/>
            </a:endParaRP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F9A37494-A936-B240-48BD-0CBD4890D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9301" y="2218146"/>
            <a:ext cx="1476375" cy="73866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/>
            <a:r>
              <a:rPr lang="en-US" sz="2400">
                <a:solidFill>
                  <a:schemeClr val="hlink"/>
                </a:solidFill>
                <a:latin typeface="Symbol" pitchFamily="18" charset="2"/>
              </a:rPr>
              <a:t>Ð</a:t>
            </a:r>
            <a:r>
              <a:rPr lang="en-US" i="1">
                <a:solidFill>
                  <a:schemeClr val="hlink"/>
                </a:solidFill>
                <a:latin typeface="Times New Roman" pitchFamily="18" charset="0"/>
              </a:rPr>
              <a:t>H</a:t>
            </a:r>
            <a:r>
              <a:rPr lang="en-US">
                <a:solidFill>
                  <a:schemeClr val="hlink"/>
                </a:solidFill>
                <a:latin typeface="Times New Roman" pitchFamily="18" charset="0"/>
              </a:rPr>
              <a:t>( </a:t>
            </a:r>
            <a:r>
              <a:rPr lang="en-US" i="1">
                <a:solidFill>
                  <a:schemeClr val="hlink"/>
                </a:solidFill>
                <a:latin typeface="Times New Roman" pitchFamily="18" charset="0"/>
              </a:rPr>
              <a:t>f </a:t>
            </a:r>
            <a:r>
              <a:rPr lang="en-US">
                <a:solidFill>
                  <a:schemeClr val="hlink"/>
                </a:solidFill>
                <a:latin typeface="Times New Roman" pitchFamily="18" charset="0"/>
              </a:rPr>
              <a:t>)</a:t>
            </a:r>
            <a:endParaRPr lang="en-US">
              <a:solidFill>
                <a:schemeClr val="hlink"/>
              </a:solidFill>
              <a:latin typeface="MS Shell Dlg" charset="0"/>
            </a:endParaRPr>
          </a:p>
          <a:p>
            <a:pPr defTabSz="762000"/>
            <a:endParaRPr lang="en-US">
              <a:solidFill>
                <a:schemeClr val="hlink"/>
              </a:solidFill>
              <a:latin typeface="Symbol" pitchFamily="18" charset="2"/>
            </a:endParaRPr>
          </a:p>
        </p:txBody>
      </p:sp>
      <p:graphicFrame>
        <p:nvGraphicFramePr>
          <p:cNvPr id="11" name="Object 17">
            <a:extLst>
              <a:ext uri="{FF2B5EF4-FFF2-40B4-BE49-F238E27FC236}">
                <a16:creationId xmlns:a16="http://schemas.microsoft.com/office/drawing/2014/main" id="{EE72AB72-50E4-B91F-AC6F-FEF2F42500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7334004"/>
              </p:ext>
            </p:extLst>
          </p:nvPr>
        </p:nvGraphicFramePr>
        <p:xfrm>
          <a:off x="2119313" y="1527585"/>
          <a:ext cx="443865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17640" imgH="583920" progId="Equation.3">
                  <p:embed/>
                </p:oleObj>
              </mc:Choice>
              <mc:Fallback>
                <p:oleObj name="Equation" r:id="rId2" imgW="2717640" imgH="583920" progId="Equation.3">
                  <p:embed/>
                  <p:pic>
                    <p:nvPicPr>
                      <p:cNvPr id="11" name="Object 17">
                        <a:extLst>
                          <a:ext uri="{FF2B5EF4-FFF2-40B4-BE49-F238E27FC236}">
                            <a16:creationId xmlns:a16="http://schemas.microsoft.com/office/drawing/2014/main" id="{EE72AB72-50E4-B91F-AC6F-FEF2F42500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313" y="1527585"/>
                        <a:ext cx="4438650" cy="949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35">
            <a:extLst>
              <a:ext uri="{FF2B5EF4-FFF2-40B4-BE49-F238E27FC236}">
                <a16:creationId xmlns:a16="http://schemas.microsoft.com/office/drawing/2014/main" id="{1D1A3E2A-1918-6EA4-AC23-940026815DD0}"/>
              </a:ext>
            </a:extLst>
          </p:cNvPr>
          <p:cNvGrpSpPr>
            <a:grpSpLocks/>
          </p:cNvGrpSpPr>
          <p:nvPr/>
        </p:nvGrpSpPr>
        <p:grpSpPr bwMode="auto">
          <a:xfrm>
            <a:off x="1665288" y="3029360"/>
            <a:ext cx="8947150" cy="877887"/>
            <a:chOff x="89" y="1781"/>
            <a:chExt cx="5636" cy="553"/>
          </a:xfrm>
        </p:grpSpPr>
        <p:graphicFrame>
          <p:nvGraphicFramePr>
            <p:cNvPr id="13" name="Object 4">
              <a:extLst>
                <a:ext uri="{FF2B5EF4-FFF2-40B4-BE49-F238E27FC236}">
                  <a16:creationId xmlns:a16="http://schemas.microsoft.com/office/drawing/2014/main" id="{02F57A4F-7A47-44AC-359A-0232B451773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81" y="1781"/>
            <a:ext cx="3344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251160" imgH="393480" progId="Equation.3">
                    <p:embed/>
                  </p:oleObj>
                </mc:Choice>
                <mc:Fallback>
                  <p:oleObj name="Equation" r:id="rId4" imgW="3251160" imgH="393480" progId="Equation.3">
                    <p:embed/>
                    <p:pic>
                      <p:nvPicPr>
                        <p:cNvPr id="13" name="Object 4">
                          <a:extLst>
                            <a:ext uri="{FF2B5EF4-FFF2-40B4-BE49-F238E27FC236}">
                              <a16:creationId xmlns:a16="http://schemas.microsoft.com/office/drawing/2014/main" id="{02F57A4F-7A47-44AC-359A-0232B451773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1" y="1781"/>
                          <a:ext cx="3344" cy="40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DA74BC8-86AC-4D32-8E4C-5D41E1F62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" y="1801"/>
              <a:ext cx="796" cy="37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62000"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</a:rPr>
                <a:t>H</a:t>
              </a:r>
              <a:r>
                <a:rPr lang="en-US">
                  <a:latin typeface="Times New Roman" pitchFamily="18" charset="0"/>
                </a:rPr>
                <a:t>(</a:t>
              </a:r>
              <a:r>
                <a:rPr lang="en-US" i="1">
                  <a:latin typeface="Times New Roman" pitchFamily="18" charset="0"/>
                </a:rPr>
                <a:t>f</a:t>
              </a:r>
              <a:r>
                <a:rPr lang="en-US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AAF7B097-20D7-A08E-9759-DF3F537F60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" y="1995"/>
              <a:ext cx="47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ED68A030-89F8-9AA5-EAD8-91D3F9C760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3" y="1996"/>
              <a:ext cx="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DA3E7CEB-A335-B45E-6FAD-F0785786FE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" y="1852"/>
              <a:ext cx="404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762000"/>
              <a:r>
                <a:rPr lang="en-US" i="1">
                  <a:latin typeface="Times New Roman" pitchFamily="18" charset="0"/>
                </a:rPr>
                <a:t>G</a:t>
              </a:r>
              <a:r>
                <a:rPr lang="en-US">
                  <a:latin typeface="Times New Roman" pitchFamily="18" charset="0"/>
                </a:rPr>
                <a:t>(</a:t>
              </a:r>
              <a:r>
                <a:rPr lang="en-US" i="1">
                  <a:latin typeface="Times New Roman" pitchFamily="18" charset="0"/>
                </a:rPr>
                <a:t>f</a:t>
              </a:r>
              <a:r>
                <a:rPr lang="en-US">
                  <a:latin typeface="Times New Roman" pitchFamily="18" charset="0"/>
                </a:rPr>
                <a:t>)</a:t>
              </a:r>
              <a:endParaRPr lang="en-US">
                <a:latin typeface="Symbol" pitchFamily="18" charset="2"/>
              </a:endParaRPr>
            </a:p>
          </p:txBody>
        </p:sp>
        <p:graphicFrame>
          <p:nvGraphicFramePr>
            <p:cNvPr id="18" name="Object 18">
              <a:extLst>
                <a:ext uri="{FF2B5EF4-FFF2-40B4-BE49-F238E27FC236}">
                  <a16:creationId xmlns:a16="http://schemas.microsoft.com/office/drawing/2014/main" id="{1C5015C6-679D-AC50-8DD9-62B074941F6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9" y="2101"/>
            <a:ext cx="994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95280" imgH="304560" progId="Equation.3">
                    <p:embed/>
                  </p:oleObj>
                </mc:Choice>
                <mc:Fallback>
                  <p:oleObj name="Equation" r:id="rId6" imgW="1295280" imgH="304560" progId="Equation.3">
                    <p:embed/>
                    <p:pic>
                      <p:nvPicPr>
                        <p:cNvPr id="18" name="Object 18">
                          <a:extLst>
                            <a:ext uri="{FF2B5EF4-FFF2-40B4-BE49-F238E27FC236}">
                              <a16:creationId xmlns:a16="http://schemas.microsoft.com/office/drawing/2014/main" id="{1C5015C6-679D-AC50-8DD9-62B074941F6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" y="2101"/>
                          <a:ext cx="994" cy="23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Group 36">
            <a:extLst>
              <a:ext uri="{FF2B5EF4-FFF2-40B4-BE49-F238E27FC236}">
                <a16:creationId xmlns:a16="http://schemas.microsoft.com/office/drawing/2014/main" id="{BD0718A9-E43A-D17B-4BE5-5E074F757397}"/>
              </a:ext>
            </a:extLst>
          </p:cNvPr>
          <p:cNvGrpSpPr>
            <a:grpSpLocks/>
          </p:cNvGrpSpPr>
          <p:nvPr/>
        </p:nvGrpSpPr>
        <p:grpSpPr bwMode="auto">
          <a:xfrm>
            <a:off x="1924051" y="4205697"/>
            <a:ext cx="8124825" cy="639763"/>
            <a:chOff x="252" y="2522"/>
            <a:chExt cx="5118" cy="403"/>
          </a:xfrm>
        </p:grpSpPr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95B2C0D1-2A32-DFF6-8227-C33BB29DA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" y="2542"/>
              <a:ext cx="796" cy="37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62000"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</a:rPr>
                <a:t>h</a:t>
              </a:r>
              <a:r>
                <a:rPr lang="en-US">
                  <a:latin typeface="Times New Roman" pitchFamily="18" charset="0"/>
                </a:rPr>
                <a:t>(</a:t>
              </a:r>
              <a:r>
                <a:rPr lang="en-US" i="1">
                  <a:latin typeface="Times New Roman" pitchFamily="18" charset="0"/>
                </a:rPr>
                <a:t>t</a:t>
              </a:r>
              <a:r>
                <a:rPr lang="en-US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D15E76EE-D08E-5646-0FE4-A55D99D393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7" y="2736"/>
              <a:ext cx="47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0C958D88-5C7A-7855-1CAC-EDEEE79CD6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4" y="2737"/>
              <a:ext cx="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Text Box 23">
              <a:extLst>
                <a:ext uri="{FF2B5EF4-FFF2-40B4-BE49-F238E27FC236}">
                  <a16:creationId xmlns:a16="http://schemas.microsoft.com/office/drawing/2014/main" id="{291962A9-5B3B-BD88-65DD-F17D02E310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" y="2593"/>
              <a:ext cx="404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762000"/>
              <a:r>
                <a:rPr lang="en-US" i="1">
                  <a:latin typeface="Times New Roman" pitchFamily="18" charset="0"/>
                </a:rPr>
                <a:t>g</a:t>
              </a:r>
              <a:r>
                <a:rPr lang="en-US">
                  <a:latin typeface="Times New Roman" pitchFamily="18" charset="0"/>
                </a:rPr>
                <a:t>(</a:t>
              </a:r>
              <a:r>
                <a:rPr lang="en-US" i="1">
                  <a:latin typeface="Times New Roman" pitchFamily="18" charset="0"/>
                </a:rPr>
                <a:t>t</a:t>
              </a:r>
              <a:r>
                <a:rPr lang="en-US">
                  <a:latin typeface="Times New Roman" pitchFamily="18" charset="0"/>
                </a:rPr>
                <a:t>)</a:t>
              </a:r>
            </a:p>
          </p:txBody>
        </p:sp>
        <p:graphicFrame>
          <p:nvGraphicFramePr>
            <p:cNvPr id="24" name="Object 24">
              <a:extLst>
                <a:ext uri="{FF2B5EF4-FFF2-40B4-BE49-F238E27FC236}">
                  <a16:creationId xmlns:a16="http://schemas.microsoft.com/office/drawing/2014/main" id="{6F099B5A-6F42-0762-3329-64CECDD778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5" y="2522"/>
            <a:ext cx="2965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882880" imgH="393480" progId="Equation.3">
                    <p:embed/>
                  </p:oleObj>
                </mc:Choice>
                <mc:Fallback>
                  <p:oleObj name="Equation" r:id="rId8" imgW="2882880" imgH="393480" progId="Equation.3">
                    <p:embed/>
                    <p:pic>
                      <p:nvPicPr>
                        <p:cNvPr id="24" name="Object 24">
                          <a:extLst>
                            <a:ext uri="{FF2B5EF4-FFF2-40B4-BE49-F238E27FC236}">
                              <a16:creationId xmlns:a16="http://schemas.microsoft.com/office/drawing/2014/main" id="{6F099B5A-6F42-0762-3329-64CECDD7785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5" y="2522"/>
                          <a:ext cx="2965" cy="40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Group 37">
            <a:extLst>
              <a:ext uri="{FF2B5EF4-FFF2-40B4-BE49-F238E27FC236}">
                <a16:creationId xmlns:a16="http://schemas.microsoft.com/office/drawing/2014/main" id="{9B8DCBB3-9BDD-E1F5-E42B-5E1E7F19015F}"/>
              </a:ext>
            </a:extLst>
          </p:cNvPr>
          <p:cNvGrpSpPr>
            <a:grpSpLocks/>
          </p:cNvGrpSpPr>
          <p:nvPr/>
        </p:nvGrpSpPr>
        <p:grpSpPr bwMode="auto">
          <a:xfrm>
            <a:off x="1898650" y="5393146"/>
            <a:ext cx="7297738" cy="920750"/>
            <a:chOff x="236" y="3270"/>
            <a:chExt cx="4597" cy="580"/>
          </a:xfrm>
        </p:grpSpPr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5FA9C47E-2894-3AAA-EDDC-4246B55E86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" y="3686"/>
              <a:ext cx="691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7EAD9AEA-A030-9FC2-34DF-24A97FBE88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5" y="3351"/>
              <a:ext cx="0" cy="498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354222A-43B3-05C5-CF93-ED54A34EA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" y="3335"/>
              <a:ext cx="456" cy="233"/>
            </a:xfrm>
            <a:custGeom>
              <a:avLst/>
              <a:gdLst/>
              <a:ahLst/>
              <a:cxnLst>
                <a:cxn ang="0">
                  <a:pos x="0" y="232"/>
                </a:cxn>
                <a:cxn ang="0">
                  <a:pos x="42" y="95"/>
                </a:cxn>
                <a:cxn ang="0">
                  <a:pos x="136" y="1"/>
                </a:cxn>
                <a:cxn ang="0">
                  <a:pos x="199" y="101"/>
                </a:cxn>
                <a:cxn ang="0">
                  <a:pos x="293" y="148"/>
                </a:cxn>
                <a:cxn ang="0">
                  <a:pos x="456" y="216"/>
                </a:cxn>
              </a:cxnLst>
              <a:rect l="0" t="0" r="r" b="b"/>
              <a:pathLst>
                <a:path w="456" h="232">
                  <a:moveTo>
                    <a:pt x="0" y="232"/>
                  </a:moveTo>
                  <a:cubicBezTo>
                    <a:pt x="9" y="183"/>
                    <a:pt x="19" y="134"/>
                    <a:pt x="42" y="95"/>
                  </a:cubicBezTo>
                  <a:cubicBezTo>
                    <a:pt x="65" y="56"/>
                    <a:pt x="110" y="0"/>
                    <a:pt x="136" y="1"/>
                  </a:cubicBezTo>
                  <a:cubicBezTo>
                    <a:pt x="162" y="2"/>
                    <a:pt x="173" y="76"/>
                    <a:pt x="199" y="101"/>
                  </a:cubicBezTo>
                  <a:cubicBezTo>
                    <a:pt x="225" y="126"/>
                    <a:pt x="250" y="129"/>
                    <a:pt x="293" y="148"/>
                  </a:cubicBezTo>
                  <a:cubicBezTo>
                    <a:pt x="336" y="167"/>
                    <a:pt x="396" y="191"/>
                    <a:pt x="456" y="216"/>
                  </a:cubicBezTo>
                </a:path>
              </a:pathLst>
            </a:custGeom>
            <a:noFill/>
            <a:ln w="1905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89294218-91CF-4995-828A-EF67BEE7DF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7" y="3687"/>
              <a:ext cx="1199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6F45664C-E125-7EFD-8B80-6FC3503B87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56" y="3352"/>
              <a:ext cx="0" cy="498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2CC9D47-5507-195C-EF51-8A8711C3A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6" y="3341"/>
              <a:ext cx="456" cy="233"/>
            </a:xfrm>
            <a:custGeom>
              <a:avLst/>
              <a:gdLst/>
              <a:ahLst/>
              <a:cxnLst>
                <a:cxn ang="0">
                  <a:pos x="0" y="232"/>
                </a:cxn>
                <a:cxn ang="0">
                  <a:pos x="42" y="95"/>
                </a:cxn>
                <a:cxn ang="0">
                  <a:pos x="136" y="1"/>
                </a:cxn>
                <a:cxn ang="0">
                  <a:pos x="199" y="101"/>
                </a:cxn>
                <a:cxn ang="0">
                  <a:pos x="293" y="148"/>
                </a:cxn>
                <a:cxn ang="0">
                  <a:pos x="456" y="216"/>
                </a:cxn>
              </a:cxnLst>
              <a:rect l="0" t="0" r="r" b="b"/>
              <a:pathLst>
                <a:path w="456" h="232">
                  <a:moveTo>
                    <a:pt x="0" y="232"/>
                  </a:moveTo>
                  <a:cubicBezTo>
                    <a:pt x="9" y="183"/>
                    <a:pt x="19" y="134"/>
                    <a:pt x="42" y="95"/>
                  </a:cubicBezTo>
                  <a:cubicBezTo>
                    <a:pt x="65" y="56"/>
                    <a:pt x="110" y="0"/>
                    <a:pt x="136" y="1"/>
                  </a:cubicBezTo>
                  <a:cubicBezTo>
                    <a:pt x="162" y="2"/>
                    <a:pt x="173" y="76"/>
                    <a:pt x="199" y="101"/>
                  </a:cubicBezTo>
                  <a:cubicBezTo>
                    <a:pt x="225" y="126"/>
                    <a:pt x="250" y="129"/>
                    <a:pt x="293" y="148"/>
                  </a:cubicBezTo>
                  <a:cubicBezTo>
                    <a:pt x="336" y="167"/>
                    <a:pt x="396" y="191"/>
                    <a:pt x="456" y="216"/>
                  </a:cubicBezTo>
                </a:path>
              </a:pathLst>
            </a:custGeom>
            <a:noFill/>
            <a:ln w="19050" cap="flat" cmpd="sng">
              <a:solidFill>
                <a:srgbClr val="063DE8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09A1C729-EC50-F03F-E856-6F7F0764A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7" y="3583"/>
              <a:ext cx="456" cy="233"/>
            </a:xfrm>
            <a:custGeom>
              <a:avLst/>
              <a:gdLst/>
              <a:ahLst/>
              <a:cxnLst>
                <a:cxn ang="0">
                  <a:pos x="0" y="232"/>
                </a:cxn>
                <a:cxn ang="0">
                  <a:pos x="42" y="95"/>
                </a:cxn>
                <a:cxn ang="0">
                  <a:pos x="136" y="1"/>
                </a:cxn>
                <a:cxn ang="0">
                  <a:pos x="199" y="101"/>
                </a:cxn>
                <a:cxn ang="0">
                  <a:pos x="293" y="148"/>
                </a:cxn>
                <a:cxn ang="0">
                  <a:pos x="456" y="216"/>
                </a:cxn>
              </a:cxnLst>
              <a:rect l="0" t="0" r="r" b="b"/>
              <a:pathLst>
                <a:path w="456" h="232">
                  <a:moveTo>
                    <a:pt x="0" y="232"/>
                  </a:moveTo>
                  <a:cubicBezTo>
                    <a:pt x="9" y="183"/>
                    <a:pt x="19" y="134"/>
                    <a:pt x="42" y="95"/>
                  </a:cubicBezTo>
                  <a:cubicBezTo>
                    <a:pt x="65" y="56"/>
                    <a:pt x="110" y="0"/>
                    <a:pt x="136" y="1"/>
                  </a:cubicBezTo>
                  <a:cubicBezTo>
                    <a:pt x="162" y="2"/>
                    <a:pt x="173" y="76"/>
                    <a:pt x="199" y="101"/>
                  </a:cubicBezTo>
                  <a:cubicBezTo>
                    <a:pt x="225" y="126"/>
                    <a:pt x="250" y="129"/>
                    <a:pt x="293" y="148"/>
                  </a:cubicBezTo>
                  <a:cubicBezTo>
                    <a:pt x="336" y="167"/>
                    <a:pt x="396" y="191"/>
                    <a:pt x="456" y="216"/>
                  </a:cubicBezTo>
                </a:path>
              </a:pathLst>
            </a:custGeom>
            <a:noFill/>
            <a:ln w="19050" cap="flat" cmpd="sng">
              <a:solidFill>
                <a:srgbClr val="063DE8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30073D6-DAD5-1C0C-3FA2-8066C4563E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" y="3579"/>
              <a:ext cx="456" cy="233"/>
            </a:xfrm>
            <a:custGeom>
              <a:avLst/>
              <a:gdLst/>
              <a:ahLst/>
              <a:cxnLst>
                <a:cxn ang="0">
                  <a:pos x="0" y="232"/>
                </a:cxn>
                <a:cxn ang="0">
                  <a:pos x="42" y="95"/>
                </a:cxn>
                <a:cxn ang="0">
                  <a:pos x="136" y="1"/>
                </a:cxn>
                <a:cxn ang="0">
                  <a:pos x="199" y="101"/>
                </a:cxn>
                <a:cxn ang="0">
                  <a:pos x="293" y="148"/>
                </a:cxn>
                <a:cxn ang="0">
                  <a:pos x="456" y="216"/>
                </a:cxn>
              </a:cxnLst>
              <a:rect l="0" t="0" r="r" b="b"/>
              <a:pathLst>
                <a:path w="456" h="232">
                  <a:moveTo>
                    <a:pt x="0" y="232"/>
                  </a:moveTo>
                  <a:cubicBezTo>
                    <a:pt x="9" y="183"/>
                    <a:pt x="19" y="134"/>
                    <a:pt x="42" y="95"/>
                  </a:cubicBezTo>
                  <a:cubicBezTo>
                    <a:pt x="65" y="56"/>
                    <a:pt x="110" y="0"/>
                    <a:pt x="136" y="1"/>
                  </a:cubicBezTo>
                  <a:cubicBezTo>
                    <a:pt x="162" y="2"/>
                    <a:pt x="173" y="76"/>
                    <a:pt x="199" y="101"/>
                  </a:cubicBezTo>
                  <a:cubicBezTo>
                    <a:pt x="225" y="126"/>
                    <a:pt x="250" y="129"/>
                    <a:pt x="293" y="148"/>
                  </a:cubicBezTo>
                  <a:cubicBezTo>
                    <a:pt x="336" y="167"/>
                    <a:pt x="396" y="191"/>
                    <a:pt x="456" y="216"/>
                  </a:cubicBezTo>
                </a:path>
              </a:pathLst>
            </a:custGeom>
            <a:noFill/>
            <a:ln w="19050" cap="flat" cmpd="sng">
              <a:solidFill>
                <a:srgbClr val="063DE8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5BC6EC1-CBE7-1E8D-E71D-812BDF5A5D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5" y="3280"/>
              <a:ext cx="717" cy="233"/>
            </a:xfrm>
            <a:custGeom>
              <a:avLst/>
              <a:gdLst/>
              <a:ahLst/>
              <a:cxnLst>
                <a:cxn ang="0">
                  <a:pos x="0" y="401"/>
                </a:cxn>
                <a:cxn ang="0">
                  <a:pos x="68" y="333"/>
                </a:cxn>
                <a:cxn ang="0">
                  <a:pos x="147" y="302"/>
                </a:cxn>
                <a:cxn ang="0">
                  <a:pos x="157" y="155"/>
                </a:cxn>
                <a:cxn ang="0">
                  <a:pos x="215" y="35"/>
                </a:cxn>
                <a:cxn ang="0">
                  <a:pos x="272" y="14"/>
                </a:cxn>
                <a:cxn ang="0">
                  <a:pos x="330" y="118"/>
                </a:cxn>
                <a:cxn ang="0">
                  <a:pos x="356" y="181"/>
                </a:cxn>
                <a:cxn ang="0">
                  <a:pos x="419" y="160"/>
                </a:cxn>
                <a:cxn ang="0">
                  <a:pos x="497" y="275"/>
                </a:cxn>
                <a:cxn ang="0">
                  <a:pos x="560" y="354"/>
                </a:cxn>
                <a:cxn ang="0">
                  <a:pos x="717" y="406"/>
                </a:cxn>
              </a:cxnLst>
              <a:rect l="0" t="0" r="r" b="b"/>
              <a:pathLst>
                <a:path w="717" h="406">
                  <a:moveTo>
                    <a:pt x="0" y="401"/>
                  </a:moveTo>
                  <a:cubicBezTo>
                    <a:pt x="22" y="375"/>
                    <a:pt x="44" y="349"/>
                    <a:pt x="68" y="333"/>
                  </a:cubicBezTo>
                  <a:cubicBezTo>
                    <a:pt x="92" y="317"/>
                    <a:pt x="132" y="332"/>
                    <a:pt x="147" y="302"/>
                  </a:cubicBezTo>
                  <a:cubicBezTo>
                    <a:pt x="162" y="272"/>
                    <a:pt x="146" y="199"/>
                    <a:pt x="157" y="155"/>
                  </a:cubicBezTo>
                  <a:cubicBezTo>
                    <a:pt x="168" y="111"/>
                    <a:pt x="196" y="58"/>
                    <a:pt x="215" y="35"/>
                  </a:cubicBezTo>
                  <a:cubicBezTo>
                    <a:pt x="234" y="12"/>
                    <a:pt x="253" y="0"/>
                    <a:pt x="272" y="14"/>
                  </a:cubicBezTo>
                  <a:cubicBezTo>
                    <a:pt x="291" y="28"/>
                    <a:pt x="316" y="90"/>
                    <a:pt x="330" y="118"/>
                  </a:cubicBezTo>
                  <a:cubicBezTo>
                    <a:pt x="344" y="146"/>
                    <a:pt x="341" y="174"/>
                    <a:pt x="356" y="181"/>
                  </a:cubicBezTo>
                  <a:cubicBezTo>
                    <a:pt x="371" y="188"/>
                    <a:pt x="395" y="144"/>
                    <a:pt x="419" y="160"/>
                  </a:cubicBezTo>
                  <a:cubicBezTo>
                    <a:pt x="443" y="176"/>
                    <a:pt x="474" y="243"/>
                    <a:pt x="497" y="275"/>
                  </a:cubicBezTo>
                  <a:cubicBezTo>
                    <a:pt x="520" y="307"/>
                    <a:pt x="523" y="332"/>
                    <a:pt x="560" y="354"/>
                  </a:cubicBezTo>
                  <a:cubicBezTo>
                    <a:pt x="597" y="376"/>
                    <a:pt x="684" y="395"/>
                    <a:pt x="717" y="406"/>
                  </a:cubicBezTo>
                </a:path>
              </a:pathLst>
            </a:custGeom>
            <a:noFill/>
            <a:ln w="19050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35" name="Text Box 34">
              <a:extLst>
                <a:ext uri="{FF2B5EF4-FFF2-40B4-BE49-F238E27FC236}">
                  <a16:creationId xmlns:a16="http://schemas.microsoft.com/office/drawing/2014/main" id="{C1E5E43C-5E40-B891-436B-4924CF54D5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" y="3270"/>
              <a:ext cx="1246" cy="33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400">
                  <a:latin typeface="Nokia Sans Wide" pitchFamily="34" charset="0"/>
                </a:rPr>
                <a:t>distorção linear introduz</a:t>
              </a:r>
            </a:p>
            <a:p>
              <a:pPr defTabSz="762000"/>
              <a:r>
                <a:rPr lang="en-US" sz="1400">
                  <a:latin typeface="Nokia Sans Wide" pitchFamily="34" charset="0"/>
                </a:rPr>
                <a:t>espalhamento no tempo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5886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181BE-C1D3-6CE4-B276-91B1AF3E4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195D58-7E84-DF1F-3EEF-5851BAB56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Atraso de Grupo (</a:t>
            </a:r>
            <a:r>
              <a:rPr lang="pt-BR" dirty="0" err="1"/>
              <a:t>Group</a:t>
            </a:r>
            <a:r>
              <a:rPr lang="pt-BR" dirty="0"/>
              <a:t> Delay)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397D90B-0390-A91A-D937-FAB7942D1A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Group Delay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𝑑𝑓</m:t>
                        </m:r>
                      </m:den>
                    </m:f>
                  </m:oMath>
                </a14:m>
                <a:endParaRPr lang="pt-BR" b="0" dirty="0"/>
              </a:p>
              <a:p>
                <a:r>
                  <a:rPr lang="pt-BR" dirty="0"/>
                  <a:t>Indica o atraso temporal de cada componente na frequência</a:t>
                </a:r>
                <a:endParaRPr lang="pt-BR" b="0" dirty="0"/>
              </a:p>
              <a:p>
                <a:endParaRPr lang="pt-BR" dirty="0"/>
              </a:p>
              <a:p>
                <a:r>
                  <a:rPr lang="pt-BR" b="0" dirty="0"/>
                  <a:t>Para sistemas sem distorção</a:t>
                </a:r>
                <a:endParaRPr lang="pt-BR" dirty="0"/>
              </a:p>
              <a:p>
                <a:pPr lvl="1"/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=−2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𝑓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groupChr>
                      <m:groupChrPr>
                        <m:chr m:val="⇒"/>
                        <m:pos m:val="bot"/>
                        <m:vertJc m:val="bot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pt-BR" b="0" dirty="0"/>
              </a:p>
              <a:p>
                <a:pPr lvl="1"/>
                <a:r>
                  <a:rPr lang="pt-BR" dirty="0"/>
                  <a:t>Todos os componentes de frequência sofrem o mesmo atraso!</a:t>
                </a:r>
                <a:endParaRPr lang="pt-BR" b="0" dirty="0"/>
              </a:p>
              <a:p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397D90B-0390-A91A-D937-FAB7942D1A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362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E9AED-A522-F79B-53E7-9DB5A0F03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Exemplo: Transmissão com Distorção de Fase</a:t>
            </a:r>
          </a:p>
        </p:txBody>
      </p:sp>
      <p:sp>
        <p:nvSpPr>
          <p:cNvPr id="3" name="Line 61">
            <a:extLst>
              <a:ext uri="{FF2B5EF4-FFF2-40B4-BE49-F238E27FC236}">
                <a16:creationId xmlns:a16="http://schemas.microsoft.com/office/drawing/2014/main" id="{3078B85C-C10B-C8E7-B14F-DEFE567B4C12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5035550" y="3498850"/>
            <a:ext cx="2216150" cy="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4" name="Line 60">
            <a:extLst>
              <a:ext uri="{FF2B5EF4-FFF2-40B4-BE49-F238E27FC236}">
                <a16:creationId xmlns:a16="http://schemas.microsoft.com/office/drawing/2014/main" id="{A29DA11B-A594-6889-6554-AD3DAA31224C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5035550" y="4718050"/>
            <a:ext cx="2216150" cy="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grpSp>
        <p:nvGrpSpPr>
          <p:cNvPr id="5" name="Group 23">
            <a:extLst>
              <a:ext uri="{FF2B5EF4-FFF2-40B4-BE49-F238E27FC236}">
                <a16:creationId xmlns:a16="http://schemas.microsoft.com/office/drawing/2014/main" id="{9EE21805-6278-5570-91D9-98F9251574C3}"/>
              </a:ext>
            </a:extLst>
          </p:cNvPr>
          <p:cNvGrpSpPr>
            <a:grpSpLocks/>
          </p:cNvGrpSpPr>
          <p:nvPr/>
        </p:nvGrpSpPr>
        <p:grpSpPr bwMode="auto">
          <a:xfrm>
            <a:off x="1644650" y="1401763"/>
            <a:ext cx="2928938" cy="1047750"/>
            <a:chOff x="568" y="2035"/>
            <a:chExt cx="1845" cy="660"/>
          </a:xfrm>
        </p:grpSpPr>
        <p:sp>
          <p:nvSpPr>
            <p:cNvPr id="6" name="Freeform 18">
              <a:extLst>
                <a:ext uri="{FF2B5EF4-FFF2-40B4-BE49-F238E27FC236}">
                  <a16:creationId xmlns:a16="http://schemas.microsoft.com/office/drawing/2014/main" id="{7280177F-7001-6AE0-EAA1-29AE0C211082}"/>
                </a:ext>
              </a:extLst>
            </p:cNvPr>
            <p:cNvSpPr>
              <a:spLocks noChangeAspect="1"/>
            </p:cNvSpPr>
            <p:nvPr/>
          </p:nvSpPr>
          <p:spPr bwMode="black">
            <a:xfrm>
              <a:off x="593" y="2097"/>
              <a:ext cx="1788" cy="598"/>
            </a:xfrm>
            <a:custGeom>
              <a:avLst/>
              <a:gdLst/>
              <a:ahLst/>
              <a:cxnLst>
                <a:cxn ang="0">
                  <a:pos x="0" y="1684"/>
                </a:cxn>
                <a:cxn ang="0">
                  <a:pos x="68" y="1383"/>
                </a:cxn>
                <a:cxn ang="0">
                  <a:pos x="276" y="40"/>
                </a:cxn>
                <a:cxn ang="0">
                  <a:pos x="525" y="1621"/>
                </a:cxn>
                <a:cxn ang="0">
                  <a:pos x="726" y="1522"/>
                </a:cxn>
                <a:cxn ang="0">
                  <a:pos x="942" y="1618"/>
                </a:cxn>
                <a:cxn ang="0">
                  <a:pos x="1188" y="43"/>
                </a:cxn>
                <a:cxn ang="0">
                  <a:pos x="1434" y="1618"/>
                </a:cxn>
                <a:cxn ang="0">
                  <a:pos x="1644" y="1522"/>
                </a:cxn>
                <a:cxn ang="0">
                  <a:pos x="1854" y="1615"/>
                </a:cxn>
                <a:cxn ang="0">
                  <a:pos x="2103" y="34"/>
                </a:cxn>
                <a:cxn ang="0">
                  <a:pos x="2349" y="1618"/>
                </a:cxn>
                <a:cxn ang="0">
                  <a:pos x="2559" y="1519"/>
                </a:cxn>
                <a:cxn ang="0">
                  <a:pos x="2769" y="1615"/>
                </a:cxn>
                <a:cxn ang="0">
                  <a:pos x="3015" y="46"/>
                </a:cxn>
                <a:cxn ang="0">
                  <a:pos x="3264" y="1618"/>
                </a:cxn>
                <a:cxn ang="0">
                  <a:pos x="3471" y="1522"/>
                </a:cxn>
                <a:cxn ang="0">
                  <a:pos x="3681" y="1618"/>
                </a:cxn>
                <a:cxn ang="0">
                  <a:pos x="3930" y="46"/>
                </a:cxn>
                <a:cxn ang="0">
                  <a:pos x="4182" y="1615"/>
                </a:cxn>
                <a:cxn ang="0">
                  <a:pos x="4374" y="1522"/>
                </a:cxn>
                <a:cxn ang="0">
                  <a:pos x="4473" y="1627"/>
                </a:cxn>
              </a:cxnLst>
              <a:rect l="0" t="0" r="r" b="b"/>
              <a:pathLst>
                <a:path w="4473" h="1868">
                  <a:moveTo>
                    <a:pt x="0" y="1684"/>
                  </a:moveTo>
                  <a:cubicBezTo>
                    <a:pt x="11" y="1634"/>
                    <a:pt x="22" y="1657"/>
                    <a:pt x="68" y="1383"/>
                  </a:cubicBezTo>
                  <a:cubicBezTo>
                    <a:pt x="114" y="1109"/>
                    <a:pt x="200" y="0"/>
                    <a:pt x="276" y="40"/>
                  </a:cubicBezTo>
                  <a:cubicBezTo>
                    <a:pt x="352" y="80"/>
                    <a:pt x="450" y="1374"/>
                    <a:pt x="525" y="1621"/>
                  </a:cubicBezTo>
                  <a:cubicBezTo>
                    <a:pt x="600" y="1868"/>
                    <a:pt x="657" y="1522"/>
                    <a:pt x="726" y="1522"/>
                  </a:cubicBezTo>
                  <a:cubicBezTo>
                    <a:pt x="795" y="1522"/>
                    <a:pt x="865" y="1865"/>
                    <a:pt x="942" y="1618"/>
                  </a:cubicBezTo>
                  <a:cubicBezTo>
                    <a:pt x="1019" y="1371"/>
                    <a:pt x="1106" y="43"/>
                    <a:pt x="1188" y="43"/>
                  </a:cubicBezTo>
                  <a:cubicBezTo>
                    <a:pt x="1270" y="43"/>
                    <a:pt x="1358" y="1372"/>
                    <a:pt x="1434" y="1618"/>
                  </a:cubicBezTo>
                  <a:cubicBezTo>
                    <a:pt x="1510" y="1864"/>
                    <a:pt x="1574" y="1523"/>
                    <a:pt x="1644" y="1522"/>
                  </a:cubicBezTo>
                  <a:cubicBezTo>
                    <a:pt x="1714" y="1521"/>
                    <a:pt x="1778" y="1863"/>
                    <a:pt x="1854" y="1615"/>
                  </a:cubicBezTo>
                  <a:cubicBezTo>
                    <a:pt x="1930" y="1367"/>
                    <a:pt x="2021" y="34"/>
                    <a:pt x="2103" y="34"/>
                  </a:cubicBezTo>
                  <a:cubicBezTo>
                    <a:pt x="2185" y="34"/>
                    <a:pt x="2273" y="1371"/>
                    <a:pt x="2349" y="1618"/>
                  </a:cubicBezTo>
                  <a:cubicBezTo>
                    <a:pt x="2425" y="1865"/>
                    <a:pt x="2489" y="1519"/>
                    <a:pt x="2559" y="1519"/>
                  </a:cubicBezTo>
                  <a:cubicBezTo>
                    <a:pt x="2629" y="1519"/>
                    <a:pt x="2693" y="1861"/>
                    <a:pt x="2769" y="1615"/>
                  </a:cubicBezTo>
                  <a:cubicBezTo>
                    <a:pt x="2845" y="1369"/>
                    <a:pt x="2933" y="46"/>
                    <a:pt x="3015" y="46"/>
                  </a:cubicBezTo>
                  <a:cubicBezTo>
                    <a:pt x="3097" y="46"/>
                    <a:pt x="3188" y="1372"/>
                    <a:pt x="3264" y="1618"/>
                  </a:cubicBezTo>
                  <a:cubicBezTo>
                    <a:pt x="3340" y="1864"/>
                    <a:pt x="3402" y="1522"/>
                    <a:pt x="3471" y="1522"/>
                  </a:cubicBezTo>
                  <a:cubicBezTo>
                    <a:pt x="3540" y="1522"/>
                    <a:pt x="3605" y="1864"/>
                    <a:pt x="3681" y="1618"/>
                  </a:cubicBezTo>
                  <a:cubicBezTo>
                    <a:pt x="3757" y="1372"/>
                    <a:pt x="3847" y="46"/>
                    <a:pt x="3930" y="46"/>
                  </a:cubicBezTo>
                  <a:cubicBezTo>
                    <a:pt x="4013" y="46"/>
                    <a:pt x="4108" y="1369"/>
                    <a:pt x="4182" y="1615"/>
                  </a:cubicBezTo>
                  <a:cubicBezTo>
                    <a:pt x="4256" y="1861"/>
                    <a:pt x="4326" y="1520"/>
                    <a:pt x="4374" y="1522"/>
                  </a:cubicBezTo>
                  <a:cubicBezTo>
                    <a:pt x="4422" y="1524"/>
                    <a:pt x="4453" y="1605"/>
                    <a:pt x="4473" y="1627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" name="Line 19">
              <a:extLst>
                <a:ext uri="{FF2B5EF4-FFF2-40B4-BE49-F238E27FC236}">
                  <a16:creationId xmlns:a16="http://schemas.microsoft.com/office/drawing/2014/main" id="{0150873A-6EB6-1A21-D184-9805A9B6F1D1}"/>
                </a:ext>
              </a:extLst>
            </p:cNvPr>
            <p:cNvSpPr>
              <a:spLocks noChangeAspect="1" noChangeShapeType="1"/>
            </p:cNvSpPr>
            <p:nvPr/>
          </p:nvSpPr>
          <p:spPr bwMode="black">
            <a:xfrm>
              <a:off x="568" y="2468"/>
              <a:ext cx="18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" name="Line 20">
              <a:extLst>
                <a:ext uri="{FF2B5EF4-FFF2-40B4-BE49-F238E27FC236}">
                  <a16:creationId xmlns:a16="http://schemas.microsoft.com/office/drawing/2014/main" id="{0FBC8179-9A4E-0760-651B-8A580FF0848B}"/>
                </a:ext>
              </a:extLst>
            </p:cNvPr>
            <p:cNvSpPr>
              <a:spLocks noChangeAspect="1" noChangeShapeType="1"/>
            </p:cNvSpPr>
            <p:nvPr/>
          </p:nvSpPr>
          <p:spPr bwMode="black">
            <a:xfrm flipH="1" flipV="1">
              <a:off x="1433" y="2035"/>
              <a:ext cx="1" cy="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9" name="Group 84">
            <a:extLst>
              <a:ext uri="{FF2B5EF4-FFF2-40B4-BE49-F238E27FC236}">
                <a16:creationId xmlns:a16="http://schemas.microsoft.com/office/drawing/2014/main" id="{5B609F60-D52C-92E1-57FE-70600CE109AB}"/>
              </a:ext>
            </a:extLst>
          </p:cNvPr>
          <p:cNvGrpSpPr>
            <a:grpSpLocks/>
          </p:cNvGrpSpPr>
          <p:nvPr/>
        </p:nvGrpSpPr>
        <p:grpSpPr bwMode="auto">
          <a:xfrm>
            <a:off x="1638300" y="4392613"/>
            <a:ext cx="2928938" cy="571500"/>
            <a:chOff x="72" y="2767"/>
            <a:chExt cx="1845" cy="360"/>
          </a:xfrm>
        </p:grpSpPr>
        <p:sp>
          <p:nvSpPr>
            <p:cNvPr id="10" name="Freeform 24">
              <a:extLst>
                <a:ext uri="{FF2B5EF4-FFF2-40B4-BE49-F238E27FC236}">
                  <a16:creationId xmlns:a16="http://schemas.microsoft.com/office/drawing/2014/main" id="{337D3460-6EC4-E614-6A03-9C6EB34421A7}"/>
                </a:ext>
              </a:extLst>
            </p:cNvPr>
            <p:cNvSpPr>
              <a:spLocks noChangeAspect="1"/>
            </p:cNvSpPr>
            <p:nvPr/>
          </p:nvSpPr>
          <p:spPr bwMode="black">
            <a:xfrm>
              <a:off x="98" y="2841"/>
              <a:ext cx="1787" cy="286"/>
            </a:xfrm>
            <a:custGeom>
              <a:avLst/>
              <a:gdLst/>
              <a:ahLst/>
              <a:cxnLst>
                <a:cxn ang="0">
                  <a:pos x="0" y="449"/>
                </a:cxn>
                <a:cxn ang="0">
                  <a:pos x="80" y="457"/>
                </a:cxn>
                <a:cxn ang="0">
                  <a:pos x="270" y="43"/>
                </a:cxn>
                <a:cxn ang="0">
                  <a:pos x="498" y="487"/>
                </a:cxn>
                <a:cxn ang="0">
                  <a:pos x="726" y="43"/>
                </a:cxn>
                <a:cxn ang="0">
                  <a:pos x="952" y="485"/>
                </a:cxn>
                <a:cxn ang="0">
                  <a:pos x="1180" y="43"/>
                </a:cxn>
                <a:cxn ang="0">
                  <a:pos x="1410" y="487"/>
                </a:cxn>
                <a:cxn ang="0">
                  <a:pos x="1640" y="43"/>
                </a:cxn>
                <a:cxn ang="0">
                  <a:pos x="1866" y="487"/>
                </a:cxn>
                <a:cxn ang="0">
                  <a:pos x="2098" y="39"/>
                </a:cxn>
                <a:cxn ang="0">
                  <a:pos x="2324" y="487"/>
                </a:cxn>
                <a:cxn ang="0">
                  <a:pos x="2554" y="43"/>
                </a:cxn>
                <a:cxn ang="0">
                  <a:pos x="2784" y="487"/>
                </a:cxn>
                <a:cxn ang="0">
                  <a:pos x="3010" y="41"/>
                </a:cxn>
                <a:cxn ang="0">
                  <a:pos x="3238" y="483"/>
                </a:cxn>
                <a:cxn ang="0">
                  <a:pos x="3468" y="45"/>
                </a:cxn>
                <a:cxn ang="0">
                  <a:pos x="3694" y="487"/>
                </a:cxn>
                <a:cxn ang="0">
                  <a:pos x="3922" y="41"/>
                </a:cxn>
                <a:cxn ang="0">
                  <a:pos x="4148" y="487"/>
                </a:cxn>
                <a:cxn ang="0">
                  <a:pos x="4360" y="51"/>
                </a:cxn>
                <a:cxn ang="0">
                  <a:pos x="4470" y="183"/>
                </a:cxn>
              </a:cxnLst>
              <a:rect l="0" t="0" r="r" b="b"/>
              <a:pathLst>
                <a:path w="4470" h="525">
                  <a:moveTo>
                    <a:pt x="0" y="449"/>
                  </a:moveTo>
                  <a:cubicBezTo>
                    <a:pt x="13" y="450"/>
                    <a:pt x="35" y="525"/>
                    <a:pt x="80" y="457"/>
                  </a:cubicBezTo>
                  <a:cubicBezTo>
                    <a:pt x="125" y="389"/>
                    <a:pt x="200" y="38"/>
                    <a:pt x="270" y="43"/>
                  </a:cubicBezTo>
                  <a:cubicBezTo>
                    <a:pt x="340" y="48"/>
                    <a:pt x="422" y="487"/>
                    <a:pt x="498" y="487"/>
                  </a:cubicBezTo>
                  <a:cubicBezTo>
                    <a:pt x="574" y="487"/>
                    <a:pt x="650" y="43"/>
                    <a:pt x="726" y="43"/>
                  </a:cubicBezTo>
                  <a:cubicBezTo>
                    <a:pt x="802" y="43"/>
                    <a:pt x="876" y="485"/>
                    <a:pt x="952" y="485"/>
                  </a:cubicBezTo>
                  <a:cubicBezTo>
                    <a:pt x="1028" y="485"/>
                    <a:pt x="1104" y="43"/>
                    <a:pt x="1180" y="43"/>
                  </a:cubicBezTo>
                  <a:cubicBezTo>
                    <a:pt x="1256" y="43"/>
                    <a:pt x="1333" y="487"/>
                    <a:pt x="1410" y="487"/>
                  </a:cubicBezTo>
                  <a:cubicBezTo>
                    <a:pt x="1487" y="487"/>
                    <a:pt x="1564" y="43"/>
                    <a:pt x="1640" y="43"/>
                  </a:cubicBezTo>
                  <a:cubicBezTo>
                    <a:pt x="1716" y="43"/>
                    <a:pt x="1790" y="488"/>
                    <a:pt x="1866" y="487"/>
                  </a:cubicBezTo>
                  <a:cubicBezTo>
                    <a:pt x="1942" y="486"/>
                    <a:pt x="2022" y="39"/>
                    <a:pt x="2098" y="39"/>
                  </a:cubicBezTo>
                  <a:cubicBezTo>
                    <a:pt x="2174" y="39"/>
                    <a:pt x="2248" y="486"/>
                    <a:pt x="2324" y="487"/>
                  </a:cubicBezTo>
                  <a:cubicBezTo>
                    <a:pt x="2400" y="488"/>
                    <a:pt x="2477" y="43"/>
                    <a:pt x="2554" y="43"/>
                  </a:cubicBezTo>
                  <a:cubicBezTo>
                    <a:pt x="2631" y="43"/>
                    <a:pt x="2708" y="487"/>
                    <a:pt x="2784" y="487"/>
                  </a:cubicBezTo>
                  <a:cubicBezTo>
                    <a:pt x="2860" y="487"/>
                    <a:pt x="2934" y="42"/>
                    <a:pt x="3010" y="41"/>
                  </a:cubicBezTo>
                  <a:cubicBezTo>
                    <a:pt x="3086" y="40"/>
                    <a:pt x="3162" y="482"/>
                    <a:pt x="3238" y="483"/>
                  </a:cubicBezTo>
                  <a:cubicBezTo>
                    <a:pt x="3314" y="484"/>
                    <a:pt x="3392" y="44"/>
                    <a:pt x="3468" y="45"/>
                  </a:cubicBezTo>
                  <a:cubicBezTo>
                    <a:pt x="3544" y="46"/>
                    <a:pt x="3618" y="488"/>
                    <a:pt x="3694" y="487"/>
                  </a:cubicBezTo>
                  <a:cubicBezTo>
                    <a:pt x="3770" y="486"/>
                    <a:pt x="3846" y="41"/>
                    <a:pt x="3922" y="41"/>
                  </a:cubicBezTo>
                  <a:cubicBezTo>
                    <a:pt x="3998" y="41"/>
                    <a:pt x="4075" y="485"/>
                    <a:pt x="4148" y="487"/>
                  </a:cubicBezTo>
                  <a:cubicBezTo>
                    <a:pt x="4221" y="489"/>
                    <a:pt x="4306" y="102"/>
                    <a:pt x="4360" y="51"/>
                  </a:cubicBezTo>
                  <a:cubicBezTo>
                    <a:pt x="4414" y="0"/>
                    <a:pt x="4447" y="156"/>
                    <a:pt x="4470" y="183"/>
                  </a:cubicBezTo>
                </a:path>
              </a:pathLst>
            </a:custGeom>
            <a:noFill/>
            <a:ln w="28575" cap="flat" cmpd="sng">
              <a:solidFill>
                <a:srgbClr val="33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" name="Line 25">
              <a:extLst>
                <a:ext uri="{FF2B5EF4-FFF2-40B4-BE49-F238E27FC236}">
                  <a16:creationId xmlns:a16="http://schemas.microsoft.com/office/drawing/2014/main" id="{1308EB36-E0B6-1369-461D-B0435784BFC8}"/>
                </a:ext>
              </a:extLst>
            </p:cNvPr>
            <p:cNvSpPr>
              <a:spLocks noChangeAspect="1" noChangeShapeType="1"/>
            </p:cNvSpPr>
            <p:nvPr/>
          </p:nvSpPr>
          <p:spPr bwMode="black">
            <a:xfrm>
              <a:off x="72" y="2987"/>
              <a:ext cx="18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2" name="Line 26">
              <a:extLst>
                <a:ext uri="{FF2B5EF4-FFF2-40B4-BE49-F238E27FC236}">
                  <a16:creationId xmlns:a16="http://schemas.microsoft.com/office/drawing/2014/main" id="{A064F650-C07E-6A0F-0BD1-77EC8698C306}"/>
                </a:ext>
              </a:extLst>
            </p:cNvPr>
            <p:cNvSpPr>
              <a:spLocks noChangeAspect="1" noChangeShapeType="1"/>
            </p:cNvSpPr>
            <p:nvPr/>
          </p:nvSpPr>
          <p:spPr bwMode="black">
            <a:xfrm flipV="1">
              <a:off x="936" y="2767"/>
              <a:ext cx="1" cy="3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3" name="Text Box 29">
            <a:extLst>
              <a:ext uri="{FF2B5EF4-FFF2-40B4-BE49-F238E27FC236}">
                <a16:creationId xmlns:a16="http://schemas.microsoft.com/office/drawing/2014/main" id="{B6FFB9A4-6F82-B37C-A223-FAFEFC9EA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100" y="3898900"/>
            <a:ext cx="355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BR">
                <a:latin typeface="Arial" pitchFamily="34" charset="0"/>
              </a:rPr>
              <a:t>+</a:t>
            </a:r>
          </a:p>
        </p:txBody>
      </p:sp>
      <p:sp>
        <p:nvSpPr>
          <p:cNvPr id="14" name="Text Box 30">
            <a:extLst>
              <a:ext uri="{FF2B5EF4-FFF2-40B4-BE49-F238E27FC236}">
                <a16:creationId xmlns:a16="http://schemas.microsoft.com/office/drawing/2014/main" id="{82F4DE3F-F014-F293-FC6D-F242C3122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100" y="2495550"/>
            <a:ext cx="355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BR">
                <a:latin typeface="Arial" pitchFamily="34" charset="0"/>
              </a:rPr>
              <a:t>=</a:t>
            </a:r>
          </a:p>
        </p:txBody>
      </p:sp>
      <p:graphicFrame>
        <p:nvGraphicFramePr>
          <p:cNvPr id="15" name="Object 31">
            <a:extLst>
              <a:ext uri="{FF2B5EF4-FFF2-40B4-BE49-F238E27FC236}">
                <a16:creationId xmlns:a16="http://schemas.microsoft.com/office/drawing/2014/main" id="{5C8CC391-2D02-EDFD-7874-81B4B56F6E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8638" y="5303839"/>
          <a:ext cx="2366962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73120" imgH="431640" progId="Equation.3">
                  <p:embed/>
                </p:oleObj>
              </mc:Choice>
              <mc:Fallback>
                <p:oleObj name="Equation" r:id="rId2" imgW="1473120" imgH="431640" progId="Equation.3">
                  <p:embed/>
                  <p:pic>
                    <p:nvPicPr>
                      <p:cNvPr id="15" name="Object 31">
                        <a:extLst>
                          <a:ext uri="{FF2B5EF4-FFF2-40B4-BE49-F238E27FC236}">
                            <a16:creationId xmlns:a16="http://schemas.microsoft.com/office/drawing/2014/main" id="{5C8CC391-2D02-EDFD-7874-81B4B56F6E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8638" y="5303839"/>
                        <a:ext cx="2366962" cy="693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32">
            <a:extLst>
              <a:ext uri="{FF2B5EF4-FFF2-40B4-BE49-F238E27FC236}">
                <a16:creationId xmlns:a16="http://schemas.microsoft.com/office/drawing/2014/main" id="{427BAD98-BF3C-F4B0-7409-C1F0EDBEF6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2839" y="5305425"/>
          <a:ext cx="2979737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54000" imgH="431640" progId="Equation.3">
                  <p:embed/>
                </p:oleObj>
              </mc:Choice>
              <mc:Fallback>
                <p:oleObj name="Equation" r:id="rId4" imgW="1854000" imgH="431640" progId="Equation.3">
                  <p:embed/>
                  <p:pic>
                    <p:nvPicPr>
                      <p:cNvPr id="16" name="Object 32">
                        <a:extLst>
                          <a:ext uri="{FF2B5EF4-FFF2-40B4-BE49-F238E27FC236}">
                            <a16:creationId xmlns:a16="http://schemas.microsoft.com/office/drawing/2014/main" id="{427BAD98-BF3C-F4B0-7409-C1F0EDBEF6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2839" y="5305425"/>
                        <a:ext cx="2979737" cy="692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85">
            <a:extLst>
              <a:ext uri="{FF2B5EF4-FFF2-40B4-BE49-F238E27FC236}">
                <a16:creationId xmlns:a16="http://schemas.microsoft.com/office/drawing/2014/main" id="{D20DE4FE-9216-D994-BDB7-458C4BD33C35}"/>
              </a:ext>
            </a:extLst>
          </p:cNvPr>
          <p:cNvGrpSpPr>
            <a:grpSpLocks/>
          </p:cNvGrpSpPr>
          <p:nvPr/>
        </p:nvGrpSpPr>
        <p:grpSpPr bwMode="auto">
          <a:xfrm>
            <a:off x="7597775" y="3008313"/>
            <a:ext cx="2928938" cy="920750"/>
            <a:chOff x="3826" y="1895"/>
            <a:chExt cx="1845" cy="580"/>
          </a:xfrm>
        </p:grpSpPr>
        <p:sp>
          <p:nvSpPr>
            <p:cNvPr id="18" name="Freeform 40">
              <a:extLst>
                <a:ext uri="{FF2B5EF4-FFF2-40B4-BE49-F238E27FC236}">
                  <a16:creationId xmlns:a16="http://schemas.microsoft.com/office/drawing/2014/main" id="{15AC771B-3B57-DF4C-E552-DBB0F74612F3}"/>
                </a:ext>
              </a:extLst>
            </p:cNvPr>
            <p:cNvSpPr>
              <a:spLocks noChangeAspect="1"/>
            </p:cNvSpPr>
            <p:nvPr/>
          </p:nvSpPr>
          <p:spPr bwMode="black">
            <a:xfrm>
              <a:off x="3853" y="1947"/>
              <a:ext cx="1812" cy="528"/>
            </a:xfrm>
            <a:custGeom>
              <a:avLst/>
              <a:gdLst/>
              <a:ahLst/>
              <a:cxnLst>
                <a:cxn ang="0">
                  <a:pos x="0" y="897"/>
                </a:cxn>
                <a:cxn ang="0">
                  <a:pos x="136" y="833"/>
                </a:cxn>
                <a:cxn ang="0">
                  <a:pos x="514" y="33"/>
                </a:cxn>
                <a:cxn ang="0">
                  <a:pos x="961" y="915"/>
                </a:cxn>
                <a:cxn ang="0">
                  <a:pos x="1417" y="33"/>
                </a:cxn>
                <a:cxn ang="0">
                  <a:pos x="1876" y="918"/>
                </a:cxn>
                <a:cxn ang="0">
                  <a:pos x="2329" y="33"/>
                </a:cxn>
                <a:cxn ang="0">
                  <a:pos x="2788" y="919"/>
                </a:cxn>
                <a:cxn ang="0">
                  <a:pos x="3244" y="27"/>
                </a:cxn>
                <a:cxn ang="0">
                  <a:pos x="3703" y="918"/>
                </a:cxn>
                <a:cxn ang="0">
                  <a:pos x="4144" y="31"/>
                </a:cxn>
                <a:cxn ang="0">
                  <a:pos x="4476" y="733"/>
                </a:cxn>
                <a:cxn ang="0">
                  <a:pos x="4478" y="735"/>
                </a:cxn>
              </a:cxnLst>
              <a:rect l="0" t="0" r="r" b="b"/>
              <a:pathLst>
                <a:path w="4532" h="977">
                  <a:moveTo>
                    <a:pt x="0" y="897"/>
                  </a:moveTo>
                  <a:cubicBezTo>
                    <a:pt x="23" y="886"/>
                    <a:pt x="50" y="977"/>
                    <a:pt x="136" y="833"/>
                  </a:cubicBezTo>
                  <a:cubicBezTo>
                    <a:pt x="222" y="689"/>
                    <a:pt x="377" y="19"/>
                    <a:pt x="514" y="33"/>
                  </a:cubicBezTo>
                  <a:cubicBezTo>
                    <a:pt x="651" y="47"/>
                    <a:pt x="811" y="915"/>
                    <a:pt x="961" y="915"/>
                  </a:cubicBezTo>
                  <a:cubicBezTo>
                    <a:pt x="1111" y="915"/>
                    <a:pt x="1265" y="33"/>
                    <a:pt x="1417" y="33"/>
                  </a:cubicBezTo>
                  <a:cubicBezTo>
                    <a:pt x="1569" y="33"/>
                    <a:pt x="1724" y="918"/>
                    <a:pt x="1876" y="918"/>
                  </a:cubicBezTo>
                  <a:cubicBezTo>
                    <a:pt x="2028" y="918"/>
                    <a:pt x="2177" y="33"/>
                    <a:pt x="2329" y="33"/>
                  </a:cubicBezTo>
                  <a:cubicBezTo>
                    <a:pt x="2481" y="33"/>
                    <a:pt x="2636" y="920"/>
                    <a:pt x="2788" y="919"/>
                  </a:cubicBezTo>
                  <a:cubicBezTo>
                    <a:pt x="2940" y="918"/>
                    <a:pt x="3092" y="27"/>
                    <a:pt x="3244" y="27"/>
                  </a:cubicBezTo>
                  <a:cubicBezTo>
                    <a:pt x="3396" y="27"/>
                    <a:pt x="3553" y="917"/>
                    <a:pt x="3703" y="918"/>
                  </a:cubicBezTo>
                  <a:cubicBezTo>
                    <a:pt x="3853" y="919"/>
                    <a:pt x="4015" y="62"/>
                    <a:pt x="4144" y="31"/>
                  </a:cubicBezTo>
                  <a:cubicBezTo>
                    <a:pt x="4273" y="0"/>
                    <a:pt x="4420" y="616"/>
                    <a:pt x="4476" y="733"/>
                  </a:cubicBezTo>
                  <a:cubicBezTo>
                    <a:pt x="4532" y="850"/>
                    <a:pt x="4478" y="735"/>
                    <a:pt x="4478" y="735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9" name="Line 42">
              <a:extLst>
                <a:ext uri="{FF2B5EF4-FFF2-40B4-BE49-F238E27FC236}">
                  <a16:creationId xmlns:a16="http://schemas.microsoft.com/office/drawing/2014/main" id="{2EC4E433-1F8A-E9CE-C1B4-E96F108B9303}"/>
                </a:ext>
              </a:extLst>
            </p:cNvPr>
            <p:cNvSpPr>
              <a:spLocks noChangeAspect="1" noChangeShapeType="1"/>
            </p:cNvSpPr>
            <p:nvPr/>
          </p:nvSpPr>
          <p:spPr bwMode="black">
            <a:xfrm>
              <a:off x="3826" y="2205"/>
              <a:ext cx="18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0" name="Line 43">
              <a:extLst>
                <a:ext uri="{FF2B5EF4-FFF2-40B4-BE49-F238E27FC236}">
                  <a16:creationId xmlns:a16="http://schemas.microsoft.com/office/drawing/2014/main" id="{6B3B39AD-1D0E-19E6-FBC9-B02E73D6013E}"/>
                </a:ext>
              </a:extLst>
            </p:cNvPr>
            <p:cNvSpPr>
              <a:spLocks noChangeAspect="1" noChangeShapeType="1"/>
            </p:cNvSpPr>
            <p:nvPr/>
          </p:nvSpPr>
          <p:spPr bwMode="black">
            <a:xfrm flipV="1">
              <a:off x="4692" y="1895"/>
              <a:ext cx="1" cy="5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21" name="Group 86">
            <a:extLst>
              <a:ext uri="{FF2B5EF4-FFF2-40B4-BE49-F238E27FC236}">
                <a16:creationId xmlns:a16="http://schemas.microsoft.com/office/drawing/2014/main" id="{9B5B61FC-5CD5-715F-EA98-9AB66D24981B}"/>
              </a:ext>
            </a:extLst>
          </p:cNvPr>
          <p:cNvGrpSpPr>
            <a:grpSpLocks/>
          </p:cNvGrpSpPr>
          <p:nvPr/>
        </p:nvGrpSpPr>
        <p:grpSpPr bwMode="auto">
          <a:xfrm>
            <a:off x="7594600" y="4394201"/>
            <a:ext cx="2928938" cy="606425"/>
            <a:chOff x="3824" y="2768"/>
            <a:chExt cx="1845" cy="382"/>
          </a:xfrm>
        </p:grpSpPr>
        <p:sp>
          <p:nvSpPr>
            <p:cNvPr id="22" name="Freeform 44">
              <a:extLst>
                <a:ext uri="{FF2B5EF4-FFF2-40B4-BE49-F238E27FC236}">
                  <a16:creationId xmlns:a16="http://schemas.microsoft.com/office/drawing/2014/main" id="{F534B7BC-14E8-3B5B-0C12-D45198AA2FEE}"/>
                </a:ext>
              </a:extLst>
            </p:cNvPr>
            <p:cNvSpPr>
              <a:spLocks noChangeAspect="1"/>
            </p:cNvSpPr>
            <p:nvPr/>
          </p:nvSpPr>
          <p:spPr bwMode="black">
            <a:xfrm>
              <a:off x="3853" y="2850"/>
              <a:ext cx="1788" cy="254"/>
            </a:xfrm>
            <a:custGeom>
              <a:avLst/>
              <a:gdLst/>
              <a:ahLst/>
              <a:cxnLst>
                <a:cxn ang="0">
                  <a:pos x="0" y="106"/>
                </a:cxn>
                <a:cxn ang="0">
                  <a:pos x="162" y="452"/>
                </a:cxn>
                <a:cxn ang="0">
                  <a:pos x="388" y="8"/>
                </a:cxn>
                <a:cxn ang="0">
                  <a:pos x="612" y="450"/>
                </a:cxn>
                <a:cxn ang="0">
                  <a:pos x="844" y="8"/>
                </a:cxn>
                <a:cxn ang="0">
                  <a:pos x="1070" y="450"/>
                </a:cxn>
                <a:cxn ang="0">
                  <a:pos x="1298" y="8"/>
                </a:cxn>
                <a:cxn ang="0">
                  <a:pos x="1528" y="452"/>
                </a:cxn>
                <a:cxn ang="0">
                  <a:pos x="1758" y="8"/>
                </a:cxn>
                <a:cxn ang="0">
                  <a:pos x="1984" y="452"/>
                </a:cxn>
                <a:cxn ang="0">
                  <a:pos x="2213" y="10"/>
                </a:cxn>
                <a:cxn ang="0">
                  <a:pos x="2442" y="452"/>
                </a:cxn>
                <a:cxn ang="0">
                  <a:pos x="2672" y="8"/>
                </a:cxn>
                <a:cxn ang="0">
                  <a:pos x="2902" y="452"/>
                </a:cxn>
                <a:cxn ang="0">
                  <a:pos x="3128" y="6"/>
                </a:cxn>
                <a:cxn ang="0">
                  <a:pos x="3356" y="448"/>
                </a:cxn>
                <a:cxn ang="0">
                  <a:pos x="3586" y="10"/>
                </a:cxn>
                <a:cxn ang="0">
                  <a:pos x="3812" y="452"/>
                </a:cxn>
                <a:cxn ang="0">
                  <a:pos x="4040" y="6"/>
                </a:cxn>
                <a:cxn ang="0">
                  <a:pos x="4264" y="455"/>
                </a:cxn>
                <a:cxn ang="0">
                  <a:pos x="4438" y="73"/>
                </a:cxn>
                <a:cxn ang="0">
                  <a:pos x="4469" y="19"/>
                </a:cxn>
              </a:cxnLst>
              <a:rect l="0" t="0" r="r" b="b"/>
              <a:pathLst>
                <a:path w="4472" h="468">
                  <a:moveTo>
                    <a:pt x="0" y="106"/>
                  </a:moveTo>
                  <a:cubicBezTo>
                    <a:pt x="27" y="164"/>
                    <a:pt x="97" y="468"/>
                    <a:pt x="162" y="452"/>
                  </a:cubicBezTo>
                  <a:cubicBezTo>
                    <a:pt x="227" y="436"/>
                    <a:pt x="313" y="8"/>
                    <a:pt x="388" y="8"/>
                  </a:cubicBezTo>
                  <a:cubicBezTo>
                    <a:pt x="463" y="8"/>
                    <a:pt x="536" y="450"/>
                    <a:pt x="612" y="450"/>
                  </a:cubicBezTo>
                  <a:cubicBezTo>
                    <a:pt x="688" y="450"/>
                    <a:pt x="768" y="8"/>
                    <a:pt x="844" y="8"/>
                  </a:cubicBezTo>
                  <a:cubicBezTo>
                    <a:pt x="920" y="8"/>
                    <a:pt x="994" y="450"/>
                    <a:pt x="1070" y="450"/>
                  </a:cubicBezTo>
                  <a:cubicBezTo>
                    <a:pt x="1146" y="450"/>
                    <a:pt x="1222" y="8"/>
                    <a:pt x="1298" y="8"/>
                  </a:cubicBezTo>
                  <a:cubicBezTo>
                    <a:pt x="1374" y="8"/>
                    <a:pt x="1451" y="452"/>
                    <a:pt x="1528" y="452"/>
                  </a:cubicBezTo>
                  <a:cubicBezTo>
                    <a:pt x="1605" y="452"/>
                    <a:pt x="1682" y="8"/>
                    <a:pt x="1758" y="8"/>
                  </a:cubicBezTo>
                  <a:cubicBezTo>
                    <a:pt x="1834" y="8"/>
                    <a:pt x="1908" y="452"/>
                    <a:pt x="1984" y="452"/>
                  </a:cubicBezTo>
                  <a:cubicBezTo>
                    <a:pt x="2060" y="452"/>
                    <a:pt x="2137" y="10"/>
                    <a:pt x="2213" y="10"/>
                  </a:cubicBezTo>
                  <a:cubicBezTo>
                    <a:pt x="2289" y="10"/>
                    <a:pt x="2366" y="452"/>
                    <a:pt x="2442" y="452"/>
                  </a:cubicBezTo>
                  <a:cubicBezTo>
                    <a:pt x="2518" y="452"/>
                    <a:pt x="2595" y="8"/>
                    <a:pt x="2672" y="8"/>
                  </a:cubicBezTo>
                  <a:cubicBezTo>
                    <a:pt x="2749" y="8"/>
                    <a:pt x="2826" y="452"/>
                    <a:pt x="2902" y="452"/>
                  </a:cubicBezTo>
                  <a:cubicBezTo>
                    <a:pt x="2978" y="452"/>
                    <a:pt x="3052" y="7"/>
                    <a:pt x="3128" y="6"/>
                  </a:cubicBezTo>
                  <a:cubicBezTo>
                    <a:pt x="3204" y="5"/>
                    <a:pt x="3280" y="447"/>
                    <a:pt x="3356" y="448"/>
                  </a:cubicBezTo>
                  <a:cubicBezTo>
                    <a:pt x="3432" y="449"/>
                    <a:pt x="3510" y="9"/>
                    <a:pt x="3586" y="10"/>
                  </a:cubicBezTo>
                  <a:cubicBezTo>
                    <a:pt x="3662" y="11"/>
                    <a:pt x="3736" y="453"/>
                    <a:pt x="3812" y="452"/>
                  </a:cubicBezTo>
                  <a:cubicBezTo>
                    <a:pt x="3888" y="451"/>
                    <a:pt x="3965" y="6"/>
                    <a:pt x="4040" y="6"/>
                  </a:cubicBezTo>
                  <a:cubicBezTo>
                    <a:pt x="4115" y="6"/>
                    <a:pt x="4198" y="444"/>
                    <a:pt x="4264" y="455"/>
                  </a:cubicBezTo>
                  <a:cubicBezTo>
                    <a:pt x="4330" y="466"/>
                    <a:pt x="4404" y="146"/>
                    <a:pt x="4438" y="73"/>
                  </a:cubicBezTo>
                  <a:cubicBezTo>
                    <a:pt x="4472" y="0"/>
                    <a:pt x="4463" y="30"/>
                    <a:pt x="4469" y="19"/>
                  </a:cubicBezTo>
                </a:path>
              </a:pathLst>
            </a:custGeom>
            <a:noFill/>
            <a:ln w="28575" cap="flat" cmpd="sng">
              <a:solidFill>
                <a:srgbClr val="33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3" name="Line 45">
              <a:extLst>
                <a:ext uri="{FF2B5EF4-FFF2-40B4-BE49-F238E27FC236}">
                  <a16:creationId xmlns:a16="http://schemas.microsoft.com/office/drawing/2014/main" id="{CCFE7CE4-B2A6-2312-7897-EF63761D6F26}"/>
                </a:ext>
              </a:extLst>
            </p:cNvPr>
            <p:cNvSpPr>
              <a:spLocks noChangeAspect="1" noChangeShapeType="1"/>
            </p:cNvSpPr>
            <p:nvPr/>
          </p:nvSpPr>
          <p:spPr bwMode="black">
            <a:xfrm>
              <a:off x="3824" y="2976"/>
              <a:ext cx="18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4" name="Line 46">
              <a:extLst>
                <a:ext uri="{FF2B5EF4-FFF2-40B4-BE49-F238E27FC236}">
                  <a16:creationId xmlns:a16="http://schemas.microsoft.com/office/drawing/2014/main" id="{032E6660-B402-B1EF-2562-685124C4C19F}"/>
                </a:ext>
              </a:extLst>
            </p:cNvPr>
            <p:cNvSpPr>
              <a:spLocks noChangeAspect="1" noChangeShapeType="1"/>
            </p:cNvSpPr>
            <p:nvPr/>
          </p:nvSpPr>
          <p:spPr bwMode="black">
            <a:xfrm flipV="1">
              <a:off x="4690" y="2768"/>
              <a:ext cx="1" cy="3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25" name="Text Box 51">
            <a:extLst>
              <a:ext uri="{FF2B5EF4-FFF2-40B4-BE49-F238E27FC236}">
                <a16:creationId xmlns:a16="http://schemas.microsoft.com/office/drawing/2014/main" id="{23BD124B-997E-AEA8-7EDC-F03D434A8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2050" y="3886200"/>
            <a:ext cx="355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BR">
                <a:latin typeface="Arial" pitchFamily="34" charset="0"/>
              </a:rPr>
              <a:t>+</a:t>
            </a:r>
          </a:p>
        </p:txBody>
      </p:sp>
      <p:sp>
        <p:nvSpPr>
          <p:cNvPr id="26" name="Text Box 52">
            <a:extLst>
              <a:ext uri="{FF2B5EF4-FFF2-40B4-BE49-F238E27FC236}">
                <a16:creationId xmlns:a16="http://schemas.microsoft.com/office/drawing/2014/main" id="{EBF5C38D-CA4A-665E-7003-D8B4F3A1E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2050" y="2568575"/>
            <a:ext cx="355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BR">
                <a:latin typeface="Arial" pitchFamily="34" charset="0"/>
              </a:rPr>
              <a:t>=</a:t>
            </a:r>
          </a:p>
        </p:txBody>
      </p:sp>
      <p:graphicFrame>
        <p:nvGraphicFramePr>
          <p:cNvPr id="27" name="Object 57">
            <a:extLst>
              <a:ext uri="{FF2B5EF4-FFF2-40B4-BE49-F238E27FC236}">
                <a16:creationId xmlns:a16="http://schemas.microsoft.com/office/drawing/2014/main" id="{9AC5350D-F45C-1EBB-9BE8-67F8A2C3A3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7964" y="3160714"/>
          <a:ext cx="1603375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27000" imgH="380880" progId="Equation.3">
                  <p:embed/>
                </p:oleObj>
              </mc:Choice>
              <mc:Fallback>
                <p:oleObj name="Equation" r:id="rId6" imgW="927000" imgH="380880" progId="Equation.3">
                  <p:embed/>
                  <p:pic>
                    <p:nvPicPr>
                      <p:cNvPr id="27" name="Object 57">
                        <a:extLst>
                          <a:ext uri="{FF2B5EF4-FFF2-40B4-BE49-F238E27FC236}">
                            <a16:creationId xmlns:a16="http://schemas.microsoft.com/office/drawing/2014/main" id="{9AC5350D-F45C-1EBB-9BE8-67F8A2C3A3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3883" r="-3883"/>
                      <a:stretch>
                        <a:fillRect/>
                      </a:stretch>
                    </p:blipFill>
                    <p:spPr bwMode="auto">
                      <a:xfrm>
                        <a:off x="5287964" y="3160714"/>
                        <a:ext cx="1603375" cy="6111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58">
            <a:extLst>
              <a:ext uri="{FF2B5EF4-FFF2-40B4-BE49-F238E27FC236}">
                <a16:creationId xmlns:a16="http://schemas.microsoft.com/office/drawing/2014/main" id="{F4A2D277-A25B-FE6A-C9E8-7800F61FA9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6375" y="4392614"/>
          <a:ext cx="1608138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27000" imgH="380880" progId="Equation.3">
                  <p:embed/>
                </p:oleObj>
              </mc:Choice>
              <mc:Fallback>
                <p:oleObj name="Equation" r:id="rId8" imgW="927000" imgH="380880" progId="Equation.3">
                  <p:embed/>
                  <p:pic>
                    <p:nvPicPr>
                      <p:cNvPr id="28" name="Object 58">
                        <a:extLst>
                          <a:ext uri="{FF2B5EF4-FFF2-40B4-BE49-F238E27FC236}">
                            <a16:creationId xmlns:a16="http://schemas.microsoft.com/office/drawing/2014/main" id="{F4A2D277-A25B-FE6A-C9E8-7800F61FA9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3883" r="-3883"/>
                      <a:stretch>
                        <a:fillRect/>
                      </a:stretch>
                    </p:blipFill>
                    <p:spPr bwMode="auto">
                      <a:xfrm>
                        <a:off x="5286375" y="4392614"/>
                        <a:ext cx="1608138" cy="6111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62">
            <a:extLst>
              <a:ext uri="{FF2B5EF4-FFF2-40B4-BE49-F238E27FC236}">
                <a16:creationId xmlns:a16="http://schemas.microsoft.com/office/drawing/2014/main" id="{49F57555-A8DF-83BF-F959-50D401BF7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151" y="1166813"/>
            <a:ext cx="2117725" cy="1816100"/>
          </a:xfrm>
          <a:prstGeom prst="rect">
            <a:avLst/>
          </a:prstGeom>
          <a:solidFill>
            <a:srgbClr val="FFCC99"/>
          </a:solidFill>
          <a:ln w="28575">
            <a:solidFill>
              <a:srgbClr val="996633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30" name="Object 63">
            <a:extLst>
              <a:ext uri="{FF2B5EF4-FFF2-40B4-BE49-F238E27FC236}">
                <a16:creationId xmlns:a16="http://schemas.microsoft.com/office/drawing/2014/main" id="{9E694C81-5CC4-FC35-848D-AE4CF7088D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7489" y="1200150"/>
          <a:ext cx="1570037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77760" imgH="1091880" progId="Equation.3">
                  <p:embed/>
                </p:oleObj>
              </mc:Choice>
              <mc:Fallback>
                <p:oleObj name="Equation" r:id="rId10" imgW="977760" imgH="1091880" progId="Equation.3">
                  <p:embed/>
                  <p:pic>
                    <p:nvPicPr>
                      <p:cNvPr id="30" name="Object 63">
                        <a:extLst>
                          <a:ext uri="{FF2B5EF4-FFF2-40B4-BE49-F238E27FC236}">
                            <a16:creationId xmlns:a16="http://schemas.microsoft.com/office/drawing/2014/main" id="{9E694C81-5CC4-FC35-848D-AE4CF7088D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7489" y="1200150"/>
                        <a:ext cx="1570037" cy="175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AutoShape 64">
            <a:extLst>
              <a:ext uri="{FF2B5EF4-FFF2-40B4-BE49-F238E27FC236}">
                <a16:creationId xmlns:a16="http://schemas.microsoft.com/office/drawing/2014/main" id="{B6417038-E67F-3A74-C561-D96FF002D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3450" y="1957388"/>
            <a:ext cx="247650" cy="2667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CC99"/>
          </a:solidFill>
          <a:ln w="28575">
            <a:solidFill>
              <a:srgbClr val="996633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2" name="AutoShape 65">
            <a:extLst>
              <a:ext uri="{FF2B5EF4-FFF2-40B4-BE49-F238E27FC236}">
                <a16:creationId xmlns:a16="http://schemas.microsoft.com/office/drawing/2014/main" id="{747471C1-80E5-C0E4-2E18-3B84F31C1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1050" y="1957388"/>
            <a:ext cx="247650" cy="2667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CC99"/>
          </a:solidFill>
          <a:ln w="28575">
            <a:solidFill>
              <a:srgbClr val="996633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pSp>
        <p:nvGrpSpPr>
          <p:cNvPr id="33" name="Group 83">
            <a:extLst>
              <a:ext uri="{FF2B5EF4-FFF2-40B4-BE49-F238E27FC236}">
                <a16:creationId xmlns:a16="http://schemas.microsoft.com/office/drawing/2014/main" id="{D903768C-7D4E-BC64-E2E4-6D6EA1FD8482}"/>
              </a:ext>
            </a:extLst>
          </p:cNvPr>
          <p:cNvGrpSpPr>
            <a:grpSpLocks/>
          </p:cNvGrpSpPr>
          <p:nvPr/>
        </p:nvGrpSpPr>
        <p:grpSpPr bwMode="auto">
          <a:xfrm>
            <a:off x="1638300" y="3006726"/>
            <a:ext cx="2928938" cy="938213"/>
            <a:chOff x="72" y="1894"/>
            <a:chExt cx="1845" cy="591"/>
          </a:xfrm>
        </p:grpSpPr>
        <p:sp>
          <p:nvSpPr>
            <p:cNvPr id="34" name="Freeform 80">
              <a:extLst>
                <a:ext uri="{FF2B5EF4-FFF2-40B4-BE49-F238E27FC236}">
                  <a16:creationId xmlns:a16="http://schemas.microsoft.com/office/drawing/2014/main" id="{579D6E69-690F-FB75-0BBD-8560DC3896A2}"/>
                </a:ext>
              </a:extLst>
            </p:cNvPr>
            <p:cNvSpPr>
              <a:spLocks noChangeAspect="1"/>
            </p:cNvSpPr>
            <p:nvPr/>
          </p:nvSpPr>
          <p:spPr bwMode="black">
            <a:xfrm>
              <a:off x="98" y="1933"/>
              <a:ext cx="1791" cy="552"/>
            </a:xfrm>
            <a:custGeom>
              <a:avLst/>
              <a:gdLst/>
              <a:ahLst/>
              <a:cxnLst>
                <a:cxn ang="0">
                  <a:pos x="0" y="628"/>
                </a:cxn>
                <a:cxn ang="0">
                  <a:pos x="297" y="52"/>
                </a:cxn>
                <a:cxn ang="0">
                  <a:pos x="732" y="940"/>
                </a:cxn>
                <a:cxn ang="0">
                  <a:pos x="1188" y="58"/>
                </a:cxn>
                <a:cxn ang="0">
                  <a:pos x="1647" y="943"/>
                </a:cxn>
                <a:cxn ang="0">
                  <a:pos x="2100" y="58"/>
                </a:cxn>
                <a:cxn ang="0">
                  <a:pos x="2565" y="940"/>
                </a:cxn>
                <a:cxn ang="0">
                  <a:pos x="3015" y="52"/>
                </a:cxn>
                <a:cxn ang="0">
                  <a:pos x="3474" y="943"/>
                </a:cxn>
                <a:cxn ang="0">
                  <a:pos x="3930" y="58"/>
                </a:cxn>
                <a:cxn ang="0">
                  <a:pos x="4314" y="883"/>
                </a:cxn>
                <a:cxn ang="0">
                  <a:pos x="4479" y="868"/>
                </a:cxn>
              </a:cxnLst>
              <a:rect l="0" t="0" r="r" b="b"/>
              <a:pathLst>
                <a:path w="4479" h="1018">
                  <a:moveTo>
                    <a:pt x="0" y="628"/>
                  </a:moveTo>
                  <a:cubicBezTo>
                    <a:pt x="49" y="532"/>
                    <a:pt x="175" y="0"/>
                    <a:pt x="297" y="52"/>
                  </a:cubicBezTo>
                  <a:cubicBezTo>
                    <a:pt x="419" y="104"/>
                    <a:pt x="584" y="939"/>
                    <a:pt x="732" y="940"/>
                  </a:cubicBezTo>
                  <a:cubicBezTo>
                    <a:pt x="880" y="941"/>
                    <a:pt x="1036" y="58"/>
                    <a:pt x="1188" y="58"/>
                  </a:cubicBezTo>
                  <a:cubicBezTo>
                    <a:pt x="1340" y="58"/>
                    <a:pt x="1495" y="943"/>
                    <a:pt x="1647" y="943"/>
                  </a:cubicBezTo>
                  <a:cubicBezTo>
                    <a:pt x="1799" y="943"/>
                    <a:pt x="1947" y="58"/>
                    <a:pt x="2100" y="58"/>
                  </a:cubicBezTo>
                  <a:cubicBezTo>
                    <a:pt x="2253" y="58"/>
                    <a:pt x="2413" y="941"/>
                    <a:pt x="2565" y="940"/>
                  </a:cubicBezTo>
                  <a:cubicBezTo>
                    <a:pt x="2717" y="939"/>
                    <a:pt x="2864" y="52"/>
                    <a:pt x="3015" y="52"/>
                  </a:cubicBezTo>
                  <a:cubicBezTo>
                    <a:pt x="3166" y="52"/>
                    <a:pt x="3322" y="942"/>
                    <a:pt x="3474" y="943"/>
                  </a:cubicBezTo>
                  <a:cubicBezTo>
                    <a:pt x="3626" y="944"/>
                    <a:pt x="3790" y="68"/>
                    <a:pt x="3930" y="58"/>
                  </a:cubicBezTo>
                  <a:cubicBezTo>
                    <a:pt x="4070" y="48"/>
                    <a:pt x="4223" y="748"/>
                    <a:pt x="4314" y="883"/>
                  </a:cubicBezTo>
                  <a:cubicBezTo>
                    <a:pt x="4405" y="1018"/>
                    <a:pt x="4445" y="871"/>
                    <a:pt x="4479" y="868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5" name="Line 81">
              <a:extLst>
                <a:ext uri="{FF2B5EF4-FFF2-40B4-BE49-F238E27FC236}">
                  <a16:creationId xmlns:a16="http://schemas.microsoft.com/office/drawing/2014/main" id="{405841F7-3AC2-0678-3F9F-B781977ADBBB}"/>
                </a:ext>
              </a:extLst>
            </p:cNvPr>
            <p:cNvSpPr>
              <a:spLocks noChangeAspect="1" noChangeShapeType="1"/>
            </p:cNvSpPr>
            <p:nvPr/>
          </p:nvSpPr>
          <p:spPr bwMode="black">
            <a:xfrm>
              <a:off x="72" y="2205"/>
              <a:ext cx="18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6" name="Line 82">
              <a:extLst>
                <a:ext uri="{FF2B5EF4-FFF2-40B4-BE49-F238E27FC236}">
                  <a16:creationId xmlns:a16="http://schemas.microsoft.com/office/drawing/2014/main" id="{18A6B15D-111E-08B2-4F9A-E3EC5F05C6EE}"/>
                </a:ext>
              </a:extLst>
            </p:cNvPr>
            <p:cNvSpPr>
              <a:spLocks noChangeAspect="1" noChangeShapeType="1"/>
            </p:cNvSpPr>
            <p:nvPr/>
          </p:nvSpPr>
          <p:spPr bwMode="black">
            <a:xfrm flipV="1">
              <a:off x="936" y="1894"/>
              <a:ext cx="1" cy="5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37" name="Group 99">
            <a:extLst>
              <a:ext uri="{FF2B5EF4-FFF2-40B4-BE49-F238E27FC236}">
                <a16:creationId xmlns:a16="http://schemas.microsoft.com/office/drawing/2014/main" id="{8E6E6767-21B5-5600-451F-A316BD61612B}"/>
              </a:ext>
            </a:extLst>
          </p:cNvPr>
          <p:cNvGrpSpPr>
            <a:grpSpLocks/>
          </p:cNvGrpSpPr>
          <p:nvPr/>
        </p:nvGrpSpPr>
        <p:grpSpPr bwMode="auto">
          <a:xfrm>
            <a:off x="7600950" y="1482726"/>
            <a:ext cx="2928938" cy="1177925"/>
            <a:chOff x="3828" y="934"/>
            <a:chExt cx="1845" cy="742"/>
          </a:xfrm>
        </p:grpSpPr>
        <p:sp>
          <p:nvSpPr>
            <p:cNvPr id="38" name="Freeform 96">
              <a:extLst>
                <a:ext uri="{FF2B5EF4-FFF2-40B4-BE49-F238E27FC236}">
                  <a16:creationId xmlns:a16="http://schemas.microsoft.com/office/drawing/2014/main" id="{3E4F0B16-33A7-C94B-83D6-32E04F3D496E}"/>
                </a:ext>
              </a:extLst>
            </p:cNvPr>
            <p:cNvSpPr>
              <a:spLocks noChangeAspect="1"/>
            </p:cNvSpPr>
            <p:nvPr/>
          </p:nvSpPr>
          <p:spPr bwMode="black">
            <a:xfrm>
              <a:off x="3859" y="964"/>
              <a:ext cx="1780" cy="712"/>
            </a:xfrm>
            <a:custGeom>
              <a:avLst/>
              <a:gdLst/>
              <a:ahLst/>
              <a:cxnLst>
                <a:cxn ang="0">
                  <a:pos x="0" y="756"/>
                </a:cxn>
                <a:cxn ang="0">
                  <a:pos x="159" y="936"/>
                </a:cxn>
                <a:cxn ang="0">
                  <a:pos x="399" y="81"/>
                </a:cxn>
                <a:cxn ang="0">
                  <a:pos x="639" y="483"/>
                </a:cxn>
                <a:cxn ang="0">
                  <a:pos x="828" y="570"/>
                </a:cxn>
                <a:cxn ang="0">
                  <a:pos x="1053" y="960"/>
                </a:cxn>
                <a:cxn ang="0">
                  <a:pos x="1311" y="87"/>
                </a:cxn>
                <a:cxn ang="0">
                  <a:pos x="1539" y="474"/>
                </a:cxn>
                <a:cxn ang="0">
                  <a:pos x="1740" y="567"/>
                </a:cxn>
                <a:cxn ang="0">
                  <a:pos x="1962" y="963"/>
                </a:cxn>
                <a:cxn ang="0">
                  <a:pos x="2217" y="84"/>
                </a:cxn>
                <a:cxn ang="0">
                  <a:pos x="2448" y="474"/>
                </a:cxn>
                <a:cxn ang="0">
                  <a:pos x="2640" y="561"/>
                </a:cxn>
                <a:cxn ang="0">
                  <a:pos x="2871" y="954"/>
                </a:cxn>
                <a:cxn ang="0">
                  <a:pos x="3126" y="81"/>
                </a:cxn>
                <a:cxn ang="0">
                  <a:pos x="3357" y="480"/>
                </a:cxn>
                <a:cxn ang="0">
                  <a:pos x="3546" y="558"/>
                </a:cxn>
                <a:cxn ang="0">
                  <a:pos x="3777" y="954"/>
                </a:cxn>
                <a:cxn ang="0">
                  <a:pos x="4035" y="81"/>
                </a:cxn>
                <a:cxn ang="0">
                  <a:pos x="4257" y="468"/>
                </a:cxn>
                <a:cxn ang="0">
                  <a:pos x="4404" y="528"/>
                </a:cxn>
                <a:cxn ang="0">
                  <a:pos x="4452" y="561"/>
                </a:cxn>
              </a:cxnLst>
              <a:rect l="0" t="0" r="r" b="b"/>
              <a:pathLst>
                <a:path w="4452" h="1048">
                  <a:moveTo>
                    <a:pt x="0" y="756"/>
                  </a:moveTo>
                  <a:cubicBezTo>
                    <a:pt x="26" y="786"/>
                    <a:pt x="93" y="1048"/>
                    <a:pt x="159" y="936"/>
                  </a:cubicBezTo>
                  <a:cubicBezTo>
                    <a:pt x="225" y="824"/>
                    <a:pt x="319" y="157"/>
                    <a:pt x="399" y="81"/>
                  </a:cubicBezTo>
                  <a:cubicBezTo>
                    <a:pt x="479" y="5"/>
                    <a:pt x="568" y="401"/>
                    <a:pt x="639" y="483"/>
                  </a:cubicBezTo>
                  <a:cubicBezTo>
                    <a:pt x="710" y="565"/>
                    <a:pt x="759" y="491"/>
                    <a:pt x="828" y="570"/>
                  </a:cubicBezTo>
                  <a:cubicBezTo>
                    <a:pt x="897" y="649"/>
                    <a:pt x="973" y="1040"/>
                    <a:pt x="1053" y="960"/>
                  </a:cubicBezTo>
                  <a:cubicBezTo>
                    <a:pt x="1133" y="880"/>
                    <a:pt x="1230" y="168"/>
                    <a:pt x="1311" y="87"/>
                  </a:cubicBezTo>
                  <a:cubicBezTo>
                    <a:pt x="1392" y="6"/>
                    <a:pt x="1468" y="394"/>
                    <a:pt x="1539" y="474"/>
                  </a:cubicBezTo>
                  <a:cubicBezTo>
                    <a:pt x="1610" y="554"/>
                    <a:pt x="1670" y="486"/>
                    <a:pt x="1740" y="567"/>
                  </a:cubicBezTo>
                  <a:cubicBezTo>
                    <a:pt x="1810" y="648"/>
                    <a:pt x="1883" y="1043"/>
                    <a:pt x="1962" y="963"/>
                  </a:cubicBezTo>
                  <a:cubicBezTo>
                    <a:pt x="2041" y="883"/>
                    <a:pt x="2136" y="165"/>
                    <a:pt x="2217" y="84"/>
                  </a:cubicBezTo>
                  <a:cubicBezTo>
                    <a:pt x="2298" y="3"/>
                    <a:pt x="2378" y="395"/>
                    <a:pt x="2448" y="474"/>
                  </a:cubicBezTo>
                  <a:cubicBezTo>
                    <a:pt x="2518" y="553"/>
                    <a:pt x="2569" y="481"/>
                    <a:pt x="2640" y="561"/>
                  </a:cubicBezTo>
                  <a:cubicBezTo>
                    <a:pt x="2711" y="641"/>
                    <a:pt x="2790" y="1034"/>
                    <a:pt x="2871" y="954"/>
                  </a:cubicBezTo>
                  <a:cubicBezTo>
                    <a:pt x="2952" y="874"/>
                    <a:pt x="3045" y="160"/>
                    <a:pt x="3126" y="81"/>
                  </a:cubicBezTo>
                  <a:cubicBezTo>
                    <a:pt x="3207" y="2"/>
                    <a:pt x="3287" y="401"/>
                    <a:pt x="3357" y="480"/>
                  </a:cubicBezTo>
                  <a:cubicBezTo>
                    <a:pt x="3427" y="559"/>
                    <a:pt x="3476" y="479"/>
                    <a:pt x="3546" y="558"/>
                  </a:cubicBezTo>
                  <a:cubicBezTo>
                    <a:pt x="3616" y="637"/>
                    <a:pt x="3695" y="1034"/>
                    <a:pt x="3777" y="954"/>
                  </a:cubicBezTo>
                  <a:cubicBezTo>
                    <a:pt x="3859" y="874"/>
                    <a:pt x="3955" y="162"/>
                    <a:pt x="4035" y="81"/>
                  </a:cubicBezTo>
                  <a:cubicBezTo>
                    <a:pt x="4115" y="0"/>
                    <a:pt x="4195" y="393"/>
                    <a:pt x="4257" y="468"/>
                  </a:cubicBezTo>
                  <a:cubicBezTo>
                    <a:pt x="4319" y="543"/>
                    <a:pt x="4372" y="513"/>
                    <a:pt x="4404" y="528"/>
                  </a:cubicBezTo>
                  <a:cubicBezTo>
                    <a:pt x="4436" y="543"/>
                    <a:pt x="4442" y="554"/>
                    <a:pt x="4452" y="561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9" name="Line 97">
              <a:extLst>
                <a:ext uri="{FF2B5EF4-FFF2-40B4-BE49-F238E27FC236}">
                  <a16:creationId xmlns:a16="http://schemas.microsoft.com/office/drawing/2014/main" id="{94DDA720-D546-E830-5392-4CB95175ECCF}"/>
                </a:ext>
              </a:extLst>
            </p:cNvPr>
            <p:cNvSpPr>
              <a:spLocks noChangeAspect="1" noChangeShapeType="1"/>
            </p:cNvSpPr>
            <p:nvPr/>
          </p:nvSpPr>
          <p:spPr bwMode="black">
            <a:xfrm>
              <a:off x="3828" y="1317"/>
              <a:ext cx="18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0" name="Line 98">
              <a:extLst>
                <a:ext uri="{FF2B5EF4-FFF2-40B4-BE49-F238E27FC236}">
                  <a16:creationId xmlns:a16="http://schemas.microsoft.com/office/drawing/2014/main" id="{742AC902-3AFB-4098-39C3-9D199FED7A0E}"/>
                </a:ext>
              </a:extLst>
            </p:cNvPr>
            <p:cNvSpPr>
              <a:spLocks noChangeAspect="1" noChangeShapeType="1"/>
            </p:cNvSpPr>
            <p:nvPr/>
          </p:nvSpPr>
          <p:spPr bwMode="black">
            <a:xfrm flipH="1" flipV="1">
              <a:off x="4694" y="934"/>
              <a:ext cx="1" cy="7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199820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25" grpId="0"/>
      <p:bldP spid="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3E5026-0657-0BFC-0ACA-753D12237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Transformada de Hilbert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4929CD0-38FE-2D0B-0C62-6316D08D9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62" y="2494432"/>
            <a:ext cx="8421275" cy="33151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43393147-E238-A4ED-7AE1-2BB6F13BA28C}"/>
                  </a:ext>
                </a:extLst>
              </p:cNvPr>
              <p:cNvSpPr/>
              <p:nvPr/>
            </p:nvSpPr>
            <p:spPr>
              <a:xfrm>
                <a:off x="5259689" y="1373203"/>
                <a:ext cx="2024742" cy="112122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/>
                  <a:t>Hilbert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43393147-E238-A4ED-7AE1-2BB6F13BA2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9689" y="1373203"/>
                <a:ext cx="2024742" cy="11212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324E22A8-7E17-1473-BC4D-B0446863584C}"/>
              </a:ext>
            </a:extLst>
          </p:cNvPr>
          <p:cNvCxnSpPr>
            <a:cxnSpLocks/>
          </p:cNvCxnSpPr>
          <p:nvPr/>
        </p:nvCxnSpPr>
        <p:spPr>
          <a:xfrm>
            <a:off x="4399717" y="1912555"/>
            <a:ext cx="8599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DFBBB369-D968-2982-5598-F1278FBEA639}"/>
              </a:ext>
            </a:extLst>
          </p:cNvPr>
          <p:cNvCxnSpPr>
            <a:cxnSpLocks/>
          </p:cNvCxnSpPr>
          <p:nvPr/>
        </p:nvCxnSpPr>
        <p:spPr>
          <a:xfrm>
            <a:off x="7295314" y="1945209"/>
            <a:ext cx="8599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7">
            <a:extLst>
              <a:ext uri="{FF2B5EF4-FFF2-40B4-BE49-F238E27FC236}">
                <a16:creationId xmlns:a16="http://schemas.microsoft.com/office/drawing/2014/main" id="{78616EB6-3B88-5497-45BE-13832D172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9646" y="1527324"/>
            <a:ext cx="994883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762000"/>
            <a:r>
              <a:rPr lang="en-US" sz="2400" i="1" dirty="0">
                <a:latin typeface="Times New Roman" pitchFamily="18" charset="0"/>
              </a:rPr>
              <a:t>x</a:t>
            </a:r>
            <a:r>
              <a:rPr lang="en-US" sz="2400" dirty="0">
                <a:latin typeface="Times New Roman" pitchFamily="18" charset="0"/>
              </a:rPr>
              <a:t>(</a:t>
            </a:r>
            <a:r>
              <a:rPr lang="en-US" sz="2400" i="1" dirty="0">
                <a:latin typeface="Times New Roman" pitchFamily="18" charset="0"/>
              </a:rPr>
              <a:t>t</a:t>
            </a:r>
            <a:r>
              <a:rPr lang="en-US" sz="2400" dirty="0">
                <a:latin typeface="Times New Roman" pitchFamily="18" charset="0"/>
              </a:rPr>
              <a:t>)</a:t>
            </a:r>
            <a:endParaRPr lang="en-US" sz="2400" dirty="0">
              <a:latin typeface="Symbol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7">
                <a:extLst>
                  <a:ext uri="{FF2B5EF4-FFF2-40B4-BE49-F238E27FC236}">
                    <a16:creationId xmlns:a16="http://schemas.microsoft.com/office/drawing/2014/main" id="{4ABEAF6B-406A-FA7B-326B-762FC88E9D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36574" y="1472152"/>
                <a:ext cx="3217226" cy="9159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defTabSz="762000"/>
                <a14:m>
                  <m:oMathPara xmlns:m="http://schemas.openxmlformats.org/officeDocument/2006/math">
                    <m:oMath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f>
                            <m:f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sz="2400" dirty="0">
                  <a:latin typeface="Symbol" pitchFamily="18" charset="2"/>
                </a:endParaRPr>
              </a:p>
            </p:txBody>
          </p:sp>
        </mc:Choice>
        <mc:Fallback xmlns="">
          <p:sp>
            <p:nvSpPr>
              <p:cNvPr id="12" name="Text Box 7">
                <a:extLst>
                  <a:ext uri="{FF2B5EF4-FFF2-40B4-BE49-F238E27FC236}">
                    <a16:creationId xmlns:a16="http://schemas.microsoft.com/office/drawing/2014/main" id="{4ABEAF6B-406A-FA7B-326B-762FC88E9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36574" y="1472152"/>
                <a:ext cx="3217226" cy="9159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9067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9B669-9A7D-933D-E61D-202D40998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Transformada de Hilbert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BE61002A-DCB9-077B-1498-4A9DE122DC1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32000" y="2123164"/>
              <a:ext cx="8128000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2441561456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15420893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𝓗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𝒕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  <m:r>
                                  <a:rPr lang="pt-BR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76079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pt-BR" sz="2400" b="0" i="0" smtClean="0">
                                    <a:latin typeface="Cambria Math" panose="02040503050406030204" pitchFamily="18" charset="0"/>
                                  </a:rPr>
                                  <m:t>sen</m:t>
                                </m:r>
                                <m:d>
                                  <m:d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2 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d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24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pt-BR" sz="24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d>
                                  <m:d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2 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03424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pt-BR" sz="24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d>
                                  <m:d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2 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d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pt-BR" sz="2400" b="0" i="0" smtClean="0">
                                    <a:latin typeface="Cambria Math" panose="02040503050406030204" pitchFamily="18" charset="0"/>
                                  </a:rPr>
                                  <m:t>sen</m:t>
                                </m:r>
                                <m:d>
                                  <m:d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2 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99877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40065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BE61002A-DCB9-077B-1498-4A9DE122DC1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32000" y="2123164"/>
              <a:ext cx="8128000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2441561456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1542089309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150" t="-1333" r="-100600" b="-3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100150" t="-1333" r="-600" b="-3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760795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150" t="-100000" r="-100600" b="-226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100150" t="-100000" r="-600" b="-2263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034247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150" t="-202667" r="-100600" b="-1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100150" t="-202667" r="-600" b="-1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998776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150" t="-302667" r="-100600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400651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7270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7B27A-1183-434D-9A20-E74B34CE7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Sistemas Lineares e Não Lineares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01E5CA-4B85-FF4F-0D0F-F92C911CA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0886"/>
            <a:ext cx="10515600" cy="4776003"/>
          </a:xfrm>
        </p:spPr>
        <p:txBody>
          <a:bodyPr/>
          <a:lstStyle/>
          <a:p>
            <a:r>
              <a:rPr lang="pt-BR" dirty="0"/>
              <a:t>Sistemas Lineares</a:t>
            </a:r>
          </a:p>
          <a:p>
            <a:pPr lvl="1"/>
            <a:r>
              <a:rPr lang="pt-BR" dirty="0"/>
              <a:t>Não criam frequências novas</a:t>
            </a:r>
          </a:p>
          <a:p>
            <a:pPr lvl="1"/>
            <a:r>
              <a:rPr lang="pt-BR" dirty="0"/>
              <a:t>Resposta a uma frequência na mesma frequência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Ex. filtros, propagação</a:t>
            </a:r>
          </a:p>
          <a:p>
            <a:pPr lvl="1"/>
            <a:endParaRPr lang="pt-BR" dirty="0"/>
          </a:p>
          <a:p>
            <a:r>
              <a:rPr lang="pt-BR" dirty="0"/>
              <a:t>Sistemas não Lineares</a:t>
            </a:r>
          </a:p>
          <a:p>
            <a:pPr lvl="1"/>
            <a:r>
              <a:rPr lang="pt-BR" dirty="0"/>
              <a:t>Não satisfazem a superposição</a:t>
            </a:r>
          </a:p>
          <a:p>
            <a:pPr lvl="1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523C18D-3794-5546-634E-62985EE69732}"/>
              </a:ext>
            </a:extLst>
          </p:cNvPr>
          <p:cNvSpPr/>
          <p:nvPr/>
        </p:nvSpPr>
        <p:spPr>
          <a:xfrm>
            <a:off x="4760698" y="4870768"/>
            <a:ext cx="2024742" cy="8163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Sistema não linear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BCF77732-85EC-40B3-A7E0-118D0C692738}"/>
              </a:ext>
            </a:extLst>
          </p:cNvPr>
          <p:cNvCxnSpPr>
            <a:cxnSpLocks/>
          </p:cNvCxnSpPr>
          <p:nvPr/>
        </p:nvCxnSpPr>
        <p:spPr>
          <a:xfrm>
            <a:off x="3900726" y="5278943"/>
            <a:ext cx="8599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0EA3E8EA-1611-F98B-F2E5-DEA7311BFD5B}"/>
              </a:ext>
            </a:extLst>
          </p:cNvPr>
          <p:cNvCxnSpPr>
            <a:cxnSpLocks/>
          </p:cNvCxnSpPr>
          <p:nvPr/>
        </p:nvCxnSpPr>
        <p:spPr>
          <a:xfrm>
            <a:off x="6796323" y="5311597"/>
            <a:ext cx="8599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D8AC20F3-CB86-3D2D-C78A-6D578F53E1FE}"/>
                  </a:ext>
                </a:extLst>
              </p:cNvPr>
              <p:cNvSpPr txBox="1"/>
              <p:nvPr/>
            </p:nvSpPr>
            <p:spPr>
              <a:xfrm>
                <a:off x="3858017" y="4642970"/>
                <a:ext cx="5654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D8AC20F3-CB86-3D2D-C78A-6D578F53E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017" y="4642970"/>
                <a:ext cx="565475" cy="276999"/>
              </a:xfrm>
              <a:prstGeom prst="rect">
                <a:avLst/>
              </a:prstGeom>
              <a:blipFill>
                <a:blip r:embed="rId2"/>
                <a:stretch>
                  <a:fillRect l="-5376" t="-4444" r="-13978" b="-3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E317FD5D-E2B6-C46C-74EF-5F96072AF3A3}"/>
                  </a:ext>
                </a:extLst>
              </p:cNvPr>
              <p:cNvSpPr txBox="1"/>
              <p:nvPr/>
            </p:nvSpPr>
            <p:spPr>
              <a:xfrm>
                <a:off x="6734504" y="4914790"/>
                <a:ext cx="11935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800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E317FD5D-E2B6-C46C-74EF-5F96072AF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504" y="4914790"/>
                <a:ext cx="1193505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68484B79-5198-AF9E-608C-1E4A70728023}"/>
                  </a:ext>
                </a:extLst>
              </p:cNvPr>
              <p:cNvSpPr txBox="1"/>
              <p:nvPr/>
            </p:nvSpPr>
            <p:spPr>
              <a:xfrm>
                <a:off x="3516552" y="4914790"/>
                <a:ext cx="12636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800" dirty="0"/>
              </a:p>
            </p:txBody>
          </p:sp>
        </mc:Choice>
        <mc:Fallback xmlns="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68484B79-5198-AF9E-608C-1E4A70728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552" y="4914790"/>
                <a:ext cx="1263650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14BA901F-C8A9-4441-53E7-2320D824F629}"/>
                  </a:ext>
                </a:extLst>
              </p:cNvPr>
              <p:cNvSpPr txBox="1"/>
              <p:nvPr/>
            </p:nvSpPr>
            <p:spPr>
              <a:xfrm>
                <a:off x="6734504" y="4635302"/>
                <a:ext cx="11935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800" dirty="0"/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14BA901F-C8A9-4441-53E7-2320D824F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504" y="4635302"/>
                <a:ext cx="1193505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927EDA13-82CA-0996-0565-715D623D8684}"/>
                  </a:ext>
                </a:extLst>
              </p:cNvPr>
              <p:cNvSpPr txBox="1"/>
              <p:nvPr/>
            </p:nvSpPr>
            <p:spPr>
              <a:xfrm>
                <a:off x="2025208" y="5288129"/>
                <a:ext cx="27549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pt-BR" sz="1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1800" b="0" i="1" smtClean="0">
                              <a:latin typeface="Cambria Math" panose="02040503050406030204" pitchFamily="18" charset="0"/>
                            </a:rPr>
                            <m:t>𝑎𝑥</m:t>
                          </m:r>
                        </m:e>
                        <m:sub>
                          <m:r>
                            <a:rPr lang="pt-BR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pt-B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800" dirty="0"/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927EDA13-82CA-0996-0565-715D623D8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208" y="5288129"/>
                <a:ext cx="2754995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010A4CAE-74D2-A639-7EF3-C9DDEDEDDB1F}"/>
                  </a:ext>
                </a:extLst>
              </p:cNvPr>
              <p:cNvSpPr txBox="1"/>
              <p:nvPr/>
            </p:nvSpPr>
            <p:spPr>
              <a:xfrm>
                <a:off x="6734503" y="5328144"/>
                <a:ext cx="324438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∃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: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)≠</m:t>
                          </m:r>
                          <m:r>
                            <a:rPr lang="pt-BR" sz="1800" b="0" i="1" smtClean="0">
                              <a:latin typeface="Cambria Math" panose="02040503050406030204" pitchFamily="18" charset="0"/>
                            </a:rPr>
                            <m:t>𝑎𝑦</m:t>
                          </m:r>
                        </m:e>
                        <m:sub>
                          <m:r>
                            <a:rPr lang="pt-BR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pt-B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800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010A4CAE-74D2-A639-7EF3-C9DDEDEDD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503" y="5328144"/>
                <a:ext cx="3244383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9094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67992-9946-7B68-EBDE-976882D1E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Sistemas não Lineares (sem memória)</a:t>
            </a:r>
          </a:p>
        </p:txBody>
      </p:sp>
      <p:grpSp>
        <p:nvGrpSpPr>
          <p:cNvPr id="4" name="Group 45">
            <a:extLst>
              <a:ext uri="{FF2B5EF4-FFF2-40B4-BE49-F238E27FC236}">
                <a16:creationId xmlns:a16="http://schemas.microsoft.com/office/drawing/2014/main" id="{33D6ADA7-8FC5-69C9-AFED-82FB3C7BDF11}"/>
              </a:ext>
            </a:extLst>
          </p:cNvPr>
          <p:cNvGrpSpPr>
            <a:grpSpLocks/>
          </p:cNvGrpSpPr>
          <p:nvPr/>
        </p:nvGrpSpPr>
        <p:grpSpPr bwMode="auto">
          <a:xfrm>
            <a:off x="2511425" y="1304925"/>
            <a:ext cx="5830888" cy="590550"/>
            <a:chOff x="622" y="822"/>
            <a:chExt cx="3673" cy="37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9E49D7-A369-91AC-80D0-8A87A78B0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3" y="822"/>
              <a:ext cx="796" cy="37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62000">
                <a:spcBef>
                  <a:spcPct val="0"/>
                </a:spcBef>
              </a:pPr>
              <a:r>
                <a:rPr lang="en-US" i="1" dirty="0">
                  <a:latin typeface="Times New Roman" pitchFamily="18" charset="0"/>
                </a:rPr>
                <a:t>f</a:t>
              </a:r>
              <a:r>
                <a:rPr lang="en-US" dirty="0">
                  <a:latin typeface="Times New Roman" pitchFamily="18" charset="0"/>
                </a:rPr>
                <a:t>(</a:t>
              </a:r>
              <a:r>
                <a:rPr lang="en-US" i="1" dirty="0">
                  <a:latin typeface="Times New Roman" pitchFamily="18" charset="0"/>
                </a:rPr>
                <a:t>g</a:t>
              </a:r>
              <a:r>
                <a:rPr lang="en-US" dirty="0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D2C03F04-CB44-4AA9-CD26-521F3A4AC5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7" y="1016"/>
              <a:ext cx="47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3F3501B4-A36B-0102-3757-AB764DE907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4" y="1017"/>
              <a:ext cx="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5420A344-6135-1AA3-FED4-56F855A430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" y="873"/>
              <a:ext cx="404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762000"/>
              <a:r>
                <a:rPr lang="en-US" i="1">
                  <a:latin typeface="Times New Roman" pitchFamily="18" charset="0"/>
                </a:rPr>
                <a:t>g</a:t>
              </a:r>
              <a:r>
                <a:rPr lang="en-US">
                  <a:latin typeface="Times New Roman" pitchFamily="18" charset="0"/>
                </a:rPr>
                <a:t>(</a:t>
              </a:r>
              <a:r>
                <a:rPr lang="en-US" i="1">
                  <a:latin typeface="Times New Roman" pitchFamily="18" charset="0"/>
                </a:rPr>
                <a:t>t</a:t>
              </a:r>
              <a:r>
                <a:rPr lang="en-US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1C32759E-3159-F25A-B49D-2458F7DC4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8" y="899"/>
              <a:ext cx="1467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762000"/>
              <a:r>
                <a:rPr lang="en-US" i="1">
                  <a:latin typeface="Times New Roman" pitchFamily="18" charset="0"/>
                </a:rPr>
                <a:t>y</a:t>
              </a:r>
              <a:r>
                <a:rPr lang="en-US">
                  <a:latin typeface="Times New Roman" pitchFamily="18" charset="0"/>
                </a:rPr>
                <a:t>(</a:t>
              </a:r>
              <a:r>
                <a:rPr lang="en-US" i="1">
                  <a:latin typeface="Times New Roman" pitchFamily="18" charset="0"/>
                </a:rPr>
                <a:t>t</a:t>
              </a:r>
              <a:r>
                <a:rPr lang="en-US">
                  <a:latin typeface="Times New Roman" pitchFamily="18" charset="0"/>
                </a:rPr>
                <a:t>) = </a:t>
              </a:r>
              <a:r>
                <a:rPr lang="en-US" i="1">
                  <a:latin typeface="Times New Roman" pitchFamily="18" charset="0"/>
                </a:rPr>
                <a:t>f</a:t>
              </a:r>
              <a:r>
                <a:rPr lang="en-US">
                  <a:latin typeface="Times New Roman" pitchFamily="18" charset="0"/>
                </a:rPr>
                <a:t>(</a:t>
              </a:r>
              <a:r>
                <a:rPr lang="en-US" i="1">
                  <a:latin typeface="Times New Roman" pitchFamily="18" charset="0"/>
                </a:rPr>
                <a:t>g</a:t>
              </a:r>
              <a:r>
                <a:rPr lang="en-US">
                  <a:latin typeface="Times New Roman" pitchFamily="18" charset="0"/>
                </a:rPr>
                <a:t>(</a:t>
              </a:r>
              <a:r>
                <a:rPr lang="en-US" i="1">
                  <a:latin typeface="Times New Roman" pitchFamily="18" charset="0"/>
                </a:rPr>
                <a:t>t</a:t>
              </a:r>
              <a:r>
                <a:rPr lang="en-US">
                  <a:latin typeface="Times New Roman" pitchFamily="18" charset="0"/>
                </a:rPr>
                <a:t>)) </a:t>
              </a:r>
            </a:p>
          </p:txBody>
        </p:sp>
      </p:grpSp>
      <p:sp>
        <p:nvSpPr>
          <p:cNvPr id="10" name="Text Box 9">
            <a:extLst>
              <a:ext uri="{FF2B5EF4-FFF2-40B4-BE49-F238E27FC236}">
                <a16:creationId xmlns:a16="http://schemas.microsoft.com/office/drawing/2014/main" id="{4D5329FF-1123-AD4B-357A-121334545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5800" y="2179638"/>
            <a:ext cx="2627642" cy="92333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>
                <a:latin typeface="Nokia Sans Wide" pitchFamily="34" charset="0"/>
              </a:rPr>
              <a:t>Ou por série de McLaurin:</a:t>
            </a:r>
          </a:p>
          <a:p>
            <a:pPr defTabSz="762000"/>
            <a:endParaRPr lang="en-US">
              <a:latin typeface="Nokia Sans Wide" pitchFamily="34" charset="0"/>
            </a:endParaRPr>
          </a:p>
          <a:p>
            <a:pPr defTabSz="762000"/>
            <a:r>
              <a:rPr lang="en-US">
                <a:latin typeface="Nokia Sans Wide" pitchFamily="34" charset="0"/>
              </a:rPr>
              <a:t>Exemplo:</a:t>
            </a:r>
          </a:p>
        </p:txBody>
      </p:sp>
      <p:graphicFrame>
        <p:nvGraphicFramePr>
          <p:cNvPr id="11" name="Object 0">
            <a:extLst>
              <a:ext uri="{FF2B5EF4-FFF2-40B4-BE49-F238E27FC236}">
                <a16:creationId xmlns:a16="http://schemas.microsoft.com/office/drawing/2014/main" id="{3DD5CA60-74EC-47B3-1E2D-2199CBB415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10164" y="2193926"/>
          <a:ext cx="3151187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30320" imgH="241200" progId="Equation.3">
                  <p:embed/>
                </p:oleObj>
              </mc:Choice>
              <mc:Fallback>
                <p:oleObj name="Equation" r:id="rId2" imgW="1930320" imgH="241200" progId="Equation.3">
                  <p:embed/>
                  <p:pic>
                    <p:nvPicPr>
                      <p:cNvPr id="11" name="Object 0">
                        <a:extLst>
                          <a:ext uri="{FF2B5EF4-FFF2-40B4-BE49-F238E27FC236}">
                            <a16:creationId xmlns:a16="http://schemas.microsoft.com/office/drawing/2014/main" id="{3DD5CA60-74EC-47B3-1E2D-2199CBB415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0164" y="2193926"/>
                        <a:ext cx="3151187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46">
            <a:extLst>
              <a:ext uri="{FF2B5EF4-FFF2-40B4-BE49-F238E27FC236}">
                <a16:creationId xmlns:a16="http://schemas.microsoft.com/office/drawing/2014/main" id="{CE6CFA3B-8BAC-D94B-0BBA-B6916DB68217}"/>
              </a:ext>
            </a:extLst>
          </p:cNvPr>
          <p:cNvGrpSpPr>
            <a:grpSpLocks/>
          </p:cNvGrpSpPr>
          <p:nvPr/>
        </p:nvGrpSpPr>
        <p:grpSpPr bwMode="auto">
          <a:xfrm>
            <a:off x="1827214" y="3378201"/>
            <a:ext cx="8580437" cy="2600325"/>
            <a:chOff x="191" y="2128"/>
            <a:chExt cx="5405" cy="1638"/>
          </a:xfrm>
        </p:grpSpPr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5E05FF38-8AFE-DC2B-2A00-A18B351E05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4" y="2128"/>
              <a:ext cx="796" cy="37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62000"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</a:rPr>
                <a:t>f</a:t>
              </a:r>
              <a:r>
                <a:rPr lang="en-US">
                  <a:latin typeface="Times New Roman" pitchFamily="18" charset="0"/>
                </a:rPr>
                <a:t>(</a:t>
              </a:r>
              <a:r>
                <a:rPr lang="en-US" i="1">
                  <a:latin typeface="Times New Roman" pitchFamily="18" charset="0"/>
                </a:rPr>
                <a:t>g</a:t>
              </a:r>
              <a:r>
                <a:rPr lang="en-US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77869F63-C250-E0C4-DA9D-1DED661111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" y="2322"/>
              <a:ext cx="47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FBE9788C-AFD6-86B7-93A9-298497A345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5" y="2323"/>
              <a:ext cx="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16" name="Object 1">
              <a:extLst>
                <a:ext uri="{FF2B5EF4-FFF2-40B4-BE49-F238E27FC236}">
                  <a16:creationId xmlns:a16="http://schemas.microsoft.com/office/drawing/2014/main" id="{FDBCD58C-5727-27F2-2B56-19BD5FCF98A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57" y="2321"/>
            <a:ext cx="2390" cy="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323800" imgH="634680" progId="Equation.3">
                    <p:embed/>
                  </p:oleObj>
                </mc:Choice>
                <mc:Fallback>
                  <p:oleObj name="Equation" r:id="rId4" imgW="2323800" imgH="634680" progId="Equation.3">
                    <p:embed/>
                    <p:pic>
                      <p:nvPicPr>
                        <p:cNvPr id="16" name="Object 1">
                          <a:extLst>
                            <a:ext uri="{FF2B5EF4-FFF2-40B4-BE49-F238E27FC236}">
                              <a16:creationId xmlns:a16="http://schemas.microsoft.com/office/drawing/2014/main" id="{FDBCD58C-5727-27F2-2B56-19BD5FCF98A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7" y="2321"/>
                          <a:ext cx="2390" cy="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2">
              <a:extLst>
                <a:ext uri="{FF2B5EF4-FFF2-40B4-BE49-F238E27FC236}">
                  <a16:creationId xmlns:a16="http://schemas.microsoft.com/office/drawing/2014/main" id="{A932AF9F-6535-2F93-96A3-BA8F256D0DD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1" y="2358"/>
            <a:ext cx="1305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9720" imgH="609480" progId="Equation.3">
                    <p:embed/>
                  </p:oleObj>
                </mc:Choice>
                <mc:Fallback>
                  <p:oleObj name="Equation" r:id="rId6" imgW="1269720" imgH="609480" progId="Equation.3">
                    <p:embed/>
                    <p:pic>
                      <p:nvPicPr>
                        <p:cNvPr id="17" name="Object 2">
                          <a:extLst>
                            <a:ext uri="{FF2B5EF4-FFF2-40B4-BE49-F238E27FC236}">
                              <a16:creationId xmlns:a16="http://schemas.microsoft.com/office/drawing/2014/main" id="{A932AF9F-6535-2F93-96A3-BA8F256D0DD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" y="2358"/>
                          <a:ext cx="1305" cy="6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B65BADEA-37C4-CC3E-F0BA-57C597D477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" y="3546"/>
              <a:ext cx="99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A350EA72-F7AA-C7CE-03A3-FB72CEC384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3" y="3080"/>
              <a:ext cx="0" cy="685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572C65C1-97FC-37AB-81BD-0FE126F1D5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0" y="3330"/>
              <a:ext cx="0" cy="215"/>
            </a:xfrm>
            <a:prstGeom prst="line">
              <a:avLst/>
            </a:prstGeom>
            <a:noFill/>
            <a:ln w="19050">
              <a:solidFill>
                <a:srgbClr val="063DE8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048B0828-CB77-A19E-DE27-10F66A7609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66" y="3331"/>
              <a:ext cx="0" cy="215"/>
            </a:xfrm>
            <a:prstGeom prst="line">
              <a:avLst/>
            </a:prstGeom>
            <a:noFill/>
            <a:ln w="19050">
              <a:solidFill>
                <a:srgbClr val="063DE8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9881CE01-B709-3CFC-2722-64C7799669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0" y="3336"/>
              <a:ext cx="602" cy="0"/>
            </a:xfrm>
            <a:prstGeom prst="line">
              <a:avLst/>
            </a:prstGeom>
            <a:noFill/>
            <a:ln w="19050">
              <a:solidFill>
                <a:srgbClr val="063DE8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23" name="Text Box 22">
              <a:extLst>
                <a:ext uri="{FF2B5EF4-FFF2-40B4-BE49-F238E27FC236}">
                  <a16:creationId xmlns:a16="http://schemas.microsoft.com/office/drawing/2014/main" id="{417D3097-65EB-3A9B-EBE6-68C5CFDB7A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5" y="3080"/>
              <a:ext cx="1216" cy="23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762000"/>
              <a:r>
                <a:rPr lang="en-US" i="1">
                  <a:solidFill>
                    <a:srgbClr val="063DE8"/>
                  </a:solidFill>
                  <a:latin typeface="Times New Roman" pitchFamily="18" charset="0"/>
                </a:rPr>
                <a:t>X</a:t>
              </a:r>
              <a:r>
                <a:rPr lang="en-US">
                  <a:solidFill>
                    <a:srgbClr val="063DE8"/>
                  </a:solidFill>
                  <a:latin typeface="Times New Roman" pitchFamily="18" charset="0"/>
                </a:rPr>
                <a:t>( </a:t>
              </a:r>
              <a:r>
                <a:rPr lang="en-US" i="1">
                  <a:solidFill>
                    <a:srgbClr val="063DE8"/>
                  </a:solidFill>
                  <a:latin typeface="Times New Roman" pitchFamily="18" charset="0"/>
                </a:rPr>
                <a:t>f </a:t>
              </a:r>
              <a:r>
                <a:rPr lang="en-US">
                  <a:solidFill>
                    <a:srgbClr val="063DE8"/>
                  </a:solidFill>
                  <a:latin typeface="Times New Roman" pitchFamily="18" charset="0"/>
                </a:rPr>
                <a:t>)</a:t>
              </a:r>
              <a:endParaRPr lang="en-US" b="1">
                <a:solidFill>
                  <a:srgbClr val="063DE8"/>
                </a:solidFill>
                <a:latin typeface="Symbol" pitchFamily="18" charset="2"/>
              </a:endParaRPr>
            </a:p>
          </p:txBody>
        </p:sp>
        <p:sp>
          <p:nvSpPr>
            <p:cNvPr id="24" name="Text Box 24">
              <a:extLst>
                <a:ext uri="{FF2B5EF4-FFF2-40B4-BE49-F238E27FC236}">
                  <a16:creationId xmlns:a16="http://schemas.microsoft.com/office/drawing/2014/main" id="{644E0BCD-B3D1-56F6-355A-CC11B17CAD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8" y="3493"/>
              <a:ext cx="194" cy="19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762000"/>
              <a:r>
                <a:rPr lang="en-US" sz="1400" i="1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25" name="Text Box 25">
              <a:extLst>
                <a:ext uri="{FF2B5EF4-FFF2-40B4-BE49-F238E27FC236}">
                  <a16:creationId xmlns:a16="http://schemas.microsoft.com/office/drawing/2014/main" id="{78DB9BDD-99EA-CF6E-81E1-8D7BD3A3CB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0" y="3524"/>
              <a:ext cx="185" cy="19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400" i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F10432D0-5E62-DDF6-4AF5-7EE559A319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3" y="3547"/>
              <a:ext cx="146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3419300B-0A1A-A16E-47FA-3A5F17D3DE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3081"/>
              <a:ext cx="0" cy="685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F1196F0E-9FC3-1090-514C-45E1CE9152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36" y="3331"/>
              <a:ext cx="0" cy="215"/>
            </a:xfrm>
            <a:prstGeom prst="line">
              <a:avLst/>
            </a:prstGeom>
            <a:noFill/>
            <a:ln w="19050">
              <a:solidFill>
                <a:srgbClr val="063DE8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29" name="Line 29">
              <a:extLst>
                <a:ext uri="{FF2B5EF4-FFF2-40B4-BE49-F238E27FC236}">
                  <a16:creationId xmlns:a16="http://schemas.microsoft.com/office/drawing/2014/main" id="{4F995D4C-D14B-9336-16C6-45F45775B9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2" y="3332"/>
              <a:ext cx="0" cy="215"/>
            </a:xfrm>
            <a:prstGeom prst="line">
              <a:avLst/>
            </a:prstGeom>
            <a:noFill/>
            <a:ln w="19050">
              <a:solidFill>
                <a:srgbClr val="063DE8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30" name="Line 30">
              <a:extLst>
                <a:ext uri="{FF2B5EF4-FFF2-40B4-BE49-F238E27FC236}">
                  <a16:creationId xmlns:a16="http://schemas.microsoft.com/office/drawing/2014/main" id="{3AA36878-3669-7233-9856-D454493B67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6" y="3337"/>
              <a:ext cx="602" cy="0"/>
            </a:xfrm>
            <a:prstGeom prst="line">
              <a:avLst/>
            </a:prstGeom>
            <a:noFill/>
            <a:ln w="19050">
              <a:solidFill>
                <a:srgbClr val="063DE8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31" name="Text Box 31">
              <a:extLst>
                <a:ext uri="{FF2B5EF4-FFF2-40B4-BE49-F238E27FC236}">
                  <a16:creationId xmlns:a16="http://schemas.microsoft.com/office/drawing/2014/main" id="{0B7BF237-E4EB-7F07-CCC0-BB734C7C2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5" y="3060"/>
              <a:ext cx="1216" cy="23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762000"/>
              <a:r>
                <a:rPr lang="en-US" i="1">
                  <a:solidFill>
                    <a:schemeClr val="hlink"/>
                  </a:solidFill>
                  <a:latin typeface="Times New Roman" pitchFamily="18" charset="0"/>
                </a:rPr>
                <a:t>Y</a:t>
              </a:r>
              <a:r>
                <a:rPr lang="en-US">
                  <a:solidFill>
                    <a:schemeClr val="hlink"/>
                  </a:solidFill>
                  <a:latin typeface="Times New Roman" pitchFamily="18" charset="0"/>
                </a:rPr>
                <a:t>( </a:t>
              </a:r>
              <a:r>
                <a:rPr lang="en-US" i="1">
                  <a:solidFill>
                    <a:schemeClr val="hlink"/>
                  </a:solidFill>
                  <a:latin typeface="Times New Roman" pitchFamily="18" charset="0"/>
                </a:rPr>
                <a:t>f </a:t>
              </a:r>
              <a:r>
                <a:rPr lang="en-US">
                  <a:solidFill>
                    <a:schemeClr val="hlink"/>
                  </a:solidFill>
                  <a:latin typeface="Times New Roman" pitchFamily="18" charset="0"/>
                </a:rPr>
                <a:t>)</a:t>
              </a:r>
              <a:endParaRPr lang="en-US" b="1">
                <a:solidFill>
                  <a:schemeClr val="hlink"/>
                </a:solidFill>
                <a:latin typeface="Symbol" pitchFamily="18" charset="2"/>
              </a:endParaRPr>
            </a:p>
          </p:txBody>
        </p:sp>
        <p:sp>
          <p:nvSpPr>
            <p:cNvPr id="32" name="Text Box 32">
              <a:extLst>
                <a:ext uri="{FF2B5EF4-FFF2-40B4-BE49-F238E27FC236}">
                  <a16:creationId xmlns:a16="http://schemas.microsoft.com/office/drawing/2014/main" id="{097E2363-93BC-CF62-73A9-EEA35AE356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2" y="3504"/>
              <a:ext cx="194" cy="19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762000"/>
              <a:r>
                <a:rPr lang="en-US" sz="1400" i="1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33" name="Text Box 33">
              <a:extLst>
                <a:ext uri="{FF2B5EF4-FFF2-40B4-BE49-F238E27FC236}">
                  <a16:creationId xmlns:a16="http://schemas.microsoft.com/office/drawing/2014/main" id="{EB99D684-1949-6ECD-2E83-F0CEB0CDD7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6" y="3525"/>
              <a:ext cx="185" cy="19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400" i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34" name="Line 34">
              <a:extLst>
                <a:ext uri="{FF2B5EF4-FFF2-40B4-BE49-F238E27FC236}">
                  <a16:creationId xmlns:a16="http://schemas.microsoft.com/office/drawing/2014/main" id="{4687E8C5-B978-E55E-E851-159AA9EA78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70" y="3477"/>
              <a:ext cx="670" cy="73"/>
            </a:xfrm>
            <a:prstGeom prst="line">
              <a:avLst/>
            </a:prstGeom>
            <a:noFill/>
            <a:ln w="19050">
              <a:solidFill>
                <a:srgbClr val="063DE8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35" name="Line 35">
              <a:extLst>
                <a:ext uri="{FF2B5EF4-FFF2-40B4-BE49-F238E27FC236}">
                  <a16:creationId xmlns:a16="http://schemas.microsoft.com/office/drawing/2014/main" id="{15A3FD41-8E38-54DE-168D-E6E6A40F85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6" y="3473"/>
              <a:ext cx="670" cy="73"/>
            </a:xfrm>
            <a:prstGeom prst="line">
              <a:avLst/>
            </a:prstGeom>
            <a:noFill/>
            <a:ln w="19050">
              <a:solidFill>
                <a:srgbClr val="063DE8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grpSp>
          <p:nvGrpSpPr>
            <p:cNvPr id="36" name="Group 39">
              <a:extLst>
                <a:ext uri="{FF2B5EF4-FFF2-40B4-BE49-F238E27FC236}">
                  <a16:creationId xmlns:a16="http://schemas.microsoft.com/office/drawing/2014/main" id="{074A80B8-B19F-46A1-7837-D394026CB7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0" y="3278"/>
              <a:ext cx="639" cy="262"/>
              <a:chOff x="3435" y="3278"/>
              <a:chExt cx="639" cy="262"/>
            </a:xfrm>
          </p:grpSpPr>
          <p:sp>
            <p:nvSpPr>
              <p:cNvPr id="42" name="Line 36">
                <a:extLst>
                  <a:ext uri="{FF2B5EF4-FFF2-40B4-BE49-F238E27FC236}">
                    <a16:creationId xmlns:a16="http://schemas.microsoft.com/office/drawing/2014/main" id="{36B16324-F8E2-169B-812D-CE6AABF9CE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39" y="3503"/>
                <a:ext cx="335" cy="37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43" name="Line 37">
                <a:extLst>
                  <a:ext uri="{FF2B5EF4-FFF2-40B4-BE49-F238E27FC236}">
                    <a16:creationId xmlns:a16="http://schemas.microsoft.com/office/drawing/2014/main" id="{7C48EAE5-A345-3C81-7D64-8A7BFDC84B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44" y="3336"/>
                <a:ext cx="0" cy="183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44" name="Line 38">
                <a:extLst>
                  <a:ext uri="{FF2B5EF4-FFF2-40B4-BE49-F238E27FC236}">
                    <a16:creationId xmlns:a16="http://schemas.microsoft.com/office/drawing/2014/main" id="{8BC52003-DF49-730A-32E4-8B268A9D04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35" y="3278"/>
                <a:ext cx="309" cy="52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</p:grpSp>
        <p:grpSp>
          <p:nvGrpSpPr>
            <p:cNvPr id="37" name="Group 40">
              <a:extLst>
                <a:ext uri="{FF2B5EF4-FFF2-40B4-BE49-F238E27FC236}">
                  <a16:creationId xmlns:a16="http://schemas.microsoft.com/office/drawing/2014/main" id="{A9B7B1E8-DB8D-28FA-67EE-AF7238ED9BD2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2706" y="3284"/>
              <a:ext cx="639" cy="262"/>
              <a:chOff x="3435" y="3278"/>
              <a:chExt cx="639" cy="262"/>
            </a:xfrm>
          </p:grpSpPr>
          <p:sp>
            <p:nvSpPr>
              <p:cNvPr id="39" name="Line 41">
                <a:extLst>
                  <a:ext uri="{FF2B5EF4-FFF2-40B4-BE49-F238E27FC236}">
                    <a16:creationId xmlns:a16="http://schemas.microsoft.com/office/drawing/2014/main" id="{14A91893-B336-DE30-D954-1983765D5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39" y="3503"/>
                <a:ext cx="335" cy="37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40" name="Line 42">
                <a:extLst>
                  <a:ext uri="{FF2B5EF4-FFF2-40B4-BE49-F238E27FC236}">
                    <a16:creationId xmlns:a16="http://schemas.microsoft.com/office/drawing/2014/main" id="{043AD66B-A5D9-76B3-93E8-FE2F28BF21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44" y="3336"/>
                <a:ext cx="0" cy="183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41" name="Line 43">
                <a:extLst>
                  <a:ext uri="{FF2B5EF4-FFF2-40B4-BE49-F238E27FC236}">
                    <a16:creationId xmlns:a16="http://schemas.microsoft.com/office/drawing/2014/main" id="{A0F822A6-8038-2BDB-00E0-09B28211E4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35" y="3278"/>
                <a:ext cx="309" cy="52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</p:grpSp>
        <p:sp>
          <p:nvSpPr>
            <p:cNvPr id="38" name="Text Box 44">
              <a:extLst>
                <a:ext uri="{FF2B5EF4-FFF2-40B4-BE49-F238E27FC236}">
                  <a16:creationId xmlns:a16="http://schemas.microsoft.com/office/drawing/2014/main" id="{D06A225A-61FA-F258-7BBC-D9D0A9947A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0" y="3375"/>
              <a:ext cx="1436" cy="33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400">
                  <a:latin typeface="Nokia Sans Wide" pitchFamily="34" charset="0"/>
                </a:rPr>
                <a:t>distorção não linear introduz</a:t>
              </a:r>
            </a:p>
            <a:p>
              <a:pPr defTabSz="762000"/>
              <a:r>
                <a:rPr lang="en-US" sz="1400">
                  <a:latin typeface="Nokia Sans Wide" pitchFamily="34" charset="0"/>
                </a:rPr>
                <a:t>espalhamento na freqüência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0837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6A3276-875B-9EAF-E5F4-0B9F718DD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Sistemas não Lineares</a:t>
            </a:r>
            <a:br>
              <a:rPr lang="pt-BR" dirty="0"/>
            </a:br>
            <a:r>
              <a:rPr lang="pt-BR" dirty="0"/>
              <a:t>Harmônicos</a:t>
            </a:r>
          </a:p>
        </p:txBody>
      </p:sp>
      <p:grpSp>
        <p:nvGrpSpPr>
          <p:cNvPr id="3" name="Group 71">
            <a:extLst>
              <a:ext uri="{FF2B5EF4-FFF2-40B4-BE49-F238E27FC236}">
                <a16:creationId xmlns:a16="http://schemas.microsoft.com/office/drawing/2014/main" id="{3AF052D9-2365-1624-5C69-2E747CCFCC74}"/>
              </a:ext>
            </a:extLst>
          </p:cNvPr>
          <p:cNvGrpSpPr>
            <a:grpSpLocks/>
          </p:cNvGrpSpPr>
          <p:nvPr/>
        </p:nvGrpSpPr>
        <p:grpSpPr bwMode="auto">
          <a:xfrm>
            <a:off x="2511426" y="1304925"/>
            <a:ext cx="7673975" cy="831850"/>
            <a:chOff x="622" y="822"/>
            <a:chExt cx="4834" cy="524"/>
          </a:xfrm>
        </p:grpSpPr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BC3B49A8-03BC-1F95-93B5-347D6126E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3" y="822"/>
              <a:ext cx="796" cy="37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62000"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</a:rPr>
                <a:t>f</a:t>
              </a:r>
              <a:r>
                <a:rPr lang="en-US">
                  <a:latin typeface="Times New Roman" pitchFamily="18" charset="0"/>
                </a:rPr>
                <a:t>(</a:t>
              </a:r>
              <a:r>
                <a:rPr lang="en-US" i="1">
                  <a:latin typeface="Times New Roman" pitchFamily="18" charset="0"/>
                </a:rPr>
                <a:t>g</a:t>
              </a:r>
              <a:r>
                <a:rPr lang="en-US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5" name="Line 6">
              <a:extLst>
                <a:ext uri="{FF2B5EF4-FFF2-40B4-BE49-F238E27FC236}">
                  <a16:creationId xmlns:a16="http://schemas.microsoft.com/office/drawing/2014/main" id="{2FFC19E8-FA08-6C0D-A741-E95A1FE0DE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7" y="1016"/>
              <a:ext cx="47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Line 7">
              <a:extLst>
                <a:ext uri="{FF2B5EF4-FFF2-40B4-BE49-F238E27FC236}">
                  <a16:creationId xmlns:a16="http://schemas.microsoft.com/office/drawing/2014/main" id="{32D2751B-5260-F20C-0336-C066D9B048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4" y="1017"/>
              <a:ext cx="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Box 8">
              <a:extLst>
                <a:ext uri="{FF2B5EF4-FFF2-40B4-BE49-F238E27FC236}">
                  <a16:creationId xmlns:a16="http://schemas.microsoft.com/office/drawing/2014/main" id="{A3583308-D887-3B3F-1371-39C280A496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" y="873"/>
              <a:ext cx="404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762000"/>
              <a:r>
                <a:rPr lang="en-US" i="1">
                  <a:latin typeface="Times New Roman" pitchFamily="18" charset="0"/>
                </a:rPr>
                <a:t>x</a:t>
              </a:r>
              <a:r>
                <a:rPr lang="en-US">
                  <a:latin typeface="Times New Roman" pitchFamily="18" charset="0"/>
                </a:rPr>
                <a:t>(</a:t>
              </a:r>
              <a:r>
                <a:rPr lang="en-US" i="1">
                  <a:latin typeface="Times New Roman" pitchFamily="18" charset="0"/>
                </a:rPr>
                <a:t>t</a:t>
              </a:r>
              <a:r>
                <a:rPr lang="en-US">
                  <a:latin typeface="Times New Roman" pitchFamily="18" charset="0"/>
                </a:rPr>
                <a:t>)</a:t>
              </a:r>
            </a:p>
          </p:txBody>
        </p:sp>
        <p:graphicFrame>
          <p:nvGraphicFramePr>
            <p:cNvPr id="8" name="Object 13">
              <a:extLst>
                <a:ext uri="{FF2B5EF4-FFF2-40B4-BE49-F238E27FC236}">
                  <a16:creationId xmlns:a16="http://schemas.microsoft.com/office/drawing/2014/main" id="{C57D3337-CC22-2973-C0A5-1273088B831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35" y="1099"/>
            <a:ext cx="3121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035160" imgH="241200" progId="Equation.3">
                    <p:embed/>
                  </p:oleObj>
                </mc:Choice>
                <mc:Fallback>
                  <p:oleObj name="Equation" r:id="rId2" imgW="3035160" imgH="241200" progId="Equation.3">
                    <p:embed/>
                    <p:pic>
                      <p:nvPicPr>
                        <p:cNvPr id="8" name="Object 13">
                          <a:extLst>
                            <a:ext uri="{FF2B5EF4-FFF2-40B4-BE49-F238E27FC236}">
                              <a16:creationId xmlns:a16="http://schemas.microsoft.com/office/drawing/2014/main" id="{C57D3337-CC22-2973-C0A5-1273088B831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5" y="1099"/>
                          <a:ext cx="3121" cy="24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72">
            <a:extLst>
              <a:ext uri="{FF2B5EF4-FFF2-40B4-BE49-F238E27FC236}">
                <a16:creationId xmlns:a16="http://schemas.microsoft.com/office/drawing/2014/main" id="{40A0D15B-223A-0F9B-6DC0-F76240DCBBBE}"/>
              </a:ext>
            </a:extLst>
          </p:cNvPr>
          <p:cNvGrpSpPr>
            <a:grpSpLocks/>
          </p:cNvGrpSpPr>
          <p:nvPr/>
        </p:nvGrpSpPr>
        <p:grpSpPr bwMode="auto">
          <a:xfrm>
            <a:off x="1897064" y="2595563"/>
            <a:ext cx="8574087" cy="1001712"/>
            <a:chOff x="235" y="1635"/>
            <a:chExt cx="5401" cy="631"/>
          </a:xfrm>
        </p:grpSpPr>
        <p:graphicFrame>
          <p:nvGraphicFramePr>
            <p:cNvPr id="10" name="Object 3">
              <a:extLst>
                <a:ext uri="{FF2B5EF4-FFF2-40B4-BE49-F238E27FC236}">
                  <a16:creationId xmlns:a16="http://schemas.microsoft.com/office/drawing/2014/main" id="{7489F166-6FAC-D2CE-6D54-06D05622A0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5" y="1937"/>
            <a:ext cx="1059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028520" imgH="228600" progId="Equation.3">
                    <p:embed/>
                  </p:oleObj>
                </mc:Choice>
                <mc:Fallback>
                  <p:oleObj name="Equation" r:id="rId4" imgW="1028520" imgH="228600" progId="Equation.3">
                    <p:embed/>
                    <p:pic>
                      <p:nvPicPr>
                        <p:cNvPr id="10" name="Object 3">
                          <a:extLst>
                            <a:ext uri="{FF2B5EF4-FFF2-40B4-BE49-F238E27FC236}">
                              <a16:creationId xmlns:a16="http://schemas.microsoft.com/office/drawing/2014/main" id="{7489F166-6FAC-D2CE-6D54-06D05622A03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" y="1937"/>
                          <a:ext cx="1059" cy="2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4">
              <a:extLst>
                <a:ext uri="{FF2B5EF4-FFF2-40B4-BE49-F238E27FC236}">
                  <a16:creationId xmlns:a16="http://schemas.microsoft.com/office/drawing/2014/main" id="{43699D37-746E-BAC6-6010-852DBB737B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64" y="1848"/>
            <a:ext cx="3972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076640" imgH="431640" progId="Equation.3">
                    <p:embed/>
                  </p:oleObj>
                </mc:Choice>
                <mc:Fallback>
                  <p:oleObj name="Equation" r:id="rId6" imgW="4076640" imgH="431640" progId="Equation.3">
                    <p:embed/>
                    <p:pic>
                      <p:nvPicPr>
                        <p:cNvPr id="11" name="Object 14">
                          <a:extLst>
                            <a:ext uri="{FF2B5EF4-FFF2-40B4-BE49-F238E27FC236}">
                              <a16:creationId xmlns:a16="http://schemas.microsoft.com/office/drawing/2014/main" id="{43699D37-746E-BAC6-6010-852DBB737BA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4" y="1848"/>
                          <a:ext cx="3972" cy="4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 Box 15">
              <a:extLst>
                <a:ext uri="{FF2B5EF4-FFF2-40B4-BE49-F238E27FC236}">
                  <a16:creationId xmlns:a16="http://schemas.microsoft.com/office/drawing/2014/main" id="{D740BA27-3F5D-B2EF-D826-CF0EAD6EFE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" y="1635"/>
              <a:ext cx="295" cy="23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>
                  <a:latin typeface="Nokia Sans Wide" pitchFamily="34" charset="0"/>
                </a:rPr>
                <a:t>Se:</a:t>
              </a:r>
            </a:p>
          </p:txBody>
        </p:sp>
      </p:grpSp>
      <p:grpSp>
        <p:nvGrpSpPr>
          <p:cNvPr id="13" name="Group 73">
            <a:extLst>
              <a:ext uri="{FF2B5EF4-FFF2-40B4-BE49-F238E27FC236}">
                <a16:creationId xmlns:a16="http://schemas.microsoft.com/office/drawing/2014/main" id="{6581AA1E-E4B8-B1F9-AF15-63334D62F613}"/>
              </a:ext>
            </a:extLst>
          </p:cNvPr>
          <p:cNvGrpSpPr>
            <a:grpSpLocks/>
          </p:cNvGrpSpPr>
          <p:nvPr/>
        </p:nvGrpSpPr>
        <p:grpSpPr bwMode="auto">
          <a:xfrm>
            <a:off x="2271713" y="4579936"/>
            <a:ext cx="7167562" cy="1222374"/>
            <a:chOff x="471" y="2885"/>
            <a:chExt cx="4515" cy="770"/>
          </a:xfrm>
        </p:grpSpPr>
        <p:sp>
          <p:nvSpPr>
            <p:cNvPr id="14" name="Line 22">
              <a:extLst>
                <a:ext uri="{FF2B5EF4-FFF2-40B4-BE49-F238E27FC236}">
                  <a16:creationId xmlns:a16="http://schemas.microsoft.com/office/drawing/2014/main" id="{A8D29D2B-D42E-33E7-C5CF-4E58A888C0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" y="3428"/>
              <a:ext cx="99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15" name="Line 23">
              <a:extLst>
                <a:ext uri="{FF2B5EF4-FFF2-40B4-BE49-F238E27FC236}">
                  <a16:creationId xmlns:a16="http://schemas.microsoft.com/office/drawing/2014/main" id="{2311E2EC-2CAA-4EB8-8D1F-4895BF6D75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7" y="2962"/>
              <a:ext cx="0" cy="685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16" name="Text Box 27">
              <a:extLst>
                <a:ext uri="{FF2B5EF4-FFF2-40B4-BE49-F238E27FC236}">
                  <a16:creationId xmlns:a16="http://schemas.microsoft.com/office/drawing/2014/main" id="{42E4E8C9-E3CF-5FA8-E8E0-0C5DECE5DA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9" y="2885"/>
              <a:ext cx="1216" cy="23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762000"/>
              <a:r>
                <a:rPr lang="en-US" i="1">
                  <a:solidFill>
                    <a:srgbClr val="063DE8"/>
                  </a:solidFill>
                  <a:latin typeface="Times New Roman" pitchFamily="18" charset="0"/>
                </a:rPr>
                <a:t>X</a:t>
              </a:r>
              <a:r>
                <a:rPr lang="en-US">
                  <a:solidFill>
                    <a:srgbClr val="063DE8"/>
                  </a:solidFill>
                  <a:latin typeface="Times New Roman" pitchFamily="18" charset="0"/>
                </a:rPr>
                <a:t>( </a:t>
              </a:r>
              <a:r>
                <a:rPr lang="en-US" i="1">
                  <a:solidFill>
                    <a:srgbClr val="063DE8"/>
                  </a:solidFill>
                  <a:latin typeface="Times New Roman" pitchFamily="18" charset="0"/>
                </a:rPr>
                <a:t>f </a:t>
              </a:r>
              <a:r>
                <a:rPr lang="en-US">
                  <a:solidFill>
                    <a:srgbClr val="063DE8"/>
                  </a:solidFill>
                  <a:latin typeface="Times New Roman" pitchFamily="18" charset="0"/>
                </a:rPr>
                <a:t>)</a:t>
              </a:r>
              <a:endParaRPr lang="en-US" b="1">
                <a:solidFill>
                  <a:srgbClr val="063DE8"/>
                </a:solidFill>
                <a:latin typeface="Symbol" pitchFamily="18" charset="2"/>
              </a:endParaRPr>
            </a:p>
          </p:txBody>
        </p:sp>
        <p:sp>
          <p:nvSpPr>
            <p:cNvPr id="17" name="Text Box 28">
              <a:extLst>
                <a:ext uri="{FF2B5EF4-FFF2-40B4-BE49-F238E27FC236}">
                  <a16:creationId xmlns:a16="http://schemas.microsoft.com/office/drawing/2014/main" id="{022729B8-5E64-D4B5-750B-D09511EFE3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2" y="3375"/>
              <a:ext cx="194" cy="19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762000"/>
              <a:r>
                <a:rPr lang="en-US" sz="1400" i="1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18" name="Text Box 29">
              <a:extLst>
                <a:ext uri="{FF2B5EF4-FFF2-40B4-BE49-F238E27FC236}">
                  <a16:creationId xmlns:a16="http://schemas.microsoft.com/office/drawing/2014/main" id="{159D84BD-A79C-848D-10B7-C97F77FB72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0" y="3448"/>
              <a:ext cx="185" cy="19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400" i="1">
                  <a:latin typeface="Times New Roman" pitchFamily="18" charset="0"/>
                </a:rPr>
                <a:t>f</a:t>
              </a:r>
              <a:r>
                <a:rPr lang="en-US" sz="1400" baseline="-25000">
                  <a:latin typeface="Times New Roman" pitchFamily="18" charset="0"/>
                </a:rPr>
                <a:t>0</a:t>
              </a:r>
              <a:endParaRPr lang="en-US" sz="1400" i="1">
                <a:latin typeface="Times New Roman" pitchFamily="18" charset="0"/>
              </a:endParaRPr>
            </a:p>
          </p:txBody>
        </p:sp>
        <p:grpSp>
          <p:nvGrpSpPr>
            <p:cNvPr id="19" name="Group 51">
              <a:extLst>
                <a:ext uri="{FF2B5EF4-FFF2-40B4-BE49-F238E27FC236}">
                  <a16:creationId xmlns:a16="http://schemas.microsoft.com/office/drawing/2014/main" id="{5F26DD7A-37AB-5F0B-BF33-75BDF6CC2E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9" y="3114"/>
              <a:ext cx="584" cy="316"/>
              <a:chOff x="649" y="3198"/>
              <a:chExt cx="584" cy="232"/>
            </a:xfrm>
          </p:grpSpPr>
          <p:sp>
            <p:nvSpPr>
              <p:cNvPr id="37" name="Line 49">
                <a:extLst>
                  <a:ext uri="{FF2B5EF4-FFF2-40B4-BE49-F238E27FC236}">
                    <a16:creationId xmlns:a16="http://schemas.microsoft.com/office/drawing/2014/main" id="{0BC9817A-8633-21B5-0544-84921C3929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3" y="3198"/>
                <a:ext cx="0" cy="231"/>
              </a:xfrm>
              <a:prstGeom prst="line">
                <a:avLst/>
              </a:prstGeom>
              <a:noFill/>
              <a:ln w="19050">
                <a:solidFill>
                  <a:srgbClr val="063DE8"/>
                </a:solidFill>
                <a:round/>
                <a:headEnd/>
                <a:tailEnd type="triangle" w="med" len="med"/>
              </a:ln>
              <a:effectLst/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38" name="Line 50">
                <a:extLst>
                  <a:ext uri="{FF2B5EF4-FFF2-40B4-BE49-F238E27FC236}">
                    <a16:creationId xmlns:a16="http://schemas.microsoft.com/office/drawing/2014/main" id="{04BBBB4D-5782-E3B1-184B-2786822CA5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49" y="3199"/>
                <a:ext cx="0" cy="231"/>
              </a:xfrm>
              <a:prstGeom prst="line">
                <a:avLst/>
              </a:prstGeom>
              <a:noFill/>
              <a:ln w="19050">
                <a:solidFill>
                  <a:srgbClr val="063DE8"/>
                </a:solidFill>
                <a:round/>
                <a:headEnd/>
                <a:tailEnd type="triangle" w="med" len="med"/>
              </a:ln>
              <a:effectLst/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</p:grpSp>
        <p:sp>
          <p:nvSpPr>
            <p:cNvPr id="20" name="Line 52">
              <a:extLst>
                <a:ext uri="{FF2B5EF4-FFF2-40B4-BE49-F238E27FC236}">
                  <a16:creationId xmlns:a16="http://schemas.microsoft.com/office/drawing/2014/main" id="{F9A196CA-7671-E076-196B-EE509E42F1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6" y="3429"/>
              <a:ext cx="2016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21" name="Line 53">
              <a:extLst>
                <a:ext uri="{FF2B5EF4-FFF2-40B4-BE49-F238E27FC236}">
                  <a16:creationId xmlns:a16="http://schemas.microsoft.com/office/drawing/2014/main" id="{65C2F1CA-66C0-53CF-A734-5F22410070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88" y="2963"/>
              <a:ext cx="0" cy="685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22" name="Text Box 54">
              <a:extLst>
                <a:ext uri="{FF2B5EF4-FFF2-40B4-BE49-F238E27FC236}">
                  <a16:creationId xmlns:a16="http://schemas.microsoft.com/office/drawing/2014/main" id="{815A8F67-1ABC-EA09-9E09-9059C74E5F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0" y="2886"/>
              <a:ext cx="1216" cy="23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762000"/>
              <a:r>
                <a:rPr lang="en-US" i="1">
                  <a:solidFill>
                    <a:schemeClr val="hlink"/>
                  </a:solidFill>
                  <a:latin typeface="Times New Roman" pitchFamily="18" charset="0"/>
                </a:rPr>
                <a:t>Y</a:t>
              </a:r>
              <a:r>
                <a:rPr lang="en-US">
                  <a:solidFill>
                    <a:schemeClr val="hlink"/>
                  </a:solidFill>
                  <a:latin typeface="Times New Roman" pitchFamily="18" charset="0"/>
                </a:rPr>
                <a:t>( </a:t>
              </a:r>
              <a:r>
                <a:rPr lang="en-US" i="1">
                  <a:solidFill>
                    <a:schemeClr val="hlink"/>
                  </a:solidFill>
                  <a:latin typeface="Times New Roman" pitchFamily="18" charset="0"/>
                </a:rPr>
                <a:t>f </a:t>
              </a:r>
              <a:r>
                <a:rPr lang="en-US">
                  <a:solidFill>
                    <a:schemeClr val="hlink"/>
                  </a:solidFill>
                  <a:latin typeface="Times New Roman" pitchFamily="18" charset="0"/>
                </a:rPr>
                <a:t>)</a:t>
              </a:r>
              <a:endParaRPr lang="en-US" b="1">
                <a:solidFill>
                  <a:schemeClr val="hlink"/>
                </a:solidFill>
                <a:latin typeface="Symbol" pitchFamily="18" charset="2"/>
              </a:endParaRPr>
            </a:p>
          </p:txBody>
        </p:sp>
        <p:sp>
          <p:nvSpPr>
            <p:cNvPr id="23" name="Text Box 55">
              <a:extLst>
                <a:ext uri="{FF2B5EF4-FFF2-40B4-BE49-F238E27FC236}">
                  <a16:creationId xmlns:a16="http://schemas.microsoft.com/office/drawing/2014/main" id="{5EC8A5ED-E1BB-6B3E-5B36-F6EF7BC3A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2" y="3418"/>
              <a:ext cx="194" cy="19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762000"/>
              <a:r>
                <a:rPr lang="en-US" sz="1400" i="1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24" name="Text Box 56">
              <a:extLst>
                <a:ext uri="{FF2B5EF4-FFF2-40B4-BE49-F238E27FC236}">
                  <a16:creationId xmlns:a16="http://schemas.microsoft.com/office/drawing/2014/main" id="{FCB42504-7988-16E7-0AFF-DE68674A50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1" y="3449"/>
              <a:ext cx="185" cy="19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400" i="1">
                  <a:latin typeface="Times New Roman" pitchFamily="18" charset="0"/>
                </a:rPr>
                <a:t>f</a:t>
              </a:r>
              <a:r>
                <a:rPr lang="en-US" sz="1400" baseline="-25000">
                  <a:latin typeface="Times New Roman" pitchFamily="18" charset="0"/>
                </a:rPr>
                <a:t>0</a:t>
              </a:r>
              <a:endParaRPr lang="en-US" sz="1400" i="1">
                <a:latin typeface="Times New Roman" pitchFamily="18" charset="0"/>
              </a:endParaRPr>
            </a:p>
          </p:txBody>
        </p:sp>
        <p:grpSp>
          <p:nvGrpSpPr>
            <p:cNvPr id="25" name="Group 57">
              <a:extLst>
                <a:ext uri="{FF2B5EF4-FFF2-40B4-BE49-F238E27FC236}">
                  <a16:creationId xmlns:a16="http://schemas.microsoft.com/office/drawing/2014/main" id="{4014AC2F-E8DF-ECFE-951B-B5C949213F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0" y="3115"/>
              <a:ext cx="584" cy="316"/>
              <a:chOff x="649" y="3198"/>
              <a:chExt cx="584" cy="232"/>
            </a:xfrm>
          </p:grpSpPr>
          <p:sp>
            <p:nvSpPr>
              <p:cNvPr id="35" name="Line 58">
                <a:extLst>
                  <a:ext uri="{FF2B5EF4-FFF2-40B4-BE49-F238E27FC236}">
                    <a16:creationId xmlns:a16="http://schemas.microsoft.com/office/drawing/2014/main" id="{0841146F-489B-92C3-112E-8244229649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3" y="3198"/>
                <a:ext cx="0" cy="231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 type="triangle" w="med" len="med"/>
              </a:ln>
              <a:effectLst/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36" name="Line 59">
                <a:extLst>
                  <a:ext uri="{FF2B5EF4-FFF2-40B4-BE49-F238E27FC236}">
                    <a16:creationId xmlns:a16="http://schemas.microsoft.com/office/drawing/2014/main" id="{1847A28A-AB5F-2552-E5D8-70A85FD56E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49" y="3199"/>
                <a:ext cx="0" cy="231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 type="triangle" w="med" len="med"/>
              </a:ln>
              <a:effectLst/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</p:grpSp>
        <p:grpSp>
          <p:nvGrpSpPr>
            <p:cNvPr id="26" name="Group 60">
              <a:extLst>
                <a:ext uri="{FF2B5EF4-FFF2-40B4-BE49-F238E27FC236}">
                  <a16:creationId xmlns:a16="http://schemas.microsoft.com/office/drawing/2014/main" id="{5578AAB4-8498-0981-1775-1B46885ED5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2" y="3241"/>
              <a:ext cx="1181" cy="191"/>
              <a:chOff x="649" y="3198"/>
              <a:chExt cx="584" cy="232"/>
            </a:xfrm>
          </p:grpSpPr>
          <p:sp>
            <p:nvSpPr>
              <p:cNvPr id="33" name="Line 61">
                <a:extLst>
                  <a:ext uri="{FF2B5EF4-FFF2-40B4-BE49-F238E27FC236}">
                    <a16:creationId xmlns:a16="http://schemas.microsoft.com/office/drawing/2014/main" id="{9CA1332A-2DD3-8CEF-DBAB-4E153B528F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3" y="3198"/>
                <a:ext cx="0" cy="231"/>
              </a:xfrm>
              <a:prstGeom prst="line">
                <a:avLst/>
              </a:prstGeom>
              <a:noFill/>
              <a:ln w="19050">
                <a:solidFill>
                  <a:srgbClr val="72BF44"/>
                </a:solidFill>
                <a:round/>
                <a:headEnd/>
                <a:tailEnd type="triangle" w="med" len="med"/>
              </a:ln>
              <a:effectLst/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34" name="Line 62">
                <a:extLst>
                  <a:ext uri="{FF2B5EF4-FFF2-40B4-BE49-F238E27FC236}">
                    <a16:creationId xmlns:a16="http://schemas.microsoft.com/office/drawing/2014/main" id="{64D3551C-A8D3-E694-DE23-3219A2C0F5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49" y="3199"/>
                <a:ext cx="0" cy="231"/>
              </a:xfrm>
              <a:prstGeom prst="line">
                <a:avLst/>
              </a:prstGeom>
              <a:noFill/>
              <a:ln w="19050">
                <a:solidFill>
                  <a:srgbClr val="72BF44"/>
                </a:solidFill>
                <a:round/>
                <a:headEnd/>
                <a:tailEnd type="triangle" w="med" len="med"/>
              </a:ln>
              <a:effectLst/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</p:grpSp>
        <p:sp>
          <p:nvSpPr>
            <p:cNvPr id="27" name="Text Box 63">
              <a:extLst>
                <a:ext uri="{FF2B5EF4-FFF2-40B4-BE49-F238E27FC236}">
                  <a16:creationId xmlns:a16="http://schemas.microsoft.com/office/drawing/2014/main" id="{3AC44CF4-16B8-2C60-95B5-E7CA014C46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4" y="3460"/>
              <a:ext cx="242" cy="19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400" i="1">
                  <a:latin typeface="Times New Roman" pitchFamily="18" charset="0"/>
                </a:rPr>
                <a:t>2f</a:t>
              </a:r>
              <a:r>
                <a:rPr lang="en-US" sz="1400" baseline="-25000">
                  <a:latin typeface="Times New Roman" pitchFamily="18" charset="0"/>
                </a:rPr>
                <a:t>0</a:t>
              </a:r>
              <a:endParaRPr lang="en-US" sz="1400" i="1">
                <a:latin typeface="Times New Roman" pitchFamily="18" charset="0"/>
              </a:endParaRPr>
            </a:p>
          </p:txBody>
        </p:sp>
        <p:sp>
          <p:nvSpPr>
            <p:cNvPr id="28" name="Line 65">
              <a:extLst>
                <a:ext uri="{FF2B5EF4-FFF2-40B4-BE49-F238E27FC236}">
                  <a16:creationId xmlns:a16="http://schemas.microsoft.com/office/drawing/2014/main" id="{59FD040D-57C2-23A5-FC36-DA03D9D1CC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88" y="3221"/>
              <a:ext cx="5" cy="210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pt-BR"/>
            </a:p>
          </p:txBody>
        </p:sp>
        <p:grpSp>
          <p:nvGrpSpPr>
            <p:cNvPr id="29" name="Group 67">
              <a:extLst>
                <a:ext uri="{FF2B5EF4-FFF2-40B4-BE49-F238E27FC236}">
                  <a16:creationId xmlns:a16="http://schemas.microsoft.com/office/drawing/2014/main" id="{867C4E07-4C53-02D3-5B26-5FE0DC3722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4" y="3289"/>
              <a:ext cx="1652" cy="144"/>
              <a:chOff x="649" y="3198"/>
              <a:chExt cx="584" cy="232"/>
            </a:xfrm>
          </p:grpSpPr>
          <p:sp>
            <p:nvSpPr>
              <p:cNvPr id="31" name="Line 68">
                <a:extLst>
                  <a:ext uri="{FF2B5EF4-FFF2-40B4-BE49-F238E27FC236}">
                    <a16:creationId xmlns:a16="http://schemas.microsoft.com/office/drawing/2014/main" id="{9A52D523-2A03-DEBB-E8C9-788AA5EB92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3" y="3198"/>
                <a:ext cx="0" cy="231"/>
              </a:xfrm>
              <a:prstGeom prst="line">
                <a:avLst/>
              </a:prstGeom>
              <a:noFill/>
              <a:ln w="19050">
                <a:solidFill>
                  <a:srgbClr val="72BF44"/>
                </a:solidFill>
                <a:round/>
                <a:headEnd/>
                <a:tailEnd type="triangle" w="med" len="med"/>
              </a:ln>
              <a:effectLst/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32" name="Line 69">
                <a:extLst>
                  <a:ext uri="{FF2B5EF4-FFF2-40B4-BE49-F238E27FC236}">
                    <a16:creationId xmlns:a16="http://schemas.microsoft.com/office/drawing/2014/main" id="{F7114222-D2C3-B16D-B62B-483FD01E92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49" y="3199"/>
                <a:ext cx="0" cy="231"/>
              </a:xfrm>
              <a:prstGeom prst="line">
                <a:avLst/>
              </a:prstGeom>
              <a:noFill/>
              <a:ln w="19050">
                <a:solidFill>
                  <a:srgbClr val="72BF44"/>
                </a:solidFill>
                <a:round/>
                <a:headEnd/>
                <a:tailEnd type="triangle" w="med" len="med"/>
              </a:ln>
              <a:effectLst/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</p:grpSp>
        <p:sp>
          <p:nvSpPr>
            <p:cNvPr id="30" name="Text Box 70">
              <a:extLst>
                <a:ext uri="{FF2B5EF4-FFF2-40B4-BE49-F238E27FC236}">
                  <a16:creationId xmlns:a16="http://schemas.microsoft.com/office/drawing/2014/main" id="{E53A9D3B-3E2B-C004-C0C8-2743896F7A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5" y="3461"/>
              <a:ext cx="242" cy="19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400" i="1">
                  <a:latin typeface="Times New Roman" pitchFamily="18" charset="0"/>
                </a:rPr>
                <a:t>3f</a:t>
              </a:r>
              <a:r>
                <a:rPr lang="en-US" sz="1400" baseline="-25000">
                  <a:latin typeface="Times New Roman" pitchFamily="18" charset="0"/>
                </a:rPr>
                <a:t>0</a:t>
              </a:r>
              <a:endParaRPr lang="en-US" sz="1400" i="1">
                <a:latin typeface="Times New Roman" pitchFamily="18" charset="0"/>
              </a:endParaRPr>
            </a:p>
          </p:txBody>
        </p:sp>
      </p:grpSp>
      <p:sp>
        <p:nvSpPr>
          <p:cNvPr id="39" name="Balão de Fala: Retângulo 38">
            <a:extLst>
              <a:ext uri="{FF2B5EF4-FFF2-40B4-BE49-F238E27FC236}">
                <a16:creationId xmlns:a16="http://schemas.microsoft.com/office/drawing/2014/main" id="{419C2D06-9C41-BF5C-4BFA-2AA6F2772A45}"/>
              </a:ext>
            </a:extLst>
          </p:cNvPr>
          <p:cNvSpPr/>
          <p:nvPr/>
        </p:nvSpPr>
        <p:spPr>
          <a:xfrm>
            <a:off x="9439275" y="3859619"/>
            <a:ext cx="2426660" cy="1056867"/>
          </a:xfrm>
          <a:prstGeom prst="wedgeRectCallout">
            <a:avLst>
              <a:gd name="adj1" fmla="val -91808"/>
              <a:gd name="adj2" fmla="val 565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Novos componentes espectrais são criados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A4F60F4D-1B75-D415-9D17-15446255EC81}"/>
              </a:ext>
            </a:extLst>
          </p:cNvPr>
          <p:cNvSpPr txBox="1"/>
          <p:nvPr/>
        </p:nvSpPr>
        <p:spPr>
          <a:xfrm>
            <a:off x="7237499" y="4880527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FF"/>
                </a:solidFill>
              </a:rPr>
              <a:t>DC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AA64A457-DE6A-BD81-8306-C6CE323E8504}"/>
              </a:ext>
            </a:extLst>
          </p:cNvPr>
          <p:cNvSpPr txBox="1"/>
          <p:nvPr/>
        </p:nvSpPr>
        <p:spPr>
          <a:xfrm>
            <a:off x="5464201" y="4741813"/>
            <a:ext cx="1308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B050"/>
                </a:solidFill>
              </a:rPr>
              <a:t>Harmônicos</a:t>
            </a:r>
          </a:p>
        </p:txBody>
      </p:sp>
    </p:spTree>
    <p:extLst>
      <p:ext uri="{BB962C8B-B14F-4D97-AF65-F5344CB8AC3E}">
        <p14:creationId xmlns:p14="http://schemas.microsoft.com/office/powerpoint/2010/main" val="862647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9B3A37-9887-0F08-E676-F44B718E5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Sistemas não Lineares</a:t>
            </a:r>
            <a:br>
              <a:rPr lang="pt-BR" dirty="0"/>
            </a:br>
            <a:r>
              <a:rPr lang="pt-BR" dirty="0"/>
              <a:t>Intermodulação</a:t>
            </a:r>
          </a:p>
        </p:txBody>
      </p:sp>
      <p:sp>
        <p:nvSpPr>
          <p:cNvPr id="3" name="Line 4">
            <a:extLst>
              <a:ext uri="{FF2B5EF4-FFF2-40B4-BE49-F238E27FC236}">
                <a16:creationId xmlns:a16="http://schemas.microsoft.com/office/drawing/2014/main" id="{17C38FB4-29E0-11B6-94BD-2A07141210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01851" y="5729288"/>
            <a:ext cx="8258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3FE19600-572B-6B2B-AF86-CBBB062F7B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30438" y="4117976"/>
            <a:ext cx="0" cy="1814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8E11C128-C540-54A4-395F-2356A0CAE7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76725" y="4392614"/>
            <a:ext cx="0" cy="1336675"/>
          </a:xfrm>
          <a:prstGeom prst="line">
            <a:avLst/>
          </a:prstGeom>
          <a:noFill/>
          <a:ln w="38100">
            <a:solidFill>
              <a:srgbClr val="0070C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7D82F6F7-ED50-703A-1151-3D4CE3905F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0600" y="4678363"/>
            <a:ext cx="0" cy="1046162"/>
          </a:xfrm>
          <a:prstGeom prst="line">
            <a:avLst/>
          </a:prstGeom>
          <a:noFill/>
          <a:ln w="38100">
            <a:solidFill>
              <a:srgbClr val="0070C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7739B8E7-34FA-16B1-9065-33C0E0360A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4600" y="4684714"/>
            <a:ext cx="0" cy="1044575"/>
          </a:xfrm>
          <a:prstGeom prst="line">
            <a:avLst/>
          </a:prstGeom>
          <a:noFill/>
          <a:ln w="38100">
            <a:solidFill>
              <a:srgbClr val="72BF44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9ED6D4BC-B529-625B-6808-8278CE6082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73939" y="4913313"/>
            <a:ext cx="1587" cy="812800"/>
          </a:xfrm>
          <a:prstGeom prst="line">
            <a:avLst/>
          </a:prstGeom>
          <a:noFill/>
          <a:ln w="38100">
            <a:solidFill>
              <a:srgbClr val="72BF44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59EC19F5-A190-4331-3D02-EB4E6100C1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72475" y="4900614"/>
            <a:ext cx="0" cy="828675"/>
          </a:xfrm>
          <a:prstGeom prst="line">
            <a:avLst/>
          </a:prstGeom>
          <a:noFill/>
          <a:ln w="38100">
            <a:solidFill>
              <a:srgbClr val="72BF44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4F8B8F44-E84E-0906-A4C3-B936B8D5972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945688" y="5081589"/>
            <a:ext cx="0" cy="644525"/>
          </a:xfrm>
          <a:prstGeom prst="line">
            <a:avLst/>
          </a:prstGeom>
          <a:noFill/>
          <a:ln w="38100">
            <a:solidFill>
              <a:srgbClr val="72BF44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22F33E1C-A54D-479B-B998-D5AD678F84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62250" y="5191125"/>
            <a:ext cx="0" cy="539750"/>
          </a:xfrm>
          <a:prstGeom prst="line">
            <a:avLst/>
          </a:prstGeom>
          <a:noFill/>
          <a:ln w="38100">
            <a:solidFill>
              <a:srgbClr val="C9252C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488C5AA8-5F20-6AAB-3A39-87D5A8625D2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45300" y="5018088"/>
            <a:ext cx="0" cy="703262"/>
          </a:xfrm>
          <a:prstGeom prst="line">
            <a:avLst/>
          </a:prstGeom>
          <a:noFill/>
          <a:ln w="38100">
            <a:solidFill>
              <a:srgbClr val="C9252C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F5C2BC11-BF33-9C61-2FC6-CFBACA14A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6526" y="5724525"/>
            <a:ext cx="7143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PT" sz="1600">
                <a:latin typeface="Times New Roman" pitchFamily="18" charset="0"/>
              </a:rPr>
              <a:t> </a:t>
            </a:r>
            <a:r>
              <a:rPr lang="pt-PT" sz="1600" i="1">
                <a:latin typeface="Times New Roman" pitchFamily="18" charset="0"/>
              </a:rPr>
              <a:t>f</a:t>
            </a:r>
            <a:r>
              <a:rPr lang="pt-PT" sz="1600" baseline="-25000">
                <a:latin typeface="Times New Roman" pitchFamily="18" charset="0"/>
              </a:rPr>
              <a:t>1</a:t>
            </a:r>
            <a:r>
              <a:rPr lang="pt-PT" sz="1600">
                <a:latin typeface="Times New Roman" pitchFamily="18" charset="0"/>
              </a:rPr>
              <a:t>+ </a:t>
            </a:r>
            <a:r>
              <a:rPr lang="pt-PT" sz="1600" i="1">
                <a:latin typeface="Times New Roman" pitchFamily="18" charset="0"/>
              </a:rPr>
              <a:t>f</a:t>
            </a:r>
            <a:r>
              <a:rPr lang="pt-PT" sz="1600" baseline="-25000">
                <a:latin typeface="Times New Roman" pitchFamily="18" charset="0"/>
              </a:rPr>
              <a:t>2</a:t>
            </a:r>
            <a:endParaRPr lang="pt-BR" sz="1600" baseline="-25000">
              <a:latin typeface="Times New Roman" pitchFamily="18" charset="0"/>
            </a:endParaRPr>
          </a:p>
        </p:txBody>
      </p:sp>
      <p:sp>
        <p:nvSpPr>
          <p:cNvPr id="14" name="Text Box 15">
            <a:extLst>
              <a:ext uri="{FF2B5EF4-FFF2-40B4-BE49-F238E27FC236}">
                <a16:creationId xmlns:a16="http://schemas.microsoft.com/office/drawing/2014/main" id="{4BA7E64E-9B73-F02F-5692-7365DBB22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951" y="5724525"/>
            <a:ext cx="4857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PT" sz="1600">
                <a:latin typeface="Times New Roman" pitchFamily="18" charset="0"/>
              </a:rPr>
              <a:t>2 </a:t>
            </a:r>
            <a:r>
              <a:rPr lang="pt-PT" sz="1600" i="1">
                <a:latin typeface="Times New Roman" pitchFamily="18" charset="0"/>
              </a:rPr>
              <a:t>f</a:t>
            </a:r>
            <a:r>
              <a:rPr lang="pt-PT" sz="1600" baseline="-25000">
                <a:latin typeface="Times New Roman" pitchFamily="18" charset="0"/>
              </a:rPr>
              <a:t>1</a:t>
            </a:r>
            <a:endParaRPr lang="pt-BR" sz="1600" baseline="-25000">
              <a:latin typeface="Times New Roman" pitchFamily="18" charset="0"/>
            </a:endParaRP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DCE88E8D-E111-85DA-4A8C-3261A92D1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4826" y="5724525"/>
            <a:ext cx="4857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PT" sz="1600">
                <a:latin typeface="Times New Roman" pitchFamily="18" charset="0"/>
              </a:rPr>
              <a:t>3 </a:t>
            </a:r>
            <a:r>
              <a:rPr lang="pt-PT" sz="1600" i="1">
                <a:latin typeface="Times New Roman" pitchFamily="18" charset="0"/>
              </a:rPr>
              <a:t>f</a:t>
            </a:r>
            <a:r>
              <a:rPr lang="pt-PT" sz="1600" baseline="-25000">
                <a:latin typeface="Times New Roman" pitchFamily="18" charset="0"/>
              </a:rPr>
              <a:t>1</a:t>
            </a:r>
            <a:endParaRPr lang="pt-BR" sz="1600" baseline="-25000">
              <a:latin typeface="Times New Roman" pitchFamily="18" charset="0"/>
            </a:endParaRPr>
          </a:p>
        </p:txBody>
      </p:sp>
      <p:sp>
        <p:nvSpPr>
          <p:cNvPr id="16" name="Text Box 17">
            <a:extLst>
              <a:ext uri="{FF2B5EF4-FFF2-40B4-BE49-F238E27FC236}">
                <a16:creationId xmlns:a16="http://schemas.microsoft.com/office/drawing/2014/main" id="{DE8DD8E6-E572-2BF4-A588-5E278BB0F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4701" y="5724525"/>
            <a:ext cx="4857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PT" sz="1600">
                <a:latin typeface="Times New Roman" pitchFamily="18" charset="0"/>
              </a:rPr>
              <a:t>2 </a:t>
            </a:r>
            <a:r>
              <a:rPr lang="pt-PT" sz="1600" i="1">
                <a:latin typeface="Times New Roman" pitchFamily="18" charset="0"/>
              </a:rPr>
              <a:t>f</a:t>
            </a:r>
            <a:r>
              <a:rPr lang="pt-PT" sz="1600" baseline="-25000">
                <a:latin typeface="Times New Roman" pitchFamily="18" charset="0"/>
              </a:rPr>
              <a:t>2</a:t>
            </a:r>
            <a:endParaRPr lang="pt-BR" sz="1600" baseline="-25000">
              <a:latin typeface="Times New Roman" pitchFamily="18" charset="0"/>
            </a:endParaRPr>
          </a:p>
        </p:txBody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07A4E0A5-0A03-8D51-0C12-1001F8984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6926" y="5724525"/>
            <a:ext cx="4857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PT" sz="1600">
                <a:latin typeface="Times New Roman" pitchFamily="18" charset="0"/>
              </a:rPr>
              <a:t>3 </a:t>
            </a:r>
            <a:r>
              <a:rPr lang="pt-PT" sz="1600" i="1">
                <a:latin typeface="Times New Roman" pitchFamily="18" charset="0"/>
              </a:rPr>
              <a:t>f</a:t>
            </a:r>
            <a:r>
              <a:rPr lang="pt-PT" sz="1600" baseline="-25000">
                <a:latin typeface="Times New Roman" pitchFamily="18" charset="0"/>
              </a:rPr>
              <a:t>2</a:t>
            </a:r>
            <a:endParaRPr lang="pt-BR" sz="1600" baseline="-25000">
              <a:latin typeface="Times New Roman" pitchFamily="18" charset="0"/>
            </a:endParaRPr>
          </a:p>
        </p:txBody>
      </p:sp>
      <p:sp>
        <p:nvSpPr>
          <p:cNvPr id="18" name="Text Box 19">
            <a:extLst>
              <a:ext uri="{FF2B5EF4-FFF2-40B4-BE49-F238E27FC236}">
                <a16:creationId xmlns:a16="http://schemas.microsoft.com/office/drawing/2014/main" id="{A7B7DBE4-CFD2-7CF0-BC33-6F748D3F8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9076" y="5724525"/>
            <a:ext cx="4857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PT" sz="1600" i="1">
                <a:latin typeface="Times New Roman" pitchFamily="18" charset="0"/>
              </a:rPr>
              <a:t>f</a:t>
            </a:r>
            <a:r>
              <a:rPr lang="pt-PT" sz="1600" baseline="-25000">
                <a:latin typeface="Times New Roman" pitchFamily="18" charset="0"/>
              </a:rPr>
              <a:t>1</a:t>
            </a:r>
            <a:endParaRPr lang="pt-BR" sz="1600" baseline="-25000">
              <a:latin typeface="Times New Roman" pitchFamily="18" charset="0"/>
            </a:endParaRPr>
          </a:p>
        </p:txBody>
      </p:sp>
      <p:sp>
        <p:nvSpPr>
          <p:cNvPr id="19" name="Text Box 20">
            <a:extLst>
              <a:ext uri="{FF2B5EF4-FFF2-40B4-BE49-F238E27FC236}">
                <a16:creationId xmlns:a16="http://schemas.microsoft.com/office/drawing/2014/main" id="{DCF95603-6CEF-4956-8E9D-97B136362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2951" y="5724525"/>
            <a:ext cx="4857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PT" sz="1600" i="1">
                <a:latin typeface="Times New Roman" pitchFamily="18" charset="0"/>
              </a:rPr>
              <a:t>f</a:t>
            </a:r>
            <a:r>
              <a:rPr lang="pt-PT" sz="1600" baseline="-25000">
                <a:latin typeface="Times New Roman" pitchFamily="18" charset="0"/>
              </a:rPr>
              <a:t>2</a:t>
            </a:r>
            <a:endParaRPr lang="pt-BR" sz="1600" baseline="-25000">
              <a:latin typeface="Times New Roman" pitchFamily="18" charset="0"/>
            </a:endParaRP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88EDF79F-D655-EC32-70B9-C953DD67A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0301" y="5724525"/>
            <a:ext cx="7143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PT" sz="1600">
                <a:latin typeface="Times New Roman" pitchFamily="18" charset="0"/>
              </a:rPr>
              <a:t> </a:t>
            </a:r>
            <a:r>
              <a:rPr lang="pt-PT" sz="1600" i="1">
                <a:latin typeface="Times New Roman" pitchFamily="18" charset="0"/>
              </a:rPr>
              <a:t>f</a:t>
            </a:r>
            <a:r>
              <a:rPr lang="pt-PT" sz="1600" baseline="-25000">
                <a:latin typeface="Times New Roman" pitchFamily="18" charset="0"/>
              </a:rPr>
              <a:t>2</a:t>
            </a:r>
            <a:r>
              <a:rPr lang="pt-PT" sz="1600">
                <a:latin typeface="Times New Roman" pitchFamily="18" charset="0"/>
              </a:rPr>
              <a:t> - </a:t>
            </a:r>
            <a:r>
              <a:rPr lang="pt-PT" sz="1600" i="1">
                <a:latin typeface="Times New Roman" pitchFamily="18" charset="0"/>
              </a:rPr>
              <a:t>f</a:t>
            </a:r>
            <a:r>
              <a:rPr lang="pt-PT" sz="1600" baseline="-25000">
                <a:latin typeface="Times New Roman" pitchFamily="18" charset="0"/>
              </a:rPr>
              <a:t>1 </a:t>
            </a:r>
            <a:endParaRPr lang="pt-BR" sz="1600" baseline="-25000">
              <a:latin typeface="Times New Roman" pitchFamily="18" charset="0"/>
            </a:endParaRPr>
          </a:p>
        </p:txBody>
      </p:sp>
      <p:sp>
        <p:nvSpPr>
          <p:cNvPr id="21" name="Line 22">
            <a:extLst>
              <a:ext uri="{FF2B5EF4-FFF2-40B4-BE49-F238E27FC236}">
                <a16:creationId xmlns:a16="http://schemas.microsoft.com/office/drawing/2014/main" id="{7ACC759D-8692-7585-7334-1245DBF599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24475" y="5003801"/>
            <a:ext cx="0" cy="720725"/>
          </a:xfrm>
          <a:prstGeom prst="line">
            <a:avLst/>
          </a:prstGeom>
          <a:noFill/>
          <a:ln w="38100">
            <a:solidFill>
              <a:srgbClr val="C9252C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4FA454B3-8917-24F1-2AC1-F4D16E553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5851" y="5724525"/>
            <a:ext cx="8286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PT" sz="1600">
                <a:latin typeface="Times New Roman" pitchFamily="18" charset="0"/>
              </a:rPr>
              <a:t>2 </a:t>
            </a:r>
            <a:r>
              <a:rPr lang="pt-PT" sz="1600" i="1">
                <a:latin typeface="Times New Roman" pitchFamily="18" charset="0"/>
              </a:rPr>
              <a:t>f</a:t>
            </a:r>
            <a:r>
              <a:rPr lang="pt-PT" sz="1600" baseline="-25000">
                <a:latin typeface="Times New Roman" pitchFamily="18" charset="0"/>
              </a:rPr>
              <a:t>2</a:t>
            </a:r>
            <a:r>
              <a:rPr lang="pt-PT" sz="1600">
                <a:latin typeface="Times New Roman" pitchFamily="18" charset="0"/>
              </a:rPr>
              <a:t> - </a:t>
            </a:r>
            <a:r>
              <a:rPr lang="pt-PT" sz="1600" i="1">
                <a:latin typeface="Times New Roman" pitchFamily="18" charset="0"/>
              </a:rPr>
              <a:t>f</a:t>
            </a:r>
            <a:r>
              <a:rPr lang="pt-PT" sz="1600" baseline="-25000">
                <a:latin typeface="Times New Roman" pitchFamily="18" charset="0"/>
              </a:rPr>
              <a:t>1 </a:t>
            </a:r>
            <a:endParaRPr lang="pt-BR" sz="1600" baseline="-25000">
              <a:latin typeface="Times New Roman" pitchFamily="18" charset="0"/>
            </a:endParaRPr>
          </a:p>
        </p:txBody>
      </p:sp>
      <p:sp>
        <p:nvSpPr>
          <p:cNvPr id="23" name="Line 24">
            <a:extLst>
              <a:ext uri="{FF2B5EF4-FFF2-40B4-BE49-F238E27FC236}">
                <a16:creationId xmlns:a16="http://schemas.microsoft.com/office/drawing/2014/main" id="{5510434C-89E2-FCB4-0EAF-952971C826B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52850" y="5018088"/>
            <a:ext cx="0" cy="711200"/>
          </a:xfrm>
          <a:prstGeom prst="line">
            <a:avLst/>
          </a:prstGeom>
          <a:noFill/>
          <a:ln w="38100">
            <a:solidFill>
              <a:srgbClr val="C9252C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4835C9D5-4FF6-EC37-849A-2B639BA24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751" y="5724525"/>
            <a:ext cx="8286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PT" sz="1600">
                <a:latin typeface="Times New Roman" pitchFamily="18" charset="0"/>
              </a:rPr>
              <a:t>2 </a:t>
            </a:r>
            <a:r>
              <a:rPr lang="pt-PT" sz="1600" i="1">
                <a:latin typeface="Times New Roman" pitchFamily="18" charset="0"/>
              </a:rPr>
              <a:t>f</a:t>
            </a:r>
            <a:r>
              <a:rPr lang="pt-PT" sz="1600" baseline="-25000">
                <a:latin typeface="Times New Roman" pitchFamily="18" charset="0"/>
              </a:rPr>
              <a:t>1</a:t>
            </a:r>
            <a:r>
              <a:rPr lang="pt-PT" sz="1600">
                <a:latin typeface="Times New Roman" pitchFamily="18" charset="0"/>
              </a:rPr>
              <a:t> - </a:t>
            </a:r>
            <a:r>
              <a:rPr lang="pt-PT" sz="1600" i="1">
                <a:latin typeface="Times New Roman" pitchFamily="18" charset="0"/>
              </a:rPr>
              <a:t>f</a:t>
            </a:r>
            <a:r>
              <a:rPr lang="pt-PT" sz="1600" baseline="-25000">
                <a:latin typeface="Times New Roman" pitchFamily="18" charset="0"/>
              </a:rPr>
              <a:t>2 </a:t>
            </a:r>
            <a:endParaRPr lang="pt-BR" sz="1600" baseline="-25000">
              <a:latin typeface="Times New Roman" pitchFamily="18" charset="0"/>
            </a:endParaRPr>
          </a:p>
        </p:txBody>
      </p:sp>
      <p:sp>
        <p:nvSpPr>
          <p:cNvPr id="25" name="Line 26">
            <a:extLst>
              <a:ext uri="{FF2B5EF4-FFF2-40B4-BE49-F238E27FC236}">
                <a16:creationId xmlns:a16="http://schemas.microsoft.com/office/drawing/2014/main" id="{02F4034D-E79A-F931-E50B-B99307C90C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05875" y="5214939"/>
            <a:ext cx="0" cy="509587"/>
          </a:xfrm>
          <a:prstGeom prst="line">
            <a:avLst/>
          </a:prstGeom>
          <a:noFill/>
          <a:ln w="38100">
            <a:solidFill>
              <a:srgbClr val="C9252C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76B4144A-5F9F-6186-DBD1-7624BBC2B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1" y="6010275"/>
            <a:ext cx="8858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PT" sz="1600">
                <a:latin typeface="Times New Roman" pitchFamily="18" charset="0"/>
              </a:rPr>
              <a:t>2 </a:t>
            </a:r>
            <a:r>
              <a:rPr lang="pt-PT" sz="1600" i="1">
                <a:latin typeface="Times New Roman" pitchFamily="18" charset="0"/>
              </a:rPr>
              <a:t>f</a:t>
            </a:r>
            <a:r>
              <a:rPr lang="pt-PT" sz="1600" baseline="-25000">
                <a:latin typeface="Times New Roman" pitchFamily="18" charset="0"/>
              </a:rPr>
              <a:t>1</a:t>
            </a:r>
            <a:r>
              <a:rPr lang="pt-PT" sz="1600">
                <a:latin typeface="Times New Roman" pitchFamily="18" charset="0"/>
              </a:rPr>
              <a:t> + </a:t>
            </a:r>
            <a:r>
              <a:rPr lang="pt-PT" sz="1600" i="1">
                <a:latin typeface="Times New Roman" pitchFamily="18" charset="0"/>
              </a:rPr>
              <a:t>f</a:t>
            </a:r>
            <a:r>
              <a:rPr lang="pt-PT" sz="1600" baseline="-25000">
                <a:latin typeface="Times New Roman" pitchFamily="18" charset="0"/>
              </a:rPr>
              <a:t>2 </a:t>
            </a:r>
            <a:endParaRPr lang="pt-BR" sz="1600" baseline="-25000">
              <a:latin typeface="Times New Roman" pitchFamily="18" charset="0"/>
            </a:endParaRPr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1E5BE6D3-90FF-FF09-C7D3-E769BE6105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429750" y="5214939"/>
            <a:ext cx="0" cy="509587"/>
          </a:xfrm>
          <a:prstGeom prst="line">
            <a:avLst/>
          </a:prstGeom>
          <a:noFill/>
          <a:ln w="38100">
            <a:solidFill>
              <a:srgbClr val="C9252C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4038C334-A969-602D-7260-6779517B1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6576" y="6010275"/>
            <a:ext cx="8858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PT" sz="1600">
                <a:latin typeface="Times New Roman" pitchFamily="18" charset="0"/>
              </a:rPr>
              <a:t>2 </a:t>
            </a:r>
            <a:r>
              <a:rPr lang="pt-PT" sz="1600" i="1">
                <a:latin typeface="Times New Roman" pitchFamily="18" charset="0"/>
              </a:rPr>
              <a:t>f</a:t>
            </a:r>
            <a:r>
              <a:rPr lang="pt-PT" sz="1600" baseline="-25000">
                <a:latin typeface="Times New Roman" pitchFamily="18" charset="0"/>
              </a:rPr>
              <a:t>2</a:t>
            </a:r>
            <a:r>
              <a:rPr lang="pt-PT" sz="1600">
                <a:latin typeface="Times New Roman" pitchFamily="18" charset="0"/>
              </a:rPr>
              <a:t> + </a:t>
            </a:r>
            <a:r>
              <a:rPr lang="pt-PT" sz="1600" i="1">
                <a:latin typeface="Times New Roman" pitchFamily="18" charset="0"/>
              </a:rPr>
              <a:t>f</a:t>
            </a:r>
            <a:r>
              <a:rPr lang="pt-PT" sz="1600" baseline="-25000">
                <a:latin typeface="Times New Roman" pitchFamily="18" charset="0"/>
              </a:rPr>
              <a:t>1 </a:t>
            </a:r>
            <a:endParaRPr lang="pt-BR" sz="1600" baseline="-25000">
              <a:latin typeface="Times New Roman" pitchFamily="18" charset="0"/>
            </a:endParaRPr>
          </a:p>
        </p:txBody>
      </p:sp>
      <p:sp>
        <p:nvSpPr>
          <p:cNvPr id="29" name="Line 30">
            <a:extLst>
              <a:ext uri="{FF2B5EF4-FFF2-40B4-BE49-F238E27FC236}">
                <a16:creationId xmlns:a16="http://schemas.microsoft.com/office/drawing/2014/main" id="{3AD93480-BFBF-2263-E889-0ADC3687762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28850" y="5018089"/>
            <a:ext cx="0" cy="7127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30" name="Line 31">
            <a:extLst>
              <a:ext uri="{FF2B5EF4-FFF2-40B4-BE49-F238E27FC236}">
                <a16:creationId xmlns:a16="http://schemas.microsoft.com/office/drawing/2014/main" id="{767B5B95-3629-2F08-4935-F1E53695FC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72525" y="5756275"/>
            <a:ext cx="114300" cy="342900"/>
          </a:xfrm>
          <a:prstGeom prst="line">
            <a:avLst/>
          </a:prstGeom>
          <a:noFill/>
          <a:ln w="9525">
            <a:solidFill>
              <a:srgbClr val="663300"/>
            </a:solidFill>
            <a:round/>
            <a:headEnd/>
            <a:tailEnd type="stealth" w="sm" len="lg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31" name="Line 32">
            <a:extLst>
              <a:ext uri="{FF2B5EF4-FFF2-40B4-BE49-F238E27FC236}">
                <a16:creationId xmlns:a16="http://schemas.microsoft.com/office/drawing/2014/main" id="{8BA189AB-D759-3085-6E93-6E32A6C9AED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417050" y="5753100"/>
            <a:ext cx="95250" cy="323850"/>
          </a:xfrm>
          <a:prstGeom prst="line">
            <a:avLst/>
          </a:prstGeom>
          <a:noFill/>
          <a:ln w="9525">
            <a:solidFill>
              <a:srgbClr val="663300"/>
            </a:solidFill>
            <a:round/>
            <a:headEnd/>
            <a:tailEnd type="stealth" w="sm" len="lg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32" name="Text Box 33">
            <a:extLst>
              <a:ext uri="{FF2B5EF4-FFF2-40B4-BE49-F238E27FC236}">
                <a16:creationId xmlns:a16="http://schemas.microsoft.com/office/drawing/2014/main" id="{8083EBCC-1937-03AA-F03E-DAE2B3410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5575" y="5534025"/>
            <a:ext cx="3238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PT" sz="1600" i="1">
                <a:latin typeface="Times New Roman" pitchFamily="18" charset="0"/>
              </a:rPr>
              <a:t>f</a:t>
            </a:r>
            <a:endParaRPr lang="pt-BR" sz="1600" baseline="-25000">
              <a:latin typeface="Times New Roman" pitchFamily="18" charset="0"/>
            </a:endParaRPr>
          </a:p>
        </p:txBody>
      </p:sp>
      <p:sp>
        <p:nvSpPr>
          <p:cNvPr id="33" name="Text Box 34">
            <a:extLst>
              <a:ext uri="{FF2B5EF4-FFF2-40B4-BE49-F238E27FC236}">
                <a16:creationId xmlns:a16="http://schemas.microsoft.com/office/drawing/2014/main" id="{9BB5BAFF-E976-11B0-8718-A6EB05EEF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4095750"/>
            <a:ext cx="666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PT" sz="1600" i="1">
                <a:latin typeface="Times New Roman" pitchFamily="18" charset="0"/>
              </a:rPr>
              <a:t>Y</a:t>
            </a:r>
            <a:r>
              <a:rPr lang="pt-PT" sz="1600">
                <a:latin typeface="Times New Roman" pitchFamily="18" charset="0"/>
              </a:rPr>
              <a:t>(</a:t>
            </a:r>
            <a:r>
              <a:rPr lang="pt-PT" sz="1000">
                <a:latin typeface="Times New Roman" pitchFamily="18" charset="0"/>
              </a:rPr>
              <a:t> </a:t>
            </a:r>
            <a:r>
              <a:rPr lang="pt-PT" sz="1600" i="1">
                <a:latin typeface="Times New Roman" pitchFamily="18" charset="0"/>
              </a:rPr>
              <a:t> f </a:t>
            </a:r>
            <a:r>
              <a:rPr lang="pt-PT" sz="1600">
                <a:latin typeface="Times New Roman" pitchFamily="18" charset="0"/>
              </a:rPr>
              <a:t>)</a:t>
            </a:r>
            <a:endParaRPr lang="pt-BR" sz="1600" baseline="-25000">
              <a:latin typeface="Times New Roman" pitchFamily="18" charset="0"/>
            </a:endParaRPr>
          </a:p>
        </p:txBody>
      </p:sp>
      <p:sp>
        <p:nvSpPr>
          <p:cNvPr id="34" name="Line 36">
            <a:extLst>
              <a:ext uri="{FF2B5EF4-FFF2-40B4-BE49-F238E27FC236}">
                <a16:creationId xmlns:a16="http://schemas.microsoft.com/office/drawing/2014/main" id="{ADDD3CB4-8526-315F-F2BA-7850D1C311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01851" y="3481388"/>
            <a:ext cx="8258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35" name="Line 37">
            <a:extLst>
              <a:ext uri="{FF2B5EF4-FFF2-40B4-BE49-F238E27FC236}">
                <a16:creationId xmlns:a16="http://schemas.microsoft.com/office/drawing/2014/main" id="{2BD9278F-D890-BAA9-9290-6E932118DA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30438" y="2057401"/>
            <a:ext cx="0" cy="160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36" name="Line 38">
            <a:extLst>
              <a:ext uri="{FF2B5EF4-FFF2-40B4-BE49-F238E27FC236}">
                <a16:creationId xmlns:a16="http://schemas.microsoft.com/office/drawing/2014/main" id="{87A39716-2D7F-AD7B-FACD-05A9273977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76725" y="2300288"/>
            <a:ext cx="0" cy="1181100"/>
          </a:xfrm>
          <a:prstGeom prst="line">
            <a:avLst/>
          </a:prstGeom>
          <a:noFill/>
          <a:ln w="38100">
            <a:solidFill>
              <a:srgbClr val="0070C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37" name="Line 39">
            <a:extLst>
              <a:ext uri="{FF2B5EF4-FFF2-40B4-BE49-F238E27FC236}">
                <a16:creationId xmlns:a16="http://schemas.microsoft.com/office/drawing/2014/main" id="{A11C5BF5-06FD-C155-630F-CFC19EE82B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0600" y="2552701"/>
            <a:ext cx="0" cy="925513"/>
          </a:xfrm>
          <a:prstGeom prst="line">
            <a:avLst/>
          </a:prstGeom>
          <a:noFill/>
          <a:ln w="38100">
            <a:solidFill>
              <a:srgbClr val="0070C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38" name="Text Box 40">
            <a:extLst>
              <a:ext uri="{FF2B5EF4-FFF2-40B4-BE49-F238E27FC236}">
                <a16:creationId xmlns:a16="http://schemas.microsoft.com/office/drawing/2014/main" id="{992E6FB6-CED8-161A-EFC7-E4E002586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9076" y="3478213"/>
            <a:ext cx="4857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PT" sz="1600" i="1">
                <a:latin typeface="Times New Roman" pitchFamily="18" charset="0"/>
              </a:rPr>
              <a:t>f</a:t>
            </a:r>
            <a:r>
              <a:rPr lang="pt-PT" sz="1600" baseline="-25000">
                <a:latin typeface="Times New Roman" pitchFamily="18" charset="0"/>
              </a:rPr>
              <a:t>1</a:t>
            </a:r>
            <a:endParaRPr lang="pt-BR" sz="1600" baseline="-25000">
              <a:latin typeface="Times New Roman" pitchFamily="18" charset="0"/>
            </a:endParaRPr>
          </a:p>
        </p:txBody>
      </p:sp>
      <p:sp>
        <p:nvSpPr>
          <p:cNvPr id="39" name="Text Box 41">
            <a:extLst>
              <a:ext uri="{FF2B5EF4-FFF2-40B4-BE49-F238E27FC236}">
                <a16:creationId xmlns:a16="http://schemas.microsoft.com/office/drawing/2014/main" id="{8E85D722-3DA0-56D5-30E8-43199D098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2951" y="3478213"/>
            <a:ext cx="4857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PT" sz="1600" i="1">
                <a:latin typeface="Times New Roman" pitchFamily="18" charset="0"/>
              </a:rPr>
              <a:t>f</a:t>
            </a:r>
            <a:r>
              <a:rPr lang="pt-PT" sz="1600" baseline="-25000">
                <a:latin typeface="Times New Roman" pitchFamily="18" charset="0"/>
              </a:rPr>
              <a:t>2</a:t>
            </a:r>
            <a:endParaRPr lang="pt-BR" sz="1600" baseline="-25000">
              <a:latin typeface="Times New Roman" pitchFamily="18" charset="0"/>
            </a:endParaRPr>
          </a:p>
        </p:txBody>
      </p:sp>
      <p:sp>
        <p:nvSpPr>
          <p:cNvPr id="40" name="Text Box 42">
            <a:extLst>
              <a:ext uri="{FF2B5EF4-FFF2-40B4-BE49-F238E27FC236}">
                <a16:creationId xmlns:a16="http://schemas.microsoft.com/office/drawing/2014/main" id="{04F5AEDD-1BF0-224F-1415-EBE195492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5575" y="3309938"/>
            <a:ext cx="3238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PT" sz="1600" i="1">
                <a:latin typeface="Times New Roman" pitchFamily="18" charset="0"/>
              </a:rPr>
              <a:t>f</a:t>
            </a:r>
            <a:endParaRPr lang="pt-BR" sz="1600" baseline="-25000">
              <a:latin typeface="Times New Roman" pitchFamily="18" charset="0"/>
            </a:endParaRPr>
          </a:p>
        </p:txBody>
      </p:sp>
      <p:sp>
        <p:nvSpPr>
          <p:cNvPr id="41" name="Text Box 43">
            <a:extLst>
              <a:ext uri="{FF2B5EF4-FFF2-40B4-BE49-F238E27FC236}">
                <a16:creationId xmlns:a16="http://schemas.microsoft.com/office/drawing/2014/main" id="{A6AF7215-6C67-C9F6-4A46-C1D666657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2038350"/>
            <a:ext cx="666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PT" sz="1600" i="1">
                <a:latin typeface="Times New Roman" pitchFamily="18" charset="0"/>
              </a:rPr>
              <a:t>X</a:t>
            </a:r>
            <a:r>
              <a:rPr lang="pt-PT" sz="1600">
                <a:latin typeface="Times New Roman" pitchFamily="18" charset="0"/>
              </a:rPr>
              <a:t>(</a:t>
            </a:r>
            <a:r>
              <a:rPr lang="pt-PT" sz="1000">
                <a:latin typeface="Times New Roman" pitchFamily="18" charset="0"/>
              </a:rPr>
              <a:t> </a:t>
            </a:r>
            <a:r>
              <a:rPr lang="pt-PT" sz="1600" i="1">
                <a:latin typeface="Times New Roman" pitchFamily="18" charset="0"/>
              </a:rPr>
              <a:t> f </a:t>
            </a:r>
            <a:r>
              <a:rPr lang="pt-PT" sz="1600">
                <a:latin typeface="Times New Roman" pitchFamily="18" charset="0"/>
              </a:rPr>
              <a:t>)</a:t>
            </a:r>
            <a:endParaRPr lang="pt-BR" sz="1600" baseline="-25000">
              <a:latin typeface="Times New Roman" pitchFamily="18" charset="0"/>
            </a:endParaRPr>
          </a:p>
        </p:txBody>
      </p:sp>
      <p:sp>
        <p:nvSpPr>
          <p:cNvPr id="42" name="Text Box 45">
            <a:extLst>
              <a:ext uri="{FF2B5EF4-FFF2-40B4-BE49-F238E27FC236}">
                <a16:creationId xmlns:a16="http://schemas.microsoft.com/office/drawing/2014/main" id="{A01552D9-09C3-FE53-1446-022D2AB46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2388" y="1028700"/>
            <a:ext cx="51482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i="1">
                <a:solidFill>
                  <a:schemeClr val="accent2"/>
                </a:solidFill>
                <a:latin typeface="Times New Roman" pitchFamily="18" charset="0"/>
              </a:rPr>
              <a:t>y</a:t>
            </a:r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(</a:t>
            </a:r>
            <a:r>
              <a:rPr lang="en-US" i="1">
                <a:solidFill>
                  <a:schemeClr val="accent2"/>
                </a:solidFill>
                <a:latin typeface="Times New Roman" pitchFamily="18" charset="0"/>
              </a:rPr>
              <a:t>t</a:t>
            </a:r>
            <a:r>
              <a:rPr lang="en-US" i="1" baseline="-25000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)</a:t>
            </a:r>
            <a:r>
              <a:rPr lang="en-US" i="1">
                <a:solidFill>
                  <a:schemeClr val="accent2"/>
                </a:solidFill>
                <a:latin typeface="Times New Roman" pitchFamily="18" charset="0"/>
              </a:rPr>
              <a:t>  =  a</a:t>
            </a:r>
            <a:r>
              <a:rPr lang="en-US" baseline="-25000">
                <a:solidFill>
                  <a:schemeClr val="accent2"/>
                </a:solidFill>
                <a:latin typeface="Times New Roman" pitchFamily="18" charset="0"/>
              </a:rPr>
              <a:t>1</a:t>
            </a:r>
            <a:r>
              <a:rPr lang="en-US" i="1">
                <a:solidFill>
                  <a:schemeClr val="accent2"/>
                </a:solidFill>
                <a:latin typeface="Times New Roman" pitchFamily="18" charset="0"/>
              </a:rPr>
              <a:t> x</a:t>
            </a:r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(</a:t>
            </a:r>
            <a:r>
              <a:rPr lang="en-US" i="1">
                <a:solidFill>
                  <a:schemeClr val="accent2"/>
                </a:solidFill>
                <a:latin typeface="Times New Roman" pitchFamily="18" charset="0"/>
              </a:rPr>
              <a:t>t</a:t>
            </a:r>
            <a:r>
              <a:rPr lang="en-US" i="1" baseline="-25000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)  +  </a:t>
            </a:r>
            <a:r>
              <a:rPr lang="en-US" i="1">
                <a:solidFill>
                  <a:schemeClr val="accent2"/>
                </a:solidFill>
                <a:latin typeface="Times New Roman" pitchFamily="18" charset="0"/>
              </a:rPr>
              <a:t>a</a:t>
            </a:r>
            <a:r>
              <a:rPr lang="en-US" baseline="-25000">
                <a:solidFill>
                  <a:schemeClr val="accent2"/>
                </a:solidFill>
                <a:latin typeface="Times New Roman" pitchFamily="18" charset="0"/>
              </a:rPr>
              <a:t>2</a:t>
            </a:r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en-US" i="1">
                <a:solidFill>
                  <a:schemeClr val="accent2"/>
                </a:solidFill>
                <a:latin typeface="Times New Roman" pitchFamily="18" charset="0"/>
              </a:rPr>
              <a:t>x</a:t>
            </a:r>
            <a:r>
              <a:rPr lang="en-US" i="1" baseline="30000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en-US" baseline="30000">
                <a:solidFill>
                  <a:schemeClr val="accent2"/>
                </a:solidFill>
                <a:latin typeface="Times New Roman" pitchFamily="18" charset="0"/>
              </a:rPr>
              <a:t>2</a:t>
            </a:r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(</a:t>
            </a:r>
            <a:r>
              <a:rPr lang="en-US" i="1">
                <a:solidFill>
                  <a:schemeClr val="accent2"/>
                </a:solidFill>
                <a:latin typeface="Times New Roman" pitchFamily="18" charset="0"/>
              </a:rPr>
              <a:t>t</a:t>
            </a:r>
            <a:r>
              <a:rPr lang="en-US" i="1" baseline="-25000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)  +  </a:t>
            </a:r>
            <a:r>
              <a:rPr lang="en-US" i="1">
                <a:solidFill>
                  <a:schemeClr val="accent2"/>
                </a:solidFill>
                <a:latin typeface="Times New Roman" pitchFamily="18" charset="0"/>
              </a:rPr>
              <a:t>a</a:t>
            </a:r>
            <a:r>
              <a:rPr lang="en-US" baseline="-25000">
                <a:solidFill>
                  <a:schemeClr val="accent2"/>
                </a:solidFill>
                <a:latin typeface="Times New Roman" pitchFamily="18" charset="0"/>
              </a:rPr>
              <a:t>3</a:t>
            </a:r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en-US" i="1">
                <a:solidFill>
                  <a:schemeClr val="accent2"/>
                </a:solidFill>
                <a:latin typeface="Times New Roman" pitchFamily="18" charset="0"/>
              </a:rPr>
              <a:t>x</a:t>
            </a:r>
            <a:r>
              <a:rPr lang="en-US" i="1" baseline="30000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en-US" baseline="30000">
                <a:solidFill>
                  <a:schemeClr val="accent2"/>
                </a:solidFill>
                <a:latin typeface="Times New Roman" pitchFamily="18" charset="0"/>
              </a:rPr>
              <a:t>3</a:t>
            </a:r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(</a:t>
            </a:r>
            <a:r>
              <a:rPr lang="en-US" i="1">
                <a:solidFill>
                  <a:schemeClr val="accent2"/>
                </a:solidFill>
                <a:latin typeface="Times New Roman" pitchFamily="18" charset="0"/>
              </a:rPr>
              <a:t>t</a:t>
            </a:r>
            <a:r>
              <a:rPr lang="en-US" i="1" baseline="-25000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)</a:t>
            </a:r>
            <a:endParaRPr lang="pt-BR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43" name="AutoShape 46">
            <a:extLst>
              <a:ext uri="{FF2B5EF4-FFF2-40B4-BE49-F238E27FC236}">
                <a16:creationId xmlns:a16="http://schemas.microsoft.com/office/drawing/2014/main" id="{56E8BE19-1436-6C80-401D-C80ABC0F30AD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573463" y="1257986"/>
            <a:ext cx="1143262" cy="646331"/>
          </a:xfrm>
          <a:prstGeom prst="flowChartProcess">
            <a:avLst/>
          </a:prstGeom>
          <a:solidFill>
            <a:srgbClr val="CCFFFF"/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chemeClr val="accent2"/>
                </a:solidFill>
              </a:rPr>
              <a:t>Sistema</a:t>
            </a:r>
          </a:p>
          <a:p>
            <a:pPr>
              <a:spcBef>
                <a:spcPct val="0"/>
              </a:spcBef>
            </a:pPr>
            <a:r>
              <a:rPr lang="en-US">
                <a:solidFill>
                  <a:schemeClr val="accent2"/>
                </a:solidFill>
              </a:rPr>
              <a:t>não-linear</a:t>
            </a:r>
            <a:endParaRPr lang="pt-BR">
              <a:solidFill>
                <a:schemeClr val="accent2"/>
              </a:solidFill>
            </a:endParaRPr>
          </a:p>
        </p:txBody>
      </p:sp>
      <p:cxnSp>
        <p:nvCxnSpPr>
          <p:cNvPr id="44" name="AutoShape 47">
            <a:extLst>
              <a:ext uri="{FF2B5EF4-FFF2-40B4-BE49-F238E27FC236}">
                <a16:creationId xmlns:a16="http://schemas.microsoft.com/office/drawing/2014/main" id="{EEED0288-026D-5727-3367-121DB91A4B19}"/>
              </a:ext>
            </a:extLst>
          </p:cNvPr>
          <p:cNvCxnSpPr>
            <a:cxnSpLocks noChangeShapeType="1"/>
            <a:endCxn id="43" idx="1"/>
          </p:cNvCxnSpPr>
          <p:nvPr/>
        </p:nvCxnSpPr>
        <p:spPr bwMode="blackWhite">
          <a:xfrm>
            <a:off x="2305051" y="1577975"/>
            <a:ext cx="1268413" cy="3176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</p:spPr>
      </p:cxnSp>
      <p:cxnSp>
        <p:nvCxnSpPr>
          <p:cNvPr id="45" name="AutoShape 48">
            <a:extLst>
              <a:ext uri="{FF2B5EF4-FFF2-40B4-BE49-F238E27FC236}">
                <a16:creationId xmlns:a16="http://schemas.microsoft.com/office/drawing/2014/main" id="{737B8C5E-82D0-E1F0-2650-896B04C30B37}"/>
              </a:ext>
            </a:extLst>
          </p:cNvPr>
          <p:cNvCxnSpPr>
            <a:cxnSpLocks noChangeShapeType="1"/>
            <a:stCxn id="43" idx="3"/>
          </p:cNvCxnSpPr>
          <p:nvPr/>
        </p:nvCxnSpPr>
        <p:spPr bwMode="blackWhite">
          <a:xfrm flipV="1">
            <a:off x="4716725" y="1577975"/>
            <a:ext cx="1636450" cy="3176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</p:spPr>
      </p:cxnSp>
      <p:sp>
        <p:nvSpPr>
          <p:cNvPr id="46" name="Text Box 49">
            <a:extLst>
              <a:ext uri="{FF2B5EF4-FFF2-40B4-BE49-F238E27FC236}">
                <a16:creationId xmlns:a16="http://schemas.microsoft.com/office/drawing/2014/main" id="{B35595EB-79BD-A68F-5CFA-9A89D5595A01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2225675" y="1028700"/>
            <a:ext cx="9588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i="1">
                <a:solidFill>
                  <a:schemeClr val="accent2"/>
                </a:solidFill>
                <a:latin typeface="Times New Roman" pitchFamily="18" charset="0"/>
              </a:rPr>
              <a:t>x</a:t>
            </a:r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(</a:t>
            </a:r>
            <a:r>
              <a:rPr lang="en-US" i="1">
                <a:solidFill>
                  <a:schemeClr val="accent2"/>
                </a:solidFill>
                <a:latin typeface="Times New Roman" pitchFamily="18" charset="0"/>
              </a:rPr>
              <a:t>t</a:t>
            </a:r>
            <a:r>
              <a:rPr lang="en-US" i="1" baseline="-25000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)</a:t>
            </a:r>
            <a:endParaRPr lang="pt-BR" i="1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AF65270A-E23F-038C-033F-B50C4199FD2E}"/>
              </a:ext>
            </a:extLst>
          </p:cNvPr>
          <p:cNvSpPr txBox="1"/>
          <p:nvPr/>
        </p:nvSpPr>
        <p:spPr>
          <a:xfrm>
            <a:off x="8561438" y="4709475"/>
            <a:ext cx="167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Intermodulação</a:t>
            </a:r>
          </a:p>
        </p:txBody>
      </p:sp>
    </p:spTree>
    <p:extLst>
      <p:ext uri="{BB962C8B-B14F-4D97-AF65-F5344CB8AC3E}">
        <p14:creationId xmlns:p14="http://schemas.microsoft.com/office/powerpoint/2010/main" val="2656600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93B0BC-AC23-F872-1F8C-01D1BF04D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Sistemas não Lineares</a:t>
            </a:r>
            <a:br>
              <a:rPr lang="pt-BR" dirty="0"/>
            </a:br>
            <a:r>
              <a:rPr lang="pt-BR" dirty="0"/>
              <a:t>Harmônicos e Intermodulação</a:t>
            </a:r>
          </a:p>
        </p:txBody>
      </p:sp>
      <p:graphicFrame>
        <p:nvGraphicFramePr>
          <p:cNvPr id="3" name="Group 69">
            <a:extLst>
              <a:ext uri="{FF2B5EF4-FFF2-40B4-BE49-F238E27FC236}">
                <a16:creationId xmlns:a16="http://schemas.microsoft.com/office/drawing/2014/main" id="{50AEA0D3-B717-CD20-6B75-F5CF570279A0}"/>
              </a:ext>
            </a:extLst>
          </p:cNvPr>
          <p:cNvGraphicFramePr>
            <a:graphicFrameLocks noGrp="1"/>
          </p:cNvGraphicFramePr>
          <p:nvPr/>
        </p:nvGraphicFramePr>
        <p:xfrm>
          <a:off x="1695451" y="2228851"/>
          <a:ext cx="8791575" cy="4014789"/>
        </p:xfrm>
        <a:graphic>
          <a:graphicData uri="http://schemas.openxmlformats.org/drawingml/2006/table">
            <a:tbl>
              <a:tblPr/>
              <a:tblGrid>
                <a:gridCol w="2620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1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5938">
                <a:tc rowSpan="7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PT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Componentes de frequência na saída do dispositivo</a:t>
                      </a:r>
                      <a:endParaRPr kumimoji="0" lang="pt-BR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PT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d.c.</a:t>
                      </a:r>
                      <a:endParaRPr kumimoji="0" lang="pt-BR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PT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pt-PT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pt-PT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,  </a:t>
                      </a:r>
                      <a:r>
                        <a:rPr kumimoji="0" lang="pt-PT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pt-PT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pt-BR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PT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fundamentais</a:t>
                      </a:r>
                      <a:endParaRPr kumimoji="0" lang="pt-BR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PT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 </a:t>
                      </a:r>
                      <a:r>
                        <a:rPr kumimoji="0" lang="pt-PT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pt-PT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pt-PT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,  2 </a:t>
                      </a:r>
                      <a:r>
                        <a:rPr kumimoji="0" lang="pt-PT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pt-PT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pt-BR" sz="22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PT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</a:t>
                      </a:r>
                      <a:r>
                        <a:rPr kumimoji="0" lang="pt-PT" sz="2200" b="1" i="0" u="sng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o</a:t>
                      </a:r>
                      <a:r>
                        <a:rPr kumimoji="0" lang="pt-PT" sz="22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pt-PT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harmônicos</a:t>
                      </a:r>
                      <a:endParaRPr kumimoji="0" lang="pt-BR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788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PT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pt-PT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pt-PT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+ </a:t>
                      </a:r>
                      <a:r>
                        <a:rPr kumimoji="0" lang="pt-PT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pt-PT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r>
                        <a:rPr kumimoji="0" lang="pt-PT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,   </a:t>
                      </a:r>
                      <a:r>
                        <a:rPr kumimoji="0" lang="pt-PT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| f</a:t>
                      </a:r>
                      <a:r>
                        <a:rPr kumimoji="0" lang="pt-PT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pt-PT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– </a:t>
                      </a:r>
                      <a:r>
                        <a:rPr kumimoji="0" lang="pt-PT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pt-PT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r>
                        <a:rPr kumimoji="0" lang="pt-PT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|</a:t>
                      </a:r>
                      <a:endParaRPr kumimoji="0" lang="pt-BR" sz="22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PT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Intermodulação de 2</a:t>
                      </a:r>
                      <a:r>
                        <a:rPr kumimoji="0" lang="pt-PT" sz="2200" b="1" i="0" u="sng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</a:t>
                      </a:r>
                      <a:r>
                        <a:rPr kumimoji="0" lang="pt-PT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ordem</a:t>
                      </a:r>
                      <a:endParaRPr kumimoji="0" lang="pt-BR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91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PT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 </a:t>
                      </a:r>
                      <a:r>
                        <a:rPr kumimoji="0" lang="pt-PT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pt-PT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pt-PT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,  3 </a:t>
                      </a:r>
                      <a:r>
                        <a:rPr kumimoji="0" lang="pt-PT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pt-PT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pt-BR" sz="22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PT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</a:t>
                      </a:r>
                      <a:r>
                        <a:rPr kumimoji="0" lang="pt-PT" sz="2200" b="1" i="0" u="sng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o</a:t>
                      </a:r>
                      <a:r>
                        <a:rPr kumimoji="0" lang="pt-PT" sz="22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pt-PT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harmônicos</a:t>
                      </a:r>
                      <a:endParaRPr kumimoji="0" lang="pt-BR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37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PT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|2 </a:t>
                      </a:r>
                      <a:r>
                        <a:rPr kumimoji="0" lang="pt-PT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pt-PT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 </a:t>
                      </a:r>
                      <a:r>
                        <a:rPr kumimoji="0" lang="pt-PT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– </a:t>
                      </a:r>
                      <a:r>
                        <a:rPr kumimoji="0" lang="pt-PT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pt-PT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r>
                        <a:rPr kumimoji="0" lang="pt-PT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|</a:t>
                      </a:r>
                      <a:r>
                        <a:rPr kumimoji="0" lang="pt-PT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pt-PT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 |2</a:t>
                      </a:r>
                      <a:r>
                        <a:rPr kumimoji="0" lang="pt-PT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f</a:t>
                      </a:r>
                      <a:r>
                        <a:rPr kumimoji="0" lang="pt-PT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 </a:t>
                      </a:r>
                      <a:r>
                        <a:rPr kumimoji="0" lang="pt-PT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– </a:t>
                      </a:r>
                      <a:r>
                        <a:rPr kumimoji="0" lang="pt-PT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pt-PT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pt-PT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|</a:t>
                      </a:r>
                      <a:endParaRPr kumimoji="0" lang="pt-BR" sz="22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PT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Intermodulação de 3</a:t>
                      </a:r>
                      <a:r>
                        <a:rPr kumimoji="0" lang="pt-PT" sz="2200" b="1" i="0" u="sng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</a:t>
                      </a:r>
                      <a:r>
                        <a:rPr kumimoji="0" lang="pt-PT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ordem</a:t>
                      </a:r>
                      <a:endParaRPr kumimoji="0" lang="pt-BR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5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PT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 </a:t>
                      </a:r>
                      <a:r>
                        <a:rPr kumimoji="0" lang="pt-PT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pt-PT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pt-PT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+ </a:t>
                      </a:r>
                      <a:r>
                        <a:rPr kumimoji="0" lang="pt-PT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pt-PT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r>
                        <a:rPr kumimoji="0" lang="pt-PT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 2</a:t>
                      </a:r>
                      <a:r>
                        <a:rPr kumimoji="0" lang="pt-PT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f</a:t>
                      </a:r>
                      <a:r>
                        <a:rPr kumimoji="0" lang="pt-PT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r>
                        <a:rPr kumimoji="0" lang="pt-PT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+ </a:t>
                      </a:r>
                      <a:r>
                        <a:rPr kumimoji="0" lang="pt-PT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pt-PT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BR" sz="22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PT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Intermodulação de 3</a:t>
                      </a:r>
                      <a:r>
                        <a:rPr kumimoji="0" lang="pt-PT" sz="2200" b="1" i="0" u="sng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</a:t>
                      </a:r>
                      <a:r>
                        <a:rPr kumimoji="0" lang="pt-PT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ordem</a:t>
                      </a:r>
                      <a:endParaRPr kumimoji="0" lang="pt-BR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Box 32">
            <a:extLst>
              <a:ext uri="{FF2B5EF4-FFF2-40B4-BE49-F238E27FC236}">
                <a16:creationId xmlns:a16="http://schemas.microsoft.com/office/drawing/2014/main" id="{7959FDB0-FDAD-84CF-AFA9-1038F7EB8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2713" y="1085850"/>
            <a:ext cx="51482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i="1">
                <a:solidFill>
                  <a:schemeClr val="accent2"/>
                </a:solidFill>
                <a:latin typeface="Times New Roman" pitchFamily="18" charset="0"/>
              </a:rPr>
              <a:t>y</a:t>
            </a:r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(</a:t>
            </a:r>
            <a:r>
              <a:rPr lang="en-US" i="1">
                <a:solidFill>
                  <a:schemeClr val="accent2"/>
                </a:solidFill>
                <a:latin typeface="Times New Roman" pitchFamily="18" charset="0"/>
              </a:rPr>
              <a:t>t</a:t>
            </a:r>
            <a:r>
              <a:rPr lang="en-US" i="1" baseline="-25000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)</a:t>
            </a:r>
            <a:r>
              <a:rPr lang="en-US" i="1">
                <a:solidFill>
                  <a:schemeClr val="accent2"/>
                </a:solidFill>
                <a:latin typeface="Times New Roman" pitchFamily="18" charset="0"/>
              </a:rPr>
              <a:t>  =  a</a:t>
            </a:r>
            <a:r>
              <a:rPr lang="en-US" baseline="-25000">
                <a:solidFill>
                  <a:schemeClr val="accent2"/>
                </a:solidFill>
                <a:latin typeface="Times New Roman" pitchFamily="18" charset="0"/>
              </a:rPr>
              <a:t>1</a:t>
            </a:r>
            <a:r>
              <a:rPr lang="en-US" i="1">
                <a:solidFill>
                  <a:schemeClr val="accent2"/>
                </a:solidFill>
                <a:latin typeface="Times New Roman" pitchFamily="18" charset="0"/>
              </a:rPr>
              <a:t> x</a:t>
            </a:r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(</a:t>
            </a:r>
            <a:r>
              <a:rPr lang="en-US" i="1">
                <a:solidFill>
                  <a:schemeClr val="accent2"/>
                </a:solidFill>
                <a:latin typeface="Times New Roman" pitchFamily="18" charset="0"/>
              </a:rPr>
              <a:t>t</a:t>
            </a:r>
            <a:r>
              <a:rPr lang="en-US" i="1" baseline="-25000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)  +  </a:t>
            </a:r>
            <a:r>
              <a:rPr lang="en-US" i="1">
                <a:solidFill>
                  <a:schemeClr val="accent2"/>
                </a:solidFill>
                <a:latin typeface="Times New Roman" pitchFamily="18" charset="0"/>
              </a:rPr>
              <a:t>a</a:t>
            </a:r>
            <a:r>
              <a:rPr lang="en-US" baseline="-25000">
                <a:solidFill>
                  <a:schemeClr val="accent2"/>
                </a:solidFill>
                <a:latin typeface="Times New Roman" pitchFamily="18" charset="0"/>
              </a:rPr>
              <a:t>2</a:t>
            </a:r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en-US" i="1">
                <a:solidFill>
                  <a:schemeClr val="accent2"/>
                </a:solidFill>
                <a:latin typeface="Times New Roman" pitchFamily="18" charset="0"/>
              </a:rPr>
              <a:t>x</a:t>
            </a:r>
            <a:r>
              <a:rPr lang="en-US" i="1" baseline="30000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en-US" baseline="30000">
                <a:solidFill>
                  <a:schemeClr val="accent2"/>
                </a:solidFill>
                <a:latin typeface="Times New Roman" pitchFamily="18" charset="0"/>
              </a:rPr>
              <a:t>2</a:t>
            </a:r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(</a:t>
            </a:r>
            <a:r>
              <a:rPr lang="en-US" i="1">
                <a:solidFill>
                  <a:schemeClr val="accent2"/>
                </a:solidFill>
                <a:latin typeface="Times New Roman" pitchFamily="18" charset="0"/>
              </a:rPr>
              <a:t>t</a:t>
            </a:r>
            <a:r>
              <a:rPr lang="en-US" i="1" baseline="-25000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)  +  </a:t>
            </a:r>
            <a:r>
              <a:rPr lang="en-US" i="1">
                <a:solidFill>
                  <a:schemeClr val="accent2"/>
                </a:solidFill>
                <a:latin typeface="Times New Roman" pitchFamily="18" charset="0"/>
              </a:rPr>
              <a:t>a</a:t>
            </a:r>
            <a:r>
              <a:rPr lang="en-US" baseline="-25000">
                <a:solidFill>
                  <a:schemeClr val="accent2"/>
                </a:solidFill>
                <a:latin typeface="Times New Roman" pitchFamily="18" charset="0"/>
              </a:rPr>
              <a:t>3</a:t>
            </a:r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en-US" i="1">
                <a:solidFill>
                  <a:schemeClr val="accent2"/>
                </a:solidFill>
                <a:latin typeface="Times New Roman" pitchFamily="18" charset="0"/>
              </a:rPr>
              <a:t>x</a:t>
            </a:r>
            <a:r>
              <a:rPr lang="en-US" i="1" baseline="30000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en-US" baseline="30000">
                <a:solidFill>
                  <a:schemeClr val="accent2"/>
                </a:solidFill>
                <a:latin typeface="Times New Roman" pitchFamily="18" charset="0"/>
              </a:rPr>
              <a:t>3</a:t>
            </a:r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(</a:t>
            </a:r>
            <a:r>
              <a:rPr lang="en-US" i="1">
                <a:solidFill>
                  <a:schemeClr val="accent2"/>
                </a:solidFill>
                <a:latin typeface="Times New Roman" pitchFamily="18" charset="0"/>
              </a:rPr>
              <a:t>t</a:t>
            </a:r>
            <a:r>
              <a:rPr lang="en-US" i="1" baseline="-25000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)</a:t>
            </a:r>
            <a:endParaRPr lang="pt-BR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5" name="AutoShape 33">
            <a:extLst>
              <a:ext uri="{FF2B5EF4-FFF2-40B4-BE49-F238E27FC236}">
                <a16:creationId xmlns:a16="http://schemas.microsoft.com/office/drawing/2014/main" id="{071CB56A-956E-3D16-D265-A02FFE2C02C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633788" y="1315136"/>
            <a:ext cx="1143262" cy="646331"/>
          </a:xfrm>
          <a:prstGeom prst="flowChartProcess">
            <a:avLst/>
          </a:prstGeom>
          <a:solidFill>
            <a:srgbClr val="CCFFFF"/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chemeClr val="accent2"/>
                </a:solidFill>
              </a:rPr>
              <a:t>Sistema</a:t>
            </a:r>
          </a:p>
          <a:p>
            <a:pPr>
              <a:spcBef>
                <a:spcPct val="0"/>
              </a:spcBef>
            </a:pPr>
            <a:r>
              <a:rPr lang="en-US">
                <a:solidFill>
                  <a:schemeClr val="accent2"/>
                </a:solidFill>
              </a:rPr>
              <a:t>não-linear</a:t>
            </a:r>
            <a:endParaRPr lang="pt-BR">
              <a:solidFill>
                <a:schemeClr val="accent2"/>
              </a:solidFill>
            </a:endParaRPr>
          </a:p>
        </p:txBody>
      </p:sp>
      <p:cxnSp>
        <p:nvCxnSpPr>
          <p:cNvPr id="6" name="AutoShape 34">
            <a:extLst>
              <a:ext uri="{FF2B5EF4-FFF2-40B4-BE49-F238E27FC236}">
                <a16:creationId xmlns:a16="http://schemas.microsoft.com/office/drawing/2014/main" id="{FAEC0079-97C1-791A-9374-17C426CC6361}"/>
              </a:ext>
            </a:extLst>
          </p:cNvPr>
          <p:cNvCxnSpPr>
            <a:cxnSpLocks noChangeShapeType="1"/>
            <a:endCxn id="5" idx="1"/>
          </p:cNvCxnSpPr>
          <p:nvPr/>
        </p:nvCxnSpPr>
        <p:spPr bwMode="blackWhite">
          <a:xfrm>
            <a:off x="2365376" y="1635125"/>
            <a:ext cx="1268413" cy="3176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</p:spPr>
      </p:cxnSp>
      <p:cxnSp>
        <p:nvCxnSpPr>
          <p:cNvPr id="7" name="AutoShape 35">
            <a:extLst>
              <a:ext uri="{FF2B5EF4-FFF2-40B4-BE49-F238E27FC236}">
                <a16:creationId xmlns:a16="http://schemas.microsoft.com/office/drawing/2014/main" id="{97133AC1-4A9A-0F7F-9050-628966A492D8}"/>
              </a:ext>
            </a:extLst>
          </p:cNvPr>
          <p:cNvCxnSpPr>
            <a:cxnSpLocks noChangeShapeType="1"/>
            <a:stCxn id="5" idx="3"/>
          </p:cNvCxnSpPr>
          <p:nvPr/>
        </p:nvCxnSpPr>
        <p:spPr bwMode="blackWhite">
          <a:xfrm flipV="1">
            <a:off x="4777050" y="1635125"/>
            <a:ext cx="1636450" cy="3176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</p:spPr>
      </p:cxnSp>
      <p:sp>
        <p:nvSpPr>
          <p:cNvPr id="8" name="Text Box 36">
            <a:extLst>
              <a:ext uri="{FF2B5EF4-FFF2-40B4-BE49-F238E27FC236}">
                <a16:creationId xmlns:a16="http://schemas.microsoft.com/office/drawing/2014/main" id="{69DF788F-5943-0E16-F462-B510CDE6B1C3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2286000" y="1085850"/>
            <a:ext cx="9588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i="1">
                <a:solidFill>
                  <a:schemeClr val="accent2"/>
                </a:solidFill>
                <a:latin typeface="Times New Roman" pitchFamily="18" charset="0"/>
              </a:rPr>
              <a:t>x</a:t>
            </a:r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(</a:t>
            </a:r>
            <a:r>
              <a:rPr lang="en-US" i="1">
                <a:solidFill>
                  <a:schemeClr val="accent2"/>
                </a:solidFill>
                <a:latin typeface="Times New Roman" pitchFamily="18" charset="0"/>
              </a:rPr>
              <a:t>t</a:t>
            </a:r>
            <a:r>
              <a:rPr lang="en-US" i="1" baseline="-25000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)</a:t>
            </a:r>
            <a:endParaRPr lang="pt-BR" i="1">
              <a:solidFill>
                <a:schemeClr val="accent2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2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81C5CF-71A9-4E3E-B2A5-AE8C3418B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Amplificador Não Linear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309356E2-3929-C093-8BE4-2B7BF4109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5427" y="2318564"/>
            <a:ext cx="19145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rgbClr val="FFFF00"/>
                </a:solidFill>
              </a:rPr>
              <a:t>Amplificador</a:t>
            </a:r>
            <a:r>
              <a:rPr lang="en-US" sz="2000">
                <a:solidFill>
                  <a:srgbClr val="FFFF00"/>
                </a:solidFill>
              </a:rPr>
              <a:t> real</a:t>
            </a:r>
            <a:endParaRPr lang="pt-BR" sz="2000">
              <a:solidFill>
                <a:srgbClr val="FFFF00"/>
              </a:solidFill>
            </a:endParaRP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C7195268-A3E4-ABDE-93D9-353AC856CA42}"/>
              </a:ext>
            </a:extLst>
          </p:cNvPr>
          <p:cNvGrpSpPr>
            <a:grpSpLocks/>
          </p:cNvGrpSpPr>
          <p:nvPr/>
        </p:nvGrpSpPr>
        <p:grpSpPr bwMode="auto">
          <a:xfrm>
            <a:off x="1717490" y="1299262"/>
            <a:ext cx="4803775" cy="2989263"/>
            <a:chOff x="1335" y="430"/>
            <a:chExt cx="3026" cy="1883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B03FCD5C-13E1-975F-318A-D2739368AD24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335" y="430"/>
              <a:ext cx="3026" cy="1883"/>
            </a:xfrm>
            <a:prstGeom prst="rect">
              <a:avLst/>
            </a:prstGeom>
            <a:solidFill>
              <a:srgbClr val="2E5D8C"/>
            </a:solidFill>
            <a:ln w="9525">
              <a:noFill/>
              <a:miter lim="800000"/>
              <a:headEnd/>
              <a:tailEnd/>
            </a:ln>
            <a:effectLst>
              <a:outerShdw dist="71842" dir="2700000" algn="ctr" rotWithShape="0">
                <a:srgbClr val="DDDDDD"/>
              </a:outerShdw>
            </a:effectLst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9" name="Group 6">
              <a:extLst>
                <a:ext uri="{FF2B5EF4-FFF2-40B4-BE49-F238E27FC236}">
                  <a16:creationId xmlns:a16="http://schemas.microsoft.com/office/drawing/2014/main" id="{013F958A-B737-31C1-510B-063B39A088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5" y="523"/>
              <a:ext cx="2665" cy="1731"/>
              <a:chOff x="1445" y="523"/>
              <a:chExt cx="2665" cy="1731"/>
            </a:xfrm>
          </p:grpSpPr>
          <p:sp>
            <p:nvSpPr>
              <p:cNvPr id="10" name="Line 7">
                <a:extLst>
                  <a:ext uri="{FF2B5EF4-FFF2-40B4-BE49-F238E27FC236}">
                    <a16:creationId xmlns:a16="http://schemas.microsoft.com/office/drawing/2014/main" id="{4CCB6098-3678-4223-C587-5A9F522BD8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558"/>
                <a:ext cx="0" cy="1602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Line 8">
                <a:extLst>
                  <a:ext uri="{FF2B5EF4-FFF2-40B4-BE49-F238E27FC236}">
                    <a16:creationId xmlns:a16="http://schemas.microsoft.com/office/drawing/2014/main" id="{31F7AA86-7D05-8EAB-EA9C-5E33B2377D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8" y="2022"/>
                <a:ext cx="2088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" name="Rectangle 9">
                <a:extLst>
                  <a:ext uri="{FF2B5EF4-FFF2-40B4-BE49-F238E27FC236}">
                    <a16:creationId xmlns:a16="http://schemas.microsoft.com/office/drawing/2014/main" id="{AB27D7DF-2F22-8658-1767-72EB874B6F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1440"/>
                <a:ext cx="342" cy="582"/>
              </a:xfrm>
              <a:prstGeom prst="rect">
                <a:avLst/>
              </a:prstGeom>
              <a:noFill/>
              <a:ln w="12700">
                <a:solidFill>
                  <a:schemeClr val="bg1"/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3" name="Line 10">
                <a:extLst>
                  <a:ext uri="{FF2B5EF4-FFF2-40B4-BE49-F238E27FC236}">
                    <a16:creationId xmlns:a16="http://schemas.microsoft.com/office/drawing/2014/main" id="{9E832625-A030-A26A-6394-0CFCD8C2F6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64" y="612"/>
                <a:ext cx="807" cy="14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Freeform 11">
                <a:extLst>
                  <a:ext uri="{FF2B5EF4-FFF2-40B4-BE49-F238E27FC236}">
                    <a16:creationId xmlns:a16="http://schemas.microsoft.com/office/drawing/2014/main" id="{8CC56EBD-819A-A014-83BC-2E2641BFEB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0" y="1140"/>
                <a:ext cx="1197" cy="975"/>
              </a:xfrm>
              <a:custGeom>
                <a:avLst/>
                <a:gdLst/>
                <a:ahLst/>
                <a:cxnLst>
                  <a:cxn ang="0">
                    <a:pos x="0" y="975"/>
                  </a:cxn>
                  <a:cxn ang="0">
                    <a:pos x="369" y="339"/>
                  </a:cxn>
                  <a:cxn ang="0">
                    <a:pos x="513" y="165"/>
                  </a:cxn>
                  <a:cxn ang="0">
                    <a:pos x="690" y="57"/>
                  </a:cxn>
                  <a:cxn ang="0">
                    <a:pos x="876" y="9"/>
                  </a:cxn>
                  <a:cxn ang="0">
                    <a:pos x="1197" y="0"/>
                  </a:cxn>
                </a:cxnLst>
                <a:rect l="0" t="0" r="r" b="b"/>
                <a:pathLst>
                  <a:path w="1197" h="975">
                    <a:moveTo>
                      <a:pt x="0" y="975"/>
                    </a:moveTo>
                    <a:cubicBezTo>
                      <a:pt x="62" y="869"/>
                      <a:pt x="284" y="474"/>
                      <a:pt x="369" y="339"/>
                    </a:cubicBezTo>
                    <a:cubicBezTo>
                      <a:pt x="454" y="204"/>
                      <a:pt x="460" y="212"/>
                      <a:pt x="513" y="165"/>
                    </a:cubicBezTo>
                    <a:cubicBezTo>
                      <a:pt x="566" y="118"/>
                      <a:pt x="629" y="83"/>
                      <a:pt x="690" y="57"/>
                    </a:cubicBezTo>
                    <a:cubicBezTo>
                      <a:pt x="751" y="31"/>
                      <a:pt x="792" y="18"/>
                      <a:pt x="876" y="9"/>
                    </a:cubicBezTo>
                    <a:cubicBezTo>
                      <a:pt x="960" y="0"/>
                      <a:pt x="1130" y="2"/>
                      <a:pt x="1197" y="0"/>
                    </a:cubicBezTo>
                  </a:path>
                </a:pathLst>
              </a:custGeom>
              <a:noFill/>
              <a:ln w="38100" cmpd="sng">
                <a:solidFill>
                  <a:srgbClr val="FFFF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Rectangle 12">
                <a:extLst>
                  <a:ext uri="{FF2B5EF4-FFF2-40B4-BE49-F238E27FC236}">
                    <a16:creationId xmlns:a16="http://schemas.microsoft.com/office/drawing/2014/main" id="{D3CA9C7C-52A3-4A38-7A13-16395D195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1140"/>
                <a:ext cx="909" cy="882"/>
              </a:xfrm>
              <a:prstGeom prst="rect">
                <a:avLst/>
              </a:prstGeom>
              <a:noFill/>
              <a:ln w="12700">
                <a:solidFill>
                  <a:schemeClr val="bg1"/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" name="Text Box 13">
                <a:extLst>
                  <a:ext uri="{FF2B5EF4-FFF2-40B4-BE49-F238E27FC236}">
                    <a16:creationId xmlns:a16="http://schemas.microsoft.com/office/drawing/2014/main" id="{49B79072-AD5B-0A4C-46EA-C86EEB6AC7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04" y="708"/>
                <a:ext cx="1206" cy="4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en-US" dirty="0" err="1">
                    <a:solidFill>
                      <a:schemeClr val="bg1"/>
                    </a:solidFill>
                  </a:rPr>
                  <a:t>Amplificador</a:t>
                </a:r>
                <a:r>
                  <a:rPr lang="en-US" sz="2000" dirty="0">
                    <a:solidFill>
                      <a:schemeClr val="bg1"/>
                    </a:solidFill>
                  </a:rPr>
                  <a:t> ideal</a:t>
                </a:r>
                <a:endParaRPr lang="pt-BR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Line 14">
                <a:extLst>
                  <a:ext uri="{FF2B5EF4-FFF2-40B4-BE49-F238E27FC236}">
                    <a16:creationId xmlns:a16="http://schemas.microsoft.com/office/drawing/2014/main" id="{06DABEBA-60B7-7B24-563F-0419A3656D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072" y="1188"/>
                <a:ext cx="84" cy="138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 type="stealth" w="med" len="med"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Line 15">
                <a:extLst>
                  <a:ext uri="{FF2B5EF4-FFF2-40B4-BE49-F238E27FC236}">
                    <a16:creationId xmlns:a16="http://schemas.microsoft.com/office/drawing/2014/main" id="{C858AA98-1961-D300-99FE-CA33148541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56" y="684"/>
                <a:ext cx="84" cy="138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 type="stealth" w="med" len="med"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Text Box 16">
                <a:extLst>
                  <a:ext uri="{FF2B5EF4-FFF2-40B4-BE49-F238E27FC236}">
                    <a16:creationId xmlns:a16="http://schemas.microsoft.com/office/drawing/2014/main" id="{82F8D33B-432B-8749-BC36-2A669F4BBE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61" y="2019"/>
                <a:ext cx="28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i="1">
                    <a:solidFill>
                      <a:schemeClr val="bg1"/>
                    </a:solidFill>
                    <a:latin typeface="Times New Roman" pitchFamily="18" charset="0"/>
                  </a:rPr>
                  <a:t>V</a:t>
                </a:r>
                <a:r>
                  <a:rPr lang="en-US" baseline="-25000">
                    <a:solidFill>
                      <a:schemeClr val="bg1"/>
                    </a:solidFill>
                    <a:latin typeface="Times New Roman" pitchFamily="18" charset="0"/>
                  </a:rPr>
                  <a:t>1</a:t>
                </a:r>
                <a:endParaRPr lang="pt-BR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0" name="Text Box 17">
                <a:extLst>
                  <a:ext uri="{FF2B5EF4-FFF2-40B4-BE49-F238E27FC236}">
                    <a16:creationId xmlns:a16="http://schemas.microsoft.com/office/drawing/2014/main" id="{F4E90AB9-FB5F-8421-2F7C-5F8D3D0790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9" y="2023"/>
                <a:ext cx="28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i="1">
                    <a:solidFill>
                      <a:schemeClr val="bg1"/>
                    </a:solidFill>
                    <a:latin typeface="Times New Roman" pitchFamily="18" charset="0"/>
                  </a:rPr>
                  <a:t>V</a:t>
                </a:r>
                <a:r>
                  <a:rPr lang="en-US" baseline="-25000">
                    <a:solidFill>
                      <a:schemeClr val="bg1"/>
                    </a:solidFill>
                    <a:latin typeface="Times New Roman" pitchFamily="18" charset="0"/>
                  </a:rPr>
                  <a:t>2</a:t>
                </a:r>
                <a:endParaRPr lang="pt-BR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1" name="Text Box 18">
                <a:extLst>
                  <a:ext uri="{FF2B5EF4-FFF2-40B4-BE49-F238E27FC236}">
                    <a16:creationId xmlns:a16="http://schemas.microsoft.com/office/drawing/2014/main" id="{19B93556-5B4A-E52F-8999-2D72961AC6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05" y="1323"/>
                <a:ext cx="28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i="1">
                    <a:solidFill>
                      <a:schemeClr val="bg1"/>
                    </a:solidFill>
                    <a:latin typeface="Times New Roman" pitchFamily="18" charset="0"/>
                  </a:rPr>
                  <a:t>V</a:t>
                </a:r>
                <a:r>
                  <a:rPr lang="en-US" i="1" baseline="-25000">
                    <a:solidFill>
                      <a:schemeClr val="bg1"/>
                    </a:solidFill>
                    <a:latin typeface="Times New Roman" pitchFamily="18" charset="0"/>
                  </a:rPr>
                  <a:t>a</a:t>
                </a:r>
                <a:endParaRPr lang="pt-BR" i="1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2" name="Text Box 19">
                <a:extLst>
                  <a:ext uri="{FF2B5EF4-FFF2-40B4-BE49-F238E27FC236}">
                    <a16:creationId xmlns:a16="http://schemas.microsoft.com/office/drawing/2014/main" id="{2B8965B5-A0C7-1A5C-79B4-13299117CB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03" y="1023"/>
                <a:ext cx="39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i="1">
                    <a:solidFill>
                      <a:schemeClr val="bg1"/>
                    </a:solidFill>
                    <a:latin typeface="Times New Roman" pitchFamily="18" charset="0"/>
                  </a:rPr>
                  <a:t>V</a:t>
                </a:r>
                <a:r>
                  <a:rPr lang="en-US" i="1" baseline="-25000">
                    <a:solidFill>
                      <a:schemeClr val="bg1"/>
                    </a:solidFill>
                    <a:latin typeface="Times New Roman" pitchFamily="18" charset="0"/>
                  </a:rPr>
                  <a:t>max</a:t>
                </a:r>
                <a:endParaRPr lang="pt-BR" i="1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3" name="Text Box 20">
                <a:extLst>
                  <a:ext uri="{FF2B5EF4-FFF2-40B4-BE49-F238E27FC236}">
                    <a16:creationId xmlns:a16="http://schemas.microsoft.com/office/drawing/2014/main" id="{5B675EB6-C509-91D5-8271-C04FAC64FE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1" y="2019"/>
                <a:ext cx="74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dirty="0" err="1">
                    <a:solidFill>
                      <a:schemeClr val="bg1"/>
                    </a:solidFill>
                  </a:rPr>
                  <a:t>Entrada</a:t>
                </a:r>
                <a:r>
                  <a:rPr lang="en-US" dirty="0">
                    <a:solidFill>
                      <a:schemeClr val="bg1"/>
                    </a:solidFill>
                  </a:rPr>
                  <a:t>, </a:t>
                </a:r>
                <a:r>
                  <a:rPr lang="en-US" i="1" dirty="0" err="1">
                    <a:solidFill>
                      <a:schemeClr val="bg1"/>
                    </a:solidFill>
                    <a:latin typeface="Times New Roman" pitchFamily="18" charset="0"/>
                  </a:rPr>
                  <a:t>v</a:t>
                </a:r>
                <a:r>
                  <a:rPr lang="en-US" i="1" baseline="-25000" dirty="0" err="1">
                    <a:solidFill>
                      <a:schemeClr val="bg1"/>
                    </a:solidFill>
                    <a:latin typeface="Times New Roman" pitchFamily="18" charset="0"/>
                  </a:rPr>
                  <a:t>e</a:t>
                </a:r>
                <a:endParaRPr lang="pt-BR" i="1" baseline="-25000" dirty="0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4" name="Text Box 21">
                <a:extLst>
                  <a:ext uri="{FF2B5EF4-FFF2-40B4-BE49-F238E27FC236}">
                    <a16:creationId xmlns:a16="http://schemas.microsoft.com/office/drawing/2014/main" id="{203D558E-C0BC-3C08-D511-32160F7BA9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5" y="523"/>
                <a:ext cx="63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>
                    <a:solidFill>
                      <a:schemeClr val="bg1"/>
                    </a:solidFill>
                  </a:rPr>
                  <a:t>Saída, </a:t>
                </a:r>
                <a:r>
                  <a:rPr lang="en-US" i="1">
                    <a:solidFill>
                      <a:schemeClr val="bg1"/>
                    </a:solidFill>
                    <a:latin typeface="Times New Roman" pitchFamily="18" charset="0"/>
                  </a:rPr>
                  <a:t>v</a:t>
                </a:r>
                <a:r>
                  <a:rPr lang="en-US" i="1" baseline="-25000">
                    <a:solidFill>
                      <a:schemeClr val="bg1"/>
                    </a:solidFill>
                    <a:latin typeface="Times New Roman" pitchFamily="18" charset="0"/>
                  </a:rPr>
                  <a:t>s</a:t>
                </a:r>
                <a:endParaRPr lang="pt-BR" i="1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</p:grpSp>
      </p:grpSp>
      <p:grpSp>
        <p:nvGrpSpPr>
          <p:cNvPr id="25" name="Group 67">
            <a:extLst>
              <a:ext uri="{FF2B5EF4-FFF2-40B4-BE49-F238E27FC236}">
                <a16:creationId xmlns:a16="http://schemas.microsoft.com/office/drawing/2014/main" id="{3EF10255-C9AD-E95C-6308-BCBF12826A51}"/>
              </a:ext>
            </a:extLst>
          </p:cNvPr>
          <p:cNvGrpSpPr>
            <a:grpSpLocks/>
          </p:cNvGrpSpPr>
          <p:nvPr/>
        </p:nvGrpSpPr>
        <p:grpSpPr bwMode="auto">
          <a:xfrm>
            <a:off x="5776359" y="4404539"/>
            <a:ext cx="2743200" cy="2162175"/>
            <a:chOff x="2826" y="2520"/>
            <a:chExt cx="1728" cy="1362"/>
          </a:xfrm>
        </p:grpSpPr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B482D56A-4E47-DFD8-4A61-88B5E9F99F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86" y="2604"/>
              <a:ext cx="0" cy="12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Text Box 24">
              <a:extLst>
                <a:ext uri="{FF2B5EF4-FFF2-40B4-BE49-F238E27FC236}">
                  <a16:creationId xmlns:a16="http://schemas.microsoft.com/office/drawing/2014/main" id="{70A2820E-4164-F2D9-25CC-3CF0F6E671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3234"/>
              <a:ext cx="18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i="1">
                  <a:latin typeface="Times New Roman" pitchFamily="18" charset="0"/>
                </a:rPr>
                <a:t>t</a:t>
              </a:r>
              <a:endParaRPr lang="pt-BR" i="1">
                <a:latin typeface="Times New Roman" pitchFamily="18" charset="0"/>
              </a:endParaRPr>
            </a:p>
          </p:txBody>
        </p:sp>
        <p:sp>
          <p:nvSpPr>
            <p:cNvPr id="28" name="Text Box 25">
              <a:extLst>
                <a:ext uri="{FF2B5EF4-FFF2-40B4-BE49-F238E27FC236}">
                  <a16:creationId xmlns:a16="http://schemas.microsoft.com/office/drawing/2014/main" id="{B0DE066E-A50C-324E-ACA7-9C1BBD09D9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6" y="2520"/>
              <a:ext cx="39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i="1">
                  <a:latin typeface="Times New Roman" pitchFamily="18" charset="0"/>
                </a:rPr>
                <a:t>v</a:t>
              </a:r>
              <a:r>
                <a:rPr lang="en-US" i="1" baseline="-25000">
                  <a:latin typeface="Times New Roman" pitchFamily="18" charset="0"/>
                </a:rPr>
                <a:t>s</a:t>
              </a:r>
              <a:r>
                <a:rPr lang="en-US">
                  <a:latin typeface="Times New Roman" pitchFamily="18" charset="0"/>
                </a:rPr>
                <a:t>(</a:t>
              </a:r>
              <a:r>
                <a:rPr lang="en-US" i="1">
                  <a:latin typeface="Times New Roman" pitchFamily="18" charset="0"/>
                </a:rPr>
                <a:t>t</a:t>
              </a:r>
              <a:r>
                <a:rPr lang="en-US" i="1" baseline="-25000">
                  <a:latin typeface="Times New Roman" pitchFamily="18" charset="0"/>
                </a:rPr>
                <a:t> </a:t>
              </a:r>
              <a:r>
                <a:rPr lang="en-US">
                  <a:latin typeface="Times New Roman" pitchFamily="18" charset="0"/>
                </a:rPr>
                <a:t>)</a:t>
              </a:r>
              <a:endParaRPr lang="pt-BR">
                <a:latin typeface="Times New Roman" pitchFamily="18" charset="0"/>
              </a:endParaRPr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5EA5C338-10DD-0FA5-A0E3-97365B3594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6" y="2920"/>
              <a:ext cx="11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E29D8AA9-1E70-34DB-1DD8-A5479F8E5B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6" y="3755"/>
              <a:ext cx="11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DE1EEE16-9037-5E87-D085-CEFB5B9060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2" y="3337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grpSp>
          <p:nvGrpSpPr>
            <p:cNvPr id="32" name="Group 29">
              <a:extLst>
                <a:ext uri="{FF2B5EF4-FFF2-40B4-BE49-F238E27FC236}">
                  <a16:creationId xmlns:a16="http://schemas.microsoft.com/office/drawing/2014/main" id="{3493D9DE-5524-2DAE-68A2-1DCEF38A4D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3" y="2831"/>
              <a:ext cx="1053" cy="1013"/>
              <a:chOff x="2860" y="2674"/>
              <a:chExt cx="1053" cy="676"/>
            </a:xfrm>
          </p:grpSpPr>
          <p:sp>
            <p:nvSpPr>
              <p:cNvPr id="35" name="Freeform 30">
                <a:extLst>
                  <a:ext uri="{FF2B5EF4-FFF2-40B4-BE49-F238E27FC236}">
                    <a16:creationId xmlns:a16="http://schemas.microsoft.com/office/drawing/2014/main" id="{8C1BF524-6D7C-1B24-1576-FDBB319F94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1" y="2721"/>
                <a:ext cx="42" cy="288"/>
              </a:xfrm>
              <a:custGeom>
                <a:avLst/>
                <a:gdLst/>
                <a:ahLst/>
                <a:cxnLst>
                  <a:cxn ang="0">
                    <a:pos x="0" y="321"/>
                  </a:cxn>
                  <a:cxn ang="0">
                    <a:pos x="12" y="222"/>
                  </a:cxn>
                  <a:cxn ang="0">
                    <a:pos x="27" y="99"/>
                  </a:cxn>
                  <a:cxn ang="0">
                    <a:pos x="42" y="0"/>
                  </a:cxn>
                </a:cxnLst>
                <a:rect l="0" t="0" r="r" b="b"/>
                <a:pathLst>
                  <a:path w="42" h="321">
                    <a:moveTo>
                      <a:pt x="0" y="321"/>
                    </a:moveTo>
                    <a:lnTo>
                      <a:pt x="12" y="222"/>
                    </a:lnTo>
                    <a:lnTo>
                      <a:pt x="27" y="99"/>
                    </a:lnTo>
                    <a:lnTo>
                      <a:pt x="42" y="0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" name="Freeform 31">
                <a:extLst>
                  <a:ext uri="{FF2B5EF4-FFF2-40B4-BE49-F238E27FC236}">
                    <a16:creationId xmlns:a16="http://schemas.microsoft.com/office/drawing/2014/main" id="{27E32012-021D-B01D-FBE9-F77EED714E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60" y="2674"/>
                <a:ext cx="253" cy="337"/>
              </a:xfrm>
              <a:custGeom>
                <a:avLst/>
                <a:gdLst/>
                <a:ahLst/>
                <a:cxnLst>
                  <a:cxn ang="0">
                    <a:pos x="0" y="337"/>
                  </a:cxn>
                  <a:cxn ang="0">
                    <a:pos x="30" y="101"/>
                  </a:cxn>
                  <a:cxn ang="0">
                    <a:pos x="43" y="36"/>
                  </a:cxn>
                  <a:cxn ang="0">
                    <a:pos x="81" y="5"/>
                  </a:cxn>
                  <a:cxn ang="0">
                    <a:pos x="167" y="5"/>
                  </a:cxn>
                  <a:cxn ang="0">
                    <a:pos x="205" y="37"/>
                  </a:cxn>
                  <a:cxn ang="0">
                    <a:pos x="218" y="100"/>
                  </a:cxn>
                  <a:cxn ang="0">
                    <a:pos x="253" y="337"/>
                  </a:cxn>
                </a:cxnLst>
                <a:rect l="0" t="0" r="r" b="b"/>
                <a:pathLst>
                  <a:path w="253" h="337">
                    <a:moveTo>
                      <a:pt x="0" y="337"/>
                    </a:moveTo>
                    <a:cubicBezTo>
                      <a:pt x="12" y="244"/>
                      <a:pt x="23" y="151"/>
                      <a:pt x="30" y="101"/>
                    </a:cubicBezTo>
                    <a:cubicBezTo>
                      <a:pt x="37" y="51"/>
                      <a:pt x="35" y="52"/>
                      <a:pt x="43" y="36"/>
                    </a:cubicBezTo>
                    <a:cubicBezTo>
                      <a:pt x="51" y="20"/>
                      <a:pt x="60" y="10"/>
                      <a:pt x="81" y="5"/>
                    </a:cubicBezTo>
                    <a:cubicBezTo>
                      <a:pt x="102" y="0"/>
                      <a:pt x="146" y="0"/>
                      <a:pt x="167" y="5"/>
                    </a:cubicBezTo>
                    <a:cubicBezTo>
                      <a:pt x="188" y="10"/>
                      <a:pt x="197" y="21"/>
                      <a:pt x="205" y="37"/>
                    </a:cubicBezTo>
                    <a:cubicBezTo>
                      <a:pt x="213" y="53"/>
                      <a:pt x="210" y="50"/>
                      <a:pt x="218" y="100"/>
                    </a:cubicBezTo>
                    <a:cubicBezTo>
                      <a:pt x="226" y="150"/>
                      <a:pt x="239" y="243"/>
                      <a:pt x="253" y="337"/>
                    </a:cubicBez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7" name="Freeform 32">
                <a:extLst>
                  <a:ext uri="{FF2B5EF4-FFF2-40B4-BE49-F238E27FC236}">
                    <a16:creationId xmlns:a16="http://schemas.microsoft.com/office/drawing/2014/main" id="{2A5B0EC0-4CDA-4B83-FA5D-1EEC83FF8F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14" y="3009"/>
                <a:ext cx="253" cy="33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2" y="239"/>
                  </a:cxn>
                  <a:cxn ang="0">
                    <a:pos x="43" y="301"/>
                  </a:cxn>
                  <a:cxn ang="0">
                    <a:pos x="81" y="332"/>
                  </a:cxn>
                  <a:cxn ang="0">
                    <a:pos x="167" y="332"/>
                  </a:cxn>
                  <a:cxn ang="0">
                    <a:pos x="205" y="300"/>
                  </a:cxn>
                  <a:cxn ang="0">
                    <a:pos x="218" y="237"/>
                  </a:cxn>
                  <a:cxn ang="0">
                    <a:pos x="253" y="0"/>
                  </a:cxn>
                </a:cxnLst>
                <a:rect l="0" t="0" r="r" b="b"/>
                <a:pathLst>
                  <a:path w="253" h="337">
                    <a:moveTo>
                      <a:pt x="0" y="0"/>
                    </a:moveTo>
                    <a:cubicBezTo>
                      <a:pt x="4" y="40"/>
                      <a:pt x="15" y="189"/>
                      <a:pt x="22" y="239"/>
                    </a:cubicBezTo>
                    <a:cubicBezTo>
                      <a:pt x="29" y="289"/>
                      <a:pt x="33" y="285"/>
                      <a:pt x="43" y="301"/>
                    </a:cubicBezTo>
                    <a:cubicBezTo>
                      <a:pt x="53" y="317"/>
                      <a:pt x="60" y="327"/>
                      <a:pt x="81" y="332"/>
                    </a:cubicBezTo>
                    <a:cubicBezTo>
                      <a:pt x="102" y="337"/>
                      <a:pt x="146" y="337"/>
                      <a:pt x="167" y="332"/>
                    </a:cubicBezTo>
                    <a:cubicBezTo>
                      <a:pt x="188" y="327"/>
                      <a:pt x="197" y="316"/>
                      <a:pt x="205" y="300"/>
                    </a:cubicBezTo>
                    <a:cubicBezTo>
                      <a:pt x="213" y="284"/>
                      <a:pt x="210" y="287"/>
                      <a:pt x="218" y="237"/>
                    </a:cubicBezTo>
                    <a:cubicBezTo>
                      <a:pt x="226" y="187"/>
                      <a:pt x="239" y="94"/>
                      <a:pt x="253" y="0"/>
                    </a:cubicBez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" name="Freeform 33">
                <a:extLst>
                  <a:ext uri="{FF2B5EF4-FFF2-40B4-BE49-F238E27FC236}">
                    <a16:creationId xmlns:a16="http://schemas.microsoft.com/office/drawing/2014/main" id="{0ADAD40B-777B-A8BD-9415-C8C19E0039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364" y="2678"/>
                <a:ext cx="253" cy="337"/>
              </a:xfrm>
              <a:custGeom>
                <a:avLst/>
                <a:gdLst/>
                <a:ahLst/>
                <a:cxnLst>
                  <a:cxn ang="0">
                    <a:pos x="0" y="337"/>
                  </a:cxn>
                  <a:cxn ang="0">
                    <a:pos x="30" y="101"/>
                  </a:cxn>
                  <a:cxn ang="0">
                    <a:pos x="43" y="36"/>
                  </a:cxn>
                  <a:cxn ang="0">
                    <a:pos x="81" y="5"/>
                  </a:cxn>
                  <a:cxn ang="0">
                    <a:pos x="167" y="5"/>
                  </a:cxn>
                  <a:cxn ang="0">
                    <a:pos x="205" y="37"/>
                  </a:cxn>
                  <a:cxn ang="0">
                    <a:pos x="218" y="100"/>
                  </a:cxn>
                  <a:cxn ang="0">
                    <a:pos x="253" y="337"/>
                  </a:cxn>
                </a:cxnLst>
                <a:rect l="0" t="0" r="r" b="b"/>
                <a:pathLst>
                  <a:path w="253" h="337">
                    <a:moveTo>
                      <a:pt x="0" y="337"/>
                    </a:moveTo>
                    <a:cubicBezTo>
                      <a:pt x="12" y="244"/>
                      <a:pt x="23" y="151"/>
                      <a:pt x="30" y="101"/>
                    </a:cubicBezTo>
                    <a:cubicBezTo>
                      <a:pt x="37" y="51"/>
                      <a:pt x="35" y="52"/>
                      <a:pt x="43" y="36"/>
                    </a:cubicBezTo>
                    <a:cubicBezTo>
                      <a:pt x="51" y="20"/>
                      <a:pt x="60" y="10"/>
                      <a:pt x="81" y="5"/>
                    </a:cubicBezTo>
                    <a:cubicBezTo>
                      <a:pt x="102" y="0"/>
                      <a:pt x="146" y="0"/>
                      <a:pt x="167" y="5"/>
                    </a:cubicBezTo>
                    <a:cubicBezTo>
                      <a:pt x="188" y="10"/>
                      <a:pt x="197" y="21"/>
                      <a:pt x="205" y="37"/>
                    </a:cubicBezTo>
                    <a:cubicBezTo>
                      <a:pt x="213" y="53"/>
                      <a:pt x="210" y="50"/>
                      <a:pt x="218" y="100"/>
                    </a:cubicBezTo>
                    <a:cubicBezTo>
                      <a:pt x="226" y="150"/>
                      <a:pt x="239" y="243"/>
                      <a:pt x="253" y="337"/>
                    </a:cubicBez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" name="Freeform 34">
                <a:extLst>
                  <a:ext uri="{FF2B5EF4-FFF2-40B4-BE49-F238E27FC236}">
                    <a16:creationId xmlns:a16="http://schemas.microsoft.com/office/drawing/2014/main" id="{80DF80C0-9D10-4CCA-B7F5-15D3A98901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618" y="3013"/>
                <a:ext cx="253" cy="33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6" y="239"/>
                  </a:cxn>
                  <a:cxn ang="0">
                    <a:pos x="43" y="301"/>
                  </a:cxn>
                  <a:cxn ang="0">
                    <a:pos x="81" y="332"/>
                  </a:cxn>
                  <a:cxn ang="0">
                    <a:pos x="167" y="332"/>
                  </a:cxn>
                  <a:cxn ang="0">
                    <a:pos x="205" y="300"/>
                  </a:cxn>
                  <a:cxn ang="0">
                    <a:pos x="218" y="237"/>
                  </a:cxn>
                  <a:cxn ang="0">
                    <a:pos x="253" y="0"/>
                  </a:cxn>
                </a:cxnLst>
                <a:rect l="0" t="0" r="r" b="b"/>
                <a:pathLst>
                  <a:path w="253" h="337">
                    <a:moveTo>
                      <a:pt x="0" y="0"/>
                    </a:moveTo>
                    <a:cubicBezTo>
                      <a:pt x="4" y="40"/>
                      <a:pt x="19" y="189"/>
                      <a:pt x="26" y="239"/>
                    </a:cubicBezTo>
                    <a:cubicBezTo>
                      <a:pt x="33" y="289"/>
                      <a:pt x="34" y="285"/>
                      <a:pt x="43" y="301"/>
                    </a:cubicBezTo>
                    <a:cubicBezTo>
                      <a:pt x="52" y="317"/>
                      <a:pt x="60" y="327"/>
                      <a:pt x="81" y="332"/>
                    </a:cubicBezTo>
                    <a:cubicBezTo>
                      <a:pt x="102" y="337"/>
                      <a:pt x="146" y="337"/>
                      <a:pt x="167" y="332"/>
                    </a:cubicBezTo>
                    <a:cubicBezTo>
                      <a:pt x="188" y="327"/>
                      <a:pt x="197" y="316"/>
                      <a:pt x="205" y="300"/>
                    </a:cubicBezTo>
                    <a:cubicBezTo>
                      <a:pt x="213" y="284"/>
                      <a:pt x="210" y="287"/>
                      <a:pt x="218" y="237"/>
                    </a:cubicBezTo>
                    <a:cubicBezTo>
                      <a:pt x="226" y="187"/>
                      <a:pt x="239" y="94"/>
                      <a:pt x="253" y="0"/>
                    </a:cubicBez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33" name="Text Box 35">
              <a:extLst>
                <a:ext uri="{FF2B5EF4-FFF2-40B4-BE49-F238E27FC236}">
                  <a16:creationId xmlns:a16="http://schemas.microsoft.com/office/drawing/2014/main" id="{D644F7F9-EC07-19E3-92AF-F4D981432C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8" y="2810"/>
              <a:ext cx="28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i="1">
                  <a:latin typeface="Times New Roman" pitchFamily="18" charset="0"/>
                </a:rPr>
                <a:t>V</a:t>
              </a:r>
              <a:r>
                <a:rPr lang="en-US" i="1" baseline="-25000">
                  <a:latin typeface="Times New Roman" pitchFamily="18" charset="0"/>
                </a:rPr>
                <a:t>a</a:t>
              </a:r>
              <a:endParaRPr lang="pt-BR" i="1">
                <a:latin typeface="Times New Roman" pitchFamily="18" charset="0"/>
              </a:endParaRPr>
            </a:p>
          </p:txBody>
        </p:sp>
        <p:sp>
          <p:nvSpPr>
            <p:cNvPr id="34" name="Text Box 36">
              <a:extLst>
                <a:ext uri="{FF2B5EF4-FFF2-40B4-BE49-F238E27FC236}">
                  <a16:creationId xmlns:a16="http://schemas.microsoft.com/office/drawing/2014/main" id="{E5C257A4-620D-FCC8-D078-0C80490A55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4" y="3642"/>
              <a:ext cx="35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>
                  <a:latin typeface="Times New Roman" pitchFamily="18" charset="0"/>
                </a:rPr>
                <a:t>-</a:t>
              </a:r>
              <a:r>
                <a:rPr lang="en-US" i="1">
                  <a:latin typeface="Times New Roman" pitchFamily="18" charset="0"/>
                </a:rPr>
                <a:t>V</a:t>
              </a:r>
              <a:r>
                <a:rPr lang="en-US" i="1" baseline="-25000">
                  <a:latin typeface="Times New Roman" pitchFamily="18" charset="0"/>
                </a:rPr>
                <a:t>a</a:t>
              </a:r>
              <a:endParaRPr lang="pt-BR" i="1">
                <a:latin typeface="Times New Roman" pitchFamily="18" charset="0"/>
              </a:endParaRPr>
            </a:p>
          </p:txBody>
        </p:sp>
      </p:grpSp>
      <p:grpSp>
        <p:nvGrpSpPr>
          <p:cNvPr id="40" name="Group 66">
            <a:extLst>
              <a:ext uri="{FF2B5EF4-FFF2-40B4-BE49-F238E27FC236}">
                <a16:creationId xmlns:a16="http://schemas.microsoft.com/office/drawing/2014/main" id="{E6A1F7C3-70E8-2ADF-F87E-769B475C9BB8}"/>
              </a:ext>
            </a:extLst>
          </p:cNvPr>
          <p:cNvGrpSpPr>
            <a:grpSpLocks/>
          </p:cNvGrpSpPr>
          <p:nvPr/>
        </p:nvGrpSpPr>
        <p:grpSpPr bwMode="auto">
          <a:xfrm>
            <a:off x="1323422" y="4409302"/>
            <a:ext cx="4468812" cy="2185987"/>
            <a:chOff x="21" y="2523"/>
            <a:chExt cx="2815" cy="1377"/>
          </a:xfrm>
        </p:grpSpPr>
        <p:grpSp>
          <p:nvGrpSpPr>
            <p:cNvPr id="41" name="Group 65">
              <a:extLst>
                <a:ext uri="{FF2B5EF4-FFF2-40B4-BE49-F238E27FC236}">
                  <a16:creationId xmlns:a16="http://schemas.microsoft.com/office/drawing/2014/main" id="{50A1D377-C46D-32C3-DB00-1385C96D25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" y="2523"/>
              <a:ext cx="1728" cy="1377"/>
              <a:chOff x="21" y="2523"/>
              <a:chExt cx="1728" cy="1377"/>
            </a:xfrm>
          </p:grpSpPr>
          <p:sp>
            <p:nvSpPr>
              <p:cNvPr id="46" name="Line 39">
                <a:extLst>
                  <a:ext uri="{FF2B5EF4-FFF2-40B4-BE49-F238E27FC236}">
                    <a16:creationId xmlns:a16="http://schemas.microsoft.com/office/drawing/2014/main" id="{19DEA0AF-806F-7B43-8554-AF287B78B4E8}"/>
                  </a:ext>
                </a:extLst>
              </p:cNvPr>
              <p:cNvSpPr>
                <a:spLocks noChangeShapeType="1"/>
              </p:cNvSpPr>
              <p:nvPr/>
            </p:nvSpPr>
            <p:spPr bwMode="blackWhite">
              <a:xfrm flipV="1">
                <a:off x="381" y="2589"/>
                <a:ext cx="0" cy="127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med" len="lg"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" name="Text Box 40">
                <a:extLst>
                  <a:ext uri="{FF2B5EF4-FFF2-40B4-BE49-F238E27FC236}">
                    <a16:creationId xmlns:a16="http://schemas.microsoft.com/office/drawing/2014/main" id="{39A11AD8-DF9C-4CCF-A6CF-C0D14C3AB19A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White">
              <a:xfrm>
                <a:off x="1563" y="3219"/>
                <a:ext cx="18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i="1">
                    <a:latin typeface="Times New Roman" pitchFamily="18" charset="0"/>
                  </a:rPr>
                  <a:t>t</a:t>
                </a:r>
                <a:endParaRPr lang="pt-BR" i="1">
                  <a:latin typeface="Times New Roman" pitchFamily="18" charset="0"/>
                </a:endParaRPr>
              </a:p>
            </p:txBody>
          </p:sp>
          <p:sp>
            <p:nvSpPr>
              <p:cNvPr id="48" name="Text Box 41">
                <a:extLst>
                  <a:ext uri="{FF2B5EF4-FFF2-40B4-BE49-F238E27FC236}">
                    <a16:creationId xmlns:a16="http://schemas.microsoft.com/office/drawing/2014/main" id="{63090842-C6F1-9397-6D94-0D774ECE369D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White">
              <a:xfrm>
                <a:off x="21" y="2523"/>
                <a:ext cx="39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i="1">
                    <a:latin typeface="Times New Roman" pitchFamily="18" charset="0"/>
                  </a:rPr>
                  <a:t>v</a:t>
                </a:r>
                <a:r>
                  <a:rPr lang="en-US" i="1" baseline="-25000">
                    <a:latin typeface="Times New Roman" pitchFamily="18" charset="0"/>
                  </a:rPr>
                  <a:t>e</a:t>
                </a:r>
                <a:r>
                  <a:rPr lang="en-US">
                    <a:latin typeface="Times New Roman" pitchFamily="18" charset="0"/>
                  </a:rPr>
                  <a:t>(</a:t>
                </a:r>
                <a:r>
                  <a:rPr lang="en-US" i="1">
                    <a:latin typeface="Times New Roman" pitchFamily="18" charset="0"/>
                  </a:rPr>
                  <a:t>t</a:t>
                </a:r>
                <a:r>
                  <a:rPr lang="en-US" i="1" baseline="-25000">
                    <a:latin typeface="Times New Roman" pitchFamily="18" charset="0"/>
                  </a:rPr>
                  <a:t> </a:t>
                </a:r>
                <a:r>
                  <a:rPr lang="en-US">
                    <a:latin typeface="Times New Roman" pitchFamily="18" charset="0"/>
                  </a:rPr>
                  <a:t>)</a:t>
                </a:r>
                <a:endParaRPr lang="pt-BR">
                  <a:latin typeface="Times New Roman" pitchFamily="18" charset="0"/>
                </a:endParaRPr>
              </a:p>
            </p:txBody>
          </p:sp>
          <p:sp>
            <p:nvSpPr>
              <p:cNvPr id="49" name="Line 42">
                <a:extLst>
                  <a:ext uri="{FF2B5EF4-FFF2-40B4-BE49-F238E27FC236}">
                    <a16:creationId xmlns:a16="http://schemas.microsoft.com/office/drawing/2014/main" id="{02FD6DAA-F01A-F9D3-DD77-11090F809B40}"/>
                  </a:ext>
                </a:extLst>
              </p:cNvPr>
              <p:cNvSpPr>
                <a:spLocks noChangeShapeType="1"/>
              </p:cNvSpPr>
              <p:nvPr/>
            </p:nvSpPr>
            <p:spPr bwMode="blackWhite">
              <a:xfrm>
                <a:off x="381" y="2997"/>
                <a:ext cx="1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none" w="med" len="lg"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50" name="Group 43">
                <a:extLst>
                  <a:ext uri="{FF2B5EF4-FFF2-40B4-BE49-F238E27FC236}">
                    <a16:creationId xmlns:a16="http://schemas.microsoft.com/office/drawing/2014/main" id="{F98D7A76-D69A-43F9-54A3-EBDFCCFC6B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3" y="2746"/>
                <a:ext cx="1033" cy="1154"/>
                <a:chOff x="248" y="2027"/>
                <a:chExt cx="1033" cy="962"/>
              </a:xfrm>
            </p:grpSpPr>
            <p:grpSp>
              <p:nvGrpSpPr>
                <p:cNvPr id="55" name="Group 44">
                  <a:extLst>
                    <a:ext uri="{FF2B5EF4-FFF2-40B4-BE49-F238E27FC236}">
                      <a16:creationId xmlns:a16="http://schemas.microsoft.com/office/drawing/2014/main" id="{F0F8DCFF-3A46-3D4D-9EF0-67E19177535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48" y="2027"/>
                  <a:ext cx="995" cy="962"/>
                  <a:chOff x="200" y="1931"/>
                  <a:chExt cx="1989" cy="1923"/>
                </a:xfrm>
              </p:grpSpPr>
              <p:grpSp>
                <p:nvGrpSpPr>
                  <p:cNvPr id="57" name="Group 45">
                    <a:extLst>
                      <a:ext uri="{FF2B5EF4-FFF2-40B4-BE49-F238E27FC236}">
                        <a16:creationId xmlns:a16="http://schemas.microsoft.com/office/drawing/2014/main" id="{E6E95E2C-122A-CAF6-E2F8-BE1E7BB38F0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200" y="1931"/>
                    <a:ext cx="993" cy="1917"/>
                    <a:chOff x="1550" y="1907"/>
                    <a:chExt cx="993" cy="1917"/>
                  </a:xfrm>
                </p:grpSpPr>
                <p:sp>
                  <p:nvSpPr>
                    <p:cNvPr id="61" name="Freeform 46">
                      <a:extLst>
                        <a:ext uri="{FF2B5EF4-FFF2-40B4-BE49-F238E27FC236}">
                          <a16:creationId xmlns:a16="http://schemas.microsoft.com/office/drawing/2014/main" id="{DFE95EFA-6360-1B7A-E813-23AC8C64F53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blackWhite">
                    <a:xfrm>
                      <a:off x="1550" y="1907"/>
                      <a:ext cx="495" cy="963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321"/>
                        </a:cxn>
                        <a:cxn ang="0">
                          <a:pos x="46" y="46"/>
                        </a:cxn>
                        <a:cxn ang="0">
                          <a:pos x="118" y="46"/>
                        </a:cxn>
                        <a:cxn ang="0">
                          <a:pos x="165" y="319"/>
                        </a:cxn>
                      </a:cxnLst>
                      <a:rect l="0" t="0" r="r" b="b"/>
                      <a:pathLst>
                        <a:path w="165" h="321">
                          <a:moveTo>
                            <a:pt x="0" y="321"/>
                          </a:moveTo>
                          <a:cubicBezTo>
                            <a:pt x="13" y="206"/>
                            <a:pt x="26" y="92"/>
                            <a:pt x="46" y="46"/>
                          </a:cubicBezTo>
                          <a:cubicBezTo>
                            <a:pt x="66" y="0"/>
                            <a:pt x="98" y="0"/>
                            <a:pt x="118" y="46"/>
                          </a:cubicBezTo>
                          <a:cubicBezTo>
                            <a:pt x="138" y="92"/>
                            <a:pt x="158" y="274"/>
                            <a:pt x="165" y="319"/>
                          </a:cubicBezTo>
                        </a:path>
                      </a:pathLst>
                    </a:custGeom>
                    <a:noFill/>
                    <a:ln w="38100" cmpd="sng">
                      <a:solidFill>
                        <a:srgbClr val="FF0000"/>
                      </a:solidFill>
                      <a:round/>
                      <a:headEnd/>
                      <a:tailEnd type="none" w="med" len="lg"/>
                    </a:ln>
                    <a:effectLst/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2" name="Freeform 47">
                      <a:extLst>
                        <a:ext uri="{FF2B5EF4-FFF2-40B4-BE49-F238E27FC236}">
                          <a16:creationId xmlns:a16="http://schemas.microsoft.com/office/drawing/2014/main" id="{8F31B223-0E1A-BACD-A6B1-5E2DD8D51E1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blackWhite">
                    <a:xfrm flipV="1">
                      <a:off x="2048" y="2861"/>
                      <a:ext cx="495" cy="963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321"/>
                        </a:cxn>
                        <a:cxn ang="0">
                          <a:pos x="46" y="46"/>
                        </a:cxn>
                        <a:cxn ang="0">
                          <a:pos x="118" y="46"/>
                        </a:cxn>
                        <a:cxn ang="0">
                          <a:pos x="165" y="319"/>
                        </a:cxn>
                      </a:cxnLst>
                      <a:rect l="0" t="0" r="r" b="b"/>
                      <a:pathLst>
                        <a:path w="165" h="321">
                          <a:moveTo>
                            <a:pt x="0" y="321"/>
                          </a:moveTo>
                          <a:cubicBezTo>
                            <a:pt x="13" y="206"/>
                            <a:pt x="26" y="92"/>
                            <a:pt x="46" y="46"/>
                          </a:cubicBezTo>
                          <a:cubicBezTo>
                            <a:pt x="66" y="0"/>
                            <a:pt x="98" y="0"/>
                            <a:pt x="118" y="46"/>
                          </a:cubicBezTo>
                          <a:cubicBezTo>
                            <a:pt x="138" y="92"/>
                            <a:pt x="158" y="274"/>
                            <a:pt x="165" y="319"/>
                          </a:cubicBezTo>
                        </a:path>
                      </a:pathLst>
                    </a:custGeom>
                    <a:noFill/>
                    <a:ln w="38100" cmpd="sng">
                      <a:solidFill>
                        <a:srgbClr val="FF0000"/>
                      </a:solidFill>
                      <a:round/>
                      <a:headEnd/>
                      <a:tailEnd type="none" w="med" len="lg"/>
                    </a:ln>
                    <a:effectLst/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</p:grpSp>
              <p:grpSp>
                <p:nvGrpSpPr>
                  <p:cNvPr id="58" name="Group 48">
                    <a:extLst>
                      <a:ext uri="{FF2B5EF4-FFF2-40B4-BE49-F238E27FC236}">
                        <a16:creationId xmlns:a16="http://schemas.microsoft.com/office/drawing/2014/main" id="{BBF422C0-BF8E-1D09-A441-0FBFD874830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196" y="1937"/>
                    <a:ext cx="993" cy="1917"/>
                    <a:chOff x="1550" y="1907"/>
                    <a:chExt cx="993" cy="1917"/>
                  </a:xfrm>
                </p:grpSpPr>
                <p:sp>
                  <p:nvSpPr>
                    <p:cNvPr id="59" name="Freeform 49">
                      <a:extLst>
                        <a:ext uri="{FF2B5EF4-FFF2-40B4-BE49-F238E27FC236}">
                          <a16:creationId xmlns:a16="http://schemas.microsoft.com/office/drawing/2014/main" id="{8E3E73D4-FDA2-AB5E-AD06-23BCBDAA661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blackWhite">
                    <a:xfrm>
                      <a:off x="1550" y="1907"/>
                      <a:ext cx="495" cy="963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321"/>
                        </a:cxn>
                        <a:cxn ang="0">
                          <a:pos x="46" y="46"/>
                        </a:cxn>
                        <a:cxn ang="0">
                          <a:pos x="118" y="46"/>
                        </a:cxn>
                        <a:cxn ang="0">
                          <a:pos x="165" y="319"/>
                        </a:cxn>
                      </a:cxnLst>
                      <a:rect l="0" t="0" r="r" b="b"/>
                      <a:pathLst>
                        <a:path w="165" h="321">
                          <a:moveTo>
                            <a:pt x="0" y="321"/>
                          </a:moveTo>
                          <a:cubicBezTo>
                            <a:pt x="13" y="206"/>
                            <a:pt x="26" y="92"/>
                            <a:pt x="46" y="46"/>
                          </a:cubicBezTo>
                          <a:cubicBezTo>
                            <a:pt x="66" y="0"/>
                            <a:pt x="98" y="0"/>
                            <a:pt x="118" y="46"/>
                          </a:cubicBezTo>
                          <a:cubicBezTo>
                            <a:pt x="138" y="92"/>
                            <a:pt x="158" y="274"/>
                            <a:pt x="165" y="319"/>
                          </a:cubicBezTo>
                        </a:path>
                      </a:pathLst>
                    </a:custGeom>
                    <a:noFill/>
                    <a:ln w="38100" cmpd="sng">
                      <a:solidFill>
                        <a:srgbClr val="FF0000"/>
                      </a:solidFill>
                      <a:round/>
                      <a:headEnd/>
                      <a:tailEnd type="none" w="med" len="lg"/>
                    </a:ln>
                    <a:effectLst/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0" name="Freeform 50">
                      <a:extLst>
                        <a:ext uri="{FF2B5EF4-FFF2-40B4-BE49-F238E27FC236}">
                          <a16:creationId xmlns:a16="http://schemas.microsoft.com/office/drawing/2014/main" id="{F3AEF333-3E28-5C67-E557-06A3955CB6A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blackWhite">
                    <a:xfrm flipV="1">
                      <a:off x="2048" y="2861"/>
                      <a:ext cx="495" cy="963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321"/>
                        </a:cxn>
                        <a:cxn ang="0">
                          <a:pos x="46" y="46"/>
                        </a:cxn>
                        <a:cxn ang="0">
                          <a:pos x="118" y="46"/>
                        </a:cxn>
                        <a:cxn ang="0">
                          <a:pos x="165" y="319"/>
                        </a:cxn>
                      </a:cxnLst>
                      <a:rect l="0" t="0" r="r" b="b"/>
                      <a:pathLst>
                        <a:path w="165" h="321">
                          <a:moveTo>
                            <a:pt x="0" y="321"/>
                          </a:moveTo>
                          <a:cubicBezTo>
                            <a:pt x="13" y="206"/>
                            <a:pt x="26" y="92"/>
                            <a:pt x="46" y="46"/>
                          </a:cubicBezTo>
                          <a:cubicBezTo>
                            <a:pt x="66" y="0"/>
                            <a:pt x="98" y="0"/>
                            <a:pt x="118" y="46"/>
                          </a:cubicBezTo>
                          <a:cubicBezTo>
                            <a:pt x="138" y="92"/>
                            <a:pt x="158" y="274"/>
                            <a:pt x="165" y="319"/>
                          </a:cubicBezTo>
                        </a:path>
                      </a:pathLst>
                    </a:custGeom>
                    <a:noFill/>
                    <a:ln w="38100" cmpd="sng">
                      <a:solidFill>
                        <a:srgbClr val="FF0000"/>
                      </a:solidFill>
                      <a:round/>
                      <a:headEnd/>
                      <a:tailEnd type="none" w="med" len="lg"/>
                    </a:ln>
                    <a:effectLst/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</p:grpSp>
            </p:grpSp>
            <p:sp>
              <p:nvSpPr>
                <p:cNvPr id="56" name="Freeform 51">
                  <a:extLst>
                    <a:ext uri="{FF2B5EF4-FFF2-40B4-BE49-F238E27FC236}">
                      <a16:creationId xmlns:a16="http://schemas.microsoft.com/office/drawing/2014/main" id="{53550606-E7F7-56AD-EB23-C69027E59D6E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1239" y="2247"/>
                  <a:ext cx="42" cy="288"/>
                </a:xfrm>
                <a:custGeom>
                  <a:avLst/>
                  <a:gdLst/>
                  <a:ahLst/>
                  <a:cxnLst>
                    <a:cxn ang="0">
                      <a:pos x="0" y="321"/>
                    </a:cxn>
                    <a:cxn ang="0">
                      <a:pos x="12" y="222"/>
                    </a:cxn>
                    <a:cxn ang="0">
                      <a:pos x="27" y="99"/>
                    </a:cxn>
                    <a:cxn ang="0">
                      <a:pos x="42" y="0"/>
                    </a:cxn>
                  </a:cxnLst>
                  <a:rect l="0" t="0" r="r" b="b"/>
                  <a:pathLst>
                    <a:path w="42" h="321">
                      <a:moveTo>
                        <a:pt x="0" y="321"/>
                      </a:moveTo>
                      <a:lnTo>
                        <a:pt x="12" y="222"/>
                      </a:lnTo>
                      <a:lnTo>
                        <a:pt x="27" y="99"/>
                      </a:lnTo>
                      <a:lnTo>
                        <a:pt x="42" y="0"/>
                      </a:lnTo>
                    </a:path>
                  </a:pathLst>
                </a:custGeom>
                <a:noFill/>
                <a:ln w="38100" cmpd="sng">
                  <a:solidFill>
                    <a:srgbClr val="FF0000"/>
                  </a:solidFill>
                  <a:round/>
                  <a:headEnd/>
                  <a:tailEnd type="none" w="med" len="lg"/>
                </a:ln>
                <a:effectLst/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51" name="Line 52">
                <a:extLst>
                  <a:ext uri="{FF2B5EF4-FFF2-40B4-BE49-F238E27FC236}">
                    <a16:creationId xmlns:a16="http://schemas.microsoft.com/office/drawing/2014/main" id="{83278D96-BB30-EB16-492E-3AD8D18500A0}"/>
                  </a:ext>
                </a:extLst>
              </p:cNvPr>
              <p:cNvSpPr>
                <a:spLocks noChangeShapeType="1"/>
              </p:cNvSpPr>
              <p:nvPr/>
            </p:nvSpPr>
            <p:spPr bwMode="blackWhite">
              <a:xfrm>
                <a:off x="381" y="3660"/>
                <a:ext cx="1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none" w="med" len="lg"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2" name="Line 53">
                <a:extLst>
                  <a:ext uri="{FF2B5EF4-FFF2-40B4-BE49-F238E27FC236}">
                    <a16:creationId xmlns:a16="http://schemas.microsoft.com/office/drawing/2014/main" id="{FAE7606E-794E-66EF-D23C-8D210C472AA3}"/>
                  </a:ext>
                </a:extLst>
              </p:cNvPr>
              <p:cNvSpPr>
                <a:spLocks noChangeShapeType="1"/>
              </p:cNvSpPr>
              <p:nvPr/>
            </p:nvSpPr>
            <p:spPr bwMode="blackWhite">
              <a:xfrm>
                <a:off x="327" y="3327"/>
                <a:ext cx="124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med" len="lg"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3" name="Text Box 54">
                <a:extLst>
                  <a:ext uri="{FF2B5EF4-FFF2-40B4-BE49-F238E27FC236}">
                    <a16:creationId xmlns:a16="http://schemas.microsoft.com/office/drawing/2014/main" id="{EF902F74-F667-B51E-AC5B-C0CC10A2F644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White">
              <a:xfrm>
                <a:off x="120" y="2879"/>
                <a:ext cx="28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i="1">
                    <a:latin typeface="Times New Roman" pitchFamily="18" charset="0"/>
                  </a:rPr>
                  <a:t>V</a:t>
                </a:r>
                <a:r>
                  <a:rPr lang="en-US" baseline="-25000">
                    <a:latin typeface="Times New Roman" pitchFamily="18" charset="0"/>
                  </a:rPr>
                  <a:t>1</a:t>
                </a:r>
                <a:endParaRPr lang="pt-BR">
                  <a:latin typeface="Times New Roman" pitchFamily="18" charset="0"/>
                </a:endParaRPr>
              </a:p>
            </p:txBody>
          </p:sp>
          <p:sp>
            <p:nvSpPr>
              <p:cNvPr id="54" name="Text Box 55">
                <a:extLst>
                  <a:ext uri="{FF2B5EF4-FFF2-40B4-BE49-F238E27FC236}">
                    <a16:creationId xmlns:a16="http://schemas.microsoft.com/office/drawing/2014/main" id="{95FF534D-C614-BD8A-0CC9-1B5D782A5F22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White">
              <a:xfrm>
                <a:off x="88" y="3543"/>
                <a:ext cx="31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>
                    <a:latin typeface="Times New Roman" pitchFamily="18" charset="0"/>
                  </a:rPr>
                  <a:t>-</a:t>
                </a:r>
                <a:r>
                  <a:rPr lang="en-US" i="1">
                    <a:latin typeface="Times New Roman" pitchFamily="18" charset="0"/>
                  </a:rPr>
                  <a:t>V</a:t>
                </a:r>
                <a:r>
                  <a:rPr lang="en-US" baseline="-25000">
                    <a:latin typeface="Times New Roman" pitchFamily="18" charset="0"/>
                  </a:rPr>
                  <a:t>1</a:t>
                </a:r>
                <a:endParaRPr lang="pt-BR">
                  <a:latin typeface="Times New Roman" pitchFamily="18" charset="0"/>
                </a:endParaRPr>
              </a:p>
            </p:txBody>
          </p:sp>
        </p:grpSp>
        <p:grpSp>
          <p:nvGrpSpPr>
            <p:cNvPr id="42" name="Group 56">
              <a:extLst>
                <a:ext uri="{FF2B5EF4-FFF2-40B4-BE49-F238E27FC236}">
                  <a16:creationId xmlns:a16="http://schemas.microsoft.com/office/drawing/2014/main" id="{FCA475F5-A4A2-B18C-B506-7CC6AC32DE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82" y="3012"/>
              <a:ext cx="954" cy="648"/>
              <a:chOff x="1765" y="3012"/>
              <a:chExt cx="954" cy="648"/>
            </a:xfrm>
          </p:grpSpPr>
          <p:sp>
            <p:nvSpPr>
              <p:cNvPr id="43" name="AutoShape 57">
                <a:extLst>
                  <a:ext uri="{FF2B5EF4-FFF2-40B4-BE49-F238E27FC236}">
                    <a16:creationId xmlns:a16="http://schemas.microsoft.com/office/drawing/2014/main" id="{14984DF6-F327-6D34-6F80-EB430637AF45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 rot="5400000">
                <a:off x="1919" y="3102"/>
                <a:ext cx="648" cy="467"/>
              </a:xfrm>
              <a:prstGeom prst="triangle">
                <a:avLst>
                  <a:gd name="adj" fmla="val 50000"/>
                </a:avLst>
              </a:prstGeom>
              <a:solidFill>
                <a:srgbClr val="CCFFFF"/>
              </a:solidFill>
              <a:ln w="28575">
                <a:solidFill>
                  <a:schemeClr val="accent2"/>
                </a:solidFill>
                <a:miter lim="800000"/>
                <a:headEnd/>
                <a:tailEnd/>
              </a:ln>
              <a:effectLst/>
            </p:spPr>
            <p:txBody>
              <a:bodyPr rot="10800000" vert="eaVert"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sz="2000">
                    <a:solidFill>
                      <a:schemeClr val="accent2"/>
                    </a:solidFill>
                  </a:rPr>
                  <a:t>ANL</a:t>
                </a:r>
                <a:endParaRPr lang="pt-BR" sz="20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4" name="Line 58">
                <a:extLst>
                  <a:ext uri="{FF2B5EF4-FFF2-40B4-BE49-F238E27FC236}">
                    <a16:creationId xmlns:a16="http://schemas.microsoft.com/office/drawing/2014/main" id="{3D755510-3F15-7560-FD0C-DA22261DCFD2}"/>
                  </a:ext>
                </a:extLst>
              </p:cNvPr>
              <p:cNvSpPr>
                <a:spLocks noChangeShapeType="1"/>
              </p:cNvSpPr>
              <p:nvPr/>
            </p:nvSpPr>
            <p:spPr bwMode="blackWhite">
              <a:xfrm>
                <a:off x="1765" y="3336"/>
                <a:ext cx="237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lg"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" name="Line 59">
                <a:extLst>
                  <a:ext uri="{FF2B5EF4-FFF2-40B4-BE49-F238E27FC236}">
                    <a16:creationId xmlns:a16="http://schemas.microsoft.com/office/drawing/2014/main" id="{600BBD50-2C54-E6D5-02BD-9E39EF17834E}"/>
                  </a:ext>
                </a:extLst>
              </p:cNvPr>
              <p:cNvSpPr>
                <a:spLocks noChangeShapeType="1"/>
              </p:cNvSpPr>
              <p:nvPr/>
            </p:nvSpPr>
            <p:spPr bwMode="blackWhite">
              <a:xfrm>
                <a:off x="2482" y="3336"/>
                <a:ext cx="237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lg"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</p:grpSp>
      </p:grpSp>
      <p:grpSp>
        <p:nvGrpSpPr>
          <p:cNvPr id="63" name="Group 68">
            <a:extLst>
              <a:ext uri="{FF2B5EF4-FFF2-40B4-BE49-F238E27FC236}">
                <a16:creationId xmlns:a16="http://schemas.microsoft.com/office/drawing/2014/main" id="{091FB6A6-1DBD-0E9E-50AF-0C753EB0E848}"/>
              </a:ext>
            </a:extLst>
          </p:cNvPr>
          <p:cNvGrpSpPr>
            <a:grpSpLocks/>
          </p:cNvGrpSpPr>
          <p:nvPr/>
        </p:nvGrpSpPr>
        <p:grpSpPr bwMode="auto">
          <a:xfrm>
            <a:off x="8500509" y="5185589"/>
            <a:ext cx="1900238" cy="1019175"/>
            <a:chOff x="4542" y="3012"/>
            <a:chExt cx="1197" cy="642"/>
          </a:xfrm>
        </p:grpSpPr>
        <p:sp>
          <p:nvSpPr>
            <p:cNvPr id="64" name="Text Box 61">
              <a:extLst>
                <a:ext uri="{FF2B5EF4-FFF2-40B4-BE49-F238E27FC236}">
                  <a16:creationId xmlns:a16="http://schemas.microsoft.com/office/drawing/2014/main" id="{1655AA7A-E145-4507-B1F3-BC4CE55F1F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0" y="3012"/>
              <a:ext cx="979" cy="5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dirty="0">
                  <a:solidFill>
                    <a:schemeClr val="accent2"/>
                  </a:solidFill>
                </a:rPr>
                <a:t>Fundamental</a:t>
              </a:r>
            </a:p>
            <a:p>
              <a:pPr>
                <a:spcBef>
                  <a:spcPct val="0"/>
                </a:spcBef>
              </a:pPr>
              <a:r>
                <a:rPr lang="en-US" dirty="0">
                  <a:solidFill>
                    <a:schemeClr val="accent2"/>
                  </a:solidFill>
                </a:rPr>
                <a:t>+</a:t>
              </a:r>
            </a:p>
            <a:p>
              <a:pPr>
                <a:spcBef>
                  <a:spcPct val="0"/>
                </a:spcBef>
              </a:pPr>
              <a:r>
                <a:rPr lang="en-US" dirty="0" err="1">
                  <a:solidFill>
                    <a:schemeClr val="accent2"/>
                  </a:solidFill>
                </a:rPr>
                <a:t>Harmônicos</a:t>
              </a:r>
              <a:endParaRPr lang="pt-BR" dirty="0">
                <a:solidFill>
                  <a:schemeClr val="accent2"/>
                </a:solidFill>
              </a:endParaRPr>
            </a:p>
          </p:txBody>
        </p:sp>
        <p:sp>
          <p:nvSpPr>
            <p:cNvPr id="65" name="Text Box 62">
              <a:extLst>
                <a:ext uri="{FF2B5EF4-FFF2-40B4-BE49-F238E27FC236}">
                  <a16:creationId xmlns:a16="http://schemas.microsoft.com/office/drawing/2014/main" id="{467AA50E-10AB-E40D-6D6F-B1E089D2F7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2" y="3190"/>
              <a:ext cx="23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pitchFamily="18" charset="0"/>
                </a:rPr>
                <a:t>=</a:t>
              </a:r>
              <a:endParaRPr lang="pt-BR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66" name="AutoShape 63">
              <a:extLst>
                <a:ext uri="{FF2B5EF4-FFF2-40B4-BE49-F238E27FC236}">
                  <a16:creationId xmlns:a16="http://schemas.microsoft.com/office/drawing/2014/main" id="{D5FE4118-C7EF-31E8-B8C2-9AAF11A937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5" y="3026"/>
              <a:ext cx="56" cy="622"/>
            </a:xfrm>
            <a:prstGeom prst="leftBracket">
              <a:avLst>
                <a:gd name="adj" fmla="val 92560"/>
              </a:avLst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67" name="AutoShape 64">
              <a:extLst>
                <a:ext uri="{FF2B5EF4-FFF2-40B4-BE49-F238E27FC236}">
                  <a16:creationId xmlns:a16="http://schemas.microsoft.com/office/drawing/2014/main" id="{C50A26AE-9BDE-EC7B-31F9-4E52B581C47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682" y="3032"/>
              <a:ext cx="56" cy="622"/>
            </a:xfrm>
            <a:prstGeom prst="leftBracket">
              <a:avLst>
                <a:gd name="adj" fmla="val 92560"/>
              </a:avLst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aixaDeTexto 67">
                <a:extLst>
                  <a:ext uri="{FF2B5EF4-FFF2-40B4-BE49-F238E27FC236}">
                    <a16:creationId xmlns:a16="http://schemas.microsoft.com/office/drawing/2014/main" id="{2AD02C8D-2678-6BA9-CE9C-E4829A4CF05E}"/>
                  </a:ext>
                </a:extLst>
              </p:cNvPr>
              <p:cNvSpPr txBox="1"/>
              <p:nvPr/>
            </p:nvSpPr>
            <p:spPr>
              <a:xfrm>
                <a:off x="7315200" y="2062716"/>
                <a:ext cx="376660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Procuramos trabalhar na região linear,</a:t>
                </a:r>
              </a:p>
              <a:p>
                <a:r>
                  <a:rPr lang="pt-BR" dirty="0"/>
                  <a:t>fazendo |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i="1">
                        <a:latin typeface="Cambria Math" panose="02040503050406030204" pitchFamily="18" charset="0"/>
                      </a:rPr>
                      <m:t>x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)|≤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68" name="CaixaDeTexto 67">
                <a:extLst>
                  <a:ext uri="{FF2B5EF4-FFF2-40B4-BE49-F238E27FC236}">
                    <a16:creationId xmlns:a16="http://schemas.microsoft.com/office/drawing/2014/main" id="{2AD02C8D-2678-6BA9-CE9C-E4829A4CF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2062716"/>
                <a:ext cx="3766609" cy="646331"/>
              </a:xfrm>
              <a:prstGeom prst="rect">
                <a:avLst/>
              </a:prstGeom>
              <a:blipFill>
                <a:blip r:embed="rId2"/>
                <a:stretch>
                  <a:fillRect l="-1294" t="-4717" r="-485" b="-141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0866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A55E9-E265-35E0-36D6-25FC17716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Máscara Espectral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772E45-369A-3CA0-7C52-CCDE8914D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4009"/>
            <a:ext cx="10515600" cy="4702880"/>
          </a:xfrm>
        </p:spPr>
        <p:txBody>
          <a:bodyPr/>
          <a:lstStyle/>
          <a:p>
            <a:r>
              <a:rPr lang="pt-BR" dirty="0"/>
              <a:t>Não existe circuito absolutamente linear</a:t>
            </a:r>
          </a:p>
          <a:p>
            <a:r>
              <a:rPr lang="pt-BR" dirty="0"/>
              <a:t>Sistemas costumam definir limites para harmônicos e intermodulação</a:t>
            </a:r>
          </a:p>
          <a:p>
            <a:r>
              <a:rPr lang="pt-BR" dirty="0"/>
              <a:t>Ex. Máscara Espectral do Wi-Fi (IEEE 802.11ª)</a:t>
            </a:r>
          </a:p>
          <a:p>
            <a:endParaRPr lang="pt-BR" dirty="0"/>
          </a:p>
        </p:txBody>
      </p:sp>
      <p:pic>
        <p:nvPicPr>
          <p:cNvPr id="4" name="Imagem 3" descr="Resultado de imagem para máscara espectral">
            <a:extLst>
              <a:ext uri="{FF2B5EF4-FFF2-40B4-BE49-F238E27FC236}">
                <a16:creationId xmlns:a16="http://schemas.microsoft.com/office/drawing/2014/main" id="{EF88E0E8-D297-6370-B3DE-FBDE4A03B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019" y="3122133"/>
            <a:ext cx="4661962" cy="259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417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474DB5-197C-EB4A-9F6D-73C8F8FB2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Sistemas</a:t>
            </a:r>
            <a:br>
              <a:rPr lang="pt-BR" dirty="0"/>
            </a:br>
            <a:r>
              <a:rPr lang="pt-BR" dirty="0"/>
              <a:t>Engenharia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C36CBB-54D2-EEB1-B225-7E4990F65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Engenharia é a arte do possível</a:t>
            </a:r>
          </a:p>
          <a:p>
            <a:pPr marL="0" indent="0">
              <a:buNone/>
            </a:pPr>
            <a:r>
              <a:rPr lang="pt-BR" dirty="0"/>
              <a:t>Sistemas reais são</a:t>
            </a:r>
          </a:p>
          <a:p>
            <a:pPr lvl="1"/>
            <a:r>
              <a:rPr lang="pt-BR" sz="2800" dirty="0"/>
              <a:t>Causais</a:t>
            </a:r>
          </a:p>
          <a:p>
            <a:pPr lvl="1"/>
            <a:r>
              <a:rPr lang="pt-BR" sz="2800" dirty="0"/>
              <a:t>Aproximadamente lineares</a:t>
            </a:r>
          </a:p>
          <a:p>
            <a:pPr lvl="1"/>
            <a:r>
              <a:rPr lang="pt-BR" sz="2800" dirty="0"/>
              <a:t>Limitados em Banda (mas sinais são ilimitados)</a:t>
            </a:r>
          </a:p>
        </p:txBody>
      </p:sp>
    </p:spTree>
    <p:extLst>
      <p:ext uri="{BB962C8B-B14F-4D97-AF65-F5344CB8AC3E}">
        <p14:creationId xmlns:p14="http://schemas.microsoft.com/office/powerpoint/2010/main" val="2084677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cks Attorneys - Brazil - Presentation EN.potx  -  versão 2.0: 06/01/2022 11:04  -  Somente Leitura" id="{A6674CF9-3814-4F73-9FDA-DA843D583E93}" vid="{DB5BBEE7-B585-4951-AEB8-B408A647032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6BCB7353188E4C9571C1B2EA1322FC" ma:contentTypeVersion="35" ma:contentTypeDescription="Crie um novo documento." ma:contentTypeScope="" ma:versionID="92c51d0239284ad1c813a13c01a4fe40">
  <xsd:schema xmlns:xsd="http://www.w3.org/2001/XMLSchema" xmlns:xs="http://www.w3.org/2001/XMLSchema" xmlns:p="http://schemas.microsoft.com/office/2006/metadata/properties" xmlns:ns1="http://schemas.microsoft.com/sharepoint/v3" xmlns:ns2="95c025fe-a600-4cde-9b8b-77161b10ab73" xmlns:ns3="7338d0ee-48d0-42fd-8eee-cce9c16843bc" targetNamespace="http://schemas.microsoft.com/office/2006/metadata/properties" ma:root="true" ma:fieldsID="6edbb47d3ff2f476a00cc06bb1101404" ns1:_="" ns2:_="" ns3:_="">
    <xsd:import namespace="http://schemas.microsoft.com/sharepoint/v3"/>
    <xsd:import namespace="95c025fe-a600-4cde-9b8b-77161b10ab73"/>
    <xsd:import namespace="7338d0ee-48d0-42fd-8eee-cce9c16843bc"/>
    <xsd:element name="properties">
      <xsd:complexType>
        <xsd:sequence>
          <xsd:element name="documentManagement">
            <xsd:complexType>
              <xsd:all>
                <xsd:element ref="ns2:Country_x0020_1" minOccurs="0"/>
                <xsd:element ref="ns1:PublishingStartDate" minOccurs="0"/>
                <xsd:element ref="ns1:PublishingExpirationDate" minOccurs="0"/>
                <xsd:element ref="ns3:SharedWithUsers" minOccurs="0"/>
                <xsd:element ref="ns3:SharingHintHash" minOccurs="0"/>
                <xsd:element ref="ns3:SharedWithDetails" minOccurs="0"/>
                <xsd:element ref="ns3:LastSharedByUser" minOccurs="0"/>
                <xsd:element ref="ns3:LastSharedByTime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Agendamento de Data de Início" ma:description="Data de Início de Agendamento é uma coluna de site criada pelo recurso de Publicação. Ela é usada para especificar a data e hora em que essa página aparecerá pela primeira vez aos visitantes do site." ma:hidden="true" ma:internalName="PublishingStartDate" ma:readOnly="false">
      <xsd:simpleType>
        <xsd:restriction base="dms:Unknown"/>
      </xsd:simpleType>
    </xsd:element>
    <xsd:element name="PublishingExpirationDate" ma:index="9" nillable="true" ma:displayName="Agendamento de Data de Término" ma:description="Data Final de Agendamento é uma coluna de site criada pelo recurso de Publicação. Ela é usada para especificar a data e a hora em que essa página não será mais exibida aos visitantes do site." ma:hidden="true" ma:internalName="PublishingExpirationDate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c025fe-a600-4cde-9b8b-77161b10ab73" elementFormDefault="qualified">
    <xsd:import namespace="http://schemas.microsoft.com/office/2006/documentManagement/types"/>
    <xsd:import namespace="http://schemas.microsoft.com/office/infopath/2007/PartnerControls"/>
    <xsd:element name="Country_x0020_1" ma:index="2" nillable="true" ma:displayName="Country" ma:format="Dropdown" ma:internalName="Country_x0020_1" ma:readOnly="false">
      <xsd:simpleType>
        <xsd:restriction base="dms:Choice">
          <xsd:enumeration value="China"/>
          <xsd:enumeration value="France"/>
          <xsd:enumeration value="Germany"/>
          <xsd:enumeration value="Japan"/>
          <xsd:enumeration value="Netherlands"/>
          <xsd:enumeration value="UK"/>
          <xsd:enumeration value="USA"/>
        </xsd:restriction>
      </xsd:simpleType>
    </xsd:element>
    <xsd:element name="MediaServiceMetadata" ma:index="15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6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7" nillable="true" ma:displayName="MediaServiceAutoTags" ma:description="" ma:hidden="true" ma:internalName="MediaServiceAutoTags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MediaServiceLocation" ma:hidden="true" ma:internalName="MediaServiceLocation" ma:readOnly="true">
      <xsd:simpleType>
        <xsd:restriction base="dms:Text"/>
      </xsd:simpleType>
    </xsd:element>
    <xsd:element name="MediaServiceOCR" ma:index="20" nillable="true" ma:displayName="MediaServiceOCR" ma:hidden="true" ma:internalName="MediaServiceOCR" ma:readOnly="true">
      <xsd:simpleType>
        <xsd:restriction base="dms:Note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hidden="true" ma:internalName="MediaServiceKeyPoints" ma:readOnly="true">
      <xsd:simpleType>
        <xsd:restriction base="dms:Note"/>
      </xsd:simpleType>
    </xsd:element>
    <xsd:element name="MediaLengthInSeconds" ma:index="2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8" nillable="true" ma:taxonomy="true" ma:internalName="lcf76f155ced4ddcb4097134ff3c332f" ma:taxonomyFieldName="MediaServiceImageTags" ma:displayName="Marcações de imagem" ma:readOnly="false" ma:fieldId="{5cf76f15-5ced-4ddc-b409-7134ff3c332f}" ma:taxonomyMulti="true" ma:sspId="04e8a720-b6b8-4622-b52c-5ab72fdc0c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38d0ee-48d0-42fd-8eee-cce9c16843b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Hash de Dica de Compartilhamento" ma:hidden="true" ma:internalName="SharingHintHash" ma:readOnly="true">
      <xsd:simpleType>
        <xsd:restriction base="dms:Text"/>
      </xsd:simpleType>
    </xsd:element>
    <xsd:element name="SharedWithDetails" ma:index="12" nillable="true" ma:displayName="Detalhes de Compartilhado Com" ma:description="" ma:hidden="true" ma:internalName="SharedWithDetails" ma:readOnly="true">
      <xsd:simpleType>
        <xsd:restriction base="dms:Note"/>
      </xsd:simpleType>
    </xsd:element>
    <xsd:element name="LastSharedByUser" ma:index="13" nillable="true" ma:displayName="Último Compartilhamento Por Usuário" ma:description="" ma:hidden="true" ma:internalName="LastSharedByUser" ma:readOnly="true">
      <xsd:simpleType>
        <xsd:restriction base="dms:Note"/>
      </xsd:simpleType>
    </xsd:element>
    <xsd:element name="LastSharedByTime" ma:index="14" nillable="true" ma:displayName="Último Compartilhamento Por Tempo" ma:description="" ma:hidden="true" ma:internalName="LastSharedByTime" ma:readOnly="true">
      <xsd:simpleType>
        <xsd:restriction base="dms:DateTime"/>
      </xsd:simpleType>
    </xsd:element>
    <xsd:element name="TaxCatchAll" ma:index="29" nillable="true" ma:displayName="Taxonomy Catch All Column" ma:hidden="true" ma:list="{8971a6ca-946b-442e-a300-cc99d2254307}" ma:internalName="TaxCatchAll" ma:showField="CatchAllData" ma:web="7338d0ee-48d0-42fd-8eee-cce9c16843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Country_x0020_1 xmlns="95c025fe-a600-4cde-9b8b-77161b10ab73" xsi:nil="true"/>
    <TaxCatchAll xmlns="7338d0ee-48d0-42fd-8eee-cce9c16843bc" xsi:nil="true"/>
    <lcf76f155ced4ddcb4097134ff3c332f xmlns="95c025fe-a600-4cde-9b8b-77161b10ab7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2BDDB90-0A5B-4A8F-A01B-30AFB72EE556}">
  <ds:schemaRefs>
    <ds:schemaRef ds:uri="7338d0ee-48d0-42fd-8eee-cce9c16843bc"/>
    <ds:schemaRef ds:uri="95c025fe-a600-4cde-9b8b-77161b10ab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4FEC8D3-7B32-419B-A4A3-EBB3317EEE7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9FE441-B5D8-464E-B272-E5E9701C444C}">
  <ds:schemaRefs>
    <ds:schemaRef ds:uri="http://purl.org/dc/elements/1.1/"/>
    <ds:schemaRef ds:uri="http://purl.org/dc/dcmitype/"/>
    <ds:schemaRef ds:uri="http://schemas.microsoft.com/office/2006/documentManagement/types"/>
    <ds:schemaRef ds:uri="7338d0ee-48d0-42fd-8eee-cce9c16843bc"/>
    <ds:schemaRef ds:uri="http://schemas.microsoft.com/sharepoint/v3"/>
    <ds:schemaRef ds:uri="95c025fe-a600-4cde-9b8b-77161b10ab73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756163f3-60ab-41f6-93dc-6e1b6af775b3}" enabled="1" method="Privileged" siteId="{a5a01691-338c-4b57-812c-24d594995cd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Licks Attorneys - Brazil - Presentation EN</Template>
  <TotalTime>8771</TotalTime>
  <Words>1379</Words>
  <Application>Microsoft Office PowerPoint</Application>
  <PresentationFormat>Widescreen</PresentationFormat>
  <Paragraphs>369</Paragraphs>
  <Slides>32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3</vt:i4>
      </vt:variant>
      <vt:variant>
        <vt:lpstr>Títulos de slides</vt:lpstr>
      </vt:variant>
      <vt:variant>
        <vt:i4>32</vt:i4>
      </vt:variant>
    </vt:vector>
  </HeadingPairs>
  <TitlesOfParts>
    <vt:vector size="47" baseType="lpstr">
      <vt:lpstr>Arial</vt:lpstr>
      <vt:lpstr>Arial Narrow</vt:lpstr>
      <vt:lpstr>Calibri</vt:lpstr>
      <vt:lpstr>Calibri Light</vt:lpstr>
      <vt:lpstr>Cambria Math</vt:lpstr>
      <vt:lpstr>MS Shell Dlg</vt:lpstr>
      <vt:lpstr>Nokia Sans Wide</vt:lpstr>
      <vt:lpstr>Segoe UI</vt:lpstr>
      <vt:lpstr>Segoe UI Black</vt:lpstr>
      <vt:lpstr>Symbol</vt:lpstr>
      <vt:lpstr>Times New Roman</vt:lpstr>
      <vt:lpstr>Tema do Office</vt:lpstr>
      <vt:lpstr>Equation</vt:lpstr>
      <vt:lpstr>Equação</vt:lpstr>
      <vt:lpstr>Chart</vt:lpstr>
      <vt:lpstr>Transformada de Fourier Resposta em Frequência, Energia e Banda</vt:lpstr>
      <vt:lpstr>Revisão</vt:lpstr>
      <vt:lpstr>A transformada de Fourier</vt:lpstr>
      <vt:lpstr>Transformada de Fourier Algumas funções</vt:lpstr>
      <vt:lpstr>Transformada de Fourier Algumas funções</vt:lpstr>
      <vt:lpstr>Transformada de Fourier Algumas propriedades</vt:lpstr>
      <vt:lpstr>Transformada de Fourier Magnitude e Fase</vt:lpstr>
      <vt:lpstr>Sistemas</vt:lpstr>
      <vt:lpstr>Transmissão em Sistemas Lineares</vt:lpstr>
      <vt:lpstr>Transformada de Fourier Sistemas Lineares</vt:lpstr>
      <vt:lpstr>Transformada de Fourier Sistemas Lineares</vt:lpstr>
      <vt:lpstr>Transmissão sem Distorção</vt:lpstr>
      <vt:lpstr>Transmissão sem Distorção Exemplo</vt:lpstr>
      <vt:lpstr>Filtros Ideais</vt:lpstr>
      <vt:lpstr>Filtros Ideais</vt:lpstr>
      <vt:lpstr>Filtros Realizáveis</vt:lpstr>
      <vt:lpstr>Causalidade</vt:lpstr>
      <vt:lpstr>Filtros Realizáveis </vt:lpstr>
      <vt:lpstr>Sistemas de Comunicações</vt:lpstr>
      <vt:lpstr>Distorção Linear</vt:lpstr>
      <vt:lpstr>Atraso de Grupo (Group Delay)</vt:lpstr>
      <vt:lpstr>Exemplo: Transmissão com Distorção de Fase</vt:lpstr>
      <vt:lpstr>A Transformada de Hilbert</vt:lpstr>
      <vt:lpstr>A Transformada de Hilbert</vt:lpstr>
      <vt:lpstr>Sistemas Lineares e Não Lineares</vt:lpstr>
      <vt:lpstr>Sistemas não Lineares (sem memória)</vt:lpstr>
      <vt:lpstr>Sistemas não Lineares Harmônicos</vt:lpstr>
      <vt:lpstr>Sistemas não Lineares Intermodulação</vt:lpstr>
      <vt:lpstr>Sistemas não Lineares Harmônicos e Intermodulação</vt:lpstr>
      <vt:lpstr>Amplificador Não Linear</vt:lpstr>
      <vt:lpstr>Máscara Espectral</vt:lpstr>
      <vt:lpstr>Sistemas Engenharia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June 29th, 2021</dc:title>
  <dc:creator>Sonia Ximenes</dc:creator>
  <cp:lastModifiedBy>André Barreto | Brazil | Licks Attorneys</cp:lastModifiedBy>
  <cp:revision>22</cp:revision>
  <cp:lastPrinted>2017-06-06T18:46:34Z</cp:lastPrinted>
  <dcterms:created xsi:type="dcterms:W3CDTF">2022-06-23T16:27:38Z</dcterms:created>
  <dcterms:modified xsi:type="dcterms:W3CDTF">2026-08-26T16:45:54Z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0x010100016BCB7353188E4C9571C1B2EA1322FC</vt:lpwstr>
  </property>
  <property fmtid="{D5CDD505-2E9C-101B-9397-08002B2CF9AE}" pid="3" name="MSIP_Label_8b38cb3f-a960-40d2-b589-fe5c7caef41b_Enabled">
    <vt:lpwstr>true</vt:lpwstr>
  </property>
  <property fmtid="{D5CDD505-2E9C-101B-9397-08002B2CF9AE}" pid="4" name="MSIP_Label_8b38cb3f-a960-40d2-b589-fe5c7caef41b_SetDate">
    <vt:lpwstr>2022-06-23T16:46:29Z</vt:lpwstr>
  </property>
  <property fmtid="{D5CDD505-2E9C-101B-9397-08002B2CF9AE}" pid="5" name="MSIP_Label_8b38cb3f-a960-40d2-b589-fe5c7caef41b_Method">
    <vt:lpwstr>Privileged</vt:lpwstr>
  </property>
  <property fmtid="{D5CDD505-2E9C-101B-9397-08002B2CF9AE}" pid="6" name="MSIP_Label_8b38cb3f-a960-40d2-b589-fe5c7caef41b_Name">
    <vt:lpwstr>CONFIDENTIAL</vt:lpwstr>
  </property>
  <property fmtid="{D5CDD505-2E9C-101B-9397-08002B2CF9AE}" pid="7" name="MSIP_Label_8b38cb3f-a960-40d2-b589-fe5c7caef41b_SiteId">
    <vt:lpwstr>a5a01691-338c-4b57-812c-24d594995cd6</vt:lpwstr>
  </property>
  <property fmtid="{D5CDD505-2E9C-101B-9397-08002B2CF9AE}" pid="8" name="MSIP_Label_8b38cb3f-a960-40d2-b589-fe5c7caef41b_ActionId">
    <vt:lpwstr>82308caf-a452-4fdc-9535-426c4b72816e</vt:lpwstr>
  </property>
  <property fmtid="{D5CDD505-2E9C-101B-9397-08002B2CF9AE}" pid="9" name="MSIP_Label_8b38cb3f-a960-40d2-b589-fe5c7caef41b_ContentBits">
    <vt:lpwstr>1</vt:lpwstr>
  </property>
  <property fmtid="{D5CDD505-2E9C-101B-9397-08002B2CF9AE}" pid="10" name="MediaServiceImageTags">
    <vt:lpwstr/>
  </property>
</Properties>
</file>