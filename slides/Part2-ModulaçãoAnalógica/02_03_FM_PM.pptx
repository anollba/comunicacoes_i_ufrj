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2"/>
  </p:notesMasterIdLst>
  <p:handoutMasterIdLst>
    <p:handoutMasterId r:id="rId33"/>
  </p:handoutMasterIdLst>
  <p:sldIdLst>
    <p:sldId id="259" r:id="rId5"/>
    <p:sldId id="265" r:id="rId6"/>
    <p:sldId id="260" r:id="rId7"/>
    <p:sldId id="261" r:id="rId8"/>
    <p:sldId id="262" r:id="rId9"/>
    <p:sldId id="263" r:id="rId10"/>
    <p:sldId id="264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4" r:id="rId21"/>
    <p:sldId id="276" r:id="rId22"/>
    <p:sldId id="277" r:id="rId23"/>
    <p:sldId id="278" r:id="rId24"/>
    <p:sldId id="279" r:id="rId25"/>
    <p:sldId id="280" r:id="rId26"/>
    <p:sldId id="281" r:id="rId27"/>
    <p:sldId id="283" r:id="rId28"/>
    <p:sldId id="282" r:id="rId29"/>
    <p:sldId id="284" r:id="rId30"/>
    <p:sldId id="285" r:id="rId31"/>
  </p:sldIdLst>
  <p:sldSz cx="12192000" cy="6858000"/>
  <p:notesSz cx="7104063" cy="102346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529" userDrawn="1">
          <p15:clr>
            <a:srgbClr val="A4A3A4"/>
          </p15:clr>
        </p15:guide>
        <p15:guide id="2" pos="7151" userDrawn="1">
          <p15:clr>
            <a:srgbClr val="A4A3A4"/>
          </p15:clr>
        </p15:guide>
        <p15:guide id="3" orient="horz" pos="79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onia Ximenes | Brazil | Licks Attorneys" initials="SX|B|LA" lastIdx="5" clrIdx="0">
    <p:extLst>
      <p:ext uri="{19B8F6BF-5375-455C-9EA6-DF929625EA0E}">
        <p15:presenceInfo xmlns:p15="http://schemas.microsoft.com/office/powerpoint/2012/main" userId="S-1-5-21-4064988553-3364987943-4011221069-257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1B6F"/>
    <a:srgbClr val="383B71"/>
    <a:srgbClr val="72BF44"/>
    <a:srgbClr val="FFFFFF"/>
    <a:srgbClr val="FF00FF"/>
    <a:srgbClr val="DDDDDD"/>
    <a:srgbClr val="231F20"/>
    <a:srgbClr val="1A203F"/>
    <a:srgbClr val="C9252C"/>
    <a:srgbClr val="393C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>
        <p:guide pos="529"/>
        <p:guide pos="7151"/>
        <p:guide orient="horz" pos="79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handoutMaster" Target="handoutMasters/handout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4796" tIns="47398" rIns="94796" bIns="47398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4023993" y="1"/>
            <a:ext cx="3078427" cy="513508"/>
          </a:xfrm>
          <a:prstGeom prst="rect">
            <a:avLst/>
          </a:prstGeom>
        </p:spPr>
        <p:txBody>
          <a:bodyPr vert="horz" lIns="94796" tIns="47398" rIns="94796" bIns="47398" rtlCol="0"/>
          <a:lstStyle>
            <a:lvl1pPr algn="r">
              <a:defRPr sz="1200"/>
            </a:lvl1pPr>
          </a:lstStyle>
          <a:p>
            <a:fld id="{073928FA-D2C6-41DE-B220-3F2DB2F37ACE}" type="datetimeFigureOut">
              <a:rPr lang="pt-BR" smtClean="0"/>
              <a:t>25/09/2026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1" y="9721107"/>
            <a:ext cx="3078427" cy="513507"/>
          </a:xfrm>
          <a:prstGeom prst="rect">
            <a:avLst/>
          </a:prstGeom>
        </p:spPr>
        <p:txBody>
          <a:bodyPr vert="horz" lIns="94796" tIns="47398" rIns="94796" bIns="47398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4023993" y="9721107"/>
            <a:ext cx="3078427" cy="513507"/>
          </a:xfrm>
          <a:prstGeom prst="rect">
            <a:avLst/>
          </a:prstGeom>
        </p:spPr>
        <p:txBody>
          <a:bodyPr vert="horz" lIns="94796" tIns="47398" rIns="94796" bIns="47398" rtlCol="0" anchor="b"/>
          <a:lstStyle>
            <a:lvl1pPr algn="r">
              <a:defRPr sz="1200"/>
            </a:lvl1pPr>
          </a:lstStyle>
          <a:p>
            <a:fld id="{B282AF58-AFB8-48A3-96B5-4550277F42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21278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4796" tIns="47398" rIns="94796" bIns="47398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023993" y="1"/>
            <a:ext cx="3078427" cy="513508"/>
          </a:xfrm>
          <a:prstGeom prst="rect">
            <a:avLst/>
          </a:prstGeom>
        </p:spPr>
        <p:txBody>
          <a:bodyPr vert="horz" lIns="94796" tIns="47398" rIns="94796" bIns="47398" rtlCol="0"/>
          <a:lstStyle>
            <a:lvl1pPr algn="r">
              <a:defRPr sz="1200"/>
            </a:lvl1pPr>
          </a:lstStyle>
          <a:p>
            <a:fld id="{BA67B741-5C22-4E92-9233-564803058EDF}" type="datetimeFigureOut">
              <a:rPr lang="pt-BR" smtClean="0"/>
              <a:t>25/09/2026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2037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96" tIns="47398" rIns="94796" bIns="47398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80"/>
          </a:xfrm>
          <a:prstGeom prst="rect">
            <a:avLst/>
          </a:prstGeom>
        </p:spPr>
        <p:txBody>
          <a:bodyPr vert="horz" lIns="94796" tIns="47398" rIns="94796" bIns="47398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1" y="9721107"/>
            <a:ext cx="3078427" cy="513507"/>
          </a:xfrm>
          <a:prstGeom prst="rect">
            <a:avLst/>
          </a:prstGeom>
        </p:spPr>
        <p:txBody>
          <a:bodyPr vert="horz" lIns="94796" tIns="47398" rIns="94796" bIns="47398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023993" y="9721107"/>
            <a:ext cx="3078427" cy="513507"/>
          </a:xfrm>
          <a:prstGeom prst="rect">
            <a:avLst/>
          </a:prstGeom>
        </p:spPr>
        <p:txBody>
          <a:bodyPr vert="horz" lIns="94796" tIns="47398" rIns="94796" bIns="47398" rtlCol="0" anchor="b"/>
          <a:lstStyle>
            <a:lvl1pPr algn="r">
              <a:defRPr sz="1200"/>
            </a:lvl1pPr>
          </a:lstStyle>
          <a:p>
            <a:fld id="{943170F2-A307-469F-9C21-48DA32EBBF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2885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F2760AE9-7072-6665-A798-B16FE36959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861054" cy="685800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6062421D-6B9C-2119-9B24-9A8301D37D45}"/>
              </a:ext>
            </a:extLst>
          </p:cNvPr>
          <p:cNvSpPr txBox="1"/>
          <p:nvPr userDrawn="1"/>
        </p:nvSpPr>
        <p:spPr>
          <a:xfrm>
            <a:off x="4211128" y="1747180"/>
            <a:ext cx="74100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>
                <a:solidFill>
                  <a:srgbClr val="0070C0"/>
                </a:solidFill>
              </a:rPr>
              <a:t>Comunicações I</a:t>
            </a:r>
          </a:p>
        </p:txBody>
      </p:sp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92CEFEA-E523-3B80-3BF1-555F84BF36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11128" y="212338"/>
            <a:ext cx="741009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600" b="1">
                <a:solidFill>
                  <a:srgbClr val="0070C0"/>
                </a:solidFill>
              </a:defRPr>
            </a:lvl1pPr>
          </a:lstStyle>
          <a:p>
            <a:r>
              <a:rPr lang="pt-BR" noProof="0"/>
              <a:t>Título</a:t>
            </a:r>
          </a:p>
        </p:txBody>
      </p:sp>
    </p:spTree>
    <p:extLst>
      <p:ext uri="{BB962C8B-B14F-4D97-AF65-F5344CB8AC3E}">
        <p14:creationId xmlns:p14="http://schemas.microsoft.com/office/powerpoint/2010/main" val="991359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sór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6096001" y="1367660"/>
            <a:ext cx="5269356" cy="1579289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4000">
                <a:solidFill>
                  <a:srgbClr val="383B7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</a:lstStyle>
          <a:p>
            <a:r>
              <a:rPr lang="pt-BR" noProof="0"/>
              <a:t>Click </a:t>
            </a:r>
            <a:r>
              <a:rPr lang="pt-BR" noProof="0" err="1"/>
              <a:t>to</a:t>
            </a:r>
            <a:r>
              <a:rPr lang="pt-BR" noProof="0"/>
              <a:t> </a:t>
            </a:r>
            <a:r>
              <a:rPr lang="pt-BR" noProof="0" err="1"/>
              <a:t>edit</a:t>
            </a:r>
            <a:r>
              <a:rPr lang="pt-BR" noProof="0"/>
              <a:t> Master </a:t>
            </a:r>
            <a:r>
              <a:rPr lang="pt-BR" noProof="0" err="1"/>
              <a:t>title</a:t>
            </a:r>
            <a:r>
              <a:rPr lang="pt-BR" noProof="0"/>
              <a:t> </a:t>
            </a:r>
            <a:r>
              <a:rPr lang="pt-BR" noProof="0" err="1"/>
              <a:t>style</a:t>
            </a:r>
            <a:endParaRPr lang="pt-BR" noProof="0"/>
          </a:p>
        </p:txBody>
      </p:sp>
      <p:sp>
        <p:nvSpPr>
          <p:cNvPr id="13" name="CaixaDeTexto 15">
            <a:extLst>
              <a:ext uri="{FF2B5EF4-FFF2-40B4-BE49-F238E27FC236}">
                <a16:creationId xmlns:a16="http://schemas.microsoft.com/office/drawing/2014/main" id="{3034A8DE-CBF7-4126-9C31-A37C294C2BE3}"/>
              </a:ext>
            </a:extLst>
          </p:cNvPr>
          <p:cNvSpPr txBox="1"/>
          <p:nvPr userDrawn="1"/>
        </p:nvSpPr>
        <p:spPr>
          <a:xfrm>
            <a:off x="10664324" y="6528028"/>
            <a:ext cx="4586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55878"/>
            <a:fld id="{62780EB2-574A-44ED-8A24-CBC304E57FAD}" type="slidenum">
              <a:rPr lang="pt-BR" sz="900">
                <a:solidFill>
                  <a:schemeClr val="tx1"/>
                </a:solidFill>
              </a:rPr>
              <a:pPr algn="r" defTabSz="855878"/>
              <a:t>‹nº›</a:t>
            </a:fld>
            <a:endParaRPr lang="pt-BR" sz="9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5049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some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838200" y="152401"/>
            <a:ext cx="10515600" cy="862012"/>
          </a:xfrm>
        </p:spPr>
        <p:txBody>
          <a:bodyPr lIns="0" tIns="0" rIns="0" bIns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pt-BR" sz="2800" b="1" kern="1200" noProof="0" dirty="0">
                <a:solidFill>
                  <a:srgbClr val="383B7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</a:lstStyle>
          <a:p>
            <a:r>
              <a:rPr lang="pt-BR" noProof="0"/>
              <a:t>Click </a:t>
            </a:r>
            <a:r>
              <a:rPr lang="pt-BR" noProof="0" err="1"/>
              <a:t>to</a:t>
            </a:r>
            <a:r>
              <a:rPr lang="pt-BR" noProof="0"/>
              <a:t> </a:t>
            </a:r>
            <a:r>
              <a:rPr lang="pt-BR" noProof="0" err="1"/>
              <a:t>edit</a:t>
            </a:r>
            <a:r>
              <a:rPr lang="pt-BR" noProof="0"/>
              <a:t> Master </a:t>
            </a:r>
            <a:r>
              <a:rPr lang="pt-BR" noProof="0" err="1"/>
              <a:t>title</a:t>
            </a:r>
            <a:r>
              <a:rPr lang="pt-BR" noProof="0"/>
              <a:t> </a:t>
            </a:r>
            <a:r>
              <a:rPr lang="pt-BR" noProof="0" err="1"/>
              <a:t>style</a:t>
            </a:r>
            <a:endParaRPr lang="pt-BR" noProof="0"/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BF8B259D-0248-B69D-71BA-B3EF94543820}"/>
              </a:ext>
            </a:extLst>
          </p:cNvPr>
          <p:cNvCxnSpPr/>
          <p:nvPr userDrawn="1"/>
        </p:nvCxnSpPr>
        <p:spPr>
          <a:xfrm>
            <a:off x="838200" y="1014413"/>
            <a:ext cx="10515600" cy="0"/>
          </a:xfrm>
          <a:prstGeom prst="line">
            <a:avLst/>
          </a:prstGeom>
          <a:ln w="412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1287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some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838200" y="152401"/>
            <a:ext cx="10515600" cy="862012"/>
          </a:xfrm>
        </p:spPr>
        <p:txBody>
          <a:bodyPr lIns="0" tIns="0" rIns="0" bIns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pt-BR" sz="2800" b="1" kern="1200" noProof="0" dirty="0">
                <a:solidFill>
                  <a:srgbClr val="383B7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</a:lstStyle>
          <a:p>
            <a:r>
              <a:rPr lang="pt-BR" noProof="0"/>
              <a:t>Click </a:t>
            </a:r>
            <a:r>
              <a:rPr lang="pt-BR" noProof="0" err="1"/>
              <a:t>to</a:t>
            </a:r>
            <a:r>
              <a:rPr lang="pt-BR" noProof="0"/>
              <a:t> </a:t>
            </a:r>
            <a:r>
              <a:rPr lang="pt-BR" noProof="0" err="1"/>
              <a:t>edit</a:t>
            </a:r>
            <a:r>
              <a:rPr lang="pt-BR" noProof="0"/>
              <a:t> Master </a:t>
            </a:r>
            <a:r>
              <a:rPr lang="pt-BR" noProof="0" err="1"/>
              <a:t>title</a:t>
            </a:r>
            <a:r>
              <a:rPr lang="pt-BR" noProof="0"/>
              <a:t> </a:t>
            </a:r>
            <a:r>
              <a:rPr lang="pt-BR" noProof="0" err="1"/>
              <a:t>style</a:t>
            </a:r>
            <a:endParaRPr lang="pt-BR" noProof="0"/>
          </a:p>
        </p:txBody>
      </p:sp>
      <p:sp>
        <p:nvSpPr>
          <p:cNvPr id="2" name="Espaço Reservado para Texto 2">
            <a:extLst>
              <a:ext uri="{FF2B5EF4-FFF2-40B4-BE49-F238E27FC236}">
                <a16:creationId xmlns:a16="http://schemas.microsoft.com/office/drawing/2014/main" id="{CD91DA93-1A48-C321-821D-9EA19546B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555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noProof="0"/>
              <a:t>Editar estilos de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9A349D25-7E18-DCA3-9D79-EDA429B7D62D}"/>
              </a:ext>
            </a:extLst>
          </p:cNvPr>
          <p:cNvCxnSpPr/>
          <p:nvPr userDrawn="1"/>
        </p:nvCxnSpPr>
        <p:spPr>
          <a:xfrm>
            <a:off x="838200" y="1014413"/>
            <a:ext cx="10515600" cy="0"/>
          </a:xfrm>
          <a:prstGeom prst="line">
            <a:avLst/>
          </a:prstGeom>
          <a:ln w="412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9670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6429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noProof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noProof="0"/>
              <a:t>Editar estilos de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9BE6A030-3DD1-D6A5-E876-EB091AB8E4C0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9" y="0"/>
            <a:ext cx="649089" cy="685800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38AEE830-9E8A-DF74-4039-CE307E4895E4}"/>
              </a:ext>
            </a:extLst>
          </p:cNvPr>
          <p:cNvSpPr txBox="1"/>
          <p:nvPr userDrawn="1"/>
        </p:nvSpPr>
        <p:spPr>
          <a:xfrm>
            <a:off x="838200" y="6383547"/>
            <a:ext cx="26986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2477187-2393-2A22-8770-9F34FADBFE4E}"/>
              </a:ext>
            </a:extLst>
          </p:cNvPr>
          <p:cNvSpPr txBox="1"/>
          <p:nvPr userDrawn="1"/>
        </p:nvSpPr>
        <p:spPr>
          <a:xfrm>
            <a:off x="838199" y="6418053"/>
            <a:ext cx="33456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>
                <a:solidFill>
                  <a:srgbClr val="0070C0"/>
                </a:solidFill>
              </a:rPr>
              <a:t>Comunicações I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A3DE7BE-E395-47CF-16B5-9329C7E53BC8}"/>
              </a:ext>
            </a:extLst>
          </p:cNvPr>
          <p:cNvSpPr txBox="1"/>
          <p:nvPr userDrawn="1"/>
        </p:nvSpPr>
        <p:spPr>
          <a:xfrm>
            <a:off x="9936191" y="6414324"/>
            <a:ext cx="14176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>
                <a:solidFill>
                  <a:srgbClr val="0070C0"/>
                </a:solidFill>
              </a:rPr>
              <a:t>Prof. André Noll</a:t>
            </a:r>
          </a:p>
        </p:txBody>
      </p:sp>
    </p:spTree>
    <p:extLst>
      <p:ext uri="{BB962C8B-B14F-4D97-AF65-F5344CB8AC3E}">
        <p14:creationId xmlns:p14="http://schemas.microsoft.com/office/powerpoint/2010/main" val="2681381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1" r:id="rId3"/>
    <p:sldLayoutId id="2147483662" r:id="rId4"/>
    <p:sldLayoutId id="2147483651" r:id="rId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pt.slideshare.net/slideshow/chapter-5-23880234/23880234#7" TargetMode="Externa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3F866E-AD52-F484-BC73-B5DC3F9FC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Modulação em Ângulo (FM/PM)</a:t>
            </a:r>
          </a:p>
        </p:txBody>
      </p:sp>
    </p:spTree>
    <p:extLst>
      <p:ext uri="{BB962C8B-B14F-4D97-AF65-F5344CB8AC3E}">
        <p14:creationId xmlns:p14="http://schemas.microsoft.com/office/powerpoint/2010/main" val="2096903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87F5BD-D0B6-378F-DD3B-EB93CC331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Fonte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3A8163-A425-A570-B8C3-5BF4E058A4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>
                <a:hlinkClick r:id="rId2"/>
              </a:rPr>
              <a:t>Chapter</a:t>
            </a:r>
            <a:r>
              <a:rPr lang="pt-BR" dirty="0">
                <a:hlinkClick r:id="rId2"/>
              </a:rPr>
              <a:t> 5 | PPT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82314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195AB7-817B-1433-1DAB-755FA0F44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B09AD38B-2930-E961-2312-7AE1A13D235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57300"/>
                <a:ext cx="10515600" cy="4689589"/>
              </a:xfrm>
            </p:spPr>
            <p:txBody>
              <a:bodyPr>
                <a:normAutofit/>
              </a:bodyPr>
              <a:lstStyle/>
              <a:p>
                <a:r>
                  <a:rPr lang="pt-BR" sz="2400" dirty="0"/>
                  <a:t>Modulação em ângulo (ou modulação exponencial – EM)</a:t>
                </a:r>
              </a:p>
              <a:p>
                <a:pPr lvl="1"/>
                <a:r>
                  <a:rPr lang="pt-BR" sz="2000" dirty="0"/>
                  <a:t>Modulação em Frequência (FM)</a:t>
                </a:r>
              </a:p>
              <a:p>
                <a:pPr lvl="1"/>
                <a:r>
                  <a:rPr lang="pt-BR" sz="2000" dirty="0"/>
                  <a:t>Modulação em Fase (PM)</a:t>
                </a:r>
              </a:p>
              <a:p>
                <a:pPr lvl="1"/>
                <a:r>
                  <a:rPr lang="pt-BR" sz="2000" dirty="0"/>
                  <a:t>Ambos estão no </a:t>
                </a:r>
                <a:r>
                  <a:rPr lang="pt-BR" sz="2000" dirty="0">
                    <a:solidFill>
                      <a:schemeClr val="accent5"/>
                    </a:solidFill>
                  </a:rPr>
                  <a:t>Ângulo</a:t>
                </a:r>
                <a:r>
                  <a:rPr lang="pt-BR" sz="2000" dirty="0"/>
                  <a:t> da portadora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pt-BR" sz="1800" b="0" i="1" smtClean="0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pt-BR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1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pt-BR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1800" b="0" i="1" smtClean="0">
                        <a:latin typeface="Cambria Math" panose="02040503050406030204" pitchFamily="18" charset="0"/>
                      </a:rPr>
                      <m:t>𝑎</m:t>
                    </m:r>
                    <m:func>
                      <m:funcPr>
                        <m:ctrlPr>
                          <a:rPr lang="pt-BR" sz="1800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t-BR" sz="18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pt-BR" sz="18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18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pt-BR" sz="18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  <m:d>
                              <m:dPr>
                                <m:ctrlPr>
                                  <a:rPr lang="pt-BR" sz="180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pt-BR" sz="180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80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pt-BR" sz="180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</m:sSub>
                                <m:r>
                                  <a:rPr lang="pt-BR" sz="180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pt-BR" sz="180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pt-BR" sz="180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sz="1800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e>
                            </m:d>
                            <m:r>
                              <a:rPr lang="pt-BR" sz="18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pt-BR" sz="18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pt-BR" sz="18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pt-BR" sz="18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pt-BR" sz="18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pt-BR" sz="18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  <m:r>
                          <a:rPr lang="pt-BR" sz="1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func>
                  </m:oMath>
                </a14:m>
                <a:endParaRPr lang="pt-BR" sz="2000" dirty="0"/>
              </a:p>
              <a:p>
                <a:pPr lvl="2"/>
                <a:r>
                  <a:rPr lang="pt-BR" sz="2000" dirty="0"/>
                  <a:t>Ou no </a:t>
                </a:r>
                <a:r>
                  <a:rPr lang="pt-BR" sz="2000" dirty="0">
                    <a:solidFill>
                      <a:srgbClr val="0070C0"/>
                    </a:solidFill>
                  </a:rPr>
                  <a:t>expoente</a:t>
                </a:r>
                <a:r>
                  <a:rPr lang="pt-BR" sz="2000" dirty="0"/>
                  <a:t> </a:t>
                </a:r>
                <a14:m>
                  <m:oMath xmlns:m="http://schemas.openxmlformats.org/officeDocument/2006/math">
                    <m:r>
                      <a:rPr lang="pt-BR" sz="2000" b="0" i="1" smtClean="0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pt-B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pt-BR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pt-BR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pt-BR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d>
                          <m:dPr>
                            <m:ctrlPr>
                              <a:rPr lang="pt-BR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pt-BR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  <m:d>
                              <m:dPr>
                                <m:ctrlPr>
                                  <a:rPr lang="pt-BR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pt-BR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pt-BR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</m:sSub>
                                <m:r>
                                  <a:rPr lang="pt-BR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pt-BR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pt-BR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e>
                            </m:d>
                            <m:r>
                              <a:rPr lang="pt-BR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pt-BR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pt-BR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pt-BR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pt-BR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pt-BR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sup>
                    </m:sSup>
                  </m:oMath>
                </a14:m>
                <a:endParaRPr lang="pt-BR" sz="2000" dirty="0"/>
              </a:p>
              <a:p>
                <a:r>
                  <a:rPr lang="pt-BR" sz="2400" dirty="0"/>
                  <a:t>Alterar a frequência ou a fase da portadora de acordo com a mensagem</a:t>
                </a:r>
              </a:p>
              <a:p>
                <a:pPr lvl="1"/>
                <a:endParaRPr lang="pt-BR" sz="2000" dirty="0"/>
              </a:p>
            </p:txBody>
          </p:sp>
        </mc:Choice>
        <mc:Fallback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B09AD38B-2930-E961-2312-7AE1A13D23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57300"/>
                <a:ext cx="10515600" cy="4689589"/>
              </a:xfrm>
              <a:blipFill>
                <a:blip r:embed="rId2"/>
                <a:stretch>
                  <a:fillRect l="-812" t="-181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m 4">
            <a:extLst>
              <a:ext uri="{FF2B5EF4-FFF2-40B4-BE49-F238E27FC236}">
                <a16:creationId xmlns:a16="http://schemas.microsoft.com/office/drawing/2014/main" id="{1FF30AE8-8F6A-F433-DC20-2146DCE5B9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9597" y="3878942"/>
            <a:ext cx="7773485" cy="2553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2688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F19366-0BC8-FAAD-108F-348381581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Modulação em Ângulo</a:t>
            </a:r>
            <a:br>
              <a:rPr lang="pt-BR" dirty="0"/>
            </a:br>
            <a:r>
              <a:rPr lang="pt-BR" dirty="0"/>
              <a:t>Exemplo 1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8A00A15-9970-3319-5AAD-3DF294015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7790" y="1463294"/>
            <a:ext cx="6803869" cy="5029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436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C043C-8243-BA4F-F0CC-4E2751E0A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C63ED8-4A35-DAEB-4860-20E4CEFCE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Modulação em Ângulo</a:t>
            </a:r>
            <a:br>
              <a:rPr lang="pt-BR" dirty="0"/>
            </a:br>
            <a:r>
              <a:rPr lang="pt-BR" dirty="0"/>
              <a:t>Exemplo 2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E11E340-AC15-A9D3-1453-20FCF7ABC7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7889" y="1219577"/>
            <a:ext cx="7316221" cy="5182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426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50CA72-B23F-A5A7-6F67-A2FCCC604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AM x FM/PM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1524F97-C6E6-8532-593C-F9F856EDF0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5551"/>
            <a:ext cx="10515600" cy="4734228"/>
          </a:xfrm>
        </p:spPr>
        <p:txBody>
          <a:bodyPr>
            <a:normAutofit/>
          </a:bodyPr>
          <a:lstStyle/>
          <a:p>
            <a:r>
              <a:rPr lang="pt-BR" dirty="0"/>
              <a:t>AM é um processo linear, mas FM/PM são (muito) não-lineares</a:t>
            </a:r>
          </a:p>
          <a:p>
            <a:r>
              <a:rPr lang="pt-BR" dirty="0"/>
              <a:t>Vantagens do FM/PM</a:t>
            </a:r>
          </a:p>
          <a:p>
            <a:pPr lvl="1"/>
            <a:r>
              <a:rPr lang="pt-BR" dirty="0"/>
              <a:t>Maior imunidade a ruído e interferência</a:t>
            </a:r>
          </a:p>
          <a:p>
            <a:r>
              <a:rPr lang="pt-BR" dirty="0"/>
              <a:t>Desvantagem</a:t>
            </a:r>
          </a:p>
          <a:p>
            <a:pPr lvl="1"/>
            <a:r>
              <a:rPr lang="pt-BR" dirty="0"/>
              <a:t>Maior largura de banda</a:t>
            </a:r>
          </a:p>
          <a:p>
            <a:pPr lvl="1"/>
            <a:r>
              <a:rPr lang="pt-BR" dirty="0"/>
              <a:t>Geração e Demodulação mais complexas que AM, mas não é um problema com circuitos integrados modernos</a:t>
            </a:r>
          </a:p>
        </p:txBody>
      </p:sp>
    </p:spTree>
    <p:extLst>
      <p:ext uri="{BB962C8B-B14F-4D97-AF65-F5344CB8AC3E}">
        <p14:creationId xmlns:p14="http://schemas.microsoft.com/office/powerpoint/2010/main" val="1893264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467A66-49A8-E548-CBEC-FD7F13BF2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Frequência Instantânea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A1D8EF50-EBBD-CAE5-C748-C0404B868B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46344"/>
                <a:ext cx="10515600" cy="4364378"/>
              </a:xfrm>
            </p:spPr>
            <p:txBody>
              <a:bodyPr>
                <a:normAutofit/>
              </a:bodyPr>
              <a:lstStyle/>
              <a:p>
                <a:r>
                  <a:rPr lang="pt-BR" sz="2400" dirty="0"/>
                  <a:t>Um sinal modulado em ângulo é dado por</a:t>
                </a:r>
              </a:p>
              <a:p>
                <a:endParaRPr lang="pt-BR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𝐸𝑀</m:t>
                          </m:r>
                        </m:sub>
                      </m:sSub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func>
                        <m:funcPr>
                          <m:ctrlPr>
                            <a:rPr lang="pt-BR" sz="2400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sz="24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pt-BR" sz="24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sz="2400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400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pt-BR" sz="2400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pt-BR" sz="2400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400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</m:func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func>
                        <m:funcPr>
                          <m:ctrlPr>
                            <a:rPr lang="pt-BR" sz="2400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sz="24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pt-BR" sz="24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4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pt-BR" sz="24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pt-BR" sz="24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4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pt-BR" sz="2400" dirty="0"/>
              </a:p>
              <a:p>
                <a:pPr marL="0" indent="0">
                  <a:buNone/>
                </a:pPr>
                <a:endParaRPr lang="pt-BR" sz="2400" dirty="0"/>
              </a:p>
              <a:p>
                <a:pPr marL="0" indent="0">
                  <a:buNone/>
                </a:pPr>
                <a:endParaRPr lang="pt-BR" sz="2400" dirty="0"/>
              </a:p>
              <a:p>
                <a:endParaRPr lang="pt-BR" sz="2400" dirty="0"/>
              </a:p>
              <a:p>
                <a:r>
                  <a:rPr lang="pt-BR" sz="2400" dirty="0"/>
                  <a:t>A frequência instantânea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𝐸𝑀</m:t>
                        </m:r>
                      </m:sub>
                    </m:sSub>
                    <m:d>
                      <m:d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pt-BR" sz="2400" dirty="0"/>
                  <a:t> é</a:t>
                </a:r>
              </a:p>
              <a:p>
                <a:pPr marL="0" indent="0">
                  <a:buNone/>
                </a:pPr>
                <a:endParaRPr lang="pt-BR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pt-BR" sz="2400" b="0" i="1" smtClean="0">
                              <a:solidFill>
                                <a:srgbClr val="383B7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solidFill>
                                <a:srgbClr val="383B7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400" b="0" i="1" smtClean="0">
                              <a:solidFill>
                                <a:srgbClr val="383B7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pt-BR" sz="2400" b="0" i="1" smtClean="0">
                              <a:solidFill>
                                <a:srgbClr val="383B7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f>
                        <m:fPr>
                          <m:ctrlPr>
                            <a:rPr lang="pt-BR" sz="2400" b="0" i="1" smtClean="0">
                              <a:solidFill>
                                <a:srgbClr val="383B7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solidFill>
                                <a:srgbClr val="383B7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pt-BR" sz="2400" b="0" i="1" smtClean="0">
                                  <a:solidFill>
                                    <a:srgbClr val="383B7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solidFill>
                                    <a:srgbClr val="383B71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pt-BR" sz="2400" b="0" i="1" smtClean="0">
                                  <a:solidFill>
                                    <a:srgbClr val="383B7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pt-BR" sz="2400" b="0" i="1" smtClean="0">
                              <a:solidFill>
                                <a:srgbClr val="383B7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400" b="0" i="1" smtClean="0">
                              <a:solidFill>
                                <a:srgbClr val="383B7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sz="2400" b="0" i="1" smtClean="0">
                              <a:solidFill>
                                <a:srgbClr val="383B7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pt-BR" sz="2400" b="0" i="1" smtClean="0">
                              <a:solidFill>
                                <a:srgbClr val="383B7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pt-BR" sz="2400" dirty="0"/>
              </a:p>
            </p:txBody>
          </p:sp>
        </mc:Choice>
        <mc:Fallback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A1D8EF50-EBBD-CAE5-C748-C0404B868B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46344"/>
                <a:ext cx="10515600" cy="4364378"/>
              </a:xfrm>
              <a:blipFill>
                <a:blip r:embed="rId2"/>
                <a:stretch>
                  <a:fillRect l="-812" t="-195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aixaDeTexto 4">
            <a:extLst>
              <a:ext uri="{FF2B5EF4-FFF2-40B4-BE49-F238E27FC236}">
                <a16:creationId xmlns:a16="http://schemas.microsoft.com/office/drawing/2014/main" id="{5E36A3C6-E686-0C55-0AED-5A870A629708}"/>
              </a:ext>
            </a:extLst>
          </p:cNvPr>
          <p:cNvSpPr txBox="1"/>
          <p:nvPr/>
        </p:nvSpPr>
        <p:spPr>
          <a:xfrm>
            <a:off x="4024548" y="2958117"/>
            <a:ext cx="20081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accent5"/>
                </a:solidFill>
              </a:rPr>
              <a:t>Ângulo instantâneo</a:t>
            </a:r>
          </a:p>
        </p:txBody>
      </p: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1D03172C-648D-8652-6A43-63D646A302B5}"/>
              </a:ext>
            </a:extLst>
          </p:cNvPr>
          <p:cNvCxnSpPr>
            <a:stCxn id="5" idx="0"/>
          </p:cNvCxnSpPr>
          <p:nvPr/>
        </p:nvCxnSpPr>
        <p:spPr>
          <a:xfrm flipV="1">
            <a:off x="5028637" y="2447345"/>
            <a:ext cx="247532" cy="5107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ixaDeTexto 8">
            <a:extLst>
              <a:ext uri="{FF2B5EF4-FFF2-40B4-BE49-F238E27FC236}">
                <a16:creationId xmlns:a16="http://schemas.microsoft.com/office/drawing/2014/main" id="{0EF39610-F646-05A2-4D40-69749DDD528F}"/>
              </a:ext>
            </a:extLst>
          </p:cNvPr>
          <p:cNvSpPr txBox="1"/>
          <p:nvPr/>
        </p:nvSpPr>
        <p:spPr>
          <a:xfrm>
            <a:off x="7426334" y="3059201"/>
            <a:ext cx="2695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00B050"/>
                </a:solidFill>
              </a:rPr>
              <a:t>Desvio de fase instantâneo</a:t>
            </a:r>
          </a:p>
        </p:txBody>
      </p: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4AAAC079-9ACB-B70A-F0D5-CF0E78060001}"/>
              </a:ext>
            </a:extLst>
          </p:cNvPr>
          <p:cNvCxnSpPr>
            <a:cxnSpLocks/>
          </p:cNvCxnSpPr>
          <p:nvPr/>
        </p:nvCxnSpPr>
        <p:spPr>
          <a:xfrm flipV="1">
            <a:off x="8526767" y="2504495"/>
            <a:ext cx="247532" cy="638288"/>
          </a:xfrm>
          <a:prstGeom prst="straightConnector1">
            <a:avLst/>
          </a:prstGeom>
          <a:ln>
            <a:solidFill>
              <a:srgbClr val="72BF4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66AD057A-30A9-5158-15D0-56BDEA0FFB9B}"/>
              </a:ext>
            </a:extLst>
          </p:cNvPr>
          <p:cNvSpPr txBox="1"/>
          <p:nvPr/>
        </p:nvSpPr>
        <p:spPr>
          <a:xfrm>
            <a:off x="6096000" y="6165428"/>
            <a:ext cx="33193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383B71"/>
                </a:solidFill>
              </a:rPr>
              <a:t>Desvio de frequência instantâneo</a:t>
            </a:r>
          </a:p>
        </p:txBody>
      </p: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BDCBBFEB-14B2-6C5A-557A-1B0E42936A35}"/>
              </a:ext>
            </a:extLst>
          </p:cNvPr>
          <p:cNvCxnSpPr>
            <a:cxnSpLocks/>
          </p:cNvCxnSpPr>
          <p:nvPr/>
        </p:nvCxnSpPr>
        <p:spPr>
          <a:xfrm flipV="1">
            <a:off x="7302568" y="5414780"/>
            <a:ext cx="247532" cy="638288"/>
          </a:xfrm>
          <a:prstGeom prst="straightConnector1">
            <a:avLst/>
          </a:prstGeom>
          <a:ln>
            <a:solidFill>
              <a:srgbClr val="221B6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75348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01F90-C0EF-149D-8A95-CCFD318D9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01E7AE-7525-B800-6F9C-780EDF331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Frequência Instantânea </a:t>
            </a:r>
            <a:br>
              <a:rPr lang="pt-BR" dirty="0"/>
            </a:br>
            <a:r>
              <a:rPr lang="pt-BR" dirty="0"/>
              <a:t>Exemplo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5E4D5027-9693-4C51-7098-DB4FEB93FE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95551"/>
                <a:ext cx="10515600" cy="4364378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Para o sinal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𝐴</m:t>
                      </m:r>
                      <m:func>
                        <m:funcPr>
                          <m:ctrlPr>
                            <a:rPr lang="pt-BR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p>
                                <m:sSup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</m:oMath>
                  </m:oMathPara>
                </a14:m>
                <a:endParaRPr lang="pt-BR" b="0" dirty="0"/>
              </a:p>
              <a:p>
                <a:pPr marL="0" indent="0">
                  <a:buNone/>
                </a:pPr>
                <a:endParaRPr lang="pt-BR" dirty="0"/>
              </a:p>
              <a:p>
                <a:pPr marL="0" indent="0">
                  <a:buNone/>
                </a:pPr>
                <a:r>
                  <a:rPr lang="pt-BR" dirty="0"/>
                  <a:t>A frequência instantânea é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=5+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5E4D5027-9693-4C51-7098-DB4FEB93FE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95551"/>
                <a:ext cx="10515600" cy="4364378"/>
              </a:xfrm>
              <a:blipFill>
                <a:blip r:embed="rId2"/>
                <a:stretch>
                  <a:fillRect l="-1217" t="-237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0906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E67314-A882-8F28-26AC-F3B8E0AF5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Modulação de Fase (PM)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5EED37D7-4303-C829-2C96-97B63793AE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94691"/>
                <a:ext cx="10515600" cy="4552198"/>
              </a:xfrm>
            </p:spPr>
            <p:txBody>
              <a:bodyPr/>
              <a:lstStyle/>
              <a:p>
                <a:r>
                  <a:rPr lang="pt-BR" dirty="0"/>
                  <a:t>O desvio de fase instantâneo depende da mensagem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dirty="0"/>
              </a:p>
              <a:p>
                <a:r>
                  <a:rPr lang="pt-BR" dirty="0"/>
                  <a:t>O sinal modulado é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𝑃𝑀</m:t>
                          </m:r>
                        </m:sub>
                      </m:sSub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𝐴</m:t>
                      </m:r>
                      <m:func>
                        <m:funcPr>
                          <m:ctrlPr>
                            <a:rPr lang="pt-BR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d>
                                <m:d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pt-BR" b="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pt-BR" dirty="0"/>
                  <a:t> é a sensibilidade (</a:t>
                </a:r>
                <a:r>
                  <a:rPr lang="pt-BR" dirty="0" err="1"/>
                  <a:t>sensitivity</a:t>
                </a:r>
                <a:r>
                  <a:rPr lang="pt-BR" dirty="0"/>
                  <a:t>) de fase do modulador PM</a:t>
                </a:r>
              </a:p>
              <a:p>
                <a:r>
                  <a:rPr lang="pt-BR" dirty="0"/>
                  <a:t>A frequência instantânea é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𝑑𝑚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5EED37D7-4303-C829-2C96-97B63793AE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94691"/>
                <a:ext cx="10515600" cy="4552198"/>
              </a:xfrm>
              <a:blipFill>
                <a:blip r:embed="rId2"/>
                <a:stretch>
                  <a:fillRect l="-1043" t="-227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63176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7F8D4-7048-FC12-64AF-7634CC76E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1E23D0-73A2-186C-60D1-91942BB43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Modulação de Frequência (FM)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BCF602E3-1199-E40F-1E3A-AA712EF7A31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94691"/>
                <a:ext cx="10515600" cy="4552198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O desvio de fase instantâneo depende da integral da mensagem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nary>
                        <m:nary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d>
                            <m:d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d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nary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pt-BR" dirty="0"/>
              </a:p>
              <a:p>
                <a:pPr marL="0" indent="0">
                  <a:buNone/>
                </a:pPr>
                <a:r>
                  <a:rPr lang="pt-BR" dirty="0"/>
                  <a:t>O sinal modulado é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𝐹𝑀</m:t>
                          </m:r>
                        </m:sub>
                      </m:sSub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𝐴</m:t>
                      </m:r>
                      <m:func>
                        <m:funcPr>
                          <m:ctrlPr>
                            <a:rPr lang="pt-BR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sub>
                              </m:sSub>
                              <m:nary>
                                <m:nary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∞</m:t>
                                  </m:r>
                                </m:sub>
                                <m:sup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d>
                                    <m:d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</m:d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nary>
                            </m:e>
                          </m:d>
                        </m:e>
                      </m:func>
                    </m:oMath>
                  </m:oMathPara>
                </a14:m>
                <a:endParaRPr lang="pt-BR" b="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pt-BR" dirty="0"/>
                  <a:t> é a sensibilidade (</a:t>
                </a:r>
                <a:r>
                  <a:rPr lang="pt-BR" dirty="0" err="1"/>
                  <a:t>sensitivity</a:t>
                </a:r>
                <a:r>
                  <a:rPr lang="pt-BR" dirty="0"/>
                  <a:t>) de frequência do modulador FM</a:t>
                </a:r>
              </a:p>
              <a:p>
                <a:r>
                  <a:rPr lang="pt-BR" dirty="0"/>
                  <a:t>A frequência instantânea é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BCF602E3-1199-E40F-1E3A-AA712EF7A3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94691"/>
                <a:ext cx="10515600" cy="4552198"/>
              </a:xfrm>
              <a:blipFill>
                <a:blip r:embed="rId2"/>
                <a:stretch>
                  <a:fillRect l="-1217" t="-227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31464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04AD50-8EDF-A3BB-A26C-5A500FAD7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Modulação em ângulo (EM)</a:t>
            </a:r>
            <a:br>
              <a:rPr lang="pt-BR" dirty="0"/>
            </a:br>
            <a:r>
              <a:rPr lang="pt-BR" dirty="0"/>
              <a:t>Vista como PM ou FM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9F0FDED-FFE1-2779-1959-21EC340524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8165" y="1403589"/>
            <a:ext cx="6995669" cy="4939565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FD78FF21-40E3-D0C5-075F-A2D08BE5B7C1}"/>
              </a:ext>
            </a:extLst>
          </p:cNvPr>
          <p:cNvSpPr/>
          <p:nvPr/>
        </p:nvSpPr>
        <p:spPr>
          <a:xfrm>
            <a:off x="9014691" y="1283855"/>
            <a:ext cx="923636" cy="61883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4113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41333F-B0E1-9E9A-62AF-18A559899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Modulação em ângulo (EM)</a:t>
            </a:r>
            <a:br>
              <a:rPr lang="pt-BR" dirty="0"/>
            </a:br>
            <a:r>
              <a:rPr lang="pt-BR" dirty="0"/>
              <a:t>Vista como PM ou FM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E8BD91B-AD51-FC14-3CB8-ED153ABD1F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Um modulador PM/FM pode ser usado para gerar uma forma de onda FM/PM</a:t>
            </a:r>
          </a:p>
          <a:p>
            <a:r>
              <a:rPr lang="pt-BR" dirty="0"/>
              <a:t>FM é mais utilizado na prática</a:t>
            </a:r>
          </a:p>
          <a:p>
            <a:pPr lvl="1"/>
            <a:r>
              <a:rPr lang="pt-BR" dirty="0"/>
              <a:t>Sinal de FM comercial é uma mistura de FM e PM (para diferentes frequências)</a:t>
            </a:r>
          </a:p>
          <a:p>
            <a:r>
              <a:rPr lang="pt-BR" dirty="0"/>
              <a:t>Veremos principalmente FM a seguir</a:t>
            </a:r>
          </a:p>
          <a:p>
            <a:pPr lvl="1"/>
            <a:r>
              <a:rPr lang="pt-BR" dirty="0"/>
              <a:t>Todas as propriedades de um sinal PM podem ser derivadas a partir de um sinal FM (integrando-se a mensagem)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52646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4C6ECA-F852-3A3D-0E22-07030D472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Modulação em frequência</a:t>
            </a:r>
            <a:br>
              <a:rPr lang="pt-BR" dirty="0"/>
            </a:br>
            <a:r>
              <a:rPr lang="pt-BR" dirty="0"/>
              <a:t>Largura de Banda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BA6397A7-FCEC-B76F-7289-1BB18B98F53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264062"/>
                <a:ext cx="10771414" cy="5192156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pt-BR" sz="2000" i="1" smtClean="0">
                              <a:latin typeface="Cambria Math" panose="02040503050406030204" pitchFamily="18" charset="0"/>
                            </a:rPr>
                            <m:t>𝐹𝑀</m:t>
                          </m:r>
                        </m:sub>
                      </m:sSub>
                      <m:d>
                        <m:dPr>
                          <m:ctrlPr>
                            <a:rPr lang="pt-BR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t-BR" sz="20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000" i="1" smtClean="0">
                          <a:latin typeface="Cambria Math" panose="02040503050406030204" pitchFamily="18" charset="0"/>
                        </a:rPr>
                        <m:t>𝐴</m:t>
                      </m:r>
                      <m:func>
                        <m:funcPr>
                          <m:ctrlPr>
                            <a:rPr lang="pt-BR" sz="200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sz="200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pt-BR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00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pt-BR" sz="200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pt-BR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00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pt-BR" sz="200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pt-BR" sz="200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pt-BR" sz="200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sub>
                              </m:s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,    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d>
                            <m:d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trlPr>
                                <a:rPr lang="pt-BR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t-BR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2000" i="1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b>
                            <m:sup>
                              <m:r>
                                <a:rPr lang="pt-BR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  <m:e>
                              <m:r>
                                <a:rPr lang="pt-BR" sz="20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d>
                                <m:dPr>
                                  <m:ctrlPr>
                                    <a:rPr lang="pt-BR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0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  <m:r>
                                <a:rPr lang="pt-BR" sz="20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pt-BR" sz="20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nary>
                        </m:e>
                      </m:func>
                    </m:oMath>
                  </m:oMathPara>
                </a14:m>
                <a:endParaRPr lang="pt-BR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𝐹𝑀</m:t>
                          </m:r>
                        </m:sub>
                      </m:sSub>
                      <m:d>
                        <m:d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pt-BR" sz="2000" b="0" i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t-BR" sz="2000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sSub>
                                    <m:sSubPr>
                                      <m:ctrlP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func>
                          <m:func>
                            <m:funcPr>
                              <m:ctrlPr>
                                <a:rPr lang="pt-BR" sz="2000" b="0" i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t-BR" sz="2000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sub>
                                  </m:sSub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d>
                                    <m:dPr>
                                      <m:ctrlP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pt-BR" sz="2000" b="0" i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t-BR" sz="20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sSub>
                                    <m:sSubPr>
                                      <m:ctrlP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func>
                                <m:funcPr>
                                  <m:ctrlPr>
                                    <a:rPr lang="pt-BR" sz="2000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pt-BR" sz="2000" b="0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pt-BR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pt-BR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sub>
                                      </m:sSub>
                                      <m: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  <m:d>
                                        <m:dPr>
                                          <m:ctrlPr>
                                            <a:rPr lang="pt-BR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BR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func>
                            </m:e>
                          </m:func>
                        </m:e>
                      </m:d>
                    </m:oMath>
                  </m:oMathPara>
                </a14:m>
                <a:endParaRPr lang="pt-BR" sz="2000" dirty="0"/>
              </a:p>
              <a:p>
                <a:pPr marL="0" indent="0">
                  <a:buNone/>
                </a:pPr>
                <a:r>
                  <a:rPr lang="pt-BR" sz="2000" dirty="0"/>
                  <a:t>Pela série de Taylor: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t-BR" sz="2000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t-BR" sz="20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pt-BR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pt-BR" sz="2000" b="0" i="1" smtClean="0">
                            <a:latin typeface="Cambria Math" panose="02040503050406030204" pitchFamily="18" charset="0"/>
                          </a:rPr>
                          <m:t>=1−</m:t>
                        </m:r>
                        <m:f>
                          <m:fPr>
                            <m:ctrlP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pt-B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pt-BR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  <m:t>2!</m:t>
                            </m:r>
                          </m:den>
                        </m:f>
                        <m:r>
                          <a:rPr lang="pt-BR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pt-B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pt-BR" sz="20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num>
                          <m:den>
                            <m: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  <m:t>4!</m:t>
                            </m:r>
                          </m:den>
                        </m:f>
                        <m:r>
                          <a:rPr lang="pt-BR" sz="2000" b="0" i="1" smtClean="0">
                            <a:latin typeface="Cambria Math" panose="02040503050406030204" pitchFamily="18" charset="0"/>
                          </a:rPr>
                          <m:t>−⋯</m:t>
                        </m:r>
                      </m:e>
                    </m:func>
                    <m:r>
                      <a:rPr lang="pt-BR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sz="2000" dirty="0"/>
                  <a:t> 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t-BR" sz="2000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t-BR" sz="20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pt-BR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pt-BR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pt-BR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pt-BR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pt-B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pt-BR" sz="20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  <m:t>3!</m:t>
                            </m:r>
                          </m:den>
                        </m:f>
                        <m:r>
                          <a:rPr lang="pt-BR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pt-B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pt-BR" sz="20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p>
                            </m:sSup>
                          </m:num>
                          <m:den>
                            <m:r>
                              <a:rPr lang="pt-BR" sz="2000" b="0" i="1" smtClean="0">
                                <a:latin typeface="Cambria Math" panose="02040503050406030204" pitchFamily="18" charset="0"/>
                              </a:rPr>
                              <m:t>5!</m:t>
                            </m:r>
                          </m:den>
                        </m:f>
                        <m:r>
                          <a:rPr lang="pt-BR" sz="2000" b="0" i="1" smtClean="0">
                            <a:latin typeface="Cambria Math" panose="02040503050406030204" pitchFamily="18" charset="0"/>
                          </a:rPr>
                          <m:t>−⋯</m:t>
                        </m:r>
                      </m:e>
                    </m:func>
                  </m:oMath>
                </a14:m>
                <a:r>
                  <a:rPr lang="pt-BR" sz="2000" dirty="0"/>
                  <a:t> e portanto</a:t>
                </a:r>
              </a:p>
              <a:p>
                <a:pPr marL="0" indent="0">
                  <a:buNone/>
                </a:pPr>
                <a:endParaRPr lang="pt-BR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𝐹𝑀</m:t>
                          </m:r>
                        </m:sub>
                      </m:sSub>
                      <m:d>
                        <m:d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func>
                        <m:funcPr>
                          <m:ctrlPr>
                            <a:rPr lang="pt-BR" sz="20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sz="20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pt-BR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pt-BR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pt-BR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pt-BR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pt-BR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  <m:r>
                        <a:rPr lang="pt-BR" sz="20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20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sSub>
                        <m:sSubPr>
                          <m:ctrlPr>
                            <a:rPr lang="pt-BR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pt-BR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pt-BR" sz="20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pt-BR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func>
                        <m:funcPr>
                          <m:ctrlPr>
                            <a:rPr lang="pt-BR" sz="2000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sz="2000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pt-BR" sz="20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0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pt-BR" sz="20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pt-BR" sz="20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0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pt-BR" sz="20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pt-BR" sz="20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  <m:r>
                        <a:rPr lang="pt-BR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pt-BR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sSubSup>
                            <m:sSubSupPr>
                              <m:ctrlPr>
                                <a:rPr lang="pt-BR" sz="20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0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pt-BR" sz="20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  <m:sup>
                              <m:r>
                                <a:rPr lang="pt-BR" sz="20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pt-BR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2!</m:t>
                          </m:r>
                        </m:den>
                      </m:f>
                      <m:sSup>
                        <m:sSupPr>
                          <m:ctrlPr>
                            <a:rPr lang="pt-BR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pt-BR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pt-BR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func>
                        <m:funcPr>
                          <m:ctrlPr>
                            <a:rPr lang="pt-BR" sz="2000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sz="2000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pt-BR" sz="20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0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pt-BR" sz="20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pt-BR" sz="20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0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pt-BR" sz="20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pt-BR" sz="20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pt-BR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sSubSup>
                            <m:sSubSupPr>
                              <m:ctrlPr>
                                <a:rPr lang="pt-BR" sz="2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pt-BR" sz="2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  <m:sup>
                              <m:r>
                                <a:rPr lang="pt-BR" sz="2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bSup>
                        </m:num>
                        <m:den>
                          <m:r>
                            <a:rPr lang="pt-BR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3!</m:t>
                          </m:r>
                        </m:den>
                      </m:f>
                      <m:sSup>
                        <m:sSupPr>
                          <m:ctrlPr>
                            <a:rPr lang="pt-BR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pt-BR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d>
                        <m:dPr>
                          <m:ctrlPr>
                            <a:rPr lang="pt-BR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func>
                        <m:funcPr>
                          <m:ctrlPr>
                            <a:rPr lang="pt-BR" sz="2000" b="0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sz="2000" b="0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pt-BR" sz="2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pt-BR" sz="2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pt-BR" sz="20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0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pt-BR" sz="20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pt-BR" sz="2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+⋯</m:t>
                      </m:r>
                    </m:oMath>
                  </m:oMathPara>
                </a14:m>
                <a:endParaRPr lang="pt-BR" sz="2000" dirty="0"/>
              </a:p>
              <a:p>
                <a:pPr marL="0" indent="0">
                  <a:buNone/>
                </a:pPr>
                <a:endParaRPr lang="pt-BR" sz="2000" dirty="0"/>
              </a:p>
              <a:p>
                <a:pPr marL="0" indent="0">
                  <a:buNone/>
                </a:pPr>
                <a:endParaRPr lang="pt-BR" sz="2000" dirty="0"/>
              </a:p>
              <a:p>
                <a:pPr marL="0" indent="0">
                  <a:buNone/>
                </a:pPr>
                <a:endParaRPr lang="pt-BR" sz="2000" dirty="0"/>
              </a:p>
              <a:p>
                <a:pPr marL="0" indent="0">
                  <a:buNone/>
                </a:pPr>
                <a:endParaRPr lang="pt-BR" sz="2000" dirty="0"/>
              </a:p>
              <a:p>
                <a:pPr marL="0" indent="0">
                  <a:buNone/>
                </a:pPr>
                <a:endParaRPr lang="pt-BR" sz="2000" dirty="0"/>
              </a:p>
              <a:p>
                <a:pPr marL="0" indent="0">
                  <a:buNone/>
                </a:pPr>
                <a:r>
                  <a:rPr lang="pt-BR" sz="2000" dirty="0"/>
                  <a:t>Infinitos componentes -&gt; Largura de banda infinita</a:t>
                </a:r>
              </a:p>
            </p:txBody>
          </p:sp>
        </mc:Choice>
        <mc:Fallback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BA6397A7-FCEC-B76F-7289-1BB18B98F5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264062"/>
                <a:ext cx="10771414" cy="5192156"/>
              </a:xfrm>
              <a:prstGeom prst="rect">
                <a:avLst/>
              </a:prstGeom>
              <a:blipFill>
                <a:blip r:embed="rId2"/>
                <a:stretch>
                  <a:fillRect l="-62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13D24C77-C186-6292-8FEE-C5259D2293B6}"/>
              </a:ext>
            </a:extLst>
          </p:cNvPr>
          <p:cNvCxnSpPr/>
          <p:nvPr/>
        </p:nvCxnSpPr>
        <p:spPr>
          <a:xfrm>
            <a:off x="4278086" y="5342733"/>
            <a:ext cx="36902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AB257733-9E26-C40A-DF82-0DB7B6D3A373}"/>
              </a:ext>
            </a:extLst>
          </p:cNvPr>
          <p:cNvCxnSpPr/>
          <p:nvPr/>
        </p:nvCxnSpPr>
        <p:spPr>
          <a:xfrm flipV="1">
            <a:off x="6096000" y="4395676"/>
            <a:ext cx="0" cy="947057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rco 7">
            <a:extLst>
              <a:ext uri="{FF2B5EF4-FFF2-40B4-BE49-F238E27FC236}">
                <a16:creationId xmlns:a16="http://schemas.microsoft.com/office/drawing/2014/main" id="{4925EF48-1F4E-EE2E-6CD7-9F504E7DC973}"/>
              </a:ext>
            </a:extLst>
          </p:cNvPr>
          <p:cNvSpPr/>
          <p:nvPr/>
        </p:nvSpPr>
        <p:spPr>
          <a:xfrm>
            <a:off x="5601856" y="4869204"/>
            <a:ext cx="988288" cy="947056"/>
          </a:xfrm>
          <a:prstGeom prst="arc">
            <a:avLst>
              <a:gd name="adj1" fmla="val 10762658"/>
              <a:gd name="adj2" fmla="val 0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1A509407-7BDB-B852-D37B-5349F34E6863}"/>
                  </a:ext>
                </a:extLst>
              </p:cNvPr>
              <p:cNvSpPr txBox="1"/>
              <p:nvPr/>
            </p:nvSpPr>
            <p:spPr>
              <a:xfrm>
                <a:off x="3047998" y="5347953"/>
                <a:ext cx="616989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pt-BR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1A509407-7BDB-B852-D37B-5349F34E68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7998" y="5347953"/>
                <a:ext cx="6169891" cy="400110"/>
              </a:xfrm>
              <a:prstGeom prst="rect">
                <a:avLst/>
              </a:prstGeom>
              <a:blipFill>
                <a:blip r:embed="rId3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Arco 12">
            <a:extLst>
              <a:ext uri="{FF2B5EF4-FFF2-40B4-BE49-F238E27FC236}">
                <a16:creationId xmlns:a16="http://schemas.microsoft.com/office/drawing/2014/main" id="{8B5C99C2-884E-142D-175C-5D48A3C8220B}"/>
              </a:ext>
            </a:extLst>
          </p:cNvPr>
          <p:cNvSpPr/>
          <p:nvPr/>
        </p:nvSpPr>
        <p:spPr>
          <a:xfrm>
            <a:off x="5036633" y="5085600"/>
            <a:ext cx="2118733" cy="578752"/>
          </a:xfrm>
          <a:prstGeom prst="arc">
            <a:avLst>
              <a:gd name="adj1" fmla="val 10762658"/>
              <a:gd name="adj2" fmla="val 21489586"/>
            </a:avLst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5" name="Arco 14">
            <a:extLst>
              <a:ext uri="{FF2B5EF4-FFF2-40B4-BE49-F238E27FC236}">
                <a16:creationId xmlns:a16="http://schemas.microsoft.com/office/drawing/2014/main" id="{20558F35-7148-A89E-668F-D59A3CABD50A}"/>
              </a:ext>
            </a:extLst>
          </p:cNvPr>
          <p:cNvSpPr/>
          <p:nvPr/>
        </p:nvSpPr>
        <p:spPr>
          <a:xfrm>
            <a:off x="4529533" y="5228506"/>
            <a:ext cx="3206822" cy="257623"/>
          </a:xfrm>
          <a:prstGeom prst="arc">
            <a:avLst>
              <a:gd name="adj1" fmla="val 10762658"/>
              <a:gd name="adj2" fmla="val 21555469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721673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64CB8-AFF3-5B01-05A0-8A1C335ED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C82ED0-CF42-7183-5EFA-069553219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FM Banda Estreita (</a:t>
            </a:r>
            <a:r>
              <a:rPr lang="pt-BR" dirty="0" err="1"/>
              <a:t>Narrowband</a:t>
            </a:r>
            <a:r>
              <a:rPr lang="pt-BR" dirty="0"/>
              <a:t>)</a:t>
            </a:r>
            <a:br>
              <a:rPr lang="pt-BR" dirty="0"/>
            </a:br>
            <a:endParaRPr lang="pt-B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66AC14F9-BF5A-0F16-2DB6-00EE9E554E6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264062"/>
                <a:ext cx="10771414" cy="5192156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|"/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d>
                            <m:d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≪1</m:t>
                      </m:r>
                    </m:oMath>
                  </m:oMathPara>
                </a14:m>
                <a:endParaRPr lang="pt-BR" sz="2400" b="0" dirty="0"/>
              </a:p>
              <a:p>
                <a:pPr marL="0" indent="0">
                  <a:buNone/>
                </a:pPr>
                <a:endParaRPr lang="pt-BR" sz="24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groupChr>
                        <m:groupChrPr>
                          <m:chr m:val="⇒"/>
                          <m:pos m:val="top"/>
                          <m:vertJc m:val="top"/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/>
                      </m:groupChr>
                      <m:sSub>
                        <m:sSub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𝑁𝐵</m:t>
                          </m:r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𝐹𝑀</m:t>
                          </m:r>
                        </m:sub>
                      </m:sSub>
                      <m:d>
                        <m:d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t-BR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pt-BR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func>
                        <m:funcPr>
                          <m:ctrlPr>
                            <a:rPr lang="pt-BR" sz="24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sz="24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pt-BR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pt-BR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pt-BR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pt-BR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pt-BR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  <m:r>
                        <a:rPr lang="pt-BR" sz="2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2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sSub>
                        <m:sSubPr>
                          <m:ctrlPr>
                            <a:rPr lang="pt-BR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pt-BR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pt-BR" sz="2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pt-BR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func>
                        <m:funcPr>
                          <m:ctrlPr>
                            <a:rPr lang="pt-BR" sz="240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sz="240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pt-BR" sz="2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pt-BR" sz="2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pt-BR" sz="24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4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pt-BR" sz="2400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pt-BR" sz="2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pt-BR" sz="2400" dirty="0"/>
              </a:p>
              <a:p>
                <a:pPr marL="0" indent="0">
                  <a:buNone/>
                </a:pPr>
                <a:endParaRPr lang="pt-BR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𝑁𝐵𝐹𝑀</m:t>
                          </m:r>
                        </m:sub>
                      </m:sSub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≈2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pt-BR" sz="2400" dirty="0"/>
              </a:p>
              <a:p>
                <a:pPr marL="0" indent="0">
                  <a:buNone/>
                </a:pPr>
                <a:endParaRPr lang="pt-BR" sz="2400" dirty="0"/>
              </a:p>
            </p:txBody>
          </p:sp>
        </mc:Choice>
        <mc:Fallback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66AC14F9-BF5A-0F16-2DB6-00EE9E554E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264062"/>
                <a:ext cx="10771414" cy="519215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E1986E94-3AF2-B34C-AEA7-2B0FFF4211CB}"/>
              </a:ext>
            </a:extLst>
          </p:cNvPr>
          <p:cNvCxnSpPr/>
          <p:nvPr/>
        </p:nvCxnSpPr>
        <p:spPr>
          <a:xfrm>
            <a:off x="4278086" y="5342733"/>
            <a:ext cx="36902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401881C2-6D05-ED51-7C0A-15DB9F88991F}"/>
              </a:ext>
            </a:extLst>
          </p:cNvPr>
          <p:cNvCxnSpPr/>
          <p:nvPr/>
        </p:nvCxnSpPr>
        <p:spPr>
          <a:xfrm flipV="1">
            <a:off x="6096000" y="4395676"/>
            <a:ext cx="0" cy="947057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rco 7">
            <a:extLst>
              <a:ext uri="{FF2B5EF4-FFF2-40B4-BE49-F238E27FC236}">
                <a16:creationId xmlns:a16="http://schemas.microsoft.com/office/drawing/2014/main" id="{5CEFC14E-688C-E48B-CA5F-D3844EA9EBF8}"/>
              </a:ext>
            </a:extLst>
          </p:cNvPr>
          <p:cNvSpPr/>
          <p:nvPr/>
        </p:nvSpPr>
        <p:spPr>
          <a:xfrm>
            <a:off x="5601856" y="4869204"/>
            <a:ext cx="988288" cy="947056"/>
          </a:xfrm>
          <a:prstGeom prst="arc">
            <a:avLst>
              <a:gd name="adj1" fmla="val 10762658"/>
              <a:gd name="adj2" fmla="val 0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599CAF21-6701-6A16-2E97-025BF9383E85}"/>
                  </a:ext>
                </a:extLst>
              </p:cNvPr>
              <p:cNvSpPr txBox="1"/>
              <p:nvPr/>
            </p:nvSpPr>
            <p:spPr>
              <a:xfrm>
                <a:off x="3047998" y="5347953"/>
                <a:ext cx="616989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pt-BR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599CAF21-6701-6A16-2E97-025BF9383E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7998" y="5347953"/>
                <a:ext cx="6169891" cy="400110"/>
              </a:xfrm>
              <a:prstGeom prst="rect">
                <a:avLst/>
              </a:prstGeom>
              <a:blipFill>
                <a:blip r:embed="rId3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70171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E4BD10-A14C-D377-267D-56E71847A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FM Banda Estreita (</a:t>
            </a:r>
            <a:r>
              <a:rPr lang="pt-BR" dirty="0" err="1"/>
              <a:t>Narrowband</a:t>
            </a:r>
            <a:r>
              <a:rPr lang="pt-BR" dirty="0"/>
              <a:t>)</a:t>
            </a:r>
            <a:br>
              <a:rPr lang="pt-BR" dirty="0"/>
            </a:br>
            <a:r>
              <a:rPr lang="pt-BR" dirty="0"/>
              <a:t>Geração</a:t>
            </a:r>
            <a:br>
              <a:rPr lang="pt-BR" dirty="0"/>
            </a:br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40775F5-CC50-D71E-D826-C1E620E191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8731" y="1708005"/>
            <a:ext cx="8154538" cy="4143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406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3BADB0-7A5B-81A1-604B-8AB2B16BE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Índice de Modulação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969D3383-896D-49DB-7EF5-B30612B4DF6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595551"/>
                <a:ext cx="10515600" cy="4351338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pt-BR" dirty="0"/>
                  <a:t>O índice de modulação é dado por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b="0" i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pt-BR" b="0" i="0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den>
                      </m:f>
                    </m:oMath>
                  </m:oMathPara>
                </a14:m>
                <a:endParaRPr lang="pt-BR" dirty="0"/>
              </a:p>
              <a:p>
                <a:pPr marL="0" indent="0">
                  <a:buNone/>
                </a:pPr>
                <a:endParaRPr lang="pt-BR" dirty="0"/>
              </a:p>
              <a:p>
                <a:pPr marL="0" indent="0">
                  <a:buNone/>
                </a:pPr>
                <a:r>
                  <a:rPr lang="pt-BR" dirty="0"/>
                  <a:t>Onde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>
                        <a:latin typeface="Cambria Math" panose="02040503050406030204" pitchFamily="18" charset="0"/>
                      </a:rPr>
                      <m:t>Δ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dirty="0"/>
                  <a:t>é o máximo desvio de frequência</a:t>
                </a:r>
              </a:p>
              <a:p>
                <a:pPr marL="0" indent="0">
                  <a:buNone/>
                </a:pPr>
                <a:endParaRPr lang="pt-BR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pt-BR" dirty="0"/>
                  <a:t> - for FM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num>
                      <m:den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den>
                    </m:f>
                    <m:func>
                      <m:funcPr>
                        <m:ctrlPr>
                          <a:rPr lang="pt-BR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t-BR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begChr m:val="|"/>
                            <m:endChr m:val="|"/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𝑑𝑚</m:t>
                                </m:r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𝑑𝑡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lang="pt-BR" dirty="0"/>
                  <a:t> - for PM</a:t>
                </a:r>
              </a:p>
              <a:p>
                <a:endParaRPr lang="pt-BR" dirty="0"/>
              </a:p>
            </p:txBody>
          </p:sp>
        </mc:Choice>
        <mc:Fallback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969D3383-896D-49DB-7EF5-B30612B4DF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595551"/>
                <a:ext cx="10515600" cy="4351338"/>
              </a:xfrm>
              <a:prstGeom prst="rect">
                <a:avLst/>
              </a:prstGeom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47943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C5D643-9787-FC00-E94A-AD36476ED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Modulação em frequência</a:t>
            </a:r>
            <a:br>
              <a:rPr lang="pt-BR" dirty="0"/>
            </a:br>
            <a:r>
              <a:rPr lang="pt-BR" dirty="0"/>
              <a:t>Largura de Banda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FDA258BD-29BE-3EC0-F9FE-5BAB8CB228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E se FM não for </a:t>
                </a:r>
                <a:r>
                  <a:rPr lang="pt-BR" dirty="0" err="1"/>
                  <a:t>narrowband</a:t>
                </a:r>
                <a:r>
                  <a:rPr lang="pt-BR" dirty="0"/>
                  <a:t>?</a:t>
                </a:r>
              </a:p>
              <a:p>
                <a:r>
                  <a:rPr lang="pt-BR" dirty="0"/>
                  <a:t>Banda infinita, mas a banda que contém a maior parte da potência é dada pela regra de Carson</a:t>
                </a:r>
              </a:p>
              <a:p>
                <a:r>
                  <a:rPr lang="pt-B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𝐹𝑀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≈2</m:t>
                    </m:r>
                    <m:d>
                      <m:dPr>
                        <m:ctrlPr>
                          <a:rPr lang="pt-BR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pt-BR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pt-BR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+1)</m:t>
                    </m:r>
                  </m:oMath>
                </a14:m>
                <a:endParaRPr lang="pt-BR" dirty="0"/>
              </a:p>
            </p:txBody>
          </p:sp>
        </mc:Choice>
        <mc:Fallback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FDA258BD-29BE-3EC0-F9FE-5BAB8CB228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8397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F39303-9ECC-7E97-1D46-F480E2DE4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FM</a:t>
            </a:r>
            <a:br>
              <a:rPr lang="pt-BR" dirty="0"/>
            </a:br>
            <a:r>
              <a:rPr lang="pt-BR" dirty="0"/>
              <a:t>Modulação Tonal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000026D5-01E0-26FF-85E9-2141EEFDEB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Se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𝑚</m:t>
                    </m:r>
                    <m:d>
                      <m:d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𝛼</m:t>
                    </m:r>
                    <m:func>
                      <m:funcPr>
                        <m:ctrlPr>
                          <a:rPr lang="pt-BR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t-BR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(2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pt-BR" dirty="0"/>
              </a:p>
              <a:p>
                <a:r>
                  <a:rPr lang="pt-BR" dirty="0"/>
                  <a:t>Então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𝐹𝑀</m:t>
                          </m:r>
                        </m:sub>
                      </m:sSub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𝐴</m:t>
                      </m:r>
                      <m:func>
                        <m:funcPr>
                          <m:ctrlPr>
                            <a:rPr lang="pt-BR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[2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  <m:func>
                            <m:funcPr>
                              <m:ctrlPr>
                                <a:rPr lang="pt-BR" b="0" i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t-BR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(2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func>
                    </m:oMath>
                  </m:oMathPara>
                </a14:m>
                <a:endParaRPr lang="pt-BR" dirty="0"/>
              </a:p>
              <a:p>
                <a:pPr marL="0" indent="0">
                  <a:buNone/>
                </a:pPr>
                <a:endParaRPr lang="pt-BR" dirty="0"/>
              </a:p>
              <a:p>
                <a:pPr marL="0" indent="0">
                  <a:buNone/>
                </a:pPr>
                <a:r>
                  <a:rPr lang="pt-BR" dirty="0"/>
                  <a:t>Que pode ser </a:t>
                </a:r>
                <a:r>
                  <a:rPr lang="pt-BR" dirty="0" err="1"/>
                  <a:t>re</a:t>
                </a:r>
                <a:r>
                  <a:rPr lang="pt-BR" dirty="0"/>
                  <a:t> escrito como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𝐹𝑀</m:t>
                          </m:r>
                        </m:sub>
                      </m:sSub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𝐴</m:t>
                      </m:r>
                      <m:nary>
                        <m:naryPr>
                          <m:chr m:val="∑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m:rPr>
                              <m:brk m:alnAt="23"/>
                            </m:rPr>
                            <a:rPr lang="pt-BR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pt-B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d>
                            <m:d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d>
                          <m:func>
                            <m:funcPr>
                              <m:ctrlPr>
                                <a:rPr lang="pt-BR" b="0" i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t-BR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d>
                                    <m:dPr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sSub>
                                        <m:sSubPr>
                                          <m:ctrlP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func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pt-BR" dirty="0"/>
              </a:p>
              <a:p>
                <a:pPr marL="0" indent="0">
                  <a:buNone/>
                </a:pPr>
                <a:endParaRPr lang="pt-BR" dirty="0"/>
              </a:p>
            </p:txBody>
          </p:sp>
        </mc:Choice>
        <mc:Fallback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000026D5-01E0-26FF-85E9-2141EEFDEB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2775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DE198D-6A98-D575-F691-6B9EEDEFF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FM – Modulação Tonal</a:t>
            </a:r>
            <a:br>
              <a:rPr lang="pt-BR" dirty="0"/>
            </a:br>
            <a:r>
              <a:rPr lang="pt-BR" dirty="0"/>
              <a:t>Espectro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4960A40-6AA2-6DDD-8352-FEFB730E49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1183" y="1189854"/>
            <a:ext cx="7983064" cy="5515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156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E7F536-2CD1-D3F9-6FDC-19969A5D1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FM – Modulação Tonal</a:t>
            </a:r>
            <a:br>
              <a:rPr lang="pt-BR" dirty="0"/>
            </a:br>
            <a:r>
              <a:rPr lang="pt-BR" dirty="0"/>
              <a:t>Espectro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1C1E55B-F50F-0B09-DA04-EFE59F5DEA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028" y="1135525"/>
            <a:ext cx="3712030" cy="2712127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9D6D7CAF-3906-342E-E649-9B3902E2F3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7785" y="1135525"/>
            <a:ext cx="4019690" cy="2826875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6BEA9362-B82E-AA41-5807-0612D7776C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764" y="3852463"/>
            <a:ext cx="3910558" cy="2853136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13DE4070-6CA0-64F6-B73F-96E9FF52FA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7785" y="3993472"/>
            <a:ext cx="3910557" cy="2897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298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32EFF1-C12E-B2A6-E596-509B5609E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Geração de Sinais FM</a:t>
            </a:r>
            <a:br>
              <a:rPr lang="pt-BR" dirty="0"/>
            </a:br>
            <a:r>
              <a:rPr lang="pt-BR" dirty="0"/>
              <a:t>Geração Indireta de Armstrong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2D18349-DE33-C2DD-27E7-E26A30175D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9689" y="1382831"/>
            <a:ext cx="8040222" cy="4810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185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D6B0E4-428B-BF4C-EC60-5E8568271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Geração de Sinais FM</a:t>
            </a:r>
            <a:br>
              <a:rPr lang="pt-BR" dirty="0"/>
            </a:br>
            <a:r>
              <a:rPr lang="pt-BR" dirty="0"/>
              <a:t>Geração Indireta - Exemplo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8FBC681-7E77-636C-7843-1F3A1EFE09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4485" y="1456445"/>
            <a:ext cx="7443030" cy="4871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219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578918-D871-3023-54FD-05A088261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Geração de Sinais FM</a:t>
            </a:r>
            <a:br>
              <a:rPr lang="pt-BR" dirty="0"/>
            </a:br>
            <a:r>
              <a:rPr lang="pt-BR" dirty="0"/>
              <a:t>Geração Indireta - Exemplo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EE34E81-8215-F755-7A84-2859C283CE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5551"/>
            <a:ext cx="10515600" cy="862012"/>
          </a:xfrm>
        </p:spPr>
        <p:txBody>
          <a:bodyPr/>
          <a:lstStyle/>
          <a:p>
            <a:r>
              <a:rPr lang="pt-BR" dirty="0"/>
              <a:t>Utiliza-se um VCO (</a:t>
            </a:r>
            <a:r>
              <a:rPr lang="pt-BR" dirty="0" err="1"/>
              <a:t>Voltage</a:t>
            </a:r>
            <a:r>
              <a:rPr lang="pt-BR" dirty="0"/>
              <a:t> </a:t>
            </a:r>
            <a:r>
              <a:rPr lang="pt-BR" dirty="0" err="1"/>
              <a:t>Controlled</a:t>
            </a:r>
            <a:r>
              <a:rPr lang="pt-BR" dirty="0"/>
              <a:t> </a:t>
            </a:r>
            <a:r>
              <a:rPr lang="pt-BR" dirty="0" err="1"/>
              <a:t>Oscilator</a:t>
            </a:r>
            <a:r>
              <a:rPr lang="pt-BR" dirty="0"/>
              <a:t>)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5A27304-8E9A-F176-AA4C-76D2C79376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0829" y="2585835"/>
            <a:ext cx="6982799" cy="2905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812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FAF0E-2FDA-20C1-EEDC-558C0D3B7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ACE039-F792-DADE-D400-E8AE3B8D9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Demodulação de Sinais FM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7BD2FBA-4EB1-F191-270A-0C1AF52914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05694"/>
            <a:ext cx="10515600" cy="668678"/>
          </a:xfrm>
        </p:spPr>
        <p:txBody>
          <a:bodyPr/>
          <a:lstStyle/>
          <a:p>
            <a:r>
              <a:rPr lang="pt-BR" dirty="0"/>
              <a:t>Precisamos de um discriminador de frequência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984E3B4-1C22-370A-E3A3-570E8110DF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469" y="2233445"/>
            <a:ext cx="8545118" cy="2391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328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DDB797-922D-21EA-B0DD-CAF686419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Demodulação de Sinais FM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7D6F9430-E14C-6788-04EC-87BFC9F4EF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05694"/>
                <a:ext cx="10515600" cy="1343592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Precisamos de um discriminador de frequência,</a:t>
                </a:r>
              </a:p>
              <a:p>
                <a:r>
                  <a:rPr lang="pt-BR" dirty="0"/>
                  <a:t>Uma função de transferência da forma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𝑎𝑓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pt-BR" dirty="0"/>
              </a:p>
            </p:txBody>
          </p:sp>
        </mc:Choice>
        <mc:Fallback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7D6F9430-E14C-6788-04EC-87BFC9F4EF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05694"/>
                <a:ext cx="10515600" cy="1343592"/>
              </a:xfrm>
              <a:blipFill>
                <a:blip r:embed="rId2"/>
                <a:stretch>
                  <a:fillRect l="-1043" t="-724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Imagem 6">
            <a:extLst>
              <a:ext uri="{FF2B5EF4-FFF2-40B4-BE49-F238E27FC236}">
                <a16:creationId xmlns:a16="http://schemas.microsoft.com/office/drawing/2014/main" id="{A40882A1-A92C-77C8-5143-2B067EA10F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799" y="2940042"/>
            <a:ext cx="5334000" cy="3765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14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370788-379A-2540-A16B-88464F29B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Demodulação Direta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2984960-1BBD-D636-24A2-AC3DE5A502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967" y="1509444"/>
            <a:ext cx="8888065" cy="3839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832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7D3C7B-3679-70EA-5CAB-89110F7EC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Demodulação</a:t>
            </a:r>
            <a:br>
              <a:rPr lang="pt-BR" dirty="0"/>
            </a:br>
            <a:r>
              <a:rPr lang="pt-BR" dirty="0"/>
              <a:t>Phase </a:t>
            </a:r>
            <a:r>
              <a:rPr lang="pt-BR" dirty="0" err="1"/>
              <a:t>Locked</a:t>
            </a:r>
            <a:r>
              <a:rPr lang="pt-BR" dirty="0"/>
              <a:t> Loop (PLL)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5B306EB-63B2-BD08-BB83-E6D594AA59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5389" y="1513437"/>
            <a:ext cx="8221222" cy="5115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04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icks Attorneys - Brazil - Presentation EN.potx  -  versão 2.0: 06/01/2022 11:04  -  Somente Leitura" id="{A6674CF9-3814-4F73-9FDA-DA843D583E93}" vid="{DB5BBEE7-B585-4951-AEB8-B408A647032B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16BCB7353188E4C9571C1B2EA1322FC" ma:contentTypeVersion="35" ma:contentTypeDescription="Crie um novo documento." ma:contentTypeScope="" ma:versionID="92c51d0239284ad1c813a13c01a4fe40">
  <xsd:schema xmlns:xsd="http://www.w3.org/2001/XMLSchema" xmlns:xs="http://www.w3.org/2001/XMLSchema" xmlns:p="http://schemas.microsoft.com/office/2006/metadata/properties" xmlns:ns1="http://schemas.microsoft.com/sharepoint/v3" xmlns:ns2="95c025fe-a600-4cde-9b8b-77161b10ab73" xmlns:ns3="7338d0ee-48d0-42fd-8eee-cce9c16843bc" targetNamespace="http://schemas.microsoft.com/office/2006/metadata/properties" ma:root="true" ma:fieldsID="6edbb47d3ff2f476a00cc06bb1101404" ns1:_="" ns2:_="" ns3:_="">
    <xsd:import namespace="http://schemas.microsoft.com/sharepoint/v3"/>
    <xsd:import namespace="95c025fe-a600-4cde-9b8b-77161b10ab73"/>
    <xsd:import namespace="7338d0ee-48d0-42fd-8eee-cce9c16843bc"/>
    <xsd:element name="properties">
      <xsd:complexType>
        <xsd:sequence>
          <xsd:element name="documentManagement">
            <xsd:complexType>
              <xsd:all>
                <xsd:element ref="ns2:Country_x0020_1" minOccurs="0"/>
                <xsd:element ref="ns1:PublishingStartDate" minOccurs="0"/>
                <xsd:element ref="ns1:PublishingExpirationDate" minOccurs="0"/>
                <xsd:element ref="ns3:SharedWithUsers" minOccurs="0"/>
                <xsd:element ref="ns3:SharingHintHash" minOccurs="0"/>
                <xsd:element ref="ns3:SharedWithDetails" minOccurs="0"/>
                <xsd:element ref="ns3:LastSharedByUser" minOccurs="0"/>
                <xsd:element ref="ns3:LastSharedByTime" minOccurs="0"/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DateTaken" minOccurs="0"/>
                <xsd:element ref="ns2:MediaServiceLocation" minOccurs="0"/>
                <xsd:element ref="ns2:MediaServiceOCR" minOccurs="0"/>
                <xsd:element ref="ns2:MediaServiceEventHashCode" minOccurs="0"/>
                <xsd:element ref="ns2:MediaServiceGenerationTim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Agendamento de Data de Início" ma:description="Data de Início de Agendamento é uma coluna de site criada pelo recurso de Publicação. Ela é usada para especificar a data e hora em que essa página aparecerá pela primeira vez aos visitantes do site." ma:hidden="true" ma:internalName="PublishingStartDate" ma:readOnly="false">
      <xsd:simpleType>
        <xsd:restriction base="dms:Unknown"/>
      </xsd:simpleType>
    </xsd:element>
    <xsd:element name="PublishingExpirationDate" ma:index="9" nillable="true" ma:displayName="Agendamento de Data de Término" ma:description="Data Final de Agendamento é uma coluna de site criada pelo recurso de Publicação. Ela é usada para especificar a data e a hora em que essa página não será mais exibida aos visitantes do site." ma:hidden="true" ma:internalName="PublishingExpirationDate" ma:readOnly="fals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c025fe-a600-4cde-9b8b-77161b10ab73" elementFormDefault="qualified">
    <xsd:import namespace="http://schemas.microsoft.com/office/2006/documentManagement/types"/>
    <xsd:import namespace="http://schemas.microsoft.com/office/infopath/2007/PartnerControls"/>
    <xsd:element name="Country_x0020_1" ma:index="2" nillable="true" ma:displayName="Country" ma:format="Dropdown" ma:internalName="Country_x0020_1" ma:readOnly="false">
      <xsd:simpleType>
        <xsd:restriction base="dms:Choice">
          <xsd:enumeration value="China"/>
          <xsd:enumeration value="France"/>
          <xsd:enumeration value="Germany"/>
          <xsd:enumeration value="Japan"/>
          <xsd:enumeration value="Netherlands"/>
          <xsd:enumeration value="UK"/>
          <xsd:enumeration value="USA"/>
        </xsd:restriction>
      </xsd:simpleType>
    </xsd:element>
    <xsd:element name="MediaServiceMetadata" ma:index="15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6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7" nillable="true" ma:displayName="MediaServiceAutoTags" ma:description="" ma:hidden="true" ma:internalName="MediaServiceAutoTags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MediaServiceLocation" ma:hidden="true" ma:internalName="MediaServiceLocation" ma:readOnly="true">
      <xsd:simpleType>
        <xsd:restriction base="dms:Text"/>
      </xsd:simpleType>
    </xsd:element>
    <xsd:element name="MediaServiceOCR" ma:index="20" nillable="true" ma:displayName="MediaServiceOCR" ma:hidden="true" ma:internalName="MediaServiceOCR" ma:readOnly="true">
      <xsd:simpleType>
        <xsd:restriction base="dms:Note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2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4" nillable="true" ma:displayName="KeyPoints" ma:hidden="true" ma:internalName="MediaServiceKeyPoints" ma:readOnly="true">
      <xsd:simpleType>
        <xsd:restriction base="dms:Note"/>
      </xsd:simpleType>
    </xsd:element>
    <xsd:element name="MediaLengthInSeconds" ma:index="26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8" nillable="true" ma:taxonomy="true" ma:internalName="lcf76f155ced4ddcb4097134ff3c332f" ma:taxonomyFieldName="MediaServiceImageTags" ma:displayName="Marcações de imagem" ma:readOnly="false" ma:fieldId="{5cf76f15-5ced-4ddc-b409-7134ff3c332f}" ma:taxonomyMulti="true" ma:sspId="04e8a720-b6b8-4622-b52c-5ab72fdc0c0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3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3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38d0ee-48d0-42fd-8eee-cce9c16843b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ingHintHash" ma:index="11" nillable="true" ma:displayName="Hash de Dica de Compartilhamento" ma:hidden="true" ma:internalName="SharingHintHash" ma:readOnly="true">
      <xsd:simpleType>
        <xsd:restriction base="dms:Text"/>
      </xsd:simpleType>
    </xsd:element>
    <xsd:element name="SharedWithDetails" ma:index="12" nillable="true" ma:displayName="Detalhes de Compartilhado Com" ma:description="" ma:hidden="true" ma:internalName="SharedWithDetails" ma:readOnly="true">
      <xsd:simpleType>
        <xsd:restriction base="dms:Note"/>
      </xsd:simpleType>
    </xsd:element>
    <xsd:element name="LastSharedByUser" ma:index="13" nillable="true" ma:displayName="Último Compartilhamento Por Usuário" ma:description="" ma:hidden="true" ma:internalName="LastSharedByUser" ma:readOnly="true">
      <xsd:simpleType>
        <xsd:restriction base="dms:Note"/>
      </xsd:simpleType>
    </xsd:element>
    <xsd:element name="LastSharedByTime" ma:index="14" nillable="true" ma:displayName="Último Compartilhamento Por Tempo" ma:description="" ma:hidden="true" ma:internalName="LastSharedByTime" ma:readOnly="true">
      <xsd:simpleType>
        <xsd:restriction base="dms:DateTime"/>
      </xsd:simpleType>
    </xsd:element>
    <xsd:element name="TaxCatchAll" ma:index="29" nillable="true" ma:displayName="Taxonomy Catch All Column" ma:hidden="true" ma:list="{8971a6ca-946b-442e-a300-cc99d2254307}" ma:internalName="TaxCatchAll" ma:showField="CatchAllData" ma:web="7338d0ee-48d0-42fd-8eee-cce9c16843b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Tipo de Conteúdo"/>
        <xsd:element ref="dc:title" minOccurs="0" maxOccurs="1" ma:index="1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  <Country_x0020_1 xmlns="95c025fe-a600-4cde-9b8b-77161b10ab73" xsi:nil="true"/>
    <TaxCatchAll xmlns="7338d0ee-48d0-42fd-8eee-cce9c16843bc" xsi:nil="true"/>
    <lcf76f155ced4ddcb4097134ff3c332f xmlns="95c025fe-a600-4cde-9b8b-77161b10ab73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2BDDB90-0A5B-4A8F-A01B-30AFB72EE556}">
  <ds:schemaRefs>
    <ds:schemaRef ds:uri="7338d0ee-48d0-42fd-8eee-cce9c16843bc"/>
    <ds:schemaRef ds:uri="95c025fe-a600-4cde-9b8b-77161b10ab7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4FEC8D3-7B32-419B-A4A3-EBB3317EEE7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79FE441-B5D8-464E-B272-E5E9701C444C}">
  <ds:schemaRefs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95c025fe-a600-4cde-9b8b-77161b10ab73"/>
    <ds:schemaRef ds:uri="http://purl.org/dc/dcmitype/"/>
    <ds:schemaRef ds:uri="http://purl.org/dc/terms/"/>
    <ds:schemaRef ds:uri="http://schemas.microsoft.com/sharepoint/v3"/>
    <ds:schemaRef ds:uri="http://purl.org/dc/elements/1.1/"/>
    <ds:schemaRef ds:uri="7338d0ee-48d0-42fd-8eee-cce9c16843bc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756163f3-60ab-41f6-93dc-6e1b6af775b3}" enabled="1" method="Privileged" siteId="{a5a01691-338c-4b57-812c-24d594995cd6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Licks Attorneys - Brazil - Presentation EN</Template>
  <TotalTime>4423</TotalTime>
  <Words>696</Words>
  <Application>Microsoft Office PowerPoint</Application>
  <PresentationFormat>Widescreen</PresentationFormat>
  <Paragraphs>115</Paragraphs>
  <Slides>27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27</vt:i4>
      </vt:variant>
    </vt:vector>
  </HeadingPairs>
  <TitlesOfParts>
    <vt:vector size="33" baseType="lpstr">
      <vt:lpstr>Arial</vt:lpstr>
      <vt:lpstr>Calibri</vt:lpstr>
      <vt:lpstr>Calibri Light</vt:lpstr>
      <vt:lpstr>Cambria Math</vt:lpstr>
      <vt:lpstr>Segoe UI Black</vt:lpstr>
      <vt:lpstr>Tema do Office</vt:lpstr>
      <vt:lpstr>Modulação em Ângulo (FM/PM)</vt:lpstr>
      <vt:lpstr>Fonte</vt:lpstr>
      <vt:lpstr>Introdução</vt:lpstr>
      <vt:lpstr>Modulação em Ângulo Exemplo 1</vt:lpstr>
      <vt:lpstr>Modulação em Ângulo Exemplo 2</vt:lpstr>
      <vt:lpstr>AM x FM/PM</vt:lpstr>
      <vt:lpstr>Frequência Instantânea </vt:lpstr>
      <vt:lpstr>Frequência Instantânea  Exemplo</vt:lpstr>
      <vt:lpstr>Modulação de Fase (PM)</vt:lpstr>
      <vt:lpstr>Modulação de Frequência (FM)</vt:lpstr>
      <vt:lpstr>Modulação em ângulo (EM) Vista como PM ou FM</vt:lpstr>
      <vt:lpstr>Modulação em ângulo (EM) Vista como PM ou FM</vt:lpstr>
      <vt:lpstr>Modulação em frequência Largura de Banda</vt:lpstr>
      <vt:lpstr>FM Banda Estreita (Narrowband) </vt:lpstr>
      <vt:lpstr>FM Banda Estreita (Narrowband) Geração </vt:lpstr>
      <vt:lpstr>Índice de Modulação</vt:lpstr>
      <vt:lpstr>Modulação em frequência Largura de Banda</vt:lpstr>
      <vt:lpstr>FM Modulação Tonal</vt:lpstr>
      <vt:lpstr>FM – Modulação Tonal Espectro</vt:lpstr>
      <vt:lpstr>FM – Modulação Tonal Espectro</vt:lpstr>
      <vt:lpstr>Geração de Sinais FM Geração Indireta de Armstrong</vt:lpstr>
      <vt:lpstr>Geração de Sinais FM Geração Indireta - Exemplo</vt:lpstr>
      <vt:lpstr>Geração de Sinais FM Geração Indireta - Exemplo</vt:lpstr>
      <vt:lpstr>Demodulação de Sinais FM</vt:lpstr>
      <vt:lpstr>Demodulação de Sinais FM</vt:lpstr>
      <vt:lpstr>Demodulação Direta</vt:lpstr>
      <vt:lpstr>Demodulação Phase Locked Loop (PLL)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June 29th, 2021</dc:title>
  <dc:creator>Sonia Ximenes</dc:creator>
  <cp:lastModifiedBy>André Barreto | Brazil | Licks Attorneys</cp:lastModifiedBy>
  <cp:revision>9</cp:revision>
  <cp:lastPrinted>2017-06-06T18:46:34Z</cp:lastPrinted>
  <dcterms:created xsi:type="dcterms:W3CDTF">2022-06-23T16:27:38Z</dcterms:created>
  <dcterms:modified xsi:type="dcterms:W3CDTF">2026-09-26T00:13:21Z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0x010100016BCB7353188E4C9571C1B2EA1322FC</vt:lpwstr>
  </property>
  <property fmtid="{D5CDD505-2E9C-101B-9397-08002B2CF9AE}" pid="3" name="MSIP_Label_8b38cb3f-a960-40d2-b589-fe5c7caef41b_Enabled">
    <vt:lpwstr>true</vt:lpwstr>
  </property>
  <property fmtid="{D5CDD505-2E9C-101B-9397-08002B2CF9AE}" pid="4" name="MSIP_Label_8b38cb3f-a960-40d2-b589-fe5c7caef41b_SetDate">
    <vt:lpwstr>2022-06-23T16:46:29Z</vt:lpwstr>
  </property>
  <property fmtid="{D5CDD505-2E9C-101B-9397-08002B2CF9AE}" pid="5" name="MSIP_Label_8b38cb3f-a960-40d2-b589-fe5c7caef41b_Method">
    <vt:lpwstr>Privileged</vt:lpwstr>
  </property>
  <property fmtid="{D5CDD505-2E9C-101B-9397-08002B2CF9AE}" pid="6" name="MSIP_Label_8b38cb3f-a960-40d2-b589-fe5c7caef41b_Name">
    <vt:lpwstr>CONFIDENTIAL</vt:lpwstr>
  </property>
  <property fmtid="{D5CDD505-2E9C-101B-9397-08002B2CF9AE}" pid="7" name="MSIP_Label_8b38cb3f-a960-40d2-b589-fe5c7caef41b_SiteId">
    <vt:lpwstr>a5a01691-338c-4b57-812c-24d594995cd6</vt:lpwstr>
  </property>
  <property fmtid="{D5CDD505-2E9C-101B-9397-08002B2CF9AE}" pid="8" name="MSIP_Label_8b38cb3f-a960-40d2-b589-fe5c7caef41b_ActionId">
    <vt:lpwstr>82308caf-a452-4fdc-9535-426c4b72816e</vt:lpwstr>
  </property>
  <property fmtid="{D5CDD505-2E9C-101B-9397-08002B2CF9AE}" pid="9" name="MSIP_Label_8b38cb3f-a960-40d2-b589-fe5c7caef41b_ContentBits">
    <vt:lpwstr>1</vt:lpwstr>
  </property>
  <property fmtid="{D5CDD505-2E9C-101B-9397-08002B2CF9AE}" pid="10" name="MediaServiceImageTags">
    <vt:lpwstr/>
  </property>
</Properties>
</file>