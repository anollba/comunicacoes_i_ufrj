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7"/>
  </p:notesMasterIdLst>
  <p:handoutMasterIdLst>
    <p:handoutMasterId r:id="rId58"/>
  </p:handoutMasterIdLst>
  <p:sldIdLst>
    <p:sldId id="259" r:id="rId5"/>
    <p:sldId id="347" r:id="rId6"/>
    <p:sldId id="306" r:id="rId7"/>
    <p:sldId id="313" r:id="rId8"/>
    <p:sldId id="317" r:id="rId9"/>
    <p:sldId id="318" r:id="rId10"/>
    <p:sldId id="319" r:id="rId11"/>
    <p:sldId id="321" r:id="rId12"/>
    <p:sldId id="331" r:id="rId13"/>
    <p:sldId id="282" r:id="rId14"/>
    <p:sldId id="350" r:id="rId15"/>
    <p:sldId id="362" r:id="rId16"/>
    <p:sldId id="363" r:id="rId17"/>
    <p:sldId id="364" r:id="rId18"/>
    <p:sldId id="365" r:id="rId19"/>
    <p:sldId id="368" r:id="rId20"/>
    <p:sldId id="366" r:id="rId21"/>
    <p:sldId id="367" r:id="rId22"/>
    <p:sldId id="369" r:id="rId23"/>
    <p:sldId id="371" r:id="rId24"/>
    <p:sldId id="372" r:id="rId25"/>
    <p:sldId id="373" r:id="rId26"/>
    <p:sldId id="374" r:id="rId27"/>
    <p:sldId id="375" r:id="rId28"/>
    <p:sldId id="376" r:id="rId29"/>
    <p:sldId id="377" r:id="rId30"/>
    <p:sldId id="390" r:id="rId31"/>
    <p:sldId id="378" r:id="rId32"/>
    <p:sldId id="391" r:id="rId33"/>
    <p:sldId id="392" r:id="rId34"/>
    <p:sldId id="380" r:id="rId35"/>
    <p:sldId id="379" r:id="rId36"/>
    <p:sldId id="381" r:id="rId37"/>
    <p:sldId id="382" r:id="rId38"/>
    <p:sldId id="383" r:id="rId39"/>
    <p:sldId id="384" r:id="rId40"/>
    <p:sldId id="385" r:id="rId41"/>
    <p:sldId id="393" r:id="rId42"/>
    <p:sldId id="386" r:id="rId43"/>
    <p:sldId id="387" r:id="rId44"/>
    <p:sldId id="388" r:id="rId45"/>
    <p:sldId id="389" r:id="rId46"/>
    <p:sldId id="336" r:id="rId47"/>
    <p:sldId id="298" r:id="rId48"/>
    <p:sldId id="358" r:id="rId49"/>
    <p:sldId id="360" r:id="rId50"/>
    <p:sldId id="348" r:id="rId51"/>
    <p:sldId id="394" r:id="rId52"/>
    <p:sldId id="395" r:id="rId53"/>
    <p:sldId id="396" r:id="rId54"/>
    <p:sldId id="397" r:id="rId55"/>
    <p:sldId id="398" r:id="rId56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66F45CC5-03A4-427B-927A-123D5694A762}">
          <p14:sldIdLst>
            <p14:sldId id="259"/>
          </p14:sldIdLst>
        </p14:section>
        <p14:section name="Seção sem Título" id="{0AF02E1A-BA6A-4459-AB01-C48EDF29A88E}">
          <p14:sldIdLst>
            <p14:sldId id="347"/>
            <p14:sldId id="306"/>
            <p14:sldId id="313"/>
            <p14:sldId id="317"/>
            <p14:sldId id="318"/>
            <p14:sldId id="319"/>
            <p14:sldId id="321"/>
            <p14:sldId id="331"/>
            <p14:sldId id="282"/>
            <p14:sldId id="350"/>
            <p14:sldId id="362"/>
            <p14:sldId id="363"/>
            <p14:sldId id="364"/>
            <p14:sldId id="365"/>
            <p14:sldId id="368"/>
            <p14:sldId id="366"/>
            <p14:sldId id="367"/>
            <p14:sldId id="369"/>
            <p14:sldId id="371"/>
            <p14:sldId id="372"/>
            <p14:sldId id="373"/>
            <p14:sldId id="374"/>
            <p14:sldId id="375"/>
            <p14:sldId id="376"/>
            <p14:sldId id="377"/>
            <p14:sldId id="390"/>
            <p14:sldId id="378"/>
            <p14:sldId id="391"/>
            <p14:sldId id="392"/>
            <p14:sldId id="380"/>
            <p14:sldId id="379"/>
            <p14:sldId id="381"/>
            <p14:sldId id="382"/>
            <p14:sldId id="383"/>
            <p14:sldId id="384"/>
            <p14:sldId id="385"/>
            <p14:sldId id="393"/>
            <p14:sldId id="386"/>
            <p14:sldId id="387"/>
            <p14:sldId id="388"/>
            <p14:sldId id="389"/>
            <p14:sldId id="336"/>
            <p14:sldId id="298"/>
            <p14:sldId id="358"/>
            <p14:sldId id="360"/>
            <p14:sldId id="348"/>
            <p14:sldId id="394"/>
            <p14:sldId id="395"/>
            <p14:sldId id="396"/>
            <p14:sldId id="397"/>
            <p14:sldId id="398"/>
          </p14:sldIdLst>
        </p14:section>
      </p14:sectionLst>
    </p:ext>
    <p:ext uri="{EFAFB233-063F-42B5-8137-9DF3F51BA10A}">
      <p15:sldGuideLst xmlns:p15="http://schemas.microsoft.com/office/powerpoint/2012/main">
        <p15:guide id="1" pos="529" userDrawn="1">
          <p15:clr>
            <a:srgbClr val="A4A3A4"/>
          </p15:clr>
        </p15:guide>
        <p15:guide id="2" pos="7151" userDrawn="1">
          <p15:clr>
            <a:srgbClr val="A4A3A4"/>
          </p15:clr>
        </p15:guide>
        <p15:guide id="3" orient="horz" pos="79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nia Ximenes | Brazil | Licks Attorneys" initials="SX|B|LA" lastIdx="5" clrIdx="0">
    <p:extLst>
      <p:ext uri="{19B8F6BF-5375-455C-9EA6-DF929625EA0E}">
        <p15:presenceInfo xmlns:p15="http://schemas.microsoft.com/office/powerpoint/2012/main" userId="S-1-5-21-4064988553-3364987943-4011221069-25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FF"/>
    <a:srgbClr val="72BF44"/>
    <a:srgbClr val="C9252C"/>
    <a:srgbClr val="DDDDDD"/>
    <a:srgbClr val="221B6F"/>
    <a:srgbClr val="231F20"/>
    <a:srgbClr val="1A203F"/>
    <a:srgbClr val="383B71"/>
    <a:srgbClr val="393C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80" d="100"/>
          <a:sy n="80" d="100"/>
        </p:scale>
        <p:origin x="136" y="-680"/>
      </p:cViewPr>
      <p:guideLst>
        <p:guide pos="529"/>
        <p:guide pos="7151"/>
        <p:guide orient="horz" pos="7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073928FA-D2C6-41DE-B220-3F2DB2F37ACE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B282AF58-AFB8-48A3-96B5-4550277F4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127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BA67B741-5C22-4E92-9233-564803058EDF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80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943170F2-A307-469F-9C21-48DA32EBB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88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170F2-A307-469F-9C21-48DA32EBBF52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813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0355" y="9414243"/>
            <a:ext cx="2938387" cy="494883"/>
          </a:xfrm>
          <a:prstGeom prst="rect">
            <a:avLst/>
          </a:prstGeom>
          <a:ln/>
        </p:spPr>
        <p:txBody>
          <a:bodyPr/>
          <a:lstStyle/>
          <a:p>
            <a:fld id="{C7B12046-3A80-4028-BE78-81EE4D63297B}" type="slidenum">
              <a:rPr lang="pt-BR"/>
              <a:pPr/>
              <a:t>10</a:t>
            </a:fld>
            <a:endParaRPr lang="pt-BR"/>
          </a:p>
        </p:txBody>
      </p:sp>
      <p:sp>
        <p:nvSpPr>
          <p:cNvPr id="90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170F2-A307-469F-9C21-48DA32EBBF52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2713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2760AE9-7072-6665-A798-B16FE36959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61054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062421D-6B9C-2119-9B24-9A8301D37D45}"/>
              </a:ext>
            </a:extLst>
          </p:cNvPr>
          <p:cNvSpPr txBox="1"/>
          <p:nvPr userDrawn="1"/>
        </p:nvSpPr>
        <p:spPr>
          <a:xfrm>
            <a:off x="4211128" y="1747180"/>
            <a:ext cx="7410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92CEFEA-E523-3B80-3BF1-555F84BF36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1128" y="212338"/>
            <a:ext cx="74100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pt-BR" noProof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99135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ó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6096001" y="1367660"/>
            <a:ext cx="5269356" cy="1579289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400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13" name="CaixaDeTexto 15">
            <a:extLst>
              <a:ext uri="{FF2B5EF4-FFF2-40B4-BE49-F238E27FC236}">
                <a16:creationId xmlns:a16="http://schemas.microsoft.com/office/drawing/2014/main" id="{3034A8DE-CBF7-4126-9C31-A37C294C2BE3}"/>
              </a:ext>
            </a:extLst>
          </p:cNvPr>
          <p:cNvSpPr txBox="1"/>
          <p:nvPr userDrawn="1"/>
        </p:nvSpPr>
        <p:spPr>
          <a:xfrm>
            <a:off x="10664324" y="6528028"/>
            <a:ext cx="4586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55878"/>
            <a:fld id="{62780EB2-574A-44ED-8A24-CBC304E57FAD}" type="slidenum">
              <a:rPr lang="pt-BR" sz="900">
                <a:solidFill>
                  <a:schemeClr val="tx1"/>
                </a:solidFill>
              </a:rPr>
              <a:pPr algn="r" defTabSz="855878"/>
              <a:t>‹nº›</a:t>
            </a:fld>
            <a:endParaRPr lang="pt-BR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04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F8B259D-0248-B69D-71BA-B3EF94543820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28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CD91DA93-1A48-C321-821D-9EA19546B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5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A349D25-7E18-DCA3-9D79-EDA429B7D62D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67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42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523736058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94439042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BE6A030-3DD1-D6A5-E876-EB091AB8E4C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" y="0"/>
            <a:ext cx="649089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8AEE830-9E8A-DF74-4039-CE307E4895E4}"/>
              </a:ext>
            </a:extLst>
          </p:cNvPr>
          <p:cNvSpPr txBox="1"/>
          <p:nvPr userDrawn="1"/>
        </p:nvSpPr>
        <p:spPr>
          <a:xfrm>
            <a:off x="838200" y="6383547"/>
            <a:ext cx="2698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2477187-2393-2A22-8770-9F34FADBFE4E}"/>
              </a:ext>
            </a:extLst>
          </p:cNvPr>
          <p:cNvSpPr txBox="1"/>
          <p:nvPr userDrawn="1"/>
        </p:nvSpPr>
        <p:spPr>
          <a:xfrm>
            <a:off x="838199" y="6418053"/>
            <a:ext cx="3345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3DE7BE-E395-47CF-16B5-9329C7E53BC8}"/>
              </a:ext>
            </a:extLst>
          </p:cNvPr>
          <p:cNvSpPr txBox="1"/>
          <p:nvPr userDrawn="1"/>
        </p:nvSpPr>
        <p:spPr>
          <a:xfrm>
            <a:off x="9936191" y="6414324"/>
            <a:ext cx="1417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>
                <a:solidFill>
                  <a:srgbClr val="0070C0"/>
                </a:solidFill>
              </a:rPr>
              <a:t>Prof. André Noll</a:t>
            </a:r>
          </a:p>
        </p:txBody>
      </p:sp>
    </p:spTree>
    <p:extLst>
      <p:ext uri="{BB962C8B-B14F-4D97-AF65-F5344CB8AC3E}">
        <p14:creationId xmlns:p14="http://schemas.microsoft.com/office/powerpoint/2010/main" val="268138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1" r:id="rId3"/>
    <p:sldLayoutId id="2147483662" r:id="rId4"/>
    <p:sldLayoutId id="2147483651" r:id="rId5"/>
    <p:sldLayoutId id="2147483663" r:id="rId6"/>
    <p:sldLayoutId id="2147483664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7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17.png"/><Relationship Id="rId7" Type="http://schemas.openxmlformats.org/officeDocument/2006/relationships/image" Target="../media/image19.w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20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29.wmf"/><Relationship Id="rId3" Type="http://schemas.openxmlformats.org/officeDocument/2006/relationships/image" Target="../media/image22.wmf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0.bin"/><Relationship Id="rId2" Type="http://schemas.openxmlformats.org/officeDocument/2006/relationships/oleObject" Target="../embeddings/oleObject13.bin"/><Relationship Id="rId16" Type="http://schemas.openxmlformats.org/officeDocument/2006/relationships/image" Target="../media/image28.w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17.bin"/><Relationship Id="rId5" Type="http://schemas.openxmlformats.org/officeDocument/2006/relationships/image" Target="../media/image12.wmf"/><Relationship Id="rId15" Type="http://schemas.openxmlformats.org/officeDocument/2006/relationships/oleObject" Target="../embeddings/oleObject19.bin"/><Relationship Id="rId10" Type="http://schemas.openxmlformats.org/officeDocument/2006/relationships/image" Target="../media/image25.wmf"/><Relationship Id="rId4" Type="http://schemas.openxmlformats.org/officeDocument/2006/relationships/oleObject" Target="../embeddings/oleObject14.bin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27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34.wmf"/><Relationship Id="rId18" Type="http://schemas.openxmlformats.org/officeDocument/2006/relationships/oleObject" Target="../embeddings/oleObject29.bin"/><Relationship Id="rId26" Type="http://schemas.openxmlformats.org/officeDocument/2006/relationships/oleObject" Target="../embeddings/oleObject33.bin"/><Relationship Id="rId3" Type="http://schemas.openxmlformats.org/officeDocument/2006/relationships/image" Target="../media/image30.wmf"/><Relationship Id="rId21" Type="http://schemas.openxmlformats.org/officeDocument/2006/relationships/image" Target="../media/image38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36.wmf"/><Relationship Id="rId25" Type="http://schemas.openxmlformats.org/officeDocument/2006/relationships/image" Target="../media/image40.wmf"/><Relationship Id="rId2" Type="http://schemas.openxmlformats.org/officeDocument/2006/relationships/oleObject" Target="../embeddings/oleObject21.bin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29" Type="http://schemas.openxmlformats.org/officeDocument/2006/relationships/image" Target="../media/image24.wmf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33.wmf"/><Relationship Id="rId24" Type="http://schemas.openxmlformats.org/officeDocument/2006/relationships/oleObject" Target="../embeddings/oleObject32.bin"/><Relationship Id="rId5" Type="http://schemas.openxmlformats.org/officeDocument/2006/relationships/image" Target="../media/image21.wmf"/><Relationship Id="rId15" Type="http://schemas.openxmlformats.org/officeDocument/2006/relationships/image" Target="../media/image35.wmf"/><Relationship Id="rId23" Type="http://schemas.openxmlformats.org/officeDocument/2006/relationships/image" Target="../media/image39.wmf"/><Relationship Id="rId28" Type="http://schemas.openxmlformats.org/officeDocument/2006/relationships/oleObject" Target="../embeddings/oleObject34.bin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37.wmf"/><Relationship Id="rId31" Type="http://schemas.openxmlformats.org/officeDocument/2006/relationships/image" Target="../media/image42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32.wmf"/><Relationship Id="rId14" Type="http://schemas.openxmlformats.org/officeDocument/2006/relationships/oleObject" Target="../embeddings/oleObject27.bin"/><Relationship Id="rId22" Type="http://schemas.openxmlformats.org/officeDocument/2006/relationships/oleObject" Target="../embeddings/oleObject31.bin"/><Relationship Id="rId27" Type="http://schemas.openxmlformats.org/officeDocument/2006/relationships/image" Target="../media/image41.wmf"/><Relationship Id="rId30" Type="http://schemas.openxmlformats.org/officeDocument/2006/relationships/oleObject" Target="../embeddings/oleObject35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image" Target="../media/image43.wmf"/><Relationship Id="rId7" Type="http://schemas.openxmlformats.org/officeDocument/2006/relationships/image" Target="../media/image45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44.w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46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45.bin"/><Relationship Id="rId18" Type="http://schemas.openxmlformats.org/officeDocument/2006/relationships/image" Target="../media/image55.wmf"/><Relationship Id="rId26" Type="http://schemas.openxmlformats.org/officeDocument/2006/relationships/image" Target="../media/image59.wmf"/><Relationship Id="rId3" Type="http://schemas.openxmlformats.org/officeDocument/2006/relationships/image" Target="../media/image47.wmf"/><Relationship Id="rId21" Type="http://schemas.openxmlformats.org/officeDocument/2006/relationships/oleObject" Target="../embeddings/oleObject49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52.wmf"/><Relationship Id="rId17" Type="http://schemas.openxmlformats.org/officeDocument/2006/relationships/oleObject" Target="../embeddings/oleObject47.bin"/><Relationship Id="rId25" Type="http://schemas.openxmlformats.org/officeDocument/2006/relationships/oleObject" Target="../embeddings/oleObject51.bin"/><Relationship Id="rId2" Type="http://schemas.openxmlformats.org/officeDocument/2006/relationships/oleObject" Target="../embeddings/oleObject40.bin"/><Relationship Id="rId16" Type="http://schemas.openxmlformats.org/officeDocument/2006/relationships/image" Target="../media/image54.wmf"/><Relationship Id="rId20" Type="http://schemas.openxmlformats.org/officeDocument/2006/relationships/image" Target="../media/image56.wmf"/><Relationship Id="rId29" Type="http://schemas.openxmlformats.org/officeDocument/2006/relationships/image" Target="../media/image60.w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11" Type="http://schemas.openxmlformats.org/officeDocument/2006/relationships/oleObject" Target="../embeddings/oleObject44.bin"/><Relationship Id="rId24" Type="http://schemas.openxmlformats.org/officeDocument/2006/relationships/image" Target="../media/image58.wmf"/><Relationship Id="rId5" Type="http://schemas.openxmlformats.org/officeDocument/2006/relationships/image" Target="../media/image48.wmf"/><Relationship Id="rId15" Type="http://schemas.openxmlformats.org/officeDocument/2006/relationships/oleObject" Target="../embeddings/oleObject46.bin"/><Relationship Id="rId23" Type="http://schemas.openxmlformats.org/officeDocument/2006/relationships/oleObject" Target="../embeddings/oleObject50.bin"/><Relationship Id="rId28" Type="http://schemas.openxmlformats.org/officeDocument/2006/relationships/oleObject" Target="../embeddings/oleObject53.bin"/><Relationship Id="rId10" Type="http://schemas.openxmlformats.org/officeDocument/2006/relationships/image" Target="../media/image51.wmf"/><Relationship Id="rId19" Type="http://schemas.openxmlformats.org/officeDocument/2006/relationships/oleObject" Target="../embeddings/oleObject48.bin"/><Relationship Id="rId31" Type="http://schemas.openxmlformats.org/officeDocument/2006/relationships/image" Target="../media/image61.wmf"/><Relationship Id="rId4" Type="http://schemas.openxmlformats.org/officeDocument/2006/relationships/oleObject" Target="../embeddings/oleObject41.bin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53.wmf"/><Relationship Id="rId22" Type="http://schemas.openxmlformats.org/officeDocument/2006/relationships/image" Target="../media/image57.wmf"/><Relationship Id="rId27" Type="http://schemas.openxmlformats.org/officeDocument/2006/relationships/oleObject" Target="../embeddings/oleObject52.bin"/><Relationship Id="rId30" Type="http://schemas.openxmlformats.org/officeDocument/2006/relationships/oleObject" Target="../embeddings/oleObject54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69.wmf"/><Relationship Id="rId3" Type="http://schemas.openxmlformats.org/officeDocument/2006/relationships/image" Target="../media/image62.wmf"/><Relationship Id="rId7" Type="http://schemas.openxmlformats.org/officeDocument/2006/relationships/image" Target="../media/image64.wmf"/><Relationship Id="rId12" Type="http://schemas.openxmlformats.org/officeDocument/2006/relationships/image" Target="../media/image66.wmf"/><Relationship Id="rId17" Type="http://schemas.openxmlformats.org/officeDocument/2006/relationships/oleObject" Target="../embeddings/oleObject62.bin"/><Relationship Id="rId2" Type="http://schemas.openxmlformats.org/officeDocument/2006/relationships/oleObject" Target="../embeddings/oleObject55.bin"/><Relationship Id="rId16" Type="http://schemas.openxmlformats.org/officeDocument/2006/relationships/image" Target="../media/image68.wmf"/><Relationship Id="rId20" Type="http://schemas.openxmlformats.org/officeDocument/2006/relationships/image" Target="../media/image70.wmf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57.bin"/><Relationship Id="rId11" Type="http://schemas.openxmlformats.org/officeDocument/2006/relationships/oleObject" Target="../embeddings/oleObject59.bin"/><Relationship Id="rId5" Type="http://schemas.openxmlformats.org/officeDocument/2006/relationships/image" Target="../media/image63.wmf"/><Relationship Id="rId15" Type="http://schemas.openxmlformats.org/officeDocument/2006/relationships/oleObject" Target="../embeddings/oleObject61.bin"/><Relationship Id="rId10" Type="http://schemas.openxmlformats.org/officeDocument/2006/relationships/image" Target="../media/image31.wmf"/><Relationship Id="rId19" Type="http://schemas.openxmlformats.org/officeDocument/2006/relationships/oleObject" Target="../embeddings/oleObject63.bin"/><Relationship Id="rId4" Type="http://schemas.openxmlformats.org/officeDocument/2006/relationships/oleObject" Target="../embeddings/oleObject56.bin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67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oleObject" Target="../embeddings/oleObject69.bin"/><Relationship Id="rId18" Type="http://schemas.openxmlformats.org/officeDocument/2006/relationships/image" Target="../media/image77.wmf"/><Relationship Id="rId3" Type="http://schemas.openxmlformats.org/officeDocument/2006/relationships/image" Target="../media/image71.wmf"/><Relationship Id="rId7" Type="http://schemas.openxmlformats.org/officeDocument/2006/relationships/image" Target="../media/image73.wmf"/><Relationship Id="rId12" Type="http://schemas.openxmlformats.org/officeDocument/2006/relationships/image" Target="../media/image74.wmf"/><Relationship Id="rId17" Type="http://schemas.openxmlformats.org/officeDocument/2006/relationships/oleObject" Target="../embeddings/oleObject71.bin"/><Relationship Id="rId2" Type="http://schemas.openxmlformats.org/officeDocument/2006/relationships/oleObject" Target="../embeddings/oleObject64.bin"/><Relationship Id="rId16" Type="http://schemas.openxmlformats.org/officeDocument/2006/relationships/image" Target="../media/image76.wmf"/><Relationship Id="rId20" Type="http://schemas.openxmlformats.org/officeDocument/2006/relationships/image" Target="../media/image78.wmf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66.bin"/><Relationship Id="rId11" Type="http://schemas.openxmlformats.org/officeDocument/2006/relationships/oleObject" Target="../embeddings/oleObject68.bin"/><Relationship Id="rId5" Type="http://schemas.openxmlformats.org/officeDocument/2006/relationships/image" Target="../media/image72.wmf"/><Relationship Id="rId15" Type="http://schemas.openxmlformats.org/officeDocument/2006/relationships/oleObject" Target="../embeddings/oleObject70.bin"/><Relationship Id="rId10" Type="http://schemas.openxmlformats.org/officeDocument/2006/relationships/image" Target="../media/image31.wmf"/><Relationship Id="rId19" Type="http://schemas.openxmlformats.org/officeDocument/2006/relationships/oleObject" Target="../embeddings/oleObject72.bin"/><Relationship Id="rId4" Type="http://schemas.openxmlformats.org/officeDocument/2006/relationships/oleObject" Target="../embeddings/oleObject65.bin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75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80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image" Target="../media/image82.wmf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86.wmf"/><Relationship Id="rId2" Type="http://schemas.openxmlformats.org/officeDocument/2006/relationships/oleObject" Target="../embeddings/oleObject75.bin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6.bin"/><Relationship Id="rId10" Type="http://schemas.openxmlformats.org/officeDocument/2006/relationships/image" Target="../media/image85.wmf"/><Relationship Id="rId4" Type="http://schemas.openxmlformats.org/officeDocument/2006/relationships/image" Target="../media/image85.png"/><Relationship Id="rId9" Type="http://schemas.openxmlformats.org/officeDocument/2006/relationships/oleObject" Target="../embeddings/oleObject78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3" Type="http://schemas.openxmlformats.org/officeDocument/2006/relationships/image" Target="../media/image87.wmf"/><Relationship Id="rId7" Type="http://schemas.openxmlformats.org/officeDocument/2006/relationships/image" Target="../media/image89.wmf"/><Relationship Id="rId2" Type="http://schemas.openxmlformats.org/officeDocument/2006/relationships/oleObject" Target="../embeddings/oleObject80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82.bin"/><Relationship Id="rId5" Type="http://schemas.openxmlformats.org/officeDocument/2006/relationships/image" Target="../media/image88.wmf"/><Relationship Id="rId4" Type="http://schemas.openxmlformats.org/officeDocument/2006/relationships/oleObject" Target="../embeddings/oleObject81.bin"/><Relationship Id="rId9" Type="http://schemas.openxmlformats.org/officeDocument/2006/relationships/image" Target="../media/image90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13" Type="http://schemas.openxmlformats.org/officeDocument/2006/relationships/image" Target="../media/image96.wmf"/><Relationship Id="rId3" Type="http://schemas.openxmlformats.org/officeDocument/2006/relationships/image" Target="../media/image91.wmf"/><Relationship Id="rId7" Type="http://schemas.openxmlformats.org/officeDocument/2006/relationships/image" Target="../media/image93.wmf"/><Relationship Id="rId12" Type="http://schemas.openxmlformats.org/officeDocument/2006/relationships/oleObject" Target="../embeddings/oleObject89.bin"/><Relationship Id="rId2" Type="http://schemas.openxmlformats.org/officeDocument/2006/relationships/oleObject" Target="../embeddings/oleObject84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95.wmf"/><Relationship Id="rId5" Type="http://schemas.openxmlformats.org/officeDocument/2006/relationships/image" Target="../media/image92.wmf"/><Relationship Id="rId10" Type="http://schemas.openxmlformats.org/officeDocument/2006/relationships/oleObject" Target="../embeddings/oleObject88.bin"/><Relationship Id="rId4" Type="http://schemas.openxmlformats.org/officeDocument/2006/relationships/oleObject" Target="../embeddings/oleObject85.bin"/><Relationship Id="rId9" Type="http://schemas.openxmlformats.org/officeDocument/2006/relationships/image" Target="../media/image94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8.wmf"/><Relationship Id="rId5" Type="http://schemas.openxmlformats.org/officeDocument/2006/relationships/oleObject" Target="../embeddings/oleObject91.bin"/><Relationship Id="rId10" Type="http://schemas.openxmlformats.org/officeDocument/2006/relationships/image" Target="../media/image100.wmf"/><Relationship Id="rId4" Type="http://schemas.openxmlformats.org/officeDocument/2006/relationships/image" Target="../media/image97.wmf"/><Relationship Id="rId9" Type="http://schemas.openxmlformats.org/officeDocument/2006/relationships/oleObject" Target="../embeddings/oleObject93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oleObject" Target="../embeddings/oleObject99.bin"/><Relationship Id="rId18" Type="http://schemas.openxmlformats.org/officeDocument/2006/relationships/image" Target="../media/image109.wmf"/><Relationship Id="rId3" Type="http://schemas.openxmlformats.org/officeDocument/2006/relationships/oleObject" Target="../embeddings/oleObject94.bin"/><Relationship Id="rId21" Type="http://schemas.openxmlformats.org/officeDocument/2006/relationships/oleObject" Target="../embeddings/oleObject103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106.wmf"/><Relationship Id="rId17" Type="http://schemas.openxmlformats.org/officeDocument/2006/relationships/oleObject" Target="../embeddings/oleObject101.bin"/><Relationship Id="rId2" Type="http://schemas.openxmlformats.org/officeDocument/2006/relationships/image" Target="../media/image101.png"/><Relationship Id="rId16" Type="http://schemas.openxmlformats.org/officeDocument/2006/relationships/image" Target="../media/image108.wmf"/><Relationship Id="rId20" Type="http://schemas.openxmlformats.org/officeDocument/2006/relationships/image" Target="../media/image110.w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98.bin"/><Relationship Id="rId24" Type="http://schemas.openxmlformats.org/officeDocument/2006/relationships/image" Target="../media/image111.wmf"/><Relationship Id="rId5" Type="http://schemas.openxmlformats.org/officeDocument/2006/relationships/oleObject" Target="../embeddings/oleObject95.bin"/><Relationship Id="rId15" Type="http://schemas.openxmlformats.org/officeDocument/2006/relationships/oleObject" Target="../embeddings/oleObject100.bin"/><Relationship Id="rId23" Type="http://schemas.openxmlformats.org/officeDocument/2006/relationships/oleObject" Target="../embeddings/oleObject105.bin"/><Relationship Id="rId10" Type="http://schemas.openxmlformats.org/officeDocument/2006/relationships/image" Target="../media/image105.wmf"/><Relationship Id="rId19" Type="http://schemas.openxmlformats.org/officeDocument/2006/relationships/oleObject" Target="../embeddings/oleObject102.bin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97.bin"/><Relationship Id="rId14" Type="http://schemas.openxmlformats.org/officeDocument/2006/relationships/image" Target="../media/image107.wmf"/><Relationship Id="rId22" Type="http://schemas.openxmlformats.org/officeDocument/2006/relationships/oleObject" Target="../embeddings/oleObject104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oleObject" Target="../embeddings/oleObject111.bin"/><Relationship Id="rId18" Type="http://schemas.openxmlformats.org/officeDocument/2006/relationships/image" Target="../media/image117.wmf"/><Relationship Id="rId26" Type="http://schemas.openxmlformats.org/officeDocument/2006/relationships/image" Target="../media/image121.wmf"/><Relationship Id="rId3" Type="http://schemas.openxmlformats.org/officeDocument/2006/relationships/oleObject" Target="../embeddings/oleObject106.bin"/><Relationship Id="rId21" Type="http://schemas.openxmlformats.org/officeDocument/2006/relationships/oleObject" Target="../embeddings/oleObject115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114.wmf"/><Relationship Id="rId17" Type="http://schemas.openxmlformats.org/officeDocument/2006/relationships/oleObject" Target="../embeddings/oleObject113.bin"/><Relationship Id="rId25" Type="http://schemas.openxmlformats.org/officeDocument/2006/relationships/oleObject" Target="../embeddings/oleObject117.bin"/><Relationship Id="rId2" Type="http://schemas.openxmlformats.org/officeDocument/2006/relationships/image" Target="../media/image115.png"/><Relationship Id="rId16" Type="http://schemas.openxmlformats.org/officeDocument/2006/relationships/image" Target="../media/image116.wmf"/><Relationship Id="rId20" Type="http://schemas.openxmlformats.org/officeDocument/2006/relationships/image" Target="../media/image118.w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110.bin"/><Relationship Id="rId24" Type="http://schemas.openxmlformats.org/officeDocument/2006/relationships/image" Target="../media/image120.wmf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2.bin"/><Relationship Id="rId23" Type="http://schemas.openxmlformats.org/officeDocument/2006/relationships/oleObject" Target="../embeddings/oleObject116.bin"/><Relationship Id="rId28" Type="http://schemas.openxmlformats.org/officeDocument/2006/relationships/image" Target="../media/image122.wmf"/><Relationship Id="rId10" Type="http://schemas.openxmlformats.org/officeDocument/2006/relationships/image" Target="../media/image84.wmf"/><Relationship Id="rId19" Type="http://schemas.openxmlformats.org/officeDocument/2006/relationships/oleObject" Target="../embeddings/oleObject114.bin"/><Relationship Id="rId4" Type="http://schemas.openxmlformats.org/officeDocument/2006/relationships/image" Target="../media/image112.e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115.wmf"/><Relationship Id="rId22" Type="http://schemas.openxmlformats.org/officeDocument/2006/relationships/image" Target="../media/image119.wmf"/><Relationship Id="rId27" Type="http://schemas.openxmlformats.org/officeDocument/2006/relationships/oleObject" Target="../embeddings/oleObject118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13" Type="http://schemas.openxmlformats.org/officeDocument/2006/relationships/image" Target="../media/image127.wmf"/><Relationship Id="rId18" Type="http://schemas.openxmlformats.org/officeDocument/2006/relationships/oleObject" Target="../embeddings/oleObject127.bin"/><Relationship Id="rId3" Type="http://schemas.openxmlformats.org/officeDocument/2006/relationships/image" Target="../media/image26.wmf"/><Relationship Id="rId21" Type="http://schemas.openxmlformats.org/officeDocument/2006/relationships/image" Target="../media/image131.wmf"/><Relationship Id="rId7" Type="http://schemas.openxmlformats.org/officeDocument/2006/relationships/image" Target="../media/image124.wmf"/><Relationship Id="rId12" Type="http://schemas.openxmlformats.org/officeDocument/2006/relationships/oleObject" Target="../embeddings/oleObject124.bin"/><Relationship Id="rId17" Type="http://schemas.openxmlformats.org/officeDocument/2006/relationships/image" Target="../media/image129.wmf"/><Relationship Id="rId2" Type="http://schemas.openxmlformats.org/officeDocument/2006/relationships/oleObject" Target="../embeddings/oleObject119.bin"/><Relationship Id="rId16" Type="http://schemas.openxmlformats.org/officeDocument/2006/relationships/oleObject" Target="../embeddings/oleObject126.bin"/><Relationship Id="rId20" Type="http://schemas.openxmlformats.org/officeDocument/2006/relationships/oleObject" Target="../embeddings/oleObject128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21.bin"/><Relationship Id="rId11" Type="http://schemas.openxmlformats.org/officeDocument/2006/relationships/image" Target="../media/image126.wmf"/><Relationship Id="rId5" Type="http://schemas.openxmlformats.org/officeDocument/2006/relationships/image" Target="../media/image123.wmf"/><Relationship Id="rId15" Type="http://schemas.openxmlformats.org/officeDocument/2006/relationships/image" Target="../media/image128.wmf"/><Relationship Id="rId10" Type="http://schemas.openxmlformats.org/officeDocument/2006/relationships/oleObject" Target="../embeddings/oleObject123.bin"/><Relationship Id="rId19" Type="http://schemas.openxmlformats.org/officeDocument/2006/relationships/image" Target="../media/image130.wmf"/><Relationship Id="rId4" Type="http://schemas.openxmlformats.org/officeDocument/2006/relationships/oleObject" Target="../embeddings/oleObject120.bin"/><Relationship Id="rId9" Type="http://schemas.openxmlformats.org/officeDocument/2006/relationships/image" Target="../media/image125.wmf"/><Relationship Id="rId14" Type="http://schemas.openxmlformats.org/officeDocument/2006/relationships/oleObject" Target="../embeddings/oleObject125.bin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7.wmf"/><Relationship Id="rId18" Type="http://schemas.openxmlformats.org/officeDocument/2006/relationships/oleObject" Target="../embeddings/oleObject137.bin"/><Relationship Id="rId26" Type="http://schemas.openxmlformats.org/officeDocument/2006/relationships/oleObject" Target="../embeddings/oleObject141.bin"/><Relationship Id="rId3" Type="http://schemas.openxmlformats.org/officeDocument/2006/relationships/image" Target="../media/image132.wmf"/><Relationship Id="rId21" Type="http://schemas.openxmlformats.org/officeDocument/2006/relationships/image" Target="../media/image118.wmf"/><Relationship Id="rId34" Type="http://schemas.openxmlformats.org/officeDocument/2006/relationships/oleObject" Target="../embeddings/oleObject145.bin"/><Relationship Id="rId7" Type="http://schemas.openxmlformats.org/officeDocument/2006/relationships/image" Target="../media/image134.wmf"/><Relationship Id="rId12" Type="http://schemas.openxmlformats.org/officeDocument/2006/relationships/oleObject" Target="../embeddings/oleObject134.bin"/><Relationship Id="rId17" Type="http://schemas.openxmlformats.org/officeDocument/2006/relationships/image" Target="../media/image139.wmf"/><Relationship Id="rId25" Type="http://schemas.openxmlformats.org/officeDocument/2006/relationships/image" Target="../media/image142.wmf"/><Relationship Id="rId33" Type="http://schemas.openxmlformats.org/officeDocument/2006/relationships/image" Target="../media/image143.wmf"/><Relationship Id="rId2" Type="http://schemas.openxmlformats.org/officeDocument/2006/relationships/oleObject" Target="../embeddings/oleObject129.bin"/><Relationship Id="rId16" Type="http://schemas.openxmlformats.org/officeDocument/2006/relationships/oleObject" Target="../embeddings/oleObject136.bin"/><Relationship Id="rId20" Type="http://schemas.openxmlformats.org/officeDocument/2006/relationships/oleObject" Target="../embeddings/oleObject138.bin"/><Relationship Id="rId29" Type="http://schemas.openxmlformats.org/officeDocument/2006/relationships/image" Target="../media/image119.wmf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31.bin"/><Relationship Id="rId11" Type="http://schemas.openxmlformats.org/officeDocument/2006/relationships/image" Target="../media/image136.wmf"/><Relationship Id="rId24" Type="http://schemas.openxmlformats.org/officeDocument/2006/relationships/oleObject" Target="../embeddings/oleObject140.bin"/><Relationship Id="rId32" Type="http://schemas.openxmlformats.org/officeDocument/2006/relationships/oleObject" Target="../embeddings/oleObject144.bin"/><Relationship Id="rId5" Type="http://schemas.openxmlformats.org/officeDocument/2006/relationships/image" Target="../media/image133.wmf"/><Relationship Id="rId15" Type="http://schemas.openxmlformats.org/officeDocument/2006/relationships/image" Target="../media/image138.wmf"/><Relationship Id="rId23" Type="http://schemas.openxmlformats.org/officeDocument/2006/relationships/image" Target="../media/image141.wmf"/><Relationship Id="rId28" Type="http://schemas.openxmlformats.org/officeDocument/2006/relationships/oleObject" Target="../embeddings/oleObject142.bin"/><Relationship Id="rId10" Type="http://schemas.openxmlformats.org/officeDocument/2006/relationships/oleObject" Target="../embeddings/oleObject133.bin"/><Relationship Id="rId19" Type="http://schemas.openxmlformats.org/officeDocument/2006/relationships/image" Target="../media/image140.wmf"/><Relationship Id="rId31" Type="http://schemas.openxmlformats.org/officeDocument/2006/relationships/image" Target="../media/image120.wmf"/><Relationship Id="rId4" Type="http://schemas.openxmlformats.org/officeDocument/2006/relationships/oleObject" Target="../embeddings/oleObject130.bin"/><Relationship Id="rId9" Type="http://schemas.openxmlformats.org/officeDocument/2006/relationships/image" Target="../media/image135.wmf"/><Relationship Id="rId14" Type="http://schemas.openxmlformats.org/officeDocument/2006/relationships/oleObject" Target="../embeddings/oleObject135.bin"/><Relationship Id="rId22" Type="http://schemas.openxmlformats.org/officeDocument/2006/relationships/oleObject" Target="../embeddings/oleObject139.bin"/><Relationship Id="rId27" Type="http://schemas.openxmlformats.org/officeDocument/2006/relationships/image" Target="../media/image117.wmf"/><Relationship Id="rId30" Type="http://schemas.openxmlformats.org/officeDocument/2006/relationships/oleObject" Target="../embeddings/oleObject143.bin"/><Relationship Id="rId35" Type="http://schemas.openxmlformats.org/officeDocument/2006/relationships/image" Target="../media/image144.wmf"/><Relationship Id="rId8" Type="http://schemas.openxmlformats.org/officeDocument/2006/relationships/oleObject" Target="../embeddings/oleObject132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48.bin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9.wmf"/><Relationship Id="rId5" Type="http://schemas.openxmlformats.org/officeDocument/2006/relationships/oleObject" Target="../embeddings/oleObject147.bin"/><Relationship Id="rId4" Type="http://schemas.openxmlformats.org/officeDocument/2006/relationships/image" Target="../media/image148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gif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gif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2.bin"/><Relationship Id="rId3" Type="http://schemas.openxmlformats.org/officeDocument/2006/relationships/image" Target="../media/image152.wmf"/><Relationship Id="rId7" Type="http://schemas.openxmlformats.org/officeDocument/2006/relationships/image" Target="../media/image154.wmf"/><Relationship Id="rId2" Type="http://schemas.openxmlformats.org/officeDocument/2006/relationships/oleObject" Target="../embeddings/oleObject14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1.bin"/><Relationship Id="rId5" Type="http://schemas.openxmlformats.org/officeDocument/2006/relationships/image" Target="../media/image153.wmf"/><Relationship Id="rId4" Type="http://schemas.openxmlformats.org/officeDocument/2006/relationships/oleObject" Target="../embeddings/oleObject150.bin"/><Relationship Id="rId9" Type="http://schemas.openxmlformats.org/officeDocument/2006/relationships/image" Target="../media/image155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7" Type="http://schemas.openxmlformats.org/officeDocument/2006/relationships/image" Target="../media/image158.wmf"/><Relationship Id="rId2" Type="http://schemas.openxmlformats.org/officeDocument/2006/relationships/oleObject" Target="../embeddings/oleObject15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5.bin"/><Relationship Id="rId5" Type="http://schemas.openxmlformats.org/officeDocument/2006/relationships/image" Target="../media/image157.wmf"/><Relationship Id="rId4" Type="http://schemas.openxmlformats.org/officeDocument/2006/relationships/oleObject" Target="../embeddings/oleObject154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emf"/><Relationship Id="rId3" Type="http://schemas.openxmlformats.org/officeDocument/2006/relationships/image" Target="../media/image159.jpeg"/><Relationship Id="rId7" Type="http://schemas.openxmlformats.org/officeDocument/2006/relationships/oleObject" Target="../embeddings/oleObject157.bin"/><Relationship Id="rId2" Type="http://schemas.openxmlformats.org/officeDocument/2006/relationships/hyperlink" Target="http://upload.wikimedia.org/wikipedia/en/a/a7/YUV_components.jpg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1.emf"/><Relationship Id="rId5" Type="http://schemas.openxmlformats.org/officeDocument/2006/relationships/oleObject" Target="../embeddings/oleObject156.bin"/><Relationship Id="rId4" Type="http://schemas.openxmlformats.org/officeDocument/2006/relationships/image" Target="../media/image160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1.bin"/><Relationship Id="rId13" Type="http://schemas.openxmlformats.org/officeDocument/2006/relationships/image" Target="../media/image168.emf"/><Relationship Id="rId18" Type="http://schemas.openxmlformats.org/officeDocument/2006/relationships/oleObject" Target="../embeddings/oleObject166.bin"/><Relationship Id="rId3" Type="http://schemas.openxmlformats.org/officeDocument/2006/relationships/image" Target="../media/image163.emf"/><Relationship Id="rId21" Type="http://schemas.openxmlformats.org/officeDocument/2006/relationships/image" Target="../media/image172.emf"/><Relationship Id="rId7" Type="http://schemas.openxmlformats.org/officeDocument/2006/relationships/image" Target="../media/image165.emf"/><Relationship Id="rId12" Type="http://schemas.openxmlformats.org/officeDocument/2006/relationships/oleObject" Target="../embeddings/oleObject163.bin"/><Relationship Id="rId17" Type="http://schemas.openxmlformats.org/officeDocument/2006/relationships/image" Target="../media/image170.emf"/><Relationship Id="rId2" Type="http://schemas.openxmlformats.org/officeDocument/2006/relationships/oleObject" Target="../embeddings/oleObject158.bin"/><Relationship Id="rId16" Type="http://schemas.openxmlformats.org/officeDocument/2006/relationships/oleObject" Target="../embeddings/oleObject165.bin"/><Relationship Id="rId20" Type="http://schemas.openxmlformats.org/officeDocument/2006/relationships/oleObject" Target="../embeddings/oleObject167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60.bin"/><Relationship Id="rId11" Type="http://schemas.openxmlformats.org/officeDocument/2006/relationships/image" Target="../media/image167.emf"/><Relationship Id="rId5" Type="http://schemas.openxmlformats.org/officeDocument/2006/relationships/image" Target="../media/image164.emf"/><Relationship Id="rId15" Type="http://schemas.openxmlformats.org/officeDocument/2006/relationships/image" Target="../media/image169.emf"/><Relationship Id="rId23" Type="http://schemas.openxmlformats.org/officeDocument/2006/relationships/image" Target="../media/image173.emf"/><Relationship Id="rId10" Type="http://schemas.openxmlformats.org/officeDocument/2006/relationships/oleObject" Target="../embeddings/oleObject162.bin"/><Relationship Id="rId19" Type="http://schemas.openxmlformats.org/officeDocument/2006/relationships/image" Target="../media/image171.emf"/><Relationship Id="rId4" Type="http://schemas.openxmlformats.org/officeDocument/2006/relationships/oleObject" Target="../embeddings/oleObject159.bin"/><Relationship Id="rId9" Type="http://schemas.openxmlformats.org/officeDocument/2006/relationships/image" Target="../media/image166.emf"/><Relationship Id="rId14" Type="http://schemas.openxmlformats.org/officeDocument/2006/relationships/oleObject" Target="../embeddings/oleObject164.bin"/><Relationship Id="rId22" Type="http://schemas.openxmlformats.org/officeDocument/2006/relationships/oleObject" Target="../embeddings/oleObject168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wmf"/><Relationship Id="rId2" Type="http://schemas.openxmlformats.org/officeDocument/2006/relationships/oleObject" Target="../embeddings/oleObject169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7.wmf"/><Relationship Id="rId4" Type="http://schemas.openxmlformats.org/officeDocument/2006/relationships/oleObject" Target="../embeddings/oleObject170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F866E-AD52-F484-BC73-B5DC3F9F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Modulação - Introdução</a:t>
            </a:r>
          </a:p>
        </p:txBody>
      </p:sp>
    </p:spTree>
    <p:extLst>
      <p:ext uri="{BB962C8B-B14F-4D97-AF65-F5344CB8AC3E}">
        <p14:creationId xmlns:p14="http://schemas.microsoft.com/office/powerpoint/2010/main" val="209690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8547C5-4AA1-E562-CDEA-0668630AD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</a:t>
            </a:r>
          </a:p>
        </p:txBody>
      </p:sp>
    </p:spTree>
    <p:extLst>
      <p:ext uri="{BB962C8B-B14F-4D97-AF65-F5344CB8AC3E}">
        <p14:creationId xmlns:p14="http://schemas.microsoft.com/office/powerpoint/2010/main" val="533350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70502B-E15B-74CF-1ED5-B36266667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</a:t>
            </a:r>
          </a:p>
        </p:txBody>
      </p:sp>
      <p:sp>
        <p:nvSpPr>
          <p:cNvPr id="106499" name="Rectangle 3"/>
          <p:cNvSpPr txBox="1">
            <a:spLocks noChangeArrowheads="1"/>
          </p:cNvSpPr>
          <p:nvPr/>
        </p:nvSpPr>
        <p:spPr>
          <a:xfrm>
            <a:off x="1905000" y="1143001"/>
            <a:ext cx="8299450" cy="20732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buFontTx/>
              <a:buNone/>
            </a:pPr>
            <a:r>
              <a:rPr lang="en-US" dirty="0"/>
              <a:t> </a:t>
            </a:r>
          </a:p>
        </p:txBody>
      </p:sp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1904999" y="1347651"/>
            <a:ext cx="8772298" cy="32466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80988" indent="-280988" defTabSz="762000">
              <a:spcBef>
                <a:spcPct val="40000"/>
              </a:spcBef>
              <a:buClr>
                <a:schemeClr val="hlink"/>
              </a:buClr>
              <a:buFontTx/>
              <a:buChar char="•"/>
            </a:pPr>
            <a:r>
              <a:rPr lang="en-US" sz="2800" b="1" dirty="0" err="1">
                <a:solidFill>
                  <a:schemeClr val="hlink"/>
                </a:solidFill>
              </a:rPr>
              <a:t>Modulação</a:t>
            </a:r>
            <a:r>
              <a:rPr lang="en-US" sz="2800" dirty="0"/>
              <a:t> é o </a:t>
            </a:r>
            <a:r>
              <a:rPr lang="en-US" sz="2800" dirty="0" err="1"/>
              <a:t>processo</a:t>
            </a:r>
            <a:r>
              <a:rPr lang="en-US" sz="2800" dirty="0"/>
              <a:t> </a:t>
            </a:r>
            <a:r>
              <a:rPr lang="en-US" sz="2800" dirty="0" err="1"/>
              <a:t>em</a:t>
            </a:r>
            <a:r>
              <a:rPr lang="en-US" sz="2800" dirty="0"/>
              <a:t> </a:t>
            </a:r>
            <a:r>
              <a:rPr lang="en-US" sz="2800" dirty="0" err="1"/>
              <a:t>que</a:t>
            </a:r>
            <a:r>
              <a:rPr lang="en-US" sz="2800" dirty="0"/>
              <a:t> </a:t>
            </a:r>
            <a:r>
              <a:rPr lang="en-US" sz="2800" dirty="0" err="1"/>
              <a:t>algum</a:t>
            </a:r>
            <a:r>
              <a:rPr lang="en-US" sz="2800" dirty="0"/>
              <a:t> </a:t>
            </a:r>
            <a:r>
              <a:rPr lang="en-US" sz="2800" dirty="0" err="1"/>
              <a:t>parâmetro</a:t>
            </a:r>
            <a:r>
              <a:rPr lang="en-US" sz="2800" dirty="0"/>
              <a:t> de </a:t>
            </a:r>
            <a:r>
              <a:rPr lang="en-US" sz="2800" dirty="0" err="1"/>
              <a:t>uma</a:t>
            </a:r>
            <a:r>
              <a:rPr lang="en-US" sz="2800" dirty="0"/>
              <a:t> </a:t>
            </a:r>
            <a:r>
              <a:rPr lang="en-US" sz="2800" dirty="0" err="1"/>
              <a:t>portadora</a:t>
            </a:r>
            <a:r>
              <a:rPr lang="en-US" sz="2800" dirty="0"/>
              <a:t> é </a:t>
            </a:r>
            <a:r>
              <a:rPr lang="en-US" sz="2800" dirty="0" err="1"/>
              <a:t>modificado</a:t>
            </a:r>
            <a:r>
              <a:rPr lang="en-US" sz="2800" dirty="0"/>
              <a:t> de </a:t>
            </a:r>
            <a:r>
              <a:rPr lang="en-US" sz="2800" dirty="0" err="1"/>
              <a:t>acordo</a:t>
            </a:r>
            <a:r>
              <a:rPr lang="en-US" sz="2800" dirty="0"/>
              <a:t> com um </a:t>
            </a:r>
            <a:r>
              <a:rPr lang="en-US" sz="2800" dirty="0" err="1">
                <a:solidFill>
                  <a:srgbClr val="063DE8"/>
                </a:solidFill>
              </a:rPr>
              <a:t>sinal</a:t>
            </a:r>
            <a:r>
              <a:rPr lang="en-US" sz="2800" dirty="0">
                <a:solidFill>
                  <a:srgbClr val="063DE8"/>
                </a:solidFill>
              </a:rPr>
              <a:t> </a:t>
            </a:r>
            <a:r>
              <a:rPr lang="en-US" sz="2800" dirty="0" err="1">
                <a:solidFill>
                  <a:srgbClr val="063DE8"/>
                </a:solidFill>
              </a:rPr>
              <a:t>mensagem</a:t>
            </a:r>
            <a:r>
              <a:rPr lang="en-US" sz="2800" dirty="0"/>
              <a:t>, </a:t>
            </a:r>
            <a:r>
              <a:rPr lang="en-US" sz="2800" dirty="0" err="1"/>
              <a:t>gerando</a:t>
            </a:r>
            <a:r>
              <a:rPr lang="en-US" sz="2800" dirty="0"/>
              <a:t> um </a:t>
            </a:r>
            <a:r>
              <a:rPr lang="en-US" sz="2800" dirty="0" err="1">
                <a:solidFill>
                  <a:schemeClr val="accent6"/>
                </a:solidFill>
              </a:rPr>
              <a:t>sinal</a:t>
            </a:r>
            <a:r>
              <a:rPr lang="en-US" sz="2800" dirty="0">
                <a:solidFill>
                  <a:schemeClr val="accent6"/>
                </a:solidFill>
              </a:rPr>
              <a:t> </a:t>
            </a:r>
            <a:r>
              <a:rPr lang="en-US" sz="2800" dirty="0" err="1">
                <a:solidFill>
                  <a:schemeClr val="accent6"/>
                </a:solidFill>
              </a:rPr>
              <a:t>modulado</a:t>
            </a:r>
            <a:endParaRPr lang="en-US" sz="2800" dirty="0">
              <a:solidFill>
                <a:schemeClr val="accent6"/>
              </a:solidFill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BB6EC0C8-BE31-CD10-B5E4-DAC4A0CCBEF4}"/>
              </a:ext>
            </a:extLst>
          </p:cNvPr>
          <p:cNvGrpSpPr/>
          <p:nvPr/>
        </p:nvGrpSpPr>
        <p:grpSpPr>
          <a:xfrm>
            <a:off x="4553611" y="2753283"/>
            <a:ext cx="3084778" cy="1600198"/>
            <a:chOff x="4042052" y="3801978"/>
            <a:chExt cx="3084778" cy="1600198"/>
          </a:xfrm>
        </p:grpSpPr>
        <p:cxnSp>
          <p:nvCxnSpPr>
            <p:cNvPr id="7" name="Conector de seta reta 6"/>
            <p:cNvCxnSpPr/>
            <p:nvPr/>
          </p:nvCxnSpPr>
          <p:spPr bwMode="auto">
            <a:xfrm>
              <a:off x="4170997" y="5053261"/>
              <a:ext cx="673769" cy="158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8" name="Retângulo 7"/>
            <p:cNvSpPr/>
            <p:nvPr/>
          </p:nvSpPr>
          <p:spPr bwMode="auto">
            <a:xfrm>
              <a:off x="4844766" y="4788566"/>
              <a:ext cx="1612231" cy="613610"/>
            </a:xfrm>
            <a:prstGeom prst="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pt-BR" sz="2000" dirty="0">
                  <a:solidFill>
                    <a:schemeClr val="tx1"/>
                  </a:solidFill>
                  <a:latin typeface="Nokia Sans Wide" pitchFamily="34" charset="0"/>
                </a:rPr>
                <a:t>Modulador</a:t>
              </a:r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4042052" y="4584030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i="1" dirty="0">
                  <a:solidFill>
                    <a:srgbClr val="063DE8"/>
                  </a:solidFill>
                  <a:latin typeface="Times New Roman" pitchFamily="18" charset="0"/>
                  <a:cs typeface="Times New Roman" pitchFamily="18" charset="0"/>
                </a:rPr>
                <a:t>m</a:t>
              </a:r>
              <a:r>
                <a:rPr lang="pt-BR" dirty="0">
                  <a:solidFill>
                    <a:srgbClr val="063DE8"/>
                  </a:solidFill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pt-BR" i="1" dirty="0">
                  <a:solidFill>
                    <a:srgbClr val="063DE8"/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pt-BR" dirty="0">
                  <a:solidFill>
                    <a:srgbClr val="063DE8"/>
                  </a:solidFill>
                  <a:latin typeface="Times New Roman" pitchFamily="18" charset="0"/>
                  <a:cs typeface="Times New Roman" pitchFamily="18" charset="0"/>
                </a:rPr>
                <a:t>)</a:t>
              </a:r>
            </a:p>
          </p:txBody>
        </p:sp>
        <p:cxnSp>
          <p:nvCxnSpPr>
            <p:cNvPr id="10" name="Conector de seta reta 9"/>
            <p:cNvCxnSpPr/>
            <p:nvPr/>
          </p:nvCxnSpPr>
          <p:spPr bwMode="auto">
            <a:xfrm>
              <a:off x="6453061" y="5049245"/>
              <a:ext cx="673769" cy="158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1" name="CaixaDeTexto 10"/>
            <p:cNvSpPr txBox="1"/>
            <p:nvPr/>
          </p:nvSpPr>
          <p:spPr>
            <a:xfrm>
              <a:off x="6552695" y="4628142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i="1" dirty="0">
                  <a:solidFill>
                    <a:schemeClr val="accent6"/>
                  </a:solidFill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pt-BR" dirty="0">
                  <a:solidFill>
                    <a:schemeClr val="accent6"/>
                  </a:solidFill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pt-BR" i="1" dirty="0">
                  <a:solidFill>
                    <a:schemeClr val="accent6"/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pt-BR" dirty="0">
                  <a:solidFill>
                    <a:schemeClr val="accent6"/>
                  </a:solidFill>
                  <a:latin typeface="Times New Roman" pitchFamily="18" charset="0"/>
                  <a:cs typeface="Times New Roman" pitchFamily="18" charset="0"/>
                </a:rPr>
                <a:t>)</a:t>
              </a:r>
            </a:p>
          </p:txBody>
        </p:sp>
        <p:cxnSp>
          <p:nvCxnSpPr>
            <p:cNvPr id="15" name="Conector de seta reta 14"/>
            <p:cNvCxnSpPr/>
            <p:nvPr/>
          </p:nvCxnSpPr>
          <p:spPr bwMode="auto">
            <a:xfrm rot="16200000" flipH="1">
              <a:off x="5356065" y="4505826"/>
              <a:ext cx="589551" cy="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7" name="CaixaDeTexto 16"/>
            <p:cNvSpPr txBox="1"/>
            <p:nvPr/>
          </p:nvSpPr>
          <p:spPr>
            <a:xfrm>
              <a:off x="5413576" y="3801978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 pitchFamily="18" charset="0"/>
                </a:rPr>
                <a:t>c</a:t>
              </a:r>
              <a:r>
                <a:rPr lang="en-US" dirty="0">
                  <a:latin typeface="Times New Roman" pitchFamily="18" charset="0"/>
                </a:rPr>
                <a:t>(</a:t>
              </a:r>
              <a:r>
                <a:rPr lang="en-US" i="1" dirty="0">
                  <a:latin typeface="Times New Roman" pitchFamily="18" charset="0"/>
                </a:rPr>
                <a:t>t</a:t>
              </a:r>
              <a:r>
                <a:rPr lang="en-US" dirty="0">
                  <a:latin typeface="Times New Roman" pitchFamily="18" charset="0"/>
                </a:rPr>
                <a:t>)</a:t>
              </a:r>
              <a:endParaRPr lang="pt-BR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08E1F702-640B-6C08-9362-15AE5EED20C2}"/>
                  </a:ext>
                </a:extLst>
              </p:cNvPr>
              <p:cNvSpPr txBox="1"/>
              <p:nvPr/>
            </p:nvSpPr>
            <p:spPr bwMode="auto">
              <a:xfrm>
                <a:off x="1904999" y="4634079"/>
                <a:ext cx="9339943" cy="927100"/>
              </a:xfrm>
              <a:prstGeom prst="rect">
                <a:avLst/>
              </a:prstGeom>
              <a:solidFill>
                <a:srgbClr val="FFFFCC"/>
              </a:solidFill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pt-BR" sz="3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)  =  </m:t>
                      </m:r>
                      <m:r>
                        <a:rPr lang="pt-BR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pt-BR" sz="3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3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sz="3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3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pt-BR" sz="3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3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pt-BR" sz="3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pt-BR" sz="3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pt-BR" sz="3600" b="0" i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BR" sz="3600" b="0" i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</m:e>
                                    <m:sub>
                                      <m:r>
                                        <a:rPr lang="pt-BR" sz="36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36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36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pt-BR" sz="3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pt-BR" sz="3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3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3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pt-BR" sz="3600" dirty="0"/>
              </a:p>
            </p:txBody>
          </p:sp>
        </mc:Choice>
        <mc:Fallback xmlns="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08E1F702-640B-6C08-9362-15AE5EED2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4999" y="4634079"/>
                <a:ext cx="9339943" cy="9271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1D6C4E7-8AB4-B4DB-7FD0-E74BD57F09A7}"/>
                  </a:ext>
                </a:extLst>
              </p:cNvPr>
              <p:cNvSpPr txBox="1"/>
              <p:nvPr/>
            </p:nvSpPr>
            <p:spPr>
              <a:xfrm>
                <a:off x="3836961" y="5804179"/>
                <a:ext cx="5689186" cy="5577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28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28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 são função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1D6C4E7-8AB4-B4DB-7FD0-E74BD57F0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961" y="5804179"/>
                <a:ext cx="5689186" cy="557717"/>
              </a:xfrm>
              <a:prstGeom prst="rect">
                <a:avLst/>
              </a:prstGeom>
              <a:blipFill>
                <a:blip r:embed="rId3"/>
                <a:stretch>
                  <a:fillRect t="-9783" b="-239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1495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build="p" autoUpdateAnimBg="0"/>
      <p:bldP spid="10650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33692-9EE9-E753-EC48-050D3987A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Banda Base x Banda Passante</a:t>
            </a:r>
          </a:p>
        </p:txBody>
      </p:sp>
      <p:pic>
        <p:nvPicPr>
          <p:cNvPr id="4" name="Imagem 3" descr="What Is A Baseband Signal _ What is Baseband? – NZQPB">
            <a:extLst>
              <a:ext uri="{FF2B5EF4-FFF2-40B4-BE49-F238E27FC236}">
                <a16:creationId xmlns:a16="http://schemas.microsoft.com/office/drawing/2014/main" id="{A3238C76-E1E5-03FE-9609-A1E204393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912" y="1734231"/>
            <a:ext cx="7217229" cy="4059691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3475B429-6630-5636-5C6D-282D71DF84BD}"/>
              </a:ext>
            </a:extLst>
          </p:cNvPr>
          <p:cNvSpPr/>
          <p:nvPr/>
        </p:nvSpPr>
        <p:spPr>
          <a:xfrm>
            <a:off x="4746171" y="5157788"/>
            <a:ext cx="2862943" cy="8620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0532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B0BB17-80EF-5630-9B06-86847C967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AM DSB-SC</a:t>
            </a:r>
            <a:br>
              <a:rPr lang="pt-BR" dirty="0"/>
            </a:br>
            <a:endParaRPr lang="pt-BR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B694090-7E80-28C0-CB90-6C2031410A0C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253331"/>
            <a:ext cx="10515600" cy="4351338"/>
          </a:xfrm>
          <a:prstGeom prst="rect">
            <a:avLst/>
          </a:prstGeom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hlink"/>
                </a:solidFill>
              </a:rPr>
              <a:t>Amplitude Modulation</a:t>
            </a:r>
          </a:p>
          <a:p>
            <a:r>
              <a:rPr lang="en-US" b="1" dirty="0">
                <a:solidFill>
                  <a:schemeClr val="hlink"/>
                </a:solidFill>
              </a:rPr>
              <a:t>D</a:t>
            </a:r>
            <a:r>
              <a:rPr lang="en-US" dirty="0"/>
              <a:t>ouble </a:t>
            </a:r>
            <a:r>
              <a:rPr lang="en-US" b="1" dirty="0">
                <a:solidFill>
                  <a:schemeClr val="hlink"/>
                </a:solidFill>
              </a:rPr>
              <a:t>S</a:t>
            </a:r>
            <a:r>
              <a:rPr lang="en-US" dirty="0"/>
              <a:t>ide </a:t>
            </a:r>
            <a:r>
              <a:rPr lang="en-US" b="1" dirty="0">
                <a:solidFill>
                  <a:schemeClr val="hlink"/>
                </a:solidFill>
              </a:rPr>
              <a:t>B</a:t>
            </a:r>
            <a:r>
              <a:rPr lang="en-US" dirty="0"/>
              <a:t>and – </a:t>
            </a:r>
            <a:r>
              <a:rPr lang="en-US" b="1" dirty="0">
                <a:solidFill>
                  <a:schemeClr val="hlink"/>
                </a:solidFill>
              </a:rPr>
              <a:t>S</a:t>
            </a:r>
            <a:r>
              <a:rPr lang="en-US" dirty="0"/>
              <a:t>uppressed </a:t>
            </a:r>
            <a:r>
              <a:rPr lang="en-US" b="1" dirty="0">
                <a:solidFill>
                  <a:schemeClr val="hlink"/>
                </a:solidFill>
              </a:rPr>
              <a:t>C</a:t>
            </a:r>
            <a:r>
              <a:rPr lang="en-US" dirty="0"/>
              <a:t>arrier</a:t>
            </a:r>
          </a:p>
          <a:p>
            <a:r>
              <a:rPr lang="en-US" dirty="0"/>
              <a:t>Dado um </a:t>
            </a:r>
            <a:r>
              <a:rPr lang="en-US" dirty="0" err="1"/>
              <a:t>sinal</a:t>
            </a:r>
            <a:r>
              <a:rPr lang="en-US" dirty="0"/>
              <a:t> de </a:t>
            </a:r>
            <a:r>
              <a:rPr lang="en-US" dirty="0" err="1"/>
              <a:t>banda</a:t>
            </a:r>
            <a:r>
              <a:rPr lang="en-US" dirty="0"/>
              <a:t> base </a:t>
            </a:r>
            <a:r>
              <a:rPr lang="en-US" i="1" dirty="0">
                <a:latin typeface="Times New Roman" pitchFamily="18" charset="0"/>
              </a:rPr>
              <a:t>m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</a:rPr>
              <a:t>t</a:t>
            </a:r>
            <a:r>
              <a:rPr lang="en-US" dirty="0">
                <a:latin typeface="Times New Roman" pitchFamily="18" charset="0"/>
              </a:rPr>
              <a:t>)</a:t>
            </a:r>
            <a:r>
              <a:rPr lang="en-US" dirty="0"/>
              <a:t> </a:t>
            </a:r>
          </a:p>
          <a:p>
            <a:r>
              <a:rPr lang="en-US" dirty="0"/>
              <a:t>Amplitude da </a:t>
            </a:r>
            <a:r>
              <a:rPr lang="en-US" dirty="0" err="1"/>
              <a:t>portadora</a:t>
            </a:r>
            <a:r>
              <a:rPr lang="en-US" dirty="0"/>
              <a:t> varia de </a:t>
            </a:r>
            <a:r>
              <a:rPr lang="en-US" dirty="0" err="1"/>
              <a:t>acordo</a:t>
            </a:r>
            <a:r>
              <a:rPr lang="en-US" dirty="0"/>
              <a:t> com </a:t>
            </a:r>
            <a:r>
              <a:rPr lang="en-US" dirty="0" err="1"/>
              <a:t>sinal</a:t>
            </a:r>
            <a:endParaRPr lang="en-US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945D88CA-C807-C832-7AB2-960E8FA33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6801" y="3937227"/>
            <a:ext cx="460382" cy="52322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2800">
                <a:latin typeface="Symbol" pitchFamily="18" charset="2"/>
              </a:rPr>
              <a:t>Ä</a:t>
            </a:r>
            <a:endParaRPr lang="en-US" sz="2800"/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692D4D75-7FA9-ED5E-1E30-F2B18D5EBF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9214" y="4188052"/>
            <a:ext cx="110966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56780032-F902-13B3-7B8F-F3CCA630E2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97464" y="4299178"/>
            <a:ext cx="0" cy="54133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2FC4DACB-D758-28AA-15A5-53A9729FA02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02239" y="4189639"/>
            <a:ext cx="110966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0504EFC1-B6C1-D984-BD5C-DD342E03A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2570" y="4086112"/>
            <a:ext cx="867545" cy="58477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3200" i="1" dirty="0">
                <a:latin typeface="Times New Roman" pitchFamily="18" charset="0"/>
              </a:rPr>
              <a:t>m</a:t>
            </a:r>
            <a:r>
              <a:rPr lang="en-US" sz="3200" dirty="0">
                <a:latin typeface="Times New Roman" pitchFamily="18" charset="0"/>
              </a:rPr>
              <a:t>(</a:t>
            </a:r>
            <a:r>
              <a:rPr lang="en-US" sz="3200" i="1" dirty="0">
                <a:latin typeface="Times New Roman" pitchFamily="18" charset="0"/>
              </a:rPr>
              <a:t>t</a:t>
            </a:r>
            <a:r>
              <a:rPr lang="en-US" sz="3200" dirty="0">
                <a:latin typeface="Times New Roman" pitchFamily="18" charset="0"/>
              </a:rPr>
              <a:t>)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BDFBAF7C-E160-386A-A51E-3C9B98B9B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7434" y="3648243"/>
            <a:ext cx="947695" cy="58477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3200" dirty="0" err="1"/>
              <a:t>sinal</a:t>
            </a:r>
            <a:endParaRPr lang="en-US" sz="3200" dirty="0"/>
          </a:p>
        </p:txBody>
      </p:sp>
      <p:sp>
        <p:nvSpPr>
          <p:cNvPr id="10" name="Text Box 17">
            <a:extLst>
              <a:ext uri="{FF2B5EF4-FFF2-40B4-BE49-F238E27FC236}">
                <a16:creationId xmlns:a16="http://schemas.microsoft.com/office/drawing/2014/main" id="{83328995-5207-18B3-DB78-10D85EB7A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229" y="4818413"/>
            <a:ext cx="1824471" cy="58477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762000"/>
            <a:r>
              <a:rPr lang="en-US" sz="3200" dirty="0" err="1">
                <a:latin typeface="Times New Roman" pitchFamily="18" charset="0"/>
              </a:rPr>
              <a:t>cos</a:t>
            </a:r>
            <a:r>
              <a:rPr lang="en-US" sz="3200" dirty="0">
                <a:latin typeface="Times New Roman" pitchFamily="18" charset="0"/>
              </a:rPr>
              <a:t>(2</a:t>
            </a:r>
            <a:r>
              <a:rPr lang="en-US" sz="3200" dirty="0">
                <a:latin typeface="Symbol" pitchFamily="18" charset="2"/>
              </a:rPr>
              <a:t>p</a:t>
            </a:r>
            <a:r>
              <a:rPr lang="en-US" sz="3200" i="1" dirty="0">
                <a:latin typeface="Times New Roman" pitchFamily="18" charset="0"/>
              </a:rPr>
              <a:t>f</a:t>
            </a:r>
            <a:r>
              <a:rPr lang="en-US" sz="3200" baseline="-25000" dirty="0">
                <a:latin typeface="Times New Roman" pitchFamily="18" charset="0"/>
              </a:rPr>
              <a:t>c</a:t>
            </a:r>
            <a:r>
              <a:rPr lang="en-US" sz="3200" i="1" dirty="0">
                <a:latin typeface="Times New Roman" pitchFamily="18" charset="0"/>
              </a:rPr>
              <a:t>t</a:t>
            </a:r>
            <a:r>
              <a:rPr lang="en-US" sz="3200" dirty="0">
                <a:latin typeface="Times New Roman" pitchFamily="18" charset="0"/>
              </a:rPr>
              <a:t>)</a:t>
            </a:r>
          </a:p>
        </p:txBody>
      </p:sp>
      <p:sp>
        <p:nvSpPr>
          <p:cNvPr id="11" name="Text Box 18">
            <a:extLst>
              <a:ext uri="{FF2B5EF4-FFF2-40B4-BE49-F238E27FC236}">
                <a16:creationId xmlns:a16="http://schemas.microsoft.com/office/drawing/2014/main" id="{293B273F-D975-7E2A-5280-8E6804421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229" y="5301230"/>
            <a:ext cx="3312489" cy="58477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762000"/>
            <a:r>
              <a:rPr lang="en-US" sz="3200" dirty="0" err="1"/>
              <a:t>portadora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9">
                <a:extLst>
                  <a:ext uri="{FF2B5EF4-FFF2-40B4-BE49-F238E27FC236}">
                    <a16:creationId xmlns:a16="http://schemas.microsoft.com/office/drawing/2014/main" id="{201CB0B5-8C5F-9BD7-4E3C-3F2C045D97AA}"/>
                  </a:ext>
                </a:extLst>
              </p:cNvPr>
              <p:cNvSpPr txBox="1"/>
              <p:nvPr/>
            </p:nvSpPr>
            <p:spPr bwMode="auto">
              <a:xfrm>
                <a:off x="6070546" y="3458002"/>
                <a:ext cx="5756332" cy="787619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𝐷𝑆𝐵</m:t>
                          </m:r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pt-BR" sz="3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3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2" name="Object 19">
                <a:extLst>
                  <a:ext uri="{FF2B5EF4-FFF2-40B4-BE49-F238E27FC236}">
                    <a16:creationId xmlns:a16="http://schemas.microsoft.com/office/drawing/2014/main" id="{201CB0B5-8C5F-9BD7-4E3C-3F2C045D9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70546" y="3458002"/>
                <a:ext cx="5756332" cy="7876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44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4685E-BF81-8318-93AF-E2097489D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AM – DSB/SC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2F57E5D5-8FC9-DB8A-E595-68ACFD8A9F2B}"/>
                  </a:ext>
                </a:extLst>
              </p:cNvPr>
              <p:cNvSpPr txBox="1"/>
              <p:nvPr/>
            </p:nvSpPr>
            <p:spPr bwMode="auto">
              <a:xfrm>
                <a:off x="3965575" y="1374775"/>
                <a:ext cx="5788025" cy="1303261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    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)⇔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>
                      <m:sSub>
                        <m:sSub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𝐷𝑆𝐵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)⇔</m:t>
                      </m:r>
                      <m:f>
                        <m:f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2F57E5D5-8FC9-DB8A-E595-68ACFD8A9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5575" y="1374775"/>
                <a:ext cx="5788025" cy="13032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6">
            <a:extLst>
              <a:ext uri="{FF2B5EF4-FFF2-40B4-BE49-F238E27FC236}">
                <a16:creationId xmlns:a16="http://schemas.microsoft.com/office/drawing/2014/main" id="{CE52C27F-0990-87F0-69A4-68AB4FB34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79726" y="3281364"/>
            <a:ext cx="2398713" cy="116522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B8FD8429-673A-CDF5-5305-875B38D5C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76550" y="4892676"/>
            <a:ext cx="2401888" cy="117157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DECF67AD-81A5-D193-9680-1968C3E8C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1769" y="3178175"/>
            <a:ext cx="569387" cy="36933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i="1" dirty="0">
                <a:solidFill>
                  <a:srgbClr val="063DE8"/>
                </a:solidFill>
                <a:latin typeface="Times New Roman" pitchFamily="18" charset="0"/>
              </a:rPr>
              <a:t>m</a:t>
            </a:r>
            <a:r>
              <a:rPr lang="en-US" dirty="0">
                <a:solidFill>
                  <a:srgbClr val="063DE8"/>
                </a:solidFill>
                <a:latin typeface="Times New Roman" pitchFamily="18" charset="0"/>
              </a:rPr>
              <a:t>(</a:t>
            </a:r>
            <a:r>
              <a:rPr lang="en-US" i="1" dirty="0">
                <a:solidFill>
                  <a:srgbClr val="063DE8"/>
                </a:solidFill>
                <a:latin typeface="Times New Roman" pitchFamily="18" charset="0"/>
              </a:rPr>
              <a:t>t</a:t>
            </a:r>
            <a:r>
              <a:rPr lang="en-US" dirty="0">
                <a:solidFill>
                  <a:srgbClr val="063DE8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69424F2D-DD53-3B69-6085-AB52E69BB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1327" y="4732338"/>
            <a:ext cx="1470274" cy="36933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i="1" dirty="0">
                <a:solidFill>
                  <a:schemeClr val="hlink"/>
                </a:solidFill>
                <a:latin typeface="Times New Roman" pitchFamily="18" charset="0"/>
              </a:rPr>
              <a:t>m</a:t>
            </a:r>
            <a:r>
              <a:rPr lang="en-US" dirty="0">
                <a:solidFill>
                  <a:schemeClr val="hlink"/>
                </a:solidFill>
                <a:latin typeface="Times New Roman" pitchFamily="18" charset="0"/>
              </a:rPr>
              <a:t>(</a:t>
            </a:r>
            <a:r>
              <a:rPr lang="en-US" i="1" dirty="0">
                <a:solidFill>
                  <a:schemeClr val="hlink"/>
                </a:solidFill>
                <a:latin typeface="Times New Roman" pitchFamily="18" charset="0"/>
              </a:rPr>
              <a:t>t</a:t>
            </a:r>
            <a:r>
              <a:rPr lang="en-US" dirty="0">
                <a:solidFill>
                  <a:schemeClr val="hlink"/>
                </a:solidFill>
                <a:latin typeface="Times New Roman" pitchFamily="18" charset="0"/>
              </a:rPr>
              <a:t>)</a:t>
            </a:r>
            <a:r>
              <a:rPr lang="en-US" dirty="0" err="1">
                <a:solidFill>
                  <a:schemeClr val="hlink"/>
                </a:solidFill>
                <a:latin typeface="Times New Roman" pitchFamily="18" charset="0"/>
              </a:rPr>
              <a:t>cos</a:t>
            </a:r>
            <a:r>
              <a:rPr lang="en-US" dirty="0">
                <a:solidFill>
                  <a:schemeClr val="hlink"/>
                </a:solidFill>
                <a:latin typeface="Times New Roman" pitchFamily="18" charset="0"/>
              </a:rPr>
              <a:t>(2</a:t>
            </a:r>
            <a:r>
              <a:rPr lang="en-US" dirty="0">
                <a:solidFill>
                  <a:schemeClr val="hlink"/>
                </a:solidFill>
                <a:latin typeface="Symbol" pitchFamily="18" charset="2"/>
              </a:rPr>
              <a:t>p</a:t>
            </a:r>
            <a:r>
              <a:rPr lang="en-US" i="1" dirty="0">
                <a:solidFill>
                  <a:schemeClr val="hlink"/>
                </a:solidFill>
                <a:latin typeface="Times New Roman" pitchFamily="18" charset="0"/>
              </a:rPr>
              <a:t>f</a:t>
            </a:r>
            <a:r>
              <a:rPr lang="en-US" baseline="-25000" dirty="0">
                <a:solidFill>
                  <a:schemeClr val="hlink"/>
                </a:solidFill>
                <a:latin typeface="Times New Roman" pitchFamily="18" charset="0"/>
              </a:rPr>
              <a:t>c</a:t>
            </a:r>
            <a:r>
              <a:rPr lang="en-US" i="1" dirty="0">
                <a:solidFill>
                  <a:schemeClr val="hlink"/>
                </a:solidFill>
                <a:latin typeface="Times New Roman" pitchFamily="18" charset="0"/>
              </a:rPr>
              <a:t>t</a:t>
            </a:r>
            <a:r>
              <a:rPr lang="en-US" dirty="0">
                <a:solidFill>
                  <a:schemeClr val="hlink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E04AC02B-80D6-5477-D238-EE29B63F9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0" y="3878264"/>
            <a:ext cx="227948" cy="2769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200">
                <a:latin typeface="Times New Roman" pitchFamily="18" charset="0"/>
              </a:rPr>
              <a:t>t</a:t>
            </a:r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30EDD899-3068-001D-68A2-EB5532A57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0" y="5613401"/>
            <a:ext cx="227948" cy="2769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200">
                <a:latin typeface="Times New Roman" pitchFamily="18" charset="0"/>
              </a:rPr>
              <a:t>t</a:t>
            </a:r>
          </a:p>
        </p:txBody>
      </p:sp>
      <p:sp>
        <p:nvSpPr>
          <p:cNvPr id="12" name="Line 420">
            <a:extLst>
              <a:ext uri="{FF2B5EF4-FFF2-40B4-BE49-F238E27FC236}">
                <a16:creationId xmlns:a16="http://schemas.microsoft.com/office/drawing/2014/main" id="{B749C246-C8E5-FA5C-8C46-2AE6A919517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1738" y="3767138"/>
            <a:ext cx="1930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13" name="Line 422">
            <a:extLst>
              <a:ext uri="{FF2B5EF4-FFF2-40B4-BE49-F238E27FC236}">
                <a16:creationId xmlns:a16="http://schemas.microsoft.com/office/drawing/2014/main" id="{BFF99CC2-0BCE-ED1A-754C-8920EA04CC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91538" y="3294064"/>
            <a:ext cx="0" cy="87153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grpSp>
        <p:nvGrpSpPr>
          <p:cNvPr id="14" name="Group 425">
            <a:extLst>
              <a:ext uri="{FF2B5EF4-FFF2-40B4-BE49-F238E27FC236}">
                <a16:creationId xmlns:a16="http://schemas.microsoft.com/office/drawing/2014/main" id="{6A39D843-34C4-2A99-B511-2984B1D4CF2A}"/>
              </a:ext>
            </a:extLst>
          </p:cNvPr>
          <p:cNvGrpSpPr>
            <a:grpSpLocks/>
          </p:cNvGrpSpPr>
          <p:nvPr/>
        </p:nvGrpSpPr>
        <p:grpSpPr bwMode="auto">
          <a:xfrm>
            <a:off x="8272464" y="3376614"/>
            <a:ext cx="434975" cy="401637"/>
            <a:chOff x="4251" y="2207"/>
            <a:chExt cx="274" cy="173"/>
          </a:xfrm>
        </p:grpSpPr>
        <p:sp>
          <p:nvSpPr>
            <p:cNvPr id="15" name="Line 423">
              <a:extLst>
                <a:ext uri="{FF2B5EF4-FFF2-40B4-BE49-F238E27FC236}">
                  <a16:creationId xmlns:a16="http://schemas.microsoft.com/office/drawing/2014/main" id="{405B1DD0-C7AF-01B1-02EE-B5CF00C3FE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1" y="2207"/>
              <a:ext cx="138" cy="172"/>
            </a:xfrm>
            <a:prstGeom prst="line">
              <a:avLst/>
            </a:prstGeom>
            <a:noFill/>
            <a:ln w="28575">
              <a:solidFill>
                <a:srgbClr val="063DE8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sp>
          <p:nvSpPr>
            <p:cNvPr id="16" name="Line 424">
              <a:extLst>
                <a:ext uri="{FF2B5EF4-FFF2-40B4-BE49-F238E27FC236}">
                  <a16:creationId xmlns:a16="http://schemas.microsoft.com/office/drawing/2014/main" id="{70D92947-18E4-8160-76BB-EB1830F7D0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87" y="2208"/>
              <a:ext cx="138" cy="172"/>
            </a:xfrm>
            <a:prstGeom prst="line">
              <a:avLst/>
            </a:prstGeom>
            <a:noFill/>
            <a:ln w="28575">
              <a:solidFill>
                <a:srgbClr val="063DE8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</p:grpSp>
      <p:sp>
        <p:nvSpPr>
          <p:cNvPr id="17" name="Text Box 426">
            <a:extLst>
              <a:ext uri="{FF2B5EF4-FFF2-40B4-BE49-F238E27FC236}">
                <a16:creationId xmlns:a16="http://schemas.microsoft.com/office/drawing/2014/main" id="{F7DC9605-EAE1-B9DB-F8CC-2BD3D5851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7688" y="3819526"/>
            <a:ext cx="235962" cy="2769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200">
                <a:latin typeface="Times New Roman" pitchFamily="18" charset="0"/>
              </a:rPr>
              <a:t>f</a:t>
            </a:r>
          </a:p>
        </p:txBody>
      </p:sp>
      <p:sp>
        <p:nvSpPr>
          <p:cNvPr id="18" name="Text Box 427">
            <a:extLst>
              <a:ext uri="{FF2B5EF4-FFF2-40B4-BE49-F238E27FC236}">
                <a16:creationId xmlns:a16="http://schemas.microsoft.com/office/drawing/2014/main" id="{0377467F-6916-412D-B4BB-B3B76DFFA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855" y="3203575"/>
            <a:ext cx="595035" cy="36933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i="1" dirty="0">
                <a:solidFill>
                  <a:srgbClr val="063DE8"/>
                </a:solidFill>
                <a:latin typeface="Times New Roman" pitchFamily="18" charset="0"/>
              </a:rPr>
              <a:t>M</a:t>
            </a:r>
            <a:r>
              <a:rPr lang="en-US" dirty="0">
                <a:solidFill>
                  <a:srgbClr val="063DE8"/>
                </a:solidFill>
                <a:latin typeface="Times New Roman" pitchFamily="18" charset="0"/>
              </a:rPr>
              <a:t>(</a:t>
            </a:r>
            <a:r>
              <a:rPr lang="en-US" i="1" dirty="0">
                <a:solidFill>
                  <a:srgbClr val="063DE8"/>
                </a:solidFill>
                <a:latin typeface="Times New Roman" pitchFamily="18" charset="0"/>
              </a:rPr>
              <a:t>f</a:t>
            </a:r>
            <a:r>
              <a:rPr lang="en-US" dirty="0">
                <a:solidFill>
                  <a:srgbClr val="063DE8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19" name="Text Box 428">
            <a:extLst>
              <a:ext uri="{FF2B5EF4-FFF2-40B4-BE49-F238E27FC236}">
                <a16:creationId xmlns:a16="http://schemas.microsoft.com/office/drawing/2014/main" id="{4D287EA9-9183-E3E9-E773-2F06383AD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4088" y="3811589"/>
            <a:ext cx="287258" cy="2769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200">
                <a:latin typeface="Times New Roman" pitchFamily="18" charset="0"/>
              </a:rPr>
              <a:t>B</a:t>
            </a:r>
          </a:p>
        </p:txBody>
      </p:sp>
      <p:sp>
        <p:nvSpPr>
          <p:cNvPr id="20" name="Text Box 429">
            <a:extLst>
              <a:ext uri="{FF2B5EF4-FFF2-40B4-BE49-F238E27FC236}">
                <a16:creationId xmlns:a16="http://schemas.microsoft.com/office/drawing/2014/main" id="{796F81A5-6EFD-A73D-844A-D0AC6EDEC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9588" y="3813176"/>
            <a:ext cx="338554" cy="2769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200">
                <a:latin typeface="Times New Roman" pitchFamily="18" charset="0"/>
              </a:rPr>
              <a:t>-B</a:t>
            </a:r>
          </a:p>
        </p:txBody>
      </p:sp>
      <p:sp>
        <p:nvSpPr>
          <p:cNvPr id="21" name="Line 430">
            <a:extLst>
              <a:ext uri="{FF2B5EF4-FFF2-40B4-BE49-F238E27FC236}">
                <a16:creationId xmlns:a16="http://schemas.microsoft.com/office/drawing/2014/main" id="{615387FB-E04C-852B-19EC-CED645184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3325" y="5467350"/>
            <a:ext cx="1930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22" name="Line 431">
            <a:extLst>
              <a:ext uri="{FF2B5EF4-FFF2-40B4-BE49-F238E27FC236}">
                <a16:creationId xmlns:a16="http://schemas.microsoft.com/office/drawing/2014/main" id="{9B986A68-C48E-9D9F-9C17-E1C1D63088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93125" y="4994275"/>
            <a:ext cx="0" cy="871538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23" name="Text Box 435">
            <a:extLst>
              <a:ext uri="{FF2B5EF4-FFF2-40B4-BE49-F238E27FC236}">
                <a16:creationId xmlns:a16="http://schemas.microsoft.com/office/drawing/2014/main" id="{E6B961B2-064C-A4BC-351D-870A51F25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9275" y="5519739"/>
            <a:ext cx="235962" cy="2769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200">
                <a:latin typeface="Times New Roman" pitchFamily="18" charset="0"/>
              </a:rPr>
              <a:t>f</a:t>
            </a:r>
          </a:p>
        </p:txBody>
      </p:sp>
      <p:sp>
        <p:nvSpPr>
          <p:cNvPr id="24" name="Text Box 436">
            <a:extLst>
              <a:ext uri="{FF2B5EF4-FFF2-40B4-BE49-F238E27FC236}">
                <a16:creationId xmlns:a16="http://schemas.microsoft.com/office/drawing/2014/main" id="{06F15C93-CE48-858A-2BF2-98D4233E1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6472" y="4789488"/>
            <a:ext cx="579005" cy="36933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dirty="0">
                <a:solidFill>
                  <a:srgbClr val="EE0000"/>
                </a:solidFill>
                <a:latin typeface="Symbol" pitchFamily="18" charset="2"/>
              </a:rPr>
              <a:t>F</a:t>
            </a:r>
            <a:r>
              <a:rPr lang="en-US" dirty="0">
                <a:solidFill>
                  <a:srgbClr val="EE0000"/>
                </a:solidFill>
                <a:latin typeface="Times New Roman" pitchFamily="18" charset="0"/>
              </a:rPr>
              <a:t>(</a:t>
            </a:r>
            <a:r>
              <a:rPr lang="en-US" i="1" dirty="0">
                <a:solidFill>
                  <a:srgbClr val="EE0000"/>
                </a:solidFill>
                <a:latin typeface="Times New Roman" pitchFamily="18" charset="0"/>
              </a:rPr>
              <a:t>f</a:t>
            </a:r>
            <a:r>
              <a:rPr lang="en-US" dirty="0">
                <a:solidFill>
                  <a:srgbClr val="EE0000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25" name="Text Box 438">
            <a:extLst>
              <a:ext uri="{FF2B5EF4-FFF2-40B4-BE49-F238E27FC236}">
                <a16:creationId xmlns:a16="http://schemas.microsoft.com/office/drawing/2014/main" id="{4306DB21-80CC-84D9-D203-6198C05B7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0513" y="5456239"/>
            <a:ext cx="332142" cy="2769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200">
                <a:latin typeface="Times New Roman" pitchFamily="18" charset="0"/>
              </a:rPr>
              <a:t>-f</a:t>
            </a:r>
            <a:r>
              <a:rPr lang="en-US" sz="1200" baseline="-25000">
                <a:latin typeface="Times New Roman" pitchFamily="18" charset="0"/>
              </a:rPr>
              <a:t>c</a:t>
            </a:r>
            <a:endParaRPr lang="en-US" sz="1200">
              <a:latin typeface="Times New Roman" pitchFamily="18" charset="0"/>
            </a:endParaRPr>
          </a:p>
        </p:txBody>
      </p:sp>
      <p:grpSp>
        <p:nvGrpSpPr>
          <p:cNvPr id="26" name="Group 442">
            <a:extLst>
              <a:ext uri="{FF2B5EF4-FFF2-40B4-BE49-F238E27FC236}">
                <a16:creationId xmlns:a16="http://schemas.microsoft.com/office/drawing/2014/main" id="{584D74C0-46E8-1374-2378-FE98666BE22F}"/>
              </a:ext>
            </a:extLst>
          </p:cNvPr>
          <p:cNvGrpSpPr>
            <a:grpSpLocks/>
          </p:cNvGrpSpPr>
          <p:nvPr/>
        </p:nvGrpSpPr>
        <p:grpSpPr bwMode="auto">
          <a:xfrm>
            <a:off x="7861301" y="5254626"/>
            <a:ext cx="1349375" cy="225425"/>
            <a:chOff x="3992" y="3198"/>
            <a:chExt cx="850" cy="254"/>
          </a:xfrm>
        </p:grpSpPr>
        <p:grpSp>
          <p:nvGrpSpPr>
            <p:cNvPr id="27" name="Group 432">
              <a:extLst>
                <a:ext uri="{FF2B5EF4-FFF2-40B4-BE49-F238E27FC236}">
                  <a16:creationId xmlns:a16="http://schemas.microsoft.com/office/drawing/2014/main" id="{C4AA52A4-AF9C-E902-2ACA-B106E8384F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2" y="3198"/>
              <a:ext cx="274" cy="253"/>
              <a:chOff x="4251" y="2207"/>
              <a:chExt cx="274" cy="173"/>
            </a:xfrm>
          </p:grpSpPr>
          <p:sp>
            <p:nvSpPr>
              <p:cNvPr id="31" name="Line 433">
                <a:extLst>
                  <a:ext uri="{FF2B5EF4-FFF2-40B4-BE49-F238E27FC236}">
                    <a16:creationId xmlns:a16="http://schemas.microsoft.com/office/drawing/2014/main" id="{7F210620-B953-4010-2540-EC80A6C500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51" y="2207"/>
                <a:ext cx="138" cy="172"/>
              </a:xfrm>
              <a:prstGeom prst="line">
                <a:avLst/>
              </a:prstGeom>
              <a:noFill/>
              <a:ln w="28575">
                <a:solidFill>
                  <a:srgbClr val="EE0000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32" name="Line 434">
                <a:extLst>
                  <a:ext uri="{FF2B5EF4-FFF2-40B4-BE49-F238E27FC236}">
                    <a16:creationId xmlns:a16="http://schemas.microsoft.com/office/drawing/2014/main" id="{4C968D66-34B1-5754-0E84-7A802C8C08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387" y="2208"/>
                <a:ext cx="138" cy="172"/>
              </a:xfrm>
              <a:prstGeom prst="line">
                <a:avLst/>
              </a:prstGeom>
              <a:noFill/>
              <a:ln w="28575">
                <a:solidFill>
                  <a:srgbClr val="EE0000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</p:grpSp>
        <p:grpSp>
          <p:nvGrpSpPr>
            <p:cNvPr id="28" name="Group 439">
              <a:extLst>
                <a:ext uri="{FF2B5EF4-FFF2-40B4-BE49-F238E27FC236}">
                  <a16:creationId xmlns:a16="http://schemas.microsoft.com/office/drawing/2014/main" id="{C8C1C634-6A46-BF73-ADA6-8ADF480560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8" y="3199"/>
              <a:ext cx="274" cy="253"/>
              <a:chOff x="4251" y="2207"/>
              <a:chExt cx="274" cy="173"/>
            </a:xfrm>
          </p:grpSpPr>
          <p:sp>
            <p:nvSpPr>
              <p:cNvPr id="29" name="Line 440">
                <a:extLst>
                  <a:ext uri="{FF2B5EF4-FFF2-40B4-BE49-F238E27FC236}">
                    <a16:creationId xmlns:a16="http://schemas.microsoft.com/office/drawing/2014/main" id="{AE95714C-C2CB-9E61-DC8B-8069046781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51" y="2207"/>
                <a:ext cx="138" cy="172"/>
              </a:xfrm>
              <a:prstGeom prst="line">
                <a:avLst/>
              </a:prstGeom>
              <a:noFill/>
              <a:ln w="28575">
                <a:solidFill>
                  <a:srgbClr val="EE0000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30" name="Line 441">
                <a:extLst>
                  <a:ext uri="{FF2B5EF4-FFF2-40B4-BE49-F238E27FC236}">
                    <a16:creationId xmlns:a16="http://schemas.microsoft.com/office/drawing/2014/main" id="{252FDA45-59A0-80E1-CD08-A3B4AD35EE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387" y="2208"/>
                <a:ext cx="138" cy="172"/>
              </a:xfrm>
              <a:prstGeom prst="line">
                <a:avLst/>
              </a:prstGeom>
              <a:noFill/>
              <a:ln w="28575">
                <a:solidFill>
                  <a:srgbClr val="EE0000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</p:grpSp>
      </p:grpSp>
      <p:sp>
        <p:nvSpPr>
          <p:cNvPr id="33" name="Line 443">
            <a:extLst>
              <a:ext uri="{FF2B5EF4-FFF2-40B4-BE49-F238E27FC236}">
                <a16:creationId xmlns:a16="http://schemas.microsoft.com/office/drawing/2014/main" id="{78F0CC1A-6B18-FF1A-064B-F8D4E3C907B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5249863"/>
            <a:ext cx="0" cy="228600"/>
          </a:xfrm>
          <a:prstGeom prst="line">
            <a:avLst/>
          </a:prstGeom>
          <a:noFill/>
          <a:ln w="635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4" name="Text Box 444">
            <a:extLst>
              <a:ext uri="{FF2B5EF4-FFF2-40B4-BE49-F238E27FC236}">
                <a16:creationId xmlns:a16="http://schemas.microsoft.com/office/drawing/2014/main" id="{9397A701-06B3-2BD1-7058-352305D0E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50" y="5481639"/>
            <a:ext cx="280846" cy="2769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200">
                <a:latin typeface="Times New Roman" pitchFamily="18" charset="0"/>
              </a:rPr>
              <a:t>f</a:t>
            </a:r>
            <a:r>
              <a:rPr lang="en-US" sz="1200" baseline="-25000">
                <a:latin typeface="Times New Roman" pitchFamily="18" charset="0"/>
              </a:rPr>
              <a:t>c</a:t>
            </a:r>
            <a:endParaRPr lang="en-US" sz="1200">
              <a:latin typeface="Times New Roman" pitchFamily="18" charset="0"/>
            </a:endParaRPr>
          </a:p>
        </p:txBody>
      </p:sp>
      <p:sp>
        <p:nvSpPr>
          <p:cNvPr id="35" name="Line 445">
            <a:extLst>
              <a:ext uri="{FF2B5EF4-FFF2-40B4-BE49-F238E27FC236}">
                <a16:creationId xmlns:a16="http://schemas.microsoft.com/office/drawing/2014/main" id="{49958E81-A0B4-0AB6-3E92-5F19E29DF0FA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5275263"/>
            <a:ext cx="0" cy="228600"/>
          </a:xfrm>
          <a:prstGeom prst="line">
            <a:avLst/>
          </a:prstGeom>
          <a:noFill/>
          <a:ln w="635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6" name="Text Box 446">
            <a:extLst>
              <a:ext uri="{FF2B5EF4-FFF2-40B4-BE49-F238E27FC236}">
                <a16:creationId xmlns:a16="http://schemas.microsoft.com/office/drawing/2014/main" id="{40EE07A7-1ECF-AE0E-4279-635E2DE66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4351" y="4849813"/>
            <a:ext cx="562975" cy="36933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dirty="0"/>
              <a:t>USB</a:t>
            </a:r>
          </a:p>
        </p:txBody>
      </p:sp>
      <p:sp>
        <p:nvSpPr>
          <p:cNvPr id="37" name="Line 447">
            <a:extLst>
              <a:ext uri="{FF2B5EF4-FFF2-40B4-BE49-F238E27FC236}">
                <a16:creationId xmlns:a16="http://schemas.microsoft.com/office/drawing/2014/main" id="{ACA701E2-906D-DDCA-93E0-0D4FC2F4B4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67800" y="5029201"/>
            <a:ext cx="439738" cy="37306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8" name="Text Box 448">
            <a:extLst>
              <a:ext uri="{FF2B5EF4-FFF2-40B4-BE49-F238E27FC236}">
                <a16:creationId xmlns:a16="http://schemas.microsoft.com/office/drawing/2014/main" id="{DA020FE8-C7DF-2FBF-3A04-E5906AC87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0100" y="4995863"/>
            <a:ext cx="513282" cy="36933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/>
              <a:t>LSB</a:t>
            </a:r>
          </a:p>
        </p:txBody>
      </p:sp>
      <p:sp>
        <p:nvSpPr>
          <p:cNvPr id="39" name="Line 449">
            <a:extLst>
              <a:ext uri="{FF2B5EF4-FFF2-40B4-BE49-F238E27FC236}">
                <a16:creationId xmlns:a16="http://schemas.microsoft.com/office/drawing/2014/main" id="{FEA06702-84A4-D82D-9A0F-30E69BF5B80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45538" y="5207000"/>
            <a:ext cx="169862" cy="160338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40" name="Line 453">
            <a:extLst>
              <a:ext uri="{FF2B5EF4-FFF2-40B4-BE49-F238E27FC236}">
                <a16:creationId xmlns:a16="http://schemas.microsoft.com/office/drawing/2014/main" id="{E48157D6-3A56-F71C-FD4A-A1300415ED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75338" y="6748464"/>
            <a:ext cx="0" cy="793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44" name="AutoShape 13">
            <a:extLst>
              <a:ext uri="{FF2B5EF4-FFF2-40B4-BE49-F238E27FC236}">
                <a16:creationId xmlns:a16="http://schemas.microsoft.com/office/drawing/2014/main" id="{E1D777CB-5570-6733-5C45-465E48A89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5228" y="3547507"/>
            <a:ext cx="1152525" cy="169862"/>
          </a:xfrm>
          <a:prstGeom prst="leftRightArrow">
            <a:avLst>
              <a:gd name="adj1" fmla="val 50000"/>
              <a:gd name="adj2" fmla="val 135701"/>
            </a:avLst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46" name="AutoShape 14">
            <a:extLst>
              <a:ext uri="{FF2B5EF4-FFF2-40B4-BE49-F238E27FC236}">
                <a16:creationId xmlns:a16="http://schemas.microsoft.com/office/drawing/2014/main" id="{9943AEA1-4912-9438-BCA0-4BA59330E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6815" y="5279469"/>
            <a:ext cx="1152525" cy="169863"/>
          </a:xfrm>
          <a:prstGeom prst="leftRightArrow">
            <a:avLst>
              <a:gd name="adj1" fmla="val 50000"/>
              <a:gd name="adj2" fmla="val 135701"/>
            </a:avLst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48" name="Text Box 446">
            <a:extLst>
              <a:ext uri="{FF2B5EF4-FFF2-40B4-BE49-F238E27FC236}">
                <a16:creationId xmlns:a16="http://schemas.microsoft.com/office/drawing/2014/main" id="{A5019125-033E-10ED-0B2C-D65D4BFBF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450" y="5929016"/>
            <a:ext cx="1707519" cy="36933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dirty="0"/>
              <a:t>LSB + USB = DSB</a:t>
            </a:r>
          </a:p>
        </p:txBody>
      </p:sp>
    </p:spTree>
    <p:extLst>
      <p:ext uri="{BB962C8B-B14F-4D97-AF65-F5344CB8AC3E}">
        <p14:creationId xmlns:p14="http://schemas.microsoft.com/office/powerpoint/2010/main" val="21875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98672-02E2-3E74-4918-793560B68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 DSB-SC</a:t>
            </a:r>
            <a:br>
              <a:rPr lang="pt-BR" dirty="0"/>
            </a:br>
            <a:r>
              <a:rPr lang="pt-BR" dirty="0"/>
              <a:t>Demodulação – na Frequência</a:t>
            </a:r>
          </a:p>
        </p:txBody>
      </p:sp>
      <p:sp>
        <p:nvSpPr>
          <p:cNvPr id="3" name="Text Box 12">
            <a:extLst>
              <a:ext uri="{FF2B5EF4-FFF2-40B4-BE49-F238E27FC236}">
                <a16:creationId xmlns:a16="http://schemas.microsoft.com/office/drawing/2014/main" id="{163C8BF2-6415-6761-FA4E-28E6FA4D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2837" y="1738314"/>
            <a:ext cx="1293812" cy="886397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>
              <a:lnSpc>
                <a:spcPct val="65000"/>
              </a:lnSpc>
              <a:spcBef>
                <a:spcPct val="75000"/>
              </a:spcBef>
            </a:pPr>
            <a:r>
              <a:rPr lang="en-US" sz="1400" dirty="0" err="1"/>
              <a:t>Filtro</a:t>
            </a:r>
            <a:endParaRPr lang="en-US" sz="1400" dirty="0"/>
          </a:p>
          <a:p>
            <a:pPr defTabSz="762000">
              <a:lnSpc>
                <a:spcPct val="50000"/>
              </a:lnSpc>
              <a:spcBef>
                <a:spcPct val="75000"/>
              </a:spcBef>
            </a:pPr>
            <a:r>
              <a:rPr lang="en-US" sz="1400" dirty="0" err="1"/>
              <a:t>Passa-Baixa</a:t>
            </a:r>
            <a:endParaRPr lang="en-US" sz="1400" dirty="0"/>
          </a:p>
          <a:p>
            <a:pPr defTabSz="762000">
              <a:lnSpc>
                <a:spcPct val="50000"/>
              </a:lnSpc>
              <a:spcBef>
                <a:spcPct val="75000"/>
              </a:spcBef>
            </a:pPr>
            <a:r>
              <a:rPr lang="en-US" i="1" dirty="0">
                <a:latin typeface="Times New Roman" pitchFamily="18" charset="0"/>
              </a:rPr>
              <a:t>H</a:t>
            </a:r>
            <a:r>
              <a:rPr lang="en-US" baseline="-25000" dirty="0">
                <a:latin typeface="Times New Roman" pitchFamily="18" charset="0"/>
              </a:rPr>
              <a:t>LP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</a:rPr>
              <a:t>f</a:t>
            </a:r>
            <a:r>
              <a:rPr lang="en-US" dirty="0">
                <a:latin typeface="Times New Roman" pitchFamily="18" charset="0"/>
              </a:rPr>
              <a:t>)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ACDAA317-1AE9-BBD3-C85A-C423C37DF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1105" y="1679463"/>
            <a:ext cx="737603" cy="7699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4400" dirty="0">
                <a:latin typeface="Symbol" pitchFamily="18" charset="2"/>
              </a:rPr>
              <a:t>Ä</a:t>
            </a:r>
            <a:endParaRPr lang="en-US" sz="4400" dirty="0"/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80F32D91-B54C-9CCB-66AC-FF835D229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7571" y="2068514"/>
            <a:ext cx="1325409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pt-BR" sz="3200"/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C72EAC65-36F2-986E-5182-F90D00CCAF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96569" y="2179639"/>
            <a:ext cx="0" cy="541338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pt-BR" sz="3200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34E4A4AD-7825-70A0-F914-197D1C697A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1715" y="2070101"/>
            <a:ext cx="1325409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pt-BR" sz="3200"/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B67167F3-DB09-0A1A-E79F-A327A0856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6754" y="2746377"/>
            <a:ext cx="2905039" cy="46166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762000"/>
            <a:r>
              <a:rPr lang="en-US" sz="2400" dirty="0" err="1">
                <a:latin typeface="Times New Roman" pitchFamily="18" charset="0"/>
              </a:rPr>
              <a:t>cos</a:t>
            </a:r>
            <a:r>
              <a:rPr lang="en-US" sz="2400" dirty="0">
                <a:latin typeface="Times New Roman" pitchFamily="18" charset="0"/>
              </a:rPr>
              <a:t>(2</a:t>
            </a:r>
            <a:r>
              <a:rPr lang="en-US" sz="2400" dirty="0">
                <a:latin typeface="Symbol" pitchFamily="18" charset="2"/>
              </a:rPr>
              <a:t>p</a:t>
            </a:r>
            <a:r>
              <a:rPr lang="en-US" sz="2400" i="1" dirty="0">
                <a:latin typeface="Times New Roman" pitchFamily="18" charset="0"/>
              </a:rPr>
              <a:t>f</a:t>
            </a:r>
            <a:r>
              <a:rPr lang="en-US" sz="2400" baseline="-25000" dirty="0">
                <a:latin typeface="Times New Roman" pitchFamily="18" charset="0"/>
              </a:rPr>
              <a:t>c</a:t>
            </a:r>
            <a:r>
              <a:rPr lang="en-US" sz="2400" i="1" dirty="0">
                <a:latin typeface="Times New Roman" pitchFamily="18" charset="0"/>
              </a:rPr>
              <a:t>t</a:t>
            </a:r>
            <a:r>
              <a:rPr lang="en-US" sz="2400" dirty="0">
                <a:latin typeface="Times New Roman" pitchFamily="18" charset="0"/>
              </a:rPr>
              <a:t>)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8F960989-AD27-4AED-37AF-EFFC2655B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9012" y="3082927"/>
            <a:ext cx="1434560" cy="46166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2400" dirty="0" err="1"/>
              <a:t>portadora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3CEB1612-10D8-3D51-7ED9-55BBD116C180}"/>
                  </a:ext>
                </a:extLst>
              </p:cNvPr>
              <p:cNvSpPr txBox="1"/>
              <p:nvPr/>
            </p:nvSpPr>
            <p:spPr bwMode="auto">
              <a:xfrm>
                <a:off x="838200" y="1433808"/>
                <a:ext cx="3701285" cy="461669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𝐷𝑆𝐵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pt-BR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3CEB1612-10D8-3D51-7ED9-55BBD116C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1433808"/>
                <a:ext cx="3701285" cy="461669"/>
              </a:xfrm>
              <a:prstGeom prst="rect">
                <a:avLst/>
              </a:prstGeom>
              <a:blipFill>
                <a:blip r:embed="rId2"/>
                <a:stretch>
                  <a:fillRect l="-6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13">
            <a:extLst>
              <a:ext uri="{FF2B5EF4-FFF2-40B4-BE49-F238E27FC236}">
                <a16:creationId xmlns:a16="http://schemas.microsoft.com/office/drawing/2014/main" id="{EDD8CDF5-C805-7306-7A1B-3A56B2086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2435" y="1438368"/>
            <a:ext cx="611065" cy="46166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2400" i="1" dirty="0">
                <a:latin typeface="Times New Roman" pitchFamily="18" charset="0"/>
              </a:rPr>
              <a:t>e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i="1" dirty="0">
                <a:latin typeface="Times New Roman" pitchFamily="18" charset="0"/>
              </a:rPr>
              <a:t>t</a:t>
            </a:r>
            <a:r>
              <a:rPr lang="en-US" sz="2400" dirty="0">
                <a:latin typeface="Times New Roman" pitchFamily="18" charset="0"/>
              </a:rPr>
              <a:t>)</a:t>
            </a:r>
          </a:p>
        </p:txBody>
      </p:sp>
      <p:grpSp>
        <p:nvGrpSpPr>
          <p:cNvPr id="13" name="Group 80">
            <a:extLst>
              <a:ext uri="{FF2B5EF4-FFF2-40B4-BE49-F238E27FC236}">
                <a16:creationId xmlns:a16="http://schemas.microsoft.com/office/drawing/2014/main" id="{61568D38-66A5-75E4-2E64-60442AEE46BE}"/>
              </a:ext>
            </a:extLst>
          </p:cNvPr>
          <p:cNvGrpSpPr>
            <a:grpSpLocks/>
          </p:cNvGrpSpPr>
          <p:nvPr/>
        </p:nvGrpSpPr>
        <p:grpSpPr bwMode="auto">
          <a:xfrm>
            <a:off x="7637762" y="2103438"/>
            <a:ext cx="1109662" cy="736600"/>
            <a:chOff x="3523" y="1325"/>
            <a:chExt cx="699" cy="464"/>
          </a:xfrm>
        </p:grpSpPr>
        <p:sp>
          <p:nvSpPr>
            <p:cNvPr id="14" name="Text Box 7">
              <a:extLst>
                <a:ext uri="{FF2B5EF4-FFF2-40B4-BE49-F238E27FC236}">
                  <a16:creationId xmlns:a16="http://schemas.microsoft.com/office/drawing/2014/main" id="{026EC7A9-B058-2AC8-93E7-481F4BA2B6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1" y="1556"/>
              <a:ext cx="472" cy="23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i="1" dirty="0">
                  <a:latin typeface="Times New Roman" pitchFamily="18" charset="0"/>
                </a:rPr>
                <a:t>m</a:t>
              </a:r>
              <a:r>
                <a:rPr lang="en-US" dirty="0">
                  <a:latin typeface="Times New Roman" pitchFamily="18" charset="0"/>
                </a:rPr>
                <a:t>(</a:t>
              </a:r>
              <a:r>
                <a:rPr lang="en-US" i="1" dirty="0">
                  <a:latin typeface="Times New Roman" pitchFamily="18" charset="0"/>
                </a:rPr>
                <a:t>t</a:t>
              </a:r>
              <a:r>
                <a:rPr lang="en-US" dirty="0">
                  <a:latin typeface="Times New Roman" pitchFamily="18" charset="0"/>
                </a:rPr>
                <a:t>)/2</a:t>
              </a:r>
            </a:p>
          </p:txBody>
        </p:sp>
        <p:sp>
          <p:nvSpPr>
            <p:cNvPr id="15" name="Text Box 8">
              <a:extLst>
                <a:ext uri="{FF2B5EF4-FFF2-40B4-BE49-F238E27FC236}">
                  <a16:creationId xmlns:a16="http://schemas.microsoft.com/office/drawing/2014/main" id="{9C75F4D3-5C98-F54D-DAED-0B1D8B5FD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8" y="1376"/>
              <a:ext cx="386" cy="23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/>
                <a:t>sinal</a:t>
              </a:r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DE211ADC-8891-3FEC-F8AA-A9E1A639A9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3" y="1325"/>
              <a:ext cx="699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</p:grpSp>
      <p:grpSp>
        <p:nvGrpSpPr>
          <p:cNvPr id="17" name="Group 76">
            <a:extLst>
              <a:ext uri="{FF2B5EF4-FFF2-40B4-BE49-F238E27FC236}">
                <a16:creationId xmlns:a16="http://schemas.microsoft.com/office/drawing/2014/main" id="{D507001A-C0A9-4544-85B4-CBC9B40C9D71}"/>
              </a:ext>
            </a:extLst>
          </p:cNvPr>
          <p:cNvGrpSpPr>
            <a:grpSpLocks/>
          </p:cNvGrpSpPr>
          <p:nvPr/>
        </p:nvGrpSpPr>
        <p:grpSpPr bwMode="auto">
          <a:xfrm>
            <a:off x="2620742" y="4179591"/>
            <a:ext cx="2722562" cy="1008062"/>
            <a:chOff x="289" y="2655"/>
            <a:chExt cx="1715" cy="635"/>
          </a:xfrm>
        </p:grpSpPr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627580EC-ACAE-7B65-DB6A-C7253EC38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" y="3039"/>
              <a:ext cx="1621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00225341-6685-7D14-0406-D086FA5E96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4" y="2655"/>
              <a:ext cx="0" cy="635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4D5E2E76-DEBD-D696-1517-EB6065AF1A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5" y="3012"/>
              <a:ext cx="149" cy="17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20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AC82672A-79A5-05BE-562D-482EA581F1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2" y="2656"/>
              <a:ext cx="343" cy="23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i="1" dirty="0">
                  <a:solidFill>
                    <a:srgbClr val="063DE8"/>
                  </a:solidFill>
                  <a:latin typeface="Times New Roman" pitchFamily="18" charset="0"/>
                </a:rPr>
                <a:t>E</a:t>
              </a:r>
              <a:r>
                <a:rPr lang="en-US" dirty="0">
                  <a:solidFill>
                    <a:srgbClr val="063DE8"/>
                  </a:solidFill>
                  <a:latin typeface="Times New Roman" pitchFamily="18" charset="0"/>
                </a:rPr>
                <a:t>(</a:t>
              </a:r>
              <a:r>
                <a:rPr lang="en-US" i="1" dirty="0">
                  <a:solidFill>
                    <a:srgbClr val="063DE8"/>
                  </a:solidFill>
                  <a:latin typeface="Times New Roman" pitchFamily="18" charset="0"/>
                </a:rPr>
                <a:t>f</a:t>
              </a:r>
              <a:r>
                <a:rPr lang="en-US" dirty="0">
                  <a:solidFill>
                    <a:srgbClr val="063DE8"/>
                  </a:solidFill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665979E7-ED0A-E503-5610-8D6D2DADD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" y="3032"/>
              <a:ext cx="258" cy="17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200">
                  <a:latin typeface="Times New Roman" pitchFamily="18" charset="0"/>
                </a:rPr>
                <a:t>-2f</a:t>
              </a:r>
              <a:r>
                <a:rPr lang="en-US" sz="1200" baseline="-25000">
                  <a:latin typeface="Times New Roman" pitchFamily="18" charset="0"/>
                </a:rPr>
                <a:t>c</a:t>
              </a:r>
              <a:endParaRPr lang="en-US" sz="1200">
                <a:latin typeface="Times New Roman" pitchFamily="18" charset="0"/>
              </a:endParaRPr>
            </a:p>
          </p:txBody>
        </p:sp>
        <p:grpSp>
          <p:nvGrpSpPr>
            <p:cNvPr id="23" name="Group 21">
              <a:extLst>
                <a:ext uri="{FF2B5EF4-FFF2-40B4-BE49-F238E27FC236}">
                  <a16:creationId xmlns:a16="http://schemas.microsoft.com/office/drawing/2014/main" id="{0385145C-2A99-F055-082A-E8CDC3A0A0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" y="2905"/>
              <a:ext cx="274" cy="141"/>
              <a:chOff x="4251" y="2207"/>
              <a:chExt cx="274" cy="173"/>
            </a:xfrm>
          </p:grpSpPr>
          <p:sp>
            <p:nvSpPr>
              <p:cNvPr id="36" name="Line 22">
                <a:extLst>
                  <a:ext uri="{FF2B5EF4-FFF2-40B4-BE49-F238E27FC236}">
                    <a16:creationId xmlns:a16="http://schemas.microsoft.com/office/drawing/2014/main" id="{60B77B9D-CCCC-341A-2671-CBE5DA7DA6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51" y="2207"/>
                <a:ext cx="138" cy="172"/>
              </a:xfrm>
              <a:prstGeom prst="line">
                <a:avLst/>
              </a:prstGeom>
              <a:noFill/>
              <a:ln w="28575">
                <a:solidFill>
                  <a:srgbClr val="063DE8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37" name="Line 23">
                <a:extLst>
                  <a:ext uri="{FF2B5EF4-FFF2-40B4-BE49-F238E27FC236}">
                    <a16:creationId xmlns:a16="http://schemas.microsoft.com/office/drawing/2014/main" id="{A06BB966-54EA-2C58-0198-37B5CA4178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387" y="2208"/>
                <a:ext cx="138" cy="172"/>
              </a:xfrm>
              <a:prstGeom prst="line">
                <a:avLst/>
              </a:prstGeom>
              <a:noFill/>
              <a:ln w="28575">
                <a:solidFill>
                  <a:srgbClr val="063DE8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</p:grpSp>
        <p:grpSp>
          <p:nvGrpSpPr>
            <p:cNvPr id="24" name="Group 24">
              <a:extLst>
                <a:ext uri="{FF2B5EF4-FFF2-40B4-BE49-F238E27FC236}">
                  <a16:creationId xmlns:a16="http://schemas.microsoft.com/office/drawing/2014/main" id="{CC0BC583-A5F9-5F31-E0FA-3EF23CB9D9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2" y="2906"/>
              <a:ext cx="274" cy="141"/>
              <a:chOff x="4251" y="2207"/>
              <a:chExt cx="274" cy="173"/>
            </a:xfrm>
          </p:grpSpPr>
          <p:sp>
            <p:nvSpPr>
              <p:cNvPr id="34" name="Line 25">
                <a:extLst>
                  <a:ext uri="{FF2B5EF4-FFF2-40B4-BE49-F238E27FC236}">
                    <a16:creationId xmlns:a16="http://schemas.microsoft.com/office/drawing/2014/main" id="{C69681C7-D1A3-2CF1-E460-EB95B1B529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51" y="2207"/>
                <a:ext cx="138" cy="172"/>
              </a:xfrm>
              <a:prstGeom prst="line">
                <a:avLst/>
              </a:prstGeom>
              <a:noFill/>
              <a:ln w="28575">
                <a:solidFill>
                  <a:srgbClr val="063DE8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35" name="Line 26">
                <a:extLst>
                  <a:ext uri="{FF2B5EF4-FFF2-40B4-BE49-F238E27FC236}">
                    <a16:creationId xmlns:a16="http://schemas.microsoft.com/office/drawing/2014/main" id="{E1E55061-8903-0546-D54E-5D4F5C1C70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387" y="2208"/>
                <a:ext cx="138" cy="172"/>
              </a:xfrm>
              <a:prstGeom prst="line">
                <a:avLst/>
              </a:prstGeom>
              <a:noFill/>
              <a:ln w="28575">
                <a:solidFill>
                  <a:srgbClr val="063DE8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</p:grpSp>
        <p:sp>
          <p:nvSpPr>
            <p:cNvPr id="25" name="Line 27">
              <a:extLst>
                <a:ext uri="{FF2B5EF4-FFF2-40B4-BE49-F238E27FC236}">
                  <a16:creationId xmlns:a16="http://schemas.microsoft.com/office/drawing/2014/main" id="{808D1FC1-B1B7-6261-D693-79E969F097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" y="2902"/>
              <a:ext cx="0" cy="14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pt-BR"/>
            </a:p>
          </p:txBody>
        </p:sp>
        <p:sp>
          <p:nvSpPr>
            <p:cNvPr id="26" name="Text Box 28">
              <a:extLst>
                <a:ext uri="{FF2B5EF4-FFF2-40B4-BE49-F238E27FC236}">
                  <a16:creationId xmlns:a16="http://schemas.microsoft.com/office/drawing/2014/main" id="{96DBDA7E-9D19-BFA1-6E46-520F2EC66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" y="3028"/>
              <a:ext cx="225" cy="17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200">
                  <a:latin typeface="Times New Roman" pitchFamily="18" charset="0"/>
                </a:rPr>
                <a:t>2f</a:t>
              </a:r>
              <a:r>
                <a:rPr lang="en-US" sz="1200" baseline="-25000">
                  <a:latin typeface="Times New Roman" pitchFamily="18" charset="0"/>
                </a:rPr>
                <a:t>c</a:t>
              </a:r>
              <a:endParaRPr lang="en-US" sz="1200">
                <a:latin typeface="Times New Roman" pitchFamily="18" charset="0"/>
              </a:endParaRPr>
            </a:p>
          </p:txBody>
        </p:sp>
        <p:sp>
          <p:nvSpPr>
            <p:cNvPr id="27" name="Line 29">
              <a:extLst>
                <a:ext uri="{FF2B5EF4-FFF2-40B4-BE49-F238E27FC236}">
                  <a16:creationId xmlns:a16="http://schemas.microsoft.com/office/drawing/2014/main" id="{07B6BC53-3AB9-F0A6-19E6-EE794B22A3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8" y="2918"/>
              <a:ext cx="0" cy="14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pt-BR"/>
            </a:p>
          </p:txBody>
        </p:sp>
        <p:grpSp>
          <p:nvGrpSpPr>
            <p:cNvPr id="28" name="Group 38">
              <a:extLst>
                <a:ext uri="{FF2B5EF4-FFF2-40B4-BE49-F238E27FC236}">
                  <a16:creationId xmlns:a16="http://schemas.microsoft.com/office/drawing/2014/main" id="{D6B4163E-B48B-BFDC-83F7-37C2CC88DB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8" y="2769"/>
              <a:ext cx="274" cy="294"/>
              <a:chOff x="958" y="2907"/>
              <a:chExt cx="274" cy="156"/>
            </a:xfrm>
          </p:grpSpPr>
          <p:grpSp>
            <p:nvGrpSpPr>
              <p:cNvPr id="30" name="Group 34">
                <a:extLst>
                  <a:ext uri="{FF2B5EF4-FFF2-40B4-BE49-F238E27FC236}">
                    <a16:creationId xmlns:a16="http://schemas.microsoft.com/office/drawing/2014/main" id="{CE33FD3C-0AD1-3835-61EE-0AD3E72F48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58" y="2907"/>
                <a:ext cx="274" cy="141"/>
                <a:chOff x="4251" y="2207"/>
                <a:chExt cx="274" cy="173"/>
              </a:xfrm>
            </p:grpSpPr>
            <p:sp>
              <p:nvSpPr>
                <p:cNvPr id="32" name="Line 35">
                  <a:extLst>
                    <a:ext uri="{FF2B5EF4-FFF2-40B4-BE49-F238E27FC236}">
                      <a16:creationId xmlns:a16="http://schemas.microsoft.com/office/drawing/2014/main" id="{C4CE1F3C-52D6-9032-B4B5-6084A4F01B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251" y="2207"/>
                  <a:ext cx="138" cy="172"/>
                </a:xfrm>
                <a:prstGeom prst="line">
                  <a:avLst/>
                </a:prstGeom>
                <a:noFill/>
                <a:ln w="28575">
                  <a:solidFill>
                    <a:srgbClr val="063DE8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33" name="Line 36">
                  <a:extLst>
                    <a:ext uri="{FF2B5EF4-FFF2-40B4-BE49-F238E27FC236}">
                      <a16:creationId xmlns:a16="http://schemas.microsoft.com/office/drawing/2014/main" id="{B0A73ED7-31AF-807C-7C63-487A8B275D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387" y="2208"/>
                  <a:ext cx="138" cy="172"/>
                </a:xfrm>
                <a:prstGeom prst="line">
                  <a:avLst/>
                </a:prstGeom>
                <a:noFill/>
                <a:ln w="28575">
                  <a:solidFill>
                    <a:srgbClr val="063DE8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</p:grpSp>
          <p:sp>
            <p:nvSpPr>
              <p:cNvPr id="31" name="Line 37">
                <a:extLst>
                  <a:ext uri="{FF2B5EF4-FFF2-40B4-BE49-F238E27FC236}">
                    <a16:creationId xmlns:a16="http://schemas.microsoft.com/office/drawing/2014/main" id="{8F53C678-9A07-A441-6AE2-949E025AEE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4" y="2919"/>
                <a:ext cx="0" cy="14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pt-BR"/>
              </a:p>
            </p:txBody>
          </p:sp>
        </p:grpSp>
        <p:sp>
          <p:nvSpPr>
            <p:cNvPr id="29" name="Text Box 40">
              <a:extLst>
                <a:ext uri="{FF2B5EF4-FFF2-40B4-BE49-F238E27FC236}">
                  <a16:creationId xmlns:a16="http://schemas.microsoft.com/office/drawing/2014/main" id="{486C89F8-6910-DA78-0016-5490920D45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1" y="3060"/>
              <a:ext cx="181" cy="17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200">
                  <a:latin typeface="Times New Roman" pitchFamily="18" charset="0"/>
                </a:rPr>
                <a:t>B</a:t>
              </a:r>
            </a:p>
          </p:txBody>
        </p:sp>
      </p:grpSp>
      <p:grpSp>
        <p:nvGrpSpPr>
          <p:cNvPr id="38" name="Group 77">
            <a:extLst>
              <a:ext uri="{FF2B5EF4-FFF2-40B4-BE49-F238E27FC236}">
                <a16:creationId xmlns:a16="http://schemas.microsoft.com/office/drawing/2014/main" id="{CDD27678-FE7C-34D8-04F6-AFDBEC308511}"/>
              </a:ext>
            </a:extLst>
          </p:cNvPr>
          <p:cNvGrpSpPr>
            <a:grpSpLocks/>
          </p:cNvGrpSpPr>
          <p:nvPr/>
        </p:nvGrpSpPr>
        <p:grpSpPr bwMode="auto">
          <a:xfrm>
            <a:off x="3398617" y="3977979"/>
            <a:ext cx="1206500" cy="822325"/>
            <a:chOff x="779" y="2528"/>
            <a:chExt cx="760" cy="518"/>
          </a:xfrm>
        </p:grpSpPr>
        <p:grpSp>
          <p:nvGrpSpPr>
            <p:cNvPr id="39" name="Group 43">
              <a:extLst>
                <a:ext uri="{FF2B5EF4-FFF2-40B4-BE49-F238E27FC236}">
                  <a16:creationId xmlns:a16="http://schemas.microsoft.com/office/drawing/2014/main" id="{48165366-6107-FAFF-B4EE-481278C220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9" y="2725"/>
              <a:ext cx="325" cy="320"/>
              <a:chOff x="779" y="2725"/>
              <a:chExt cx="325" cy="320"/>
            </a:xfrm>
          </p:grpSpPr>
          <p:sp>
            <p:nvSpPr>
              <p:cNvPr id="44" name="Line 41">
                <a:extLst>
                  <a:ext uri="{FF2B5EF4-FFF2-40B4-BE49-F238E27FC236}">
                    <a16:creationId xmlns:a16="http://schemas.microsoft.com/office/drawing/2014/main" id="{08147937-C892-4212-B6F7-E3E8856459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79" y="2725"/>
                <a:ext cx="133" cy="320"/>
              </a:xfrm>
              <a:prstGeom prst="line">
                <a:avLst/>
              </a:prstGeom>
              <a:noFill/>
              <a:ln w="6350">
                <a:solidFill>
                  <a:schemeClr val="hlink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45" name="Line 42">
                <a:extLst>
                  <a:ext uri="{FF2B5EF4-FFF2-40B4-BE49-F238E27FC236}">
                    <a16:creationId xmlns:a16="http://schemas.microsoft.com/office/drawing/2014/main" id="{738F0F83-2BA0-B014-DC29-FA21FC31E8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12" y="2731"/>
                <a:ext cx="192" cy="0"/>
              </a:xfrm>
              <a:prstGeom prst="line">
                <a:avLst/>
              </a:prstGeom>
              <a:noFill/>
              <a:ln w="6350">
                <a:solidFill>
                  <a:schemeClr val="hlink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</p:grpSp>
        <p:grpSp>
          <p:nvGrpSpPr>
            <p:cNvPr id="40" name="Group 44">
              <a:extLst>
                <a:ext uri="{FF2B5EF4-FFF2-40B4-BE49-F238E27FC236}">
                  <a16:creationId xmlns:a16="http://schemas.microsoft.com/office/drawing/2014/main" id="{CC34B4FA-2112-17BA-7141-E5D2B7C621B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090" y="2726"/>
              <a:ext cx="325" cy="320"/>
              <a:chOff x="779" y="2725"/>
              <a:chExt cx="325" cy="320"/>
            </a:xfrm>
          </p:grpSpPr>
          <p:sp>
            <p:nvSpPr>
              <p:cNvPr id="42" name="Line 45">
                <a:extLst>
                  <a:ext uri="{FF2B5EF4-FFF2-40B4-BE49-F238E27FC236}">
                    <a16:creationId xmlns:a16="http://schemas.microsoft.com/office/drawing/2014/main" id="{F50BA9D7-AE55-0394-DC9F-AF762EB9B4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79" y="2725"/>
                <a:ext cx="133" cy="320"/>
              </a:xfrm>
              <a:prstGeom prst="line">
                <a:avLst/>
              </a:prstGeom>
              <a:noFill/>
              <a:ln w="6350">
                <a:solidFill>
                  <a:schemeClr val="hlink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43" name="Line 46">
                <a:extLst>
                  <a:ext uri="{FF2B5EF4-FFF2-40B4-BE49-F238E27FC236}">
                    <a16:creationId xmlns:a16="http://schemas.microsoft.com/office/drawing/2014/main" id="{D32C55FC-2FD0-B9BC-C9D4-ED8A834488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12" y="2731"/>
                <a:ext cx="192" cy="0"/>
              </a:xfrm>
              <a:prstGeom prst="line">
                <a:avLst/>
              </a:prstGeom>
              <a:noFill/>
              <a:ln w="6350">
                <a:solidFill>
                  <a:schemeClr val="hlink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</p:grpSp>
        <p:sp>
          <p:nvSpPr>
            <p:cNvPr id="41" name="Text Box 47">
              <a:extLst>
                <a:ext uri="{FF2B5EF4-FFF2-40B4-BE49-F238E27FC236}">
                  <a16:creationId xmlns:a16="http://schemas.microsoft.com/office/drawing/2014/main" id="{142FB133-3C50-0DBB-728E-748EA48FD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7" y="2528"/>
              <a:ext cx="472" cy="23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i="1" dirty="0">
                  <a:solidFill>
                    <a:schemeClr val="hlink"/>
                  </a:solidFill>
                  <a:latin typeface="Times New Roman" pitchFamily="18" charset="0"/>
                </a:rPr>
                <a:t>H</a:t>
              </a:r>
              <a:r>
                <a:rPr lang="en-US" baseline="-25000" dirty="0">
                  <a:solidFill>
                    <a:schemeClr val="hlink"/>
                  </a:solidFill>
                  <a:latin typeface="Times New Roman" pitchFamily="18" charset="0"/>
                </a:rPr>
                <a:t>LP</a:t>
              </a:r>
              <a:r>
                <a:rPr lang="en-US" dirty="0">
                  <a:solidFill>
                    <a:schemeClr val="hlink"/>
                  </a:solidFill>
                  <a:latin typeface="Times New Roman" pitchFamily="18" charset="0"/>
                </a:rPr>
                <a:t>(</a:t>
              </a:r>
              <a:r>
                <a:rPr lang="en-US" i="1" dirty="0">
                  <a:solidFill>
                    <a:schemeClr val="hlink"/>
                  </a:solidFill>
                  <a:latin typeface="Times New Roman" pitchFamily="18" charset="0"/>
                </a:rPr>
                <a:t>f</a:t>
              </a:r>
              <a:r>
                <a:rPr lang="en-US" dirty="0">
                  <a:solidFill>
                    <a:schemeClr val="hlink"/>
                  </a:solidFill>
                  <a:latin typeface="Times New Roman" pitchFamily="18" charset="0"/>
                </a:rPr>
                <a:t>)</a:t>
              </a:r>
            </a:p>
          </p:txBody>
        </p:sp>
      </p:grpSp>
      <p:grpSp>
        <p:nvGrpSpPr>
          <p:cNvPr id="46" name="Group 78">
            <a:extLst>
              <a:ext uri="{FF2B5EF4-FFF2-40B4-BE49-F238E27FC236}">
                <a16:creationId xmlns:a16="http://schemas.microsoft.com/office/drawing/2014/main" id="{33E1BD5D-8A91-554C-B59E-5E62077C2D8B}"/>
              </a:ext>
            </a:extLst>
          </p:cNvPr>
          <p:cNvGrpSpPr>
            <a:grpSpLocks/>
          </p:cNvGrpSpPr>
          <p:nvPr/>
        </p:nvGrpSpPr>
        <p:grpSpPr bwMode="auto">
          <a:xfrm>
            <a:off x="5449667" y="4222454"/>
            <a:ext cx="3695700" cy="1008063"/>
            <a:chOff x="2071" y="2682"/>
            <a:chExt cx="2328" cy="635"/>
          </a:xfrm>
        </p:grpSpPr>
        <p:sp>
          <p:nvSpPr>
            <p:cNvPr id="47" name="Line 39">
              <a:extLst>
                <a:ext uri="{FF2B5EF4-FFF2-40B4-BE49-F238E27FC236}">
                  <a16:creationId xmlns:a16="http://schemas.microsoft.com/office/drawing/2014/main" id="{A94B8342-BF82-2246-E91B-1788C8407A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1" y="2973"/>
              <a:ext cx="501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sp>
          <p:nvSpPr>
            <p:cNvPr id="48" name="Line 49">
              <a:extLst>
                <a:ext uri="{FF2B5EF4-FFF2-40B4-BE49-F238E27FC236}">
                  <a16:creationId xmlns:a16="http://schemas.microsoft.com/office/drawing/2014/main" id="{968D993D-198A-FA5A-499B-AE73ED8F33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" y="3066"/>
              <a:ext cx="1621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sp>
          <p:nvSpPr>
            <p:cNvPr id="49" name="Line 50">
              <a:extLst>
                <a:ext uri="{FF2B5EF4-FFF2-40B4-BE49-F238E27FC236}">
                  <a16:creationId xmlns:a16="http://schemas.microsoft.com/office/drawing/2014/main" id="{17C8AB6A-B6C2-E7B1-DA8F-7161DAC2B9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9" y="2682"/>
              <a:ext cx="0" cy="635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sp>
          <p:nvSpPr>
            <p:cNvPr id="50" name="Text Box 51">
              <a:extLst>
                <a:ext uri="{FF2B5EF4-FFF2-40B4-BE49-F238E27FC236}">
                  <a16:creationId xmlns:a16="http://schemas.microsoft.com/office/drawing/2014/main" id="{0593CABD-0B5C-868F-50BC-0D21E42378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0" y="3039"/>
              <a:ext cx="149" cy="17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20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51" name="Text Box 52">
              <a:extLst>
                <a:ext uri="{FF2B5EF4-FFF2-40B4-BE49-F238E27FC236}">
                  <a16:creationId xmlns:a16="http://schemas.microsoft.com/office/drawing/2014/main" id="{BCF98612-FF19-6627-D18C-D32CB3D4E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5" y="2683"/>
              <a:ext cx="375" cy="23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i="1" dirty="0">
                  <a:solidFill>
                    <a:srgbClr val="063DE8"/>
                  </a:solidFill>
                  <a:latin typeface="Times New Roman" pitchFamily="18" charset="0"/>
                </a:rPr>
                <a:t>M</a:t>
              </a:r>
              <a:r>
                <a:rPr lang="en-US" dirty="0">
                  <a:solidFill>
                    <a:srgbClr val="063DE8"/>
                  </a:solidFill>
                  <a:latin typeface="Times New Roman" pitchFamily="18" charset="0"/>
                </a:rPr>
                <a:t>(</a:t>
              </a:r>
              <a:r>
                <a:rPr lang="en-US" i="1" dirty="0">
                  <a:solidFill>
                    <a:srgbClr val="063DE8"/>
                  </a:solidFill>
                  <a:latin typeface="Times New Roman" pitchFamily="18" charset="0"/>
                </a:rPr>
                <a:t>f</a:t>
              </a:r>
              <a:r>
                <a:rPr lang="en-US" dirty="0">
                  <a:solidFill>
                    <a:srgbClr val="063DE8"/>
                  </a:solidFill>
                  <a:latin typeface="Times New Roman" pitchFamily="18" charset="0"/>
                </a:rPr>
                <a:t>)</a:t>
              </a:r>
            </a:p>
          </p:txBody>
        </p:sp>
        <p:grpSp>
          <p:nvGrpSpPr>
            <p:cNvPr id="52" name="Group 63">
              <a:extLst>
                <a:ext uri="{FF2B5EF4-FFF2-40B4-BE49-F238E27FC236}">
                  <a16:creationId xmlns:a16="http://schemas.microsoft.com/office/drawing/2014/main" id="{9D3E1C50-BA2A-A642-41B5-4E8E480C58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3" y="2796"/>
              <a:ext cx="274" cy="294"/>
              <a:chOff x="958" y="2907"/>
              <a:chExt cx="274" cy="156"/>
            </a:xfrm>
          </p:grpSpPr>
          <p:grpSp>
            <p:nvGrpSpPr>
              <p:cNvPr id="54" name="Group 64">
                <a:extLst>
                  <a:ext uri="{FF2B5EF4-FFF2-40B4-BE49-F238E27FC236}">
                    <a16:creationId xmlns:a16="http://schemas.microsoft.com/office/drawing/2014/main" id="{B5FAFA65-7072-FC76-4F39-8AA7D873C4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58" y="2907"/>
                <a:ext cx="274" cy="141"/>
                <a:chOff x="4251" y="2207"/>
                <a:chExt cx="274" cy="173"/>
              </a:xfrm>
            </p:grpSpPr>
            <p:sp>
              <p:nvSpPr>
                <p:cNvPr id="56" name="Line 65">
                  <a:extLst>
                    <a:ext uri="{FF2B5EF4-FFF2-40B4-BE49-F238E27FC236}">
                      <a16:creationId xmlns:a16="http://schemas.microsoft.com/office/drawing/2014/main" id="{6DFC3F86-4887-233A-3075-79D074C69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251" y="2207"/>
                  <a:ext cx="138" cy="172"/>
                </a:xfrm>
                <a:prstGeom prst="line">
                  <a:avLst/>
                </a:prstGeom>
                <a:noFill/>
                <a:ln w="28575">
                  <a:solidFill>
                    <a:srgbClr val="063DE8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57" name="Line 66">
                  <a:extLst>
                    <a:ext uri="{FF2B5EF4-FFF2-40B4-BE49-F238E27FC236}">
                      <a16:creationId xmlns:a16="http://schemas.microsoft.com/office/drawing/2014/main" id="{E28C199F-CF46-47DF-9E26-C0BBE6BA1D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387" y="2208"/>
                  <a:ext cx="138" cy="172"/>
                </a:xfrm>
                <a:prstGeom prst="line">
                  <a:avLst/>
                </a:prstGeom>
                <a:noFill/>
                <a:ln w="28575">
                  <a:solidFill>
                    <a:srgbClr val="063DE8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</p:grpSp>
          <p:sp>
            <p:nvSpPr>
              <p:cNvPr id="55" name="Line 67">
                <a:extLst>
                  <a:ext uri="{FF2B5EF4-FFF2-40B4-BE49-F238E27FC236}">
                    <a16:creationId xmlns:a16="http://schemas.microsoft.com/office/drawing/2014/main" id="{F6D6D50F-D503-E6A2-53F4-4746297603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4" y="2919"/>
                <a:ext cx="0" cy="14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pt-BR"/>
              </a:p>
            </p:txBody>
          </p:sp>
        </p:grpSp>
        <p:sp>
          <p:nvSpPr>
            <p:cNvPr id="53" name="Text Box 68">
              <a:extLst>
                <a:ext uri="{FF2B5EF4-FFF2-40B4-BE49-F238E27FC236}">
                  <a16:creationId xmlns:a16="http://schemas.microsoft.com/office/drawing/2014/main" id="{BB00D7EA-479B-E0BC-70ED-C777294C1A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6" y="3087"/>
              <a:ext cx="181" cy="17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200">
                  <a:latin typeface="Times New Roman" pitchFamily="18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383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643AB-3F9F-9B67-2FA7-4DD5CFAE3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23024-B2DB-0A58-CB87-997DF4656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 DSB-SC</a:t>
            </a:r>
            <a:br>
              <a:rPr lang="pt-BR" dirty="0"/>
            </a:br>
            <a:r>
              <a:rPr lang="pt-BR" dirty="0"/>
              <a:t>Demodulação Síncrona / Coerente</a:t>
            </a:r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5375204D-6FD3-B3B8-7F17-71589DD90A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9" y="1462498"/>
            <a:ext cx="511175" cy="511175"/>
          </a:xfrm>
          <a:prstGeom prst="ellipse">
            <a:avLst/>
          </a:prstGeom>
          <a:solidFill>
            <a:srgbClr val="CCFFFF"/>
          </a:solidFill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pt-BR" sz="3600">
                <a:solidFill>
                  <a:schemeClr val="accent2"/>
                </a:solidFill>
                <a:latin typeface="Symbol" pitchFamily="18" charset="2"/>
                <a:sym typeface="Wingdings 2" pitchFamily="18" charset="2"/>
              </a:rPr>
              <a:t></a:t>
            </a:r>
            <a:endParaRPr lang="pt-BR" sz="3600">
              <a:solidFill>
                <a:schemeClr val="accent2"/>
              </a:solidFill>
              <a:latin typeface="Symbol" pitchFamily="18" charset="2"/>
            </a:endParaRP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77859F2A-EAB2-EB02-3398-B383C13A9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7839" y="1284698"/>
            <a:ext cx="1370013" cy="866775"/>
          </a:xfrm>
          <a:prstGeom prst="flowChartProcess">
            <a:avLst/>
          </a:prstGeom>
          <a:solidFill>
            <a:srgbClr val="CCFFFF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 dirty="0">
                <a:solidFill>
                  <a:schemeClr val="accent2"/>
                </a:solidFill>
              </a:rPr>
              <a:t>Filtro 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 dirty="0">
                <a:solidFill>
                  <a:schemeClr val="accent2"/>
                </a:solidFill>
              </a:rPr>
              <a:t>passa-baixa</a:t>
            </a:r>
            <a:endParaRPr lang="pt-BR" i="1" dirty="0">
              <a:solidFill>
                <a:schemeClr val="accent2"/>
              </a:solidFill>
              <a:latin typeface="Times New Roman" pitchFamily="18" charset="0"/>
              <a:sym typeface="Symbol" pitchFamily="18" charset="2"/>
            </a:endParaRPr>
          </a:p>
        </p:txBody>
      </p:sp>
      <p:cxnSp>
        <p:nvCxnSpPr>
          <p:cNvPr id="13" name="AutoShape 13">
            <a:extLst>
              <a:ext uri="{FF2B5EF4-FFF2-40B4-BE49-F238E27FC236}">
                <a16:creationId xmlns:a16="http://schemas.microsoft.com/office/drawing/2014/main" id="{BBF2F856-501D-1FC9-5CE5-F2EF49B7030D}"/>
              </a:ext>
            </a:extLst>
          </p:cNvPr>
          <p:cNvCxnSpPr>
            <a:cxnSpLocks noChangeShapeType="1"/>
            <a:stCxn id="11" idx="6"/>
            <a:endCxn id="12" idx="1"/>
          </p:cNvCxnSpPr>
          <p:nvPr/>
        </p:nvCxnSpPr>
        <p:spPr bwMode="auto">
          <a:xfrm>
            <a:off x="7237414" y="1718086"/>
            <a:ext cx="841375" cy="0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</p:cxnSp>
      <p:sp>
        <p:nvSpPr>
          <p:cNvPr id="16" name="AutoShape 16">
            <a:extLst>
              <a:ext uri="{FF2B5EF4-FFF2-40B4-BE49-F238E27FC236}">
                <a16:creationId xmlns:a16="http://schemas.microsoft.com/office/drawing/2014/main" id="{B4AB4DB7-B25F-64FC-7711-9EDDA31A7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4" y="2575336"/>
            <a:ext cx="989013" cy="590550"/>
          </a:xfrm>
          <a:prstGeom prst="flowChartProcess">
            <a:avLst/>
          </a:prstGeom>
          <a:solidFill>
            <a:srgbClr val="CCFFFF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54000" rIns="54000" anchor="ctr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>
                <a:solidFill>
                  <a:schemeClr val="accent2"/>
                </a:solidFill>
              </a:rPr>
              <a:t>Oscilador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>
                <a:solidFill>
                  <a:schemeClr val="accent2"/>
                </a:solidFill>
              </a:rPr>
              <a:t>local</a:t>
            </a:r>
            <a:endParaRPr lang="pt-BR" i="1">
              <a:solidFill>
                <a:schemeClr val="accent2"/>
              </a:solidFill>
              <a:latin typeface="Times New Roman" pitchFamily="18" charset="0"/>
              <a:sym typeface="Symbol" pitchFamily="18" charset="2"/>
            </a:endParaRPr>
          </a:p>
        </p:txBody>
      </p:sp>
      <p:cxnSp>
        <p:nvCxnSpPr>
          <p:cNvPr id="17" name="AutoShape 17">
            <a:extLst>
              <a:ext uri="{FF2B5EF4-FFF2-40B4-BE49-F238E27FC236}">
                <a16:creationId xmlns:a16="http://schemas.microsoft.com/office/drawing/2014/main" id="{022DF2FD-CC73-95F7-C59E-D2EF2E781435}"/>
              </a:ext>
            </a:extLst>
          </p:cNvPr>
          <p:cNvCxnSpPr>
            <a:cxnSpLocks noChangeShapeType="1"/>
            <a:stCxn id="16" idx="0"/>
            <a:endCxn id="11" idx="4"/>
          </p:cNvCxnSpPr>
          <p:nvPr/>
        </p:nvCxnSpPr>
        <p:spPr bwMode="auto">
          <a:xfrm flipV="1">
            <a:off x="6951664" y="1973673"/>
            <a:ext cx="11113" cy="601663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</p:cxnSp>
      <p:cxnSp>
        <p:nvCxnSpPr>
          <p:cNvPr id="18" name="AutoShape 18">
            <a:extLst>
              <a:ext uri="{FF2B5EF4-FFF2-40B4-BE49-F238E27FC236}">
                <a16:creationId xmlns:a16="http://schemas.microsoft.com/office/drawing/2014/main" id="{24CE4C55-3554-CACB-1166-B43EB11B94AB}"/>
              </a:ext>
            </a:extLst>
          </p:cNvPr>
          <p:cNvCxnSpPr>
            <a:cxnSpLocks noChangeShapeType="1"/>
            <a:endCxn id="16" idx="1"/>
          </p:cNvCxnSpPr>
          <p:nvPr/>
        </p:nvCxnSpPr>
        <p:spPr bwMode="auto">
          <a:xfrm>
            <a:off x="5095876" y="1686336"/>
            <a:ext cx="1360488" cy="1184275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accent2"/>
            </a:solidFill>
            <a:prstDash val="dash"/>
            <a:miter lim="800000"/>
            <a:headEnd/>
            <a:tailEnd type="triangle" w="med" len="lg"/>
          </a:ln>
          <a:effectLst/>
        </p:spPr>
      </p:cxnSp>
      <p:sp>
        <p:nvSpPr>
          <p:cNvPr id="20" name="Line 20">
            <a:extLst>
              <a:ext uri="{FF2B5EF4-FFF2-40B4-BE49-F238E27FC236}">
                <a16:creationId xmlns:a16="http://schemas.microsoft.com/office/drawing/2014/main" id="{55E54CC1-F158-26A7-EB82-B1F90F0F06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467851" y="1721261"/>
            <a:ext cx="8572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9BA538C4-F6E7-076F-4C6A-54445EEFC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9" y="1424398"/>
            <a:ext cx="1035050" cy="590550"/>
          </a:xfrm>
          <a:prstGeom prst="flowChartProcess">
            <a:avLst/>
          </a:prstGeom>
          <a:solidFill>
            <a:srgbClr val="FFD7D7"/>
          </a:solidFill>
          <a:ln w="3810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lIns="54000" rIns="54000" anchor="ctr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>
                <a:solidFill>
                  <a:srgbClr val="FF3300"/>
                </a:solidFill>
              </a:rPr>
              <a:t>Canal não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>
                <a:solidFill>
                  <a:srgbClr val="FF3300"/>
                </a:solidFill>
              </a:rPr>
              <a:t>distorcivo</a:t>
            </a:r>
            <a:endParaRPr lang="pt-BR" i="1">
              <a:solidFill>
                <a:srgbClr val="FF3300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AE66E06B-28A8-A976-C726-91F5821EBE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85939" y="1726023"/>
            <a:ext cx="571500" cy="15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4">
                <a:extLst>
                  <a:ext uri="{FF2B5EF4-FFF2-40B4-BE49-F238E27FC236}">
                    <a16:creationId xmlns:a16="http://schemas.microsoft.com/office/drawing/2014/main" id="{B3ADD1C8-84F5-5901-CCA3-A8710EE9891B}"/>
                  </a:ext>
                </a:extLst>
              </p:cNvPr>
              <p:cNvSpPr txBox="1"/>
              <p:nvPr/>
            </p:nvSpPr>
            <p:spPr bwMode="auto">
              <a:xfrm>
                <a:off x="1465264" y="1243423"/>
                <a:ext cx="457200" cy="3317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24" name="Object 24">
                <a:extLst>
                  <a:ext uri="{FF2B5EF4-FFF2-40B4-BE49-F238E27FC236}">
                    <a16:creationId xmlns:a16="http://schemas.microsoft.com/office/drawing/2014/main" id="{B3ADD1C8-84F5-5901-CCA3-A8710EE98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65264" y="1243423"/>
                <a:ext cx="457200" cy="331788"/>
              </a:xfrm>
              <a:prstGeom prst="rect">
                <a:avLst/>
              </a:prstGeom>
              <a:blipFill>
                <a:blip r:embed="rId2"/>
                <a:stretch>
                  <a:fillRect r="-42667" b="-3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AutoShape 25">
            <a:extLst>
              <a:ext uri="{FF2B5EF4-FFF2-40B4-BE49-F238E27FC236}">
                <a16:creationId xmlns:a16="http://schemas.microsoft.com/office/drawing/2014/main" id="{D81B5BA2-4549-01F0-C475-F0C1F9B47141}"/>
              </a:ext>
            </a:extLst>
          </p:cNvPr>
          <p:cNvCxnSpPr>
            <a:cxnSpLocks noChangeShapeType="1"/>
            <a:stCxn id="22" idx="3"/>
            <a:endCxn id="11" idx="2"/>
          </p:cNvCxnSpPr>
          <p:nvPr/>
        </p:nvCxnSpPr>
        <p:spPr bwMode="auto">
          <a:xfrm flipV="1">
            <a:off x="3379789" y="1718086"/>
            <a:ext cx="3327400" cy="1588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24">
                <a:extLst>
                  <a:ext uri="{FF2B5EF4-FFF2-40B4-BE49-F238E27FC236}">
                    <a16:creationId xmlns:a16="http://schemas.microsoft.com/office/drawing/2014/main" id="{E4B4B390-1FBB-FEFC-00DD-28217013D1F4}"/>
                  </a:ext>
                </a:extLst>
              </p:cNvPr>
              <p:cNvSpPr txBox="1"/>
              <p:nvPr/>
            </p:nvSpPr>
            <p:spPr bwMode="auto">
              <a:xfrm>
                <a:off x="3451005" y="1171194"/>
                <a:ext cx="4538662" cy="3317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r>
                  <a:rPr lang="pt-BR" sz="2000" dirty="0">
                    <a:solidFill>
                      <a:srgbClr val="000000"/>
                    </a:solidFill>
                  </a:rPr>
                  <a:t>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m:rPr>
                        <m:sty m:val="p"/>
                      </m:rPr>
                      <a:rPr lang="pt-BR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⁡(2</m:t>
                    </m:r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sSub>
                      <m:sSubPr>
                        <m:ctrlP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31" name="Object 24">
                <a:extLst>
                  <a:ext uri="{FF2B5EF4-FFF2-40B4-BE49-F238E27FC236}">
                    <a16:creationId xmlns:a16="http://schemas.microsoft.com/office/drawing/2014/main" id="{E4B4B390-1FBB-FEFC-00DD-28217013D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1005" y="1171194"/>
                <a:ext cx="4538662" cy="331788"/>
              </a:xfrm>
              <a:prstGeom prst="rect">
                <a:avLst/>
              </a:prstGeom>
              <a:blipFill>
                <a:blip r:embed="rId3"/>
                <a:stretch>
                  <a:fillRect l="-1342" t="-9091" b="-50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24">
                <a:extLst>
                  <a:ext uri="{FF2B5EF4-FFF2-40B4-BE49-F238E27FC236}">
                    <a16:creationId xmlns:a16="http://schemas.microsoft.com/office/drawing/2014/main" id="{D4401A5B-E474-AE5F-48CB-6C74BCF79E04}"/>
                  </a:ext>
                </a:extLst>
              </p:cNvPr>
              <p:cNvSpPr txBox="1"/>
              <p:nvPr/>
            </p:nvSpPr>
            <p:spPr bwMode="auto">
              <a:xfrm>
                <a:off x="7313391" y="1216435"/>
                <a:ext cx="676275" cy="31591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r>
                  <a:rPr lang="pt-BR" sz="2000" i="1" dirty="0">
                    <a:solidFill>
                      <a:srgbClr val="000000"/>
                    </a:solidFill>
                  </a:rPr>
                  <a:t>y</a:t>
                </a:r>
                <a14:m>
                  <m:oMath xmlns:m="http://schemas.openxmlformats.org/officeDocument/2006/math">
                    <m:r>
                      <a:rPr lang="pt-BR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33" name="Object 24">
                <a:extLst>
                  <a:ext uri="{FF2B5EF4-FFF2-40B4-BE49-F238E27FC236}">
                    <a16:creationId xmlns:a16="http://schemas.microsoft.com/office/drawing/2014/main" id="{D4401A5B-E474-AE5F-48CB-6C74BCF79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13391" y="1216435"/>
                <a:ext cx="676275" cy="315913"/>
              </a:xfrm>
              <a:prstGeom prst="rect">
                <a:avLst/>
              </a:prstGeom>
              <a:blipFill>
                <a:blip r:embed="rId4"/>
                <a:stretch>
                  <a:fillRect l="-9910" t="-11765" b="-627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24">
                <a:extLst>
                  <a:ext uri="{FF2B5EF4-FFF2-40B4-BE49-F238E27FC236}">
                    <a16:creationId xmlns:a16="http://schemas.microsoft.com/office/drawing/2014/main" id="{8EAFC170-9281-D576-CF44-E774C62BBD1E}"/>
                  </a:ext>
                </a:extLst>
              </p:cNvPr>
              <p:cNvSpPr txBox="1"/>
              <p:nvPr/>
            </p:nvSpPr>
            <p:spPr bwMode="auto">
              <a:xfrm>
                <a:off x="10088564" y="1284698"/>
                <a:ext cx="457200" cy="3317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̂"/>
                          <m:ctrlP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5" name="Object 24">
                <a:extLst>
                  <a:ext uri="{FF2B5EF4-FFF2-40B4-BE49-F238E27FC236}">
                    <a16:creationId xmlns:a16="http://schemas.microsoft.com/office/drawing/2014/main" id="{8EAFC170-9281-D576-CF44-E774C62BB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088564" y="1284698"/>
                <a:ext cx="457200" cy="331788"/>
              </a:xfrm>
              <a:prstGeom prst="rect">
                <a:avLst/>
              </a:prstGeom>
              <a:blipFill>
                <a:blip r:embed="rId5"/>
                <a:stretch>
                  <a:fillRect t="-7407" r="-62667" b="-3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24">
                <a:extLst>
                  <a:ext uri="{FF2B5EF4-FFF2-40B4-BE49-F238E27FC236}">
                    <a16:creationId xmlns:a16="http://schemas.microsoft.com/office/drawing/2014/main" id="{AB8FEE74-93D7-0E2A-B330-1E79333F3012}"/>
                  </a:ext>
                </a:extLst>
              </p:cNvPr>
              <p:cNvSpPr txBox="1"/>
              <p:nvPr/>
            </p:nvSpPr>
            <p:spPr bwMode="auto">
              <a:xfrm>
                <a:off x="4392614" y="2319753"/>
                <a:ext cx="1808163" cy="723106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func>
                        <m:funcPr>
                          <m:ctrlPr>
                            <a:rPr lang="pt-BR" sz="20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7" name="Object 24">
                <a:extLst>
                  <a:ext uri="{FF2B5EF4-FFF2-40B4-BE49-F238E27FC236}">
                    <a16:creationId xmlns:a16="http://schemas.microsoft.com/office/drawing/2014/main" id="{AB8FEE74-93D7-0E2A-B330-1E79333F3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92614" y="2319753"/>
                <a:ext cx="1808163" cy="723106"/>
              </a:xfrm>
              <a:prstGeom prst="rect">
                <a:avLst/>
              </a:prstGeom>
              <a:blipFill>
                <a:blip r:embed="rId6"/>
                <a:stretch>
                  <a:fillRect t="-2542" r="-158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44AF7AD8-E6F8-C983-9D4C-6624DDDF791F}"/>
                  </a:ext>
                </a:extLst>
              </p:cNvPr>
              <p:cNvSpPr txBox="1"/>
              <p:nvPr/>
            </p:nvSpPr>
            <p:spPr>
              <a:xfrm>
                <a:off x="3087756" y="3085715"/>
                <a:ext cx="1175835" cy="384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44AF7AD8-E6F8-C983-9D4C-6624DDDF7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756" y="3085715"/>
                <a:ext cx="1175835" cy="384914"/>
              </a:xfrm>
              <a:prstGeom prst="rect">
                <a:avLst/>
              </a:prstGeom>
              <a:blipFill>
                <a:blip r:embed="rId7"/>
                <a:stretch>
                  <a:fillRect l="-4688" t="-7937" b="-253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24">
                <a:extLst>
                  <a:ext uri="{FF2B5EF4-FFF2-40B4-BE49-F238E27FC236}">
                    <a16:creationId xmlns:a16="http://schemas.microsoft.com/office/drawing/2014/main" id="{B1F5BA06-D998-F0DA-6DF8-D6EA5F09A98F}"/>
                  </a:ext>
                </a:extLst>
              </p:cNvPr>
              <p:cNvSpPr txBox="1"/>
              <p:nvPr/>
            </p:nvSpPr>
            <p:spPr bwMode="auto">
              <a:xfrm>
                <a:off x="1360637" y="3438904"/>
                <a:ext cx="7957473" cy="55166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func>
                        <m:funcPr>
                          <m:ctrlPr>
                            <a:rPr lang="pt-BR" sz="20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2" name="Object 24">
                <a:extLst>
                  <a:ext uri="{FF2B5EF4-FFF2-40B4-BE49-F238E27FC236}">
                    <a16:creationId xmlns:a16="http://schemas.microsoft.com/office/drawing/2014/main" id="{B1F5BA06-D998-F0DA-6DF8-D6EA5F09A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0637" y="3438904"/>
                <a:ext cx="7957473" cy="551660"/>
              </a:xfrm>
              <a:prstGeom prst="rect">
                <a:avLst/>
              </a:prstGeom>
              <a:blipFill>
                <a:blip r:embed="rId8"/>
                <a:stretch>
                  <a:fillRect b="-1208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4518DB7B-7E70-3179-E4B9-297DA50DFE51}"/>
                  </a:ext>
                </a:extLst>
              </p:cNvPr>
              <p:cNvSpPr txBox="1"/>
              <p:nvPr/>
            </p:nvSpPr>
            <p:spPr>
              <a:xfrm>
                <a:off x="3087756" y="4360479"/>
                <a:ext cx="11912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4518DB7B-7E70-3179-E4B9-297DA50DF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756" y="4360479"/>
                <a:ext cx="1191224" cy="369332"/>
              </a:xfrm>
              <a:prstGeom prst="rect">
                <a:avLst/>
              </a:prstGeom>
              <a:blipFill>
                <a:blip r:embed="rId9"/>
                <a:stretch>
                  <a:fillRect l="-4615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4">
                <a:extLst>
                  <a:ext uri="{FF2B5EF4-FFF2-40B4-BE49-F238E27FC236}">
                    <a16:creationId xmlns:a16="http://schemas.microsoft.com/office/drawing/2014/main" id="{3E80C77C-4C92-185A-B058-E03010896B0B}"/>
                  </a:ext>
                </a:extLst>
              </p:cNvPr>
              <p:cNvSpPr txBox="1"/>
              <p:nvPr/>
            </p:nvSpPr>
            <p:spPr bwMode="auto">
              <a:xfrm>
                <a:off x="1360637" y="4713668"/>
                <a:ext cx="7957473" cy="55166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10" name="Object 24">
                <a:extLst>
                  <a:ext uri="{FF2B5EF4-FFF2-40B4-BE49-F238E27FC236}">
                    <a16:creationId xmlns:a16="http://schemas.microsoft.com/office/drawing/2014/main" id="{3E80C77C-4C92-185A-B058-E03010896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0637" y="4713668"/>
                <a:ext cx="7957473" cy="551660"/>
              </a:xfrm>
              <a:prstGeom prst="rect">
                <a:avLst/>
              </a:prstGeom>
              <a:blipFill>
                <a:blip r:embed="rId10"/>
                <a:stretch>
                  <a:fillRect b="-1208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ixaDeTexto 14">
            <a:extLst>
              <a:ext uri="{FF2B5EF4-FFF2-40B4-BE49-F238E27FC236}">
                <a16:creationId xmlns:a16="http://schemas.microsoft.com/office/drawing/2014/main" id="{3306EFFB-074D-C1E6-E5FA-2B582E75D7F5}"/>
              </a:ext>
            </a:extLst>
          </p:cNvPr>
          <p:cNvSpPr txBox="1"/>
          <p:nvPr/>
        </p:nvSpPr>
        <p:spPr>
          <a:xfrm>
            <a:off x="2027849" y="5467350"/>
            <a:ext cx="8857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dirty="0">
                <a:solidFill>
                  <a:schemeClr val="accent2"/>
                </a:solidFill>
              </a:rPr>
              <a:t>o receptor precisa gerar uma portadora local sincronizada em frequência e coerente em fase com aquela usada pelo modulador no transmissor. </a:t>
            </a:r>
            <a:endParaRPr lang="pt-BR" dirty="0"/>
          </a:p>
        </p:txBody>
      </p:sp>
      <p:sp>
        <p:nvSpPr>
          <p:cNvPr id="19" name="AutoShape 6">
            <a:extLst>
              <a:ext uri="{FF2B5EF4-FFF2-40B4-BE49-F238E27FC236}">
                <a16:creationId xmlns:a16="http://schemas.microsoft.com/office/drawing/2014/main" id="{B278260C-5F0E-5949-C683-E57ED59BD5BC}"/>
              </a:ext>
            </a:extLst>
          </p:cNvPr>
          <p:cNvSpPr>
            <a:spLocks/>
          </p:cNvSpPr>
          <p:nvPr/>
        </p:nvSpPr>
        <p:spPr bwMode="auto">
          <a:xfrm rot="16200000">
            <a:off x="6623805" y="3740469"/>
            <a:ext cx="187037" cy="749191"/>
          </a:xfrm>
          <a:prstGeom prst="leftBrace">
            <a:avLst>
              <a:gd name="adj1" fmla="val 82639"/>
              <a:gd name="adj2" fmla="val 50801"/>
            </a:avLst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D0DF229-E1DD-C4AF-99CF-0D232C34632A}"/>
              </a:ext>
            </a:extLst>
          </p:cNvPr>
          <p:cNvSpPr txBox="1"/>
          <p:nvPr/>
        </p:nvSpPr>
        <p:spPr>
          <a:xfrm>
            <a:off x="6200777" y="4220509"/>
            <a:ext cx="1300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Erro de fase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DF23C53C-27C9-2E08-75E0-AA2E7685268F}"/>
              </a:ext>
            </a:extLst>
          </p:cNvPr>
          <p:cNvSpPr/>
          <p:nvPr/>
        </p:nvSpPr>
        <p:spPr>
          <a:xfrm>
            <a:off x="5849273" y="3574284"/>
            <a:ext cx="1651668" cy="48892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6B9F1F06-06BD-02D1-4499-2229186F90B7}"/>
              </a:ext>
            </a:extLst>
          </p:cNvPr>
          <p:cNvCxnSpPr/>
          <p:nvPr/>
        </p:nvCxnSpPr>
        <p:spPr>
          <a:xfrm flipH="1" flipV="1">
            <a:off x="7500941" y="3854604"/>
            <a:ext cx="1110537" cy="922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0A507F2-E175-FE21-63E2-0CACE95440A8}"/>
              </a:ext>
            </a:extLst>
          </p:cNvPr>
          <p:cNvSpPr txBox="1"/>
          <p:nvPr/>
        </p:nvSpPr>
        <p:spPr>
          <a:xfrm>
            <a:off x="8309254" y="4747716"/>
            <a:ext cx="2367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Atenuação (pode ser 0)</a:t>
            </a:r>
          </a:p>
        </p:txBody>
      </p:sp>
    </p:spTree>
    <p:extLst>
      <p:ext uri="{BB962C8B-B14F-4D97-AF65-F5344CB8AC3E}">
        <p14:creationId xmlns:p14="http://schemas.microsoft.com/office/powerpoint/2010/main" val="420036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44AC1A-83FA-B336-CA20-74C2D2A51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em Amplitude</a:t>
            </a:r>
            <a:br>
              <a:rPr lang="pt-BR" dirty="0"/>
            </a:br>
            <a:r>
              <a:rPr lang="pt-BR" dirty="0"/>
              <a:t>DSB+C (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carrier</a:t>
            </a:r>
            <a:r>
              <a:rPr lang="pt-BR" dirty="0"/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00B19B-16D4-8498-773B-57DC957C12CA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942307"/>
            <a:ext cx="3067050" cy="420687"/>
          </a:xfrm>
          <a:prstGeom prst="rect">
            <a:avLst/>
          </a:prstGeom>
        </p:spPr>
        <p:txBody>
          <a:bodyPr vert="horz" wrap="square" lIns="0" tIns="0" rIns="0" bIns="0" rtlCol="0" anchor="t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dirty="0"/>
              <a:t>Sinal AM: definição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37355F0-055D-56C6-2869-5ECBE028C1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49701" y="1303339"/>
          <a:ext cx="4329113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28600" progId="Equation.3">
                  <p:embed/>
                </p:oleObj>
              </mc:Choice>
              <mc:Fallback>
                <p:oleObj name="Equation" r:id="rId2" imgW="2095200" imgH="228600" progId="Equation.3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737355F0-055D-56C6-2869-5ECBE028C1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648" t="-7874" r="-1648" b="-7874"/>
                      <a:stretch>
                        <a:fillRect/>
                      </a:stretch>
                    </p:blipFill>
                    <p:spPr bwMode="auto">
                      <a:xfrm>
                        <a:off x="3949701" y="1303339"/>
                        <a:ext cx="4329113" cy="5286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>
                        <a:outerShdw dist="53882" dir="2700000" algn="ctr" rotWithShape="0">
                          <a:srgbClr val="C0C0C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9">
            <a:extLst>
              <a:ext uri="{FF2B5EF4-FFF2-40B4-BE49-F238E27FC236}">
                <a16:creationId xmlns:a16="http://schemas.microsoft.com/office/drawing/2014/main" id="{B4493FD2-0E06-EB9A-5EE8-E34AF4F95E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5325" y="2800350"/>
          <a:ext cx="57404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81000" imgH="228600" progId="Equation.3">
                  <p:embed/>
                </p:oleObj>
              </mc:Choice>
              <mc:Fallback>
                <p:oleObj name="Equation" r:id="rId4" imgW="2781000" imgH="228600" progId="Equation.3">
                  <p:embed/>
                  <p:pic>
                    <p:nvPicPr>
                      <p:cNvPr id="5" name="Object 69">
                        <a:extLst>
                          <a:ext uri="{FF2B5EF4-FFF2-40B4-BE49-F238E27FC236}">
                            <a16:creationId xmlns:a16="http://schemas.microsoft.com/office/drawing/2014/main" id="{B4493FD2-0E06-EB9A-5EE8-E34AF4F95E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602" t="-7874" r="-1602" b="-7874"/>
                      <a:stretch>
                        <a:fillRect/>
                      </a:stretch>
                    </p:blipFill>
                    <p:spPr bwMode="auto">
                      <a:xfrm>
                        <a:off x="3235325" y="2800350"/>
                        <a:ext cx="5740400" cy="5286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>
                        <a:outerShdw dist="53882" dir="2700000" algn="ctr" rotWithShape="0">
                          <a:srgbClr val="C0C0C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70">
            <a:extLst>
              <a:ext uri="{FF2B5EF4-FFF2-40B4-BE49-F238E27FC236}">
                <a16:creationId xmlns:a16="http://schemas.microsoft.com/office/drawing/2014/main" id="{D6DA1E73-A3C6-C40C-E416-DCAE13A5E4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9089" y="3568700"/>
            <a:ext cx="211704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8000" rIns="1800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 b="1">
                <a:solidFill>
                  <a:srgbClr val="FF0000"/>
                </a:solidFill>
                <a:latin typeface="Arial Narrow" pitchFamily="34" charset="0"/>
              </a:rPr>
              <a:t>Portadora destacada</a:t>
            </a:r>
          </a:p>
        </p:txBody>
      </p:sp>
      <p:sp>
        <p:nvSpPr>
          <p:cNvPr id="7" name="AutoShape 71">
            <a:extLst>
              <a:ext uri="{FF2B5EF4-FFF2-40B4-BE49-F238E27FC236}">
                <a16:creationId xmlns:a16="http://schemas.microsoft.com/office/drawing/2014/main" id="{D3F4D06D-EC55-9169-A598-C8EF6B80AAC5}"/>
              </a:ext>
            </a:extLst>
          </p:cNvPr>
          <p:cNvSpPr>
            <a:spLocks/>
          </p:cNvSpPr>
          <p:nvPr/>
        </p:nvSpPr>
        <p:spPr bwMode="auto">
          <a:xfrm rot="16200000">
            <a:off x="5149057" y="2616994"/>
            <a:ext cx="60325" cy="1766888"/>
          </a:xfrm>
          <a:prstGeom prst="leftBracket">
            <a:avLst>
              <a:gd name="adj" fmla="val 244079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8" name="Line 72">
            <a:extLst>
              <a:ext uri="{FF2B5EF4-FFF2-40B4-BE49-F238E27FC236}">
                <a16:creationId xmlns:a16="http://schemas.microsoft.com/office/drawing/2014/main" id="{AA86BC10-1AAF-DD72-346F-123A35E21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1125" y="3536951"/>
            <a:ext cx="1588" cy="682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9" name="Group 88">
            <a:extLst>
              <a:ext uri="{FF2B5EF4-FFF2-40B4-BE49-F238E27FC236}">
                <a16:creationId xmlns:a16="http://schemas.microsoft.com/office/drawing/2014/main" id="{7696F1FB-5131-5193-3445-F189F736DC67}"/>
              </a:ext>
            </a:extLst>
          </p:cNvPr>
          <p:cNvGrpSpPr>
            <a:grpSpLocks/>
          </p:cNvGrpSpPr>
          <p:nvPr/>
        </p:nvGrpSpPr>
        <p:grpSpPr bwMode="auto">
          <a:xfrm>
            <a:off x="6542089" y="3457576"/>
            <a:ext cx="2293937" cy="504825"/>
            <a:chOff x="3161" y="2178"/>
            <a:chExt cx="1445" cy="318"/>
          </a:xfrm>
        </p:grpSpPr>
        <p:sp>
          <p:nvSpPr>
            <p:cNvPr id="10" name="Text Box 73">
              <a:extLst>
                <a:ext uri="{FF2B5EF4-FFF2-40B4-BE49-F238E27FC236}">
                  <a16:creationId xmlns:a16="http://schemas.microsoft.com/office/drawing/2014/main" id="{E9C2A99B-B6A9-0E16-F039-50FE9D4E0F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7" y="2246"/>
              <a:ext cx="108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2000" b="1">
                  <a:solidFill>
                    <a:srgbClr val="FF0000"/>
                  </a:solidFill>
                  <a:latin typeface="Arial Narrow" pitchFamily="34" charset="0"/>
                </a:rPr>
                <a:t>Bandas laterais</a:t>
              </a:r>
            </a:p>
          </p:txBody>
        </p:sp>
        <p:sp>
          <p:nvSpPr>
            <p:cNvPr id="11" name="AutoShape 74">
              <a:extLst>
                <a:ext uri="{FF2B5EF4-FFF2-40B4-BE49-F238E27FC236}">
                  <a16:creationId xmlns:a16="http://schemas.microsoft.com/office/drawing/2014/main" id="{E028C395-CCCE-3AD1-6F5B-C900FCF45BDE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862" y="1477"/>
              <a:ext cx="44" cy="1445"/>
            </a:xfrm>
            <a:prstGeom prst="leftBracket">
              <a:avLst>
                <a:gd name="adj" fmla="val 273674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" name="Line 75">
              <a:extLst>
                <a:ext uri="{FF2B5EF4-FFF2-40B4-BE49-F238E27FC236}">
                  <a16:creationId xmlns:a16="http://schemas.microsoft.com/office/drawing/2014/main" id="{4DC355B8-B531-2E99-1013-7D0DDAF380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5" y="2226"/>
              <a:ext cx="1" cy="4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3" name="AutoShape 76">
            <a:extLst>
              <a:ext uri="{FF2B5EF4-FFF2-40B4-BE49-F238E27FC236}">
                <a16:creationId xmlns:a16="http://schemas.microsoft.com/office/drawing/2014/main" id="{21F1EF9B-1BFA-6C45-7E73-63C0136F6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2650" y="2095501"/>
            <a:ext cx="266700" cy="517525"/>
          </a:xfrm>
          <a:prstGeom prst="downArrow">
            <a:avLst>
              <a:gd name="adj1" fmla="val 50000"/>
              <a:gd name="adj2" fmla="val 48512"/>
            </a:avLst>
          </a:prstGeom>
          <a:solidFill>
            <a:schemeClr val="accent1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14" name="Object 77">
            <a:extLst>
              <a:ext uri="{FF2B5EF4-FFF2-40B4-BE49-F238E27FC236}">
                <a16:creationId xmlns:a16="http://schemas.microsoft.com/office/drawing/2014/main" id="{0F945FB0-7A7E-1A22-5A51-6AD6076AA7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9439" y="4875214"/>
          <a:ext cx="849153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14800" imgH="368280" progId="Equation.3">
                  <p:embed/>
                </p:oleObj>
              </mc:Choice>
              <mc:Fallback>
                <p:oleObj name="Equation" r:id="rId6" imgW="4114800" imgH="368280" progId="Equation.3">
                  <p:embed/>
                  <p:pic>
                    <p:nvPicPr>
                      <p:cNvPr id="14" name="Object 77">
                        <a:extLst>
                          <a:ext uri="{FF2B5EF4-FFF2-40B4-BE49-F238E27FC236}">
                            <a16:creationId xmlns:a16="http://schemas.microsoft.com/office/drawing/2014/main" id="{0F945FB0-7A7E-1A22-5A51-6AD6076AA7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593" t="-7561" r="-1593" b="-7561"/>
                      <a:stretch>
                        <a:fillRect/>
                      </a:stretch>
                    </p:blipFill>
                    <p:spPr bwMode="auto">
                      <a:xfrm>
                        <a:off x="1849439" y="4875214"/>
                        <a:ext cx="8491537" cy="8477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>
                        <a:outerShdw dist="53882" dir="2700000" algn="ctr" rotWithShape="0">
                          <a:srgbClr val="C0C0C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AutoShape 79">
            <a:extLst>
              <a:ext uri="{FF2B5EF4-FFF2-40B4-BE49-F238E27FC236}">
                <a16:creationId xmlns:a16="http://schemas.microsoft.com/office/drawing/2014/main" id="{C38EE922-9BBB-6CC2-623E-A989BEFE7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4713" y="4103689"/>
            <a:ext cx="266700" cy="517525"/>
          </a:xfrm>
          <a:prstGeom prst="downArrow">
            <a:avLst>
              <a:gd name="adj1" fmla="val 50000"/>
              <a:gd name="adj2" fmla="val 48512"/>
            </a:avLst>
          </a:prstGeom>
          <a:solidFill>
            <a:schemeClr val="accent1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16" name="Group 89">
            <a:extLst>
              <a:ext uri="{FF2B5EF4-FFF2-40B4-BE49-F238E27FC236}">
                <a16:creationId xmlns:a16="http://schemas.microsoft.com/office/drawing/2014/main" id="{2302DCCE-92F6-A6BB-4C97-1FED59B947F7}"/>
              </a:ext>
            </a:extLst>
          </p:cNvPr>
          <p:cNvGrpSpPr>
            <a:grpSpLocks/>
          </p:cNvGrpSpPr>
          <p:nvPr/>
        </p:nvGrpSpPr>
        <p:grpSpPr bwMode="auto">
          <a:xfrm>
            <a:off x="3140075" y="5821363"/>
            <a:ext cx="3227388" cy="495300"/>
            <a:chOff x="1018" y="3667"/>
            <a:chExt cx="2033" cy="312"/>
          </a:xfrm>
        </p:grpSpPr>
        <p:sp>
          <p:nvSpPr>
            <p:cNvPr id="17" name="Text Box 80">
              <a:extLst>
                <a:ext uri="{FF2B5EF4-FFF2-40B4-BE49-F238E27FC236}">
                  <a16:creationId xmlns:a16="http://schemas.microsoft.com/office/drawing/2014/main" id="{7CD9BCEC-957D-0833-CBC6-F79F312C05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7" y="3729"/>
              <a:ext cx="141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2000" b="1">
                  <a:solidFill>
                    <a:srgbClr val="FF0000"/>
                  </a:solidFill>
                  <a:latin typeface="Arial Narrow" pitchFamily="34" charset="0"/>
                </a:rPr>
                <a:t>Portadora destacada</a:t>
              </a:r>
            </a:p>
          </p:txBody>
        </p:sp>
        <p:sp>
          <p:nvSpPr>
            <p:cNvPr id="18" name="AutoShape 81">
              <a:extLst>
                <a:ext uri="{FF2B5EF4-FFF2-40B4-BE49-F238E27FC236}">
                  <a16:creationId xmlns:a16="http://schemas.microsoft.com/office/drawing/2014/main" id="{2A2C7F4D-4B19-AD4B-8B52-6E3EF9E0DBD0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016" y="2669"/>
              <a:ext cx="38" cy="2033"/>
            </a:xfrm>
            <a:prstGeom prst="leftBracket">
              <a:avLst>
                <a:gd name="adj" fmla="val 445833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9" name="Line 82">
              <a:extLst>
                <a:ext uri="{FF2B5EF4-FFF2-40B4-BE49-F238E27FC236}">
                  <a16:creationId xmlns:a16="http://schemas.microsoft.com/office/drawing/2014/main" id="{BCBA9849-BAE5-79B6-064B-968E3118CC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3" y="3709"/>
              <a:ext cx="1" cy="4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20" name="Group 90">
            <a:extLst>
              <a:ext uri="{FF2B5EF4-FFF2-40B4-BE49-F238E27FC236}">
                <a16:creationId xmlns:a16="http://schemas.microsoft.com/office/drawing/2014/main" id="{B7804A0C-9930-D264-B694-24D8D87A55D1}"/>
              </a:ext>
            </a:extLst>
          </p:cNvPr>
          <p:cNvGrpSpPr>
            <a:grpSpLocks/>
          </p:cNvGrpSpPr>
          <p:nvPr/>
        </p:nvGrpSpPr>
        <p:grpSpPr bwMode="auto">
          <a:xfrm>
            <a:off x="6816725" y="5808664"/>
            <a:ext cx="3417888" cy="504825"/>
            <a:chOff x="3334" y="3659"/>
            <a:chExt cx="2153" cy="318"/>
          </a:xfrm>
        </p:grpSpPr>
        <p:sp>
          <p:nvSpPr>
            <p:cNvPr id="21" name="Text Box 83">
              <a:extLst>
                <a:ext uri="{FF2B5EF4-FFF2-40B4-BE49-F238E27FC236}">
                  <a16:creationId xmlns:a16="http://schemas.microsoft.com/office/drawing/2014/main" id="{DEA4E107-3C55-B70D-F9C2-58CB7ED7D1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4" y="3727"/>
              <a:ext cx="108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2000" b="1">
                  <a:solidFill>
                    <a:srgbClr val="FF0000"/>
                  </a:solidFill>
                  <a:latin typeface="Arial Narrow" pitchFamily="34" charset="0"/>
                </a:rPr>
                <a:t>Bandas laterais</a:t>
              </a:r>
            </a:p>
          </p:txBody>
        </p:sp>
        <p:sp>
          <p:nvSpPr>
            <p:cNvPr id="22" name="AutoShape 84">
              <a:extLst>
                <a:ext uri="{FF2B5EF4-FFF2-40B4-BE49-F238E27FC236}">
                  <a16:creationId xmlns:a16="http://schemas.microsoft.com/office/drawing/2014/main" id="{79674E73-25A1-95FC-CFCE-59E721BADE7B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389" y="2604"/>
              <a:ext cx="44" cy="2153"/>
            </a:xfrm>
            <a:prstGeom prst="leftBracket">
              <a:avLst>
                <a:gd name="adj" fmla="val 407765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3" name="Line 85">
              <a:extLst>
                <a:ext uri="{FF2B5EF4-FFF2-40B4-BE49-F238E27FC236}">
                  <a16:creationId xmlns:a16="http://schemas.microsoft.com/office/drawing/2014/main" id="{3665738E-9987-AED9-E849-C32D4AAC4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2" y="3707"/>
              <a:ext cx="1" cy="4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00778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81150" y="541339"/>
            <a:ext cx="5512377" cy="420687"/>
          </a:xfrm>
        </p:spPr>
        <p:txBody>
          <a:bodyPr wrap="square">
            <a:normAutofit fontScale="90000"/>
          </a:bodyPr>
          <a:lstStyle/>
          <a:p>
            <a:r>
              <a:rPr lang="pt-BR" dirty="0"/>
              <a:t>Espectro de um sinal AM</a:t>
            </a:r>
          </a:p>
        </p:txBody>
      </p:sp>
      <p:sp>
        <p:nvSpPr>
          <p:cNvPr id="907267" name="Text Box 3"/>
          <p:cNvSpPr txBox="1">
            <a:spLocks noChangeArrowheads="1"/>
          </p:cNvSpPr>
          <p:nvPr/>
        </p:nvSpPr>
        <p:spPr bwMode="auto">
          <a:xfrm>
            <a:off x="5364164" y="5881688"/>
            <a:ext cx="1455737" cy="369332"/>
          </a:xfrm>
          <a:prstGeom prst="rect">
            <a:avLst/>
          </a:prstGeom>
          <a:solidFill>
            <a:srgbClr val="00CCFF"/>
          </a:solidFill>
          <a:ln w="9525">
            <a:noFill/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b="1" i="1">
                <a:solidFill>
                  <a:srgbClr val="FF0000"/>
                </a:solidFill>
              </a:rPr>
              <a:t>B</a:t>
            </a:r>
            <a:r>
              <a:rPr lang="pt-BR" b="1" i="1" baseline="-25000">
                <a:solidFill>
                  <a:srgbClr val="FF0000"/>
                </a:solidFill>
              </a:rPr>
              <a:t>T </a:t>
            </a:r>
            <a:r>
              <a:rPr lang="pt-BR" b="1" i="1">
                <a:solidFill>
                  <a:srgbClr val="FF0000"/>
                </a:solidFill>
              </a:rPr>
              <a:t>= </a:t>
            </a:r>
            <a:r>
              <a:rPr lang="pt-BR" b="1">
                <a:solidFill>
                  <a:srgbClr val="FF0000"/>
                </a:solidFill>
              </a:rPr>
              <a:t>2</a:t>
            </a:r>
            <a:r>
              <a:rPr lang="pt-BR" b="1" i="1">
                <a:solidFill>
                  <a:srgbClr val="FF0000"/>
                </a:solidFill>
              </a:rPr>
              <a:t>B</a:t>
            </a:r>
            <a:r>
              <a:rPr lang="pt-BR" b="1" i="1" baseline="-25000">
                <a:solidFill>
                  <a:srgbClr val="FF0000"/>
                </a:solidFill>
              </a:rPr>
              <a:t>m</a:t>
            </a:r>
            <a:endParaRPr lang="pt-BR" b="1" i="1">
              <a:solidFill>
                <a:srgbClr val="FF0000"/>
              </a:solidFill>
            </a:endParaRPr>
          </a:p>
        </p:txBody>
      </p:sp>
      <p:sp>
        <p:nvSpPr>
          <p:cNvPr id="907269" name="Freeform 5"/>
          <p:cNvSpPr>
            <a:spLocks/>
          </p:cNvSpPr>
          <p:nvPr/>
        </p:nvSpPr>
        <p:spPr bwMode="auto">
          <a:xfrm>
            <a:off x="5154614" y="2381251"/>
            <a:ext cx="1781175" cy="760413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288" y="0"/>
              </a:cxn>
              <a:cxn ang="0">
                <a:pos x="576" y="432"/>
              </a:cxn>
            </a:cxnLst>
            <a:rect l="0" t="0" r="r" b="b"/>
            <a:pathLst>
              <a:path w="576" h="432">
                <a:moveTo>
                  <a:pt x="0" y="432"/>
                </a:moveTo>
                <a:cubicBezTo>
                  <a:pt x="96" y="216"/>
                  <a:pt x="192" y="0"/>
                  <a:pt x="288" y="0"/>
                </a:cubicBezTo>
                <a:cubicBezTo>
                  <a:pt x="384" y="0"/>
                  <a:pt x="480" y="216"/>
                  <a:pt x="576" y="432"/>
                </a:cubicBezTo>
              </a:path>
            </a:pathLst>
          </a:custGeom>
          <a:solidFill>
            <a:srgbClr val="FFCCCC"/>
          </a:solidFill>
          <a:ln w="57150" cmpd="sng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907270" name="Line 6"/>
          <p:cNvSpPr>
            <a:spLocks noChangeShapeType="1"/>
          </p:cNvSpPr>
          <p:nvPr/>
        </p:nvSpPr>
        <p:spPr bwMode="auto">
          <a:xfrm flipV="1">
            <a:off x="1946275" y="3151188"/>
            <a:ext cx="845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907271" name="Text Box 7"/>
          <p:cNvSpPr txBox="1">
            <a:spLocks noChangeArrowheads="1"/>
          </p:cNvSpPr>
          <p:nvPr/>
        </p:nvSpPr>
        <p:spPr bwMode="auto">
          <a:xfrm>
            <a:off x="9994900" y="3167064"/>
            <a:ext cx="4254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 i="1">
                <a:solidFill>
                  <a:srgbClr val="0000CC"/>
                </a:solidFill>
              </a:rPr>
              <a:t>f  </a:t>
            </a:r>
            <a:r>
              <a:rPr lang="pt-BR" sz="1600" b="1">
                <a:solidFill>
                  <a:srgbClr val="0000CC"/>
                </a:solidFill>
                <a:sym typeface="Symbol" pitchFamily="18" charset="2"/>
              </a:rPr>
              <a:t></a:t>
            </a:r>
            <a:endParaRPr lang="pt-BR" sz="1600" b="1" i="1">
              <a:solidFill>
                <a:srgbClr val="0000CC"/>
              </a:solidFill>
            </a:endParaRPr>
          </a:p>
        </p:txBody>
      </p:sp>
      <p:sp>
        <p:nvSpPr>
          <p:cNvPr id="907272" name="Text Box 8"/>
          <p:cNvSpPr txBox="1">
            <a:spLocks noChangeArrowheads="1"/>
          </p:cNvSpPr>
          <p:nvPr/>
        </p:nvSpPr>
        <p:spPr bwMode="auto">
          <a:xfrm>
            <a:off x="8710614" y="3167064"/>
            <a:ext cx="1857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 i="1">
                <a:solidFill>
                  <a:srgbClr val="0000CC"/>
                </a:solidFill>
              </a:rPr>
              <a:t>f</a:t>
            </a:r>
            <a:r>
              <a:rPr lang="pt-BR" sz="1600" b="1" i="1" baseline="-25000">
                <a:solidFill>
                  <a:srgbClr val="0000CC"/>
                </a:solidFill>
              </a:rPr>
              <a:t>c</a:t>
            </a:r>
            <a:endParaRPr lang="pt-BR" sz="1600" b="1" i="1">
              <a:solidFill>
                <a:srgbClr val="0000CC"/>
              </a:solidFill>
            </a:endParaRPr>
          </a:p>
        </p:txBody>
      </p:sp>
      <p:sp>
        <p:nvSpPr>
          <p:cNvPr id="907273" name="Text Box 9"/>
          <p:cNvSpPr txBox="1">
            <a:spLocks noChangeArrowheads="1"/>
          </p:cNvSpPr>
          <p:nvPr/>
        </p:nvSpPr>
        <p:spPr bwMode="auto">
          <a:xfrm>
            <a:off x="3155950" y="3167064"/>
            <a:ext cx="279400" cy="2444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 i="1">
                <a:solidFill>
                  <a:srgbClr val="0000CC"/>
                </a:solidFill>
              </a:rPr>
              <a:t>-f</a:t>
            </a:r>
            <a:r>
              <a:rPr lang="pt-BR" sz="1600" b="1" i="1" baseline="-25000">
                <a:solidFill>
                  <a:srgbClr val="0000CC"/>
                </a:solidFill>
              </a:rPr>
              <a:t>c</a:t>
            </a:r>
            <a:endParaRPr lang="pt-BR" sz="1600" b="1" i="1">
              <a:solidFill>
                <a:srgbClr val="0000CC"/>
              </a:solidFill>
            </a:endParaRPr>
          </a:p>
        </p:txBody>
      </p:sp>
      <p:sp>
        <p:nvSpPr>
          <p:cNvPr id="907274" name="Line 10"/>
          <p:cNvSpPr>
            <a:spLocks noChangeShapeType="1"/>
          </p:cNvSpPr>
          <p:nvPr/>
        </p:nvSpPr>
        <p:spPr bwMode="auto">
          <a:xfrm flipV="1">
            <a:off x="3302000" y="3068639"/>
            <a:ext cx="0" cy="46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907275" name="Line 11"/>
          <p:cNvSpPr>
            <a:spLocks noChangeShapeType="1"/>
          </p:cNvSpPr>
          <p:nvPr/>
        </p:nvSpPr>
        <p:spPr bwMode="auto">
          <a:xfrm flipV="1">
            <a:off x="8788400" y="3068639"/>
            <a:ext cx="0" cy="46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907276" name="Line 12"/>
          <p:cNvSpPr>
            <a:spLocks noChangeShapeType="1"/>
          </p:cNvSpPr>
          <p:nvPr/>
        </p:nvSpPr>
        <p:spPr bwMode="auto">
          <a:xfrm flipV="1">
            <a:off x="2006601" y="3133725"/>
            <a:ext cx="3190875" cy="158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907277" name="Line 13"/>
          <p:cNvSpPr>
            <a:spLocks noChangeShapeType="1"/>
          </p:cNvSpPr>
          <p:nvPr/>
        </p:nvSpPr>
        <p:spPr bwMode="auto">
          <a:xfrm>
            <a:off x="6911975" y="3133725"/>
            <a:ext cx="335915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907278" name="Text Box 14"/>
          <p:cNvSpPr txBox="1">
            <a:spLocks noChangeArrowheads="1"/>
          </p:cNvSpPr>
          <p:nvPr/>
        </p:nvSpPr>
        <p:spPr bwMode="auto">
          <a:xfrm>
            <a:off x="5981701" y="3167064"/>
            <a:ext cx="142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>
                <a:solidFill>
                  <a:srgbClr val="0000CC"/>
                </a:solidFill>
              </a:rPr>
              <a:t>0</a:t>
            </a:r>
            <a:endParaRPr lang="pt-BR" sz="1600" b="1" i="1">
              <a:solidFill>
                <a:srgbClr val="0000CC"/>
              </a:solidFill>
            </a:endParaRPr>
          </a:p>
        </p:txBody>
      </p:sp>
      <p:sp>
        <p:nvSpPr>
          <p:cNvPr id="907279" name="Text Box 15"/>
          <p:cNvSpPr txBox="1">
            <a:spLocks noChangeArrowheads="1"/>
          </p:cNvSpPr>
          <p:nvPr/>
        </p:nvSpPr>
        <p:spPr bwMode="auto">
          <a:xfrm>
            <a:off x="6826250" y="3167064"/>
            <a:ext cx="3238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 i="1">
                <a:solidFill>
                  <a:srgbClr val="0000CC"/>
                </a:solidFill>
              </a:rPr>
              <a:t>B</a:t>
            </a:r>
            <a:r>
              <a:rPr lang="pt-BR" sz="1600" b="1" i="1" baseline="-25000">
                <a:solidFill>
                  <a:srgbClr val="0000CC"/>
                </a:solidFill>
              </a:rPr>
              <a:t>m</a:t>
            </a:r>
            <a:endParaRPr lang="pt-BR" sz="1600" b="1" i="1">
              <a:solidFill>
                <a:srgbClr val="0000CC"/>
              </a:solidFill>
            </a:endParaRPr>
          </a:p>
        </p:txBody>
      </p:sp>
      <p:sp>
        <p:nvSpPr>
          <p:cNvPr id="907280" name="Text Box 16"/>
          <p:cNvSpPr txBox="1">
            <a:spLocks noChangeArrowheads="1"/>
          </p:cNvSpPr>
          <p:nvPr/>
        </p:nvSpPr>
        <p:spPr bwMode="auto">
          <a:xfrm>
            <a:off x="5054601" y="3167064"/>
            <a:ext cx="314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 i="1">
                <a:solidFill>
                  <a:srgbClr val="0000CC"/>
                </a:solidFill>
              </a:rPr>
              <a:t>-B</a:t>
            </a:r>
            <a:r>
              <a:rPr lang="pt-BR" sz="1600" b="1" i="1" baseline="-25000">
                <a:solidFill>
                  <a:srgbClr val="0000CC"/>
                </a:solidFill>
              </a:rPr>
              <a:t>m</a:t>
            </a:r>
            <a:endParaRPr lang="pt-BR" sz="1600" b="1" i="1">
              <a:solidFill>
                <a:srgbClr val="0000CC"/>
              </a:solidFill>
            </a:endParaRPr>
          </a:p>
        </p:txBody>
      </p:sp>
      <p:sp>
        <p:nvSpPr>
          <p:cNvPr id="907281" name="Text Box 17"/>
          <p:cNvSpPr txBox="1">
            <a:spLocks noChangeArrowheads="1"/>
          </p:cNvSpPr>
          <p:nvPr/>
        </p:nvSpPr>
        <p:spPr bwMode="auto">
          <a:xfrm>
            <a:off x="5429251" y="1990726"/>
            <a:ext cx="6127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 i="1">
                <a:solidFill>
                  <a:srgbClr val="0000CC"/>
                </a:solidFill>
              </a:rPr>
              <a:t>M</a:t>
            </a:r>
            <a:r>
              <a:rPr lang="pt-BR" sz="1600" b="1">
                <a:solidFill>
                  <a:srgbClr val="0000CC"/>
                </a:solidFill>
              </a:rPr>
              <a:t>( </a:t>
            </a:r>
            <a:r>
              <a:rPr lang="pt-BR" sz="1600" b="1" i="1">
                <a:solidFill>
                  <a:srgbClr val="0000CC"/>
                </a:solidFill>
              </a:rPr>
              <a:t>f </a:t>
            </a:r>
            <a:r>
              <a:rPr lang="pt-BR" sz="1600" b="1">
                <a:solidFill>
                  <a:srgbClr val="0000CC"/>
                </a:solidFill>
              </a:rPr>
              <a:t>)</a:t>
            </a:r>
            <a:r>
              <a:rPr lang="pt-BR" sz="1600" b="1" i="1">
                <a:solidFill>
                  <a:srgbClr val="0000CC"/>
                </a:solidFill>
              </a:rPr>
              <a:t>  </a:t>
            </a:r>
          </a:p>
        </p:txBody>
      </p:sp>
      <p:sp>
        <p:nvSpPr>
          <p:cNvPr id="907282" name="Line 18"/>
          <p:cNvSpPr>
            <a:spLocks noChangeShapeType="1"/>
          </p:cNvSpPr>
          <p:nvPr/>
        </p:nvSpPr>
        <p:spPr bwMode="auto">
          <a:xfrm flipV="1">
            <a:off x="6045200" y="2024064"/>
            <a:ext cx="1588" cy="1171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907283" name="Line 19"/>
          <p:cNvSpPr>
            <a:spLocks noChangeShapeType="1"/>
          </p:cNvSpPr>
          <p:nvPr/>
        </p:nvSpPr>
        <p:spPr bwMode="auto">
          <a:xfrm>
            <a:off x="6043613" y="2382838"/>
            <a:ext cx="76200" cy="47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907284" name="Text Box 20"/>
          <p:cNvSpPr txBox="1">
            <a:spLocks noChangeArrowheads="1"/>
          </p:cNvSpPr>
          <p:nvPr/>
        </p:nvSpPr>
        <p:spPr bwMode="auto">
          <a:xfrm>
            <a:off x="6115051" y="2109789"/>
            <a:ext cx="142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>
                <a:solidFill>
                  <a:srgbClr val="0000CC"/>
                </a:solidFill>
                <a:sym typeface="Symbol" pitchFamily="18" charset="2"/>
              </a:rPr>
              <a:t></a:t>
            </a:r>
            <a:endParaRPr lang="pt-BR" sz="1600" b="1" i="1">
              <a:solidFill>
                <a:srgbClr val="0000CC"/>
              </a:solidFill>
            </a:endParaRPr>
          </a:p>
        </p:txBody>
      </p:sp>
      <p:sp>
        <p:nvSpPr>
          <p:cNvPr id="907285" name="Line 21"/>
          <p:cNvSpPr>
            <a:spLocks noChangeShapeType="1"/>
          </p:cNvSpPr>
          <p:nvPr/>
        </p:nvSpPr>
        <p:spPr bwMode="auto">
          <a:xfrm>
            <a:off x="5981701" y="2362200"/>
            <a:ext cx="1238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1733550" y="3697288"/>
            <a:ext cx="8686800" cy="2297112"/>
            <a:chOff x="132" y="2329"/>
            <a:chExt cx="5472" cy="1447"/>
          </a:xfrm>
        </p:grpSpPr>
        <p:sp>
          <p:nvSpPr>
            <p:cNvPr id="907287" name="Line 23"/>
            <p:cNvSpPr>
              <a:spLocks noChangeShapeType="1"/>
            </p:cNvSpPr>
            <p:nvPr/>
          </p:nvSpPr>
          <p:spPr bwMode="auto">
            <a:xfrm flipH="1" flipV="1">
              <a:off x="551" y="3697"/>
              <a:ext cx="43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288" name="Line 24"/>
            <p:cNvSpPr>
              <a:spLocks noChangeShapeType="1"/>
            </p:cNvSpPr>
            <p:nvPr/>
          </p:nvSpPr>
          <p:spPr bwMode="auto">
            <a:xfrm flipV="1">
              <a:off x="1232" y="3697"/>
              <a:ext cx="43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289" name="Line 25"/>
            <p:cNvSpPr>
              <a:spLocks noChangeShapeType="1"/>
            </p:cNvSpPr>
            <p:nvPr/>
          </p:nvSpPr>
          <p:spPr bwMode="auto">
            <a:xfrm flipH="1" flipV="1">
              <a:off x="4011" y="3701"/>
              <a:ext cx="43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3" name="Group 26"/>
            <p:cNvGrpSpPr>
              <a:grpSpLocks/>
            </p:cNvGrpSpPr>
            <p:nvPr/>
          </p:nvGrpSpPr>
          <p:grpSpPr bwMode="auto">
            <a:xfrm>
              <a:off x="553" y="2856"/>
              <a:ext cx="4578" cy="570"/>
              <a:chOff x="589" y="2095"/>
              <a:chExt cx="4578" cy="801"/>
            </a:xfrm>
          </p:grpSpPr>
          <p:sp>
            <p:nvSpPr>
              <p:cNvPr id="907291" name="Freeform 27"/>
              <p:cNvSpPr>
                <a:spLocks/>
              </p:cNvSpPr>
              <p:nvPr/>
            </p:nvSpPr>
            <p:spPr bwMode="auto">
              <a:xfrm>
                <a:off x="4045" y="2095"/>
                <a:ext cx="1122" cy="801"/>
              </a:xfrm>
              <a:custGeom>
                <a:avLst/>
                <a:gdLst/>
                <a:ahLst/>
                <a:cxnLst>
                  <a:cxn ang="0">
                    <a:pos x="0" y="432"/>
                  </a:cxn>
                  <a:cxn ang="0">
                    <a:pos x="288" y="0"/>
                  </a:cxn>
                  <a:cxn ang="0">
                    <a:pos x="576" y="432"/>
                  </a:cxn>
                </a:cxnLst>
                <a:rect l="0" t="0" r="r" b="b"/>
                <a:pathLst>
                  <a:path w="576" h="432">
                    <a:moveTo>
                      <a:pt x="0" y="432"/>
                    </a:moveTo>
                    <a:cubicBezTo>
                      <a:pt x="96" y="216"/>
                      <a:pt x="192" y="0"/>
                      <a:pt x="288" y="0"/>
                    </a:cubicBezTo>
                    <a:cubicBezTo>
                      <a:pt x="384" y="0"/>
                      <a:pt x="480" y="216"/>
                      <a:pt x="576" y="432"/>
                    </a:cubicBezTo>
                  </a:path>
                </a:pathLst>
              </a:custGeom>
              <a:solidFill>
                <a:srgbClr val="CCFF99"/>
              </a:solidFill>
              <a:ln w="57150" cmpd="sng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07292" name="Freeform 28"/>
              <p:cNvSpPr>
                <a:spLocks/>
              </p:cNvSpPr>
              <p:nvPr/>
            </p:nvSpPr>
            <p:spPr bwMode="auto">
              <a:xfrm>
                <a:off x="589" y="2095"/>
                <a:ext cx="1122" cy="801"/>
              </a:xfrm>
              <a:custGeom>
                <a:avLst/>
                <a:gdLst/>
                <a:ahLst/>
                <a:cxnLst>
                  <a:cxn ang="0">
                    <a:pos x="0" y="432"/>
                  </a:cxn>
                  <a:cxn ang="0">
                    <a:pos x="288" y="0"/>
                  </a:cxn>
                  <a:cxn ang="0">
                    <a:pos x="576" y="432"/>
                  </a:cxn>
                </a:cxnLst>
                <a:rect l="0" t="0" r="r" b="b"/>
                <a:pathLst>
                  <a:path w="576" h="432">
                    <a:moveTo>
                      <a:pt x="0" y="432"/>
                    </a:moveTo>
                    <a:cubicBezTo>
                      <a:pt x="96" y="216"/>
                      <a:pt x="192" y="0"/>
                      <a:pt x="288" y="0"/>
                    </a:cubicBezTo>
                    <a:cubicBezTo>
                      <a:pt x="384" y="0"/>
                      <a:pt x="480" y="216"/>
                      <a:pt x="576" y="432"/>
                    </a:cubicBezTo>
                  </a:path>
                </a:pathLst>
              </a:custGeom>
              <a:solidFill>
                <a:srgbClr val="CCFF99"/>
              </a:solidFill>
              <a:ln w="57150" cmpd="sng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907293" name="Freeform 29" descr="80%"/>
            <p:cNvSpPr>
              <a:spLocks/>
            </p:cNvSpPr>
            <p:nvPr/>
          </p:nvSpPr>
          <p:spPr bwMode="auto">
            <a:xfrm flipH="1">
              <a:off x="574" y="2866"/>
              <a:ext cx="567" cy="570"/>
            </a:xfrm>
            <a:custGeom>
              <a:avLst/>
              <a:gdLst/>
              <a:ahLst/>
              <a:cxnLst>
                <a:cxn ang="0">
                  <a:pos x="29" y="671"/>
                </a:cxn>
                <a:cxn ang="0">
                  <a:pos x="29" y="575"/>
                </a:cxn>
                <a:cxn ang="0">
                  <a:pos x="29" y="89"/>
                </a:cxn>
                <a:cxn ang="0">
                  <a:pos x="29" y="41"/>
                </a:cxn>
                <a:cxn ang="0">
                  <a:pos x="29" y="5"/>
                </a:cxn>
                <a:cxn ang="0">
                  <a:pos x="80" y="20"/>
                </a:cxn>
                <a:cxn ang="0">
                  <a:pos x="167" y="77"/>
                </a:cxn>
                <a:cxn ang="0">
                  <a:pos x="266" y="191"/>
                </a:cxn>
                <a:cxn ang="0">
                  <a:pos x="362" y="329"/>
                </a:cxn>
                <a:cxn ang="0">
                  <a:pos x="431" y="452"/>
                </a:cxn>
                <a:cxn ang="0">
                  <a:pos x="467" y="518"/>
                </a:cxn>
                <a:cxn ang="0">
                  <a:pos x="545" y="662"/>
                </a:cxn>
                <a:cxn ang="0">
                  <a:pos x="494" y="668"/>
                </a:cxn>
                <a:cxn ang="0">
                  <a:pos x="380" y="671"/>
                </a:cxn>
                <a:cxn ang="0">
                  <a:pos x="203" y="671"/>
                </a:cxn>
                <a:cxn ang="0">
                  <a:pos x="29" y="671"/>
                </a:cxn>
              </a:cxnLst>
              <a:rect l="0" t="0" r="r" b="b"/>
              <a:pathLst>
                <a:path w="549" h="687">
                  <a:moveTo>
                    <a:pt x="29" y="671"/>
                  </a:moveTo>
                  <a:cubicBezTo>
                    <a:pt x="0" y="655"/>
                    <a:pt x="29" y="672"/>
                    <a:pt x="29" y="575"/>
                  </a:cubicBezTo>
                  <a:cubicBezTo>
                    <a:pt x="29" y="478"/>
                    <a:pt x="29" y="178"/>
                    <a:pt x="29" y="89"/>
                  </a:cubicBezTo>
                  <a:cubicBezTo>
                    <a:pt x="29" y="0"/>
                    <a:pt x="29" y="55"/>
                    <a:pt x="29" y="41"/>
                  </a:cubicBezTo>
                  <a:cubicBezTo>
                    <a:pt x="29" y="27"/>
                    <a:pt x="21" y="8"/>
                    <a:pt x="29" y="5"/>
                  </a:cubicBezTo>
                  <a:cubicBezTo>
                    <a:pt x="37" y="2"/>
                    <a:pt x="57" y="8"/>
                    <a:pt x="80" y="20"/>
                  </a:cubicBezTo>
                  <a:cubicBezTo>
                    <a:pt x="103" y="32"/>
                    <a:pt x="136" y="49"/>
                    <a:pt x="167" y="77"/>
                  </a:cubicBezTo>
                  <a:cubicBezTo>
                    <a:pt x="198" y="105"/>
                    <a:pt x="234" y="149"/>
                    <a:pt x="266" y="191"/>
                  </a:cubicBezTo>
                  <a:cubicBezTo>
                    <a:pt x="298" y="233"/>
                    <a:pt x="335" y="286"/>
                    <a:pt x="362" y="329"/>
                  </a:cubicBezTo>
                  <a:cubicBezTo>
                    <a:pt x="389" y="372"/>
                    <a:pt x="414" y="421"/>
                    <a:pt x="431" y="452"/>
                  </a:cubicBezTo>
                  <a:cubicBezTo>
                    <a:pt x="448" y="483"/>
                    <a:pt x="448" y="483"/>
                    <a:pt x="467" y="518"/>
                  </a:cubicBezTo>
                  <a:cubicBezTo>
                    <a:pt x="486" y="553"/>
                    <a:pt x="541" y="637"/>
                    <a:pt x="545" y="662"/>
                  </a:cubicBezTo>
                  <a:cubicBezTo>
                    <a:pt x="549" y="687"/>
                    <a:pt x="521" y="667"/>
                    <a:pt x="494" y="668"/>
                  </a:cubicBezTo>
                  <a:cubicBezTo>
                    <a:pt x="467" y="669"/>
                    <a:pt x="428" y="671"/>
                    <a:pt x="380" y="671"/>
                  </a:cubicBezTo>
                  <a:cubicBezTo>
                    <a:pt x="332" y="671"/>
                    <a:pt x="261" y="671"/>
                    <a:pt x="203" y="671"/>
                  </a:cubicBezTo>
                  <a:cubicBezTo>
                    <a:pt x="145" y="671"/>
                    <a:pt x="58" y="687"/>
                    <a:pt x="29" y="671"/>
                  </a:cubicBezTo>
                  <a:close/>
                </a:path>
              </a:pathLst>
            </a:custGeom>
            <a:pattFill prst="pct80">
              <a:fgClr>
                <a:schemeClr val="accent1"/>
              </a:fgClr>
              <a:bgClr>
                <a:schemeClr val="bg1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294" name="Text Box 30"/>
            <p:cNvSpPr txBox="1">
              <a:spLocks noChangeArrowheads="1"/>
            </p:cNvSpPr>
            <p:nvPr/>
          </p:nvSpPr>
          <p:spPr bwMode="auto">
            <a:xfrm>
              <a:off x="1028" y="3452"/>
              <a:ext cx="176" cy="154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 i="1">
                  <a:solidFill>
                    <a:srgbClr val="0000CC"/>
                  </a:solidFill>
                </a:rPr>
                <a:t>-</a:t>
              </a:r>
              <a:r>
                <a:rPr lang="pt-BR" sz="1200" b="1" i="1" baseline="-25000">
                  <a:solidFill>
                    <a:srgbClr val="0000CC"/>
                  </a:solidFill>
                </a:rPr>
                <a:t> </a:t>
              </a:r>
              <a:r>
                <a:rPr lang="pt-BR" sz="1600" b="1" i="1">
                  <a:solidFill>
                    <a:srgbClr val="0000CC"/>
                  </a:solidFill>
                </a:rPr>
                <a:t>f</a:t>
              </a:r>
              <a:r>
                <a:rPr lang="pt-BR" sz="1600" b="1" i="1" baseline="-25000">
                  <a:solidFill>
                    <a:srgbClr val="0000CC"/>
                  </a:solidFill>
                </a:rPr>
                <a:t>c</a:t>
              </a:r>
              <a:endParaRPr lang="pt-BR" sz="1600" b="1" i="1">
                <a:solidFill>
                  <a:srgbClr val="0000CC"/>
                </a:solidFill>
              </a:endParaRPr>
            </a:p>
          </p:txBody>
        </p:sp>
        <p:sp>
          <p:nvSpPr>
            <p:cNvPr id="907295" name="Text Box 31"/>
            <p:cNvSpPr txBox="1">
              <a:spLocks noChangeArrowheads="1"/>
            </p:cNvSpPr>
            <p:nvPr/>
          </p:nvSpPr>
          <p:spPr bwMode="auto">
            <a:xfrm>
              <a:off x="5336" y="3458"/>
              <a:ext cx="26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 i="1">
                  <a:solidFill>
                    <a:srgbClr val="0000CC"/>
                  </a:solidFill>
                </a:rPr>
                <a:t>f  </a:t>
              </a:r>
              <a:r>
                <a:rPr lang="pt-BR" sz="1600" b="1">
                  <a:solidFill>
                    <a:srgbClr val="0000CC"/>
                  </a:solidFill>
                  <a:sym typeface="Symbol" pitchFamily="18" charset="2"/>
                </a:rPr>
                <a:t></a:t>
              </a:r>
              <a:endParaRPr lang="pt-BR" sz="1600" b="1" i="1">
                <a:solidFill>
                  <a:srgbClr val="0000CC"/>
                </a:solidFill>
              </a:endParaRPr>
            </a:p>
          </p:txBody>
        </p:sp>
        <p:sp>
          <p:nvSpPr>
            <p:cNvPr id="907296" name="Text Box 32"/>
            <p:cNvSpPr txBox="1">
              <a:spLocks noChangeArrowheads="1"/>
            </p:cNvSpPr>
            <p:nvPr/>
          </p:nvSpPr>
          <p:spPr bwMode="auto">
            <a:xfrm>
              <a:off x="4527" y="3458"/>
              <a:ext cx="11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 i="1">
                  <a:solidFill>
                    <a:srgbClr val="0000CC"/>
                  </a:solidFill>
                </a:rPr>
                <a:t>f</a:t>
              </a:r>
              <a:r>
                <a:rPr lang="pt-BR" sz="1600" b="1" i="1" baseline="-25000">
                  <a:solidFill>
                    <a:srgbClr val="0000CC"/>
                  </a:solidFill>
                </a:rPr>
                <a:t>c</a:t>
              </a:r>
              <a:endParaRPr lang="pt-BR" sz="1600" b="1" i="1">
                <a:solidFill>
                  <a:srgbClr val="0000CC"/>
                </a:solidFill>
              </a:endParaRPr>
            </a:p>
          </p:txBody>
        </p:sp>
        <p:sp>
          <p:nvSpPr>
            <p:cNvPr id="907297" name="Line 33"/>
            <p:cNvSpPr>
              <a:spLocks noChangeShapeType="1"/>
            </p:cNvSpPr>
            <p:nvPr/>
          </p:nvSpPr>
          <p:spPr bwMode="auto">
            <a:xfrm flipV="1">
              <a:off x="1120" y="3389"/>
              <a:ext cx="0" cy="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298" name="Text Box 34"/>
            <p:cNvSpPr txBox="1">
              <a:spLocks noChangeArrowheads="1"/>
            </p:cNvSpPr>
            <p:nvPr/>
          </p:nvSpPr>
          <p:spPr bwMode="auto">
            <a:xfrm>
              <a:off x="2808" y="3458"/>
              <a:ext cx="9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>
                  <a:solidFill>
                    <a:srgbClr val="0000CC"/>
                  </a:solidFill>
                </a:rPr>
                <a:t>0</a:t>
              </a:r>
              <a:endParaRPr lang="pt-BR" sz="1600" b="1" i="1">
                <a:solidFill>
                  <a:srgbClr val="0000CC"/>
                </a:solidFill>
              </a:endParaRPr>
            </a:p>
          </p:txBody>
        </p:sp>
        <p:sp>
          <p:nvSpPr>
            <p:cNvPr id="907299" name="Text Box 35"/>
            <p:cNvSpPr txBox="1">
              <a:spLocks noChangeArrowheads="1"/>
            </p:cNvSpPr>
            <p:nvPr/>
          </p:nvSpPr>
          <p:spPr bwMode="auto">
            <a:xfrm>
              <a:off x="2472" y="2329"/>
              <a:ext cx="38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 i="1">
                  <a:solidFill>
                    <a:srgbClr val="0000CC"/>
                  </a:solidFill>
                </a:rPr>
                <a:t>S</a:t>
              </a:r>
              <a:r>
                <a:rPr lang="pt-BR" sz="1600" b="1">
                  <a:solidFill>
                    <a:srgbClr val="0000CC"/>
                  </a:solidFill>
                </a:rPr>
                <a:t>( </a:t>
              </a:r>
              <a:r>
                <a:rPr lang="pt-BR" sz="1600" b="1" i="1">
                  <a:solidFill>
                    <a:srgbClr val="0000CC"/>
                  </a:solidFill>
                </a:rPr>
                <a:t>f </a:t>
              </a:r>
              <a:r>
                <a:rPr lang="pt-BR" sz="1600" b="1">
                  <a:solidFill>
                    <a:srgbClr val="0000CC"/>
                  </a:solidFill>
                </a:rPr>
                <a:t>)</a:t>
              </a:r>
              <a:r>
                <a:rPr lang="pt-BR" sz="1600" b="1" i="1">
                  <a:solidFill>
                    <a:srgbClr val="0000CC"/>
                  </a:solidFill>
                </a:rPr>
                <a:t>  </a:t>
              </a:r>
            </a:p>
          </p:txBody>
        </p:sp>
        <p:sp>
          <p:nvSpPr>
            <p:cNvPr id="907300" name="Freeform 36" descr="80%"/>
            <p:cNvSpPr>
              <a:spLocks/>
            </p:cNvSpPr>
            <p:nvPr/>
          </p:nvSpPr>
          <p:spPr bwMode="auto">
            <a:xfrm>
              <a:off x="4555" y="2871"/>
              <a:ext cx="549" cy="565"/>
            </a:xfrm>
            <a:custGeom>
              <a:avLst/>
              <a:gdLst/>
              <a:ahLst/>
              <a:cxnLst>
                <a:cxn ang="0">
                  <a:pos x="29" y="671"/>
                </a:cxn>
                <a:cxn ang="0">
                  <a:pos x="29" y="575"/>
                </a:cxn>
                <a:cxn ang="0">
                  <a:pos x="29" y="89"/>
                </a:cxn>
                <a:cxn ang="0">
                  <a:pos x="29" y="41"/>
                </a:cxn>
                <a:cxn ang="0">
                  <a:pos x="29" y="5"/>
                </a:cxn>
                <a:cxn ang="0">
                  <a:pos x="80" y="20"/>
                </a:cxn>
                <a:cxn ang="0">
                  <a:pos x="167" y="77"/>
                </a:cxn>
                <a:cxn ang="0">
                  <a:pos x="266" y="191"/>
                </a:cxn>
                <a:cxn ang="0">
                  <a:pos x="362" y="329"/>
                </a:cxn>
                <a:cxn ang="0">
                  <a:pos x="431" y="452"/>
                </a:cxn>
                <a:cxn ang="0">
                  <a:pos x="467" y="518"/>
                </a:cxn>
                <a:cxn ang="0">
                  <a:pos x="545" y="662"/>
                </a:cxn>
                <a:cxn ang="0">
                  <a:pos x="494" y="668"/>
                </a:cxn>
                <a:cxn ang="0">
                  <a:pos x="380" y="671"/>
                </a:cxn>
                <a:cxn ang="0">
                  <a:pos x="203" y="671"/>
                </a:cxn>
                <a:cxn ang="0">
                  <a:pos x="29" y="671"/>
                </a:cxn>
              </a:cxnLst>
              <a:rect l="0" t="0" r="r" b="b"/>
              <a:pathLst>
                <a:path w="549" h="687">
                  <a:moveTo>
                    <a:pt x="29" y="671"/>
                  </a:moveTo>
                  <a:cubicBezTo>
                    <a:pt x="0" y="655"/>
                    <a:pt x="29" y="672"/>
                    <a:pt x="29" y="575"/>
                  </a:cubicBezTo>
                  <a:cubicBezTo>
                    <a:pt x="29" y="478"/>
                    <a:pt x="29" y="178"/>
                    <a:pt x="29" y="89"/>
                  </a:cubicBezTo>
                  <a:cubicBezTo>
                    <a:pt x="29" y="0"/>
                    <a:pt x="29" y="55"/>
                    <a:pt x="29" y="41"/>
                  </a:cubicBezTo>
                  <a:cubicBezTo>
                    <a:pt x="29" y="27"/>
                    <a:pt x="21" y="8"/>
                    <a:pt x="29" y="5"/>
                  </a:cubicBezTo>
                  <a:cubicBezTo>
                    <a:pt x="37" y="2"/>
                    <a:pt x="57" y="8"/>
                    <a:pt x="80" y="20"/>
                  </a:cubicBezTo>
                  <a:cubicBezTo>
                    <a:pt x="103" y="32"/>
                    <a:pt x="136" y="49"/>
                    <a:pt x="167" y="77"/>
                  </a:cubicBezTo>
                  <a:cubicBezTo>
                    <a:pt x="198" y="105"/>
                    <a:pt x="234" y="149"/>
                    <a:pt x="266" y="191"/>
                  </a:cubicBezTo>
                  <a:cubicBezTo>
                    <a:pt x="298" y="233"/>
                    <a:pt x="335" y="286"/>
                    <a:pt x="362" y="329"/>
                  </a:cubicBezTo>
                  <a:cubicBezTo>
                    <a:pt x="389" y="372"/>
                    <a:pt x="414" y="421"/>
                    <a:pt x="431" y="452"/>
                  </a:cubicBezTo>
                  <a:cubicBezTo>
                    <a:pt x="448" y="483"/>
                    <a:pt x="448" y="483"/>
                    <a:pt x="467" y="518"/>
                  </a:cubicBezTo>
                  <a:cubicBezTo>
                    <a:pt x="486" y="553"/>
                    <a:pt x="541" y="637"/>
                    <a:pt x="545" y="662"/>
                  </a:cubicBezTo>
                  <a:cubicBezTo>
                    <a:pt x="549" y="687"/>
                    <a:pt x="521" y="667"/>
                    <a:pt x="494" y="668"/>
                  </a:cubicBezTo>
                  <a:cubicBezTo>
                    <a:pt x="467" y="669"/>
                    <a:pt x="428" y="671"/>
                    <a:pt x="380" y="671"/>
                  </a:cubicBezTo>
                  <a:cubicBezTo>
                    <a:pt x="332" y="671"/>
                    <a:pt x="261" y="671"/>
                    <a:pt x="203" y="671"/>
                  </a:cubicBezTo>
                  <a:cubicBezTo>
                    <a:pt x="145" y="671"/>
                    <a:pt x="58" y="687"/>
                    <a:pt x="29" y="671"/>
                  </a:cubicBezTo>
                  <a:close/>
                </a:path>
              </a:pathLst>
            </a:custGeom>
            <a:pattFill prst="pct80">
              <a:fgClr>
                <a:schemeClr val="accent1"/>
              </a:fgClr>
              <a:bgClr>
                <a:schemeClr val="bg1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301" name="Line 37"/>
            <p:cNvSpPr>
              <a:spLocks noChangeShapeType="1"/>
            </p:cNvSpPr>
            <p:nvPr/>
          </p:nvSpPr>
          <p:spPr bwMode="auto">
            <a:xfrm>
              <a:off x="286" y="3423"/>
              <a:ext cx="276" cy="3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302" name="Line 38"/>
            <p:cNvSpPr>
              <a:spLocks noChangeShapeType="1"/>
            </p:cNvSpPr>
            <p:nvPr/>
          </p:nvSpPr>
          <p:spPr bwMode="auto">
            <a:xfrm>
              <a:off x="1660" y="3424"/>
              <a:ext cx="2362" cy="0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303" name="Line 39"/>
            <p:cNvSpPr>
              <a:spLocks noChangeShapeType="1"/>
            </p:cNvSpPr>
            <p:nvPr/>
          </p:nvSpPr>
          <p:spPr bwMode="auto">
            <a:xfrm>
              <a:off x="5128" y="3424"/>
              <a:ext cx="358" cy="0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304" name="Line 40"/>
            <p:cNvSpPr>
              <a:spLocks noChangeShapeType="1"/>
            </p:cNvSpPr>
            <p:nvPr/>
          </p:nvSpPr>
          <p:spPr bwMode="auto">
            <a:xfrm>
              <a:off x="4014" y="3487"/>
              <a:ext cx="0" cy="2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305" name="Line 41"/>
            <p:cNvSpPr>
              <a:spLocks noChangeShapeType="1"/>
            </p:cNvSpPr>
            <p:nvPr/>
          </p:nvSpPr>
          <p:spPr bwMode="auto">
            <a:xfrm>
              <a:off x="5130" y="3487"/>
              <a:ext cx="0" cy="2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306" name="Line 42"/>
            <p:cNvSpPr>
              <a:spLocks noChangeShapeType="1"/>
            </p:cNvSpPr>
            <p:nvPr/>
          </p:nvSpPr>
          <p:spPr bwMode="auto">
            <a:xfrm flipV="1">
              <a:off x="4692" y="3701"/>
              <a:ext cx="43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307" name="Text Box 43"/>
            <p:cNvSpPr txBox="1">
              <a:spLocks noChangeArrowheads="1"/>
            </p:cNvSpPr>
            <p:nvPr/>
          </p:nvSpPr>
          <p:spPr bwMode="auto">
            <a:xfrm>
              <a:off x="4450" y="3622"/>
              <a:ext cx="24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>
                  <a:solidFill>
                    <a:srgbClr val="0000CC"/>
                  </a:solidFill>
                </a:rPr>
                <a:t>2</a:t>
              </a:r>
              <a:r>
                <a:rPr lang="pt-BR" sz="1600" b="1" i="1">
                  <a:solidFill>
                    <a:srgbClr val="0000CC"/>
                  </a:solidFill>
                </a:rPr>
                <a:t>B</a:t>
              </a:r>
              <a:r>
                <a:rPr lang="pt-BR" sz="1600" b="1" i="1" baseline="-25000">
                  <a:solidFill>
                    <a:srgbClr val="0000CC"/>
                  </a:solidFill>
                </a:rPr>
                <a:t>m</a:t>
              </a:r>
              <a:endParaRPr lang="pt-BR" sz="1600" b="1" i="1">
                <a:solidFill>
                  <a:srgbClr val="0000CC"/>
                </a:solidFill>
              </a:endParaRPr>
            </a:p>
          </p:txBody>
        </p:sp>
        <p:sp>
          <p:nvSpPr>
            <p:cNvPr id="907308" name="Line 44"/>
            <p:cNvSpPr>
              <a:spLocks noChangeShapeType="1"/>
            </p:cNvSpPr>
            <p:nvPr/>
          </p:nvSpPr>
          <p:spPr bwMode="auto">
            <a:xfrm>
              <a:off x="552" y="3481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309" name="Line 45"/>
            <p:cNvSpPr>
              <a:spLocks noChangeShapeType="1"/>
            </p:cNvSpPr>
            <p:nvPr/>
          </p:nvSpPr>
          <p:spPr bwMode="auto">
            <a:xfrm>
              <a:off x="1668" y="3481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310" name="Text Box 46"/>
            <p:cNvSpPr txBox="1">
              <a:spLocks noChangeArrowheads="1"/>
            </p:cNvSpPr>
            <p:nvPr/>
          </p:nvSpPr>
          <p:spPr bwMode="auto">
            <a:xfrm>
              <a:off x="994" y="3619"/>
              <a:ext cx="24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>
                  <a:solidFill>
                    <a:srgbClr val="0000CC"/>
                  </a:solidFill>
                </a:rPr>
                <a:t>2</a:t>
              </a:r>
              <a:r>
                <a:rPr lang="pt-BR" sz="1600" b="1" i="1">
                  <a:solidFill>
                    <a:srgbClr val="0000CC"/>
                  </a:solidFill>
                </a:rPr>
                <a:t>B</a:t>
              </a:r>
              <a:r>
                <a:rPr lang="pt-BR" sz="1600" b="1" i="1" baseline="-25000">
                  <a:solidFill>
                    <a:srgbClr val="0000CC"/>
                  </a:solidFill>
                </a:rPr>
                <a:t>m</a:t>
              </a:r>
              <a:endParaRPr lang="pt-BR" sz="1600" b="1" i="1">
                <a:solidFill>
                  <a:srgbClr val="0000CC"/>
                </a:solidFill>
              </a:endParaRPr>
            </a:p>
          </p:txBody>
        </p:sp>
        <p:sp>
          <p:nvSpPr>
            <p:cNvPr id="907311" name="Line 47"/>
            <p:cNvSpPr>
              <a:spLocks noChangeShapeType="1"/>
            </p:cNvSpPr>
            <p:nvPr/>
          </p:nvSpPr>
          <p:spPr bwMode="auto">
            <a:xfrm flipV="1">
              <a:off x="2848" y="2368"/>
              <a:ext cx="5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312" name="Text Box 48"/>
            <p:cNvSpPr txBox="1">
              <a:spLocks noChangeArrowheads="1"/>
            </p:cNvSpPr>
            <p:nvPr/>
          </p:nvSpPr>
          <p:spPr bwMode="auto">
            <a:xfrm>
              <a:off x="1704" y="2897"/>
              <a:ext cx="386" cy="4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pt-BR" sz="1600" b="1">
                  <a:solidFill>
                    <a:srgbClr val="0000CC"/>
                  </a:solidFill>
                  <a:latin typeface="Arial Narrow" pitchFamily="34" charset="0"/>
                </a:rPr>
                <a:t>Banda lateral inferior</a:t>
              </a:r>
              <a:r>
                <a:rPr lang="pt-BR" sz="1600" b="1" i="1">
                  <a:solidFill>
                    <a:srgbClr val="0000CC"/>
                  </a:solidFill>
                </a:rPr>
                <a:t>  </a:t>
              </a:r>
            </a:p>
          </p:txBody>
        </p:sp>
        <p:sp>
          <p:nvSpPr>
            <p:cNvPr id="907313" name="Line 49"/>
            <p:cNvSpPr>
              <a:spLocks noChangeShapeType="1"/>
            </p:cNvSpPr>
            <p:nvPr/>
          </p:nvSpPr>
          <p:spPr bwMode="auto">
            <a:xfrm flipH="1">
              <a:off x="1356" y="3096"/>
              <a:ext cx="348" cy="136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stealth" w="sm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314" name="Text Box 50"/>
            <p:cNvSpPr txBox="1">
              <a:spLocks noChangeArrowheads="1"/>
            </p:cNvSpPr>
            <p:nvPr/>
          </p:nvSpPr>
          <p:spPr bwMode="auto">
            <a:xfrm>
              <a:off x="5136" y="2896"/>
              <a:ext cx="446" cy="4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pt-BR" sz="1600" b="1">
                  <a:solidFill>
                    <a:srgbClr val="0000CC"/>
                  </a:solidFill>
                  <a:latin typeface="Arial Narrow" pitchFamily="34" charset="0"/>
                </a:rPr>
                <a:t>Banda lateral superior</a:t>
              </a:r>
              <a:r>
                <a:rPr lang="pt-BR" sz="1600" b="1" i="1">
                  <a:solidFill>
                    <a:srgbClr val="0000CC"/>
                  </a:solidFill>
                </a:rPr>
                <a:t>  </a:t>
              </a:r>
            </a:p>
          </p:txBody>
        </p:sp>
        <p:sp>
          <p:nvSpPr>
            <p:cNvPr id="907315" name="Text Box 51"/>
            <p:cNvSpPr txBox="1">
              <a:spLocks noChangeArrowheads="1"/>
            </p:cNvSpPr>
            <p:nvPr/>
          </p:nvSpPr>
          <p:spPr bwMode="auto">
            <a:xfrm flipH="1">
              <a:off x="3606" y="2896"/>
              <a:ext cx="386" cy="4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pt-BR" sz="1600" b="1">
                  <a:solidFill>
                    <a:srgbClr val="0000CC"/>
                  </a:solidFill>
                  <a:latin typeface="Arial Narrow" pitchFamily="34" charset="0"/>
                </a:rPr>
                <a:t>Banda lateral inferior</a:t>
              </a:r>
              <a:r>
                <a:rPr lang="pt-BR" sz="1600" b="1" i="1">
                  <a:solidFill>
                    <a:srgbClr val="0000CC"/>
                  </a:solidFill>
                </a:rPr>
                <a:t>  </a:t>
              </a:r>
            </a:p>
          </p:txBody>
        </p:sp>
        <p:sp>
          <p:nvSpPr>
            <p:cNvPr id="907316" name="Text Box 52"/>
            <p:cNvSpPr txBox="1">
              <a:spLocks noChangeArrowheads="1"/>
            </p:cNvSpPr>
            <p:nvPr/>
          </p:nvSpPr>
          <p:spPr bwMode="auto">
            <a:xfrm flipH="1">
              <a:off x="132" y="2896"/>
              <a:ext cx="446" cy="4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pt-BR" sz="1600" b="1">
                  <a:solidFill>
                    <a:srgbClr val="0000CC"/>
                  </a:solidFill>
                  <a:latin typeface="Arial Narrow" pitchFamily="34" charset="0"/>
                </a:rPr>
                <a:t>Banda lateral superior</a:t>
              </a:r>
              <a:r>
                <a:rPr lang="pt-BR" sz="1600" b="1" i="1">
                  <a:solidFill>
                    <a:srgbClr val="0000CC"/>
                  </a:solidFill>
                </a:rPr>
                <a:t>  </a:t>
              </a:r>
            </a:p>
          </p:txBody>
        </p:sp>
        <p:sp>
          <p:nvSpPr>
            <p:cNvPr id="907317" name="Line 53"/>
            <p:cNvSpPr>
              <a:spLocks noChangeShapeType="1"/>
            </p:cNvSpPr>
            <p:nvPr/>
          </p:nvSpPr>
          <p:spPr bwMode="auto">
            <a:xfrm>
              <a:off x="548" y="3137"/>
              <a:ext cx="312" cy="83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stealth" w="sm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318" name="Line 54"/>
            <p:cNvSpPr>
              <a:spLocks noChangeShapeType="1"/>
            </p:cNvSpPr>
            <p:nvPr/>
          </p:nvSpPr>
          <p:spPr bwMode="auto">
            <a:xfrm>
              <a:off x="2850" y="2855"/>
              <a:ext cx="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319" name="Line 55"/>
            <p:cNvSpPr>
              <a:spLocks noChangeShapeType="1"/>
            </p:cNvSpPr>
            <p:nvPr/>
          </p:nvSpPr>
          <p:spPr bwMode="auto">
            <a:xfrm>
              <a:off x="1104" y="2856"/>
              <a:ext cx="34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320" name="Line 56"/>
            <p:cNvSpPr>
              <a:spLocks noChangeShapeType="1"/>
            </p:cNvSpPr>
            <p:nvPr/>
          </p:nvSpPr>
          <p:spPr bwMode="auto">
            <a:xfrm flipV="1">
              <a:off x="4576" y="3389"/>
              <a:ext cx="0" cy="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321" name="Line 57"/>
            <p:cNvSpPr>
              <a:spLocks noChangeShapeType="1"/>
            </p:cNvSpPr>
            <p:nvPr/>
          </p:nvSpPr>
          <p:spPr bwMode="auto">
            <a:xfrm flipV="1">
              <a:off x="266" y="3430"/>
              <a:ext cx="53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322" name="Line 58"/>
            <p:cNvSpPr>
              <a:spLocks noChangeShapeType="1"/>
            </p:cNvSpPr>
            <p:nvPr/>
          </p:nvSpPr>
          <p:spPr bwMode="auto">
            <a:xfrm flipH="1">
              <a:off x="4812" y="3132"/>
              <a:ext cx="348" cy="136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stealth" w="sm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323" name="Line 59"/>
            <p:cNvSpPr>
              <a:spLocks noChangeShapeType="1"/>
            </p:cNvSpPr>
            <p:nvPr/>
          </p:nvSpPr>
          <p:spPr bwMode="auto">
            <a:xfrm>
              <a:off x="3992" y="3137"/>
              <a:ext cx="324" cy="119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stealth" w="sm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324" name="Line 60"/>
            <p:cNvSpPr>
              <a:spLocks noChangeShapeType="1"/>
            </p:cNvSpPr>
            <p:nvPr/>
          </p:nvSpPr>
          <p:spPr bwMode="auto">
            <a:xfrm flipV="1">
              <a:off x="4584" y="2568"/>
              <a:ext cx="0" cy="86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325" name="Line 61"/>
            <p:cNvSpPr>
              <a:spLocks noChangeShapeType="1"/>
            </p:cNvSpPr>
            <p:nvPr/>
          </p:nvSpPr>
          <p:spPr bwMode="auto">
            <a:xfrm flipV="1">
              <a:off x="1122" y="2564"/>
              <a:ext cx="0" cy="86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07326" name="Text Box 62"/>
            <p:cNvSpPr txBox="1">
              <a:spLocks noChangeArrowheads="1"/>
            </p:cNvSpPr>
            <p:nvPr/>
          </p:nvSpPr>
          <p:spPr bwMode="auto">
            <a:xfrm>
              <a:off x="1200" y="2576"/>
              <a:ext cx="253" cy="15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 i="1">
                  <a:solidFill>
                    <a:srgbClr val="0000CC"/>
                  </a:solidFill>
                </a:rPr>
                <a:t>A</a:t>
              </a:r>
              <a:r>
                <a:rPr lang="pt-BR" sz="1600" b="1" i="1" baseline="-25000">
                  <a:solidFill>
                    <a:srgbClr val="0000CC"/>
                  </a:solidFill>
                </a:rPr>
                <a:t>c</a:t>
              </a:r>
              <a:r>
                <a:rPr lang="pt-BR" sz="1000" b="1" i="1">
                  <a:solidFill>
                    <a:srgbClr val="0000CC"/>
                  </a:solidFill>
                </a:rPr>
                <a:t> </a:t>
              </a:r>
              <a:r>
                <a:rPr lang="pt-BR" sz="1600" b="1">
                  <a:solidFill>
                    <a:srgbClr val="0000CC"/>
                  </a:solidFill>
                </a:rPr>
                <a:t>/2</a:t>
              </a:r>
              <a:endParaRPr lang="pt-BR" sz="1600" b="1" i="1">
                <a:solidFill>
                  <a:srgbClr val="0000CC"/>
                </a:solidFill>
              </a:endParaRPr>
            </a:p>
          </p:txBody>
        </p:sp>
        <p:sp>
          <p:nvSpPr>
            <p:cNvPr id="907327" name="Text Box 63"/>
            <p:cNvSpPr txBox="1">
              <a:spLocks noChangeArrowheads="1"/>
            </p:cNvSpPr>
            <p:nvPr/>
          </p:nvSpPr>
          <p:spPr bwMode="auto">
            <a:xfrm>
              <a:off x="4660" y="2576"/>
              <a:ext cx="253" cy="15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 i="1">
                  <a:solidFill>
                    <a:srgbClr val="0000CC"/>
                  </a:solidFill>
                </a:rPr>
                <a:t>A</a:t>
              </a:r>
              <a:r>
                <a:rPr lang="pt-BR" sz="1600" b="1" i="1" baseline="-25000">
                  <a:solidFill>
                    <a:srgbClr val="0000CC"/>
                  </a:solidFill>
                </a:rPr>
                <a:t>c</a:t>
              </a:r>
              <a:r>
                <a:rPr lang="pt-BR" sz="1000" b="1" i="1">
                  <a:solidFill>
                    <a:srgbClr val="0000CC"/>
                  </a:solidFill>
                </a:rPr>
                <a:t> </a:t>
              </a:r>
              <a:r>
                <a:rPr lang="pt-BR" sz="1600" b="1">
                  <a:solidFill>
                    <a:srgbClr val="0000CC"/>
                  </a:solidFill>
                </a:rPr>
                <a:t>/2</a:t>
              </a:r>
              <a:endParaRPr lang="pt-BR" sz="1600" b="1" i="1">
                <a:solidFill>
                  <a:srgbClr val="0000CC"/>
                </a:solidFill>
              </a:endParaRPr>
            </a:p>
          </p:txBody>
        </p:sp>
        <p:graphicFrame>
          <p:nvGraphicFramePr>
            <p:cNvPr id="907328" name="Object 64"/>
            <p:cNvGraphicFramePr>
              <a:graphicFrameLocks noChangeAspect="1"/>
            </p:cNvGraphicFramePr>
            <p:nvPr/>
          </p:nvGraphicFramePr>
          <p:xfrm>
            <a:off x="2461" y="2670"/>
            <a:ext cx="372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19040" imgH="228600" progId="Equation.3">
                    <p:embed/>
                  </p:oleObj>
                </mc:Choice>
                <mc:Fallback>
                  <p:oleObj name="Equation" r:id="rId3" imgW="419040" imgH="228600" progId="Equation.3">
                    <p:embed/>
                    <p:pic>
                      <p:nvPicPr>
                        <p:cNvPr id="907328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1" y="2670"/>
                          <a:ext cx="372" cy="2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07329" name="Object 65"/>
          <p:cNvGraphicFramePr>
            <a:graphicFrameLocks noChangeAspect="1"/>
          </p:cNvGraphicFramePr>
          <p:nvPr/>
        </p:nvGraphicFramePr>
        <p:xfrm>
          <a:off x="1849439" y="1046164"/>
          <a:ext cx="849153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14800" imgH="368280" progId="Equation.3">
                  <p:embed/>
                </p:oleObj>
              </mc:Choice>
              <mc:Fallback>
                <p:oleObj name="Equation" r:id="rId5" imgW="4114800" imgH="368280" progId="Equation.3">
                  <p:embed/>
                  <p:pic>
                    <p:nvPicPr>
                      <p:cNvPr id="907329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593" t="-7561" r="-1593" b="-7561"/>
                      <a:stretch>
                        <a:fillRect/>
                      </a:stretch>
                    </p:blipFill>
                    <p:spPr bwMode="auto">
                      <a:xfrm>
                        <a:off x="1849439" y="1046164"/>
                        <a:ext cx="8491537" cy="8477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>
                        <a:outerShdw dist="53882" dir="2700000" algn="ctr" rotWithShape="0">
                          <a:srgbClr val="C0C0C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961251-C96B-3626-DCAB-A11F12828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 SSB/VSB</a:t>
            </a:r>
          </a:p>
        </p:txBody>
      </p:sp>
    </p:spTree>
    <p:extLst>
      <p:ext uri="{BB962C8B-B14F-4D97-AF65-F5344CB8AC3E}">
        <p14:creationId xmlns:p14="http://schemas.microsoft.com/office/powerpoint/2010/main" val="3851201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EB7330-FD0A-5B21-6C67-9C85881B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Sinal DSB</a:t>
            </a:r>
            <a:br>
              <a:rPr lang="pt-BR" dirty="0"/>
            </a:br>
            <a:r>
              <a:rPr lang="pt-BR" dirty="0"/>
              <a:t>Double </a:t>
            </a:r>
            <a:r>
              <a:rPr lang="pt-BR" dirty="0" err="1"/>
              <a:t>Side</a:t>
            </a:r>
            <a:r>
              <a:rPr lang="pt-BR" dirty="0"/>
              <a:t> Band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3C61950-8226-6223-7A2F-E82F989169F6}"/>
              </a:ext>
            </a:extLst>
          </p:cNvPr>
          <p:cNvGrpSpPr>
            <a:grpSpLocks/>
          </p:cNvGrpSpPr>
          <p:nvPr/>
        </p:nvGrpSpPr>
        <p:grpSpPr bwMode="auto">
          <a:xfrm>
            <a:off x="1858962" y="1276350"/>
            <a:ext cx="8474075" cy="1335088"/>
            <a:chOff x="266" y="1836"/>
            <a:chExt cx="5338" cy="84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FEDFB99-1CC6-CD77-BAA6-FA39E0CB4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7" y="2028"/>
              <a:ext cx="1122" cy="479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288" y="0"/>
                </a:cxn>
                <a:cxn ang="0">
                  <a:pos x="576" y="432"/>
                </a:cxn>
              </a:cxnLst>
              <a:rect l="0" t="0" r="r" b="b"/>
              <a:pathLst>
                <a:path w="576" h="432">
                  <a:moveTo>
                    <a:pt x="0" y="432"/>
                  </a:moveTo>
                  <a:cubicBezTo>
                    <a:pt x="96" y="216"/>
                    <a:pt x="192" y="0"/>
                    <a:pt x="288" y="0"/>
                  </a:cubicBezTo>
                  <a:cubicBezTo>
                    <a:pt x="384" y="0"/>
                    <a:pt x="480" y="216"/>
                    <a:pt x="576" y="432"/>
                  </a:cubicBezTo>
                </a:path>
              </a:pathLst>
            </a:custGeom>
            <a:solidFill>
              <a:srgbClr val="FFCCCC"/>
            </a:solidFill>
            <a:ln w="57150" cmpd="sng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DD70C9BB-6898-6201-C4AD-0A67CD222A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" y="2513"/>
              <a:ext cx="53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D21F64FA-ADA3-9441-DB75-2401F54571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6" y="2523"/>
              <a:ext cx="26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f  </a:t>
              </a:r>
              <a:r>
                <a:rPr lang="pt-BR" sz="1600">
                  <a:solidFill>
                    <a:srgbClr val="0000CC"/>
                  </a:solidFill>
                  <a:latin typeface="Times New Roman" pitchFamily="18" charset="0"/>
                  <a:sym typeface="Symbol" pitchFamily="18" charset="2"/>
                </a:rPr>
                <a:t></a:t>
              </a:r>
              <a:endParaRPr lang="pt-BR" sz="1600" i="1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81FF20CF-BA3F-6CF6-A389-1507614781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7" y="2523"/>
              <a:ext cx="11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f</a:t>
              </a:r>
              <a:r>
                <a:rPr lang="pt-BR" sz="1600" i="1" baseline="-25000">
                  <a:solidFill>
                    <a:srgbClr val="0000CC"/>
                  </a:solidFill>
                  <a:latin typeface="Times New Roman" pitchFamily="18" charset="0"/>
                </a:rPr>
                <a:t>c</a:t>
              </a:r>
              <a:endParaRPr lang="pt-BR" sz="1600" i="1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86C084D7-1276-5E86-548E-7D1701CD2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8" y="2523"/>
              <a:ext cx="176" cy="154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-f</a:t>
              </a:r>
              <a:r>
                <a:rPr lang="pt-BR" sz="1600" i="1" baseline="-25000">
                  <a:solidFill>
                    <a:srgbClr val="0000CC"/>
                  </a:solidFill>
                  <a:latin typeface="Times New Roman" pitchFamily="18" charset="0"/>
                </a:rPr>
                <a:t>c</a:t>
              </a:r>
              <a:endParaRPr lang="pt-BR" sz="1600" i="1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EEA0FD57-D952-5A43-FDCA-4DAB06E6A6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0" y="2473"/>
              <a:ext cx="0" cy="29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15461466-5ADF-75B8-DC17-742168D571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6" y="2473"/>
              <a:ext cx="0" cy="29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A0330C53-C902-B715-84EE-BB35DAACCC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" y="2502"/>
              <a:ext cx="2010" cy="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CABD1E03-E055-4607-FF6F-8A3F8EA883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4" y="2502"/>
              <a:ext cx="2116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3F5322B8-C629-8D4F-E3D5-E346C6CD28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8" y="2523"/>
              <a:ext cx="9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>
                  <a:solidFill>
                    <a:srgbClr val="0000CC"/>
                  </a:solidFill>
                  <a:latin typeface="Times New Roman" pitchFamily="18" charset="0"/>
                </a:rPr>
                <a:t>0</a:t>
              </a:r>
              <a:endParaRPr lang="pt-BR" sz="1600" i="1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4D831C1F-F8C5-4272-13AC-43A8EF63C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0" y="2523"/>
              <a:ext cx="20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B</a:t>
              </a:r>
              <a:r>
                <a:rPr lang="pt-BR" sz="1600" i="1" baseline="-25000">
                  <a:solidFill>
                    <a:srgbClr val="0000CC"/>
                  </a:solidFill>
                  <a:latin typeface="Times New Roman" pitchFamily="18" charset="0"/>
                </a:rPr>
                <a:t>m</a:t>
              </a:r>
              <a:endParaRPr lang="pt-BR" sz="1600" i="1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00BBF9B1-2533-47DB-8ACC-1FA93B127E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4" y="2523"/>
              <a:ext cx="19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-B</a:t>
              </a:r>
              <a:r>
                <a:rPr lang="pt-BR" sz="1600" i="1" baseline="-25000">
                  <a:solidFill>
                    <a:srgbClr val="0000CC"/>
                  </a:solidFill>
                  <a:latin typeface="Times New Roman" pitchFamily="18" charset="0"/>
                </a:rPr>
                <a:t>m</a:t>
              </a:r>
              <a:endParaRPr lang="pt-BR" sz="1600" i="1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0A02CEE2-918C-27A7-AF52-B13DC58A9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8" y="1836"/>
              <a:ext cx="38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M</a:t>
              </a:r>
              <a:r>
                <a:rPr lang="pt-BR" sz="1600">
                  <a:solidFill>
                    <a:srgbClr val="0000CC"/>
                  </a:solidFill>
                  <a:latin typeface="Times New Roman" pitchFamily="18" charset="0"/>
                </a:rPr>
                <a:t>( </a:t>
              </a: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f </a:t>
              </a:r>
              <a:r>
                <a:rPr lang="pt-BR" sz="1600">
                  <a:solidFill>
                    <a:srgbClr val="0000CC"/>
                  </a:solidFill>
                  <a:latin typeface="Times New Roman" pitchFamily="18" charset="0"/>
                </a:rPr>
                <a:t>)</a:t>
              </a: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  </a:t>
              </a: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C790A33C-769E-6DC6-E214-074201270D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8" y="1863"/>
              <a:ext cx="1" cy="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2CD32765-14E4-55B2-1BE8-D859938C4F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7" y="2029"/>
              <a:ext cx="48" cy="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9" name="Line 19">
            <a:extLst>
              <a:ext uri="{FF2B5EF4-FFF2-40B4-BE49-F238E27FC236}">
                <a16:creationId xmlns:a16="http://schemas.microsoft.com/office/drawing/2014/main" id="{3F71772E-5A36-ACC0-8419-1EA9D5897543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2311399" y="4821239"/>
            <a:ext cx="69056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AEB498E9-4E62-2DF0-537C-9A22A1CC8C1D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3392487" y="4821239"/>
            <a:ext cx="690563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9A9DF2F2-E5CE-2C90-97B6-70BDFD6A9701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7804149" y="4827589"/>
            <a:ext cx="69056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3A8DF9E-258B-35FE-7583-9F67C4BA94D8}"/>
              </a:ext>
            </a:extLst>
          </p:cNvPr>
          <p:cNvGrpSpPr>
            <a:grpSpLocks/>
          </p:cNvGrpSpPr>
          <p:nvPr/>
        </p:nvGrpSpPr>
        <p:grpSpPr bwMode="auto">
          <a:xfrm>
            <a:off x="2314575" y="3486151"/>
            <a:ext cx="7267575" cy="904875"/>
            <a:chOff x="589" y="2095"/>
            <a:chExt cx="4578" cy="801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D9C8472-4B7E-3958-7AD0-3160F61B27B8}"/>
                </a:ext>
              </a:extLst>
            </p:cNvPr>
            <p:cNvSpPr>
              <a:spLocks/>
            </p:cNvSpPr>
            <p:nvPr/>
          </p:nvSpPr>
          <p:spPr bwMode="gray">
            <a:xfrm>
              <a:off x="4045" y="2095"/>
              <a:ext cx="1122" cy="801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288" y="0"/>
                </a:cxn>
                <a:cxn ang="0">
                  <a:pos x="576" y="432"/>
                </a:cxn>
              </a:cxnLst>
              <a:rect l="0" t="0" r="r" b="b"/>
              <a:pathLst>
                <a:path w="576" h="432">
                  <a:moveTo>
                    <a:pt x="0" y="432"/>
                  </a:moveTo>
                  <a:cubicBezTo>
                    <a:pt x="96" y="216"/>
                    <a:pt x="192" y="0"/>
                    <a:pt x="288" y="0"/>
                  </a:cubicBezTo>
                  <a:cubicBezTo>
                    <a:pt x="384" y="0"/>
                    <a:pt x="480" y="216"/>
                    <a:pt x="576" y="432"/>
                  </a:cubicBezTo>
                </a:path>
              </a:pathLst>
            </a:custGeom>
            <a:solidFill>
              <a:srgbClr val="CCFF99"/>
            </a:solidFill>
            <a:ln w="57150" cmpd="sng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5DD3BBCD-51A0-24E1-8C2D-C2AAAEE92B7B}"/>
                </a:ext>
              </a:extLst>
            </p:cNvPr>
            <p:cNvSpPr>
              <a:spLocks/>
            </p:cNvSpPr>
            <p:nvPr/>
          </p:nvSpPr>
          <p:spPr bwMode="gray">
            <a:xfrm>
              <a:off x="589" y="2095"/>
              <a:ext cx="1122" cy="801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288" y="0"/>
                </a:cxn>
                <a:cxn ang="0">
                  <a:pos x="576" y="432"/>
                </a:cxn>
              </a:cxnLst>
              <a:rect l="0" t="0" r="r" b="b"/>
              <a:pathLst>
                <a:path w="576" h="432">
                  <a:moveTo>
                    <a:pt x="0" y="432"/>
                  </a:moveTo>
                  <a:cubicBezTo>
                    <a:pt x="96" y="216"/>
                    <a:pt x="192" y="0"/>
                    <a:pt x="288" y="0"/>
                  </a:cubicBezTo>
                  <a:cubicBezTo>
                    <a:pt x="384" y="0"/>
                    <a:pt x="480" y="216"/>
                    <a:pt x="576" y="432"/>
                  </a:cubicBezTo>
                </a:path>
              </a:pathLst>
            </a:custGeom>
            <a:solidFill>
              <a:srgbClr val="CCFF99"/>
            </a:solidFill>
            <a:ln w="57150" cmpd="sng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25" name="Freeform 25" descr="80%">
            <a:extLst>
              <a:ext uri="{FF2B5EF4-FFF2-40B4-BE49-F238E27FC236}">
                <a16:creationId xmlns:a16="http://schemas.microsoft.com/office/drawing/2014/main" id="{5150F515-A915-C0AA-C2E5-27B7EBC269F0}"/>
              </a:ext>
            </a:extLst>
          </p:cNvPr>
          <p:cNvSpPr>
            <a:spLocks/>
          </p:cNvSpPr>
          <p:nvPr/>
        </p:nvSpPr>
        <p:spPr bwMode="gray">
          <a:xfrm flipH="1">
            <a:off x="2347912" y="3502026"/>
            <a:ext cx="900113" cy="904875"/>
          </a:xfrm>
          <a:custGeom>
            <a:avLst/>
            <a:gdLst/>
            <a:ahLst/>
            <a:cxnLst>
              <a:cxn ang="0">
                <a:pos x="29" y="671"/>
              </a:cxn>
              <a:cxn ang="0">
                <a:pos x="29" y="575"/>
              </a:cxn>
              <a:cxn ang="0">
                <a:pos x="29" y="89"/>
              </a:cxn>
              <a:cxn ang="0">
                <a:pos x="29" y="41"/>
              </a:cxn>
              <a:cxn ang="0">
                <a:pos x="29" y="5"/>
              </a:cxn>
              <a:cxn ang="0">
                <a:pos x="80" y="20"/>
              </a:cxn>
              <a:cxn ang="0">
                <a:pos x="167" y="77"/>
              </a:cxn>
              <a:cxn ang="0">
                <a:pos x="266" y="191"/>
              </a:cxn>
              <a:cxn ang="0">
                <a:pos x="362" y="329"/>
              </a:cxn>
              <a:cxn ang="0">
                <a:pos x="431" y="452"/>
              </a:cxn>
              <a:cxn ang="0">
                <a:pos x="467" y="518"/>
              </a:cxn>
              <a:cxn ang="0">
                <a:pos x="545" y="662"/>
              </a:cxn>
              <a:cxn ang="0">
                <a:pos x="494" y="668"/>
              </a:cxn>
              <a:cxn ang="0">
                <a:pos x="380" y="671"/>
              </a:cxn>
              <a:cxn ang="0">
                <a:pos x="203" y="671"/>
              </a:cxn>
              <a:cxn ang="0">
                <a:pos x="29" y="671"/>
              </a:cxn>
            </a:cxnLst>
            <a:rect l="0" t="0" r="r" b="b"/>
            <a:pathLst>
              <a:path w="549" h="687">
                <a:moveTo>
                  <a:pt x="29" y="671"/>
                </a:moveTo>
                <a:cubicBezTo>
                  <a:pt x="0" y="655"/>
                  <a:pt x="29" y="672"/>
                  <a:pt x="29" y="575"/>
                </a:cubicBezTo>
                <a:cubicBezTo>
                  <a:pt x="29" y="478"/>
                  <a:pt x="29" y="178"/>
                  <a:pt x="29" y="89"/>
                </a:cubicBezTo>
                <a:cubicBezTo>
                  <a:pt x="29" y="0"/>
                  <a:pt x="29" y="55"/>
                  <a:pt x="29" y="41"/>
                </a:cubicBezTo>
                <a:cubicBezTo>
                  <a:pt x="29" y="27"/>
                  <a:pt x="21" y="8"/>
                  <a:pt x="29" y="5"/>
                </a:cubicBezTo>
                <a:cubicBezTo>
                  <a:pt x="37" y="2"/>
                  <a:pt x="57" y="8"/>
                  <a:pt x="80" y="20"/>
                </a:cubicBezTo>
                <a:cubicBezTo>
                  <a:pt x="103" y="32"/>
                  <a:pt x="136" y="49"/>
                  <a:pt x="167" y="77"/>
                </a:cubicBezTo>
                <a:cubicBezTo>
                  <a:pt x="198" y="105"/>
                  <a:pt x="234" y="149"/>
                  <a:pt x="266" y="191"/>
                </a:cubicBezTo>
                <a:cubicBezTo>
                  <a:pt x="298" y="233"/>
                  <a:pt x="335" y="286"/>
                  <a:pt x="362" y="329"/>
                </a:cubicBezTo>
                <a:cubicBezTo>
                  <a:pt x="389" y="372"/>
                  <a:pt x="414" y="421"/>
                  <a:pt x="431" y="452"/>
                </a:cubicBezTo>
                <a:cubicBezTo>
                  <a:pt x="448" y="483"/>
                  <a:pt x="448" y="483"/>
                  <a:pt x="467" y="518"/>
                </a:cubicBezTo>
                <a:cubicBezTo>
                  <a:pt x="486" y="553"/>
                  <a:pt x="541" y="637"/>
                  <a:pt x="545" y="662"/>
                </a:cubicBezTo>
                <a:cubicBezTo>
                  <a:pt x="549" y="687"/>
                  <a:pt x="521" y="667"/>
                  <a:pt x="494" y="668"/>
                </a:cubicBezTo>
                <a:cubicBezTo>
                  <a:pt x="467" y="669"/>
                  <a:pt x="428" y="671"/>
                  <a:pt x="380" y="671"/>
                </a:cubicBezTo>
                <a:cubicBezTo>
                  <a:pt x="332" y="671"/>
                  <a:pt x="261" y="671"/>
                  <a:pt x="203" y="671"/>
                </a:cubicBezTo>
                <a:cubicBezTo>
                  <a:pt x="145" y="671"/>
                  <a:pt x="58" y="687"/>
                  <a:pt x="29" y="671"/>
                </a:cubicBezTo>
                <a:close/>
              </a:path>
            </a:pathLst>
          </a:custGeom>
          <a:pattFill prst="pct80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6" name="Text Box 26">
            <a:extLst>
              <a:ext uri="{FF2B5EF4-FFF2-40B4-BE49-F238E27FC236}">
                <a16:creationId xmlns:a16="http://schemas.microsoft.com/office/drawing/2014/main" id="{C86C3E0B-306B-1792-EA6E-5133A29BB5C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068636" y="4432301"/>
            <a:ext cx="279400" cy="2444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-</a:t>
            </a:r>
            <a:r>
              <a:rPr lang="pt-BR" sz="1200" i="1" baseline="-25000">
                <a:solidFill>
                  <a:srgbClr val="0000CC"/>
                </a:solidFill>
                <a:latin typeface="Times New Roman" pitchFamily="18" charset="0"/>
              </a:rPr>
              <a:t> 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f</a:t>
            </a:r>
            <a:r>
              <a:rPr lang="pt-BR" sz="1600" i="1" baseline="-25000">
                <a:solidFill>
                  <a:srgbClr val="0000CC"/>
                </a:solidFill>
                <a:latin typeface="Times New Roman" pitchFamily="18" charset="0"/>
              </a:rPr>
              <a:t>c</a:t>
            </a:r>
            <a:endParaRPr lang="pt-BR" sz="1600" i="1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27" name="Text Box 27">
            <a:extLst>
              <a:ext uri="{FF2B5EF4-FFF2-40B4-BE49-F238E27FC236}">
                <a16:creationId xmlns:a16="http://schemas.microsoft.com/office/drawing/2014/main" id="{A8C8AFF3-E783-8C20-DA48-E28CF1C5BDF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907586" y="4441826"/>
            <a:ext cx="4254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f  </a:t>
            </a:r>
            <a:r>
              <a:rPr lang="pt-BR" sz="1600">
                <a:solidFill>
                  <a:srgbClr val="0000CC"/>
                </a:solidFill>
                <a:latin typeface="Times New Roman" pitchFamily="18" charset="0"/>
                <a:sym typeface="Symbol" pitchFamily="18" charset="2"/>
              </a:rPr>
              <a:t></a:t>
            </a:r>
            <a:endParaRPr lang="pt-BR" sz="1600" i="1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E5363DD0-760E-3287-503A-02C6F881742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623300" y="4441826"/>
            <a:ext cx="1857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f</a:t>
            </a:r>
            <a:r>
              <a:rPr lang="pt-BR" sz="1600" i="1" baseline="-25000">
                <a:solidFill>
                  <a:srgbClr val="0000CC"/>
                </a:solidFill>
                <a:latin typeface="Times New Roman" pitchFamily="18" charset="0"/>
              </a:rPr>
              <a:t>c</a:t>
            </a:r>
            <a:endParaRPr lang="pt-BR" sz="1600" i="1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29" name="Line 29">
            <a:extLst>
              <a:ext uri="{FF2B5EF4-FFF2-40B4-BE49-F238E27FC236}">
                <a16:creationId xmlns:a16="http://schemas.microsoft.com/office/drawing/2014/main" id="{2122174C-A711-3B7F-34E1-2BF794A668E3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3214686" y="4332288"/>
            <a:ext cx="0" cy="63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4D9CD02F-13CE-BE34-857D-333624AAF49C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894387" y="4441826"/>
            <a:ext cx="142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>
                <a:solidFill>
                  <a:srgbClr val="0000CC"/>
                </a:solidFill>
                <a:latin typeface="Times New Roman" pitchFamily="18" charset="0"/>
              </a:rPr>
              <a:t>0</a:t>
            </a:r>
            <a:endParaRPr lang="pt-BR" sz="1600" i="1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31" name="Text Box 31">
            <a:extLst>
              <a:ext uri="{FF2B5EF4-FFF2-40B4-BE49-F238E27FC236}">
                <a16:creationId xmlns:a16="http://schemas.microsoft.com/office/drawing/2014/main" id="{4D34B049-ED89-FC0B-8224-EA16A21339D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989637" y="2944814"/>
            <a:ext cx="6127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S</a:t>
            </a:r>
            <a:r>
              <a:rPr lang="pt-BR" sz="1600">
                <a:solidFill>
                  <a:srgbClr val="0000CC"/>
                </a:solidFill>
                <a:latin typeface="Times New Roman" pitchFamily="18" charset="0"/>
              </a:rPr>
              <a:t>( 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f </a:t>
            </a:r>
            <a:r>
              <a:rPr lang="pt-BR" sz="1600">
                <a:solidFill>
                  <a:srgbClr val="0000CC"/>
                </a:solidFill>
                <a:latin typeface="Times New Roman" pitchFamily="18" charset="0"/>
              </a:rPr>
              <a:t>)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  </a:t>
            </a:r>
          </a:p>
        </p:txBody>
      </p:sp>
      <p:sp>
        <p:nvSpPr>
          <p:cNvPr id="32" name="Freeform 32" descr="80%">
            <a:extLst>
              <a:ext uri="{FF2B5EF4-FFF2-40B4-BE49-F238E27FC236}">
                <a16:creationId xmlns:a16="http://schemas.microsoft.com/office/drawing/2014/main" id="{70146B45-D336-4036-001E-E5451402B635}"/>
              </a:ext>
            </a:extLst>
          </p:cNvPr>
          <p:cNvSpPr>
            <a:spLocks/>
          </p:cNvSpPr>
          <p:nvPr/>
        </p:nvSpPr>
        <p:spPr bwMode="gray">
          <a:xfrm>
            <a:off x="8667750" y="3509964"/>
            <a:ext cx="871537" cy="896937"/>
          </a:xfrm>
          <a:custGeom>
            <a:avLst/>
            <a:gdLst/>
            <a:ahLst/>
            <a:cxnLst>
              <a:cxn ang="0">
                <a:pos x="29" y="671"/>
              </a:cxn>
              <a:cxn ang="0">
                <a:pos x="29" y="575"/>
              </a:cxn>
              <a:cxn ang="0">
                <a:pos x="29" y="89"/>
              </a:cxn>
              <a:cxn ang="0">
                <a:pos x="29" y="41"/>
              </a:cxn>
              <a:cxn ang="0">
                <a:pos x="29" y="5"/>
              </a:cxn>
              <a:cxn ang="0">
                <a:pos x="80" y="20"/>
              </a:cxn>
              <a:cxn ang="0">
                <a:pos x="167" y="77"/>
              </a:cxn>
              <a:cxn ang="0">
                <a:pos x="266" y="191"/>
              </a:cxn>
              <a:cxn ang="0">
                <a:pos x="362" y="329"/>
              </a:cxn>
              <a:cxn ang="0">
                <a:pos x="431" y="452"/>
              </a:cxn>
              <a:cxn ang="0">
                <a:pos x="467" y="518"/>
              </a:cxn>
              <a:cxn ang="0">
                <a:pos x="545" y="662"/>
              </a:cxn>
              <a:cxn ang="0">
                <a:pos x="494" y="668"/>
              </a:cxn>
              <a:cxn ang="0">
                <a:pos x="380" y="671"/>
              </a:cxn>
              <a:cxn ang="0">
                <a:pos x="203" y="671"/>
              </a:cxn>
              <a:cxn ang="0">
                <a:pos x="29" y="671"/>
              </a:cxn>
            </a:cxnLst>
            <a:rect l="0" t="0" r="r" b="b"/>
            <a:pathLst>
              <a:path w="549" h="687">
                <a:moveTo>
                  <a:pt x="29" y="671"/>
                </a:moveTo>
                <a:cubicBezTo>
                  <a:pt x="0" y="655"/>
                  <a:pt x="29" y="672"/>
                  <a:pt x="29" y="575"/>
                </a:cubicBezTo>
                <a:cubicBezTo>
                  <a:pt x="29" y="478"/>
                  <a:pt x="29" y="178"/>
                  <a:pt x="29" y="89"/>
                </a:cubicBezTo>
                <a:cubicBezTo>
                  <a:pt x="29" y="0"/>
                  <a:pt x="29" y="55"/>
                  <a:pt x="29" y="41"/>
                </a:cubicBezTo>
                <a:cubicBezTo>
                  <a:pt x="29" y="27"/>
                  <a:pt x="21" y="8"/>
                  <a:pt x="29" y="5"/>
                </a:cubicBezTo>
                <a:cubicBezTo>
                  <a:pt x="37" y="2"/>
                  <a:pt x="57" y="8"/>
                  <a:pt x="80" y="20"/>
                </a:cubicBezTo>
                <a:cubicBezTo>
                  <a:pt x="103" y="32"/>
                  <a:pt x="136" y="49"/>
                  <a:pt x="167" y="77"/>
                </a:cubicBezTo>
                <a:cubicBezTo>
                  <a:pt x="198" y="105"/>
                  <a:pt x="234" y="149"/>
                  <a:pt x="266" y="191"/>
                </a:cubicBezTo>
                <a:cubicBezTo>
                  <a:pt x="298" y="233"/>
                  <a:pt x="335" y="286"/>
                  <a:pt x="362" y="329"/>
                </a:cubicBezTo>
                <a:cubicBezTo>
                  <a:pt x="389" y="372"/>
                  <a:pt x="414" y="421"/>
                  <a:pt x="431" y="452"/>
                </a:cubicBezTo>
                <a:cubicBezTo>
                  <a:pt x="448" y="483"/>
                  <a:pt x="448" y="483"/>
                  <a:pt x="467" y="518"/>
                </a:cubicBezTo>
                <a:cubicBezTo>
                  <a:pt x="486" y="553"/>
                  <a:pt x="541" y="637"/>
                  <a:pt x="545" y="662"/>
                </a:cubicBezTo>
                <a:cubicBezTo>
                  <a:pt x="549" y="687"/>
                  <a:pt x="521" y="667"/>
                  <a:pt x="494" y="668"/>
                </a:cubicBezTo>
                <a:cubicBezTo>
                  <a:pt x="467" y="669"/>
                  <a:pt x="428" y="671"/>
                  <a:pt x="380" y="671"/>
                </a:cubicBezTo>
                <a:cubicBezTo>
                  <a:pt x="332" y="671"/>
                  <a:pt x="261" y="671"/>
                  <a:pt x="203" y="671"/>
                </a:cubicBezTo>
                <a:cubicBezTo>
                  <a:pt x="145" y="671"/>
                  <a:pt x="58" y="687"/>
                  <a:pt x="29" y="671"/>
                </a:cubicBezTo>
                <a:close/>
              </a:path>
            </a:pathLst>
          </a:custGeom>
          <a:pattFill prst="pct80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3" name="Line 33">
            <a:extLst>
              <a:ext uri="{FF2B5EF4-FFF2-40B4-BE49-F238E27FC236}">
                <a16:creationId xmlns:a16="http://schemas.microsoft.com/office/drawing/2014/main" id="{313E0A54-4D6D-1662-AF34-64A308DAB8A0}"/>
              </a:ext>
            </a:extLst>
          </p:cNvPr>
          <p:cNvSpPr>
            <a:spLocks noChangeShapeType="1"/>
          </p:cNvSpPr>
          <p:nvPr/>
        </p:nvSpPr>
        <p:spPr bwMode="gray">
          <a:xfrm>
            <a:off x="1890711" y="4386263"/>
            <a:ext cx="438150" cy="4762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4" name="Line 34">
            <a:extLst>
              <a:ext uri="{FF2B5EF4-FFF2-40B4-BE49-F238E27FC236}">
                <a16:creationId xmlns:a16="http://schemas.microsoft.com/office/drawing/2014/main" id="{3FCF1561-D445-A6F0-581F-F46E8074D1C9}"/>
              </a:ext>
            </a:extLst>
          </p:cNvPr>
          <p:cNvSpPr>
            <a:spLocks noChangeShapeType="1"/>
          </p:cNvSpPr>
          <p:nvPr/>
        </p:nvSpPr>
        <p:spPr bwMode="gray">
          <a:xfrm>
            <a:off x="4071937" y="4387850"/>
            <a:ext cx="3749675" cy="0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5" name="Line 35">
            <a:extLst>
              <a:ext uri="{FF2B5EF4-FFF2-40B4-BE49-F238E27FC236}">
                <a16:creationId xmlns:a16="http://schemas.microsoft.com/office/drawing/2014/main" id="{41A4C238-72CF-7596-C7E3-7316B94E6AEE}"/>
              </a:ext>
            </a:extLst>
          </p:cNvPr>
          <p:cNvSpPr>
            <a:spLocks noChangeShapeType="1"/>
          </p:cNvSpPr>
          <p:nvPr/>
        </p:nvSpPr>
        <p:spPr bwMode="gray">
          <a:xfrm>
            <a:off x="9577387" y="4387850"/>
            <a:ext cx="568325" cy="0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6" name="Line 36">
            <a:extLst>
              <a:ext uri="{FF2B5EF4-FFF2-40B4-BE49-F238E27FC236}">
                <a16:creationId xmlns:a16="http://schemas.microsoft.com/office/drawing/2014/main" id="{4D70B526-84F4-44BC-D40A-A539A2FE0085}"/>
              </a:ext>
            </a:extLst>
          </p:cNvPr>
          <p:cNvSpPr>
            <a:spLocks noChangeShapeType="1"/>
          </p:cNvSpPr>
          <p:nvPr/>
        </p:nvSpPr>
        <p:spPr bwMode="gray">
          <a:xfrm>
            <a:off x="7808911" y="4487864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7" name="Line 37">
            <a:extLst>
              <a:ext uri="{FF2B5EF4-FFF2-40B4-BE49-F238E27FC236}">
                <a16:creationId xmlns:a16="http://schemas.microsoft.com/office/drawing/2014/main" id="{34626E0E-5B03-0A1B-4340-2147414F5B43}"/>
              </a:ext>
            </a:extLst>
          </p:cNvPr>
          <p:cNvSpPr>
            <a:spLocks noChangeShapeType="1"/>
          </p:cNvSpPr>
          <p:nvPr/>
        </p:nvSpPr>
        <p:spPr bwMode="gray">
          <a:xfrm>
            <a:off x="9580561" y="4487864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8" name="Line 38">
            <a:extLst>
              <a:ext uri="{FF2B5EF4-FFF2-40B4-BE49-F238E27FC236}">
                <a16:creationId xmlns:a16="http://schemas.microsoft.com/office/drawing/2014/main" id="{0A73F4D4-6859-AB75-D256-EF59BB264D6D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8885237" y="4827589"/>
            <a:ext cx="690563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9" name="Text Box 39">
            <a:extLst>
              <a:ext uri="{FF2B5EF4-FFF2-40B4-BE49-F238E27FC236}">
                <a16:creationId xmlns:a16="http://schemas.microsoft.com/office/drawing/2014/main" id="{BEFB0E4A-F26C-2679-2C8C-EC11985C5BF3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501061" y="4702176"/>
            <a:ext cx="38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>
                <a:solidFill>
                  <a:srgbClr val="0000CC"/>
                </a:solidFill>
                <a:latin typeface="Times New Roman" pitchFamily="18" charset="0"/>
              </a:rPr>
              <a:t>2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B</a:t>
            </a:r>
            <a:r>
              <a:rPr lang="pt-BR" sz="1600" i="1" baseline="-25000">
                <a:solidFill>
                  <a:srgbClr val="0000CC"/>
                </a:solidFill>
                <a:latin typeface="Times New Roman" pitchFamily="18" charset="0"/>
              </a:rPr>
              <a:t>m</a:t>
            </a:r>
            <a:endParaRPr lang="pt-BR" sz="1600" i="1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40" name="Line 40">
            <a:extLst>
              <a:ext uri="{FF2B5EF4-FFF2-40B4-BE49-F238E27FC236}">
                <a16:creationId xmlns:a16="http://schemas.microsoft.com/office/drawing/2014/main" id="{4BDBB7AD-AC68-EDED-1256-C1C36FADCF3D}"/>
              </a:ext>
            </a:extLst>
          </p:cNvPr>
          <p:cNvSpPr>
            <a:spLocks noChangeShapeType="1"/>
          </p:cNvSpPr>
          <p:nvPr/>
        </p:nvSpPr>
        <p:spPr bwMode="gray">
          <a:xfrm>
            <a:off x="2312986" y="4478339"/>
            <a:ext cx="0" cy="382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1" name="Line 41">
            <a:extLst>
              <a:ext uri="{FF2B5EF4-FFF2-40B4-BE49-F238E27FC236}">
                <a16:creationId xmlns:a16="http://schemas.microsoft.com/office/drawing/2014/main" id="{9C9EDA42-E27E-7140-3607-4A9690ADB696}"/>
              </a:ext>
            </a:extLst>
          </p:cNvPr>
          <p:cNvSpPr>
            <a:spLocks noChangeShapeType="1"/>
          </p:cNvSpPr>
          <p:nvPr/>
        </p:nvSpPr>
        <p:spPr bwMode="gray">
          <a:xfrm>
            <a:off x="4084636" y="4478339"/>
            <a:ext cx="0" cy="382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2" name="Text Box 42">
            <a:extLst>
              <a:ext uri="{FF2B5EF4-FFF2-40B4-BE49-F238E27FC236}">
                <a16:creationId xmlns:a16="http://schemas.microsoft.com/office/drawing/2014/main" id="{54149145-6F54-EA7C-2F77-58031376A78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014661" y="4697414"/>
            <a:ext cx="38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>
                <a:solidFill>
                  <a:srgbClr val="0000CC"/>
                </a:solidFill>
                <a:latin typeface="Times New Roman" pitchFamily="18" charset="0"/>
              </a:rPr>
              <a:t>2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B</a:t>
            </a:r>
            <a:r>
              <a:rPr lang="pt-BR" sz="1600" i="1" baseline="-25000">
                <a:solidFill>
                  <a:srgbClr val="0000CC"/>
                </a:solidFill>
                <a:latin typeface="Times New Roman" pitchFamily="18" charset="0"/>
              </a:rPr>
              <a:t>m</a:t>
            </a:r>
            <a:endParaRPr lang="pt-BR" sz="1600" i="1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43" name="Line 43">
            <a:extLst>
              <a:ext uri="{FF2B5EF4-FFF2-40B4-BE49-F238E27FC236}">
                <a16:creationId xmlns:a16="http://schemas.microsoft.com/office/drawing/2014/main" id="{202844FE-E4CA-EF58-B988-4C8FAB495515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5957886" y="2978150"/>
            <a:ext cx="7938" cy="148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4" name="Text Box 44">
            <a:extLst>
              <a:ext uri="{FF2B5EF4-FFF2-40B4-BE49-F238E27FC236}">
                <a16:creationId xmlns:a16="http://schemas.microsoft.com/office/drawing/2014/main" id="{CDEF51AB-A8C9-6804-E98B-B89DBFBDDDBB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141787" y="3551239"/>
            <a:ext cx="61277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pt-BR" sz="1600">
                <a:solidFill>
                  <a:srgbClr val="0000CC"/>
                </a:solidFill>
                <a:latin typeface="Arial Narrow" pitchFamily="34" charset="0"/>
              </a:rPr>
              <a:t>Banda lateral inferior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  </a:t>
            </a:r>
          </a:p>
        </p:txBody>
      </p:sp>
      <p:sp>
        <p:nvSpPr>
          <p:cNvPr id="45" name="Line 45">
            <a:extLst>
              <a:ext uri="{FF2B5EF4-FFF2-40B4-BE49-F238E27FC236}">
                <a16:creationId xmlns:a16="http://schemas.microsoft.com/office/drawing/2014/main" id="{F2EAFE00-1046-C564-B0AF-B7D8C7F13451}"/>
              </a:ext>
            </a:extLst>
          </p:cNvPr>
          <p:cNvSpPr>
            <a:spLocks noChangeShapeType="1"/>
          </p:cNvSpPr>
          <p:nvPr/>
        </p:nvSpPr>
        <p:spPr bwMode="gray">
          <a:xfrm flipH="1">
            <a:off x="3589336" y="3867150"/>
            <a:ext cx="552450" cy="2159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stealth" w="sm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6" name="Text Box 46">
            <a:extLst>
              <a:ext uri="{FF2B5EF4-FFF2-40B4-BE49-F238E27FC236}">
                <a16:creationId xmlns:a16="http://schemas.microsoft.com/office/drawing/2014/main" id="{28E3AE6E-C6FE-2CB7-DD65-DB5411B3047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590087" y="3383401"/>
            <a:ext cx="708025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pt-BR" sz="1600" dirty="0">
                <a:solidFill>
                  <a:srgbClr val="0000CC"/>
                </a:solidFill>
                <a:latin typeface="Arial Narrow" pitchFamily="34" charset="0"/>
              </a:rPr>
              <a:t>Banda lateral superior</a:t>
            </a:r>
          </a:p>
          <a:p>
            <a:r>
              <a:rPr lang="pt-BR" sz="1600" i="1" dirty="0">
                <a:solidFill>
                  <a:srgbClr val="0000CC"/>
                </a:solidFill>
                <a:latin typeface="Arial Narrow" pitchFamily="34" charset="0"/>
              </a:rPr>
              <a:t>(USB)</a:t>
            </a:r>
            <a:r>
              <a:rPr lang="pt-BR" sz="1600" i="1" dirty="0">
                <a:solidFill>
                  <a:srgbClr val="0000CC"/>
                </a:solidFill>
                <a:latin typeface="Times New Roman" pitchFamily="18" charset="0"/>
              </a:rPr>
              <a:t>  </a:t>
            </a:r>
          </a:p>
        </p:txBody>
      </p:sp>
      <p:sp>
        <p:nvSpPr>
          <p:cNvPr id="47" name="Text Box 47">
            <a:extLst>
              <a:ext uri="{FF2B5EF4-FFF2-40B4-BE49-F238E27FC236}">
                <a16:creationId xmlns:a16="http://schemas.microsoft.com/office/drawing/2014/main" id="{FCFA99F0-4C1D-0F80-60EA-593FA4690827}"/>
              </a:ext>
            </a:extLst>
          </p:cNvPr>
          <p:cNvSpPr txBox="1">
            <a:spLocks noChangeArrowheads="1"/>
          </p:cNvSpPr>
          <p:nvPr/>
        </p:nvSpPr>
        <p:spPr bwMode="gray">
          <a:xfrm flipH="1">
            <a:off x="7161212" y="3395276"/>
            <a:ext cx="612775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pt-BR" sz="1600" dirty="0">
                <a:solidFill>
                  <a:srgbClr val="0000CC"/>
                </a:solidFill>
                <a:latin typeface="Arial Narrow" pitchFamily="34" charset="0"/>
              </a:rPr>
              <a:t>Banda lateral inferior</a:t>
            </a:r>
          </a:p>
          <a:p>
            <a:r>
              <a:rPr lang="pt-BR" sz="1600" i="1" dirty="0">
                <a:solidFill>
                  <a:srgbClr val="0000CC"/>
                </a:solidFill>
                <a:latin typeface="Arial Narrow" pitchFamily="34" charset="0"/>
              </a:rPr>
              <a:t>(LSB)</a:t>
            </a:r>
            <a:r>
              <a:rPr lang="pt-BR" sz="1600" i="1" dirty="0">
                <a:solidFill>
                  <a:srgbClr val="0000CC"/>
                </a:solidFill>
                <a:latin typeface="Times New Roman" pitchFamily="18" charset="0"/>
              </a:rPr>
              <a:t>  </a:t>
            </a:r>
          </a:p>
        </p:txBody>
      </p:sp>
      <p:sp>
        <p:nvSpPr>
          <p:cNvPr id="48" name="Text Box 48">
            <a:extLst>
              <a:ext uri="{FF2B5EF4-FFF2-40B4-BE49-F238E27FC236}">
                <a16:creationId xmlns:a16="http://schemas.microsoft.com/office/drawing/2014/main" id="{AC497075-FE99-7F8B-E3C5-20D8FA65F588}"/>
              </a:ext>
            </a:extLst>
          </p:cNvPr>
          <p:cNvSpPr txBox="1">
            <a:spLocks noChangeArrowheads="1"/>
          </p:cNvSpPr>
          <p:nvPr/>
        </p:nvSpPr>
        <p:spPr bwMode="gray">
          <a:xfrm flipH="1">
            <a:off x="1646237" y="3549651"/>
            <a:ext cx="708025" cy="735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pt-BR" sz="1600" dirty="0">
                <a:solidFill>
                  <a:srgbClr val="0000CC"/>
                </a:solidFill>
                <a:latin typeface="Arial Narrow" pitchFamily="34" charset="0"/>
              </a:rPr>
              <a:t>Banda lateral superior</a:t>
            </a:r>
            <a:r>
              <a:rPr lang="pt-BR" sz="1600" i="1" dirty="0">
                <a:solidFill>
                  <a:srgbClr val="0000CC"/>
                </a:solidFill>
                <a:latin typeface="Times New Roman" pitchFamily="18" charset="0"/>
              </a:rPr>
              <a:t>  </a:t>
            </a:r>
          </a:p>
        </p:txBody>
      </p:sp>
      <p:sp>
        <p:nvSpPr>
          <p:cNvPr id="49" name="Line 49">
            <a:extLst>
              <a:ext uri="{FF2B5EF4-FFF2-40B4-BE49-F238E27FC236}">
                <a16:creationId xmlns:a16="http://schemas.microsoft.com/office/drawing/2014/main" id="{BDEBC680-4470-51A4-2F68-658332840ECE}"/>
              </a:ext>
            </a:extLst>
          </p:cNvPr>
          <p:cNvSpPr>
            <a:spLocks noChangeShapeType="1"/>
          </p:cNvSpPr>
          <p:nvPr/>
        </p:nvSpPr>
        <p:spPr bwMode="gray">
          <a:xfrm>
            <a:off x="2306636" y="3932238"/>
            <a:ext cx="495300" cy="131762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stealth" w="sm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0" name="Line 50">
            <a:extLst>
              <a:ext uri="{FF2B5EF4-FFF2-40B4-BE49-F238E27FC236}">
                <a16:creationId xmlns:a16="http://schemas.microsoft.com/office/drawing/2014/main" id="{956265B5-8512-AD5E-27D1-EBDDCC5BAC63}"/>
              </a:ext>
            </a:extLst>
          </p:cNvPr>
          <p:cNvSpPr>
            <a:spLocks noChangeShapeType="1"/>
          </p:cNvSpPr>
          <p:nvPr/>
        </p:nvSpPr>
        <p:spPr bwMode="gray">
          <a:xfrm>
            <a:off x="5961062" y="3490913"/>
            <a:ext cx="1047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1" name="Line 51">
            <a:extLst>
              <a:ext uri="{FF2B5EF4-FFF2-40B4-BE49-F238E27FC236}">
                <a16:creationId xmlns:a16="http://schemas.microsoft.com/office/drawing/2014/main" id="{711CF9C4-4611-8F42-FC9B-43340F700C16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8701086" y="4332288"/>
            <a:ext cx="0" cy="63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2" name="Line 52">
            <a:extLst>
              <a:ext uri="{FF2B5EF4-FFF2-40B4-BE49-F238E27FC236}">
                <a16:creationId xmlns:a16="http://schemas.microsoft.com/office/drawing/2014/main" id="{29E5B38E-A69D-D030-099C-0524E7CBD862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1858961" y="4397375"/>
            <a:ext cx="845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3" name="Line 53">
            <a:extLst>
              <a:ext uri="{FF2B5EF4-FFF2-40B4-BE49-F238E27FC236}">
                <a16:creationId xmlns:a16="http://schemas.microsoft.com/office/drawing/2014/main" id="{E72BCF7C-3669-A949-ECD6-A5414B9F5AA5}"/>
              </a:ext>
            </a:extLst>
          </p:cNvPr>
          <p:cNvSpPr>
            <a:spLocks noChangeShapeType="1"/>
          </p:cNvSpPr>
          <p:nvPr/>
        </p:nvSpPr>
        <p:spPr bwMode="gray">
          <a:xfrm flipH="1">
            <a:off x="9075736" y="3924300"/>
            <a:ext cx="552450" cy="2159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stealth" w="sm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4" name="Line 54">
            <a:extLst>
              <a:ext uri="{FF2B5EF4-FFF2-40B4-BE49-F238E27FC236}">
                <a16:creationId xmlns:a16="http://schemas.microsoft.com/office/drawing/2014/main" id="{4AB62FCF-E8F7-91F6-2413-6E180BBFC6E4}"/>
              </a:ext>
            </a:extLst>
          </p:cNvPr>
          <p:cNvSpPr>
            <a:spLocks noChangeShapeType="1"/>
          </p:cNvSpPr>
          <p:nvPr/>
        </p:nvSpPr>
        <p:spPr bwMode="gray">
          <a:xfrm>
            <a:off x="7773986" y="3932238"/>
            <a:ext cx="514350" cy="188912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stealth" w="sm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5" name="Text Box 55">
            <a:extLst>
              <a:ext uri="{FF2B5EF4-FFF2-40B4-BE49-F238E27FC236}">
                <a16:creationId xmlns:a16="http://schemas.microsoft.com/office/drawing/2014/main" id="{536D47F1-1504-7E18-6C8C-A653D321F851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332036" y="5276850"/>
            <a:ext cx="7596188" cy="369332"/>
          </a:xfrm>
          <a:prstGeom prst="rect">
            <a:avLst/>
          </a:prstGeom>
          <a:solidFill>
            <a:srgbClr val="FFFFCC"/>
          </a:solidFill>
          <a:ln w="9525">
            <a:solidFill>
              <a:srgbClr val="FFFF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solidFill>
                  <a:schemeClr val="accent2"/>
                </a:solidFill>
                <a:latin typeface="Arial" charset="0"/>
              </a:rPr>
              <a:t>Largura de banda de transmissão DSB = </a:t>
            </a:r>
            <a:r>
              <a:rPr lang="pt-BR" i="1">
                <a:solidFill>
                  <a:schemeClr val="accent2"/>
                </a:solidFill>
                <a:latin typeface="Times New Roman" pitchFamily="18" charset="0"/>
              </a:rPr>
              <a:t>B</a:t>
            </a:r>
            <a:r>
              <a:rPr lang="pt-BR" i="1" baseline="-25000">
                <a:solidFill>
                  <a:schemeClr val="accent2"/>
                </a:solidFill>
                <a:latin typeface="Times New Roman" pitchFamily="18" charset="0"/>
              </a:rPr>
              <a:t>T </a:t>
            </a:r>
            <a:r>
              <a:rPr lang="pt-BR">
                <a:solidFill>
                  <a:schemeClr val="accent2"/>
                </a:solidFill>
                <a:latin typeface="Arial" charset="0"/>
              </a:rPr>
              <a:t> =  2</a:t>
            </a:r>
            <a:r>
              <a:rPr lang="pt-BR" i="1">
                <a:solidFill>
                  <a:schemeClr val="accent2"/>
                </a:solidFill>
                <a:latin typeface="Times New Roman" pitchFamily="18" charset="0"/>
              </a:rPr>
              <a:t>B</a:t>
            </a:r>
            <a:r>
              <a:rPr lang="pt-BR" i="1" baseline="-25000">
                <a:solidFill>
                  <a:schemeClr val="accent2"/>
                </a:solidFill>
                <a:latin typeface="Times New Roman" pitchFamily="18" charset="0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7B43F6DD-885C-32EE-3387-6BC350A3168C}"/>
                  </a:ext>
                </a:extLst>
              </p:cNvPr>
              <p:cNvSpPr txBox="1"/>
              <p:nvPr/>
            </p:nvSpPr>
            <p:spPr>
              <a:xfrm>
                <a:off x="2109786" y="5909190"/>
                <a:ext cx="83956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b="1" dirty="0"/>
                  <a:t>Para sinais reais,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𝑴</m:t>
                    </m:r>
                    <m:d>
                      <m:d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pt-BR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pt-BR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b="1" dirty="0"/>
                  <a:t>, e portanto LSB e USB contêm a mesma informação</a:t>
                </a:r>
              </a:p>
            </p:txBody>
          </p:sp>
        </mc:Choice>
        <mc:Fallback xmlns="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7B43F6DD-885C-32EE-3387-6BC350A31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786" y="5909190"/>
                <a:ext cx="8395632" cy="369332"/>
              </a:xfrm>
              <a:prstGeom prst="rect">
                <a:avLst/>
              </a:prstGeom>
              <a:blipFill>
                <a:blip r:embed="rId2"/>
                <a:stretch>
                  <a:fillRect l="-581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4031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AE251-C7DE-ACBD-35B5-E69050278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Sinal SSB (Single </a:t>
            </a:r>
            <a:r>
              <a:rPr lang="pt-BR" dirty="0" err="1"/>
              <a:t>Side</a:t>
            </a:r>
            <a:r>
              <a:rPr lang="pt-BR" dirty="0"/>
              <a:t> Band)</a:t>
            </a:r>
            <a:br>
              <a:rPr lang="pt-BR" dirty="0"/>
            </a:br>
            <a:r>
              <a:rPr lang="pt-BR" dirty="0"/>
              <a:t>USB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D92D37-7AFD-3E85-E0E0-FBF1C3528D59}"/>
              </a:ext>
            </a:extLst>
          </p:cNvPr>
          <p:cNvGrpSpPr>
            <a:grpSpLocks/>
          </p:cNvGrpSpPr>
          <p:nvPr/>
        </p:nvGrpSpPr>
        <p:grpSpPr bwMode="auto">
          <a:xfrm>
            <a:off x="1946276" y="1733550"/>
            <a:ext cx="8474075" cy="1335088"/>
            <a:chOff x="266" y="1836"/>
            <a:chExt cx="5338" cy="841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A891547B-052D-F474-5D19-4E486DF6B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7" y="2028"/>
              <a:ext cx="1122" cy="479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288" y="0"/>
                </a:cxn>
                <a:cxn ang="0">
                  <a:pos x="576" y="432"/>
                </a:cxn>
              </a:cxnLst>
              <a:rect l="0" t="0" r="r" b="b"/>
              <a:pathLst>
                <a:path w="576" h="432">
                  <a:moveTo>
                    <a:pt x="0" y="432"/>
                  </a:moveTo>
                  <a:cubicBezTo>
                    <a:pt x="96" y="216"/>
                    <a:pt x="192" y="0"/>
                    <a:pt x="288" y="0"/>
                  </a:cubicBezTo>
                  <a:cubicBezTo>
                    <a:pt x="384" y="0"/>
                    <a:pt x="480" y="216"/>
                    <a:pt x="576" y="432"/>
                  </a:cubicBezTo>
                </a:path>
              </a:pathLst>
            </a:custGeom>
            <a:solidFill>
              <a:srgbClr val="FFCCCC"/>
            </a:solidFill>
            <a:ln w="57150" cmpd="sng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8737BB41-73EC-9983-41BE-6BC012C1FE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" y="2513"/>
              <a:ext cx="53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A1B1B803-382A-1573-6692-40D8E86FE8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6" y="2523"/>
              <a:ext cx="26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f  </a:t>
              </a:r>
              <a:r>
                <a:rPr lang="pt-BR" sz="1600">
                  <a:solidFill>
                    <a:srgbClr val="0000CC"/>
                  </a:solidFill>
                  <a:latin typeface="Times New Roman" pitchFamily="18" charset="0"/>
                  <a:sym typeface="Symbol" pitchFamily="18" charset="2"/>
                </a:rPr>
                <a:t></a:t>
              </a:r>
              <a:endParaRPr lang="pt-BR" sz="1600" i="1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772F76E0-7D2E-3D7A-C20D-45402888C8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7" y="2523"/>
              <a:ext cx="11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f</a:t>
              </a:r>
              <a:r>
                <a:rPr lang="pt-BR" sz="1600" i="1" baseline="-25000">
                  <a:solidFill>
                    <a:srgbClr val="0000CC"/>
                  </a:solidFill>
                  <a:latin typeface="Times New Roman" pitchFamily="18" charset="0"/>
                </a:rPr>
                <a:t>c</a:t>
              </a:r>
              <a:endParaRPr lang="pt-BR" sz="1600" i="1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FB878FDC-4531-B17A-9F2C-7CFA71B1B1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8" y="2523"/>
              <a:ext cx="176" cy="154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-f</a:t>
              </a:r>
              <a:r>
                <a:rPr lang="pt-BR" sz="1600" i="1" baseline="-25000">
                  <a:solidFill>
                    <a:srgbClr val="0000CC"/>
                  </a:solidFill>
                  <a:latin typeface="Times New Roman" pitchFamily="18" charset="0"/>
                </a:rPr>
                <a:t>c</a:t>
              </a:r>
              <a:endParaRPr lang="pt-BR" sz="1600" i="1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6FAC9B36-444F-56DD-B3DD-42D4201C0D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0" y="2473"/>
              <a:ext cx="0" cy="29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8E056548-F3E4-4B43-9B28-A7C85DC4FB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6" y="2473"/>
              <a:ext cx="0" cy="29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4A27F107-A4DE-BAB1-1983-9F4A27CA2D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" y="2502"/>
              <a:ext cx="2010" cy="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99E90DA1-BD61-E21A-329A-FA677E804F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4" y="2502"/>
              <a:ext cx="2116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FCA7DC14-13DD-C0C9-A381-4199B1FC0A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8" y="2523"/>
              <a:ext cx="9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>
                  <a:solidFill>
                    <a:srgbClr val="0000CC"/>
                  </a:solidFill>
                  <a:latin typeface="Times New Roman" pitchFamily="18" charset="0"/>
                </a:rPr>
                <a:t>0</a:t>
              </a:r>
              <a:endParaRPr lang="pt-BR" sz="1600" i="1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6956C2FF-7D6E-2C9E-E14A-3290F9C53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0" y="2523"/>
              <a:ext cx="20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B</a:t>
              </a:r>
              <a:r>
                <a:rPr lang="pt-BR" sz="1600" i="1" baseline="-25000">
                  <a:solidFill>
                    <a:srgbClr val="0000CC"/>
                  </a:solidFill>
                  <a:latin typeface="Times New Roman" pitchFamily="18" charset="0"/>
                </a:rPr>
                <a:t>m</a:t>
              </a:r>
              <a:endParaRPr lang="pt-BR" sz="1600" i="1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42619D35-D0C9-4377-0C51-A66C65B590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4" y="2523"/>
              <a:ext cx="19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-B</a:t>
              </a:r>
              <a:r>
                <a:rPr lang="pt-BR" sz="1600" i="1" baseline="-25000">
                  <a:solidFill>
                    <a:srgbClr val="0000CC"/>
                  </a:solidFill>
                  <a:latin typeface="Times New Roman" pitchFamily="18" charset="0"/>
                </a:rPr>
                <a:t>m</a:t>
              </a:r>
              <a:endParaRPr lang="pt-BR" sz="1600" i="1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4B9A80CD-275F-F872-0CDA-6E5F71CC9F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8" y="1836"/>
              <a:ext cx="38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M</a:t>
              </a:r>
              <a:r>
                <a:rPr lang="pt-BR" sz="1600">
                  <a:solidFill>
                    <a:srgbClr val="0000CC"/>
                  </a:solidFill>
                  <a:latin typeface="Times New Roman" pitchFamily="18" charset="0"/>
                </a:rPr>
                <a:t>( </a:t>
              </a: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f </a:t>
              </a:r>
              <a:r>
                <a:rPr lang="pt-BR" sz="1600">
                  <a:solidFill>
                    <a:srgbClr val="0000CC"/>
                  </a:solidFill>
                  <a:latin typeface="Times New Roman" pitchFamily="18" charset="0"/>
                </a:rPr>
                <a:t>)</a:t>
              </a: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  </a:t>
              </a:r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2B6F0062-A39F-9B42-5650-B7E8D01754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8" y="1863"/>
              <a:ext cx="1" cy="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8D814CE6-FD0B-4C1D-9B5B-69052527B6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7" y="2029"/>
              <a:ext cx="48" cy="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20" name="Line 19">
            <a:extLst>
              <a:ext uri="{FF2B5EF4-FFF2-40B4-BE49-F238E27FC236}">
                <a16:creationId xmlns:a16="http://schemas.microsoft.com/office/drawing/2014/main" id="{E43F3D5D-8278-08F2-D557-FEC1B68683BF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2398713" y="5278439"/>
            <a:ext cx="69056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A92A3040-FA2A-276E-8D8C-AE254C8DD5D1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3479801" y="5278439"/>
            <a:ext cx="690563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A9107603-0972-2BE9-C84D-2A493D8D94AB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7891463" y="5284789"/>
            <a:ext cx="69056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5987AB5-A92D-867D-89BF-CC153458D1BE}"/>
              </a:ext>
            </a:extLst>
          </p:cNvPr>
          <p:cNvGrpSpPr>
            <a:grpSpLocks/>
          </p:cNvGrpSpPr>
          <p:nvPr/>
        </p:nvGrpSpPr>
        <p:grpSpPr bwMode="auto">
          <a:xfrm>
            <a:off x="2401889" y="3943351"/>
            <a:ext cx="7267575" cy="904875"/>
            <a:chOff x="589" y="2095"/>
            <a:chExt cx="4578" cy="801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2C09F97-2590-CE94-BBD9-31E995A9780C}"/>
                </a:ext>
              </a:extLst>
            </p:cNvPr>
            <p:cNvSpPr>
              <a:spLocks/>
            </p:cNvSpPr>
            <p:nvPr/>
          </p:nvSpPr>
          <p:spPr bwMode="gray">
            <a:xfrm>
              <a:off x="4045" y="2095"/>
              <a:ext cx="1122" cy="801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288" y="0"/>
                </a:cxn>
                <a:cxn ang="0">
                  <a:pos x="576" y="432"/>
                </a:cxn>
              </a:cxnLst>
              <a:rect l="0" t="0" r="r" b="b"/>
              <a:pathLst>
                <a:path w="576" h="432">
                  <a:moveTo>
                    <a:pt x="0" y="432"/>
                  </a:moveTo>
                  <a:cubicBezTo>
                    <a:pt x="96" y="216"/>
                    <a:pt x="192" y="0"/>
                    <a:pt x="288" y="0"/>
                  </a:cubicBezTo>
                  <a:cubicBezTo>
                    <a:pt x="384" y="0"/>
                    <a:pt x="480" y="216"/>
                    <a:pt x="576" y="432"/>
                  </a:cubicBezTo>
                </a:path>
              </a:pathLst>
            </a:custGeom>
            <a:solidFill>
              <a:srgbClr val="CCFF99"/>
            </a:solidFill>
            <a:ln w="57150" cmpd="sng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0C6E0BF-0858-FF27-44C5-2F07CBC17C85}"/>
                </a:ext>
              </a:extLst>
            </p:cNvPr>
            <p:cNvSpPr>
              <a:spLocks/>
            </p:cNvSpPr>
            <p:nvPr/>
          </p:nvSpPr>
          <p:spPr bwMode="gray">
            <a:xfrm>
              <a:off x="589" y="2095"/>
              <a:ext cx="1122" cy="801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288" y="0"/>
                </a:cxn>
                <a:cxn ang="0">
                  <a:pos x="576" y="432"/>
                </a:cxn>
              </a:cxnLst>
              <a:rect l="0" t="0" r="r" b="b"/>
              <a:pathLst>
                <a:path w="576" h="432">
                  <a:moveTo>
                    <a:pt x="0" y="432"/>
                  </a:moveTo>
                  <a:cubicBezTo>
                    <a:pt x="96" y="216"/>
                    <a:pt x="192" y="0"/>
                    <a:pt x="288" y="0"/>
                  </a:cubicBezTo>
                  <a:cubicBezTo>
                    <a:pt x="384" y="0"/>
                    <a:pt x="480" y="216"/>
                    <a:pt x="576" y="432"/>
                  </a:cubicBezTo>
                </a:path>
              </a:pathLst>
            </a:custGeom>
            <a:solidFill>
              <a:srgbClr val="CCFF99"/>
            </a:solidFill>
            <a:ln w="57150" cmpd="sng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26" name="Freeform 25" descr="80%">
            <a:extLst>
              <a:ext uri="{FF2B5EF4-FFF2-40B4-BE49-F238E27FC236}">
                <a16:creationId xmlns:a16="http://schemas.microsoft.com/office/drawing/2014/main" id="{55EA9E20-2E7F-6D84-E038-C929AB835511}"/>
              </a:ext>
            </a:extLst>
          </p:cNvPr>
          <p:cNvSpPr>
            <a:spLocks/>
          </p:cNvSpPr>
          <p:nvPr/>
        </p:nvSpPr>
        <p:spPr bwMode="gray">
          <a:xfrm flipH="1">
            <a:off x="2435226" y="3959226"/>
            <a:ext cx="900113" cy="904875"/>
          </a:xfrm>
          <a:custGeom>
            <a:avLst/>
            <a:gdLst/>
            <a:ahLst/>
            <a:cxnLst>
              <a:cxn ang="0">
                <a:pos x="29" y="671"/>
              </a:cxn>
              <a:cxn ang="0">
                <a:pos x="29" y="575"/>
              </a:cxn>
              <a:cxn ang="0">
                <a:pos x="29" y="89"/>
              </a:cxn>
              <a:cxn ang="0">
                <a:pos x="29" y="41"/>
              </a:cxn>
              <a:cxn ang="0">
                <a:pos x="29" y="5"/>
              </a:cxn>
              <a:cxn ang="0">
                <a:pos x="80" y="20"/>
              </a:cxn>
              <a:cxn ang="0">
                <a:pos x="167" y="77"/>
              </a:cxn>
              <a:cxn ang="0">
                <a:pos x="266" y="191"/>
              </a:cxn>
              <a:cxn ang="0">
                <a:pos x="362" y="329"/>
              </a:cxn>
              <a:cxn ang="0">
                <a:pos x="431" y="452"/>
              </a:cxn>
              <a:cxn ang="0">
                <a:pos x="467" y="518"/>
              </a:cxn>
              <a:cxn ang="0">
                <a:pos x="545" y="662"/>
              </a:cxn>
              <a:cxn ang="0">
                <a:pos x="494" y="668"/>
              </a:cxn>
              <a:cxn ang="0">
                <a:pos x="380" y="671"/>
              </a:cxn>
              <a:cxn ang="0">
                <a:pos x="203" y="671"/>
              </a:cxn>
              <a:cxn ang="0">
                <a:pos x="29" y="671"/>
              </a:cxn>
            </a:cxnLst>
            <a:rect l="0" t="0" r="r" b="b"/>
            <a:pathLst>
              <a:path w="549" h="687">
                <a:moveTo>
                  <a:pt x="29" y="671"/>
                </a:moveTo>
                <a:cubicBezTo>
                  <a:pt x="0" y="655"/>
                  <a:pt x="29" y="672"/>
                  <a:pt x="29" y="575"/>
                </a:cubicBezTo>
                <a:cubicBezTo>
                  <a:pt x="29" y="478"/>
                  <a:pt x="29" y="178"/>
                  <a:pt x="29" y="89"/>
                </a:cubicBezTo>
                <a:cubicBezTo>
                  <a:pt x="29" y="0"/>
                  <a:pt x="29" y="55"/>
                  <a:pt x="29" y="41"/>
                </a:cubicBezTo>
                <a:cubicBezTo>
                  <a:pt x="29" y="27"/>
                  <a:pt x="21" y="8"/>
                  <a:pt x="29" y="5"/>
                </a:cubicBezTo>
                <a:cubicBezTo>
                  <a:pt x="37" y="2"/>
                  <a:pt x="57" y="8"/>
                  <a:pt x="80" y="20"/>
                </a:cubicBezTo>
                <a:cubicBezTo>
                  <a:pt x="103" y="32"/>
                  <a:pt x="136" y="49"/>
                  <a:pt x="167" y="77"/>
                </a:cubicBezTo>
                <a:cubicBezTo>
                  <a:pt x="198" y="105"/>
                  <a:pt x="234" y="149"/>
                  <a:pt x="266" y="191"/>
                </a:cubicBezTo>
                <a:cubicBezTo>
                  <a:pt x="298" y="233"/>
                  <a:pt x="335" y="286"/>
                  <a:pt x="362" y="329"/>
                </a:cubicBezTo>
                <a:cubicBezTo>
                  <a:pt x="389" y="372"/>
                  <a:pt x="414" y="421"/>
                  <a:pt x="431" y="452"/>
                </a:cubicBezTo>
                <a:cubicBezTo>
                  <a:pt x="448" y="483"/>
                  <a:pt x="448" y="483"/>
                  <a:pt x="467" y="518"/>
                </a:cubicBezTo>
                <a:cubicBezTo>
                  <a:pt x="486" y="553"/>
                  <a:pt x="541" y="637"/>
                  <a:pt x="545" y="662"/>
                </a:cubicBezTo>
                <a:cubicBezTo>
                  <a:pt x="549" y="687"/>
                  <a:pt x="521" y="667"/>
                  <a:pt x="494" y="668"/>
                </a:cubicBezTo>
                <a:cubicBezTo>
                  <a:pt x="467" y="669"/>
                  <a:pt x="428" y="671"/>
                  <a:pt x="380" y="671"/>
                </a:cubicBezTo>
                <a:cubicBezTo>
                  <a:pt x="332" y="671"/>
                  <a:pt x="261" y="671"/>
                  <a:pt x="203" y="671"/>
                </a:cubicBezTo>
                <a:cubicBezTo>
                  <a:pt x="145" y="671"/>
                  <a:pt x="58" y="687"/>
                  <a:pt x="29" y="671"/>
                </a:cubicBezTo>
                <a:close/>
              </a:path>
            </a:pathLst>
          </a:custGeom>
          <a:pattFill prst="pct80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7" name="Text Box 26">
            <a:extLst>
              <a:ext uri="{FF2B5EF4-FFF2-40B4-BE49-F238E27FC236}">
                <a16:creationId xmlns:a16="http://schemas.microsoft.com/office/drawing/2014/main" id="{5D6AC11E-CA2D-BDC9-DA57-1B4371EDAC4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155950" y="4889501"/>
            <a:ext cx="279400" cy="2444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-</a:t>
            </a:r>
            <a:r>
              <a:rPr lang="pt-BR" sz="1200" i="1" baseline="-25000">
                <a:solidFill>
                  <a:srgbClr val="0000CC"/>
                </a:solidFill>
                <a:latin typeface="Times New Roman" pitchFamily="18" charset="0"/>
              </a:rPr>
              <a:t> 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f</a:t>
            </a:r>
            <a:r>
              <a:rPr lang="pt-BR" sz="1600" i="1" baseline="-25000">
                <a:solidFill>
                  <a:srgbClr val="0000CC"/>
                </a:solidFill>
                <a:latin typeface="Times New Roman" pitchFamily="18" charset="0"/>
              </a:rPr>
              <a:t>c</a:t>
            </a:r>
            <a:endParaRPr lang="pt-BR" sz="1600" i="1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28" name="Text Box 27">
            <a:extLst>
              <a:ext uri="{FF2B5EF4-FFF2-40B4-BE49-F238E27FC236}">
                <a16:creationId xmlns:a16="http://schemas.microsoft.com/office/drawing/2014/main" id="{8E57683F-4E5A-4626-18BD-4A8098105A2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994900" y="4899026"/>
            <a:ext cx="4254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f  </a:t>
            </a:r>
            <a:r>
              <a:rPr lang="pt-BR" sz="1600">
                <a:solidFill>
                  <a:srgbClr val="0000CC"/>
                </a:solidFill>
                <a:latin typeface="Times New Roman" pitchFamily="18" charset="0"/>
                <a:sym typeface="Symbol" pitchFamily="18" charset="2"/>
              </a:rPr>
              <a:t></a:t>
            </a:r>
            <a:endParaRPr lang="pt-BR" sz="1600" i="1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29" name="Text Box 28">
            <a:extLst>
              <a:ext uri="{FF2B5EF4-FFF2-40B4-BE49-F238E27FC236}">
                <a16:creationId xmlns:a16="http://schemas.microsoft.com/office/drawing/2014/main" id="{DD42FB15-DE66-D517-250E-063D2FA5227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710614" y="4899026"/>
            <a:ext cx="1857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f</a:t>
            </a:r>
            <a:r>
              <a:rPr lang="pt-BR" sz="1600" i="1" baseline="-25000">
                <a:solidFill>
                  <a:srgbClr val="0000CC"/>
                </a:solidFill>
                <a:latin typeface="Times New Roman" pitchFamily="18" charset="0"/>
              </a:rPr>
              <a:t>c</a:t>
            </a:r>
            <a:endParaRPr lang="pt-BR" sz="1600" i="1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30" name="Line 29">
            <a:extLst>
              <a:ext uri="{FF2B5EF4-FFF2-40B4-BE49-F238E27FC236}">
                <a16:creationId xmlns:a16="http://schemas.microsoft.com/office/drawing/2014/main" id="{5351272A-2858-982C-7486-FA56C1760794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3302000" y="4789488"/>
            <a:ext cx="0" cy="63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1" name="Text Box 30">
            <a:extLst>
              <a:ext uri="{FF2B5EF4-FFF2-40B4-BE49-F238E27FC236}">
                <a16:creationId xmlns:a16="http://schemas.microsoft.com/office/drawing/2014/main" id="{7E91995D-D62E-AE11-4354-305B07AED42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981701" y="4899026"/>
            <a:ext cx="142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>
                <a:solidFill>
                  <a:srgbClr val="0000CC"/>
                </a:solidFill>
                <a:latin typeface="Times New Roman" pitchFamily="18" charset="0"/>
              </a:rPr>
              <a:t>0</a:t>
            </a:r>
            <a:endParaRPr lang="pt-BR" sz="1600" i="1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2FE752B4-0CD9-5BA5-8F6E-695C88F46B8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6076951" y="3402014"/>
            <a:ext cx="6127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S</a:t>
            </a:r>
            <a:r>
              <a:rPr lang="pt-BR" sz="1600">
                <a:solidFill>
                  <a:srgbClr val="0000CC"/>
                </a:solidFill>
                <a:latin typeface="Times New Roman" pitchFamily="18" charset="0"/>
              </a:rPr>
              <a:t>( 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f </a:t>
            </a:r>
            <a:r>
              <a:rPr lang="pt-BR" sz="1600">
                <a:solidFill>
                  <a:srgbClr val="0000CC"/>
                </a:solidFill>
                <a:latin typeface="Times New Roman" pitchFamily="18" charset="0"/>
              </a:rPr>
              <a:t>)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  </a:t>
            </a:r>
          </a:p>
        </p:txBody>
      </p:sp>
      <p:sp>
        <p:nvSpPr>
          <p:cNvPr id="33" name="Freeform 32" descr="80%">
            <a:extLst>
              <a:ext uri="{FF2B5EF4-FFF2-40B4-BE49-F238E27FC236}">
                <a16:creationId xmlns:a16="http://schemas.microsoft.com/office/drawing/2014/main" id="{7275C888-B14F-9D5A-89AA-CF3B2140081B}"/>
              </a:ext>
            </a:extLst>
          </p:cNvPr>
          <p:cNvSpPr>
            <a:spLocks/>
          </p:cNvSpPr>
          <p:nvPr/>
        </p:nvSpPr>
        <p:spPr bwMode="gray">
          <a:xfrm>
            <a:off x="8755064" y="3967164"/>
            <a:ext cx="871537" cy="896937"/>
          </a:xfrm>
          <a:custGeom>
            <a:avLst/>
            <a:gdLst/>
            <a:ahLst/>
            <a:cxnLst>
              <a:cxn ang="0">
                <a:pos x="29" y="671"/>
              </a:cxn>
              <a:cxn ang="0">
                <a:pos x="29" y="575"/>
              </a:cxn>
              <a:cxn ang="0">
                <a:pos x="29" y="89"/>
              </a:cxn>
              <a:cxn ang="0">
                <a:pos x="29" y="41"/>
              </a:cxn>
              <a:cxn ang="0">
                <a:pos x="29" y="5"/>
              </a:cxn>
              <a:cxn ang="0">
                <a:pos x="80" y="20"/>
              </a:cxn>
              <a:cxn ang="0">
                <a:pos x="167" y="77"/>
              </a:cxn>
              <a:cxn ang="0">
                <a:pos x="266" y="191"/>
              </a:cxn>
              <a:cxn ang="0">
                <a:pos x="362" y="329"/>
              </a:cxn>
              <a:cxn ang="0">
                <a:pos x="431" y="452"/>
              </a:cxn>
              <a:cxn ang="0">
                <a:pos x="467" y="518"/>
              </a:cxn>
              <a:cxn ang="0">
                <a:pos x="545" y="662"/>
              </a:cxn>
              <a:cxn ang="0">
                <a:pos x="494" y="668"/>
              </a:cxn>
              <a:cxn ang="0">
                <a:pos x="380" y="671"/>
              </a:cxn>
              <a:cxn ang="0">
                <a:pos x="203" y="671"/>
              </a:cxn>
              <a:cxn ang="0">
                <a:pos x="29" y="671"/>
              </a:cxn>
            </a:cxnLst>
            <a:rect l="0" t="0" r="r" b="b"/>
            <a:pathLst>
              <a:path w="549" h="687">
                <a:moveTo>
                  <a:pt x="29" y="671"/>
                </a:moveTo>
                <a:cubicBezTo>
                  <a:pt x="0" y="655"/>
                  <a:pt x="29" y="672"/>
                  <a:pt x="29" y="575"/>
                </a:cubicBezTo>
                <a:cubicBezTo>
                  <a:pt x="29" y="478"/>
                  <a:pt x="29" y="178"/>
                  <a:pt x="29" y="89"/>
                </a:cubicBezTo>
                <a:cubicBezTo>
                  <a:pt x="29" y="0"/>
                  <a:pt x="29" y="55"/>
                  <a:pt x="29" y="41"/>
                </a:cubicBezTo>
                <a:cubicBezTo>
                  <a:pt x="29" y="27"/>
                  <a:pt x="21" y="8"/>
                  <a:pt x="29" y="5"/>
                </a:cubicBezTo>
                <a:cubicBezTo>
                  <a:pt x="37" y="2"/>
                  <a:pt x="57" y="8"/>
                  <a:pt x="80" y="20"/>
                </a:cubicBezTo>
                <a:cubicBezTo>
                  <a:pt x="103" y="32"/>
                  <a:pt x="136" y="49"/>
                  <a:pt x="167" y="77"/>
                </a:cubicBezTo>
                <a:cubicBezTo>
                  <a:pt x="198" y="105"/>
                  <a:pt x="234" y="149"/>
                  <a:pt x="266" y="191"/>
                </a:cubicBezTo>
                <a:cubicBezTo>
                  <a:pt x="298" y="233"/>
                  <a:pt x="335" y="286"/>
                  <a:pt x="362" y="329"/>
                </a:cubicBezTo>
                <a:cubicBezTo>
                  <a:pt x="389" y="372"/>
                  <a:pt x="414" y="421"/>
                  <a:pt x="431" y="452"/>
                </a:cubicBezTo>
                <a:cubicBezTo>
                  <a:pt x="448" y="483"/>
                  <a:pt x="448" y="483"/>
                  <a:pt x="467" y="518"/>
                </a:cubicBezTo>
                <a:cubicBezTo>
                  <a:pt x="486" y="553"/>
                  <a:pt x="541" y="637"/>
                  <a:pt x="545" y="662"/>
                </a:cubicBezTo>
                <a:cubicBezTo>
                  <a:pt x="549" y="687"/>
                  <a:pt x="521" y="667"/>
                  <a:pt x="494" y="668"/>
                </a:cubicBezTo>
                <a:cubicBezTo>
                  <a:pt x="467" y="669"/>
                  <a:pt x="428" y="671"/>
                  <a:pt x="380" y="671"/>
                </a:cubicBezTo>
                <a:cubicBezTo>
                  <a:pt x="332" y="671"/>
                  <a:pt x="261" y="671"/>
                  <a:pt x="203" y="671"/>
                </a:cubicBezTo>
                <a:cubicBezTo>
                  <a:pt x="145" y="671"/>
                  <a:pt x="58" y="687"/>
                  <a:pt x="29" y="671"/>
                </a:cubicBezTo>
                <a:close/>
              </a:path>
            </a:pathLst>
          </a:custGeom>
          <a:pattFill prst="pct80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BB2A160C-496F-58B5-56E4-E5CE70665794}"/>
              </a:ext>
            </a:extLst>
          </p:cNvPr>
          <p:cNvSpPr>
            <a:spLocks noChangeShapeType="1"/>
          </p:cNvSpPr>
          <p:nvPr/>
        </p:nvSpPr>
        <p:spPr bwMode="gray">
          <a:xfrm>
            <a:off x="1978025" y="4843463"/>
            <a:ext cx="438150" cy="4762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7EABB03F-643F-52D7-CEDF-B7AD8F104943}"/>
              </a:ext>
            </a:extLst>
          </p:cNvPr>
          <p:cNvSpPr>
            <a:spLocks noChangeShapeType="1"/>
          </p:cNvSpPr>
          <p:nvPr/>
        </p:nvSpPr>
        <p:spPr bwMode="gray">
          <a:xfrm>
            <a:off x="4159251" y="4845050"/>
            <a:ext cx="3749675" cy="0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6" name="Line 35">
            <a:extLst>
              <a:ext uri="{FF2B5EF4-FFF2-40B4-BE49-F238E27FC236}">
                <a16:creationId xmlns:a16="http://schemas.microsoft.com/office/drawing/2014/main" id="{FC83CBAF-C7E7-15E5-2858-7F36A5BB3FED}"/>
              </a:ext>
            </a:extLst>
          </p:cNvPr>
          <p:cNvSpPr>
            <a:spLocks noChangeShapeType="1"/>
          </p:cNvSpPr>
          <p:nvPr/>
        </p:nvSpPr>
        <p:spPr bwMode="gray">
          <a:xfrm>
            <a:off x="9664701" y="4845050"/>
            <a:ext cx="568325" cy="0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7" name="Line 36">
            <a:extLst>
              <a:ext uri="{FF2B5EF4-FFF2-40B4-BE49-F238E27FC236}">
                <a16:creationId xmlns:a16="http://schemas.microsoft.com/office/drawing/2014/main" id="{8C0E2783-36BE-36C1-AA79-01A3C4E09A44}"/>
              </a:ext>
            </a:extLst>
          </p:cNvPr>
          <p:cNvSpPr>
            <a:spLocks noChangeShapeType="1"/>
          </p:cNvSpPr>
          <p:nvPr/>
        </p:nvSpPr>
        <p:spPr bwMode="gray">
          <a:xfrm>
            <a:off x="7896225" y="4945064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8" name="Line 37">
            <a:extLst>
              <a:ext uri="{FF2B5EF4-FFF2-40B4-BE49-F238E27FC236}">
                <a16:creationId xmlns:a16="http://schemas.microsoft.com/office/drawing/2014/main" id="{44F1F8F9-32B0-FDC1-3341-002A1C092E89}"/>
              </a:ext>
            </a:extLst>
          </p:cNvPr>
          <p:cNvSpPr>
            <a:spLocks noChangeShapeType="1"/>
          </p:cNvSpPr>
          <p:nvPr/>
        </p:nvSpPr>
        <p:spPr bwMode="gray">
          <a:xfrm>
            <a:off x="9667875" y="4945064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9" name="Line 38">
            <a:extLst>
              <a:ext uri="{FF2B5EF4-FFF2-40B4-BE49-F238E27FC236}">
                <a16:creationId xmlns:a16="http://schemas.microsoft.com/office/drawing/2014/main" id="{CEBDCDD3-A84C-11B2-499B-41DB3DF4766F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8972551" y="5284789"/>
            <a:ext cx="690563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0" name="Text Box 39">
            <a:extLst>
              <a:ext uri="{FF2B5EF4-FFF2-40B4-BE49-F238E27FC236}">
                <a16:creationId xmlns:a16="http://schemas.microsoft.com/office/drawing/2014/main" id="{B514B039-D8F5-04C0-D6EE-D2B7DF67E5A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588375" y="5159376"/>
            <a:ext cx="38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>
                <a:solidFill>
                  <a:srgbClr val="0000CC"/>
                </a:solidFill>
                <a:latin typeface="Times New Roman" pitchFamily="18" charset="0"/>
              </a:rPr>
              <a:t>2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B</a:t>
            </a:r>
            <a:r>
              <a:rPr lang="pt-BR" sz="1600" i="1" baseline="-25000">
                <a:solidFill>
                  <a:srgbClr val="0000CC"/>
                </a:solidFill>
                <a:latin typeface="Times New Roman" pitchFamily="18" charset="0"/>
              </a:rPr>
              <a:t>m</a:t>
            </a:r>
            <a:endParaRPr lang="pt-BR" sz="1600" i="1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41" name="Line 40">
            <a:extLst>
              <a:ext uri="{FF2B5EF4-FFF2-40B4-BE49-F238E27FC236}">
                <a16:creationId xmlns:a16="http://schemas.microsoft.com/office/drawing/2014/main" id="{0EB746B3-F3D9-CC73-66E1-6567D575DE5A}"/>
              </a:ext>
            </a:extLst>
          </p:cNvPr>
          <p:cNvSpPr>
            <a:spLocks noChangeShapeType="1"/>
          </p:cNvSpPr>
          <p:nvPr/>
        </p:nvSpPr>
        <p:spPr bwMode="gray">
          <a:xfrm>
            <a:off x="2400300" y="4935539"/>
            <a:ext cx="0" cy="382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2" name="Line 41">
            <a:extLst>
              <a:ext uri="{FF2B5EF4-FFF2-40B4-BE49-F238E27FC236}">
                <a16:creationId xmlns:a16="http://schemas.microsoft.com/office/drawing/2014/main" id="{7B84C77C-9970-DC00-BF68-81E56D1E4EB9}"/>
              </a:ext>
            </a:extLst>
          </p:cNvPr>
          <p:cNvSpPr>
            <a:spLocks noChangeShapeType="1"/>
          </p:cNvSpPr>
          <p:nvPr/>
        </p:nvSpPr>
        <p:spPr bwMode="gray">
          <a:xfrm>
            <a:off x="4171950" y="4935539"/>
            <a:ext cx="0" cy="382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3" name="Text Box 42">
            <a:extLst>
              <a:ext uri="{FF2B5EF4-FFF2-40B4-BE49-F238E27FC236}">
                <a16:creationId xmlns:a16="http://schemas.microsoft.com/office/drawing/2014/main" id="{F7FDA087-0967-FC08-8C10-6C38FAD97083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101975" y="5154614"/>
            <a:ext cx="38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>
                <a:solidFill>
                  <a:srgbClr val="0000CC"/>
                </a:solidFill>
                <a:latin typeface="Times New Roman" pitchFamily="18" charset="0"/>
              </a:rPr>
              <a:t>2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B</a:t>
            </a:r>
            <a:r>
              <a:rPr lang="pt-BR" sz="1600" i="1" baseline="-25000">
                <a:solidFill>
                  <a:srgbClr val="0000CC"/>
                </a:solidFill>
                <a:latin typeface="Times New Roman" pitchFamily="18" charset="0"/>
              </a:rPr>
              <a:t>m</a:t>
            </a:r>
            <a:endParaRPr lang="pt-BR" sz="1600" i="1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44" name="Line 43">
            <a:extLst>
              <a:ext uri="{FF2B5EF4-FFF2-40B4-BE49-F238E27FC236}">
                <a16:creationId xmlns:a16="http://schemas.microsoft.com/office/drawing/2014/main" id="{B4D24C6D-D0AB-69EA-8FF6-B3B7D100D9FF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6045200" y="3435350"/>
            <a:ext cx="7938" cy="148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5" name="Text Box 44">
            <a:extLst>
              <a:ext uri="{FF2B5EF4-FFF2-40B4-BE49-F238E27FC236}">
                <a16:creationId xmlns:a16="http://schemas.microsoft.com/office/drawing/2014/main" id="{F5782374-03F4-EF74-4CD6-C3CA46E38C0B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229101" y="4008439"/>
            <a:ext cx="61277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pt-BR" sz="1600">
                <a:solidFill>
                  <a:srgbClr val="0000CC"/>
                </a:solidFill>
                <a:latin typeface="Arial Narrow" pitchFamily="34" charset="0"/>
              </a:rPr>
              <a:t>Banda lateral inferior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  </a:t>
            </a:r>
          </a:p>
        </p:txBody>
      </p:sp>
      <p:sp>
        <p:nvSpPr>
          <p:cNvPr id="46" name="Line 45">
            <a:extLst>
              <a:ext uri="{FF2B5EF4-FFF2-40B4-BE49-F238E27FC236}">
                <a16:creationId xmlns:a16="http://schemas.microsoft.com/office/drawing/2014/main" id="{0AF0E45C-0216-5AA8-72E8-BA668F7DDC43}"/>
              </a:ext>
            </a:extLst>
          </p:cNvPr>
          <p:cNvSpPr>
            <a:spLocks noChangeShapeType="1"/>
          </p:cNvSpPr>
          <p:nvPr/>
        </p:nvSpPr>
        <p:spPr bwMode="gray">
          <a:xfrm flipH="1">
            <a:off x="3676650" y="4324350"/>
            <a:ext cx="552450" cy="2159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stealth" w="sm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7" name="Text Box 46">
            <a:extLst>
              <a:ext uri="{FF2B5EF4-FFF2-40B4-BE49-F238E27FC236}">
                <a16:creationId xmlns:a16="http://schemas.microsoft.com/office/drawing/2014/main" id="{D9285ED0-F3BF-3EC7-507D-200CD8705F1B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677401" y="4006851"/>
            <a:ext cx="708025" cy="735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pt-BR" sz="1600">
                <a:solidFill>
                  <a:srgbClr val="0000CC"/>
                </a:solidFill>
                <a:latin typeface="Arial Narrow" pitchFamily="34" charset="0"/>
              </a:rPr>
              <a:t>Banda lateral superior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  </a:t>
            </a:r>
          </a:p>
        </p:txBody>
      </p:sp>
      <p:sp>
        <p:nvSpPr>
          <p:cNvPr id="48" name="Text Box 47">
            <a:extLst>
              <a:ext uri="{FF2B5EF4-FFF2-40B4-BE49-F238E27FC236}">
                <a16:creationId xmlns:a16="http://schemas.microsoft.com/office/drawing/2014/main" id="{34C95518-24FF-8A01-E298-0FD1F107D0AD}"/>
              </a:ext>
            </a:extLst>
          </p:cNvPr>
          <p:cNvSpPr txBox="1">
            <a:spLocks noChangeArrowheads="1"/>
          </p:cNvSpPr>
          <p:nvPr/>
        </p:nvSpPr>
        <p:spPr bwMode="gray">
          <a:xfrm flipH="1">
            <a:off x="7248526" y="4006851"/>
            <a:ext cx="612775" cy="735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pt-BR" sz="1600">
                <a:solidFill>
                  <a:srgbClr val="0000CC"/>
                </a:solidFill>
                <a:latin typeface="Arial Narrow" pitchFamily="34" charset="0"/>
              </a:rPr>
              <a:t>Banda lateral inferior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  </a:t>
            </a:r>
          </a:p>
        </p:txBody>
      </p:sp>
      <p:sp>
        <p:nvSpPr>
          <p:cNvPr id="49" name="Text Box 48">
            <a:extLst>
              <a:ext uri="{FF2B5EF4-FFF2-40B4-BE49-F238E27FC236}">
                <a16:creationId xmlns:a16="http://schemas.microsoft.com/office/drawing/2014/main" id="{98C6246F-9D5A-8CE9-41EA-5C63DAC4677B}"/>
              </a:ext>
            </a:extLst>
          </p:cNvPr>
          <p:cNvSpPr txBox="1">
            <a:spLocks noChangeArrowheads="1"/>
          </p:cNvSpPr>
          <p:nvPr/>
        </p:nvSpPr>
        <p:spPr bwMode="gray">
          <a:xfrm flipH="1">
            <a:off x="1733551" y="4006851"/>
            <a:ext cx="708025" cy="735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pt-BR" sz="1600">
                <a:solidFill>
                  <a:srgbClr val="0000CC"/>
                </a:solidFill>
                <a:latin typeface="Arial Narrow" pitchFamily="34" charset="0"/>
              </a:rPr>
              <a:t>Banda lateral superior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  </a:t>
            </a:r>
          </a:p>
        </p:txBody>
      </p:sp>
      <p:sp>
        <p:nvSpPr>
          <p:cNvPr id="50" name="Line 49">
            <a:extLst>
              <a:ext uri="{FF2B5EF4-FFF2-40B4-BE49-F238E27FC236}">
                <a16:creationId xmlns:a16="http://schemas.microsoft.com/office/drawing/2014/main" id="{19EA8525-660D-3D01-ADDB-C04EFFDF2FE7}"/>
              </a:ext>
            </a:extLst>
          </p:cNvPr>
          <p:cNvSpPr>
            <a:spLocks noChangeShapeType="1"/>
          </p:cNvSpPr>
          <p:nvPr/>
        </p:nvSpPr>
        <p:spPr bwMode="gray">
          <a:xfrm>
            <a:off x="2393950" y="4389438"/>
            <a:ext cx="495300" cy="131762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stealth" w="sm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1" name="Line 50">
            <a:extLst>
              <a:ext uri="{FF2B5EF4-FFF2-40B4-BE49-F238E27FC236}">
                <a16:creationId xmlns:a16="http://schemas.microsoft.com/office/drawing/2014/main" id="{34824CBC-EF5B-4838-487B-68A67DDB0286}"/>
              </a:ext>
            </a:extLst>
          </p:cNvPr>
          <p:cNvSpPr>
            <a:spLocks noChangeShapeType="1"/>
          </p:cNvSpPr>
          <p:nvPr/>
        </p:nvSpPr>
        <p:spPr bwMode="gray">
          <a:xfrm>
            <a:off x="6048376" y="3948113"/>
            <a:ext cx="1047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2" name="Line 51">
            <a:extLst>
              <a:ext uri="{FF2B5EF4-FFF2-40B4-BE49-F238E27FC236}">
                <a16:creationId xmlns:a16="http://schemas.microsoft.com/office/drawing/2014/main" id="{57075FC0-5CA7-E9FA-B532-A66B9E3B6877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8788400" y="4789488"/>
            <a:ext cx="0" cy="63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3" name="Line 52">
            <a:extLst>
              <a:ext uri="{FF2B5EF4-FFF2-40B4-BE49-F238E27FC236}">
                <a16:creationId xmlns:a16="http://schemas.microsoft.com/office/drawing/2014/main" id="{305F5A81-0257-6FB2-6B4E-6E14CF418779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1946275" y="4854575"/>
            <a:ext cx="845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4" name="Line 53">
            <a:extLst>
              <a:ext uri="{FF2B5EF4-FFF2-40B4-BE49-F238E27FC236}">
                <a16:creationId xmlns:a16="http://schemas.microsoft.com/office/drawing/2014/main" id="{BA92548D-6FC0-994B-A0AA-AFABA4FEAA47}"/>
              </a:ext>
            </a:extLst>
          </p:cNvPr>
          <p:cNvSpPr>
            <a:spLocks noChangeShapeType="1"/>
          </p:cNvSpPr>
          <p:nvPr/>
        </p:nvSpPr>
        <p:spPr bwMode="gray">
          <a:xfrm flipH="1">
            <a:off x="9163050" y="4381500"/>
            <a:ext cx="552450" cy="2159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stealth" w="sm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5" name="Line 54">
            <a:extLst>
              <a:ext uri="{FF2B5EF4-FFF2-40B4-BE49-F238E27FC236}">
                <a16:creationId xmlns:a16="http://schemas.microsoft.com/office/drawing/2014/main" id="{2F892383-4B36-0412-843C-120834529E6B}"/>
              </a:ext>
            </a:extLst>
          </p:cNvPr>
          <p:cNvSpPr>
            <a:spLocks noChangeShapeType="1"/>
          </p:cNvSpPr>
          <p:nvPr/>
        </p:nvSpPr>
        <p:spPr bwMode="gray">
          <a:xfrm>
            <a:off x="7861300" y="4389438"/>
            <a:ext cx="514350" cy="188912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stealth" w="sm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6" name="Text Box 55">
            <a:extLst>
              <a:ext uri="{FF2B5EF4-FFF2-40B4-BE49-F238E27FC236}">
                <a16:creationId xmlns:a16="http://schemas.microsoft.com/office/drawing/2014/main" id="{3EE03073-4B50-DF57-B0B6-DB3272AF427A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419350" y="5734050"/>
            <a:ext cx="7596188" cy="369332"/>
          </a:xfrm>
          <a:prstGeom prst="rect">
            <a:avLst/>
          </a:prstGeom>
          <a:solidFill>
            <a:srgbClr val="FFFFCC"/>
          </a:solidFill>
          <a:ln w="9525">
            <a:solidFill>
              <a:srgbClr val="FFFF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solidFill>
                  <a:schemeClr val="accent2"/>
                </a:solidFill>
                <a:latin typeface="Arial" charset="0"/>
              </a:rPr>
              <a:t>Largura de banda de transmissão SSB = </a:t>
            </a:r>
            <a:r>
              <a:rPr lang="pt-BR" i="1">
                <a:solidFill>
                  <a:schemeClr val="accent2"/>
                </a:solidFill>
                <a:latin typeface="Times New Roman" pitchFamily="18" charset="0"/>
              </a:rPr>
              <a:t>B</a:t>
            </a:r>
            <a:r>
              <a:rPr lang="pt-BR" i="1" baseline="-25000">
                <a:solidFill>
                  <a:schemeClr val="accent2"/>
                </a:solidFill>
                <a:latin typeface="Times New Roman" pitchFamily="18" charset="0"/>
              </a:rPr>
              <a:t>T </a:t>
            </a:r>
            <a:r>
              <a:rPr lang="pt-BR">
                <a:solidFill>
                  <a:schemeClr val="accent2"/>
                </a:solidFill>
                <a:latin typeface="Arial" charset="0"/>
              </a:rPr>
              <a:t> =  </a:t>
            </a:r>
            <a:r>
              <a:rPr lang="pt-BR" i="1">
                <a:solidFill>
                  <a:schemeClr val="accent2"/>
                </a:solidFill>
                <a:latin typeface="Times New Roman" pitchFamily="18" charset="0"/>
              </a:rPr>
              <a:t>B</a:t>
            </a:r>
            <a:r>
              <a:rPr lang="pt-BR" i="1" baseline="-25000">
                <a:solidFill>
                  <a:schemeClr val="accent2"/>
                </a:solidFill>
                <a:latin typeface="Times New Roman" pitchFamily="18" charset="0"/>
              </a:rPr>
              <a:t>m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7E40877-28C9-35FF-4764-790D7CD7139C}"/>
              </a:ext>
            </a:extLst>
          </p:cNvPr>
          <p:cNvGrpSpPr>
            <a:grpSpLocks/>
          </p:cNvGrpSpPr>
          <p:nvPr/>
        </p:nvGrpSpPr>
        <p:grpSpPr bwMode="auto">
          <a:xfrm>
            <a:off x="3300413" y="3902075"/>
            <a:ext cx="5486400" cy="946150"/>
            <a:chOff x="1119" y="2458"/>
            <a:chExt cx="3456" cy="596"/>
          </a:xfrm>
        </p:grpSpPr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B613988E-683D-E9E2-2CFB-88C5D049DE1A}"/>
                </a:ext>
              </a:extLst>
            </p:cNvPr>
            <p:cNvSpPr>
              <a:spLocks/>
            </p:cNvSpPr>
            <p:nvPr/>
          </p:nvSpPr>
          <p:spPr bwMode="ltGray">
            <a:xfrm>
              <a:off x="1119" y="2478"/>
              <a:ext cx="3456" cy="5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76"/>
                </a:cxn>
                <a:cxn ang="0">
                  <a:pos x="3456" y="576"/>
                </a:cxn>
                <a:cxn ang="0">
                  <a:pos x="3456" y="0"/>
                </a:cxn>
              </a:cxnLst>
              <a:rect l="0" t="0" r="r" b="b"/>
              <a:pathLst>
                <a:path w="3456" h="576">
                  <a:moveTo>
                    <a:pt x="0" y="0"/>
                  </a:moveTo>
                  <a:lnTo>
                    <a:pt x="0" y="576"/>
                  </a:lnTo>
                  <a:lnTo>
                    <a:pt x="3456" y="576"/>
                  </a:lnTo>
                  <a:lnTo>
                    <a:pt x="3456" y="0"/>
                  </a:lnTo>
                </a:path>
              </a:pathLst>
            </a:custGeom>
            <a:noFill/>
            <a:ln w="57150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74DD9E8-DE9C-4ED9-5738-BC6EAE6FBAB0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594" y="2460"/>
              <a:ext cx="963" cy="57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F845949-6E0D-23A9-DBA9-200BB3AB7A7E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138" y="2458"/>
              <a:ext cx="963" cy="57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D3CF4817-992D-5BDC-8325-14D0843238A5}"/>
              </a:ext>
            </a:extLst>
          </p:cNvPr>
          <p:cNvSpPr txBox="1"/>
          <p:nvPr/>
        </p:nvSpPr>
        <p:spPr>
          <a:xfrm>
            <a:off x="2197100" y="6084372"/>
            <a:ext cx="314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USB contém toda a informação</a:t>
            </a:r>
          </a:p>
        </p:txBody>
      </p:sp>
    </p:spTree>
    <p:extLst>
      <p:ext uri="{BB962C8B-B14F-4D97-AF65-F5344CB8AC3E}">
        <p14:creationId xmlns:p14="http://schemas.microsoft.com/office/powerpoint/2010/main" val="3512796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EBE77-DF87-794A-8D71-CB79A9847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Sinal SSB (Single </a:t>
            </a:r>
            <a:r>
              <a:rPr lang="pt-BR" dirty="0" err="1"/>
              <a:t>Side</a:t>
            </a:r>
            <a:r>
              <a:rPr lang="pt-BR" dirty="0"/>
              <a:t> Band)</a:t>
            </a:r>
            <a:br>
              <a:rPr lang="pt-BR" dirty="0"/>
            </a:br>
            <a:r>
              <a:rPr lang="pt-BR" dirty="0"/>
              <a:t>LSB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DED1431-C525-3F60-9E09-1955AA071803}"/>
              </a:ext>
            </a:extLst>
          </p:cNvPr>
          <p:cNvGrpSpPr>
            <a:grpSpLocks/>
          </p:cNvGrpSpPr>
          <p:nvPr/>
        </p:nvGrpSpPr>
        <p:grpSpPr bwMode="auto">
          <a:xfrm>
            <a:off x="1946276" y="1733550"/>
            <a:ext cx="8474075" cy="1335088"/>
            <a:chOff x="266" y="1836"/>
            <a:chExt cx="5338" cy="84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45113FF-8FDF-5D38-510C-D1A27EA09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7" y="2028"/>
              <a:ext cx="1122" cy="479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288" y="0"/>
                </a:cxn>
                <a:cxn ang="0">
                  <a:pos x="576" y="432"/>
                </a:cxn>
              </a:cxnLst>
              <a:rect l="0" t="0" r="r" b="b"/>
              <a:pathLst>
                <a:path w="576" h="432">
                  <a:moveTo>
                    <a:pt x="0" y="432"/>
                  </a:moveTo>
                  <a:cubicBezTo>
                    <a:pt x="96" y="216"/>
                    <a:pt x="192" y="0"/>
                    <a:pt x="288" y="0"/>
                  </a:cubicBezTo>
                  <a:cubicBezTo>
                    <a:pt x="384" y="0"/>
                    <a:pt x="480" y="216"/>
                    <a:pt x="576" y="432"/>
                  </a:cubicBezTo>
                </a:path>
              </a:pathLst>
            </a:custGeom>
            <a:solidFill>
              <a:srgbClr val="FFCCCC"/>
            </a:solidFill>
            <a:ln w="57150" cmpd="sng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D261EEC3-93DD-D0AD-D061-BB194457C4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" y="2513"/>
              <a:ext cx="53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AAFD3CCF-8E5C-9BE7-536F-39DCB1E304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6" y="2523"/>
              <a:ext cx="26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f  </a:t>
              </a:r>
              <a:r>
                <a:rPr lang="pt-BR" sz="1600">
                  <a:solidFill>
                    <a:srgbClr val="0000CC"/>
                  </a:solidFill>
                  <a:latin typeface="Times New Roman" pitchFamily="18" charset="0"/>
                  <a:sym typeface="Symbol" pitchFamily="18" charset="2"/>
                </a:rPr>
                <a:t></a:t>
              </a:r>
              <a:endParaRPr lang="pt-BR" sz="1600" i="1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1C3B7FB1-6F6F-0123-D708-A4E5CE01F2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7" y="2523"/>
              <a:ext cx="11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f</a:t>
              </a:r>
              <a:r>
                <a:rPr lang="pt-BR" sz="1600" i="1" baseline="-25000">
                  <a:solidFill>
                    <a:srgbClr val="0000CC"/>
                  </a:solidFill>
                  <a:latin typeface="Times New Roman" pitchFamily="18" charset="0"/>
                </a:rPr>
                <a:t>c</a:t>
              </a:r>
              <a:endParaRPr lang="pt-BR" sz="1600" i="1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FC9DE057-70D2-8B1F-3F9A-A86CD7DF70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8" y="2523"/>
              <a:ext cx="176" cy="154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-f</a:t>
              </a:r>
              <a:r>
                <a:rPr lang="pt-BR" sz="1600" i="1" baseline="-25000">
                  <a:solidFill>
                    <a:srgbClr val="0000CC"/>
                  </a:solidFill>
                  <a:latin typeface="Times New Roman" pitchFamily="18" charset="0"/>
                </a:rPr>
                <a:t>c</a:t>
              </a:r>
              <a:endParaRPr lang="pt-BR" sz="1600" i="1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6AD12A5B-8699-2AD3-7FCA-ED52DAF556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0" y="2473"/>
              <a:ext cx="0" cy="29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B965490C-81BF-ED64-752C-05393444AB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6" y="2473"/>
              <a:ext cx="0" cy="29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82377522-ED7F-9BDD-C41E-2777DE9B48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" y="2502"/>
              <a:ext cx="2010" cy="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04D70DE0-5A3F-F426-EB1E-3A3F7EE007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4" y="2502"/>
              <a:ext cx="2116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5185A90D-7194-3176-1A7C-3A375C760E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8" y="2523"/>
              <a:ext cx="9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>
                  <a:solidFill>
                    <a:srgbClr val="0000CC"/>
                  </a:solidFill>
                  <a:latin typeface="Times New Roman" pitchFamily="18" charset="0"/>
                </a:rPr>
                <a:t>0</a:t>
              </a:r>
              <a:endParaRPr lang="pt-BR" sz="1600" i="1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34D2B272-99A4-7FFB-07B4-5A0EFCCD1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0" y="2523"/>
              <a:ext cx="20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B</a:t>
              </a:r>
              <a:r>
                <a:rPr lang="pt-BR" sz="1600" i="1" baseline="-25000">
                  <a:solidFill>
                    <a:srgbClr val="0000CC"/>
                  </a:solidFill>
                  <a:latin typeface="Times New Roman" pitchFamily="18" charset="0"/>
                </a:rPr>
                <a:t>m</a:t>
              </a:r>
              <a:endParaRPr lang="pt-BR" sz="1600" i="1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E5787F37-6AF6-54C9-6D91-60FC972383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4" y="2523"/>
              <a:ext cx="19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-B</a:t>
              </a:r>
              <a:r>
                <a:rPr lang="pt-BR" sz="1600" i="1" baseline="-25000">
                  <a:solidFill>
                    <a:srgbClr val="0000CC"/>
                  </a:solidFill>
                  <a:latin typeface="Times New Roman" pitchFamily="18" charset="0"/>
                </a:rPr>
                <a:t>m</a:t>
              </a:r>
              <a:endParaRPr lang="pt-BR" sz="1600" i="1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143DAAF0-140F-DE3E-DBF5-0D8FB6E793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8" y="1836"/>
              <a:ext cx="38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M</a:t>
              </a:r>
              <a:r>
                <a:rPr lang="pt-BR" sz="1600">
                  <a:solidFill>
                    <a:srgbClr val="0000CC"/>
                  </a:solidFill>
                  <a:latin typeface="Times New Roman" pitchFamily="18" charset="0"/>
                </a:rPr>
                <a:t>( </a:t>
              </a: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f </a:t>
              </a:r>
              <a:r>
                <a:rPr lang="pt-BR" sz="1600">
                  <a:solidFill>
                    <a:srgbClr val="0000CC"/>
                  </a:solidFill>
                  <a:latin typeface="Times New Roman" pitchFamily="18" charset="0"/>
                </a:rPr>
                <a:t>)</a:t>
              </a:r>
              <a:r>
                <a:rPr lang="pt-BR" sz="1600" i="1">
                  <a:solidFill>
                    <a:srgbClr val="0000CC"/>
                  </a:solidFill>
                  <a:latin typeface="Times New Roman" pitchFamily="18" charset="0"/>
                </a:rPr>
                <a:t>  </a:t>
              </a: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45B42C8F-99D0-0806-36F5-9865011374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8" y="1863"/>
              <a:ext cx="1" cy="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B2575548-90CC-CD6E-4629-C11B4A0677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7" y="2029"/>
              <a:ext cx="48" cy="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55" name="Text Box 55">
            <a:extLst>
              <a:ext uri="{FF2B5EF4-FFF2-40B4-BE49-F238E27FC236}">
                <a16:creationId xmlns:a16="http://schemas.microsoft.com/office/drawing/2014/main" id="{7746EB9F-6FED-45E0-B409-AFBB56566EA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419350" y="5734050"/>
            <a:ext cx="7596188" cy="369332"/>
          </a:xfrm>
          <a:prstGeom prst="rect">
            <a:avLst/>
          </a:prstGeom>
          <a:solidFill>
            <a:srgbClr val="FFFFCC"/>
          </a:solidFill>
          <a:ln w="9525">
            <a:solidFill>
              <a:srgbClr val="FFFF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solidFill>
                  <a:schemeClr val="accent2"/>
                </a:solidFill>
                <a:latin typeface="Arial" charset="0"/>
              </a:rPr>
              <a:t>Largura de banda de transmissão SSB = </a:t>
            </a:r>
            <a:r>
              <a:rPr lang="pt-BR" i="1">
                <a:solidFill>
                  <a:schemeClr val="accent2"/>
                </a:solidFill>
                <a:latin typeface="Times New Roman" pitchFamily="18" charset="0"/>
              </a:rPr>
              <a:t>B</a:t>
            </a:r>
            <a:r>
              <a:rPr lang="pt-BR" i="1" baseline="-25000">
                <a:solidFill>
                  <a:schemeClr val="accent2"/>
                </a:solidFill>
                <a:latin typeface="Times New Roman" pitchFamily="18" charset="0"/>
              </a:rPr>
              <a:t>T </a:t>
            </a:r>
            <a:r>
              <a:rPr lang="pt-BR">
                <a:solidFill>
                  <a:schemeClr val="accent2"/>
                </a:solidFill>
                <a:latin typeface="Arial" charset="0"/>
              </a:rPr>
              <a:t> =  </a:t>
            </a:r>
            <a:r>
              <a:rPr lang="pt-BR" i="1">
                <a:solidFill>
                  <a:schemeClr val="accent2"/>
                </a:solidFill>
                <a:latin typeface="Times New Roman" pitchFamily="18" charset="0"/>
              </a:rPr>
              <a:t>B</a:t>
            </a:r>
            <a:r>
              <a:rPr lang="pt-BR" i="1" baseline="-25000">
                <a:solidFill>
                  <a:schemeClr val="accent2"/>
                </a:solidFill>
                <a:latin typeface="Times New Roman" pitchFamily="18" charset="0"/>
              </a:rPr>
              <a:t>m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7C527710-C8CB-6833-DBFA-CC17D0E2C711}"/>
              </a:ext>
            </a:extLst>
          </p:cNvPr>
          <p:cNvSpPr txBox="1"/>
          <p:nvPr/>
        </p:nvSpPr>
        <p:spPr>
          <a:xfrm>
            <a:off x="2197100" y="6084372"/>
            <a:ext cx="3092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LSB contém toda a informação</a:t>
            </a:r>
          </a:p>
        </p:txBody>
      </p:sp>
      <p:sp>
        <p:nvSpPr>
          <p:cNvPr id="62" name="Line 19">
            <a:extLst>
              <a:ext uri="{FF2B5EF4-FFF2-40B4-BE49-F238E27FC236}">
                <a16:creationId xmlns:a16="http://schemas.microsoft.com/office/drawing/2014/main" id="{61F2C6AE-035A-788B-6BEB-3FB1A86B8207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2398713" y="5278439"/>
            <a:ext cx="69056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63" name="Line 20">
            <a:extLst>
              <a:ext uri="{FF2B5EF4-FFF2-40B4-BE49-F238E27FC236}">
                <a16:creationId xmlns:a16="http://schemas.microsoft.com/office/drawing/2014/main" id="{2563A12D-DD72-E8F5-1985-4A17CF92296F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3479801" y="5278439"/>
            <a:ext cx="690563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64" name="Line 21">
            <a:extLst>
              <a:ext uri="{FF2B5EF4-FFF2-40B4-BE49-F238E27FC236}">
                <a16:creationId xmlns:a16="http://schemas.microsoft.com/office/drawing/2014/main" id="{C3676433-25C7-95E4-6B62-2F8953B23EA8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7891463" y="5284789"/>
            <a:ext cx="69056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65" name="Group 22">
            <a:extLst>
              <a:ext uri="{FF2B5EF4-FFF2-40B4-BE49-F238E27FC236}">
                <a16:creationId xmlns:a16="http://schemas.microsoft.com/office/drawing/2014/main" id="{DDD4963D-F7BF-97DB-9E6F-1B703AB606C4}"/>
              </a:ext>
            </a:extLst>
          </p:cNvPr>
          <p:cNvGrpSpPr>
            <a:grpSpLocks/>
          </p:cNvGrpSpPr>
          <p:nvPr/>
        </p:nvGrpSpPr>
        <p:grpSpPr bwMode="auto">
          <a:xfrm>
            <a:off x="2401889" y="3943351"/>
            <a:ext cx="7267575" cy="904875"/>
            <a:chOff x="589" y="2095"/>
            <a:chExt cx="4578" cy="801"/>
          </a:xfrm>
        </p:grpSpPr>
        <p:sp>
          <p:nvSpPr>
            <p:cNvPr id="66" name="Freeform 23">
              <a:extLst>
                <a:ext uri="{FF2B5EF4-FFF2-40B4-BE49-F238E27FC236}">
                  <a16:creationId xmlns:a16="http://schemas.microsoft.com/office/drawing/2014/main" id="{AF80362A-712A-7C9F-8B94-B76A3C4830F7}"/>
                </a:ext>
              </a:extLst>
            </p:cNvPr>
            <p:cNvSpPr>
              <a:spLocks/>
            </p:cNvSpPr>
            <p:nvPr/>
          </p:nvSpPr>
          <p:spPr bwMode="gray">
            <a:xfrm>
              <a:off x="4045" y="2095"/>
              <a:ext cx="1122" cy="801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288" y="0"/>
                </a:cxn>
                <a:cxn ang="0">
                  <a:pos x="576" y="432"/>
                </a:cxn>
              </a:cxnLst>
              <a:rect l="0" t="0" r="r" b="b"/>
              <a:pathLst>
                <a:path w="576" h="432">
                  <a:moveTo>
                    <a:pt x="0" y="432"/>
                  </a:moveTo>
                  <a:cubicBezTo>
                    <a:pt x="96" y="216"/>
                    <a:pt x="192" y="0"/>
                    <a:pt x="288" y="0"/>
                  </a:cubicBezTo>
                  <a:cubicBezTo>
                    <a:pt x="384" y="0"/>
                    <a:pt x="480" y="216"/>
                    <a:pt x="576" y="432"/>
                  </a:cubicBezTo>
                </a:path>
              </a:pathLst>
            </a:custGeom>
            <a:solidFill>
              <a:srgbClr val="CCFF99"/>
            </a:solidFill>
            <a:ln w="57150" cmpd="sng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7" name="Freeform 24">
              <a:extLst>
                <a:ext uri="{FF2B5EF4-FFF2-40B4-BE49-F238E27FC236}">
                  <a16:creationId xmlns:a16="http://schemas.microsoft.com/office/drawing/2014/main" id="{3B78B6DE-8FA5-1C1F-F00D-6C04ACEA019A}"/>
                </a:ext>
              </a:extLst>
            </p:cNvPr>
            <p:cNvSpPr>
              <a:spLocks/>
            </p:cNvSpPr>
            <p:nvPr/>
          </p:nvSpPr>
          <p:spPr bwMode="gray">
            <a:xfrm>
              <a:off x="589" y="2095"/>
              <a:ext cx="1122" cy="801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288" y="0"/>
                </a:cxn>
                <a:cxn ang="0">
                  <a:pos x="576" y="432"/>
                </a:cxn>
              </a:cxnLst>
              <a:rect l="0" t="0" r="r" b="b"/>
              <a:pathLst>
                <a:path w="576" h="432">
                  <a:moveTo>
                    <a:pt x="0" y="432"/>
                  </a:moveTo>
                  <a:cubicBezTo>
                    <a:pt x="96" y="216"/>
                    <a:pt x="192" y="0"/>
                    <a:pt x="288" y="0"/>
                  </a:cubicBezTo>
                  <a:cubicBezTo>
                    <a:pt x="384" y="0"/>
                    <a:pt x="480" y="216"/>
                    <a:pt x="576" y="432"/>
                  </a:cubicBezTo>
                </a:path>
              </a:pathLst>
            </a:custGeom>
            <a:solidFill>
              <a:srgbClr val="CCFF99"/>
            </a:solidFill>
            <a:ln w="57150" cmpd="sng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68" name="Freeform 25" descr="80%">
            <a:extLst>
              <a:ext uri="{FF2B5EF4-FFF2-40B4-BE49-F238E27FC236}">
                <a16:creationId xmlns:a16="http://schemas.microsoft.com/office/drawing/2014/main" id="{2B012D94-86AD-5922-5185-6842FC8B5729}"/>
              </a:ext>
            </a:extLst>
          </p:cNvPr>
          <p:cNvSpPr>
            <a:spLocks/>
          </p:cNvSpPr>
          <p:nvPr/>
        </p:nvSpPr>
        <p:spPr bwMode="gray">
          <a:xfrm flipH="1">
            <a:off x="2435226" y="3959226"/>
            <a:ext cx="900113" cy="904875"/>
          </a:xfrm>
          <a:custGeom>
            <a:avLst/>
            <a:gdLst/>
            <a:ahLst/>
            <a:cxnLst>
              <a:cxn ang="0">
                <a:pos x="29" y="671"/>
              </a:cxn>
              <a:cxn ang="0">
                <a:pos x="29" y="575"/>
              </a:cxn>
              <a:cxn ang="0">
                <a:pos x="29" y="89"/>
              </a:cxn>
              <a:cxn ang="0">
                <a:pos x="29" y="41"/>
              </a:cxn>
              <a:cxn ang="0">
                <a:pos x="29" y="5"/>
              </a:cxn>
              <a:cxn ang="0">
                <a:pos x="80" y="20"/>
              </a:cxn>
              <a:cxn ang="0">
                <a:pos x="167" y="77"/>
              </a:cxn>
              <a:cxn ang="0">
                <a:pos x="266" y="191"/>
              </a:cxn>
              <a:cxn ang="0">
                <a:pos x="362" y="329"/>
              </a:cxn>
              <a:cxn ang="0">
                <a:pos x="431" y="452"/>
              </a:cxn>
              <a:cxn ang="0">
                <a:pos x="467" y="518"/>
              </a:cxn>
              <a:cxn ang="0">
                <a:pos x="545" y="662"/>
              </a:cxn>
              <a:cxn ang="0">
                <a:pos x="494" y="668"/>
              </a:cxn>
              <a:cxn ang="0">
                <a:pos x="380" y="671"/>
              </a:cxn>
              <a:cxn ang="0">
                <a:pos x="203" y="671"/>
              </a:cxn>
              <a:cxn ang="0">
                <a:pos x="29" y="671"/>
              </a:cxn>
            </a:cxnLst>
            <a:rect l="0" t="0" r="r" b="b"/>
            <a:pathLst>
              <a:path w="549" h="687">
                <a:moveTo>
                  <a:pt x="29" y="671"/>
                </a:moveTo>
                <a:cubicBezTo>
                  <a:pt x="0" y="655"/>
                  <a:pt x="29" y="672"/>
                  <a:pt x="29" y="575"/>
                </a:cubicBezTo>
                <a:cubicBezTo>
                  <a:pt x="29" y="478"/>
                  <a:pt x="29" y="178"/>
                  <a:pt x="29" y="89"/>
                </a:cubicBezTo>
                <a:cubicBezTo>
                  <a:pt x="29" y="0"/>
                  <a:pt x="29" y="55"/>
                  <a:pt x="29" y="41"/>
                </a:cubicBezTo>
                <a:cubicBezTo>
                  <a:pt x="29" y="27"/>
                  <a:pt x="21" y="8"/>
                  <a:pt x="29" y="5"/>
                </a:cubicBezTo>
                <a:cubicBezTo>
                  <a:pt x="37" y="2"/>
                  <a:pt x="57" y="8"/>
                  <a:pt x="80" y="20"/>
                </a:cubicBezTo>
                <a:cubicBezTo>
                  <a:pt x="103" y="32"/>
                  <a:pt x="136" y="49"/>
                  <a:pt x="167" y="77"/>
                </a:cubicBezTo>
                <a:cubicBezTo>
                  <a:pt x="198" y="105"/>
                  <a:pt x="234" y="149"/>
                  <a:pt x="266" y="191"/>
                </a:cubicBezTo>
                <a:cubicBezTo>
                  <a:pt x="298" y="233"/>
                  <a:pt x="335" y="286"/>
                  <a:pt x="362" y="329"/>
                </a:cubicBezTo>
                <a:cubicBezTo>
                  <a:pt x="389" y="372"/>
                  <a:pt x="414" y="421"/>
                  <a:pt x="431" y="452"/>
                </a:cubicBezTo>
                <a:cubicBezTo>
                  <a:pt x="448" y="483"/>
                  <a:pt x="448" y="483"/>
                  <a:pt x="467" y="518"/>
                </a:cubicBezTo>
                <a:cubicBezTo>
                  <a:pt x="486" y="553"/>
                  <a:pt x="541" y="637"/>
                  <a:pt x="545" y="662"/>
                </a:cubicBezTo>
                <a:cubicBezTo>
                  <a:pt x="549" y="687"/>
                  <a:pt x="521" y="667"/>
                  <a:pt x="494" y="668"/>
                </a:cubicBezTo>
                <a:cubicBezTo>
                  <a:pt x="467" y="669"/>
                  <a:pt x="428" y="671"/>
                  <a:pt x="380" y="671"/>
                </a:cubicBezTo>
                <a:cubicBezTo>
                  <a:pt x="332" y="671"/>
                  <a:pt x="261" y="671"/>
                  <a:pt x="203" y="671"/>
                </a:cubicBezTo>
                <a:cubicBezTo>
                  <a:pt x="145" y="671"/>
                  <a:pt x="58" y="687"/>
                  <a:pt x="29" y="671"/>
                </a:cubicBezTo>
                <a:close/>
              </a:path>
            </a:pathLst>
          </a:custGeom>
          <a:pattFill prst="pct80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69" name="Text Box 26">
            <a:extLst>
              <a:ext uri="{FF2B5EF4-FFF2-40B4-BE49-F238E27FC236}">
                <a16:creationId xmlns:a16="http://schemas.microsoft.com/office/drawing/2014/main" id="{BCD3E457-EE3C-E9CE-1ECE-7FE152323EB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155950" y="4889501"/>
            <a:ext cx="279400" cy="2444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-</a:t>
            </a:r>
            <a:r>
              <a:rPr lang="pt-BR" sz="1200" i="1" baseline="-25000">
                <a:solidFill>
                  <a:srgbClr val="0000CC"/>
                </a:solidFill>
                <a:latin typeface="Times New Roman" pitchFamily="18" charset="0"/>
              </a:rPr>
              <a:t> 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f</a:t>
            </a:r>
            <a:r>
              <a:rPr lang="pt-BR" sz="1600" i="1" baseline="-25000">
                <a:solidFill>
                  <a:srgbClr val="0000CC"/>
                </a:solidFill>
                <a:latin typeface="Times New Roman" pitchFamily="18" charset="0"/>
              </a:rPr>
              <a:t>c</a:t>
            </a:r>
            <a:endParaRPr lang="pt-BR" sz="1600" i="1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70" name="Text Box 27">
            <a:extLst>
              <a:ext uri="{FF2B5EF4-FFF2-40B4-BE49-F238E27FC236}">
                <a16:creationId xmlns:a16="http://schemas.microsoft.com/office/drawing/2014/main" id="{9E6F8B30-3D1D-B9E6-A708-8214D71592F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994900" y="4899026"/>
            <a:ext cx="4254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f  </a:t>
            </a:r>
            <a:r>
              <a:rPr lang="pt-BR" sz="1600">
                <a:solidFill>
                  <a:srgbClr val="0000CC"/>
                </a:solidFill>
                <a:latin typeface="Times New Roman" pitchFamily="18" charset="0"/>
                <a:sym typeface="Symbol" pitchFamily="18" charset="2"/>
              </a:rPr>
              <a:t></a:t>
            </a:r>
            <a:endParaRPr lang="pt-BR" sz="1600" i="1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71" name="Text Box 28">
            <a:extLst>
              <a:ext uri="{FF2B5EF4-FFF2-40B4-BE49-F238E27FC236}">
                <a16:creationId xmlns:a16="http://schemas.microsoft.com/office/drawing/2014/main" id="{C7FECE6B-28F4-FCC7-FDF7-9F8901CB701B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710614" y="4899026"/>
            <a:ext cx="1857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f</a:t>
            </a:r>
            <a:r>
              <a:rPr lang="pt-BR" sz="1600" i="1" baseline="-25000">
                <a:solidFill>
                  <a:srgbClr val="0000CC"/>
                </a:solidFill>
                <a:latin typeface="Times New Roman" pitchFamily="18" charset="0"/>
              </a:rPr>
              <a:t>c</a:t>
            </a:r>
            <a:endParaRPr lang="pt-BR" sz="1600" i="1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72" name="Line 29">
            <a:extLst>
              <a:ext uri="{FF2B5EF4-FFF2-40B4-BE49-F238E27FC236}">
                <a16:creationId xmlns:a16="http://schemas.microsoft.com/office/drawing/2014/main" id="{2F4E0667-F2F0-46F9-E014-87943D01B761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3302000" y="4789488"/>
            <a:ext cx="0" cy="63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73" name="Text Box 30">
            <a:extLst>
              <a:ext uri="{FF2B5EF4-FFF2-40B4-BE49-F238E27FC236}">
                <a16:creationId xmlns:a16="http://schemas.microsoft.com/office/drawing/2014/main" id="{D63A5393-2669-FDE3-0C7E-494A082083B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981701" y="4899026"/>
            <a:ext cx="142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>
                <a:solidFill>
                  <a:srgbClr val="0000CC"/>
                </a:solidFill>
                <a:latin typeface="Times New Roman" pitchFamily="18" charset="0"/>
              </a:rPr>
              <a:t>0</a:t>
            </a:r>
            <a:endParaRPr lang="pt-BR" sz="1600" i="1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74" name="Text Box 31">
            <a:extLst>
              <a:ext uri="{FF2B5EF4-FFF2-40B4-BE49-F238E27FC236}">
                <a16:creationId xmlns:a16="http://schemas.microsoft.com/office/drawing/2014/main" id="{F160DCB5-1C10-12C8-2909-E69C6C301B6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6076951" y="3402014"/>
            <a:ext cx="6127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S</a:t>
            </a:r>
            <a:r>
              <a:rPr lang="pt-BR" sz="1600">
                <a:solidFill>
                  <a:srgbClr val="0000CC"/>
                </a:solidFill>
                <a:latin typeface="Times New Roman" pitchFamily="18" charset="0"/>
              </a:rPr>
              <a:t>( 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f </a:t>
            </a:r>
            <a:r>
              <a:rPr lang="pt-BR" sz="1600">
                <a:solidFill>
                  <a:srgbClr val="0000CC"/>
                </a:solidFill>
                <a:latin typeface="Times New Roman" pitchFamily="18" charset="0"/>
              </a:rPr>
              <a:t>)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  </a:t>
            </a:r>
          </a:p>
        </p:txBody>
      </p:sp>
      <p:sp>
        <p:nvSpPr>
          <p:cNvPr id="75" name="Freeform 32" descr="80%">
            <a:extLst>
              <a:ext uri="{FF2B5EF4-FFF2-40B4-BE49-F238E27FC236}">
                <a16:creationId xmlns:a16="http://schemas.microsoft.com/office/drawing/2014/main" id="{C5536188-30DA-61B6-05F6-B43F248077F6}"/>
              </a:ext>
            </a:extLst>
          </p:cNvPr>
          <p:cNvSpPr>
            <a:spLocks/>
          </p:cNvSpPr>
          <p:nvPr/>
        </p:nvSpPr>
        <p:spPr bwMode="gray">
          <a:xfrm>
            <a:off x="8755064" y="3967164"/>
            <a:ext cx="871537" cy="896937"/>
          </a:xfrm>
          <a:custGeom>
            <a:avLst/>
            <a:gdLst/>
            <a:ahLst/>
            <a:cxnLst>
              <a:cxn ang="0">
                <a:pos x="29" y="671"/>
              </a:cxn>
              <a:cxn ang="0">
                <a:pos x="29" y="575"/>
              </a:cxn>
              <a:cxn ang="0">
                <a:pos x="29" y="89"/>
              </a:cxn>
              <a:cxn ang="0">
                <a:pos x="29" y="41"/>
              </a:cxn>
              <a:cxn ang="0">
                <a:pos x="29" y="5"/>
              </a:cxn>
              <a:cxn ang="0">
                <a:pos x="80" y="20"/>
              </a:cxn>
              <a:cxn ang="0">
                <a:pos x="167" y="77"/>
              </a:cxn>
              <a:cxn ang="0">
                <a:pos x="266" y="191"/>
              </a:cxn>
              <a:cxn ang="0">
                <a:pos x="362" y="329"/>
              </a:cxn>
              <a:cxn ang="0">
                <a:pos x="431" y="452"/>
              </a:cxn>
              <a:cxn ang="0">
                <a:pos x="467" y="518"/>
              </a:cxn>
              <a:cxn ang="0">
                <a:pos x="545" y="662"/>
              </a:cxn>
              <a:cxn ang="0">
                <a:pos x="494" y="668"/>
              </a:cxn>
              <a:cxn ang="0">
                <a:pos x="380" y="671"/>
              </a:cxn>
              <a:cxn ang="0">
                <a:pos x="203" y="671"/>
              </a:cxn>
              <a:cxn ang="0">
                <a:pos x="29" y="671"/>
              </a:cxn>
            </a:cxnLst>
            <a:rect l="0" t="0" r="r" b="b"/>
            <a:pathLst>
              <a:path w="549" h="687">
                <a:moveTo>
                  <a:pt x="29" y="671"/>
                </a:moveTo>
                <a:cubicBezTo>
                  <a:pt x="0" y="655"/>
                  <a:pt x="29" y="672"/>
                  <a:pt x="29" y="575"/>
                </a:cubicBezTo>
                <a:cubicBezTo>
                  <a:pt x="29" y="478"/>
                  <a:pt x="29" y="178"/>
                  <a:pt x="29" y="89"/>
                </a:cubicBezTo>
                <a:cubicBezTo>
                  <a:pt x="29" y="0"/>
                  <a:pt x="29" y="55"/>
                  <a:pt x="29" y="41"/>
                </a:cubicBezTo>
                <a:cubicBezTo>
                  <a:pt x="29" y="27"/>
                  <a:pt x="21" y="8"/>
                  <a:pt x="29" y="5"/>
                </a:cubicBezTo>
                <a:cubicBezTo>
                  <a:pt x="37" y="2"/>
                  <a:pt x="57" y="8"/>
                  <a:pt x="80" y="20"/>
                </a:cubicBezTo>
                <a:cubicBezTo>
                  <a:pt x="103" y="32"/>
                  <a:pt x="136" y="49"/>
                  <a:pt x="167" y="77"/>
                </a:cubicBezTo>
                <a:cubicBezTo>
                  <a:pt x="198" y="105"/>
                  <a:pt x="234" y="149"/>
                  <a:pt x="266" y="191"/>
                </a:cubicBezTo>
                <a:cubicBezTo>
                  <a:pt x="298" y="233"/>
                  <a:pt x="335" y="286"/>
                  <a:pt x="362" y="329"/>
                </a:cubicBezTo>
                <a:cubicBezTo>
                  <a:pt x="389" y="372"/>
                  <a:pt x="414" y="421"/>
                  <a:pt x="431" y="452"/>
                </a:cubicBezTo>
                <a:cubicBezTo>
                  <a:pt x="448" y="483"/>
                  <a:pt x="448" y="483"/>
                  <a:pt x="467" y="518"/>
                </a:cubicBezTo>
                <a:cubicBezTo>
                  <a:pt x="486" y="553"/>
                  <a:pt x="541" y="637"/>
                  <a:pt x="545" y="662"/>
                </a:cubicBezTo>
                <a:cubicBezTo>
                  <a:pt x="549" y="687"/>
                  <a:pt x="521" y="667"/>
                  <a:pt x="494" y="668"/>
                </a:cubicBezTo>
                <a:cubicBezTo>
                  <a:pt x="467" y="669"/>
                  <a:pt x="428" y="671"/>
                  <a:pt x="380" y="671"/>
                </a:cubicBezTo>
                <a:cubicBezTo>
                  <a:pt x="332" y="671"/>
                  <a:pt x="261" y="671"/>
                  <a:pt x="203" y="671"/>
                </a:cubicBezTo>
                <a:cubicBezTo>
                  <a:pt x="145" y="671"/>
                  <a:pt x="58" y="687"/>
                  <a:pt x="29" y="671"/>
                </a:cubicBezTo>
                <a:close/>
              </a:path>
            </a:pathLst>
          </a:custGeom>
          <a:pattFill prst="pct80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76" name="Line 33">
            <a:extLst>
              <a:ext uri="{FF2B5EF4-FFF2-40B4-BE49-F238E27FC236}">
                <a16:creationId xmlns:a16="http://schemas.microsoft.com/office/drawing/2014/main" id="{219A7472-F502-4754-E632-5416EEE58A3D}"/>
              </a:ext>
            </a:extLst>
          </p:cNvPr>
          <p:cNvSpPr>
            <a:spLocks noChangeShapeType="1"/>
          </p:cNvSpPr>
          <p:nvPr/>
        </p:nvSpPr>
        <p:spPr bwMode="gray">
          <a:xfrm>
            <a:off x="1978025" y="4843463"/>
            <a:ext cx="438150" cy="4762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77" name="Line 34">
            <a:extLst>
              <a:ext uri="{FF2B5EF4-FFF2-40B4-BE49-F238E27FC236}">
                <a16:creationId xmlns:a16="http://schemas.microsoft.com/office/drawing/2014/main" id="{EA1585A3-0AC2-2075-4EC9-54B849205B6A}"/>
              </a:ext>
            </a:extLst>
          </p:cNvPr>
          <p:cNvSpPr>
            <a:spLocks noChangeShapeType="1"/>
          </p:cNvSpPr>
          <p:nvPr/>
        </p:nvSpPr>
        <p:spPr bwMode="gray">
          <a:xfrm>
            <a:off x="4159251" y="4845050"/>
            <a:ext cx="3749675" cy="0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78" name="Line 35">
            <a:extLst>
              <a:ext uri="{FF2B5EF4-FFF2-40B4-BE49-F238E27FC236}">
                <a16:creationId xmlns:a16="http://schemas.microsoft.com/office/drawing/2014/main" id="{3B47800F-DE67-2042-BC36-CB303BF4BAA8}"/>
              </a:ext>
            </a:extLst>
          </p:cNvPr>
          <p:cNvSpPr>
            <a:spLocks noChangeShapeType="1"/>
          </p:cNvSpPr>
          <p:nvPr/>
        </p:nvSpPr>
        <p:spPr bwMode="gray">
          <a:xfrm>
            <a:off x="9664701" y="4845050"/>
            <a:ext cx="568325" cy="0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79" name="Line 36">
            <a:extLst>
              <a:ext uri="{FF2B5EF4-FFF2-40B4-BE49-F238E27FC236}">
                <a16:creationId xmlns:a16="http://schemas.microsoft.com/office/drawing/2014/main" id="{92D9BB79-CB90-4753-ED14-906419DA1556}"/>
              </a:ext>
            </a:extLst>
          </p:cNvPr>
          <p:cNvSpPr>
            <a:spLocks noChangeShapeType="1"/>
          </p:cNvSpPr>
          <p:nvPr/>
        </p:nvSpPr>
        <p:spPr bwMode="gray">
          <a:xfrm>
            <a:off x="7896225" y="4945064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80" name="Line 37">
            <a:extLst>
              <a:ext uri="{FF2B5EF4-FFF2-40B4-BE49-F238E27FC236}">
                <a16:creationId xmlns:a16="http://schemas.microsoft.com/office/drawing/2014/main" id="{74301100-5AEE-6BC3-7A49-1FD17611BA6D}"/>
              </a:ext>
            </a:extLst>
          </p:cNvPr>
          <p:cNvSpPr>
            <a:spLocks noChangeShapeType="1"/>
          </p:cNvSpPr>
          <p:nvPr/>
        </p:nvSpPr>
        <p:spPr bwMode="gray">
          <a:xfrm>
            <a:off x="9667875" y="4945064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81" name="Line 38">
            <a:extLst>
              <a:ext uri="{FF2B5EF4-FFF2-40B4-BE49-F238E27FC236}">
                <a16:creationId xmlns:a16="http://schemas.microsoft.com/office/drawing/2014/main" id="{82A3F043-BC4C-42CE-1446-4A44C0C0C7AE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8972551" y="5284789"/>
            <a:ext cx="690563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82" name="Text Box 39">
            <a:extLst>
              <a:ext uri="{FF2B5EF4-FFF2-40B4-BE49-F238E27FC236}">
                <a16:creationId xmlns:a16="http://schemas.microsoft.com/office/drawing/2014/main" id="{5FCC651A-66CA-4F98-773E-5AE1D044FCC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588375" y="5159376"/>
            <a:ext cx="38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>
                <a:solidFill>
                  <a:srgbClr val="0000CC"/>
                </a:solidFill>
                <a:latin typeface="Times New Roman" pitchFamily="18" charset="0"/>
              </a:rPr>
              <a:t>2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B</a:t>
            </a:r>
            <a:r>
              <a:rPr lang="pt-BR" sz="1600" i="1" baseline="-25000">
                <a:solidFill>
                  <a:srgbClr val="0000CC"/>
                </a:solidFill>
                <a:latin typeface="Times New Roman" pitchFamily="18" charset="0"/>
              </a:rPr>
              <a:t>m</a:t>
            </a:r>
            <a:endParaRPr lang="pt-BR" sz="1600" i="1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83" name="Line 40">
            <a:extLst>
              <a:ext uri="{FF2B5EF4-FFF2-40B4-BE49-F238E27FC236}">
                <a16:creationId xmlns:a16="http://schemas.microsoft.com/office/drawing/2014/main" id="{2EE183C8-C1D0-63D0-794C-5D0CC5A59190}"/>
              </a:ext>
            </a:extLst>
          </p:cNvPr>
          <p:cNvSpPr>
            <a:spLocks noChangeShapeType="1"/>
          </p:cNvSpPr>
          <p:nvPr/>
        </p:nvSpPr>
        <p:spPr bwMode="gray">
          <a:xfrm>
            <a:off x="2400300" y="4935539"/>
            <a:ext cx="0" cy="382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84" name="Line 41">
            <a:extLst>
              <a:ext uri="{FF2B5EF4-FFF2-40B4-BE49-F238E27FC236}">
                <a16:creationId xmlns:a16="http://schemas.microsoft.com/office/drawing/2014/main" id="{F64B5990-0730-1CEE-044D-D2323855525F}"/>
              </a:ext>
            </a:extLst>
          </p:cNvPr>
          <p:cNvSpPr>
            <a:spLocks noChangeShapeType="1"/>
          </p:cNvSpPr>
          <p:nvPr/>
        </p:nvSpPr>
        <p:spPr bwMode="gray">
          <a:xfrm>
            <a:off x="4171950" y="4935539"/>
            <a:ext cx="0" cy="382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85" name="Text Box 42">
            <a:extLst>
              <a:ext uri="{FF2B5EF4-FFF2-40B4-BE49-F238E27FC236}">
                <a16:creationId xmlns:a16="http://schemas.microsoft.com/office/drawing/2014/main" id="{E1BA85E0-0E55-1228-1590-0EE190B7E5C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101975" y="5154614"/>
            <a:ext cx="38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>
                <a:solidFill>
                  <a:srgbClr val="0000CC"/>
                </a:solidFill>
                <a:latin typeface="Times New Roman" pitchFamily="18" charset="0"/>
              </a:rPr>
              <a:t>2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B</a:t>
            </a:r>
            <a:r>
              <a:rPr lang="pt-BR" sz="1600" i="1" baseline="-25000">
                <a:solidFill>
                  <a:srgbClr val="0000CC"/>
                </a:solidFill>
                <a:latin typeface="Times New Roman" pitchFamily="18" charset="0"/>
              </a:rPr>
              <a:t>m</a:t>
            </a:r>
            <a:endParaRPr lang="pt-BR" sz="1600" i="1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86" name="Line 43">
            <a:extLst>
              <a:ext uri="{FF2B5EF4-FFF2-40B4-BE49-F238E27FC236}">
                <a16:creationId xmlns:a16="http://schemas.microsoft.com/office/drawing/2014/main" id="{D76CBF51-6A61-5372-3DAD-BFBF77DB222A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6045200" y="3435350"/>
            <a:ext cx="7938" cy="148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87" name="Text Box 44">
            <a:extLst>
              <a:ext uri="{FF2B5EF4-FFF2-40B4-BE49-F238E27FC236}">
                <a16:creationId xmlns:a16="http://schemas.microsoft.com/office/drawing/2014/main" id="{F06D0BC0-CB31-617D-4F4D-40522269810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229101" y="4008439"/>
            <a:ext cx="61277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pt-BR" sz="1600">
                <a:solidFill>
                  <a:srgbClr val="0000CC"/>
                </a:solidFill>
                <a:latin typeface="Arial Narrow" pitchFamily="34" charset="0"/>
              </a:rPr>
              <a:t>Banda lateral inferior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  </a:t>
            </a:r>
          </a:p>
        </p:txBody>
      </p:sp>
      <p:sp>
        <p:nvSpPr>
          <p:cNvPr id="88" name="Line 45">
            <a:extLst>
              <a:ext uri="{FF2B5EF4-FFF2-40B4-BE49-F238E27FC236}">
                <a16:creationId xmlns:a16="http://schemas.microsoft.com/office/drawing/2014/main" id="{5F6A5CA4-07F5-2B90-8A15-6E0A77E18FC4}"/>
              </a:ext>
            </a:extLst>
          </p:cNvPr>
          <p:cNvSpPr>
            <a:spLocks noChangeShapeType="1"/>
          </p:cNvSpPr>
          <p:nvPr/>
        </p:nvSpPr>
        <p:spPr bwMode="gray">
          <a:xfrm flipH="1">
            <a:off x="3676650" y="4324350"/>
            <a:ext cx="552450" cy="2159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stealth" w="sm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89" name="Text Box 46">
            <a:extLst>
              <a:ext uri="{FF2B5EF4-FFF2-40B4-BE49-F238E27FC236}">
                <a16:creationId xmlns:a16="http://schemas.microsoft.com/office/drawing/2014/main" id="{27D20912-67DA-14DA-05F9-F3E7301BC04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677401" y="4006851"/>
            <a:ext cx="708025" cy="735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pt-BR" sz="1600">
                <a:solidFill>
                  <a:srgbClr val="0000CC"/>
                </a:solidFill>
                <a:latin typeface="Arial Narrow" pitchFamily="34" charset="0"/>
              </a:rPr>
              <a:t>Banda lateral superior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  </a:t>
            </a:r>
          </a:p>
        </p:txBody>
      </p:sp>
      <p:sp>
        <p:nvSpPr>
          <p:cNvPr id="90" name="Text Box 47">
            <a:extLst>
              <a:ext uri="{FF2B5EF4-FFF2-40B4-BE49-F238E27FC236}">
                <a16:creationId xmlns:a16="http://schemas.microsoft.com/office/drawing/2014/main" id="{01CFB03F-6205-B05A-8F99-86EF26F3FDDB}"/>
              </a:ext>
            </a:extLst>
          </p:cNvPr>
          <p:cNvSpPr txBox="1">
            <a:spLocks noChangeArrowheads="1"/>
          </p:cNvSpPr>
          <p:nvPr/>
        </p:nvSpPr>
        <p:spPr bwMode="gray">
          <a:xfrm flipH="1">
            <a:off x="7248526" y="4006851"/>
            <a:ext cx="612775" cy="735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pt-BR" sz="1600">
                <a:solidFill>
                  <a:srgbClr val="0000CC"/>
                </a:solidFill>
                <a:latin typeface="Arial Narrow" pitchFamily="34" charset="0"/>
              </a:rPr>
              <a:t>Banda lateral inferior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  </a:t>
            </a:r>
          </a:p>
        </p:txBody>
      </p:sp>
      <p:sp>
        <p:nvSpPr>
          <p:cNvPr id="91" name="Text Box 48">
            <a:extLst>
              <a:ext uri="{FF2B5EF4-FFF2-40B4-BE49-F238E27FC236}">
                <a16:creationId xmlns:a16="http://schemas.microsoft.com/office/drawing/2014/main" id="{92E8BAA1-3F07-8CF6-BE07-F0B7EBE116F5}"/>
              </a:ext>
            </a:extLst>
          </p:cNvPr>
          <p:cNvSpPr txBox="1">
            <a:spLocks noChangeArrowheads="1"/>
          </p:cNvSpPr>
          <p:nvPr/>
        </p:nvSpPr>
        <p:spPr bwMode="gray">
          <a:xfrm flipH="1">
            <a:off x="1733551" y="4006851"/>
            <a:ext cx="708025" cy="735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pt-BR" sz="1600">
                <a:solidFill>
                  <a:srgbClr val="0000CC"/>
                </a:solidFill>
                <a:latin typeface="Arial Narrow" pitchFamily="34" charset="0"/>
              </a:rPr>
              <a:t>Banda lateral superior</a:t>
            </a:r>
            <a:r>
              <a:rPr lang="pt-BR" sz="1600" i="1">
                <a:solidFill>
                  <a:srgbClr val="0000CC"/>
                </a:solidFill>
                <a:latin typeface="Times New Roman" pitchFamily="18" charset="0"/>
              </a:rPr>
              <a:t>  </a:t>
            </a:r>
          </a:p>
        </p:txBody>
      </p:sp>
      <p:sp>
        <p:nvSpPr>
          <p:cNvPr id="92" name="Line 49">
            <a:extLst>
              <a:ext uri="{FF2B5EF4-FFF2-40B4-BE49-F238E27FC236}">
                <a16:creationId xmlns:a16="http://schemas.microsoft.com/office/drawing/2014/main" id="{3E1976CA-2AE3-C7AA-19B3-971E32570279}"/>
              </a:ext>
            </a:extLst>
          </p:cNvPr>
          <p:cNvSpPr>
            <a:spLocks noChangeShapeType="1"/>
          </p:cNvSpPr>
          <p:nvPr/>
        </p:nvSpPr>
        <p:spPr bwMode="gray">
          <a:xfrm>
            <a:off x="2393950" y="4389438"/>
            <a:ext cx="495300" cy="131762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stealth" w="sm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93" name="Line 50">
            <a:extLst>
              <a:ext uri="{FF2B5EF4-FFF2-40B4-BE49-F238E27FC236}">
                <a16:creationId xmlns:a16="http://schemas.microsoft.com/office/drawing/2014/main" id="{D3282333-0A6D-80E6-AB26-0BBC38B4FDCE}"/>
              </a:ext>
            </a:extLst>
          </p:cNvPr>
          <p:cNvSpPr>
            <a:spLocks noChangeShapeType="1"/>
          </p:cNvSpPr>
          <p:nvPr/>
        </p:nvSpPr>
        <p:spPr bwMode="gray">
          <a:xfrm>
            <a:off x="6048376" y="3948113"/>
            <a:ext cx="1047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94" name="Line 51">
            <a:extLst>
              <a:ext uri="{FF2B5EF4-FFF2-40B4-BE49-F238E27FC236}">
                <a16:creationId xmlns:a16="http://schemas.microsoft.com/office/drawing/2014/main" id="{32D7C75B-5669-9512-E836-7A3C250A21B3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8788400" y="4789488"/>
            <a:ext cx="0" cy="63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95" name="Line 52">
            <a:extLst>
              <a:ext uri="{FF2B5EF4-FFF2-40B4-BE49-F238E27FC236}">
                <a16:creationId xmlns:a16="http://schemas.microsoft.com/office/drawing/2014/main" id="{0B5E3C88-C048-E34B-D7ED-9B62ED69BF3D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1946275" y="4854575"/>
            <a:ext cx="845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96" name="Line 53">
            <a:extLst>
              <a:ext uri="{FF2B5EF4-FFF2-40B4-BE49-F238E27FC236}">
                <a16:creationId xmlns:a16="http://schemas.microsoft.com/office/drawing/2014/main" id="{563BCCE4-328F-31B1-B391-D2031A460A77}"/>
              </a:ext>
            </a:extLst>
          </p:cNvPr>
          <p:cNvSpPr>
            <a:spLocks noChangeShapeType="1"/>
          </p:cNvSpPr>
          <p:nvPr/>
        </p:nvSpPr>
        <p:spPr bwMode="gray">
          <a:xfrm flipH="1">
            <a:off x="9163050" y="4381500"/>
            <a:ext cx="552450" cy="2159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stealth" w="sm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97" name="Line 54">
            <a:extLst>
              <a:ext uri="{FF2B5EF4-FFF2-40B4-BE49-F238E27FC236}">
                <a16:creationId xmlns:a16="http://schemas.microsoft.com/office/drawing/2014/main" id="{ADC523A0-4D04-0E14-E94B-3D46DE368C9F}"/>
              </a:ext>
            </a:extLst>
          </p:cNvPr>
          <p:cNvSpPr>
            <a:spLocks noChangeShapeType="1"/>
          </p:cNvSpPr>
          <p:nvPr/>
        </p:nvSpPr>
        <p:spPr bwMode="gray">
          <a:xfrm>
            <a:off x="7861300" y="4389438"/>
            <a:ext cx="514350" cy="188912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stealth" w="sm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98" name="Group 60">
            <a:extLst>
              <a:ext uri="{FF2B5EF4-FFF2-40B4-BE49-F238E27FC236}">
                <a16:creationId xmlns:a16="http://schemas.microsoft.com/office/drawing/2014/main" id="{CCB26B1D-AFD8-F6EE-FA8A-E4112FF2B5A9}"/>
              </a:ext>
            </a:extLst>
          </p:cNvPr>
          <p:cNvGrpSpPr>
            <a:grpSpLocks/>
          </p:cNvGrpSpPr>
          <p:nvPr/>
        </p:nvGrpSpPr>
        <p:grpSpPr bwMode="auto">
          <a:xfrm>
            <a:off x="1719263" y="3892551"/>
            <a:ext cx="8640762" cy="955675"/>
            <a:chOff x="123" y="2452"/>
            <a:chExt cx="5443" cy="602"/>
          </a:xfrm>
        </p:grpSpPr>
        <p:grpSp>
          <p:nvGrpSpPr>
            <p:cNvPr id="99" name="Group 61">
              <a:extLst>
                <a:ext uri="{FF2B5EF4-FFF2-40B4-BE49-F238E27FC236}">
                  <a16:creationId xmlns:a16="http://schemas.microsoft.com/office/drawing/2014/main" id="{2BF219E7-5397-8867-6DEB-02163EACF0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" y="2454"/>
              <a:ext cx="987" cy="600"/>
              <a:chOff x="123" y="2454"/>
              <a:chExt cx="987" cy="600"/>
            </a:xfrm>
          </p:grpSpPr>
          <p:sp>
            <p:nvSpPr>
              <p:cNvPr id="103" name="Freeform 62">
                <a:extLst>
                  <a:ext uri="{FF2B5EF4-FFF2-40B4-BE49-F238E27FC236}">
                    <a16:creationId xmlns:a16="http://schemas.microsoft.com/office/drawing/2014/main" id="{799A733E-A9B7-6861-2E4B-6EBB31451BF2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267" y="2469"/>
                <a:ext cx="843" cy="585"/>
              </a:xfrm>
              <a:custGeom>
                <a:avLst/>
                <a:gdLst/>
                <a:ahLst/>
                <a:cxnLst>
                  <a:cxn ang="0">
                    <a:pos x="0" y="585"/>
                  </a:cxn>
                  <a:cxn ang="0">
                    <a:pos x="843" y="585"/>
                  </a:cxn>
                  <a:cxn ang="0">
                    <a:pos x="843" y="0"/>
                  </a:cxn>
                </a:cxnLst>
                <a:rect l="0" t="0" r="r" b="b"/>
                <a:pathLst>
                  <a:path w="843" h="585">
                    <a:moveTo>
                      <a:pt x="0" y="585"/>
                    </a:moveTo>
                    <a:lnTo>
                      <a:pt x="843" y="585"/>
                    </a:lnTo>
                    <a:lnTo>
                      <a:pt x="843" y="0"/>
                    </a:lnTo>
                  </a:path>
                </a:pathLst>
              </a:custGeom>
              <a:solidFill>
                <a:schemeClr val="bg1"/>
              </a:solidFill>
              <a:ln w="57150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" name="Rectangle 63">
                <a:extLst>
                  <a:ext uri="{FF2B5EF4-FFF2-40B4-BE49-F238E27FC236}">
                    <a16:creationId xmlns:a16="http://schemas.microsoft.com/office/drawing/2014/main" id="{942C6F67-8B8D-041A-C561-340A24B27E2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3" y="2454"/>
                <a:ext cx="966" cy="52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100" name="Group 64">
              <a:extLst>
                <a:ext uri="{FF2B5EF4-FFF2-40B4-BE49-F238E27FC236}">
                  <a16:creationId xmlns:a16="http://schemas.microsoft.com/office/drawing/2014/main" id="{0646FE0C-F494-00FC-039E-47485087AB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0" y="2452"/>
              <a:ext cx="986" cy="600"/>
              <a:chOff x="4577" y="2452"/>
              <a:chExt cx="986" cy="600"/>
            </a:xfrm>
          </p:grpSpPr>
          <p:sp>
            <p:nvSpPr>
              <p:cNvPr id="101" name="Freeform 65">
                <a:extLst>
                  <a:ext uri="{FF2B5EF4-FFF2-40B4-BE49-F238E27FC236}">
                    <a16:creationId xmlns:a16="http://schemas.microsoft.com/office/drawing/2014/main" id="{AB6C5C73-3EC7-3CB3-C923-EBBB24EB6D9E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577" y="2467"/>
                <a:ext cx="976" cy="585"/>
              </a:xfrm>
              <a:custGeom>
                <a:avLst/>
                <a:gdLst/>
                <a:ahLst/>
                <a:cxnLst>
                  <a:cxn ang="0">
                    <a:pos x="976" y="584"/>
                  </a:cxn>
                  <a:cxn ang="0">
                    <a:pos x="0" y="585"/>
                  </a:cxn>
                  <a:cxn ang="0">
                    <a:pos x="0" y="0"/>
                  </a:cxn>
                </a:cxnLst>
                <a:rect l="0" t="0" r="r" b="b"/>
                <a:pathLst>
                  <a:path w="976" h="585">
                    <a:moveTo>
                      <a:pt x="976" y="584"/>
                    </a:moveTo>
                    <a:lnTo>
                      <a:pt x="0" y="585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57150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2" name="Rectangle 66">
                <a:extLst>
                  <a:ext uri="{FF2B5EF4-FFF2-40B4-BE49-F238E27FC236}">
                    <a16:creationId xmlns:a16="http://schemas.microsoft.com/office/drawing/2014/main" id="{1D52F611-28C0-F696-F710-7D21E934321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4597" y="2452"/>
                <a:ext cx="966" cy="52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8896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51CDA-47B3-4A88-7344-13776B0B9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Geração de Sinais SSB</a:t>
            </a:r>
            <a:br>
              <a:rPr lang="pt-BR" dirty="0"/>
            </a:br>
            <a:r>
              <a:rPr lang="pt-BR" dirty="0"/>
              <a:t>Filtragem Seletiva</a:t>
            </a:r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0845400C-9171-65F6-B0FA-DDE4D5D7B889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624014"/>
            <a:ext cx="9063038" cy="2414587"/>
            <a:chOff x="0" y="1023"/>
            <a:chExt cx="5709" cy="1521"/>
          </a:xfrm>
        </p:grpSpPr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51F968C1-A226-7C8F-3C6E-D83443B1D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9" y="1470"/>
              <a:ext cx="237" cy="240"/>
            </a:xfrm>
            <a:prstGeom prst="flowChartConnector">
              <a:avLst/>
            </a:prstGeom>
            <a:solidFill>
              <a:srgbClr val="DDDDDD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60000"/>
                </a:lnSpc>
              </a:pPr>
              <a:r>
                <a:rPr lang="pt-BR" sz="3200">
                  <a:latin typeface="Times New Roman" pitchFamily="18" charset="0"/>
                  <a:sym typeface="Symbol" pitchFamily="18" charset="2"/>
                </a:rPr>
                <a:t></a:t>
              </a:r>
              <a:endParaRPr lang="pt-BR" sz="3200">
                <a:latin typeface="Times New Roman" pitchFamily="18" charset="0"/>
              </a:endParaRPr>
            </a:p>
          </p:txBody>
        </p:sp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79D6EACD-F6A7-EF0A-C26D-41AF507823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07"/>
              <a:ext cx="936" cy="36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pt-BR" sz="2000">
                  <a:latin typeface="Arial" charset="0"/>
                </a:rPr>
                <a:t>Sinal Modulante</a:t>
              </a:r>
            </a:p>
          </p:txBody>
        </p:sp>
        <p:cxnSp>
          <p:nvCxnSpPr>
            <p:cNvPr id="6" name="AutoShape 6">
              <a:extLst>
                <a:ext uri="{FF2B5EF4-FFF2-40B4-BE49-F238E27FC236}">
                  <a16:creationId xmlns:a16="http://schemas.microsoft.com/office/drawing/2014/main" id="{2A2CF3BD-32C1-D461-F5DF-76A0E6B3EEEB}"/>
                </a:ext>
              </a:extLst>
            </p:cNvPr>
            <p:cNvCxnSpPr>
              <a:cxnSpLocks noChangeShapeType="1"/>
              <a:stCxn id="4" idx="6"/>
              <a:endCxn id="7" idx="1"/>
            </p:cNvCxnSpPr>
            <p:nvPr/>
          </p:nvCxnSpPr>
          <p:spPr bwMode="auto">
            <a:xfrm>
              <a:off x="1938" y="1590"/>
              <a:ext cx="1194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</p:cxnSp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ADCE1060-B258-7AED-A091-F8E7C9471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4" y="1116"/>
              <a:ext cx="1616" cy="948"/>
            </a:xfrm>
            <a:prstGeom prst="flowChartProcess">
              <a:avLst/>
            </a:prstGeom>
            <a:solidFill>
              <a:srgbClr val="DDDDDD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pt-BR" sz="2000">
                  <a:latin typeface="Arial" charset="0"/>
                </a:rPr>
                <a:t>Filtro passa-faixa</a:t>
              </a:r>
              <a:endParaRPr lang="pt-BR" sz="2000" baseline="30000">
                <a:latin typeface="Arial" charset="0"/>
              </a:endParaRPr>
            </a:p>
            <a:p>
              <a:r>
                <a:rPr lang="pt-BR" sz="2000">
                  <a:latin typeface="Arial" charset="0"/>
                </a:rPr>
                <a:t>(deixa passar</a:t>
              </a:r>
            </a:p>
            <a:p>
              <a:r>
                <a:rPr lang="pt-BR" sz="2000">
                  <a:latin typeface="Arial" charset="0"/>
                </a:rPr>
                <a:t>apenas uma das</a:t>
              </a:r>
            </a:p>
            <a:p>
              <a:r>
                <a:rPr lang="pt-BR" sz="2000">
                  <a:latin typeface="Arial" charset="0"/>
                </a:rPr>
                <a:t>bandas laterais)</a:t>
              </a:r>
            </a:p>
          </p:txBody>
        </p:sp>
        <p:cxnSp>
          <p:nvCxnSpPr>
            <p:cNvPr id="8" name="AutoShape 8">
              <a:extLst>
                <a:ext uri="{FF2B5EF4-FFF2-40B4-BE49-F238E27FC236}">
                  <a16:creationId xmlns:a16="http://schemas.microsoft.com/office/drawing/2014/main" id="{BB5722FA-3A51-A2EC-27FC-140FE7BE580B}"/>
                </a:ext>
              </a:extLst>
            </p:cNvPr>
            <p:cNvCxnSpPr>
              <a:cxnSpLocks noChangeShapeType="1"/>
              <a:stCxn id="5" idx="3"/>
              <a:endCxn id="4" idx="2"/>
            </p:cNvCxnSpPr>
            <p:nvPr/>
          </p:nvCxnSpPr>
          <p:spPr bwMode="auto">
            <a:xfrm>
              <a:off x="936" y="1590"/>
              <a:ext cx="741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</p:cxnSp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37649944-FC44-F4AA-CC27-7E78CDA19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064"/>
              <a:ext cx="908" cy="480"/>
            </a:xfrm>
            <a:prstGeom prst="flowChartProcess">
              <a:avLst/>
            </a:prstGeom>
            <a:solidFill>
              <a:srgbClr val="DDDDDD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pt-BR" sz="2000">
                  <a:latin typeface="Arial" charset="0"/>
                </a:rPr>
                <a:t>Oscilador</a:t>
              </a:r>
              <a:endParaRPr lang="pt-BR" sz="2000" baseline="30000">
                <a:latin typeface="Arial" charset="0"/>
              </a:endParaRPr>
            </a:p>
            <a:p>
              <a:r>
                <a:rPr lang="pt-BR" sz="2000" i="1">
                  <a:latin typeface="Times New Roman" pitchFamily="18" charset="0"/>
                </a:rPr>
                <a:t>f</a:t>
              </a:r>
              <a:r>
                <a:rPr lang="pt-BR" sz="2000" baseline="-25000">
                  <a:latin typeface="Arial" charset="0"/>
                </a:rPr>
                <a:t>osc</a:t>
              </a:r>
              <a:r>
                <a:rPr lang="pt-BR" sz="2000" i="1">
                  <a:latin typeface="Arial" charset="0"/>
                </a:rPr>
                <a:t>= </a:t>
              </a:r>
              <a:r>
                <a:rPr lang="pt-BR" sz="2000" i="1">
                  <a:latin typeface="Times New Roman" pitchFamily="18" charset="0"/>
                </a:rPr>
                <a:t>f</a:t>
              </a:r>
              <a:r>
                <a:rPr lang="pt-BR" sz="2000" i="1" baseline="-25000">
                  <a:latin typeface="Arial" charset="0"/>
                </a:rPr>
                <a:t>c</a:t>
              </a:r>
              <a:r>
                <a:rPr lang="pt-BR" sz="2000">
                  <a:latin typeface="Arial" charset="0"/>
                </a:rPr>
                <a:t> </a:t>
              </a:r>
            </a:p>
          </p:txBody>
        </p:sp>
        <p:cxnSp>
          <p:nvCxnSpPr>
            <p:cNvPr id="10" name="AutoShape 10">
              <a:extLst>
                <a:ext uri="{FF2B5EF4-FFF2-40B4-BE49-F238E27FC236}">
                  <a16:creationId xmlns:a16="http://schemas.microsoft.com/office/drawing/2014/main" id="{E1DD6CD4-2EC7-43A0-AB2D-A962D358F42E}"/>
                </a:ext>
              </a:extLst>
            </p:cNvPr>
            <p:cNvCxnSpPr>
              <a:cxnSpLocks noChangeShapeType="1"/>
              <a:stCxn id="7" idx="3"/>
              <a:endCxn id="12" idx="1"/>
            </p:cNvCxnSpPr>
            <p:nvPr/>
          </p:nvCxnSpPr>
          <p:spPr bwMode="auto">
            <a:xfrm>
              <a:off x="4772" y="1590"/>
              <a:ext cx="46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</p:cxn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D59CF137-8BCC-F0B8-6EBF-26C5197DBA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3" y="1023"/>
              <a:ext cx="1000" cy="36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pt-BR" sz="2000">
                  <a:latin typeface="Arial" charset="0"/>
                </a:rPr>
                <a:t>Modulador  balanceado</a:t>
              </a: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9A2B7A58-3290-23B3-1A90-1F7071B93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1" y="1407"/>
              <a:ext cx="468" cy="36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54000" rIns="54000"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pt-BR" sz="2000">
                  <a:latin typeface="Arial" charset="0"/>
                </a:rPr>
                <a:t>Sinal SSB</a:t>
              </a:r>
            </a:p>
          </p:txBody>
        </p:sp>
        <p:cxnSp>
          <p:nvCxnSpPr>
            <p:cNvPr id="13" name="AutoShape 13">
              <a:extLst>
                <a:ext uri="{FF2B5EF4-FFF2-40B4-BE49-F238E27FC236}">
                  <a16:creationId xmlns:a16="http://schemas.microsoft.com/office/drawing/2014/main" id="{901DF071-D175-CBDB-5FA4-BE373B62E1FD}"/>
                </a:ext>
              </a:extLst>
            </p:cNvPr>
            <p:cNvCxnSpPr>
              <a:cxnSpLocks noChangeShapeType="1"/>
              <a:stCxn id="9" idx="0"/>
            </p:cNvCxnSpPr>
            <p:nvPr/>
          </p:nvCxnSpPr>
          <p:spPr bwMode="auto">
            <a:xfrm flipH="1" flipV="1">
              <a:off x="1812" y="1716"/>
              <a:ext cx="1" cy="336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</p:cxn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6D7C0E56-2CA0-33AF-138C-A1214F5A70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6" y="1208"/>
              <a:ext cx="740" cy="36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pt-BR" sz="2000">
                  <a:latin typeface="Arial" charset="0"/>
                </a:rPr>
                <a:t>Sinal DSB-SC</a:t>
              </a:r>
            </a:p>
          </p:txBody>
        </p:sp>
        <p:graphicFrame>
          <p:nvGraphicFramePr>
            <p:cNvPr id="15" name="Object 15">
              <a:extLst>
                <a:ext uri="{FF2B5EF4-FFF2-40B4-BE49-F238E27FC236}">
                  <a16:creationId xmlns:a16="http://schemas.microsoft.com/office/drawing/2014/main" id="{DD20B1FD-DECD-C38B-2052-37F8964073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36" y="1792"/>
            <a:ext cx="88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98400" imgH="228600" progId="Equation.3">
                    <p:embed/>
                  </p:oleObj>
                </mc:Choice>
                <mc:Fallback>
                  <p:oleObj name="Equation" r:id="rId2" imgW="698400" imgH="228600" progId="Equation.3">
                    <p:embed/>
                    <p:pic>
                      <p:nvPicPr>
                        <p:cNvPr id="15" name="Object 15">
                          <a:extLst>
                            <a:ext uri="{FF2B5EF4-FFF2-40B4-BE49-F238E27FC236}">
                              <a16:creationId xmlns:a16="http://schemas.microsoft.com/office/drawing/2014/main" id="{DD20B1FD-DECD-C38B-2052-37F89640737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6" y="1792"/>
                          <a:ext cx="881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6">
              <a:extLst>
                <a:ext uri="{FF2B5EF4-FFF2-40B4-BE49-F238E27FC236}">
                  <a16:creationId xmlns:a16="http://schemas.microsoft.com/office/drawing/2014/main" id="{AC05EC95-8BC7-00D1-1C23-A3F428D56E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6" y="1322"/>
            <a:ext cx="417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30120" imgH="203040" progId="Equation.3">
                    <p:embed/>
                  </p:oleObj>
                </mc:Choice>
                <mc:Fallback>
                  <p:oleObj name="Equation" r:id="rId4" imgW="330120" imgH="203040" progId="Equation.3">
                    <p:embed/>
                    <p:pic>
                      <p:nvPicPr>
                        <p:cNvPr id="16" name="Object 16">
                          <a:extLst>
                            <a:ext uri="{FF2B5EF4-FFF2-40B4-BE49-F238E27FC236}">
                              <a16:creationId xmlns:a16="http://schemas.microsoft.com/office/drawing/2014/main" id="{AC05EC95-8BC7-00D1-1C23-A3F428D56E0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6" y="1322"/>
                          <a:ext cx="417" cy="2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7">
              <a:extLst>
                <a:ext uri="{FF2B5EF4-FFF2-40B4-BE49-F238E27FC236}">
                  <a16:creationId xmlns:a16="http://schemas.microsoft.com/office/drawing/2014/main" id="{4ADB62AF-D77A-3C09-FDEB-888E45EDCD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48" y="1322"/>
            <a:ext cx="352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79360" imgH="203040" progId="Equation.3">
                    <p:embed/>
                  </p:oleObj>
                </mc:Choice>
                <mc:Fallback>
                  <p:oleObj name="Equation" r:id="rId6" imgW="279360" imgH="203040" progId="Equation.3">
                    <p:embed/>
                    <p:pic>
                      <p:nvPicPr>
                        <p:cNvPr id="17" name="Object 17">
                          <a:extLst>
                            <a:ext uri="{FF2B5EF4-FFF2-40B4-BE49-F238E27FC236}">
                              <a16:creationId xmlns:a16="http://schemas.microsoft.com/office/drawing/2014/main" id="{4ADB62AF-D77A-3C09-FDEB-888E45EDCD1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1322"/>
                          <a:ext cx="352" cy="2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Text Box 18">
            <a:extLst>
              <a:ext uri="{FF2B5EF4-FFF2-40B4-BE49-F238E27FC236}">
                <a16:creationId xmlns:a16="http://schemas.microsoft.com/office/drawing/2014/main" id="{1AB35590-0D8C-428B-26C9-D947F6A76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750" y="4857751"/>
            <a:ext cx="775335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dirty="0">
                <a:solidFill>
                  <a:schemeClr val="accent2"/>
                </a:solidFill>
                <a:latin typeface="Arial Narrow" pitchFamily="34" charset="0"/>
              </a:rPr>
              <a:t>Para essa geração do sinal SSB ser possível, o sinal modulante deve ter uma lacuna espectral centrada em 0 Hz. </a:t>
            </a:r>
          </a:p>
        </p:txBody>
      </p:sp>
    </p:spTree>
    <p:extLst>
      <p:ext uri="{BB962C8B-B14F-4D97-AF65-F5344CB8AC3E}">
        <p14:creationId xmlns:p14="http://schemas.microsoft.com/office/powerpoint/2010/main" val="3636692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D0E269-76D7-8126-5CE1-789D51565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Geração de Sinais SSB</a:t>
            </a:r>
            <a:br>
              <a:rPr lang="pt-BR" dirty="0"/>
            </a:br>
            <a:r>
              <a:rPr lang="pt-BR" dirty="0"/>
              <a:t>Desafios de Filtragem Seletiva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2BDFEA48-DD45-C45A-03BA-3341FCCEAE81}"/>
                  </a:ext>
                </a:extLst>
              </p:cNvPr>
              <p:cNvSpPr txBox="1"/>
              <p:nvPr/>
            </p:nvSpPr>
            <p:spPr>
              <a:xfrm>
                <a:off x="838200" y="1415143"/>
                <a:ext cx="9448800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Geração de sinal SSB exige filtro passa-faixa ideal</a:t>
                </a:r>
              </a:p>
              <a:p>
                <a:r>
                  <a:rPr lang="pt-BR" sz="2800" dirty="0"/>
                  <a:t>entre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>Que é impossível de se implementar...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Ou o sinal não deve conter componentes com frequência baixa, facilitando o projeto do filtro</a:t>
                </a: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2BDFEA48-DD45-C45A-03BA-3341FCCEA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15143"/>
                <a:ext cx="9448800" cy="3108543"/>
              </a:xfrm>
              <a:prstGeom prst="rect">
                <a:avLst/>
              </a:prstGeom>
              <a:blipFill>
                <a:blip r:embed="rId2"/>
                <a:stretch>
                  <a:fillRect l="-1355" t="-1765" r="-903" b="-470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5001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257050-AFBF-7185-C20A-32160E800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Geração de sinais SSB para sinais de voz</a:t>
            </a:r>
            <a:br>
              <a:rPr lang="pt-BR" dirty="0"/>
            </a:br>
            <a:r>
              <a:rPr lang="pt-BR" dirty="0"/>
              <a:t>Filtragem Seletiva </a:t>
            </a:r>
          </a:p>
        </p:txBody>
      </p:sp>
      <p:pic>
        <p:nvPicPr>
          <p:cNvPr id="4" name="Picture 2" descr="fig176b">
            <a:extLst>
              <a:ext uri="{FF2B5EF4-FFF2-40B4-BE49-F238E27FC236}">
                <a16:creationId xmlns:a16="http://schemas.microsoft.com/office/drawing/2014/main" id="{8147391A-A65E-8080-C235-51A8C3F6A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9111"/>
          <a:stretch>
            <a:fillRect/>
          </a:stretch>
        </p:blipFill>
        <p:spPr bwMode="auto">
          <a:xfrm>
            <a:off x="1524000" y="3714750"/>
            <a:ext cx="9144000" cy="2617788"/>
          </a:xfrm>
          <a:prstGeom prst="rect">
            <a:avLst/>
          </a:prstGeom>
          <a:noFill/>
        </p:spPr>
      </p:pic>
      <p:pic>
        <p:nvPicPr>
          <p:cNvPr id="6" name="Picture 4" descr="fig176a">
            <a:extLst>
              <a:ext uri="{FF2B5EF4-FFF2-40B4-BE49-F238E27FC236}">
                <a16:creationId xmlns:a16="http://schemas.microsoft.com/office/drawing/2014/main" id="{DC835A0B-9E68-67B2-1907-2CEF71060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5037"/>
          <a:stretch>
            <a:fillRect/>
          </a:stretch>
        </p:blipFill>
        <p:spPr bwMode="auto">
          <a:xfrm>
            <a:off x="1606550" y="1047750"/>
            <a:ext cx="5137150" cy="3087688"/>
          </a:xfrm>
          <a:prstGeom prst="rect">
            <a:avLst/>
          </a:prstGeom>
          <a:noFill/>
        </p:spPr>
      </p:pic>
      <p:sp>
        <p:nvSpPr>
          <p:cNvPr id="8" name="Text Box 5">
            <a:extLst>
              <a:ext uri="{FF2B5EF4-FFF2-40B4-BE49-F238E27FC236}">
                <a16:creationId xmlns:a16="http://schemas.microsoft.com/office/drawing/2014/main" id="{98C48536-A8B3-D4EA-A154-96743A6BD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0" y="1257300"/>
            <a:ext cx="447675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pt-BR">
                <a:solidFill>
                  <a:schemeClr val="accent2"/>
                </a:solidFill>
                <a:latin typeface="Arial Narrow" pitchFamily="34" charset="0"/>
              </a:rPr>
              <a:t>Sinais de voz com banda telefônica (300 - 3200 Hz) produzem um sinal DSB-SC com uma lacuna de 600 Hz entre as bandas laterais</a:t>
            </a:r>
          </a:p>
        </p:txBody>
      </p:sp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1A60AE34-4DEF-CEA9-FC56-85340A5887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4450" y="5810250"/>
          <a:ext cx="558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360" imgH="228600" progId="Equation.3">
                  <p:embed/>
                </p:oleObj>
              </mc:Choice>
              <mc:Fallback>
                <p:oleObj name="Equation" r:id="rId4" imgW="279360" imgH="228600" progId="Equation.3">
                  <p:embed/>
                  <p:pic>
                    <p:nvPicPr>
                      <p:cNvPr id="10" name="Object 7">
                        <a:extLst>
                          <a:ext uri="{FF2B5EF4-FFF2-40B4-BE49-F238E27FC236}">
                            <a16:creationId xmlns:a16="http://schemas.microsoft.com/office/drawing/2014/main" id="{1A60AE34-4DEF-CEA9-FC56-85340A5887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4450" y="5810250"/>
                        <a:ext cx="558800" cy="457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">
            <a:extLst>
              <a:ext uri="{FF2B5EF4-FFF2-40B4-BE49-F238E27FC236}">
                <a16:creationId xmlns:a16="http://schemas.microsoft.com/office/drawing/2014/main" id="{4370EA5D-C728-ED12-55EC-8F20C4C227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64413" y="5816600"/>
          <a:ext cx="596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40" imgH="228600" progId="Equation.3">
                  <p:embed/>
                </p:oleObj>
              </mc:Choice>
              <mc:Fallback>
                <p:oleObj name="Equation" r:id="rId6" imgW="190440" imgH="228600" progId="Equation.3">
                  <p:embed/>
                  <p:pic>
                    <p:nvPicPr>
                      <p:cNvPr id="12" name="Object 8">
                        <a:extLst>
                          <a:ext uri="{FF2B5EF4-FFF2-40B4-BE49-F238E27FC236}">
                            <a16:creationId xmlns:a16="http://schemas.microsoft.com/office/drawing/2014/main" id="{4370EA5D-C728-ED12-55EC-8F20C4C227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8904" r="-37807"/>
                      <a:stretch>
                        <a:fillRect/>
                      </a:stretch>
                    </p:blipFill>
                    <p:spPr bwMode="auto">
                      <a:xfrm>
                        <a:off x="7364413" y="5816600"/>
                        <a:ext cx="596900" cy="457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9">
            <a:extLst>
              <a:ext uri="{FF2B5EF4-FFF2-40B4-BE49-F238E27FC236}">
                <a16:creationId xmlns:a16="http://schemas.microsoft.com/office/drawing/2014/main" id="{EFE2BBD8-12D5-BE25-2F70-ECE9340CBD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88475" y="5913438"/>
          <a:ext cx="330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4880" imgH="203040" progId="Equation.3">
                  <p:embed/>
                </p:oleObj>
              </mc:Choice>
              <mc:Fallback>
                <p:oleObj name="Equation" r:id="rId8" imgW="164880" imgH="203040" progId="Equation.3">
                  <p:embed/>
                  <p:pic>
                    <p:nvPicPr>
                      <p:cNvPr id="14" name="Object 9">
                        <a:extLst>
                          <a:ext uri="{FF2B5EF4-FFF2-40B4-BE49-F238E27FC236}">
                            <a16:creationId xmlns:a16="http://schemas.microsoft.com/office/drawing/2014/main" id="{EFE2BBD8-12D5-BE25-2F70-ECE9340CBD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8475" y="5913438"/>
                        <a:ext cx="330200" cy="406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0">
            <a:extLst>
              <a:ext uri="{FF2B5EF4-FFF2-40B4-BE49-F238E27FC236}">
                <a16:creationId xmlns:a16="http://schemas.microsoft.com/office/drawing/2014/main" id="{C9A091EB-360F-13ED-1F82-9FA45B4CD9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4375" y="5754688"/>
          <a:ext cx="254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720" imgH="177480" progId="Equation.3">
                  <p:embed/>
                </p:oleObj>
              </mc:Choice>
              <mc:Fallback>
                <p:oleObj name="Equation" r:id="rId10" imgW="126720" imgH="177480" progId="Equation.3">
                  <p:embed/>
                  <p:pic>
                    <p:nvPicPr>
                      <p:cNvPr id="16" name="Object 10">
                        <a:extLst>
                          <a:ext uri="{FF2B5EF4-FFF2-40B4-BE49-F238E27FC236}">
                            <a16:creationId xmlns:a16="http://schemas.microsoft.com/office/drawing/2014/main" id="{C9A091EB-360F-13ED-1F82-9FA45B4CD9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75" y="5754688"/>
                        <a:ext cx="254000" cy="355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634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9BEE1B-28C0-AD17-4EFB-89CBBE5F4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Geração de sinais SSB</a:t>
            </a:r>
            <a:br>
              <a:rPr lang="pt-BR" dirty="0"/>
            </a:br>
            <a:r>
              <a:rPr lang="pt-BR" dirty="0"/>
              <a:t>Método da defasagem 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A840936F-CC44-ECD0-F28B-9E215ECB7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364" y="3032125"/>
            <a:ext cx="376237" cy="381000"/>
          </a:xfrm>
          <a:prstGeom prst="flowChartConnector">
            <a:avLst/>
          </a:prstGeom>
          <a:solidFill>
            <a:srgbClr val="DDDDDD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pt-BR">
                <a:latin typeface="Times New Roman" pitchFamily="18" charset="0"/>
                <a:sym typeface="Symbol" pitchFamily="18" charset="2"/>
              </a:rPr>
              <a:t></a:t>
            </a:r>
            <a:endParaRPr lang="pt-BR">
              <a:latin typeface="Times New Roman" pitchFamily="18" charset="0"/>
            </a:endParaRP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AED25A58-66B2-FA04-D18F-411E7A70D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7939" y="4156075"/>
            <a:ext cx="376237" cy="381000"/>
          </a:xfrm>
          <a:prstGeom prst="flowChartConnector">
            <a:avLst/>
          </a:prstGeom>
          <a:solidFill>
            <a:srgbClr val="DDDDDD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60000"/>
              </a:lnSpc>
            </a:pPr>
            <a:r>
              <a:rPr lang="pt-BR">
                <a:latin typeface="Times New Roman" pitchFamily="18" charset="0"/>
                <a:sym typeface="Symbol" pitchFamily="18" charset="2"/>
              </a:rPr>
              <a:t></a:t>
            </a:r>
            <a:endParaRPr lang="pt-BR">
              <a:latin typeface="Times New Roman" pitchFamily="18" charset="0"/>
            </a:endParaRPr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E449FEC7-E224-385F-85AB-6E42C8A70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7939" y="1938338"/>
            <a:ext cx="376237" cy="381000"/>
          </a:xfrm>
          <a:prstGeom prst="flowChartConnector">
            <a:avLst/>
          </a:prstGeom>
          <a:solidFill>
            <a:srgbClr val="DDDDDD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60000"/>
              </a:lnSpc>
            </a:pPr>
            <a:r>
              <a:rPr lang="pt-BR">
                <a:latin typeface="Times New Roman" pitchFamily="18" charset="0"/>
                <a:sym typeface="Symbol" pitchFamily="18" charset="2"/>
              </a:rPr>
              <a:t></a:t>
            </a:r>
            <a:endParaRPr lang="pt-BR">
              <a:latin typeface="Times New Roman" pitchFamily="18" charset="0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7AA18F3-5400-37FD-5107-A06BC3867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8826" y="1949450"/>
            <a:ext cx="2754313" cy="2903538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306A34F1-4732-42EB-5DF4-862E1BE8B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6" y="3962400"/>
            <a:ext cx="2081213" cy="769938"/>
          </a:xfrm>
          <a:prstGeom prst="flowChartProcess">
            <a:avLst/>
          </a:prstGeom>
          <a:solidFill>
            <a:srgbClr val="DDDDDD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pt-BR">
                <a:latin typeface="Arial" charset="0"/>
              </a:rPr>
              <a:t>Defasador de -90</a:t>
            </a:r>
            <a:r>
              <a:rPr lang="pt-BR" baseline="30000">
                <a:latin typeface="Arial" charset="0"/>
              </a:rPr>
              <a:t>o</a:t>
            </a:r>
          </a:p>
          <a:p>
            <a:r>
              <a:rPr lang="pt-BR">
                <a:latin typeface="Arial" charset="0"/>
              </a:rPr>
              <a:t>para 0&lt; </a:t>
            </a:r>
            <a:r>
              <a:rPr lang="pt-BR" i="1">
                <a:latin typeface="Times New Roman" pitchFamily="18" charset="0"/>
              </a:rPr>
              <a:t>f </a:t>
            </a:r>
            <a:r>
              <a:rPr lang="pt-BR">
                <a:latin typeface="Arial" charset="0"/>
              </a:rPr>
              <a:t>&lt;</a:t>
            </a:r>
            <a:r>
              <a:rPr lang="pt-BR" i="1">
                <a:latin typeface="Times New Roman" pitchFamily="18" charset="0"/>
              </a:rPr>
              <a:t>B</a:t>
            </a:r>
            <a:r>
              <a:rPr lang="pt-BR" i="1" baseline="-25000">
                <a:latin typeface="Times New Roman" pitchFamily="18" charset="0"/>
              </a:rPr>
              <a:t>m</a:t>
            </a:r>
            <a:r>
              <a:rPr lang="pt-BR">
                <a:latin typeface="Arial" charset="0"/>
              </a:rPr>
              <a:t> </a:t>
            </a:r>
          </a:p>
        </p:txBody>
      </p:sp>
      <p:sp>
        <p:nvSpPr>
          <p:cNvPr id="8" name="AutoShape 9">
            <a:extLst>
              <a:ext uri="{FF2B5EF4-FFF2-40B4-BE49-F238E27FC236}">
                <a16:creationId xmlns:a16="http://schemas.microsoft.com/office/drawing/2014/main" id="{570C75A3-56A0-2759-CFC3-1A0D22094B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73464" y="3170238"/>
            <a:ext cx="85725" cy="80962"/>
          </a:xfrm>
          <a:prstGeom prst="flowChartConnector">
            <a:avLst/>
          </a:prstGeom>
          <a:solidFill>
            <a:schemeClr val="tx1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cxnSp>
        <p:nvCxnSpPr>
          <p:cNvPr id="9" name="AutoShape 10">
            <a:extLst>
              <a:ext uri="{FF2B5EF4-FFF2-40B4-BE49-F238E27FC236}">
                <a16:creationId xmlns:a16="http://schemas.microsoft.com/office/drawing/2014/main" id="{42E59617-31CC-AB73-7BDC-66EE00FAAD9F}"/>
              </a:ext>
            </a:extLst>
          </p:cNvPr>
          <p:cNvCxnSpPr>
            <a:cxnSpLocks noChangeShapeType="1"/>
            <a:stCxn id="7" idx="3"/>
            <a:endCxn id="4" idx="2"/>
          </p:cNvCxnSpPr>
          <p:nvPr/>
        </p:nvCxnSpPr>
        <p:spPr bwMode="auto">
          <a:xfrm flipV="1">
            <a:off x="5976938" y="4346575"/>
            <a:ext cx="1631950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</p:spPr>
      </p:cxnSp>
      <p:cxnSp>
        <p:nvCxnSpPr>
          <p:cNvPr id="10" name="AutoShape 11">
            <a:extLst>
              <a:ext uri="{FF2B5EF4-FFF2-40B4-BE49-F238E27FC236}">
                <a16:creationId xmlns:a16="http://schemas.microsoft.com/office/drawing/2014/main" id="{B18B8FBA-52FC-EE54-D9F0-BA4D6A35D68A}"/>
              </a:ext>
            </a:extLst>
          </p:cNvPr>
          <p:cNvCxnSpPr>
            <a:cxnSpLocks noChangeShapeType="1"/>
            <a:stCxn id="8" idx="4"/>
            <a:endCxn id="7" idx="1"/>
          </p:cNvCxnSpPr>
          <p:nvPr/>
        </p:nvCxnSpPr>
        <p:spPr bwMode="auto">
          <a:xfrm rot="16200000" flipH="1">
            <a:off x="3198019" y="3688557"/>
            <a:ext cx="1077913" cy="24130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lg"/>
          </a:ln>
          <a:effectLst/>
        </p:spPr>
      </p:cxnSp>
      <p:cxnSp>
        <p:nvCxnSpPr>
          <p:cNvPr id="11" name="AutoShape 12">
            <a:extLst>
              <a:ext uri="{FF2B5EF4-FFF2-40B4-BE49-F238E27FC236}">
                <a16:creationId xmlns:a16="http://schemas.microsoft.com/office/drawing/2014/main" id="{28DDCA70-4891-67EB-831B-7F865BB9484E}"/>
              </a:ext>
            </a:extLst>
          </p:cNvPr>
          <p:cNvCxnSpPr>
            <a:cxnSpLocks noChangeShapeType="1"/>
            <a:stCxn id="8" idx="0"/>
            <a:endCxn id="5" idx="2"/>
          </p:cNvCxnSpPr>
          <p:nvPr/>
        </p:nvCxnSpPr>
        <p:spPr bwMode="auto">
          <a:xfrm rot="16200000">
            <a:off x="5101432" y="643732"/>
            <a:ext cx="1022350" cy="3992563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lg"/>
          </a:ln>
          <a:effectLst/>
        </p:spPr>
      </p:cxnSp>
      <p:cxnSp>
        <p:nvCxnSpPr>
          <p:cNvPr id="12" name="AutoShape 13">
            <a:extLst>
              <a:ext uri="{FF2B5EF4-FFF2-40B4-BE49-F238E27FC236}">
                <a16:creationId xmlns:a16="http://schemas.microsoft.com/office/drawing/2014/main" id="{FD11452D-5FD8-51DB-6CDA-C5EDE6037D1B}"/>
              </a:ext>
            </a:extLst>
          </p:cNvPr>
          <p:cNvCxnSpPr>
            <a:cxnSpLocks noChangeShapeType="1"/>
            <a:stCxn id="27" idx="3"/>
            <a:endCxn id="8" idx="2"/>
          </p:cNvCxnSpPr>
          <p:nvPr/>
        </p:nvCxnSpPr>
        <p:spPr bwMode="auto">
          <a:xfrm flipV="1">
            <a:off x="2724151" y="3210719"/>
            <a:ext cx="849313" cy="1456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</p:spPr>
      </p:cxn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18F55E27-29EE-1CD0-72CD-DE277D309512}"/>
              </a:ext>
            </a:extLst>
          </p:cNvPr>
          <p:cNvCxnSpPr>
            <a:cxnSpLocks noChangeShapeType="1"/>
            <a:stCxn id="4" idx="6"/>
            <a:endCxn id="3" idx="4"/>
          </p:cNvCxnSpPr>
          <p:nvPr/>
        </p:nvCxnSpPr>
        <p:spPr bwMode="auto">
          <a:xfrm flipV="1">
            <a:off x="8023225" y="3432175"/>
            <a:ext cx="1162050" cy="91440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lg"/>
          </a:ln>
          <a:effectLst/>
        </p:spPr>
      </p:cxnSp>
      <p:cxnSp>
        <p:nvCxnSpPr>
          <p:cNvPr id="14" name="AutoShape 15">
            <a:extLst>
              <a:ext uri="{FF2B5EF4-FFF2-40B4-BE49-F238E27FC236}">
                <a16:creationId xmlns:a16="http://schemas.microsoft.com/office/drawing/2014/main" id="{364E537F-69D5-C744-8049-98E7A070EAD7}"/>
              </a:ext>
            </a:extLst>
          </p:cNvPr>
          <p:cNvCxnSpPr>
            <a:cxnSpLocks noChangeShapeType="1"/>
            <a:stCxn id="5" idx="6"/>
            <a:endCxn id="3" idx="0"/>
          </p:cNvCxnSpPr>
          <p:nvPr/>
        </p:nvCxnSpPr>
        <p:spPr bwMode="auto">
          <a:xfrm>
            <a:off x="8023225" y="2128839"/>
            <a:ext cx="1162050" cy="884237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lg"/>
          </a:ln>
          <a:effectLst/>
        </p:spPr>
      </p:cxnSp>
      <p:sp>
        <p:nvSpPr>
          <p:cNvPr id="15" name="AutoShape 16">
            <a:extLst>
              <a:ext uri="{FF2B5EF4-FFF2-40B4-BE49-F238E27FC236}">
                <a16:creationId xmlns:a16="http://schemas.microsoft.com/office/drawing/2014/main" id="{7C86EDB5-A156-288E-5DD0-10612E2B7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8075" y="2590800"/>
            <a:ext cx="1155700" cy="647700"/>
          </a:xfrm>
          <a:prstGeom prst="flowChartProcess">
            <a:avLst/>
          </a:prstGeom>
          <a:solidFill>
            <a:srgbClr val="DDDDDD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pt-BR">
                <a:latin typeface="Arial" charset="0"/>
              </a:rPr>
              <a:t>Oscilador</a:t>
            </a:r>
            <a:endParaRPr lang="pt-BR" baseline="30000">
              <a:latin typeface="Arial" charset="0"/>
            </a:endParaRPr>
          </a:p>
          <a:p>
            <a:r>
              <a:rPr lang="pt-BR" i="1">
                <a:latin typeface="Times New Roman" pitchFamily="18" charset="0"/>
              </a:rPr>
              <a:t>f</a:t>
            </a:r>
            <a:r>
              <a:rPr lang="pt-BR" baseline="-25000">
                <a:latin typeface="Arial" charset="0"/>
              </a:rPr>
              <a:t>osc</a:t>
            </a:r>
            <a:r>
              <a:rPr lang="pt-BR" i="1">
                <a:latin typeface="Arial" charset="0"/>
              </a:rPr>
              <a:t>= </a:t>
            </a:r>
            <a:r>
              <a:rPr lang="pt-BR" i="1">
                <a:latin typeface="Times New Roman" pitchFamily="18" charset="0"/>
              </a:rPr>
              <a:t>f</a:t>
            </a:r>
            <a:r>
              <a:rPr lang="pt-BR" i="1" baseline="-25000">
                <a:latin typeface="Times New Roman" pitchFamily="18" charset="0"/>
              </a:rPr>
              <a:t>c</a:t>
            </a:r>
            <a:r>
              <a:rPr lang="pt-BR">
                <a:latin typeface="Arial" charset="0"/>
              </a:rPr>
              <a:t> </a:t>
            </a:r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38ACD7C1-BCF1-B575-8A2C-5101E66E2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1576" y="3267075"/>
            <a:ext cx="588963" cy="344488"/>
          </a:xfrm>
          <a:prstGeom prst="flowChartProcess">
            <a:avLst/>
          </a:prstGeom>
          <a:solidFill>
            <a:srgbClr val="DDDDDD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pt-BR">
                <a:latin typeface="Arial" charset="0"/>
              </a:rPr>
              <a:t>-90</a:t>
            </a:r>
            <a:r>
              <a:rPr lang="pt-BR" baseline="30000">
                <a:latin typeface="Arial" charset="0"/>
              </a:rPr>
              <a:t>o</a:t>
            </a:r>
            <a:endParaRPr lang="pt-BR">
              <a:latin typeface="Arial" charset="0"/>
            </a:endParaRPr>
          </a:p>
        </p:txBody>
      </p:sp>
      <p:cxnSp>
        <p:nvCxnSpPr>
          <p:cNvPr id="17" name="AutoShape 18">
            <a:extLst>
              <a:ext uri="{FF2B5EF4-FFF2-40B4-BE49-F238E27FC236}">
                <a16:creationId xmlns:a16="http://schemas.microsoft.com/office/drawing/2014/main" id="{1128E5F2-731E-8DFB-A5F3-907EE0AC410B}"/>
              </a:ext>
            </a:extLst>
          </p:cNvPr>
          <p:cNvCxnSpPr>
            <a:cxnSpLocks noChangeShapeType="1"/>
            <a:stCxn id="16" idx="2"/>
            <a:endCxn id="4" idx="0"/>
          </p:cNvCxnSpPr>
          <p:nvPr/>
        </p:nvCxnSpPr>
        <p:spPr bwMode="auto">
          <a:xfrm>
            <a:off x="7816850" y="3630613"/>
            <a:ext cx="0" cy="50641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</p:spPr>
      </p:cxnSp>
      <p:sp>
        <p:nvSpPr>
          <p:cNvPr id="18" name="AutoShape 19">
            <a:extLst>
              <a:ext uri="{FF2B5EF4-FFF2-40B4-BE49-F238E27FC236}">
                <a16:creationId xmlns:a16="http://schemas.microsoft.com/office/drawing/2014/main" id="{D2143817-DA1B-5C8D-AA5A-D08BED6A11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70814" y="2865439"/>
            <a:ext cx="90487" cy="84137"/>
          </a:xfrm>
          <a:prstGeom prst="flowChartConnector">
            <a:avLst/>
          </a:prstGeom>
          <a:solidFill>
            <a:schemeClr val="tx1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cxnSp>
        <p:nvCxnSpPr>
          <p:cNvPr id="19" name="AutoShape 20">
            <a:extLst>
              <a:ext uri="{FF2B5EF4-FFF2-40B4-BE49-F238E27FC236}">
                <a16:creationId xmlns:a16="http://schemas.microsoft.com/office/drawing/2014/main" id="{DB91578C-E384-B993-93AC-A4618857943D}"/>
              </a:ext>
            </a:extLst>
          </p:cNvPr>
          <p:cNvCxnSpPr>
            <a:cxnSpLocks noChangeShapeType="1"/>
            <a:stCxn id="15" idx="3"/>
            <a:endCxn id="18" idx="2"/>
          </p:cNvCxnSpPr>
          <p:nvPr/>
        </p:nvCxnSpPr>
        <p:spPr bwMode="auto">
          <a:xfrm flipV="1">
            <a:off x="7362825" y="2908300"/>
            <a:ext cx="388938" cy="63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</p:spPr>
      </p:cxnSp>
      <p:cxnSp>
        <p:nvCxnSpPr>
          <p:cNvPr id="20" name="AutoShape 21">
            <a:extLst>
              <a:ext uri="{FF2B5EF4-FFF2-40B4-BE49-F238E27FC236}">
                <a16:creationId xmlns:a16="http://schemas.microsoft.com/office/drawing/2014/main" id="{E3629DF9-C70A-2F5A-5ECD-CAF751FA4ED7}"/>
              </a:ext>
            </a:extLst>
          </p:cNvPr>
          <p:cNvCxnSpPr>
            <a:cxnSpLocks noChangeShapeType="1"/>
            <a:stCxn id="18" idx="0"/>
            <a:endCxn id="5" idx="4"/>
          </p:cNvCxnSpPr>
          <p:nvPr/>
        </p:nvCxnSpPr>
        <p:spPr bwMode="auto">
          <a:xfrm flipV="1">
            <a:off x="7816850" y="2338388"/>
            <a:ext cx="0" cy="5080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</p:spPr>
      </p:cxnSp>
      <p:cxnSp>
        <p:nvCxnSpPr>
          <p:cNvPr id="21" name="AutoShape 22">
            <a:extLst>
              <a:ext uri="{FF2B5EF4-FFF2-40B4-BE49-F238E27FC236}">
                <a16:creationId xmlns:a16="http://schemas.microsoft.com/office/drawing/2014/main" id="{6873AEBD-21D2-BCFC-1826-67A8D92A0FE9}"/>
              </a:ext>
            </a:extLst>
          </p:cNvPr>
          <p:cNvCxnSpPr>
            <a:cxnSpLocks noChangeShapeType="1"/>
            <a:stCxn id="18" idx="4"/>
            <a:endCxn id="16" idx="0"/>
          </p:cNvCxnSpPr>
          <p:nvPr/>
        </p:nvCxnSpPr>
        <p:spPr bwMode="auto">
          <a:xfrm>
            <a:off x="7816850" y="2968625"/>
            <a:ext cx="0" cy="2794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</p:spPr>
      </p:cxnSp>
      <p:cxnSp>
        <p:nvCxnSpPr>
          <p:cNvPr id="22" name="AutoShape 23">
            <a:extLst>
              <a:ext uri="{FF2B5EF4-FFF2-40B4-BE49-F238E27FC236}">
                <a16:creationId xmlns:a16="http://schemas.microsoft.com/office/drawing/2014/main" id="{C0C1D23E-5717-F5C1-32A4-476A620512AE}"/>
              </a:ext>
            </a:extLst>
          </p:cNvPr>
          <p:cNvCxnSpPr>
            <a:cxnSpLocks noChangeShapeType="1"/>
            <a:stCxn id="3" idx="6"/>
            <a:endCxn id="26" idx="1"/>
          </p:cNvCxnSpPr>
          <p:nvPr/>
        </p:nvCxnSpPr>
        <p:spPr bwMode="auto">
          <a:xfrm>
            <a:off x="9372600" y="3222625"/>
            <a:ext cx="692150" cy="2654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</p:spPr>
      </p:cxnSp>
      <p:sp>
        <p:nvSpPr>
          <p:cNvPr id="23" name="Text Box 24">
            <a:extLst>
              <a:ext uri="{FF2B5EF4-FFF2-40B4-BE49-F238E27FC236}">
                <a16:creationId xmlns:a16="http://schemas.microsoft.com/office/drawing/2014/main" id="{22BCC4E1-7CF8-68AD-E5DA-D10B629AD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1" y="1387476"/>
            <a:ext cx="2200275" cy="53553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pt-BR">
                <a:latin typeface="Arial" charset="0"/>
              </a:rPr>
              <a:t>Processamento de banda básica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EF1140E8-ED1A-DD09-479C-92DBE329E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914" y="1385889"/>
            <a:ext cx="1538287" cy="53553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pt-BR">
                <a:latin typeface="Arial" charset="0"/>
              </a:rPr>
              <a:t>Modulador  balanceado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F9F226F-B66A-BF3C-B53A-8B329857A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300" y="4564064"/>
            <a:ext cx="1689100" cy="53553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pt-BR">
                <a:latin typeface="Arial" charset="0"/>
              </a:rPr>
              <a:t>Modulador  balanceado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B2F5F3EB-0E9B-E0C3-550B-CD658D4A3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4750" y="2957514"/>
            <a:ext cx="596900" cy="53553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pt-BR">
                <a:latin typeface="Arial" charset="0"/>
              </a:rPr>
              <a:t>Sinal SSB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BE9CAA1D-5D1F-360B-CE39-4D9DD7132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957514"/>
            <a:ext cx="1200150" cy="53553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pt-BR">
                <a:latin typeface="Arial" charset="0"/>
              </a:rPr>
              <a:t>Sinal modulante</a:t>
            </a:r>
          </a:p>
        </p:txBody>
      </p:sp>
      <p:graphicFrame>
        <p:nvGraphicFramePr>
          <p:cNvPr id="28" name="Object 29">
            <a:extLst>
              <a:ext uri="{FF2B5EF4-FFF2-40B4-BE49-F238E27FC236}">
                <a16:creationId xmlns:a16="http://schemas.microsoft.com/office/drawing/2014/main" id="{13B2AF34-8240-A327-ED53-BAB0A3067C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74000" y="2444751"/>
          <a:ext cx="104775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3920" imgH="228600" progId="Equation.3">
                  <p:embed/>
                </p:oleObj>
              </mc:Choice>
              <mc:Fallback>
                <p:oleObj name="Equation" r:id="rId2" imgW="583920" imgH="228600" progId="Equation.3">
                  <p:embed/>
                  <p:pic>
                    <p:nvPicPr>
                      <p:cNvPr id="28" name="Object 29">
                        <a:extLst>
                          <a:ext uri="{FF2B5EF4-FFF2-40B4-BE49-F238E27FC236}">
                            <a16:creationId xmlns:a16="http://schemas.microsoft.com/office/drawing/2014/main" id="{13B2AF34-8240-A327-ED53-BAB0A3067C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4000" y="2444751"/>
                        <a:ext cx="104775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0">
            <a:extLst>
              <a:ext uri="{FF2B5EF4-FFF2-40B4-BE49-F238E27FC236}">
                <a16:creationId xmlns:a16="http://schemas.microsoft.com/office/drawing/2014/main" id="{6214A5F8-7662-420F-55DF-51462A1026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2400" y="2860676"/>
          <a:ext cx="5969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0120" imgH="203040" progId="Equation.3">
                  <p:embed/>
                </p:oleObj>
              </mc:Choice>
              <mc:Fallback>
                <p:oleObj name="Equation" r:id="rId4" imgW="330120" imgH="203040" progId="Equation.3">
                  <p:embed/>
                  <p:pic>
                    <p:nvPicPr>
                      <p:cNvPr id="29" name="Object 30">
                        <a:extLst>
                          <a:ext uri="{FF2B5EF4-FFF2-40B4-BE49-F238E27FC236}">
                            <a16:creationId xmlns:a16="http://schemas.microsoft.com/office/drawing/2014/main" id="{6214A5F8-7662-420F-55DF-51462A1026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400" y="2860676"/>
                        <a:ext cx="596900" cy="366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1">
            <a:extLst>
              <a:ext uri="{FF2B5EF4-FFF2-40B4-BE49-F238E27FC236}">
                <a16:creationId xmlns:a16="http://schemas.microsoft.com/office/drawing/2014/main" id="{462203EA-8A3E-3EF4-F1C0-88D8024173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73800" y="1776413"/>
          <a:ext cx="5969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0120" imgH="203040" progId="Equation.3">
                  <p:embed/>
                </p:oleObj>
              </mc:Choice>
              <mc:Fallback>
                <p:oleObj name="Equation" r:id="rId4" imgW="330120" imgH="203040" progId="Equation.3">
                  <p:embed/>
                  <p:pic>
                    <p:nvPicPr>
                      <p:cNvPr id="30" name="Object 31">
                        <a:extLst>
                          <a:ext uri="{FF2B5EF4-FFF2-40B4-BE49-F238E27FC236}">
                            <a16:creationId xmlns:a16="http://schemas.microsoft.com/office/drawing/2014/main" id="{462203EA-8A3E-3EF4-F1C0-88D8024173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3800" y="1776413"/>
                        <a:ext cx="596900" cy="366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2">
            <a:extLst>
              <a:ext uri="{FF2B5EF4-FFF2-40B4-BE49-F238E27FC236}">
                <a16:creationId xmlns:a16="http://schemas.microsoft.com/office/drawing/2014/main" id="{375777D1-4E25-F096-703B-5975BFBD58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81738" y="3906838"/>
          <a:ext cx="735012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6080" imgH="228600" progId="Equation.3">
                  <p:embed/>
                </p:oleObj>
              </mc:Choice>
              <mc:Fallback>
                <p:oleObj name="Equation" r:id="rId7" imgW="406080" imgH="228600" progId="Equation.3">
                  <p:embed/>
                  <p:pic>
                    <p:nvPicPr>
                      <p:cNvPr id="31" name="Object 32">
                        <a:extLst>
                          <a:ext uri="{FF2B5EF4-FFF2-40B4-BE49-F238E27FC236}">
                            <a16:creationId xmlns:a16="http://schemas.microsoft.com/office/drawing/2014/main" id="{375777D1-4E25-F096-703B-5975BFBD58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1738" y="3906838"/>
                        <a:ext cx="735012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3">
            <a:extLst>
              <a:ext uri="{FF2B5EF4-FFF2-40B4-BE49-F238E27FC236}">
                <a16:creationId xmlns:a16="http://schemas.microsoft.com/office/drawing/2014/main" id="{7647E213-984B-1A66-9D71-349224A55F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74001" y="3663951"/>
          <a:ext cx="10699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96880" imgH="228600" progId="Equation.3">
                  <p:embed/>
                </p:oleObj>
              </mc:Choice>
              <mc:Fallback>
                <p:oleObj name="Equation" r:id="rId9" imgW="596880" imgH="228600" progId="Equation.3">
                  <p:embed/>
                  <p:pic>
                    <p:nvPicPr>
                      <p:cNvPr id="32" name="Object 33">
                        <a:extLst>
                          <a:ext uri="{FF2B5EF4-FFF2-40B4-BE49-F238E27FC236}">
                            <a16:creationId xmlns:a16="http://schemas.microsoft.com/office/drawing/2014/main" id="{7647E213-984B-1A66-9D71-349224A55F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4001" y="3663951"/>
                        <a:ext cx="106997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4">
            <a:extLst>
              <a:ext uri="{FF2B5EF4-FFF2-40B4-BE49-F238E27FC236}">
                <a16:creationId xmlns:a16="http://schemas.microsoft.com/office/drawing/2014/main" id="{92F02AC2-DD88-AFB8-D5AB-8657046839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04351" y="2843213"/>
          <a:ext cx="506413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9360" imgH="203040" progId="Equation.3">
                  <p:embed/>
                </p:oleObj>
              </mc:Choice>
              <mc:Fallback>
                <p:oleObj name="Equation" r:id="rId11" imgW="279360" imgH="203040" progId="Equation.3">
                  <p:embed/>
                  <p:pic>
                    <p:nvPicPr>
                      <p:cNvPr id="33" name="Object 34">
                        <a:extLst>
                          <a:ext uri="{FF2B5EF4-FFF2-40B4-BE49-F238E27FC236}">
                            <a16:creationId xmlns:a16="http://schemas.microsoft.com/office/drawing/2014/main" id="{92F02AC2-DD88-AFB8-D5AB-8657046839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04351" y="2843213"/>
                        <a:ext cx="506413" cy="366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5">
            <a:extLst>
              <a:ext uri="{FF2B5EF4-FFF2-40B4-BE49-F238E27FC236}">
                <a16:creationId xmlns:a16="http://schemas.microsoft.com/office/drawing/2014/main" id="{359B8926-B1E8-1FCA-6B17-956128F3D0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83650" y="3429001"/>
          <a:ext cx="255588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9680" imgH="152280" progId="Equation.3">
                  <p:embed/>
                </p:oleObj>
              </mc:Choice>
              <mc:Fallback>
                <p:oleObj name="Equation" r:id="rId13" imgW="139680" imgH="152280" progId="Equation.3">
                  <p:embed/>
                  <p:pic>
                    <p:nvPicPr>
                      <p:cNvPr id="34" name="Object 35">
                        <a:extLst>
                          <a:ext uri="{FF2B5EF4-FFF2-40B4-BE49-F238E27FC236}">
                            <a16:creationId xmlns:a16="http://schemas.microsoft.com/office/drawing/2014/main" id="{359B8926-B1E8-1FCA-6B17-956128F3D0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83650" y="3429001"/>
                        <a:ext cx="255588" cy="277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6">
            <a:extLst>
              <a:ext uri="{FF2B5EF4-FFF2-40B4-BE49-F238E27FC236}">
                <a16:creationId xmlns:a16="http://schemas.microsoft.com/office/drawing/2014/main" id="{DA446C1A-F9A7-85E2-77D9-96E6E1181C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64600" y="2792413"/>
          <a:ext cx="255588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9680" imgH="139680" progId="Equation.3">
                  <p:embed/>
                </p:oleObj>
              </mc:Choice>
              <mc:Fallback>
                <p:oleObj name="Equation" r:id="rId15" imgW="139680" imgH="139680" progId="Equation.3">
                  <p:embed/>
                  <p:pic>
                    <p:nvPicPr>
                      <p:cNvPr id="35" name="Object 36">
                        <a:extLst>
                          <a:ext uri="{FF2B5EF4-FFF2-40B4-BE49-F238E27FC236}">
                            <a16:creationId xmlns:a16="http://schemas.microsoft.com/office/drawing/2014/main" id="{DA446C1A-F9A7-85E2-77D9-96E6E1181C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4600" y="2792413"/>
                        <a:ext cx="255588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7">
            <a:extLst>
              <a:ext uri="{FF2B5EF4-FFF2-40B4-BE49-F238E27FC236}">
                <a16:creationId xmlns:a16="http://schemas.microsoft.com/office/drawing/2014/main" id="{6D96B0A5-541F-4689-39E9-7303AF3BD2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4701" y="5572126"/>
          <a:ext cx="5502275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79480" imgH="228600" progId="Equation.3">
                  <p:embed/>
                </p:oleObj>
              </mc:Choice>
              <mc:Fallback>
                <p:oleObj name="Equation" r:id="rId17" imgW="2679480" imgH="228600" progId="Equation.3">
                  <p:embed/>
                  <p:pic>
                    <p:nvPicPr>
                      <p:cNvPr id="36" name="Object 37">
                        <a:extLst>
                          <a:ext uri="{FF2B5EF4-FFF2-40B4-BE49-F238E27FC236}">
                            <a16:creationId xmlns:a16="http://schemas.microsoft.com/office/drawing/2014/main" id="{6D96B0A5-541F-4689-39E9-7303AF3BD2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344" t="-15749" r="-1344" b="-15749"/>
                      <a:stretch>
                        <a:fillRect/>
                      </a:stretch>
                    </p:blipFill>
                    <p:spPr bwMode="auto">
                      <a:xfrm>
                        <a:off x="3314701" y="5572126"/>
                        <a:ext cx="5502275" cy="60166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6552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10252-0265-584C-869C-34D3E8FDD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de Hilbert</a:t>
            </a:r>
            <a:br>
              <a:rPr lang="pt-BR" dirty="0"/>
            </a:br>
            <a:r>
              <a:rPr lang="pt-BR" dirty="0"/>
              <a:t>Defasagem Ideal</a:t>
            </a:r>
          </a:p>
        </p:txBody>
      </p:sp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710BF426-A65B-F6DF-0240-EDAA214D71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5450" y="4268788"/>
          <a:ext cx="41656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600" imgH="990360" progId="Equation.3">
                  <p:embed/>
                </p:oleObj>
              </mc:Choice>
              <mc:Fallback>
                <p:oleObj name="Equation" r:id="rId2" imgW="2082600" imgH="990360" progId="Equation.3">
                  <p:embed/>
                  <p:pic>
                    <p:nvPicPr>
                      <p:cNvPr id="3" name="Object 10">
                        <a:extLst>
                          <a:ext uri="{FF2B5EF4-FFF2-40B4-BE49-F238E27FC236}">
                            <a16:creationId xmlns:a16="http://schemas.microsoft.com/office/drawing/2014/main" id="{710BF426-A65B-F6DF-0240-EDAA214D71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450" y="4268788"/>
                        <a:ext cx="4165600" cy="198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1">
            <a:extLst>
              <a:ext uri="{FF2B5EF4-FFF2-40B4-BE49-F238E27FC236}">
                <a16:creationId xmlns:a16="http://schemas.microsoft.com/office/drawing/2014/main" id="{3DE30840-CB60-2717-973F-13D89DC37CB0}"/>
              </a:ext>
            </a:extLst>
          </p:cNvPr>
          <p:cNvGrpSpPr>
            <a:grpSpLocks/>
          </p:cNvGrpSpPr>
          <p:nvPr/>
        </p:nvGrpSpPr>
        <p:grpSpPr bwMode="auto">
          <a:xfrm>
            <a:off x="7159625" y="4271963"/>
            <a:ext cx="2876550" cy="1962150"/>
            <a:chOff x="3334" y="2487"/>
            <a:chExt cx="1812" cy="1236"/>
          </a:xfrm>
        </p:grpSpPr>
        <p:sp>
          <p:nvSpPr>
            <p:cNvPr id="5" name="Line 12">
              <a:extLst>
                <a:ext uri="{FF2B5EF4-FFF2-40B4-BE49-F238E27FC236}">
                  <a16:creationId xmlns:a16="http://schemas.microsoft.com/office/drawing/2014/main" id="{0431DE25-849A-B127-806D-C5AFACE30E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2" y="2488"/>
              <a:ext cx="6" cy="12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" name="Line 13">
              <a:extLst>
                <a:ext uri="{FF2B5EF4-FFF2-40B4-BE49-F238E27FC236}">
                  <a16:creationId xmlns:a16="http://schemas.microsoft.com/office/drawing/2014/main" id="{11C1D1A2-72F4-8D18-94C7-C0503B922B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3214"/>
              <a:ext cx="18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" name="Freeform 14">
              <a:extLst>
                <a:ext uri="{FF2B5EF4-FFF2-40B4-BE49-F238E27FC236}">
                  <a16:creationId xmlns:a16="http://schemas.microsoft.com/office/drawing/2014/main" id="{2C27484A-36E2-0EFC-CCB9-BC502C49E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4" y="2889"/>
              <a:ext cx="1808" cy="64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890" y="0"/>
                </a:cxn>
                <a:cxn ang="0">
                  <a:pos x="887" y="648"/>
                </a:cxn>
                <a:cxn ang="0">
                  <a:pos x="1808" y="648"/>
                </a:cxn>
              </a:cxnLst>
              <a:rect l="0" t="0" r="r" b="b"/>
              <a:pathLst>
                <a:path w="1808" h="648">
                  <a:moveTo>
                    <a:pt x="0" y="1"/>
                  </a:moveTo>
                  <a:lnTo>
                    <a:pt x="890" y="0"/>
                  </a:lnTo>
                  <a:lnTo>
                    <a:pt x="887" y="648"/>
                  </a:lnTo>
                  <a:lnTo>
                    <a:pt x="1808" y="648"/>
                  </a:lnTo>
                </a:path>
              </a:pathLst>
            </a:custGeom>
            <a:noFill/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8" name="Object 15">
              <a:extLst>
                <a:ext uri="{FF2B5EF4-FFF2-40B4-BE49-F238E27FC236}">
                  <a16:creationId xmlns:a16="http://schemas.microsoft.com/office/drawing/2014/main" id="{E0E6C955-3872-7C32-24BD-3C5B76A58D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86" y="3212"/>
            <a:ext cx="127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177480" progId="Equation.3">
                    <p:embed/>
                  </p:oleObj>
                </mc:Choice>
                <mc:Fallback>
                  <p:oleObj name="Equation" r:id="rId4" imgW="126720" imgH="177480" progId="Equation.3">
                    <p:embed/>
                    <p:pic>
                      <p:nvPicPr>
                        <p:cNvPr id="8" name="Object 15">
                          <a:extLst>
                            <a:ext uri="{FF2B5EF4-FFF2-40B4-BE49-F238E27FC236}">
                              <a16:creationId xmlns:a16="http://schemas.microsoft.com/office/drawing/2014/main" id="{E0E6C955-3872-7C32-24BD-3C5B76A58D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6" y="3212"/>
                          <a:ext cx="127" cy="1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16">
              <a:extLst>
                <a:ext uri="{FF2B5EF4-FFF2-40B4-BE49-F238E27FC236}">
                  <a16:creationId xmlns:a16="http://schemas.microsoft.com/office/drawing/2014/main" id="{FF4E9E85-2202-0430-7546-6AB5F3690E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33" y="3227"/>
            <a:ext cx="165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4880" imgH="203040" progId="Equation.3">
                    <p:embed/>
                  </p:oleObj>
                </mc:Choice>
                <mc:Fallback>
                  <p:oleObj name="Equation" r:id="rId6" imgW="164880" imgH="203040" progId="Equation.3">
                    <p:embed/>
                    <p:pic>
                      <p:nvPicPr>
                        <p:cNvPr id="9" name="Object 16">
                          <a:extLst>
                            <a:ext uri="{FF2B5EF4-FFF2-40B4-BE49-F238E27FC236}">
                              <a16:creationId xmlns:a16="http://schemas.microsoft.com/office/drawing/2014/main" id="{FF4E9E85-2202-0430-7546-6AB5F3690E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3" y="3227"/>
                          <a:ext cx="165" cy="2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Line 17">
              <a:extLst>
                <a:ext uri="{FF2B5EF4-FFF2-40B4-BE49-F238E27FC236}">
                  <a16:creationId xmlns:a16="http://schemas.microsoft.com/office/drawing/2014/main" id="{4D4FDA2E-4F15-6D17-34F0-00706A82CF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3334"/>
              <a:ext cx="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11" name="Object 18">
              <a:extLst>
                <a:ext uri="{FF2B5EF4-FFF2-40B4-BE49-F238E27FC236}">
                  <a16:creationId xmlns:a16="http://schemas.microsoft.com/office/drawing/2014/main" id="{DC11374A-CD72-FB48-90D9-83E73E8C61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4" y="2734"/>
            <a:ext cx="179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77480" imgH="330120" progId="Equation.3">
                    <p:embed/>
                  </p:oleObj>
                </mc:Choice>
                <mc:Fallback>
                  <p:oleObj name="Equation" r:id="rId8" imgW="177480" imgH="330120" progId="Equation.3">
                    <p:embed/>
                    <p:pic>
                      <p:nvPicPr>
                        <p:cNvPr id="11" name="Object 18">
                          <a:extLst>
                            <a:ext uri="{FF2B5EF4-FFF2-40B4-BE49-F238E27FC236}">
                              <a16:creationId xmlns:a16="http://schemas.microsoft.com/office/drawing/2014/main" id="{DC11374A-CD72-FB48-90D9-83E73E8C615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4" y="2734"/>
                          <a:ext cx="179" cy="3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9">
              <a:extLst>
                <a:ext uri="{FF2B5EF4-FFF2-40B4-BE49-F238E27FC236}">
                  <a16:creationId xmlns:a16="http://schemas.microsoft.com/office/drawing/2014/main" id="{F106DCBE-E336-DC75-4997-3A49F4CB76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6" y="2487"/>
            <a:ext cx="47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69800" imgH="215640" progId="Equation.3">
                    <p:embed/>
                  </p:oleObj>
                </mc:Choice>
                <mc:Fallback>
                  <p:oleObj name="Equation" r:id="rId10" imgW="469800" imgH="215640" progId="Equation.3">
                    <p:embed/>
                    <p:pic>
                      <p:nvPicPr>
                        <p:cNvPr id="12" name="Object 19">
                          <a:extLst>
                            <a:ext uri="{FF2B5EF4-FFF2-40B4-BE49-F238E27FC236}">
                              <a16:creationId xmlns:a16="http://schemas.microsoft.com/office/drawing/2014/main" id="{F106DCBE-E336-DC75-4997-3A49F4CB767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6" y="2487"/>
                          <a:ext cx="473" cy="2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20">
              <a:extLst>
                <a:ext uri="{FF2B5EF4-FFF2-40B4-BE49-F238E27FC236}">
                  <a16:creationId xmlns:a16="http://schemas.microsoft.com/office/drawing/2014/main" id="{DE236C7E-BEDE-0547-6FB1-41281AEC34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37" y="3374"/>
            <a:ext cx="268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66400" imgH="330120" progId="Equation.3">
                    <p:embed/>
                  </p:oleObj>
                </mc:Choice>
                <mc:Fallback>
                  <p:oleObj name="Equation" r:id="rId12" imgW="266400" imgH="330120" progId="Equation.3">
                    <p:embed/>
                    <p:pic>
                      <p:nvPicPr>
                        <p:cNvPr id="13" name="Object 20">
                          <a:extLst>
                            <a:ext uri="{FF2B5EF4-FFF2-40B4-BE49-F238E27FC236}">
                              <a16:creationId xmlns:a16="http://schemas.microsoft.com/office/drawing/2014/main" id="{DE236C7E-BEDE-0547-6FB1-41281AEC34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7" y="3374"/>
                          <a:ext cx="268" cy="3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21">
            <a:extLst>
              <a:ext uri="{FF2B5EF4-FFF2-40B4-BE49-F238E27FC236}">
                <a16:creationId xmlns:a16="http://schemas.microsoft.com/office/drawing/2014/main" id="{8A474D17-1916-DD1D-7DBD-CB67109EB5BF}"/>
              </a:ext>
            </a:extLst>
          </p:cNvPr>
          <p:cNvGrpSpPr>
            <a:grpSpLocks/>
          </p:cNvGrpSpPr>
          <p:nvPr/>
        </p:nvGrpSpPr>
        <p:grpSpPr bwMode="auto">
          <a:xfrm>
            <a:off x="7173913" y="2003425"/>
            <a:ext cx="2876550" cy="2001838"/>
            <a:chOff x="600" y="2608"/>
            <a:chExt cx="1812" cy="1261"/>
          </a:xfrm>
        </p:grpSpPr>
        <p:sp>
          <p:nvSpPr>
            <p:cNvPr id="15" name="Line 22">
              <a:extLst>
                <a:ext uri="{FF2B5EF4-FFF2-40B4-BE49-F238E27FC236}">
                  <a16:creationId xmlns:a16="http://schemas.microsoft.com/office/drawing/2014/main" id="{0CE59C3B-AAEA-4065-B1BA-16A431CE57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2634"/>
              <a:ext cx="6" cy="12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6" name="Line 23">
              <a:extLst>
                <a:ext uri="{FF2B5EF4-FFF2-40B4-BE49-F238E27FC236}">
                  <a16:creationId xmlns:a16="http://schemas.microsoft.com/office/drawing/2014/main" id="{E0DE7DA3-B959-8B36-61EC-5A1E3D754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" y="3360"/>
              <a:ext cx="18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7" name="Line 24">
              <a:extLst>
                <a:ext uri="{FF2B5EF4-FFF2-40B4-BE49-F238E27FC236}">
                  <a16:creationId xmlns:a16="http://schemas.microsoft.com/office/drawing/2014/main" id="{0483664D-E795-216A-67E8-37A8F04392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" y="3024"/>
              <a:ext cx="1800" cy="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18" name="Object 25">
              <a:extLst>
                <a:ext uri="{FF2B5EF4-FFF2-40B4-BE49-F238E27FC236}">
                  <a16:creationId xmlns:a16="http://schemas.microsoft.com/office/drawing/2014/main" id="{2DC00828-3871-E151-6E6D-A396B39F9E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76" y="3358"/>
            <a:ext cx="127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26720" imgH="177480" progId="Equation.3">
                    <p:embed/>
                  </p:oleObj>
                </mc:Choice>
                <mc:Fallback>
                  <p:oleObj name="Equation" r:id="rId14" imgW="126720" imgH="177480" progId="Equation.3">
                    <p:embed/>
                    <p:pic>
                      <p:nvPicPr>
                        <p:cNvPr id="18" name="Object 25">
                          <a:extLst>
                            <a:ext uri="{FF2B5EF4-FFF2-40B4-BE49-F238E27FC236}">
                              <a16:creationId xmlns:a16="http://schemas.microsoft.com/office/drawing/2014/main" id="{2DC00828-3871-E151-6E6D-A396B39F9E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6" y="3358"/>
                          <a:ext cx="127" cy="1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6">
              <a:extLst>
                <a:ext uri="{FF2B5EF4-FFF2-40B4-BE49-F238E27FC236}">
                  <a16:creationId xmlns:a16="http://schemas.microsoft.com/office/drawing/2014/main" id="{6F70D41A-309C-C41B-E133-6595F8761C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99" y="3373"/>
            <a:ext cx="165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64880" imgH="203040" progId="Equation.3">
                    <p:embed/>
                  </p:oleObj>
                </mc:Choice>
                <mc:Fallback>
                  <p:oleObj name="Equation" r:id="rId16" imgW="164880" imgH="203040" progId="Equation.3">
                    <p:embed/>
                    <p:pic>
                      <p:nvPicPr>
                        <p:cNvPr id="19" name="Object 26">
                          <a:extLst>
                            <a:ext uri="{FF2B5EF4-FFF2-40B4-BE49-F238E27FC236}">
                              <a16:creationId xmlns:a16="http://schemas.microsoft.com/office/drawing/2014/main" id="{6F70D41A-309C-C41B-E133-6595F8761C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9" y="3373"/>
                          <a:ext cx="165" cy="2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Line 27">
              <a:extLst>
                <a:ext uri="{FF2B5EF4-FFF2-40B4-BE49-F238E27FC236}">
                  <a16:creationId xmlns:a16="http://schemas.microsoft.com/office/drawing/2014/main" id="{B3C91F7A-6F6D-0611-5503-600796448D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2" y="3480"/>
              <a:ext cx="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21" name="Object 28">
              <a:extLst>
                <a:ext uri="{FF2B5EF4-FFF2-40B4-BE49-F238E27FC236}">
                  <a16:creationId xmlns:a16="http://schemas.microsoft.com/office/drawing/2014/main" id="{AFA4B64B-9C87-FC0A-7BBE-A36E601456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62" y="2834"/>
            <a:ext cx="115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14120" imgH="164880" progId="Equation.3">
                    <p:embed/>
                  </p:oleObj>
                </mc:Choice>
                <mc:Fallback>
                  <p:oleObj name="Equation" r:id="rId18" imgW="114120" imgH="164880" progId="Equation.3">
                    <p:embed/>
                    <p:pic>
                      <p:nvPicPr>
                        <p:cNvPr id="21" name="Object 28">
                          <a:extLst>
                            <a:ext uri="{FF2B5EF4-FFF2-40B4-BE49-F238E27FC236}">
                              <a16:creationId xmlns:a16="http://schemas.microsoft.com/office/drawing/2014/main" id="{AFA4B64B-9C87-FC0A-7BBE-A36E6014567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2" y="2834"/>
                          <a:ext cx="115" cy="1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9">
              <a:extLst>
                <a:ext uri="{FF2B5EF4-FFF2-40B4-BE49-F238E27FC236}">
                  <a16:creationId xmlns:a16="http://schemas.microsoft.com/office/drawing/2014/main" id="{5DEEED3A-5931-D33B-5D49-457351A695A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18" y="2608"/>
            <a:ext cx="460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57200" imgH="241200" progId="Equation.3">
                    <p:embed/>
                  </p:oleObj>
                </mc:Choice>
                <mc:Fallback>
                  <p:oleObj name="Equation" r:id="rId20" imgW="457200" imgH="241200" progId="Equation.3">
                    <p:embed/>
                    <p:pic>
                      <p:nvPicPr>
                        <p:cNvPr id="22" name="Object 29">
                          <a:extLst>
                            <a:ext uri="{FF2B5EF4-FFF2-40B4-BE49-F238E27FC236}">
                              <a16:creationId xmlns:a16="http://schemas.microsoft.com/office/drawing/2014/main" id="{5DEEED3A-5931-D33B-5D49-457351A695A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8" y="2608"/>
                          <a:ext cx="460" cy="2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Oval 30">
              <a:extLst>
                <a:ext uri="{FF2B5EF4-FFF2-40B4-BE49-F238E27FC236}">
                  <a16:creationId xmlns:a16="http://schemas.microsoft.com/office/drawing/2014/main" id="{2DD4A41E-F676-3C60-51C3-40E4B44C8EF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70" y="3001"/>
              <a:ext cx="45" cy="4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" name="Oval 31">
              <a:extLst>
                <a:ext uri="{FF2B5EF4-FFF2-40B4-BE49-F238E27FC236}">
                  <a16:creationId xmlns:a16="http://schemas.microsoft.com/office/drawing/2014/main" id="{77916A88-2F2A-44B4-4B28-CA2AE0DD08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68" y="3338"/>
              <a:ext cx="45" cy="45"/>
            </a:xfrm>
            <a:prstGeom prst="ellipse">
              <a:avLst/>
            </a:prstGeom>
            <a:solidFill>
              <a:srgbClr val="000099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graphicFrame>
        <p:nvGraphicFramePr>
          <p:cNvPr id="25" name="Object 33">
            <a:extLst>
              <a:ext uri="{FF2B5EF4-FFF2-40B4-BE49-F238E27FC236}">
                <a16:creationId xmlns:a16="http://schemas.microsoft.com/office/drawing/2014/main" id="{06382CED-41FB-E31E-4E6C-949151C02C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05625" y="1252538"/>
          <a:ext cx="3657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828800" imgH="228600" progId="Equation.3">
                  <p:embed/>
                </p:oleObj>
              </mc:Choice>
              <mc:Fallback>
                <p:oleObj name="Equation" r:id="rId22" imgW="1828800" imgH="228600" progId="Equation.3">
                  <p:embed/>
                  <p:pic>
                    <p:nvPicPr>
                      <p:cNvPr id="25" name="Object 33">
                        <a:extLst>
                          <a:ext uri="{FF2B5EF4-FFF2-40B4-BE49-F238E27FC236}">
                            <a16:creationId xmlns:a16="http://schemas.microsoft.com/office/drawing/2014/main" id="{06382CED-41FB-E31E-4E6C-949151C02C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5625" y="1252538"/>
                        <a:ext cx="3657600" cy="4572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6">
            <a:extLst>
              <a:ext uri="{FF2B5EF4-FFF2-40B4-BE49-F238E27FC236}">
                <a16:creationId xmlns:a16="http://schemas.microsoft.com/office/drawing/2014/main" id="{DBBEB98D-2C33-B445-2D46-91A48AF211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7525" y="1093788"/>
          <a:ext cx="4470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234880" imgH="406080" progId="Equation.3">
                  <p:embed/>
                </p:oleObj>
              </mc:Choice>
              <mc:Fallback>
                <p:oleObj name="Equation" r:id="rId24" imgW="2234880" imgH="406080" progId="Equation.3">
                  <p:embed/>
                  <p:pic>
                    <p:nvPicPr>
                      <p:cNvPr id="26" name="Object 36">
                        <a:extLst>
                          <a:ext uri="{FF2B5EF4-FFF2-40B4-BE49-F238E27FC236}">
                            <a16:creationId xmlns:a16="http://schemas.microsoft.com/office/drawing/2014/main" id="{DBBEB98D-2C33-B445-2D46-91A48AF211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7525" y="1093788"/>
                        <a:ext cx="44704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utoShape 42">
            <a:extLst>
              <a:ext uri="{FF2B5EF4-FFF2-40B4-BE49-F238E27FC236}">
                <a16:creationId xmlns:a16="http://schemas.microsoft.com/office/drawing/2014/main" id="{69B1E571-1496-7DB8-7B16-D2F16057377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626225" y="1344613"/>
            <a:ext cx="152400" cy="247650"/>
          </a:xfrm>
          <a:prstGeom prst="downArrow">
            <a:avLst>
              <a:gd name="adj1" fmla="val 50000"/>
              <a:gd name="adj2" fmla="val 40625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28" name="Group 45">
            <a:extLst>
              <a:ext uri="{FF2B5EF4-FFF2-40B4-BE49-F238E27FC236}">
                <a16:creationId xmlns:a16="http://schemas.microsoft.com/office/drawing/2014/main" id="{5E9CB219-68E1-9AC7-E6B9-AE49D38362F9}"/>
              </a:ext>
            </a:extLst>
          </p:cNvPr>
          <p:cNvGrpSpPr>
            <a:grpSpLocks/>
          </p:cNvGrpSpPr>
          <p:nvPr/>
        </p:nvGrpSpPr>
        <p:grpSpPr bwMode="auto">
          <a:xfrm>
            <a:off x="1795464" y="2536826"/>
            <a:ext cx="4295775" cy="1069975"/>
            <a:chOff x="171" y="1274"/>
            <a:chExt cx="2706" cy="674"/>
          </a:xfrm>
        </p:grpSpPr>
        <p:graphicFrame>
          <p:nvGraphicFramePr>
            <p:cNvPr id="29" name="Object 5">
              <a:extLst>
                <a:ext uri="{FF2B5EF4-FFF2-40B4-BE49-F238E27FC236}">
                  <a16:creationId xmlns:a16="http://schemas.microsoft.com/office/drawing/2014/main" id="{8D8553E2-3421-EABA-16FA-F5C86FC40E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" y="1343"/>
            <a:ext cx="41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330120" imgH="203040" progId="Equation.3">
                    <p:embed/>
                  </p:oleObj>
                </mc:Choice>
                <mc:Fallback>
                  <p:oleObj name="Equation" r:id="rId26" imgW="330120" imgH="203040" progId="Equation.3">
                    <p:embed/>
                    <p:pic>
                      <p:nvPicPr>
                        <p:cNvPr id="29" name="Object 5">
                          <a:extLst>
                            <a:ext uri="{FF2B5EF4-FFF2-40B4-BE49-F238E27FC236}">
                              <a16:creationId xmlns:a16="http://schemas.microsoft.com/office/drawing/2014/main" id="{8D8553E2-3421-EABA-16FA-F5C86FC40E7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" y="1343"/>
                          <a:ext cx="416" cy="2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AutoShape 6">
              <a:extLst>
                <a:ext uri="{FF2B5EF4-FFF2-40B4-BE49-F238E27FC236}">
                  <a16:creationId xmlns:a16="http://schemas.microsoft.com/office/drawing/2014/main" id="{E70015D4-E2A0-AF40-DAC5-7EECE30B1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" y="1274"/>
              <a:ext cx="1666" cy="674"/>
            </a:xfrm>
            <a:prstGeom prst="flowChartProcess">
              <a:avLst/>
            </a:prstGeom>
            <a:solidFill>
              <a:srgbClr val="CCFFFF"/>
            </a:solidFill>
            <a:ln w="28575">
              <a:solidFill>
                <a:srgbClr val="0000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pt-BR" sz="2200" baseline="30000">
                <a:solidFill>
                  <a:srgbClr val="0000CC"/>
                </a:solidFill>
                <a:latin typeface="Arial Narrow" pitchFamily="34" charset="0"/>
              </a:endParaRPr>
            </a:p>
          </p:txBody>
        </p:sp>
        <p:graphicFrame>
          <p:nvGraphicFramePr>
            <p:cNvPr id="31" name="Object 8">
              <a:extLst>
                <a:ext uri="{FF2B5EF4-FFF2-40B4-BE49-F238E27FC236}">
                  <a16:creationId xmlns:a16="http://schemas.microsoft.com/office/drawing/2014/main" id="{6D261B36-C49B-BE60-813F-A4CE908F79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65" y="1311"/>
            <a:ext cx="51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406080" imgH="228600" progId="Equation.3">
                    <p:embed/>
                  </p:oleObj>
                </mc:Choice>
                <mc:Fallback>
                  <p:oleObj name="Equation" r:id="rId28" imgW="406080" imgH="228600" progId="Equation.3">
                    <p:embed/>
                    <p:pic>
                      <p:nvPicPr>
                        <p:cNvPr id="31" name="Object 8">
                          <a:extLst>
                            <a:ext uri="{FF2B5EF4-FFF2-40B4-BE49-F238E27FC236}">
                              <a16:creationId xmlns:a16="http://schemas.microsoft.com/office/drawing/2014/main" id="{6D261B36-C49B-BE60-813F-A4CE908F79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5" y="1311"/>
                          <a:ext cx="512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9">
              <a:extLst>
                <a:ext uri="{FF2B5EF4-FFF2-40B4-BE49-F238E27FC236}">
                  <a16:creationId xmlns:a16="http://schemas.microsoft.com/office/drawing/2014/main" id="{F77E8BF4-B55E-15B7-AB79-8E0DB1CE34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55" y="1331"/>
            <a:ext cx="1520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206360" imgH="444240" progId="Equation.3">
                    <p:embed/>
                  </p:oleObj>
                </mc:Choice>
                <mc:Fallback>
                  <p:oleObj name="Equation" r:id="rId30" imgW="1206360" imgH="444240" progId="Equation.3">
                    <p:embed/>
                    <p:pic>
                      <p:nvPicPr>
                        <p:cNvPr id="32" name="Object 9">
                          <a:extLst>
                            <a:ext uri="{FF2B5EF4-FFF2-40B4-BE49-F238E27FC236}">
                              <a16:creationId xmlns:a16="http://schemas.microsoft.com/office/drawing/2014/main" id="{F77E8BF4-B55E-15B7-AB79-8E0DB1CE347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5" y="1331"/>
                          <a:ext cx="1520" cy="5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Line 43">
              <a:extLst>
                <a:ext uri="{FF2B5EF4-FFF2-40B4-BE49-F238E27FC236}">
                  <a16:creationId xmlns:a16="http://schemas.microsoft.com/office/drawing/2014/main" id="{89F93744-B848-766B-872A-800171ADE0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" y="1617"/>
              <a:ext cx="489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4" name="Line 44">
              <a:extLst>
                <a:ext uri="{FF2B5EF4-FFF2-40B4-BE49-F238E27FC236}">
                  <a16:creationId xmlns:a16="http://schemas.microsoft.com/office/drawing/2014/main" id="{8E3AAD9E-C6BE-B833-1A0D-DB72179C4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9" y="1613"/>
              <a:ext cx="489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72351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F8BF9-E265-1FAB-65DD-385F4212B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de Hilbert</a:t>
            </a:r>
            <a:br>
              <a:rPr lang="pt-BR" dirty="0"/>
            </a:br>
            <a:r>
              <a:rPr lang="pt-BR" dirty="0"/>
              <a:t>Pares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0E6D82FB-9215-53A9-DD4D-5B2738267C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7680380"/>
                  </p:ext>
                </p:extLst>
              </p:nvPr>
            </p:nvGraphicFramePr>
            <p:xfrm>
              <a:off x="838200" y="1389017"/>
              <a:ext cx="10515600" cy="386677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2192560166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393931982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2400" b="1" dirty="0">
                              <a:effectLst/>
                            </a:rPr>
                            <a:t>Sinal </a:t>
                          </a:r>
                          <a14:m>
                            <m:oMath xmlns:m="http://schemas.openxmlformats.org/officeDocument/2006/math">
                              <m:r>
                                <a:rPr lang="pt-BR" sz="2400" b="1" i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d>
                                <m:dPr>
                                  <m:ctrlP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e>
                              </m:d>
                            </m:oMath>
                          </a14:m>
                          <a:endParaRPr lang="pt-BR" sz="2400" b="1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2400" b="1" dirty="0">
                              <a:effectLst/>
                            </a:rPr>
                            <a:t>Transformada de Hilbert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e>
                              </m:d>
                            </m:oMath>
                          </a14:m>
                          <a:endParaRPr lang="pt-BR" sz="2400" b="1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43449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40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pt-BR" sz="2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40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pt-BR" sz="2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407207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40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pt-BR" sz="2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4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40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pt-BR" sz="2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82645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pt-BR" sz="24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pt-BR" sz="240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pt-BR" sz="24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pt-BR" sz="240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oMath>
                          </a14:m>
                          <a:r>
                            <a:rPr lang="pt-BR" sz="240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24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4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sz="2400" b="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oMath>
                          </a14:m>
                          <a:r>
                            <a:rPr lang="pt-BR" sz="2400" dirty="0">
                              <a:effectLst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4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40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sSup>
                                  <m:sSup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t-BR" sz="24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6443458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pt-BR" sz="24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pt-BR" sz="2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40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pt-BR" sz="24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pt-BR" sz="240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oMath>
                          </a14:m>
                          <a:r>
                            <a:rPr lang="pt-BR" sz="240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24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4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sz="2400" b="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oMath>
                          </a14:m>
                          <a:r>
                            <a:rPr lang="pt-BR" sz="2400" dirty="0">
                              <a:effectLst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40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240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sSup>
                                  <m:sSup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t-BR" sz="24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382066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d>
                                  <m:d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pt-BR" sz="24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412985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pt-BR" sz="240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19048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d>
                                  <m:d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1200" b="0" i="0" dirty="0"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013096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0E6D82FB-9215-53A9-DD4D-5B2738267C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7680380"/>
                  </p:ext>
                </p:extLst>
              </p:nvPr>
            </p:nvGraphicFramePr>
            <p:xfrm>
              <a:off x="838200" y="1389017"/>
              <a:ext cx="10515600" cy="386677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2192560166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393931982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6" t="-9333" r="-100232" b="-75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116" t="-9333" r="-232" b="-75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434493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6" t="-109333" r="-100232" b="-65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116" t="-109333" r="-232" b="-65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407207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6" t="-206579" r="-100232" b="-54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116" t="-206579" r="-232" b="-5421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8264521"/>
                      </a:ext>
                    </a:extLst>
                  </a:tr>
                  <a:tr h="469011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6" t="-302597" r="-100232" b="-435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116" t="-302597" r="-232" b="-4350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4434587"/>
                      </a:ext>
                    </a:extLst>
                  </a:tr>
                  <a:tr h="469011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6" t="-402597" r="-100232" b="-335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116" t="-402597" r="-232" b="-3350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820669"/>
                      </a:ext>
                    </a:extLst>
                  </a:tr>
                  <a:tr h="77857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6" t="-302344" r="-100232" b="-10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116" t="-302344" r="-232" b="-1015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4129851"/>
                      </a:ext>
                    </a:extLst>
                  </a:tr>
                  <a:tr h="77857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6" t="-402344" r="-100232" b="-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116" t="-402344" r="-232" b="-15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13096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48345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BE242-5179-7EF4-A300-A00E547BA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118A2-8700-9B78-FD2B-0985790A1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de Hilbert</a:t>
            </a:r>
            <a:br>
              <a:rPr lang="pt-BR" dirty="0"/>
            </a:br>
            <a:r>
              <a:rPr lang="pt-BR" dirty="0"/>
              <a:t>Propriedades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75B91960-ABC3-4AD7-2E10-F8FA5B55B01C}"/>
                  </a:ext>
                </a:extLst>
              </p:cNvPr>
              <p:cNvSpPr txBox="1"/>
              <p:nvPr/>
            </p:nvSpPr>
            <p:spPr>
              <a:xfrm>
                <a:off x="925286" y="1687286"/>
                <a:ext cx="10515600" cy="41230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Linearidade: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ℋ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ℋ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pt-B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ℋ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>Transformada Dupla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ℋ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pt-BR" sz="2800" b="0" dirty="0">
                  <a:ea typeface="Cambria Math" panose="02040503050406030204" pitchFamily="18" charset="0"/>
                </a:endParaRPr>
              </a:p>
              <a:p>
                <a:endParaRPr lang="pt-BR" sz="2800" dirty="0"/>
              </a:p>
              <a:p>
                <a:r>
                  <a:rPr lang="pt-BR" sz="2800" dirty="0"/>
                  <a:t>Derivação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ℋ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75B91960-ABC3-4AD7-2E10-F8FA5B55B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286" y="1687286"/>
                <a:ext cx="10515600" cy="4123052"/>
              </a:xfrm>
              <a:prstGeom prst="rect">
                <a:avLst/>
              </a:prstGeom>
              <a:blipFill>
                <a:blip r:embed="rId2"/>
                <a:stretch>
                  <a:fillRect l="-1217" t="-14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48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00A89-69FB-09D9-D0E6-D7C5A04F9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Geração de sinais SSB para sinais de voz</a:t>
            </a:r>
            <a:br>
              <a:rPr lang="pt-BR" dirty="0"/>
            </a:br>
            <a:r>
              <a:rPr lang="pt-BR" dirty="0"/>
              <a:t>Método da defasagem 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AFA3F906-49BC-87C5-1F6A-AE6B12F850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432756"/>
              </p:ext>
            </p:extLst>
          </p:nvPr>
        </p:nvGraphicFramePr>
        <p:xfrm>
          <a:off x="3514725" y="1338263"/>
          <a:ext cx="516255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14600" imgH="228600" progId="">
                  <p:embed/>
                </p:oleObj>
              </mc:Choice>
              <mc:Fallback>
                <p:oleObj name="Equation" r:id="rId2" imgW="2514600" imgH="228600" progId="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AFA3F906-49BC-87C5-1F6A-AE6B12F850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344" t="-15749" r="-1344" b="-15749"/>
                      <a:stretch>
                        <a:fillRect/>
                      </a:stretch>
                    </p:blipFill>
                    <p:spPr bwMode="auto">
                      <a:xfrm>
                        <a:off x="3514725" y="1338263"/>
                        <a:ext cx="5162550" cy="60166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CC6B394D-056B-5407-C471-537BA445E6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9604484"/>
              </p:ext>
            </p:extLst>
          </p:nvPr>
        </p:nvGraphicFramePr>
        <p:xfrm>
          <a:off x="1560512" y="2613932"/>
          <a:ext cx="9023350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94160" imgH="393480" progId="">
                  <p:embed/>
                </p:oleObj>
              </mc:Choice>
              <mc:Fallback>
                <p:oleObj name="Equation" r:id="rId4" imgW="4394160" imgH="393480" progId="">
                  <p:embed/>
                  <p:pic>
                    <p:nvPicPr>
                      <p:cNvPr id="6" name="Object 6">
                        <a:extLst>
                          <a:ext uri="{FF2B5EF4-FFF2-40B4-BE49-F238E27FC236}">
                            <a16:creationId xmlns:a16="http://schemas.microsoft.com/office/drawing/2014/main" id="{CC6B394D-056B-5407-C471-537BA445E6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344" t="-15749" r="-1344" b="-15749"/>
                      <a:stretch>
                        <a:fillRect/>
                      </a:stretch>
                    </p:blipFill>
                    <p:spPr bwMode="auto">
                      <a:xfrm>
                        <a:off x="1560512" y="2613932"/>
                        <a:ext cx="9023350" cy="103663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7534CA13-BAA2-BBCD-0D09-36E73A4894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473376"/>
              </p:ext>
            </p:extLst>
          </p:nvPr>
        </p:nvGraphicFramePr>
        <p:xfrm>
          <a:off x="6151563" y="3966483"/>
          <a:ext cx="3598863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52480" imgH="228600" progId="">
                  <p:embed/>
                </p:oleObj>
              </mc:Choice>
              <mc:Fallback>
                <p:oleObj name="Equation" r:id="rId6" imgW="1752480" imgH="228600" progId="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7534CA13-BAA2-BBCD-0D09-36E73A4894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344" t="-15749" r="-1344" b="-15749"/>
                      <a:stretch>
                        <a:fillRect/>
                      </a:stretch>
                    </p:blipFill>
                    <p:spPr bwMode="auto">
                      <a:xfrm>
                        <a:off x="6151563" y="3966483"/>
                        <a:ext cx="3598863" cy="6016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34557C68-34C6-428B-C9A8-C761413B4C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9014654"/>
              </p:ext>
            </p:extLst>
          </p:nvPr>
        </p:nvGraphicFramePr>
        <p:xfrm>
          <a:off x="1514474" y="4961846"/>
          <a:ext cx="9153526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57520" imgH="355320" progId="">
                  <p:embed/>
                </p:oleObj>
              </mc:Choice>
              <mc:Fallback>
                <p:oleObj name="Equation" r:id="rId8" imgW="4457520" imgH="355320" progId="">
                  <p:embed/>
                  <p:pic>
                    <p:nvPicPr>
                      <p:cNvPr id="10" name="Object 8">
                        <a:extLst>
                          <a:ext uri="{FF2B5EF4-FFF2-40B4-BE49-F238E27FC236}">
                            <a16:creationId xmlns:a16="http://schemas.microsoft.com/office/drawing/2014/main" id="{34557C68-34C6-428B-C9A8-C761413B4C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344" t="-15749" r="-1344" b="-15749"/>
                      <a:stretch>
                        <a:fillRect/>
                      </a:stretch>
                    </p:blipFill>
                    <p:spPr bwMode="auto">
                      <a:xfrm>
                        <a:off x="1514474" y="4961846"/>
                        <a:ext cx="9153526" cy="93503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AutoShape 9">
            <a:extLst>
              <a:ext uri="{FF2B5EF4-FFF2-40B4-BE49-F238E27FC236}">
                <a16:creationId xmlns:a16="http://schemas.microsoft.com/office/drawing/2014/main" id="{CEE236F3-7B3E-E4B9-A02B-F15732198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6612" y="2156613"/>
            <a:ext cx="366960" cy="419338"/>
          </a:xfrm>
          <a:prstGeom prst="downArrow">
            <a:avLst>
              <a:gd name="adj1" fmla="val 50000"/>
              <a:gd name="adj2" fmla="val 27941"/>
            </a:avLst>
          </a:prstGeom>
          <a:solidFill>
            <a:schemeClr val="folHlink"/>
          </a:solidFill>
          <a:ln w="9525" algn="ctr">
            <a:solidFill>
              <a:srgbClr val="4D4D4D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14" name="AutoShape 10">
            <a:extLst>
              <a:ext uri="{FF2B5EF4-FFF2-40B4-BE49-F238E27FC236}">
                <a16:creationId xmlns:a16="http://schemas.microsoft.com/office/drawing/2014/main" id="{4D057CE6-AA88-379A-6BFE-3496A9881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1062" y="4087608"/>
            <a:ext cx="171450" cy="494348"/>
          </a:xfrm>
          <a:prstGeom prst="downArrow">
            <a:avLst>
              <a:gd name="adj1" fmla="val 50000"/>
              <a:gd name="adj2" fmla="val 147222"/>
            </a:avLst>
          </a:prstGeom>
          <a:solidFill>
            <a:schemeClr val="folHlink"/>
          </a:solidFill>
          <a:ln w="9525" algn="ctr">
            <a:solidFill>
              <a:srgbClr val="4D4D4D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149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F887E-DAC8-24A1-E860-A2F6EDF91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ED4865-9AC5-D932-3E90-D7186EE70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Geração de sinais SSB para sinais de voz</a:t>
            </a:r>
            <a:br>
              <a:rPr lang="pt-BR" dirty="0"/>
            </a:br>
            <a:r>
              <a:rPr lang="pt-BR" dirty="0"/>
              <a:t>Método da defasagem 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2170FB54-3879-8523-D8AF-977D500A50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428654"/>
              </p:ext>
            </p:extLst>
          </p:nvPr>
        </p:nvGraphicFramePr>
        <p:xfrm>
          <a:off x="2816906" y="3560763"/>
          <a:ext cx="29448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120" imgH="215640" progId="Equation.3">
                  <p:embed/>
                </p:oleObj>
              </mc:Choice>
              <mc:Fallback>
                <p:oleObj name="Equation" r:id="rId2" imgW="1473120" imgH="215640" progId="Equation.3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2170FB54-3879-8523-D8AF-977D500A50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906" y="3560763"/>
                        <a:ext cx="2944812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3F4BD6F-1E19-B753-EFB8-93C6AD29E0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676254"/>
              </p:ext>
            </p:extLst>
          </p:nvPr>
        </p:nvGraphicFramePr>
        <p:xfrm>
          <a:off x="2740706" y="5338763"/>
          <a:ext cx="30972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49080" imgH="215640" progId="Equation.3">
                  <p:embed/>
                </p:oleObj>
              </mc:Choice>
              <mc:Fallback>
                <p:oleObj name="Equation" r:id="rId4" imgW="1549080" imgH="215640" progId="Equation.3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E3F4BD6F-1E19-B753-EFB8-93C6AD29E0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0706" y="5338763"/>
                        <a:ext cx="3097212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5">
            <a:extLst>
              <a:ext uri="{FF2B5EF4-FFF2-40B4-BE49-F238E27FC236}">
                <a16:creationId xmlns:a16="http://schemas.microsoft.com/office/drawing/2014/main" id="{80B1EEFB-8BED-D8F5-2924-EE89E0A8DC0F}"/>
              </a:ext>
            </a:extLst>
          </p:cNvPr>
          <p:cNvGrpSpPr>
            <a:grpSpLocks/>
          </p:cNvGrpSpPr>
          <p:nvPr/>
        </p:nvGrpSpPr>
        <p:grpSpPr bwMode="auto">
          <a:xfrm>
            <a:off x="6415769" y="1390651"/>
            <a:ext cx="3228975" cy="5129213"/>
            <a:chOff x="54" y="732"/>
            <a:chExt cx="2034" cy="3231"/>
          </a:xfrm>
        </p:grpSpPr>
        <p:pic>
          <p:nvPicPr>
            <p:cNvPr id="9" name="Picture 6" descr="fig1723a">
              <a:extLst>
                <a:ext uri="{FF2B5EF4-FFF2-40B4-BE49-F238E27FC236}">
                  <a16:creationId xmlns:a16="http://schemas.microsoft.com/office/drawing/2014/main" id="{652858E2-CA40-77B5-EDCD-4F014B4AE9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/>
            <a:srcRect l="24042" r="22325"/>
            <a:stretch>
              <a:fillRect/>
            </a:stretch>
          </p:blipFill>
          <p:spPr bwMode="gray">
            <a:xfrm>
              <a:off x="54" y="732"/>
              <a:ext cx="2034" cy="3231"/>
            </a:xfrm>
            <a:prstGeom prst="rect">
              <a:avLst/>
            </a:prstGeom>
            <a:noFill/>
          </p:spPr>
        </p:pic>
        <p:graphicFrame>
          <p:nvGraphicFramePr>
            <p:cNvPr id="11" name="Object 7">
              <a:extLst>
                <a:ext uri="{FF2B5EF4-FFF2-40B4-BE49-F238E27FC236}">
                  <a16:creationId xmlns:a16="http://schemas.microsoft.com/office/drawing/2014/main" id="{CF3CCA09-12F3-7944-1D17-691546BD69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2" y="806"/>
            <a:ext cx="383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31640" imgH="203040" progId="Equation.3">
                    <p:embed/>
                  </p:oleObj>
                </mc:Choice>
                <mc:Fallback>
                  <p:oleObj name="Equation" r:id="rId7" imgW="431640" imgH="203040" progId="Equation.3">
                    <p:embed/>
                    <p:pic>
                      <p:nvPicPr>
                        <p:cNvPr id="11" name="Object 7">
                          <a:extLst>
                            <a:ext uri="{FF2B5EF4-FFF2-40B4-BE49-F238E27FC236}">
                              <a16:creationId xmlns:a16="http://schemas.microsoft.com/office/drawing/2014/main" id="{CF3CCA09-12F3-7944-1D17-691546BD694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562" y="806"/>
                          <a:ext cx="383" cy="1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8">
              <a:extLst>
                <a:ext uri="{FF2B5EF4-FFF2-40B4-BE49-F238E27FC236}">
                  <a16:creationId xmlns:a16="http://schemas.microsoft.com/office/drawing/2014/main" id="{AF286E8D-A02C-DE1F-5037-DCD71B9460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3" y="3009"/>
            <a:ext cx="449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507960" imgH="215640" progId="Equation.3">
                    <p:embed/>
                  </p:oleObj>
                </mc:Choice>
                <mc:Fallback>
                  <p:oleObj name="Equation" r:id="rId9" imgW="507960" imgH="215640" progId="Equation.3">
                    <p:embed/>
                    <p:pic>
                      <p:nvPicPr>
                        <p:cNvPr id="13" name="Object 8">
                          <a:extLst>
                            <a:ext uri="{FF2B5EF4-FFF2-40B4-BE49-F238E27FC236}">
                              <a16:creationId xmlns:a16="http://schemas.microsoft.com/office/drawing/2014/main" id="{AF286E8D-A02C-DE1F-5037-DCD71B9460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493" y="3009"/>
                          <a:ext cx="449" cy="1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9">
              <a:extLst>
                <a:ext uri="{FF2B5EF4-FFF2-40B4-BE49-F238E27FC236}">
                  <a16:creationId xmlns:a16="http://schemas.microsoft.com/office/drawing/2014/main" id="{22B6BFCC-A1D1-A767-1BFD-1BC1736F90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7" y="3716"/>
            <a:ext cx="306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42720" imgH="228600" progId="Equation.3">
                    <p:embed/>
                  </p:oleObj>
                </mc:Choice>
                <mc:Fallback>
                  <p:oleObj name="Equation" r:id="rId11" imgW="342720" imgH="228600" progId="Equation.3">
                    <p:embed/>
                    <p:pic>
                      <p:nvPicPr>
                        <p:cNvPr id="15" name="Object 9">
                          <a:extLst>
                            <a:ext uri="{FF2B5EF4-FFF2-40B4-BE49-F238E27FC236}">
                              <a16:creationId xmlns:a16="http://schemas.microsoft.com/office/drawing/2014/main" id="{22B6BFCC-A1D1-A767-1BFD-1BC1736F90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t="7874"/>
                        <a:stretch>
                          <a:fillRect/>
                        </a:stretch>
                      </p:blipFill>
                      <p:spPr bwMode="gray">
                        <a:xfrm>
                          <a:off x="427" y="3716"/>
                          <a:ext cx="306" cy="18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ectangle 10">
              <a:extLst>
                <a:ext uri="{FF2B5EF4-FFF2-40B4-BE49-F238E27FC236}">
                  <a16:creationId xmlns:a16="http://schemas.microsoft.com/office/drawing/2014/main" id="{5A118A84-2347-E295-48A9-C31D6757CDF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56" y="2804"/>
              <a:ext cx="248" cy="12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17" name="Object 11">
              <a:extLst>
                <a:ext uri="{FF2B5EF4-FFF2-40B4-BE49-F238E27FC236}">
                  <a16:creationId xmlns:a16="http://schemas.microsoft.com/office/drawing/2014/main" id="{756213F0-8467-1FF2-96FB-F1D4B38CC6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91" y="3708"/>
            <a:ext cx="113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26720" imgH="177480" progId="Equation.3">
                    <p:embed/>
                  </p:oleObj>
                </mc:Choice>
                <mc:Fallback>
                  <p:oleObj name="Equation" r:id="rId13" imgW="126720" imgH="177480" progId="Equation.3">
                    <p:embed/>
                    <p:pic>
                      <p:nvPicPr>
                        <p:cNvPr id="17" name="Object 11">
                          <a:extLst>
                            <a:ext uri="{FF2B5EF4-FFF2-40B4-BE49-F238E27FC236}">
                              <a16:creationId xmlns:a16="http://schemas.microsoft.com/office/drawing/2014/main" id="{756213F0-8467-1FF2-96FB-F1D4B38CC62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891" y="3708"/>
                          <a:ext cx="113" cy="15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2">
              <a:extLst>
                <a:ext uri="{FF2B5EF4-FFF2-40B4-BE49-F238E27FC236}">
                  <a16:creationId xmlns:a16="http://schemas.microsoft.com/office/drawing/2014/main" id="{F5B778FF-7074-A30C-4B56-27544750910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46" y="3731"/>
            <a:ext cx="115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64880" imgH="203040" progId="Equation.3">
                    <p:embed/>
                  </p:oleObj>
                </mc:Choice>
                <mc:Fallback>
                  <p:oleObj name="Equation" r:id="rId15" imgW="164880" imgH="203040" progId="Equation.3">
                    <p:embed/>
                    <p:pic>
                      <p:nvPicPr>
                        <p:cNvPr id="18" name="Object 12">
                          <a:extLst>
                            <a:ext uri="{FF2B5EF4-FFF2-40B4-BE49-F238E27FC236}">
                              <a16:creationId xmlns:a16="http://schemas.microsoft.com/office/drawing/2014/main" id="{F5B778FF-7074-A30C-4B56-27544750910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r="21834"/>
                        <a:stretch>
                          <a:fillRect/>
                        </a:stretch>
                      </p:blipFill>
                      <p:spPr bwMode="gray">
                        <a:xfrm>
                          <a:off x="1746" y="3731"/>
                          <a:ext cx="115" cy="18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CE99B9DE-EA7D-62F5-93DD-598D3E00C04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08" y="3252"/>
              <a:ext cx="308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0" name="Line 14">
              <a:extLst>
                <a:ext uri="{FF2B5EF4-FFF2-40B4-BE49-F238E27FC236}">
                  <a16:creationId xmlns:a16="http://schemas.microsoft.com/office/drawing/2014/main" id="{01459706-6ECC-3F4B-3F31-723A2601BD02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579" y="3624"/>
              <a:ext cx="1" cy="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21" name="Object 15">
              <a:extLst>
                <a:ext uri="{FF2B5EF4-FFF2-40B4-BE49-F238E27FC236}">
                  <a16:creationId xmlns:a16="http://schemas.microsoft.com/office/drawing/2014/main" id="{113EDDFE-BFAA-97FB-4387-04994F6CCFF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1" y="1953"/>
            <a:ext cx="449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507960" imgH="215640" progId="Equation.3">
                    <p:embed/>
                  </p:oleObj>
                </mc:Choice>
                <mc:Fallback>
                  <p:oleObj name="Equation" r:id="rId17" imgW="507960" imgH="215640" progId="Equation.3">
                    <p:embed/>
                    <p:pic>
                      <p:nvPicPr>
                        <p:cNvPr id="21" name="Object 15">
                          <a:extLst>
                            <a:ext uri="{FF2B5EF4-FFF2-40B4-BE49-F238E27FC236}">
                              <a16:creationId xmlns:a16="http://schemas.microsoft.com/office/drawing/2014/main" id="{113EDDFE-BFAA-97FB-4387-04994F6CCF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501" y="1953"/>
                          <a:ext cx="449" cy="1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16">
              <a:extLst>
                <a:ext uri="{FF2B5EF4-FFF2-40B4-BE49-F238E27FC236}">
                  <a16:creationId xmlns:a16="http://schemas.microsoft.com/office/drawing/2014/main" id="{D4E18B75-E952-FFB9-2BF0-261C6EA80A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18" y="2652"/>
            <a:ext cx="227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53800" imgH="228600" progId="Equation.3">
                    <p:embed/>
                  </p:oleObj>
                </mc:Choice>
                <mc:Fallback>
                  <p:oleObj name="Equation" r:id="rId19" imgW="253800" imgH="228600" progId="Equation.3">
                    <p:embed/>
                    <p:pic>
                      <p:nvPicPr>
                        <p:cNvPr id="22" name="Object 16">
                          <a:extLst>
                            <a:ext uri="{FF2B5EF4-FFF2-40B4-BE49-F238E27FC236}">
                              <a16:creationId xmlns:a16="http://schemas.microsoft.com/office/drawing/2014/main" id="{D4E18B75-E952-FFB9-2BF0-261C6EA80A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t="7874"/>
                        <a:stretch>
                          <a:fillRect/>
                        </a:stretch>
                      </p:blipFill>
                      <p:spPr bwMode="gray">
                        <a:xfrm>
                          <a:off x="1218" y="2652"/>
                          <a:ext cx="227" cy="18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17">
              <a:extLst>
                <a:ext uri="{FF2B5EF4-FFF2-40B4-BE49-F238E27FC236}">
                  <a16:creationId xmlns:a16="http://schemas.microsoft.com/office/drawing/2014/main" id="{0E70E018-0BD1-2C7D-6426-F6BB70B594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03" y="2644"/>
            <a:ext cx="113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26720" imgH="177480" progId="Equation.3">
                    <p:embed/>
                  </p:oleObj>
                </mc:Choice>
                <mc:Fallback>
                  <p:oleObj name="Equation" r:id="rId21" imgW="126720" imgH="177480" progId="Equation.3">
                    <p:embed/>
                    <p:pic>
                      <p:nvPicPr>
                        <p:cNvPr id="23" name="Object 17">
                          <a:extLst>
                            <a:ext uri="{FF2B5EF4-FFF2-40B4-BE49-F238E27FC236}">
                              <a16:creationId xmlns:a16="http://schemas.microsoft.com/office/drawing/2014/main" id="{0E70E018-0BD1-2C7D-6426-F6BB70B594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903" y="2644"/>
                          <a:ext cx="113" cy="15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18">
              <a:extLst>
                <a:ext uri="{FF2B5EF4-FFF2-40B4-BE49-F238E27FC236}">
                  <a16:creationId xmlns:a16="http://schemas.microsoft.com/office/drawing/2014/main" id="{D1B6B9F2-CAA7-12CE-1CE2-0EFA70F2D6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54" y="2695"/>
            <a:ext cx="115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64880" imgH="203040" progId="Equation.3">
                    <p:embed/>
                  </p:oleObj>
                </mc:Choice>
                <mc:Fallback>
                  <p:oleObj name="Equation" r:id="rId23" imgW="164880" imgH="203040" progId="Equation.3">
                    <p:embed/>
                    <p:pic>
                      <p:nvPicPr>
                        <p:cNvPr id="24" name="Object 18">
                          <a:extLst>
                            <a:ext uri="{FF2B5EF4-FFF2-40B4-BE49-F238E27FC236}">
                              <a16:creationId xmlns:a16="http://schemas.microsoft.com/office/drawing/2014/main" id="{D1B6B9F2-CAA7-12CE-1CE2-0EFA70F2D6D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r="21834"/>
                        <a:stretch>
                          <a:fillRect/>
                        </a:stretch>
                      </p:blipFill>
                      <p:spPr bwMode="gray">
                        <a:xfrm>
                          <a:off x="1754" y="2695"/>
                          <a:ext cx="115" cy="18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Rectangle 19">
              <a:extLst>
                <a:ext uri="{FF2B5EF4-FFF2-40B4-BE49-F238E27FC236}">
                  <a16:creationId xmlns:a16="http://schemas.microsoft.com/office/drawing/2014/main" id="{2D44DAB1-3231-9D33-77CE-3C688935DE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48" y="2200"/>
              <a:ext cx="308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6" name="Line 20">
              <a:extLst>
                <a:ext uri="{FF2B5EF4-FFF2-40B4-BE49-F238E27FC236}">
                  <a16:creationId xmlns:a16="http://schemas.microsoft.com/office/drawing/2014/main" id="{C8ED00DC-2E24-69C5-53C5-633BD47AF72B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1327" y="2568"/>
              <a:ext cx="1" cy="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27" name="Object 21">
              <a:extLst>
                <a:ext uri="{FF2B5EF4-FFF2-40B4-BE49-F238E27FC236}">
                  <a16:creationId xmlns:a16="http://schemas.microsoft.com/office/drawing/2014/main" id="{6A9BC3D2-61B9-DEAF-C8B9-F50D42FFBE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14" y="1588"/>
            <a:ext cx="227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253800" imgH="228600" progId="Equation.3">
                    <p:embed/>
                  </p:oleObj>
                </mc:Choice>
                <mc:Fallback>
                  <p:oleObj name="Equation" r:id="rId25" imgW="253800" imgH="228600" progId="Equation.3">
                    <p:embed/>
                    <p:pic>
                      <p:nvPicPr>
                        <p:cNvPr id="27" name="Object 21">
                          <a:extLst>
                            <a:ext uri="{FF2B5EF4-FFF2-40B4-BE49-F238E27FC236}">
                              <a16:creationId xmlns:a16="http://schemas.microsoft.com/office/drawing/2014/main" id="{6A9BC3D2-61B9-DEAF-C8B9-F50D42FFBE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t="7874"/>
                        <a:stretch>
                          <a:fillRect/>
                        </a:stretch>
                      </p:blipFill>
                      <p:spPr bwMode="gray">
                        <a:xfrm>
                          <a:off x="1214" y="1588"/>
                          <a:ext cx="227" cy="18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22">
              <a:extLst>
                <a:ext uri="{FF2B5EF4-FFF2-40B4-BE49-F238E27FC236}">
                  <a16:creationId xmlns:a16="http://schemas.microsoft.com/office/drawing/2014/main" id="{4B7173D7-E1EE-F74B-C94E-552937B6F1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99" y="1580"/>
            <a:ext cx="113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126720" imgH="177480" progId="Equation.3">
                    <p:embed/>
                  </p:oleObj>
                </mc:Choice>
                <mc:Fallback>
                  <p:oleObj name="Equation" r:id="rId27" imgW="126720" imgH="177480" progId="Equation.3">
                    <p:embed/>
                    <p:pic>
                      <p:nvPicPr>
                        <p:cNvPr id="28" name="Object 22">
                          <a:extLst>
                            <a:ext uri="{FF2B5EF4-FFF2-40B4-BE49-F238E27FC236}">
                              <a16:creationId xmlns:a16="http://schemas.microsoft.com/office/drawing/2014/main" id="{4B7173D7-E1EE-F74B-C94E-552937B6F1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899" y="1580"/>
                          <a:ext cx="113" cy="15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23">
              <a:extLst>
                <a:ext uri="{FF2B5EF4-FFF2-40B4-BE49-F238E27FC236}">
                  <a16:creationId xmlns:a16="http://schemas.microsoft.com/office/drawing/2014/main" id="{28578148-ACA8-B511-E065-F7F4BFEE3D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8" y="1603"/>
            <a:ext cx="115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64880" imgH="203040" progId="Equation.3">
                    <p:embed/>
                  </p:oleObj>
                </mc:Choice>
                <mc:Fallback>
                  <p:oleObj name="Equation" r:id="rId23" imgW="164880" imgH="203040" progId="Equation.3">
                    <p:embed/>
                    <p:pic>
                      <p:nvPicPr>
                        <p:cNvPr id="29" name="Object 23">
                          <a:extLst>
                            <a:ext uri="{FF2B5EF4-FFF2-40B4-BE49-F238E27FC236}">
                              <a16:creationId xmlns:a16="http://schemas.microsoft.com/office/drawing/2014/main" id="{28578148-ACA8-B511-E065-F7F4BFEE3D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r="21834"/>
                        <a:stretch>
                          <a:fillRect/>
                        </a:stretch>
                      </p:blipFill>
                      <p:spPr bwMode="gray">
                        <a:xfrm>
                          <a:off x="1478" y="1603"/>
                          <a:ext cx="115" cy="18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24">
              <a:extLst>
                <a:ext uri="{FF2B5EF4-FFF2-40B4-BE49-F238E27FC236}">
                  <a16:creationId xmlns:a16="http://schemas.microsoft.com/office/drawing/2014/main" id="{F457DC9B-0535-C5BA-2B66-CE2EA7C7CE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" y="1588"/>
            <a:ext cx="306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342720" imgH="228600" progId="Equation.3">
                    <p:embed/>
                  </p:oleObj>
                </mc:Choice>
                <mc:Fallback>
                  <p:oleObj name="Equation" r:id="rId28" imgW="342720" imgH="228600" progId="Equation.3">
                    <p:embed/>
                    <p:pic>
                      <p:nvPicPr>
                        <p:cNvPr id="30" name="Object 24">
                          <a:extLst>
                            <a:ext uri="{FF2B5EF4-FFF2-40B4-BE49-F238E27FC236}">
                              <a16:creationId xmlns:a16="http://schemas.microsoft.com/office/drawing/2014/main" id="{F457DC9B-0535-C5BA-2B66-CE2EA7C7CE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t="7874"/>
                        <a:stretch>
                          <a:fillRect/>
                        </a:stretch>
                      </p:blipFill>
                      <p:spPr bwMode="gray">
                        <a:xfrm>
                          <a:off x="419" y="1588"/>
                          <a:ext cx="306" cy="18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Line 25">
              <a:extLst>
                <a:ext uri="{FF2B5EF4-FFF2-40B4-BE49-F238E27FC236}">
                  <a16:creationId xmlns:a16="http://schemas.microsoft.com/office/drawing/2014/main" id="{68A24628-4F69-7D58-E41F-76F9A7A6FE10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1315" y="1500"/>
              <a:ext cx="1" cy="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2" name="Line 26">
              <a:extLst>
                <a:ext uri="{FF2B5EF4-FFF2-40B4-BE49-F238E27FC236}">
                  <a16:creationId xmlns:a16="http://schemas.microsoft.com/office/drawing/2014/main" id="{F6BEF130-84F9-753A-1C8F-DB9E1C72B717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583" y="1500"/>
              <a:ext cx="1" cy="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3" name="Rectangle 27">
              <a:extLst>
                <a:ext uri="{FF2B5EF4-FFF2-40B4-BE49-F238E27FC236}">
                  <a16:creationId xmlns:a16="http://schemas.microsoft.com/office/drawing/2014/main" id="{10AEB752-AE6A-B9B9-A49A-7293ABC80A3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52" y="924"/>
              <a:ext cx="308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34" name="Text Box 28">
            <a:extLst>
              <a:ext uri="{FF2B5EF4-FFF2-40B4-BE49-F238E27FC236}">
                <a16:creationId xmlns:a16="http://schemas.microsoft.com/office/drawing/2014/main" id="{B1C2B149-73A1-B927-7FD0-530CF0EF5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0493" y="1485900"/>
            <a:ext cx="16383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i="1" u="sng">
                <a:latin typeface="Arial Narrow" pitchFamily="34" charset="0"/>
              </a:rPr>
              <a:t>Definições:</a:t>
            </a:r>
          </a:p>
        </p:txBody>
      </p:sp>
      <p:graphicFrame>
        <p:nvGraphicFramePr>
          <p:cNvPr id="35" name="Object 29">
            <a:extLst>
              <a:ext uri="{FF2B5EF4-FFF2-40B4-BE49-F238E27FC236}">
                <a16:creationId xmlns:a16="http://schemas.microsoft.com/office/drawing/2014/main" id="{3340EF8D-7E0E-D70F-8911-21DF7101E4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4085239"/>
              </p:ext>
            </p:extLst>
          </p:nvPr>
        </p:nvGraphicFramePr>
        <p:xfrm>
          <a:off x="2537506" y="2198688"/>
          <a:ext cx="35036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752480" imgH="215640" progId="Equation.3">
                  <p:embed/>
                </p:oleObj>
              </mc:Choice>
              <mc:Fallback>
                <p:oleObj name="Equation" r:id="rId30" imgW="1752480" imgH="215640" progId="Equation.3">
                  <p:embed/>
                  <p:pic>
                    <p:nvPicPr>
                      <p:cNvPr id="35" name="Object 29">
                        <a:extLst>
                          <a:ext uri="{FF2B5EF4-FFF2-40B4-BE49-F238E27FC236}">
                            <a16:creationId xmlns:a16="http://schemas.microsoft.com/office/drawing/2014/main" id="{3340EF8D-7E0E-D70F-8911-21DF7101E4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7506" y="2198688"/>
                        <a:ext cx="3503612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30">
            <a:extLst>
              <a:ext uri="{FF2B5EF4-FFF2-40B4-BE49-F238E27FC236}">
                <a16:creationId xmlns:a16="http://schemas.microsoft.com/office/drawing/2014/main" id="{56E45406-B669-6662-44DA-866B15FC2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6843" y="2871788"/>
            <a:ext cx="16383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>
                <a:latin typeface="Arial Narrow" pitchFamily="34" charset="0"/>
              </a:rPr>
              <a:t>onde</a:t>
            </a:r>
          </a:p>
        </p:txBody>
      </p:sp>
    </p:spTree>
    <p:extLst>
      <p:ext uri="{BB962C8B-B14F-4D97-AF65-F5344CB8AC3E}">
        <p14:creationId xmlns:p14="http://schemas.microsoft.com/office/powerpoint/2010/main" val="195078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65C2D-1851-B810-9624-99BF0198D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4B600-9910-5429-87D6-BD2F87D0F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Geração de sinais SSB para sinais de voz</a:t>
            </a:r>
            <a:br>
              <a:rPr lang="pt-BR" dirty="0"/>
            </a:br>
            <a:r>
              <a:rPr lang="pt-BR" dirty="0"/>
              <a:t>Método da defasagem (USB)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9D39CD1-6A90-D8D2-AD4E-308AFCB9CC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2164" y="942976"/>
          <a:ext cx="5475287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6880" imgH="228600" progId="">
                  <p:embed/>
                </p:oleObj>
              </mc:Choice>
              <mc:Fallback>
                <p:oleObj name="Equation" r:id="rId2" imgW="2666880" imgH="228600" progId="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9D39CD1-6A90-D8D2-AD4E-308AFCB9CC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344" t="-15749" r="-1344" b="-15749"/>
                      <a:stretch>
                        <a:fillRect/>
                      </a:stretch>
                    </p:blipFill>
                    <p:spPr bwMode="auto">
                      <a:xfrm>
                        <a:off x="3332164" y="942976"/>
                        <a:ext cx="5475287" cy="6016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EFA5F3DD-8138-A866-946D-73ADD5533C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87476" y="1589088"/>
          <a:ext cx="9364663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09800" imgH="355320" progId="">
                  <p:embed/>
                </p:oleObj>
              </mc:Choice>
              <mc:Fallback>
                <p:oleObj name="Equation" r:id="rId4" imgW="4609800" imgH="355320" progId="">
                  <p:embed/>
                  <p:pic>
                    <p:nvPicPr>
                      <p:cNvPr id="6" name="Object 6">
                        <a:extLst>
                          <a:ext uri="{FF2B5EF4-FFF2-40B4-BE49-F238E27FC236}">
                            <a16:creationId xmlns:a16="http://schemas.microsoft.com/office/drawing/2014/main" id="{EFA5F3DD-8138-A866-946D-73ADD5533C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328" t="-16211" r="-1328" b="-16211"/>
                      <a:stretch>
                        <a:fillRect/>
                      </a:stretch>
                    </p:blipFill>
                    <p:spPr bwMode="auto">
                      <a:xfrm>
                        <a:off x="1387476" y="1589088"/>
                        <a:ext cx="9364663" cy="93186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7">
            <a:extLst>
              <a:ext uri="{FF2B5EF4-FFF2-40B4-BE49-F238E27FC236}">
                <a16:creationId xmlns:a16="http://schemas.microsoft.com/office/drawing/2014/main" id="{B5CBAC73-16CF-69F4-CB68-23633923C2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06801" y="3224213"/>
          <a:ext cx="49260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63480" imgH="228600" progId="">
                  <p:embed/>
                </p:oleObj>
              </mc:Choice>
              <mc:Fallback>
                <p:oleObj name="Equation" r:id="rId6" imgW="2463480" imgH="228600" progId="">
                  <p:embed/>
                  <p:pic>
                    <p:nvPicPr>
                      <p:cNvPr id="8" name="Object 37">
                        <a:extLst>
                          <a:ext uri="{FF2B5EF4-FFF2-40B4-BE49-F238E27FC236}">
                            <a16:creationId xmlns:a16="http://schemas.microsoft.com/office/drawing/2014/main" id="{B5CBAC73-16CF-69F4-CB68-23633923C2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6801" y="3224213"/>
                        <a:ext cx="4926013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47">
            <a:extLst>
              <a:ext uri="{FF2B5EF4-FFF2-40B4-BE49-F238E27FC236}">
                <a16:creationId xmlns:a16="http://schemas.microsoft.com/office/drawing/2014/main" id="{87B60B57-EBB2-0E36-5D23-B50B1F6245AF}"/>
              </a:ext>
            </a:extLst>
          </p:cNvPr>
          <p:cNvGrpSpPr>
            <a:grpSpLocks/>
          </p:cNvGrpSpPr>
          <p:nvPr/>
        </p:nvGrpSpPr>
        <p:grpSpPr bwMode="auto">
          <a:xfrm>
            <a:off x="2127250" y="3962401"/>
            <a:ext cx="7931150" cy="1927225"/>
            <a:chOff x="380" y="2496"/>
            <a:chExt cx="4996" cy="1214"/>
          </a:xfrm>
        </p:grpSpPr>
        <p:pic>
          <p:nvPicPr>
            <p:cNvPr id="12" name="Picture 40" descr="fig1723b">
              <a:extLst>
                <a:ext uri="{FF2B5EF4-FFF2-40B4-BE49-F238E27FC236}">
                  <a16:creationId xmlns:a16="http://schemas.microsoft.com/office/drawing/2014/main" id="{991B7060-587E-130D-E9E5-4829E49111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/>
            <a:srcRect r="6010" b="57401"/>
            <a:stretch>
              <a:fillRect/>
            </a:stretch>
          </p:blipFill>
          <p:spPr bwMode="auto">
            <a:xfrm>
              <a:off x="380" y="2496"/>
              <a:ext cx="4996" cy="1087"/>
            </a:xfrm>
            <a:prstGeom prst="rect">
              <a:avLst/>
            </a:prstGeom>
            <a:noFill/>
          </p:spPr>
        </p:pic>
        <p:graphicFrame>
          <p:nvGraphicFramePr>
            <p:cNvPr id="14" name="Object 41">
              <a:extLst>
                <a:ext uri="{FF2B5EF4-FFF2-40B4-BE49-F238E27FC236}">
                  <a16:creationId xmlns:a16="http://schemas.microsoft.com/office/drawing/2014/main" id="{A5BD2F60-1461-29CD-2223-93D0AA08018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03" y="3486"/>
            <a:ext cx="159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64880" imgH="203040" progId="Equation.3">
                    <p:embed/>
                  </p:oleObj>
                </mc:Choice>
                <mc:Fallback>
                  <p:oleObj name="Equation" r:id="rId9" imgW="164880" imgH="203040" progId="Equation.3">
                    <p:embed/>
                    <p:pic>
                      <p:nvPicPr>
                        <p:cNvPr id="14" name="Object 41">
                          <a:extLst>
                            <a:ext uri="{FF2B5EF4-FFF2-40B4-BE49-F238E27FC236}">
                              <a16:creationId xmlns:a16="http://schemas.microsoft.com/office/drawing/2014/main" id="{A5BD2F60-1461-29CD-2223-93D0AA08018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4703" y="3486"/>
                          <a:ext cx="159" cy="22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42">
              <a:extLst>
                <a:ext uri="{FF2B5EF4-FFF2-40B4-BE49-F238E27FC236}">
                  <a16:creationId xmlns:a16="http://schemas.microsoft.com/office/drawing/2014/main" id="{0F096FA4-AB95-0423-1F89-309636DD2B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8" y="3436"/>
            <a:ext cx="183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90440" imgH="228600" progId="Equation.3">
                    <p:embed/>
                  </p:oleObj>
                </mc:Choice>
                <mc:Fallback>
                  <p:oleObj name="Equation" r:id="rId11" imgW="190440" imgH="228600" progId="Equation.3">
                    <p:embed/>
                    <p:pic>
                      <p:nvPicPr>
                        <p:cNvPr id="37" name="Object 42">
                          <a:extLst>
                            <a:ext uri="{FF2B5EF4-FFF2-40B4-BE49-F238E27FC236}">
                              <a16:creationId xmlns:a16="http://schemas.microsoft.com/office/drawing/2014/main" id="{0F096FA4-AB95-0423-1F89-309636DD2B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4198" y="3436"/>
                          <a:ext cx="183" cy="25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43">
              <a:extLst>
                <a:ext uri="{FF2B5EF4-FFF2-40B4-BE49-F238E27FC236}">
                  <a16:creationId xmlns:a16="http://schemas.microsoft.com/office/drawing/2014/main" id="{A31FB0E5-13C3-48D7-5ACF-7DCB6F7BDC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59" y="3433"/>
            <a:ext cx="268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79360" imgH="228600" progId="Equation.3">
                    <p:embed/>
                  </p:oleObj>
                </mc:Choice>
                <mc:Fallback>
                  <p:oleObj name="Equation" r:id="rId13" imgW="279360" imgH="228600" progId="Equation.3">
                    <p:embed/>
                    <p:pic>
                      <p:nvPicPr>
                        <p:cNvPr id="38" name="Object 43">
                          <a:extLst>
                            <a:ext uri="{FF2B5EF4-FFF2-40B4-BE49-F238E27FC236}">
                              <a16:creationId xmlns:a16="http://schemas.microsoft.com/office/drawing/2014/main" id="{A31FB0E5-13C3-48D7-5ACF-7DCB6F7BDC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1359" y="3433"/>
                          <a:ext cx="268" cy="25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44">
              <a:extLst>
                <a:ext uri="{FF2B5EF4-FFF2-40B4-BE49-F238E27FC236}">
                  <a16:creationId xmlns:a16="http://schemas.microsoft.com/office/drawing/2014/main" id="{67730328-9216-B608-4332-22C1C88293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95" y="2683"/>
            <a:ext cx="578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571320" imgH="228600" progId="Equation.3">
                    <p:embed/>
                  </p:oleObj>
                </mc:Choice>
                <mc:Fallback>
                  <p:oleObj name="Equation" r:id="rId15" imgW="571320" imgH="228600" progId="Equation.3">
                    <p:embed/>
                    <p:pic>
                      <p:nvPicPr>
                        <p:cNvPr id="39" name="Object 44">
                          <a:extLst>
                            <a:ext uri="{FF2B5EF4-FFF2-40B4-BE49-F238E27FC236}">
                              <a16:creationId xmlns:a16="http://schemas.microsoft.com/office/drawing/2014/main" id="{67730328-9216-B608-4332-22C1C88293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5" y="2683"/>
                          <a:ext cx="578" cy="2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45">
              <a:extLst>
                <a:ext uri="{FF2B5EF4-FFF2-40B4-BE49-F238E27FC236}">
                  <a16:creationId xmlns:a16="http://schemas.microsoft.com/office/drawing/2014/main" id="{1F9A414D-707F-2194-DACC-1AB455869D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6" y="2859"/>
            <a:ext cx="839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761760" imgH="228600" progId="Equation.3">
                    <p:embed/>
                  </p:oleObj>
                </mc:Choice>
                <mc:Fallback>
                  <p:oleObj name="Equation" r:id="rId17" imgW="761760" imgH="228600" progId="Equation.3">
                    <p:embed/>
                    <p:pic>
                      <p:nvPicPr>
                        <p:cNvPr id="40" name="Object 45">
                          <a:extLst>
                            <a:ext uri="{FF2B5EF4-FFF2-40B4-BE49-F238E27FC236}">
                              <a16:creationId xmlns:a16="http://schemas.microsoft.com/office/drawing/2014/main" id="{1F9A414D-707F-2194-DACC-1AB455869D2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9451"/>
                        <a:stretch>
                          <a:fillRect/>
                        </a:stretch>
                      </p:blipFill>
                      <p:spPr bwMode="gray">
                        <a:xfrm>
                          <a:off x="396" y="2859"/>
                          <a:ext cx="839" cy="231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Object 46">
              <a:extLst>
                <a:ext uri="{FF2B5EF4-FFF2-40B4-BE49-F238E27FC236}">
                  <a16:creationId xmlns:a16="http://schemas.microsoft.com/office/drawing/2014/main" id="{3B0AFEEF-B046-C46F-F1A3-C9D797517B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0" y="2899"/>
            <a:ext cx="767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761760" imgH="228600" progId="Equation.3">
                    <p:embed/>
                  </p:oleObj>
                </mc:Choice>
                <mc:Fallback>
                  <p:oleObj name="Equation" r:id="rId19" imgW="761760" imgH="228600" progId="Equation.3">
                    <p:embed/>
                    <p:pic>
                      <p:nvPicPr>
                        <p:cNvPr id="41" name="Object 46">
                          <a:extLst>
                            <a:ext uri="{FF2B5EF4-FFF2-40B4-BE49-F238E27FC236}">
                              <a16:creationId xmlns:a16="http://schemas.microsoft.com/office/drawing/2014/main" id="{3B0AFEEF-B046-C46F-F1A3-C9D797517B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b="15749"/>
                        <a:stretch>
                          <a:fillRect/>
                        </a:stretch>
                      </p:blipFill>
                      <p:spPr bwMode="gray">
                        <a:xfrm>
                          <a:off x="4600" y="2899"/>
                          <a:ext cx="767" cy="19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" name="AutoShape 48">
            <a:extLst>
              <a:ext uri="{FF2B5EF4-FFF2-40B4-BE49-F238E27FC236}">
                <a16:creationId xmlns:a16="http://schemas.microsoft.com/office/drawing/2014/main" id="{2664A68E-06C0-8EA2-847D-516D4DA0C9CF}"/>
              </a:ext>
            </a:extLst>
          </p:cNvPr>
          <p:cNvSpPr>
            <a:spLocks/>
          </p:cNvSpPr>
          <p:nvPr/>
        </p:nvSpPr>
        <p:spPr bwMode="auto">
          <a:xfrm rot="16200000">
            <a:off x="4523488" y="669943"/>
            <a:ext cx="419097" cy="3575013"/>
          </a:xfrm>
          <a:prstGeom prst="leftBrace">
            <a:avLst>
              <a:gd name="adj1" fmla="val 163158"/>
              <a:gd name="adj2" fmla="val 50000"/>
            </a:avLst>
          </a:prstGeom>
          <a:noFill/>
          <a:ln w="19050">
            <a:solidFill>
              <a:srgbClr val="0000CC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pt-BR"/>
          </a:p>
        </p:txBody>
      </p:sp>
      <p:sp>
        <p:nvSpPr>
          <p:cNvPr id="44" name="Freeform 50">
            <a:extLst>
              <a:ext uri="{FF2B5EF4-FFF2-40B4-BE49-F238E27FC236}">
                <a16:creationId xmlns:a16="http://schemas.microsoft.com/office/drawing/2014/main" id="{6225D378-8CC6-1765-0A08-E6CE81D5B609}"/>
              </a:ext>
            </a:extLst>
          </p:cNvPr>
          <p:cNvSpPr>
            <a:spLocks/>
          </p:cNvSpPr>
          <p:nvPr/>
        </p:nvSpPr>
        <p:spPr bwMode="gray">
          <a:xfrm>
            <a:off x="4732339" y="2667000"/>
            <a:ext cx="1167718" cy="542926"/>
          </a:xfrm>
          <a:custGeom>
            <a:avLst/>
            <a:gdLst/>
            <a:ahLst/>
            <a:cxnLst>
              <a:cxn ang="0">
                <a:pos x="7" y="0"/>
              </a:cxn>
              <a:cxn ang="0">
                <a:pos x="106" y="93"/>
              </a:cxn>
              <a:cxn ang="0">
                <a:pos x="646" y="105"/>
              </a:cxn>
              <a:cxn ang="0">
                <a:pos x="685" y="276"/>
              </a:cxn>
            </a:cxnLst>
            <a:rect l="0" t="0" r="r" b="b"/>
            <a:pathLst>
              <a:path w="742" h="276">
                <a:moveTo>
                  <a:pt x="7" y="0"/>
                </a:moveTo>
                <a:cubicBezTo>
                  <a:pt x="23" y="15"/>
                  <a:pt x="0" y="76"/>
                  <a:pt x="106" y="93"/>
                </a:cubicBezTo>
                <a:cubicBezTo>
                  <a:pt x="212" y="110"/>
                  <a:pt x="550" y="75"/>
                  <a:pt x="646" y="105"/>
                </a:cubicBezTo>
                <a:cubicBezTo>
                  <a:pt x="742" y="135"/>
                  <a:pt x="677" y="241"/>
                  <a:pt x="685" y="276"/>
                </a:cubicBezTo>
              </a:path>
            </a:pathLst>
          </a:custGeom>
          <a:noFill/>
          <a:ln w="38100" cap="flat" cmpd="sng">
            <a:solidFill>
              <a:srgbClr val="3399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wrap="square">
            <a:spAutoFit/>
          </a:bodyPr>
          <a:lstStyle/>
          <a:p>
            <a:endParaRPr lang="pt-BR"/>
          </a:p>
        </p:txBody>
      </p:sp>
      <p:sp>
        <p:nvSpPr>
          <p:cNvPr id="45" name="AutoShape 51">
            <a:extLst>
              <a:ext uri="{FF2B5EF4-FFF2-40B4-BE49-F238E27FC236}">
                <a16:creationId xmlns:a16="http://schemas.microsoft.com/office/drawing/2014/main" id="{11905B60-1FDB-5134-6738-1B83806559F5}"/>
              </a:ext>
            </a:extLst>
          </p:cNvPr>
          <p:cNvSpPr>
            <a:spLocks/>
          </p:cNvSpPr>
          <p:nvPr/>
        </p:nvSpPr>
        <p:spPr bwMode="auto">
          <a:xfrm rot="5400000" flipV="1">
            <a:off x="5694702" y="2603160"/>
            <a:ext cx="298451" cy="1353229"/>
          </a:xfrm>
          <a:prstGeom prst="leftBrace">
            <a:avLst>
              <a:gd name="adj1" fmla="val 80208"/>
              <a:gd name="adj2" fmla="val 50000"/>
            </a:avLst>
          </a:prstGeom>
          <a:noFill/>
          <a:ln w="19050">
            <a:solidFill>
              <a:srgbClr val="0000CC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pt-BR"/>
          </a:p>
        </p:txBody>
      </p:sp>
      <p:sp>
        <p:nvSpPr>
          <p:cNvPr id="46" name="Freeform 52">
            <a:extLst>
              <a:ext uri="{FF2B5EF4-FFF2-40B4-BE49-F238E27FC236}">
                <a16:creationId xmlns:a16="http://schemas.microsoft.com/office/drawing/2014/main" id="{3AAF6F91-4EDB-69A2-8056-2284386EBD1F}"/>
              </a:ext>
            </a:extLst>
          </p:cNvPr>
          <p:cNvSpPr>
            <a:spLocks/>
          </p:cNvSpPr>
          <p:nvPr/>
        </p:nvSpPr>
        <p:spPr bwMode="gray">
          <a:xfrm flipH="1">
            <a:off x="7686866" y="2649537"/>
            <a:ext cx="1072959" cy="446087"/>
          </a:xfrm>
          <a:custGeom>
            <a:avLst/>
            <a:gdLst/>
            <a:ahLst/>
            <a:cxnLst>
              <a:cxn ang="0">
                <a:pos x="7" y="0"/>
              </a:cxn>
              <a:cxn ang="0">
                <a:pos x="106" y="93"/>
              </a:cxn>
              <a:cxn ang="0">
                <a:pos x="646" y="105"/>
              </a:cxn>
              <a:cxn ang="0">
                <a:pos x="685" y="276"/>
              </a:cxn>
            </a:cxnLst>
            <a:rect l="0" t="0" r="r" b="b"/>
            <a:pathLst>
              <a:path w="742" h="276">
                <a:moveTo>
                  <a:pt x="7" y="0"/>
                </a:moveTo>
                <a:cubicBezTo>
                  <a:pt x="23" y="15"/>
                  <a:pt x="0" y="76"/>
                  <a:pt x="106" y="93"/>
                </a:cubicBezTo>
                <a:cubicBezTo>
                  <a:pt x="212" y="110"/>
                  <a:pt x="550" y="75"/>
                  <a:pt x="646" y="105"/>
                </a:cubicBezTo>
                <a:cubicBezTo>
                  <a:pt x="742" y="135"/>
                  <a:pt x="677" y="241"/>
                  <a:pt x="685" y="276"/>
                </a:cubicBezTo>
              </a:path>
            </a:pathLst>
          </a:custGeom>
          <a:noFill/>
          <a:ln w="38100" cap="flat" cmpd="sng">
            <a:solidFill>
              <a:srgbClr val="3399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wrap="square">
            <a:spAutoFit/>
          </a:bodyPr>
          <a:lstStyle/>
          <a:p>
            <a:endParaRPr lang="pt-BR"/>
          </a:p>
        </p:txBody>
      </p:sp>
      <p:sp>
        <p:nvSpPr>
          <p:cNvPr id="48" name="AutoShape 48">
            <a:extLst>
              <a:ext uri="{FF2B5EF4-FFF2-40B4-BE49-F238E27FC236}">
                <a16:creationId xmlns:a16="http://schemas.microsoft.com/office/drawing/2014/main" id="{A3AFB26C-D20C-E51F-98FD-7855589C7790}"/>
              </a:ext>
            </a:extLst>
          </p:cNvPr>
          <p:cNvSpPr>
            <a:spLocks/>
          </p:cNvSpPr>
          <p:nvPr/>
        </p:nvSpPr>
        <p:spPr bwMode="auto">
          <a:xfrm rot="16200000">
            <a:off x="8550276" y="692169"/>
            <a:ext cx="419097" cy="3575013"/>
          </a:xfrm>
          <a:prstGeom prst="leftBrace">
            <a:avLst>
              <a:gd name="adj1" fmla="val 163158"/>
              <a:gd name="adj2" fmla="val 50000"/>
            </a:avLst>
          </a:prstGeom>
          <a:noFill/>
          <a:ln w="19050">
            <a:solidFill>
              <a:srgbClr val="0000CC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pt-BR"/>
          </a:p>
        </p:txBody>
      </p:sp>
      <p:sp>
        <p:nvSpPr>
          <p:cNvPr id="49" name="AutoShape 51">
            <a:extLst>
              <a:ext uri="{FF2B5EF4-FFF2-40B4-BE49-F238E27FC236}">
                <a16:creationId xmlns:a16="http://schemas.microsoft.com/office/drawing/2014/main" id="{203E8A02-5549-8996-3597-722198F034E2}"/>
              </a:ext>
            </a:extLst>
          </p:cNvPr>
          <p:cNvSpPr>
            <a:spLocks/>
          </p:cNvSpPr>
          <p:nvPr/>
        </p:nvSpPr>
        <p:spPr bwMode="auto">
          <a:xfrm rot="5400000" flipV="1">
            <a:off x="7652998" y="2493799"/>
            <a:ext cx="298451" cy="1353229"/>
          </a:xfrm>
          <a:prstGeom prst="leftBrace">
            <a:avLst>
              <a:gd name="adj1" fmla="val 80208"/>
              <a:gd name="adj2" fmla="val 50000"/>
            </a:avLst>
          </a:prstGeom>
          <a:noFill/>
          <a:ln w="19050">
            <a:solidFill>
              <a:srgbClr val="0000CC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2966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4" grpId="0" animBg="1"/>
      <p:bldP spid="45" grpId="0" animBg="1"/>
      <p:bldP spid="46" grpId="0" animBg="1"/>
      <p:bldP spid="48" grpId="0" animBg="1"/>
      <p:bldP spid="4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A1959-F85F-4D68-8201-F99D1A15F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7486E-6B5D-9C1D-DEB6-2CC44D1B2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Geração de sinais SSB para sinais de voz</a:t>
            </a:r>
            <a:br>
              <a:rPr lang="pt-BR" dirty="0"/>
            </a:br>
            <a:r>
              <a:rPr lang="pt-BR" dirty="0"/>
              <a:t>Método da defasagem (LSB)</a:t>
            </a:r>
          </a:p>
        </p:txBody>
      </p:sp>
      <p:graphicFrame>
        <p:nvGraphicFramePr>
          <p:cNvPr id="8683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8011223"/>
              </p:ext>
            </p:extLst>
          </p:nvPr>
        </p:nvGraphicFramePr>
        <p:xfrm>
          <a:off x="3358356" y="1323976"/>
          <a:ext cx="5475287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6880" imgH="228600" progId="">
                  <p:embed/>
                </p:oleObj>
              </mc:Choice>
              <mc:Fallback>
                <p:oleObj name="Equation" r:id="rId2" imgW="2666880" imgH="228600" progId="">
                  <p:embed/>
                  <p:pic>
                    <p:nvPicPr>
                      <p:cNvPr id="8683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344" t="-15749" r="-1344" b="-15749"/>
                      <a:stretch>
                        <a:fillRect/>
                      </a:stretch>
                    </p:blipFill>
                    <p:spPr bwMode="auto">
                      <a:xfrm>
                        <a:off x="3358356" y="1323976"/>
                        <a:ext cx="5475287" cy="6016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83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1486071"/>
              </p:ext>
            </p:extLst>
          </p:nvPr>
        </p:nvGraphicFramePr>
        <p:xfrm>
          <a:off x="1426368" y="1989138"/>
          <a:ext cx="9339263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97200" imgH="355320" progId="">
                  <p:embed/>
                </p:oleObj>
              </mc:Choice>
              <mc:Fallback>
                <p:oleObj name="Equation" r:id="rId4" imgW="4597200" imgH="355320" progId="">
                  <p:embed/>
                  <p:pic>
                    <p:nvPicPr>
                      <p:cNvPr id="8683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328" t="-16211" r="-1328" b="-16211"/>
                      <a:stretch>
                        <a:fillRect/>
                      </a:stretch>
                    </p:blipFill>
                    <p:spPr bwMode="auto">
                      <a:xfrm>
                        <a:off x="1426368" y="1989138"/>
                        <a:ext cx="9339263" cy="93186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83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631547"/>
              </p:ext>
            </p:extLst>
          </p:nvPr>
        </p:nvGraphicFramePr>
        <p:xfrm>
          <a:off x="3645693" y="3614738"/>
          <a:ext cx="49006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50880" imgH="228600" progId="">
                  <p:embed/>
                </p:oleObj>
              </mc:Choice>
              <mc:Fallback>
                <p:oleObj name="Equation" r:id="rId6" imgW="2450880" imgH="228600" progId="">
                  <p:embed/>
                  <p:pic>
                    <p:nvPicPr>
                      <p:cNvPr id="8683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5693" y="3614738"/>
                        <a:ext cx="4900613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2153442" y="4533901"/>
            <a:ext cx="7931150" cy="1558925"/>
            <a:chOff x="380" y="2808"/>
            <a:chExt cx="4996" cy="982"/>
          </a:xfrm>
        </p:grpSpPr>
        <p:pic>
          <p:nvPicPr>
            <p:cNvPr id="868366" name="Picture 14" descr="fig1723b"/>
            <p:cNvPicPr>
              <a:picLocks noChangeAspect="1" noChangeArrowheads="1"/>
            </p:cNvPicPr>
            <p:nvPr/>
          </p:nvPicPr>
          <p:blipFill>
            <a:blip r:embed="rId8" cstate="print"/>
            <a:srcRect t="57401" r="6010" b="4100"/>
            <a:stretch>
              <a:fillRect/>
            </a:stretch>
          </p:blipFill>
          <p:spPr bwMode="auto">
            <a:xfrm>
              <a:off x="380" y="2808"/>
              <a:ext cx="4996" cy="982"/>
            </a:xfrm>
            <a:prstGeom prst="rect">
              <a:avLst/>
            </a:prstGeom>
            <a:noFill/>
          </p:spPr>
        </p:pic>
        <p:graphicFrame>
          <p:nvGraphicFramePr>
            <p:cNvPr id="868367" name="Object 15"/>
            <p:cNvGraphicFramePr>
              <a:graphicFrameLocks noChangeAspect="1"/>
            </p:cNvGraphicFramePr>
            <p:nvPr/>
          </p:nvGraphicFramePr>
          <p:xfrm>
            <a:off x="4433" y="3564"/>
            <a:ext cx="159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64880" imgH="203040" progId="Equation.3">
                    <p:embed/>
                  </p:oleObj>
                </mc:Choice>
                <mc:Fallback>
                  <p:oleObj name="Equation" r:id="rId9" imgW="164880" imgH="203040" progId="Equation.3">
                    <p:embed/>
                    <p:pic>
                      <p:nvPicPr>
                        <p:cNvPr id="868367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4433" y="3564"/>
                          <a:ext cx="159" cy="22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8368" name="Object 16"/>
            <p:cNvGraphicFramePr>
              <a:graphicFrameLocks noChangeAspect="1"/>
            </p:cNvGraphicFramePr>
            <p:nvPr/>
          </p:nvGraphicFramePr>
          <p:xfrm>
            <a:off x="4205" y="3520"/>
            <a:ext cx="184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90440" imgH="228600" progId="Equation.3">
                    <p:embed/>
                  </p:oleObj>
                </mc:Choice>
                <mc:Fallback>
                  <p:oleObj name="Equation" r:id="rId11" imgW="190440" imgH="228600" progId="Equation.3">
                    <p:embed/>
                    <p:pic>
                      <p:nvPicPr>
                        <p:cNvPr id="868368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4205" y="3520"/>
                          <a:ext cx="184" cy="25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8369" name="Object 17"/>
            <p:cNvGraphicFramePr>
              <a:graphicFrameLocks noChangeAspect="1"/>
            </p:cNvGraphicFramePr>
            <p:nvPr/>
          </p:nvGraphicFramePr>
          <p:xfrm>
            <a:off x="1371" y="3520"/>
            <a:ext cx="269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79360" imgH="228600" progId="Equation.3">
                    <p:embed/>
                  </p:oleObj>
                </mc:Choice>
                <mc:Fallback>
                  <p:oleObj name="Equation" r:id="rId13" imgW="279360" imgH="228600" progId="Equation.3">
                    <p:embed/>
                    <p:pic>
                      <p:nvPicPr>
                        <p:cNvPr id="868369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1371" y="3520"/>
                          <a:ext cx="269" cy="25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8370" name="Object 18"/>
            <p:cNvGraphicFramePr>
              <a:graphicFrameLocks noChangeAspect="1"/>
            </p:cNvGraphicFramePr>
            <p:nvPr/>
          </p:nvGraphicFramePr>
          <p:xfrm>
            <a:off x="650" y="2939"/>
            <a:ext cx="839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761760" imgH="228600" progId="Equation.3">
                    <p:embed/>
                  </p:oleObj>
                </mc:Choice>
                <mc:Fallback>
                  <p:oleObj name="Equation" r:id="rId15" imgW="761760" imgH="228600" progId="Equation.3">
                    <p:embed/>
                    <p:pic>
                      <p:nvPicPr>
                        <p:cNvPr id="86837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9451"/>
                        <a:stretch>
                          <a:fillRect/>
                        </a:stretch>
                      </p:blipFill>
                      <p:spPr bwMode="gray">
                        <a:xfrm>
                          <a:off x="650" y="2939"/>
                          <a:ext cx="839" cy="231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8371" name="Object 19"/>
            <p:cNvGraphicFramePr>
              <a:graphicFrameLocks noChangeAspect="1"/>
            </p:cNvGraphicFramePr>
            <p:nvPr/>
          </p:nvGraphicFramePr>
          <p:xfrm>
            <a:off x="2305" y="2831"/>
            <a:ext cx="565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558720" imgH="228600" progId="Equation.3">
                    <p:embed/>
                  </p:oleObj>
                </mc:Choice>
                <mc:Fallback>
                  <p:oleObj name="Equation" r:id="rId17" imgW="558720" imgH="228600" progId="Equation.3">
                    <p:embed/>
                    <p:pic>
                      <p:nvPicPr>
                        <p:cNvPr id="868371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5" y="2831"/>
                          <a:ext cx="565" cy="2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8372" name="Object 20"/>
            <p:cNvGraphicFramePr>
              <a:graphicFrameLocks noChangeAspect="1"/>
            </p:cNvGraphicFramePr>
            <p:nvPr/>
          </p:nvGraphicFramePr>
          <p:xfrm>
            <a:off x="4343" y="2961"/>
            <a:ext cx="767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761760" imgH="228600" progId="Equation.3">
                    <p:embed/>
                  </p:oleObj>
                </mc:Choice>
                <mc:Fallback>
                  <p:oleObj name="Equation" r:id="rId19" imgW="761760" imgH="228600" progId="Equation.3">
                    <p:embed/>
                    <p:pic>
                      <p:nvPicPr>
                        <p:cNvPr id="868372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4343" y="2961"/>
                          <a:ext cx="767" cy="231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68374" name="AutoShape 22"/>
          <p:cNvSpPr>
            <a:spLocks/>
          </p:cNvSpPr>
          <p:nvPr/>
        </p:nvSpPr>
        <p:spPr bwMode="auto">
          <a:xfrm rot="16200000">
            <a:off x="4555335" y="885487"/>
            <a:ext cx="414337" cy="3777341"/>
          </a:xfrm>
          <a:prstGeom prst="leftBrace">
            <a:avLst>
              <a:gd name="adj1" fmla="val 163158"/>
              <a:gd name="adj2" fmla="val 50000"/>
            </a:avLst>
          </a:prstGeom>
          <a:noFill/>
          <a:ln w="19050">
            <a:solidFill>
              <a:srgbClr val="0000CC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pt-BR"/>
          </a:p>
        </p:txBody>
      </p:sp>
      <p:sp>
        <p:nvSpPr>
          <p:cNvPr id="868375" name="AutoShape 23"/>
          <p:cNvSpPr>
            <a:spLocks/>
          </p:cNvSpPr>
          <p:nvPr/>
        </p:nvSpPr>
        <p:spPr bwMode="auto">
          <a:xfrm rot="16200000">
            <a:off x="8621374" y="1010897"/>
            <a:ext cx="315913" cy="3624945"/>
          </a:xfrm>
          <a:prstGeom prst="leftBrace">
            <a:avLst>
              <a:gd name="adj1" fmla="val 163158"/>
              <a:gd name="adj2" fmla="val 50000"/>
            </a:avLst>
          </a:prstGeom>
          <a:noFill/>
          <a:ln w="19050">
            <a:solidFill>
              <a:srgbClr val="0000CC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pt-BR"/>
          </a:p>
        </p:txBody>
      </p:sp>
      <p:sp>
        <p:nvSpPr>
          <p:cNvPr id="868376" name="Freeform 24"/>
          <p:cNvSpPr>
            <a:spLocks/>
          </p:cNvSpPr>
          <p:nvPr/>
        </p:nvSpPr>
        <p:spPr bwMode="gray">
          <a:xfrm>
            <a:off x="4758531" y="3047999"/>
            <a:ext cx="1141526" cy="506411"/>
          </a:xfrm>
          <a:custGeom>
            <a:avLst/>
            <a:gdLst/>
            <a:ahLst/>
            <a:cxnLst>
              <a:cxn ang="0">
                <a:pos x="7" y="0"/>
              </a:cxn>
              <a:cxn ang="0">
                <a:pos x="106" y="93"/>
              </a:cxn>
              <a:cxn ang="0">
                <a:pos x="646" y="105"/>
              </a:cxn>
              <a:cxn ang="0">
                <a:pos x="685" y="276"/>
              </a:cxn>
            </a:cxnLst>
            <a:rect l="0" t="0" r="r" b="b"/>
            <a:pathLst>
              <a:path w="742" h="276">
                <a:moveTo>
                  <a:pt x="7" y="0"/>
                </a:moveTo>
                <a:cubicBezTo>
                  <a:pt x="23" y="15"/>
                  <a:pt x="0" y="76"/>
                  <a:pt x="106" y="93"/>
                </a:cubicBezTo>
                <a:cubicBezTo>
                  <a:pt x="212" y="110"/>
                  <a:pt x="550" y="75"/>
                  <a:pt x="646" y="105"/>
                </a:cubicBezTo>
                <a:cubicBezTo>
                  <a:pt x="742" y="135"/>
                  <a:pt x="677" y="241"/>
                  <a:pt x="685" y="276"/>
                </a:cubicBezTo>
              </a:path>
            </a:pathLst>
          </a:custGeom>
          <a:noFill/>
          <a:ln w="38100" cap="flat" cmpd="sng">
            <a:solidFill>
              <a:srgbClr val="3399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wrap="square">
            <a:spAutoFit/>
          </a:bodyPr>
          <a:lstStyle/>
          <a:p>
            <a:endParaRPr lang="pt-BR"/>
          </a:p>
        </p:txBody>
      </p:sp>
      <p:sp>
        <p:nvSpPr>
          <p:cNvPr id="868377" name="AutoShape 25"/>
          <p:cNvSpPr>
            <a:spLocks/>
          </p:cNvSpPr>
          <p:nvPr/>
        </p:nvSpPr>
        <p:spPr bwMode="auto">
          <a:xfrm rot="5400000" flipV="1">
            <a:off x="5791086" y="2814978"/>
            <a:ext cx="163517" cy="1556662"/>
          </a:xfrm>
          <a:prstGeom prst="leftBrace">
            <a:avLst>
              <a:gd name="adj1" fmla="val 80208"/>
              <a:gd name="adj2" fmla="val 50000"/>
            </a:avLst>
          </a:prstGeom>
          <a:noFill/>
          <a:ln w="19050">
            <a:solidFill>
              <a:srgbClr val="0000CC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pt-BR"/>
          </a:p>
        </p:txBody>
      </p:sp>
      <p:sp>
        <p:nvSpPr>
          <p:cNvPr id="868378" name="Freeform 26"/>
          <p:cNvSpPr>
            <a:spLocks/>
          </p:cNvSpPr>
          <p:nvPr/>
        </p:nvSpPr>
        <p:spPr bwMode="gray">
          <a:xfrm flipH="1">
            <a:off x="7761513" y="3030538"/>
            <a:ext cx="1024503" cy="442912"/>
          </a:xfrm>
          <a:custGeom>
            <a:avLst/>
            <a:gdLst/>
            <a:ahLst/>
            <a:cxnLst>
              <a:cxn ang="0">
                <a:pos x="7" y="0"/>
              </a:cxn>
              <a:cxn ang="0">
                <a:pos x="106" y="93"/>
              </a:cxn>
              <a:cxn ang="0">
                <a:pos x="646" y="105"/>
              </a:cxn>
              <a:cxn ang="0">
                <a:pos x="685" y="276"/>
              </a:cxn>
            </a:cxnLst>
            <a:rect l="0" t="0" r="r" b="b"/>
            <a:pathLst>
              <a:path w="742" h="276">
                <a:moveTo>
                  <a:pt x="7" y="0"/>
                </a:moveTo>
                <a:cubicBezTo>
                  <a:pt x="23" y="15"/>
                  <a:pt x="0" y="76"/>
                  <a:pt x="106" y="93"/>
                </a:cubicBezTo>
                <a:cubicBezTo>
                  <a:pt x="212" y="110"/>
                  <a:pt x="550" y="75"/>
                  <a:pt x="646" y="105"/>
                </a:cubicBezTo>
                <a:cubicBezTo>
                  <a:pt x="742" y="135"/>
                  <a:pt x="677" y="241"/>
                  <a:pt x="685" y="276"/>
                </a:cubicBezTo>
              </a:path>
            </a:pathLst>
          </a:custGeom>
          <a:noFill/>
          <a:ln w="38100" cap="flat" cmpd="sng">
            <a:solidFill>
              <a:srgbClr val="3399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wrap="square">
            <a:spAutoFit/>
          </a:bodyPr>
          <a:lstStyle/>
          <a:p>
            <a:endParaRPr lang="pt-BR"/>
          </a:p>
        </p:txBody>
      </p:sp>
      <p:sp>
        <p:nvSpPr>
          <p:cNvPr id="868379" name="AutoShape 27"/>
          <p:cNvSpPr>
            <a:spLocks/>
          </p:cNvSpPr>
          <p:nvPr/>
        </p:nvSpPr>
        <p:spPr bwMode="auto">
          <a:xfrm rot="5400000" flipV="1">
            <a:off x="7750118" y="2878876"/>
            <a:ext cx="176216" cy="1416164"/>
          </a:xfrm>
          <a:prstGeom prst="leftBrace">
            <a:avLst>
              <a:gd name="adj1" fmla="val 80208"/>
              <a:gd name="adj2" fmla="val 50000"/>
            </a:avLst>
          </a:prstGeom>
          <a:noFill/>
          <a:ln w="19050">
            <a:solidFill>
              <a:srgbClr val="0000CC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667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8374" grpId="0" animBg="1"/>
      <p:bldP spid="868375" grpId="0" animBg="1"/>
      <p:bldP spid="868376" grpId="0" animBg="1"/>
      <p:bldP spid="868377" grpId="0" animBg="1"/>
      <p:bldP spid="868378" grpId="0" animBg="1"/>
      <p:bldP spid="86837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B78CA-DDDE-197A-60FD-CCD349486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Sinal SSB</a:t>
            </a:r>
            <a:br>
              <a:rPr lang="pt-BR" dirty="0"/>
            </a:br>
            <a:r>
              <a:rPr lang="pt-BR" dirty="0"/>
              <a:t>Modulante Tonal</a:t>
            </a:r>
          </a:p>
        </p:txBody>
      </p:sp>
      <p:pic>
        <p:nvPicPr>
          <p:cNvPr id="20" name="Picture 3" descr="fig175abcd">
            <a:extLst>
              <a:ext uri="{FF2B5EF4-FFF2-40B4-BE49-F238E27FC236}">
                <a16:creationId xmlns:a16="http://schemas.microsoft.com/office/drawing/2014/main" id="{58F97077-06C0-37E9-B241-F4AC2E359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1997"/>
          <a:stretch>
            <a:fillRect/>
          </a:stretch>
        </p:blipFill>
        <p:spPr bwMode="auto">
          <a:xfrm>
            <a:off x="5471207" y="1106487"/>
            <a:ext cx="5392737" cy="5751513"/>
          </a:xfrm>
          <a:prstGeom prst="rect">
            <a:avLst/>
          </a:prstGeom>
          <a:noFill/>
        </p:spPr>
      </p:pic>
      <p:graphicFrame>
        <p:nvGraphicFramePr>
          <p:cNvPr id="21" name="Object 7">
            <a:extLst>
              <a:ext uri="{FF2B5EF4-FFF2-40B4-BE49-F238E27FC236}">
                <a16:creationId xmlns:a16="http://schemas.microsoft.com/office/drawing/2014/main" id="{28FB0547-9A94-EE1D-270F-D8CFB2A7FD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7513" y="3824289"/>
          <a:ext cx="3390900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50960" imgH="253800" progId="">
                  <p:embed/>
                </p:oleObj>
              </mc:Choice>
              <mc:Fallback>
                <p:oleObj name="Equation" r:id="rId3" imgW="1650960" imgH="253800" progId="">
                  <p:embed/>
                  <p:pic>
                    <p:nvPicPr>
                      <p:cNvPr id="21" name="Object 7">
                        <a:extLst>
                          <a:ext uri="{FF2B5EF4-FFF2-40B4-BE49-F238E27FC236}">
                            <a16:creationId xmlns:a16="http://schemas.microsoft.com/office/drawing/2014/main" id="{28FB0547-9A94-EE1D-270F-D8CFB2A7FD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344" t="-15749" r="-1344" b="-15749"/>
                      <a:stretch>
                        <a:fillRect/>
                      </a:stretch>
                    </p:blipFill>
                    <p:spPr bwMode="auto">
                      <a:xfrm>
                        <a:off x="1687513" y="3824289"/>
                        <a:ext cx="3390900" cy="6683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8">
            <a:extLst>
              <a:ext uri="{FF2B5EF4-FFF2-40B4-BE49-F238E27FC236}">
                <a16:creationId xmlns:a16="http://schemas.microsoft.com/office/drawing/2014/main" id="{424E98A2-77C5-DA9F-65EB-E1F4EBE468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1800" y="5329239"/>
          <a:ext cx="3365500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38000" imgH="253800" progId="">
                  <p:embed/>
                </p:oleObj>
              </mc:Choice>
              <mc:Fallback>
                <p:oleObj name="Equation" r:id="rId5" imgW="1638000" imgH="253800" progId="">
                  <p:embed/>
                  <p:pic>
                    <p:nvPicPr>
                      <p:cNvPr id="22" name="Object 8">
                        <a:extLst>
                          <a:ext uri="{FF2B5EF4-FFF2-40B4-BE49-F238E27FC236}">
                            <a16:creationId xmlns:a16="http://schemas.microsoft.com/office/drawing/2014/main" id="{424E98A2-77C5-DA9F-65EB-E1F4EBE468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344" t="-15749" r="-1344" b="-15749"/>
                      <a:stretch>
                        <a:fillRect/>
                      </a:stretch>
                    </p:blipFill>
                    <p:spPr bwMode="auto">
                      <a:xfrm>
                        <a:off x="1701800" y="5329239"/>
                        <a:ext cx="3365500" cy="6683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9006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0F699-8D36-43EC-7E71-61272CA7A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4A2FBA-0EB7-3968-0976-974D9EEB2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Geração de Sinais SSB</a:t>
            </a:r>
            <a:br>
              <a:rPr lang="pt-BR" dirty="0"/>
            </a:br>
            <a:r>
              <a:rPr lang="pt-BR" dirty="0"/>
              <a:t>Desafios da Defasagem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287D1A0-76A8-0008-654D-46F8E988C488}"/>
              </a:ext>
            </a:extLst>
          </p:cNvPr>
          <p:cNvSpPr txBox="1"/>
          <p:nvPr/>
        </p:nvSpPr>
        <p:spPr>
          <a:xfrm>
            <a:off x="838200" y="1415143"/>
            <a:ext cx="94488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Geração de sinal SSB exige defasador ideal</a:t>
            </a:r>
          </a:p>
          <a:p>
            <a:endParaRPr lang="pt-BR" sz="2800" dirty="0"/>
          </a:p>
          <a:p>
            <a:r>
              <a:rPr lang="pt-BR" sz="2800" dirty="0"/>
              <a:t>Que é impossível de se implementar (resposta </a:t>
            </a:r>
            <a:r>
              <a:rPr lang="pt-BR" sz="2800" dirty="0" err="1"/>
              <a:t>impulsional</a:t>
            </a:r>
            <a:r>
              <a:rPr lang="pt-BR" sz="2800" dirty="0"/>
              <a:t> é infinita e não causal)</a:t>
            </a:r>
          </a:p>
          <a:p>
            <a:endParaRPr lang="pt-BR" sz="2800" dirty="0"/>
          </a:p>
          <a:p>
            <a:r>
              <a:rPr lang="pt-BR" sz="2800" dirty="0"/>
              <a:t>Ou (novamente) o sinal não deve conter componentes com frequência baixa, facilitando o projeto do filtro</a:t>
            </a:r>
          </a:p>
        </p:txBody>
      </p:sp>
    </p:spTree>
    <p:extLst>
      <p:ext uri="{BB962C8B-B14F-4D97-AF65-F5344CB8AC3E}">
        <p14:creationId xmlns:p14="http://schemas.microsoft.com/office/powerpoint/2010/main" val="900213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DE5A52-FA43-DB2A-894E-0F5A890B3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Demodulação de sinais SSB</a:t>
            </a:r>
            <a:br>
              <a:rPr lang="pt-BR" dirty="0"/>
            </a:br>
            <a:r>
              <a:rPr lang="pt-BR" dirty="0"/>
              <a:t>detecção coerente</a:t>
            </a:r>
          </a:p>
        </p:txBody>
      </p:sp>
      <p:graphicFrame>
        <p:nvGraphicFramePr>
          <p:cNvPr id="3" name="Object 19">
            <a:extLst>
              <a:ext uri="{FF2B5EF4-FFF2-40B4-BE49-F238E27FC236}">
                <a16:creationId xmlns:a16="http://schemas.microsoft.com/office/drawing/2014/main" id="{B5728DA7-07AD-0756-FD42-C55E35E0B1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9738" y="3627438"/>
          <a:ext cx="7642225" cy="304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20960" imgH="1155600" progId="">
                  <p:embed/>
                </p:oleObj>
              </mc:Choice>
              <mc:Fallback>
                <p:oleObj name="Equation" r:id="rId2" imgW="3720960" imgH="1155600" progId="">
                  <p:embed/>
                  <p:pic>
                    <p:nvPicPr>
                      <p:cNvPr id="3" name="Object 19">
                        <a:extLst>
                          <a:ext uri="{FF2B5EF4-FFF2-40B4-BE49-F238E27FC236}">
                            <a16:creationId xmlns:a16="http://schemas.microsoft.com/office/drawing/2014/main" id="{B5728DA7-07AD-0756-FD42-C55E35E0B1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344" t="-15749" r="-1344" b="-15749"/>
                      <a:stretch>
                        <a:fillRect/>
                      </a:stretch>
                    </p:blipFill>
                    <p:spPr bwMode="auto">
                      <a:xfrm>
                        <a:off x="1709738" y="3627438"/>
                        <a:ext cx="7642225" cy="304323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utoShape 4">
            <a:extLst>
              <a:ext uri="{FF2B5EF4-FFF2-40B4-BE49-F238E27FC236}">
                <a16:creationId xmlns:a16="http://schemas.microsoft.com/office/drawing/2014/main" id="{3FAB8F28-0C71-D1D9-E877-2A6EB21A5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575" y="1476375"/>
            <a:ext cx="376238" cy="381000"/>
          </a:xfrm>
          <a:prstGeom prst="flowChartConnector">
            <a:avLst/>
          </a:prstGeom>
          <a:solidFill>
            <a:srgbClr val="DDDDDD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60000"/>
              </a:lnSpc>
            </a:pPr>
            <a:r>
              <a:rPr lang="pt-BR" sz="3200">
                <a:latin typeface="Times New Roman" pitchFamily="18" charset="0"/>
                <a:sym typeface="Symbol" pitchFamily="18" charset="2"/>
              </a:rPr>
              <a:t></a:t>
            </a:r>
            <a:endParaRPr lang="pt-BR" sz="3200">
              <a:latin typeface="Times New Roman" pitchFamily="18" charset="0"/>
            </a:endParaRPr>
          </a:p>
        </p:txBody>
      </p:sp>
      <p:cxnSp>
        <p:nvCxnSpPr>
          <p:cNvPr id="5" name="AutoShape 6">
            <a:extLst>
              <a:ext uri="{FF2B5EF4-FFF2-40B4-BE49-F238E27FC236}">
                <a16:creationId xmlns:a16="http://schemas.microsoft.com/office/drawing/2014/main" id="{F71BA744-F710-11EF-2A7F-E791D22BEC22}"/>
              </a:ext>
            </a:extLst>
          </p:cNvPr>
          <p:cNvCxnSpPr>
            <a:cxnSpLocks noChangeShapeType="1"/>
            <a:stCxn id="4" idx="6"/>
            <a:endCxn id="6" idx="1"/>
          </p:cNvCxnSpPr>
          <p:nvPr/>
        </p:nvCxnSpPr>
        <p:spPr bwMode="auto">
          <a:xfrm flipV="1">
            <a:off x="5503864" y="1660525"/>
            <a:ext cx="1849437" cy="63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</p:spPr>
      </p:cxnSp>
      <p:sp>
        <p:nvSpPr>
          <p:cNvPr id="6" name="AutoShape 7">
            <a:extLst>
              <a:ext uri="{FF2B5EF4-FFF2-40B4-BE49-F238E27FC236}">
                <a16:creationId xmlns:a16="http://schemas.microsoft.com/office/drawing/2014/main" id="{41182692-6CB5-2657-3B71-10D40C392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2350" y="1109664"/>
            <a:ext cx="2012950" cy="1100137"/>
          </a:xfrm>
          <a:prstGeom prst="flowChartProcess">
            <a:avLst/>
          </a:prstGeom>
          <a:solidFill>
            <a:srgbClr val="DDDDDD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pt-BR" sz="2000">
                <a:latin typeface="Arial" charset="0"/>
              </a:rPr>
              <a:t>Filtro</a:t>
            </a:r>
          </a:p>
          <a:p>
            <a:r>
              <a:rPr lang="pt-BR" sz="2000">
                <a:latin typeface="Arial" charset="0"/>
              </a:rPr>
              <a:t>passa-baixos</a:t>
            </a:r>
          </a:p>
          <a:p>
            <a:r>
              <a:rPr lang="pt-BR" sz="2000" i="1">
                <a:latin typeface="Times New Roman" pitchFamily="18" charset="0"/>
              </a:rPr>
              <a:t>f</a:t>
            </a:r>
            <a:r>
              <a:rPr lang="pt-BR" sz="2000" baseline="-25000">
                <a:latin typeface="Arial" charset="0"/>
              </a:rPr>
              <a:t>corte</a:t>
            </a:r>
            <a:r>
              <a:rPr lang="pt-BR" sz="2000" i="1">
                <a:latin typeface="Arial" charset="0"/>
              </a:rPr>
              <a:t>= </a:t>
            </a:r>
            <a:r>
              <a:rPr lang="pt-BR" sz="2000" i="1">
                <a:latin typeface="Times New Roman" pitchFamily="18" charset="0"/>
              </a:rPr>
              <a:t>B</a:t>
            </a:r>
            <a:r>
              <a:rPr lang="pt-BR" sz="2000" i="1" baseline="-25000">
                <a:latin typeface="Times New Roman" pitchFamily="18" charset="0"/>
              </a:rPr>
              <a:t>m</a:t>
            </a:r>
          </a:p>
        </p:txBody>
      </p:sp>
      <p:cxnSp>
        <p:nvCxnSpPr>
          <p:cNvPr id="7" name="AutoShape 8">
            <a:extLst>
              <a:ext uri="{FF2B5EF4-FFF2-40B4-BE49-F238E27FC236}">
                <a16:creationId xmlns:a16="http://schemas.microsoft.com/office/drawing/2014/main" id="{8FCA9268-D59A-875D-156D-2486D6BA4E65}"/>
              </a:ext>
            </a:extLst>
          </p:cNvPr>
          <p:cNvCxnSpPr>
            <a:cxnSpLocks noChangeShapeType="1"/>
            <a:endCxn id="4" idx="2"/>
          </p:cNvCxnSpPr>
          <p:nvPr/>
        </p:nvCxnSpPr>
        <p:spPr bwMode="auto">
          <a:xfrm>
            <a:off x="3417889" y="1666875"/>
            <a:ext cx="1671637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</p:spPr>
      </p:cxnSp>
      <p:sp>
        <p:nvSpPr>
          <p:cNvPr id="8" name="AutoShape 9">
            <a:extLst>
              <a:ext uri="{FF2B5EF4-FFF2-40B4-BE49-F238E27FC236}">
                <a16:creationId xmlns:a16="http://schemas.microsoft.com/office/drawing/2014/main" id="{BF603EB5-6AAD-47F2-3A66-6B8F80DBF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2381250"/>
            <a:ext cx="2089150" cy="838200"/>
          </a:xfrm>
          <a:prstGeom prst="flowChartProcess">
            <a:avLst/>
          </a:prstGeom>
          <a:solidFill>
            <a:srgbClr val="DDDDDD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pt-BR" sz="2000">
                <a:latin typeface="Arial" charset="0"/>
              </a:rPr>
              <a:t>Oscilador local</a:t>
            </a:r>
            <a:endParaRPr lang="pt-BR" sz="2000" baseline="30000">
              <a:latin typeface="Arial" charset="0"/>
            </a:endParaRPr>
          </a:p>
          <a:p>
            <a:r>
              <a:rPr lang="pt-BR" sz="2000" i="1">
                <a:latin typeface="Times New Roman" pitchFamily="18" charset="0"/>
              </a:rPr>
              <a:t>f</a:t>
            </a:r>
            <a:r>
              <a:rPr lang="pt-BR" sz="2000" baseline="-25000">
                <a:latin typeface="Arial" charset="0"/>
              </a:rPr>
              <a:t>osc</a:t>
            </a:r>
            <a:r>
              <a:rPr lang="pt-BR" sz="2000" i="1">
                <a:latin typeface="Arial" charset="0"/>
              </a:rPr>
              <a:t>= </a:t>
            </a:r>
            <a:r>
              <a:rPr lang="pt-BR" sz="2000" i="1">
                <a:latin typeface="Times New Roman" pitchFamily="18" charset="0"/>
              </a:rPr>
              <a:t>f</a:t>
            </a:r>
            <a:r>
              <a:rPr lang="pt-BR" sz="2000" i="1" baseline="-25000">
                <a:latin typeface="Arial" charset="0"/>
              </a:rPr>
              <a:t>c</a:t>
            </a:r>
            <a:r>
              <a:rPr lang="pt-BR" sz="2000">
                <a:latin typeface="Arial" charset="0"/>
              </a:rPr>
              <a:t> </a:t>
            </a:r>
          </a:p>
        </p:txBody>
      </p:sp>
      <p:cxnSp>
        <p:nvCxnSpPr>
          <p:cNvPr id="9" name="AutoShape 10">
            <a:extLst>
              <a:ext uri="{FF2B5EF4-FFF2-40B4-BE49-F238E27FC236}">
                <a16:creationId xmlns:a16="http://schemas.microsoft.com/office/drawing/2014/main" id="{6F1B9D87-1E75-850A-C27E-B1E469C30316}"/>
              </a:ext>
            </a:extLst>
          </p:cNvPr>
          <p:cNvCxnSpPr>
            <a:cxnSpLocks noChangeShapeType="1"/>
            <a:stCxn id="6" idx="3"/>
          </p:cNvCxnSpPr>
          <p:nvPr/>
        </p:nvCxnSpPr>
        <p:spPr bwMode="auto">
          <a:xfrm>
            <a:off x="9404350" y="1660525"/>
            <a:ext cx="75565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</p:spPr>
      </p:cxnSp>
      <p:cxnSp>
        <p:nvCxnSpPr>
          <p:cNvPr id="10" name="AutoShape 13">
            <a:extLst>
              <a:ext uri="{FF2B5EF4-FFF2-40B4-BE49-F238E27FC236}">
                <a16:creationId xmlns:a16="http://schemas.microsoft.com/office/drawing/2014/main" id="{C7FE91A7-FA4E-F757-3D7C-479C0A30B740}"/>
              </a:ext>
            </a:extLst>
          </p:cNvPr>
          <p:cNvCxnSpPr>
            <a:cxnSpLocks noChangeShapeType="1"/>
            <a:stCxn id="8" idx="0"/>
          </p:cNvCxnSpPr>
          <p:nvPr/>
        </p:nvCxnSpPr>
        <p:spPr bwMode="auto">
          <a:xfrm flipH="1" flipV="1">
            <a:off x="5295900" y="1828800"/>
            <a:ext cx="1588" cy="5334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5">
                <a:extLst>
                  <a:ext uri="{FF2B5EF4-FFF2-40B4-BE49-F238E27FC236}">
                    <a16:creationId xmlns:a16="http://schemas.microsoft.com/office/drawing/2014/main" id="{8697DE3E-212F-54D3-86DC-4502CA489650}"/>
                  </a:ext>
                </a:extLst>
              </p:cNvPr>
              <p:cNvSpPr txBox="1"/>
              <p:nvPr/>
            </p:nvSpPr>
            <p:spPr bwMode="auto">
              <a:xfrm>
                <a:off x="5391150" y="1911350"/>
                <a:ext cx="140017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func>
                        <m:funcPr>
                          <m:ctrlPr>
                            <a:rPr lang="pt-BR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1" name="Object 15">
                <a:extLst>
                  <a:ext uri="{FF2B5EF4-FFF2-40B4-BE49-F238E27FC236}">
                    <a16:creationId xmlns:a16="http://schemas.microsoft.com/office/drawing/2014/main" id="{8697DE3E-212F-54D3-86DC-4502CA489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1150" y="1911350"/>
                <a:ext cx="1400175" cy="457200"/>
              </a:xfrm>
              <a:prstGeom prst="rect">
                <a:avLst/>
              </a:prstGeom>
              <a:blipFill>
                <a:blip r:embed="rId4"/>
                <a:stretch>
                  <a:fillRect l="-870" r="-40000" b="-18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Object 16">
            <a:extLst>
              <a:ext uri="{FF2B5EF4-FFF2-40B4-BE49-F238E27FC236}">
                <a16:creationId xmlns:a16="http://schemas.microsoft.com/office/drawing/2014/main" id="{852D8404-B355-8B2C-AC5C-D99BCA5C25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6151" y="1216025"/>
          <a:ext cx="8667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31640" imgH="228600" progId="">
                  <p:embed/>
                </p:oleObj>
              </mc:Choice>
              <mc:Fallback>
                <p:oleObj name="Equation" r:id="rId5" imgW="431640" imgH="228600" progId="">
                  <p:embed/>
                  <p:pic>
                    <p:nvPicPr>
                      <p:cNvPr id="12" name="Object 16">
                        <a:extLst>
                          <a:ext uri="{FF2B5EF4-FFF2-40B4-BE49-F238E27FC236}">
                            <a16:creationId xmlns:a16="http://schemas.microsoft.com/office/drawing/2014/main" id="{852D8404-B355-8B2C-AC5C-D99BCA5C25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151" y="1216025"/>
                        <a:ext cx="8667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0">
            <a:extLst>
              <a:ext uri="{FF2B5EF4-FFF2-40B4-BE49-F238E27FC236}">
                <a16:creationId xmlns:a16="http://schemas.microsoft.com/office/drawing/2014/main" id="{E5EB6579-72A1-3ACA-C4A2-46813AB5D6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2038" y="1249363"/>
          <a:ext cx="609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4560" imgH="203040" progId="Equation.3">
                  <p:embed/>
                </p:oleObj>
              </mc:Choice>
              <mc:Fallback>
                <p:oleObj name="Equation" r:id="rId7" imgW="304560" imgH="203040" progId="Equation.3">
                  <p:embed/>
                  <p:pic>
                    <p:nvPicPr>
                      <p:cNvPr id="13" name="Object 20">
                        <a:extLst>
                          <a:ext uri="{FF2B5EF4-FFF2-40B4-BE49-F238E27FC236}">
                            <a16:creationId xmlns:a16="http://schemas.microsoft.com/office/drawing/2014/main" id="{E5EB6579-72A1-3ACA-C4A2-46813AB5D6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2038" y="1249363"/>
                        <a:ext cx="609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eform 23">
            <a:extLst>
              <a:ext uri="{FF2B5EF4-FFF2-40B4-BE49-F238E27FC236}">
                <a16:creationId xmlns:a16="http://schemas.microsoft.com/office/drawing/2014/main" id="{311BF5B6-4501-F735-F874-3CF3A17F455F}"/>
              </a:ext>
            </a:extLst>
          </p:cNvPr>
          <p:cNvSpPr>
            <a:spLocks/>
          </p:cNvSpPr>
          <p:nvPr/>
        </p:nvSpPr>
        <p:spPr bwMode="gray">
          <a:xfrm>
            <a:off x="1879600" y="1781176"/>
            <a:ext cx="1758950" cy="1781175"/>
          </a:xfrm>
          <a:custGeom>
            <a:avLst/>
            <a:gdLst/>
            <a:ahLst/>
            <a:cxnLst>
              <a:cxn ang="0">
                <a:pos x="60" y="1260"/>
              </a:cxn>
              <a:cxn ang="0">
                <a:pos x="180" y="624"/>
              </a:cxn>
              <a:cxn ang="0">
                <a:pos x="1140" y="0"/>
              </a:cxn>
            </a:cxnLst>
            <a:rect l="0" t="0" r="r" b="b"/>
            <a:pathLst>
              <a:path w="1140" h="1260">
                <a:moveTo>
                  <a:pt x="60" y="1260"/>
                </a:moveTo>
                <a:cubicBezTo>
                  <a:pt x="30" y="1047"/>
                  <a:pt x="0" y="834"/>
                  <a:pt x="180" y="624"/>
                </a:cubicBezTo>
                <a:cubicBezTo>
                  <a:pt x="360" y="414"/>
                  <a:pt x="966" y="68"/>
                  <a:pt x="1140" y="0"/>
                </a:cubicBez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none" w="med" len="med"/>
            <a:tailEnd type="triangle" w="sm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5" name="Freeform 25">
            <a:extLst>
              <a:ext uri="{FF2B5EF4-FFF2-40B4-BE49-F238E27FC236}">
                <a16:creationId xmlns:a16="http://schemas.microsoft.com/office/drawing/2014/main" id="{EEA83598-AC27-63D1-4119-BA35805836BF}"/>
              </a:ext>
            </a:extLst>
          </p:cNvPr>
          <p:cNvSpPr>
            <a:spLocks/>
          </p:cNvSpPr>
          <p:nvPr/>
        </p:nvSpPr>
        <p:spPr bwMode="gray">
          <a:xfrm>
            <a:off x="6705601" y="1752600"/>
            <a:ext cx="2867025" cy="35242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4" y="1150"/>
              </a:cxn>
              <a:cxn ang="0">
                <a:pos x="1728" y="1888"/>
              </a:cxn>
              <a:cxn ang="0">
                <a:pos x="1632" y="2220"/>
              </a:cxn>
            </a:cxnLst>
            <a:rect l="0" t="0" r="r" b="b"/>
            <a:pathLst>
              <a:path w="1806" h="2220">
                <a:moveTo>
                  <a:pt x="0" y="0"/>
                </a:moveTo>
                <a:cubicBezTo>
                  <a:pt x="438" y="418"/>
                  <a:pt x="876" y="835"/>
                  <a:pt x="1164" y="1150"/>
                </a:cubicBezTo>
                <a:cubicBezTo>
                  <a:pt x="1452" y="1465"/>
                  <a:pt x="1650" y="1710"/>
                  <a:pt x="1728" y="1888"/>
                </a:cubicBezTo>
                <a:cubicBezTo>
                  <a:pt x="1806" y="2066"/>
                  <a:pt x="1652" y="2151"/>
                  <a:pt x="1632" y="2220"/>
                </a:cubicBez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triangle" w="sm" len="lg"/>
            <a:tailEnd type="non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16" name="Object 27">
            <a:extLst>
              <a:ext uri="{FF2B5EF4-FFF2-40B4-BE49-F238E27FC236}">
                <a16:creationId xmlns:a16="http://schemas.microsoft.com/office/drawing/2014/main" id="{2301FE48-EC74-4345-3503-E0A2857CAC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31350" y="1241425"/>
          <a:ext cx="558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9360" imgH="203040" progId="Equation.3">
                  <p:embed/>
                </p:oleObj>
              </mc:Choice>
              <mc:Fallback>
                <p:oleObj name="Equation" r:id="rId9" imgW="279360" imgH="203040" progId="Equation.3">
                  <p:embed/>
                  <p:pic>
                    <p:nvPicPr>
                      <p:cNvPr id="16" name="Object 27">
                        <a:extLst>
                          <a:ext uri="{FF2B5EF4-FFF2-40B4-BE49-F238E27FC236}">
                            <a16:creationId xmlns:a16="http://schemas.microsoft.com/office/drawing/2014/main" id="{2301FE48-EC74-4345-3503-E0A2857CAC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31350" y="1241425"/>
                        <a:ext cx="5588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8">
            <a:extLst>
              <a:ext uri="{FF2B5EF4-FFF2-40B4-BE49-F238E27FC236}">
                <a16:creationId xmlns:a16="http://schemas.microsoft.com/office/drawing/2014/main" id="{50C19A64-EFA5-6984-AB01-FE3D5E0D5A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1500" y="3400425"/>
          <a:ext cx="5476875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6880" imgH="228600" progId="">
                  <p:embed/>
                </p:oleObj>
              </mc:Choice>
              <mc:Fallback>
                <p:oleObj name="Equation" r:id="rId11" imgW="2666880" imgH="228600" progId="">
                  <p:embed/>
                  <p:pic>
                    <p:nvPicPr>
                      <p:cNvPr id="17" name="Object 18">
                        <a:extLst>
                          <a:ext uri="{FF2B5EF4-FFF2-40B4-BE49-F238E27FC236}">
                            <a16:creationId xmlns:a16="http://schemas.microsoft.com/office/drawing/2014/main" id="{50C19A64-EFA5-6984-AB01-FE3D5E0D5A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344" t="-15749" r="-1344" b="-15749"/>
                      <a:stretch>
                        <a:fillRect/>
                      </a:stretch>
                    </p:blipFill>
                    <p:spPr bwMode="auto">
                      <a:xfrm>
                        <a:off x="1841500" y="3400425"/>
                        <a:ext cx="5476875" cy="6016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7422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93AAA-E11E-D06B-B8D8-9127BC109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Detecção de envoltória de sinais SSB+C</a:t>
            </a:r>
            <a:br>
              <a:rPr lang="pt-BR" dirty="0"/>
            </a:br>
            <a:r>
              <a:rPr lang="pt-BR" dirty="0"/>
              <a:t>com portadora destacada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CF8C279-A40E-740C-801B-ED6B772D21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868611"/>
              </p:ext>
            </p:extLst>
          </p:nvPr>
        </p:nvGraphicFramePr>
        <p:xfrm>
          <a:off x="1389290" y="1255486"/>
          <a:ext cx="7847013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22480" imgH="520560" progId="Equation.3">
                  <p:embed/>
                </p:oleObj>
              </mc:Choice>
              <mc:Fallback>
                <p:oleObj name="Equation" r:id="rId2" imgW="3822480" imgH="520560" progId="Equation.3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CF8C279-A40E-740C-801B-ED6B772D21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344" t="-15749" r="-1344" b="-15749"/>
                      <a:stretch>
                        <a:fillRect/>
                      </a:stretch>
                    </p:blipFill>
                    <p:spPr bwMode="auto">
                      <a:xfrm>
                        <a:off x="1389290" y="1255486"/>
                        <a:ext cx="7847013" cy="13716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9">
            <a:extLst>
              <a:ext uri="{FF2B5EF4-FFF2-40B4-BE49-F238E27FC236}">
                <a16:creationId xmlns:a16="http://schemas.microsoft.com/office/drawing/2014/main" id="{CCB66935-0BAF-5D70-840C-7D1842C59F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413789"/>
              </p:ext>
            </p:extLst>
          </p:nvPr>
        </p:nvGraphicFramePr>
        <p:xfrm>
          <a:off x="1389289" y="2623911"/>
          <a:ext cx="6491288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62240" imgH="419040" progId="Equation.3">
                  <p:embed/>
                </p:oleObj>
              </mc:Choice>
              <mc:Fallback>
                <p:oleObj name="Equation" r:id="rId4" imgW="3162240" imgH="419040" progId="Equation.3">
                  <p:embed/>
                  <p:pic>
                    <p:nvPicPr>
                      <p:cNvPr id="6" name="Object 19">
                        <a:extLst>
                          <a:ext uri="{FF2B5EF4-FFF2-40B4-BE49-F238E27FC236}">
                            <a16:creationId xmlns:a16="http://schemas.microsoft.com/office/drawing/2014/main" id="{CCB66935-0BAF-5D70-840C-7D1842C59F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344" t="-15749" r="-1344" b="-15749"/>
                      <a:stretch>
                        <a:fillRect/>
                      </a:stretch>
                    </p:blipFill>
                    <p:spPr bwMode="auto">
                      <a:xfrm>
                        <a:off x="1389289" y="2623911"/>
                        <a:ext cx="6491288" cy="11049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0">
            <a:extLst>
              <a:ext uri="{FF2B5EF4-FFF2-40B4-BE49-F238E27FC236}">
                <a16:creationId xmlns:a16="http://schemas.microsoft.com/office/drawing/2014/main" id="{DA59C416-00CC-FF1A-385A-126E7DDB58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8455100"/>
              </p:ext>
            </p:extLst>
          </p:nvPr>
        </p:nvGraphicFramePr>
        <p:xfrm>
          <a:off x="1389289" y="3724049"/>
          <a:ext cx="404018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68480" imgH="228600" progId="Equation.3">
                  <p:embed/>
                </p:oleObj>
              </mc:Choice>
              <mc:Fallback>
                <p:oleObj name="Equation" r:id="rId6" imgW="1968480" imgH="228600" progId="Equation.3">
                  <p:embed/>
                  <p:pic>
                    <p:nvPicPr>
                      <p:cNvPr id="8" name="Object 20">
                        <a:extLst>
                          <a:ext uri="{FF2B5EF4-FFF2-40B4-BE49-F238E27FC236}">
                            <a16:creationId xmlns:a16="http://schemas.microsoft.com/office/drawing/2014/main" id="{DA59C416-00CC-FF1A-385A-126E7DDB58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344" t="-15749" r="-1344" b="-15749"/>
                      <a:stretch>
                        <a:fillRect/>
                      </a:stretch>
                    </p:blipFill>
                    <p:spPr bwMode="auto">
                      <a:xfrm>
                        <a:off x="1389289" y="3724049"/>
                        <a:ext cx="4040188" cy="6032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1">
            <a:extLst>
              <a:ext uri="{FF2B5EF4-FFF2-40B4-BE49-F238E27FC236}">
                <a16:creationId xmlns:a16="http://schemas.microsoft.com/office/drawing/2014/main" id="{6A9D88F2-5F1E-6FA6-36DB-27D55A4746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73690"/>
              </p:ext>
            </p:extLst>
          </p:nvPr>
        </p:nvGraphicFramePr>
        <p:xfrm>
          <a:off x="1389289" y="4322537"/>
          <a:ext cx="6180138" cy="194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09600" imgH="736560" progId="Equation.3">
                  <p:embed/>
                </p:oleObj>
              </mc:Choice>
              <mc:Fallback>
                <p:oleObj name="Equation" r:id="rId8" imgW="3009600" imgH="736560" progId="Equation.3">
                  <p:embed/>
                  <p:pic>
                    <p:nvPicPr>
                      <p:cNvPr id="10" name="Object 21">
                        <a:extLst>
                          <a:ext uri="{FF2B5EF4-FFF2-40B4-BE49-F238E27FC236}">
                            <a16:creationId xmlns:a16="http://schemas.microsoft.com/office/drawing/2014/main" id="{6A9D88F2-5F1E-6FA6-36DB-27D55A4746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344" t="-15749" r="-1344" b="-15749"/>
                      <a:stretch>
                        <a:fillRect/>
                      </a:stretch>
                    </p:blipFill>
                    <p:spPr bwMode="auto">
                      <a:xfrm>
                        <a:off x="1389289" y="4322537"/>
                        <a:ext cx="6180138" cy="19415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520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E18CF-CCAC-137A-DD1C-CBA8D06F0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778B82-2855-ADC2-98AD-0CE9C3FF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Detecção de envoltória de sinais SSB+C</a:t>
            </a:r>
            <a:br>
              <a:rPr lang="pt-BR" dirty="0"/>
            </a:br>
            <a:r>
              <a:rPr lang="pt-BR" dirty="0"/>
              <a:t>com portadora destacada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24539688-236F-1F4D-6BB6-BA69DFE159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1800" y="1093788"/>
          <a:ext cx="404018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228600" progId="Equation.3">
                  <p:embed/>
                </p:oleObj>
              </mc:Choice>
              <mc:Fallback>
                <p:oleObj name="Equation" r:id="rId2" imgW="1968480" imgH="228600" progId="Equation.3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24539688-236F-1F4D-6BB6-BA69DFE159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344" t="-15749" r="-1344" b="-15749"/>
                      <a:stretch>
                        <a:fillRect/>
                      </a:stretch>
                    </p:blipFill>
                    <p:spPr bwMode="auto">
                      <a:xfrm>
                        <a:off x="1701800" y="1093788"/>
                        <a:ext cx="4040188" cy="6032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5E10E882-6838-C573-1410-9917C07CDC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59013" y="1374775"/>
          <a:ext cx="5632450" cy="381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43200" imgH="1447560" progId="Equation.3">
                  <p:embed/>
                </p:oleObj>
              </mc:Choice>
              <mc:Fallback>
                <p:oleObj name="Equation" r:id="rId4" imgW="2743200" imgH="1447560" progId="Equation.3">
                  <p:embed/>
                  <p:pic>
                    <p:nvPicPr>
                      <p:cNvPr id="5" name="Object 6">
                        <a:extLst>
                          <a:ext uri="{FF2B5EF4-FFF2-40B4-BE49-F238E27FC236}">
                            <a16:creationId xmlns:a16="http://schemas.microsoft.com/office/drawing/2014/main" id="{5E10E882-6838-C573-1410-9917C07CDC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344" t="-15749" r="-1344" b="-15749"/>
                      <a:stretch>
                        <a:fillRect/>
                      </a:stretch>
                    </p:blipFill>
                    <p:spPr bwMode="auto">
                      <a:xfrm>
                        <a:off x="2259013" y="1374775"/>
                        <a:ext cx="5632450" cy="38163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38">
            <a:extLst>
              <a:ext uri="{FF2B5EF4-FFF2-40B4-BE49-F238E27FC236}">
                <a16:creationId xmlns:a16="http://schemas.microsoft.com/office/drawing/2014/main" id="{B6BFF51E-9D97-515F-D065-AB4EE5D0ADC9}"/>
              </a:ext>
            </a:extLst>
          </p:cNvPr>
          <p:cNvGrpSpPr>
            <a:grpSpLocks/>
          </p:cNvGrpSpPr>
          <p:nvPr/>
        </p:nvGrpSpPr>
        <p:grpSpPr bwMode="auto">
          <a:xfrm>
            <a:off x="1744663" y="4978400"/>
            <a:ext cx="6362700" cy="1257300"/>
            <a:chOff x="935" y="3136"/>
            <a:chExt cx="4008" cy="792"/>
          </a:xfrm>
        </p:grpSpPr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A1C79579-55DF-2D58-3F93-A0C0080D1D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8" y="3204"/>
              <a:ext cx="22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>
                  <a:solidFill>
                    <a:srgbClr val="0000CC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ECCD5E2A-6CDC-1562-D0B1-60952EB47E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0" y="3582"/>
              <a:ext cx="43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>
                  <a:solidFill>
                    <a:srgbClr val="0000CC"/>
                  </a:solidFill>
                  <a:latin typeface="Times New Roman" pitchFamily="18" charset="0"/>
                </a:rPr>
                <a:t>– </a:t>
              </a:r>
            </a:p>
          </p:txBody>
        </p:sp>
        <p:sp>
          <p:nvSpPr>
            <p:cNvPr id="12" name="AutoShape 10">
              <a:extLst>
                <a:ext uri="{FF2B5EF4-FFF2-40B4-BE49-F238E27FC236}">
                  <a16:creationId xmlns:a16="http://schemas.microsoft.com/office/drawing/2014/main" id="{B63CF7A6-1E42-1EE2-3F63-4DF78308F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7" y="3136"/>
              <a:ext cx="935" cy="792"/>
            </a:xfrm>
            <a:prstGeom prst="flowChartProcess">
              <a:avLst/>
            </a:prstGeom>
            <a:solidFill>
              <a:srgbClr val="CCFFFF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pt-BR" sz="2000">
                  <a:solidFill>
                    <a:schemeClr val="accent2"/>
                  </a:solidFill>
                  <a:latin typeface="Arial Narrow" pitchFamily="34" charset="0"/>
                </a:rPr>
                <a:t>Detector de </a:t>
              </a:r>
            </a:p>
            <a:p>
              <a:pPr>
                <a:lnSpc>
                  <a:spcPct val="90000"/>
                </a:lnSpc>
              </a:pPr>
              <a:r>
                <a:rPr lang="pt-BR" sz="2000">
                  <a:solidFill>
                    <a:schemeClr val="accent2"/>
                  </a:solidFill>
                  <a:latin typeface="Arial Narrow" pitchFamily="34" charset="0"/>
                </a:rPr>
                <a:t>envoltória</a:t>
              </a:r>
            </a:p>
            <a:p>
              <a:pPr>
                <a:lnSpc>
                  <a:spcPct val="90000"/>
                </a:lnSpc>
              </a:pPr>
              <a:r>
                <a:rPr lang="pt-BR" sz="2000">
                  <a:solidFill>
                    <a:schemeClr val="accent2"/>
                  </a:solidFill>
                  <a:latin typeface="Arial Narrow" pitchFamily="34" charset="0"/>
                </a:rPr>
                <a:t>(ideal)</a:t>
              </a:r>
              <a:endParaRPr lang="pt-BR" sz="2000" i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endParaRPr>
            </a:p>
          </p:txBody>
        </p:sp>
        <p:graphicFrame>
          <p:nvGraphicFramePr>
            <p:cNvPr id="13" name="Object 11">
              <a:extLst>
                <a:ext uri="{FF2B5EF4-FFF2-40B4-BE49-F238E27FC236}">
                  <a16:creationId xmlns:a16="http://schemas.microsoft.com/office/drawing/2014/main" id="{483B538B-0F59-C333-33DB-5355CAB1B1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35" y="3402"/>
            <a:ext cx="660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83920" imgH="228600" progId="Equation.3">
                    <p:embed/>
                  </p:oleObj>
                </mc:Choice>
                <mc:Fallback>
                  <p:oleObj name="Equation" r:id="rId6" imgW="583920" imgH="228600" progId="Equation.3">
                    <p:embed/>
                    <p:pic>
                      <p:nvPicPr>
                        <p:cNvPr id="13" name="Object 11">
                          <a:extLst>
                            <a:ext uri="{FF2B5EF4-FFF2-40B4-BE49-F238E27FC236}">
                              <a16:creationId xmlns:a16="http://schemas.microsoft.com/office/drawing/2014/main" id="{483B538B-0F59-C333-33DB-5355CAB1B12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5" y="3402"/>
                          <a:ext cx="660" cy="25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F77F8A7D-3B0C-2EEE-D115-29AF98749F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06" y="3256"/>
              <a:ext cx="12" cy="564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5" name="AutoShape 13">
              <a:extLst>
                <a:ext uri="{FF2B5EF4-FFF2-40B4-BE49-F238E27FC236}">
                  <a16:creationId xmlns:a16="http://schemas.microsoft.com/office/drawing/2014/main" id="{90BF5A1D-6FAD-2DE0-1C1D-4DB3A8C406A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36" y="3231"/>
              <a:ext cx="45" cy="45"/>
            </a:xfrm>
            <a:prstGeom prst="flowChartConnector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cxnSp>
          <p:nvCxnSpPr>
            <p:cNvPr id="16" name="AutoShape 14">
              <a:extLst>
                <a:ext uri="{FF2B5EF4-FFF2-40B4-BE49-F238E27FC236}">
                  <a16:creationId xmlns:a16="http://schemas.microsoft.com/office/drawing/2014/main" id="{58AF0411-19CC-9621-CAD7-8287CFD7FDBA}"/>
                </a:ext>
              </a:extLst>
            </p:cNvPr>
            <p:cNvCxnSpPr>
              <a:cxnSpLocks noChangeShapeType="1"/>
              <a:stCxn id="15" idx="6"/>
              <a:endCxn id="14" idx="1"/>
            </p:cNvCxnSpPr>
            <p:nvPr/>
          </p:nvCxnSpPr>
          <p:spPr bwMode="auto">
            <a:xfrm>
              <a:off x="1290" y="3254"/>
              <a:ext cx="527" cy="2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</p:cxnSp>
        <p:sp>
          <p:nvSpPr>
            <p:cNvPr id="17" name="AutoShape 15">
              <a:extLst>
                <a:ext uri="{FF2B5EF4-FFF2-40B4-BE49-F238E27FC236}">
                  <a16:creationId xmlns:a16="http://schemas.microsoft.com/office/drawing/2014/main" id="{44E46545-07CC-2DF3-32BE-DD7107946A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37" y="3794"/>
              <a:ext cx="45" cy="45"/>
            </a:xfrm>
            <a:prstGeom prst="flowChartConnector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cxnSp>
          <p:nvCxnSpPr>
            <p:cNvPr id="18" name="AutoShape 16">
              <a:extLst>
                <a:ext uri="{FF2B5EF4-FFF2-40B4-BE49-F238E27FC236}">
                  <a16:creationId xmlns:a16="http://schemas.microsoft.com/office/drawing/2014/main" id="{EEA28BA2-579D-8695-AB84-EF7105F1C64C}"/>
                </a:ext>
              </a:extLst>
            </p:cNvPr>
            <p:cNvCxnSpPr>
              <a:cxnSpLocks noChangeShapeType="1"/>
              <a:stCxn id="17" idx="6"/>
              <a:endCxn id="14" idx="0"/>
            </p:cNvCxnSpPr>
            <p:nvPr/>
          </p:nvCxnSpPr>
          <p:spPr bwMode="auto">
            <a:xfrm>
              <a:off x="1291" y="3817"/>
              <a:ext cx="515" cy="3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</p:cxnSp>
        <p:sp>
          <p:nvSpPr>
            <p:cNvPr id="19" name="Text Box 17">
              <a:extLst>
                <a:ext uri="{FF2B5EF4-FFF2-40B4-BE49-F238E27FC236}">
                  <a16:creationId xmlns:a16="http://schemas.microsoft.com/office/drawing/2014/main" id="{780E201B-53EA-3FAE-039D-C4908C8E91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6" y="3212"/>
              <a:ext cx="22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>
                  <a:solidFill>
                    <a:srgbClr val="0000CC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20" name="Text Box 18">
              <a:extLst>
                <a:ext uri="{FF2B5EF4-FFF2-40B4-BE49-F238E27FC236}">
                  <a16:creationId xmlns:a16="http://schemas.microsoft.com/office/drawing/2014/main" id="{FDB2E756-8AC7-56B3-670B-DA0D930CA9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" y="3582"/>
              <a:ext cx="32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>
                  <a:solidFill>
                    <a:srgbClr val="0000CC"/>
                  </a:solidFill>
                  <a:latin typeface="Times New Roman" pitchFamily="18" charset="0"/>
                </a:rPr>
                <a:t>– </a:t>
              </a:r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059EA65B-4C02-568C-6C90-8DD5A55D3E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39" y="3254"/>
              <a:ext cx="3" cy="564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cxnSp>
          <p:nvCxnSpPr>
            <p:cNvPr id="22" name="AutoShape 20">
              <a:extLst>
                <a:ext uri="{FF2B5EF4-FFF2-40B4-BE49-F238E27FC236}">
                  <a16:creationId xmlns:a16="http://schemas.microsoft.com/office/drawing/2014/main" id="{9BFB8BF3-E3A1-9696-1353-3A2BCA1927A5}"/>
                </a:ext>
              </a:extLst>
            </p:cNvPr>
            <p:cNvCxnSpPr>
              <a:cxnSpLocks noChangeShapeType="1"/>
              <a:stCxn id="36" idx="0"/>
              <a:endCxn id="21" idx="1"/>
            </p:cNvCxnSpPr>
            <p:nvPr/>
          </p:nvCxnSpPr>
          <p:spPr bwMode="auto">
            <a:xfrm flipH="1" flipV="1">
              <a:off x="2740" y="3254"/>
              <a:ext cx="1157" cy="1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</p:cxnSp>
        <p:graphicFrame>
          <p:nvGraphicFramePr>
            <p:cNvPr id="23" name="Object 21">
              <a:extLst>
                <a:ext uri="{FF2B5EF4-FFF2-40B4-BE49-F238E27FC236}">
                  <a16:creationId xmlns:a16="http://schemas.microsoft.com/office/drawing/2014/main" id="{AE47A8B9-5F12-42FD-161C-2C34A56526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79" y="3412"/>
            <a:ext cx="124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90360" imgH="203040" progId="Equation.3">
                    <p:embed/>
                  </p:oleObj>
                </mc:Choice>
                <mc:Fallback>
                  <p:oleObj name="Equation" r:id="rId8" imgW="990360" imgH="203040" progId="Equation.3">
                    <p:embed/>
                    <p:pic>
                      <p:nvPicPr>
                        <p:cNvPr id="23" name="Object 21">
                          <a:extLst>
                            <a:ext uri="{FF2B5EF4-FFF2-40B4-BE49-F238E27FC236}">
                              <a16:creationId xmlns:a16="http://schemas.microsoft.com/office/drawing/2014/main" id="{AE47A8B9-5F12-42FD-161C-2C34A56526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9" y="3412"/>
                          <a:ext cx="1248" cy="2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355C05AB-085E-209C-4DBC-296F17F2E51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064" y="3478"/>
              <a:ext cx="282" cy="120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36" y="141"/>
                </a:cxn>
                <a:cxn ang="0">
                  <a:pos x="110" y="0"/>
                </a:cxn>
                <a:cxn ang="0">
                  <a:pos x="184" y="142"/>
                </a:cxn>
                <a:cxn ang="0">
                  <a:pos x="260" y="0"/>
                </a:cxn>
                <a:cxn ang="0">
                  <a:pos x="332" y="142"/>
                </a:cxn>
                <a:cxn ang="0">
                  <a:pos x="404" y="0"/>
                </a:cxn>
                <a:cxn ang="0">
                  <a:pos x="482" y="142"/>
                </a:cxn>
                <a:cxn ang="0">
                  <a:pos x="554" y="0"/>
                </a:cxn>
                <a:cxn ang="0">
                  <a:pos x="588" y="78"/>
                </a:cxn>
              </a:cxnLst>
              <a:rect l="0" t="0" r="r" b="b"/>
              <a:pathLst>
                <a:path w="588" h="142">
                  <a:moveTo>
                    <a:pt x="0" y="74"/>
                  </a:moveTo>
                  <a:lnTo>
                    <a:pt x="36" y="141"/>
                  </a:lnTo>
                  <a:lnTo>
                    <a:pt x="110" y="0"/>
                  </a:lnTo>
                  <a:lnTo>
                    <a:pt x="184" y="142"/>
                  </a:lnTo>
                  <a:lnTo>
                    <a:pt x="260" y="0"/>
                  </a:lnTo>
                  <a:lnTo>
                    <a:pt x="332" y="142"/>
                  </a:lnTo>
                  <a:lnTo>
                    <a:pt x="404" y="0"/>
                  </a:lnTo>
                  <a:lnTo>
                    <a:pt x="482" y="142"/>
                  </a:lnTo>
                  <a:lnTo>
                    <a:pt x="554" y="0"/>
                  </a:lnTo>
                  <a:lnTo>
                    <a:pt x="588" y="78"/>
                  </a:lnTo>
                </a:path>
              </a:pathLst>
            </a:custGeom>
            <a:noFill/>
            <a:ln w="38100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25" name="Group 23">
              <a:extLst>
                <a:ext uri="{FF2B5EF4-FFF2-40B4-BE49-F238E27FC236}">
                  <a16:creationId xmlns:a16="http://schemas.microsoft.com/office/drawing/2014/main" id="{4CBA5288-8AB5-2DD7-DC50-3DE28F67F9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9" y="3180"/>
              <a:ext cx="108" cy="150"/>
              <a:chOff x="3957" y="1920"/>
              <a:chExt cx="108" cy="150"/>
            </a:xfrm>
          </p:grpSpPr>
          <p:grpSp>
            <p:nvGrpSpPr>
              <p:cNvPr id="35" name="Group 24">
                <a:extLst>
                  <a:ext uri="{FF2B5EF4-FFF2-40B4-BE49-F238E27FC236}">
                    <a16:creationId xmlns:a16="http://schemas.microsoft.com/office/drawing/2014/main" id="{C8CF4899-D841-14EB-6F64-3269231932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984" y="1920"/>
                <a:ext cx="54" cy="150"/>
                <a:chOff x="3984" y="1920"/>
                <a:chExt cx="51" cy="129"/>
              </a:xfrm>
            </p:grpSpPr>
            <p:sp>
              <p:nvSpPr>
                <p:cNvPr id="38" name="Line 25">
                  <a:extLst>
                    <a:ext uri="{FF2B5EF4-FFF2-40B4-BE49-F238E27FC236}">
                      <a16:creationId xmlns:a16="http://schemas.microsoft.com/office/drawing/2014/main" id="{7ABC4628-88D4-26E2-2684-604F87B857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84" y="1920"/>
                  <a:ext cx="0" cy="129"/>
                </a:xfrm>
                <a:prstGeom prst="line">
                  <a:avLst/>
                </a:prstGeom>
                <a:noFill/>
                <a:ln w="38100">
                  <a:solidFill>
                    <a:srgbClr val="0000C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39" name="Line 26">
                  <a:extLst>
                    <a:ext uri="{FF2B5EF4-FFF2-40B4-BE49-F238E27FC236}">
                      <a16:creationId xmlns:a16="http://schemas.microsoft.com/office/drawing/2014/main" id="{4B51DA24-E0E8-0A0B-20FE-5838E4D14D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035" y="1920"/>
                  <a:ext cx="0" cy="129"/>
                </a:xfrm>
                <a:prstGeom prst="line">
                  <a:avLst/>
                </a:prstGeom>
                <a:noFill/>
                <a:ln w="38100">
                  <a:solidFill>
                    <a:srgbClr val="0000C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</p:grpSp>
          <p:sp>
            <p:nvSpPr>
              <p:cNvPr id="36" name="Line 27">
                <a:extLst>
                  <a:ext uri="{FF2B5EF4-FFF2-40B4-BE49-F238E27FC236}">
                    <a16:creationId xmlns:a16="http://schemas.microsoft.com/office/drawing/2014/main" id="{C85E5692-A761-C2B5-50BB-5030ACAF54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57" y="1995"/>
                <a:ext cx="27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7" name="Line 28">
                <a:extLst>
                  <a:ext uri="{FF2B5EF4-FFF2-40B4-BE49-F238E27FC236}">
                    <a16:creationId xmlns:a16="http://schemas.microsoft.com/office/drawing/2014/main" id="{E67EFDF6-DE3E-A0E6-E072-37BD669389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38" y="1995"/>
                <a:ext cx="27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aphicFrame>
          <p:nvGraphicFramePr>
            <p:cNvPr id="26" name="Object 29">
              <a:extLst>
                <a:ext uri="{FF2B5EF4-FFF2-40B4-BE49-F238E27FC236}">
                  <a16:creationId xmlns:a16="http://schemas.microsoft.com/office/drawing/2014/main" id="{40DD5C80-7CFA-6C37-3F90-32A8D0C272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41" y="3422"/>
            <a:ext cx="602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33160" imgH="203040" progId="Equation.3">
                    <p:embed/>
                  </p:oleObj>
                </mc:Choice>
                <mc:Fallback>
                  <p:oleObj name="Equation" r:id="rId10" imgW="533160" imgH="203040" progId="Equation.3">
                    <p:embed/>
                    <p:pic>
                      <p:nvPicPr>
                        <p:cNvPr id="26" name="Object 29">
                          <a:extLst>
                            <a:ext uri="{FF2B5EF4-FFF2-40B4-BE49-F238E27FC236}">
                              <a16:creationId xmlns:a16="http://schemas.microsoft.com/office/drawing/2014/main" id="{40DD5C80-7CFA-6C37-3F90-32A8D0C272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1" y="3422"/>
                          <a:ext cx="602" cy="2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AutoShape 30">
              <a:extLst>
                <a:ext uri="{FF2B5EF4-FFF2-40B4-BE49-F238E27FC236}">
                  <a16:creationId xmlns:a16="http://schemas.microsoft.com/office/drawing/2014/main" id="{60FF1518-D43D-B758-AB1E-910BBEF3BA2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28" y="3231"/>
              <a:ext cx="45" cy="45"/>
            </a:xfrm>
            <a:prstGeom prst="flowChartConnector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cxnSp>
          <p:nvCxnSpPr>
            <p:cNvPr id="28" name="AutoShape 31">
              <a:extLst>
                <a:ext uri="{FF2B5EF4-FFF2-40B4-BE49-F238E27FC236}">
                  <a16:creationId xmlns:a16="http://schemas.microsoft.com/office/drawing/2014/main" id="{83F27DB5-EFA8-7D85-2436-173A987DF14C}"/>
                </a:ext>
              </a:extLst>
            </p:cNvPr>
            <p:cNvCxnSpPr>
              <a:cxnSpLocks noChangeShapeType="1"/>
              <a:stCxn id="27" idx="2"/>
              <a:endCxn id="37" idx="1"/>
            </p:cNvCxnSpPr>
            <p:nvPr/>
          </p:nvCxnSpPr>
          <p:spPr bwMode="auto">
            <a:xfrm flipH="1">
              <a:off x="3951" y="3254"/>
              <a:ext cx="668" cy="1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</p:cxnSp>
        <p:sp>
          <p:nvSpPr>
            <p:cNvPr id="29" name="AutoShape 32">
              <a:extLst>
                <a:ext uri="{FF2B5EF4-FFF2-40B4-BE49-F238E27FC236}">
                  <a16:creationId xmlns:a16="http://schemas.microsoft.com/office/drawing/2014/main" id="{5658B669-BB8E-4FEA-7D9E-F6834662413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29" y="3794"/>
              <a:ext cx="45" cy="45"/>
            </a:xfrm>
            <a:prstGeom prst="flowChartConnector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cxnSp>
          <p:nvCxnSpPr>
            <p:cNvPr id="30" name="AutoShape 33">
              <a:extLst>
                <a:ext uri="{FF2B5EF4-FFF2-40B4-BE49-F238E27FC236}">
                  <a16:creationId xmlns:a16="http://schemas.microsoft.com/office/drawing/2014/main" id="{7094DDC0-0954-2B6C-7CAD-A69C4A144B90}"/>
                </a:ext>
              </a:extLst>
            </p:cNvPr>
            <p:cNvCxnSpPr>
              <a:cxnSpLocks noChangeShapeType="1"/>
              <a:stCxn id="29" idx="2"/>
              <a:endCxn id="21" idx="0"/>
            </p:cNvCxnSpPr>
            <p:nvPr/>
          </p:nvCxnSpPr>
          <p:spPr bwMode="auto">
            <a:xfrm flipH="1">
              <a:off x="2743" y="3817"/>
              <a:ext cx="1877" cy="1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</p:cxnSp>
        <p:sp>
          <p:nvSpPr>
            <p:cNvPr id="31" name="Line 34">
              <a:extLst>
                <a:ext uri="{FF2B5EF4-FFF2-40B4-BE49-F238E27FC236}">
                  <a16:creationId xmlns:a16="http://schemas.microsoft.com/office/drawing/2014/main" id="{E86DA2F4-51F5-99E5-AE96-610F0975B4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8" y="3674"/>
              <a:ext cx="0" cy="142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2" name="Line 35">
              <a:extLst>
                <a:ext uri="{FF2B5EF4-FFF2-40B4-BE49-F238E27FC236}">
                  <a16:creationId xmlns:a16="http://schemas.microsoft.com/office/drawing/2014/main" id="{15CE3113-C81F-E7FA-6765-4620BB653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0" y="3246"/>
              <a:ext cx="0" cy="159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3" name="Text Box 36">
              <a:extLst>
                <a:ext uri="{FF2B5EF4-FFF2-40B4-BE49-F238E27FC236}">
                  <a16:creationId xmlns:a16="http://schemas.microsoft.com/office/drawing/2014/main" id="{93E8C4D5-3A88-915B-E41B-881CBF12A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2" y="3202"/>
              <a:ext cx="22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>
                  <a:solidFill>
                    <a:srgbClr val="0000CC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4" name="Text Box 37">
              <a:extLst>
                <a:ext uri="{FF2B5EF4-FFF2-40B4-BE49-F238E27FC236}">
                  <a16:creationId xmlns:a16="http://schemas.microsoft.com/office/drawing/2014/main" id="{E0B5AAB0-7864-9062-35CF-FCF094288D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" y="3580"/>
              <a:ext cx="43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>
                  <a:solidFill>
                    <a:srgbClr val="0000CC"/>
                  </a:solidFill>
                  <a:latin typeface="Times New Roman" pitchFamily="18" charset="0"/>
                </a:rPr>
                <a:t>– </a:t>
              </a:r>
            </a:p>
          </p:txBody>
        </p:sp>
      </p:grpSp>
      <p:sp>
        <p:nvSpPr>
          <p:cNvPr id="40" name="Text Box 39">
            <a:extLst>
              <a:ext uri="{FF2B5EF4-FFF2-40B4-BE49-F238E27FC236}">
                <a16:creationId xmlns:a16="http://schemas.microsoft.com/office/drawing/2014/main" id="{98E4001D-4335-2736-9222-C4EAE96DF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8150" y="2965451"/>
            <a:ext cx="2609850" cy="83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lnSpc>
                <a:spcPct val="90000"/>
              </a:lnSpc>
              <a:spcBef>
                <a:spcPct val="50000"/>
              </a:spcBef>
            </a:pPr>
            <a:r>
              <a:rPr lang="pt-BR">
                <a:solidFill>
                  <a:schemeClr val="accent2"/>
                </a:solidFill>
                <a:latin typeface="Arial Narrow" pitchFamily="34" charset="0"/>
              </a:rPr>
              <a:t>Usando expansão binomial e desprezando os termos de maior ordem.</a:t>
            </a:r>
          </a:p>
        </p:txBody>
      </p:sp>
      <p:sp>
        <p:nvSpPr>
          <p:cNvPr id="41" name="AutoShape 40">
            <a:extLst>
              <a:ext uri="{FF2B5EF4-FFF2-40B4-BE49-F238E27FC236}">
                <a16:creationId xmlns:a16="http://schemas.microsoft.com/office/drawing/2014/main" id="{BB9B30F9-B913-3D5E-7E5F-706EAD8C8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700" y="2984500"/>
            <a:ext cx="165100" cy="927100"/>
          </a:xfrm>
          <a:prstGeom prst="curvedLeftArrow">
            <a:avLst>
              <a:gd name="adj1" fmla="val 112308"/>
              <a:gd name="adj2" fmla="val 224615"/>
              <a:gd name="adj3" fmla="val 33333"/>
            </a:avLst>
          </a:prstGeom>
          <a:solidFill>
            <a:srgbClr val="CCFF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2" name="Text Box 41">
            <a:extLst>
              <a:ext uri="{FF2B5EF4-FFF2-40B4-BE49-F238E27FC236}">
                <a16:creationId xmlns:a16="http://schemas.microsoft.com/office/drawing/2014/main" id="{22B59114-8E18-FD49-7A6B-902DDB397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2150" y="4743451"/>
            <a:ext cx="2228850" cy="58737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>
            <a:outerShdw dist="89803" dir="2700000" algn="ctr" rotWithShape="0">
              <a:srgbClr val="DDDDDD"/>
            </a:outerShdw>
          </a:effectLst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pt-BR">
                <a:solidFill>
                  <a:schemeClr val="accent2"/>
                </a:solidFill>
                <a:latin typeface="Arial Narrow" pitchFamily="34" charset="0"/>
              </a:rPr>
              <a:t>A eficiência do SSB+C é extremamente baixa</a:t>
            </a:r>
          </a:p>
        </p:txBody>
      </p:sp>
      <p:sp>
        <p:nvSpPr>
          <p:cNvPr id="43" name="Arc 48">
            <a:extLst>
              <a:ext uri="{FF2B5EF4-FFF2-40B4-BE49-F238E27FC236}">
                <a16:creationId xmlns:a16="http://schemas.microsoft.com/office/drawing/2014/main" id="{C46B03D3-E947-EE5C-5339-01B5A29FCD01}"/>
              </a:ext>
            </a:extLst>
          </p:cNvPr>
          <p:cNvSpPr>
            <a:spLocks/>
          </p:cNvSpPr>
          <p:nvPr/>
        </p:nvSpPr>
        <p:spPr bwMode="gray">
          <a:xfrm>
            <a:off x="7778750" y="4495800"/>
            <a:ext cx="1644650" cy="2413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76200">
            <a:solidFill>
              <a:schemeClr val="folHlink"/>
            </a:solidFill>
            <a:round/>
            <a:headEnd/>
            <a:tailEnd type="stealth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44" name="Object 50">
            <a:extLst>
              <a:ext uri="{FF2B5EF4-FFF2-40B4-BE49-F238E27FC236}">
                <a16:creationId xmlns:a16="http://schemas.microsoft.com/office/drawing/2014/main" id="{DB6292C1-B3E1-033A-6CE3-7B24DD7DF1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74101" y="1919288"/>
          <a:ext cx="1770063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04840" imgH="558720" progId="Equation.3">
                  <p:embed/>
                </p:oleObj>
              </mc:Choice>
              <mc:Fallback>
                <p:oleObj name="Equation" r:id="rId12" imgW="1104840" imgH="558720" progId="Equation.3">
                  <p:embed/>
                  <p:pic>
                    <p:nvPicPr>
                      <p:cNvPr id="44" name="Object 50">
                        <a:extLst>
                          <a:ext uri="{FF2B5EF4-FFF2-40B4-BE49-F238E27FC236}">
                            <a16:creationId xmlns:a16="http://schemas.microsoft.com/office/drawing/2014/main" id="{DB6292C1-B3E1-033A-6CE3-7B24DD7DF1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4101" y="1919288"/>
                        <a:ext cx="1770063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Freeform 51">
            <a:extLst>
              <a:ext uri="{FF2B5EF4-FFF2-40B4-BE49-F238E27FC236}">
                <a16:creationId xmlns:a16="http://schemas.microsoft.com/office/drawing/2014/main" id="{A4BD71FA-A405-2CE0-ABF0-A39B618C77C3}"/>
              </a:ext>
            </a:extLst>
          </p:cNvPr>
          <p:cNvSpPr>
            <a:spLocks/>
          </p:cNvSpPr>
          <p:nvPr/>
        </p:nvSpPr>
        <p:spPr bwMode="gray">
          <a:xfrm>
            <a:off x="10077451" y="2590800"/>
            <a:ext cx="184731" cy="369332"/>
          </a:xfrm>
          <a:custGeom>
            <a:avLst/>
            <a:gdLst/>
            <a:ahLst/>
            <a:cxnLst>
              <a:cxn ang="0">
                <a:pos x="0" y="348"/>
              </a:cxn>
              <a:cxn ang="0">
                <a:pos x="300" y="144"/>
              </a:cxn>
              <a:cxn ang="0">
                <a:pos x="216" y="0"/>
              </a:cxn>
            </a:cxnLst>
            <a:rect l="0" t="0" r="r" b="b"/>
            <a:pathLst>
              <a:path w="336" h="348">
                <a:moveTo>
                  <a:pt x="0" y="348"/>
                </a:moveTo>
                <a:cubicBezTo>
                  <a:pt x="132" y="275"/>
                  <a:pt x="264" y="202"/>
                  <a:pt x="300" y="144"/>
                </a:cubicBezTo>
                <a:cubicBezTo>
                  <a:pt x="336" y="86"/>
                  <a:pt x="276" y="43"/>
                  <a:pt x="216" y="0"/>
                </a:cubicBezTo>
              </a:path>
            </a:pathLst>
          </a:custGeom>
          <a:noFill/>
          <a:ln w="57150" cap="flat" cmpd="sng">
            <a:solidFill>
              <a:schemeClr val="bg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493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A2525-E119-EFCC-9556-D24ABFE08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SSB</a:t>
            </a:r>
            <a:br>
              <a:rPr lang="pt-BR" dirty="0"/>
            </a:br>
            <a:r>
              <a:rPr lang="pt-BR" dirty="0"/>
              <a:t>Utilização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2A1A3B-D5C8-F52C-B02C-A7B4F94D4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Comunicações Marítimas Aeronáuticas em HF (entre 3 MHz e 30 MHz)</a:t>
            </a:r>
          </a:p>
          <a:p>
            <a:pPr lvl="1"/>
            <a:r>
              <a:rPr lang="pt-BR" dirty="0"/>
              <a:t>Longo alcance</a:t>
            </a:r>
          </a:p>
          <a:p>
            <a:pPr lvl="1"/>
            <a:r>
              <a:rPr lang="pt-BR" dirty="0"/>
              <a:t>Até hoje em dia</a:t>
            </a:r>
          </a:p>
          <a:p>
            <a:r>
              <a:rPr lang="pt-BR" dirty="0" err="1"/>
              <a:t>Rádio-Amador</a:t>
            </a:r>
            <a:r>
              <a:rPr lang="pt-BR" dirty="0"/>
              <a:t> em HF</a:t>
            </a:r>
          </a:p>
          <a:p>
            <a:r>
              <a:rPr lang="pt-BR" dirty="0"/>
              <a:t>Multiplexação de Sinais de voz em telefonia analógica (até anos 1980)</a:t>
            </a:r>
          </a:p>
        </p:txBody>
      </p:sp>
    </p:spTree>
    <p:extLst>
      <p:ext uri="{BB962C8B-B14F-4D97-AF65-F5344CB8AC3E}">
        <p14:creationId xmlns:p14="http://schemas.microsoft.com/office/powerpoint/2010/main" val="1042678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40C5E-4633-F23C-E9A0-21100F40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AM-VSB</a:t>
            </a:r>
            <a:br>
              <a:rPr lang="pt-BR" dirty="0"/>
            </a:br>
            <a:r>
              <a:rPr lang="pt-BR" dirty="0"/>
              <a:t>Vestigial </a:t>
            </a:r>
            <a:r>
              <a:rPr lang="pt-BR" dirty="0" err="1"/>
              <a:t>Side</a:t>
            </a:r>
            <a:r>
              <a:rPr lang="pt-BR" dirty="0"/>
              <a:t> Band</a:t>
            </a:r>
          </a:p>
        </p:txBody>
      </p:sp>
    </p:spTree>
    <p:extLst>
      <p:ext uri="{BB962C8B-B14F-4D97-AF65-F5344CB8AC3E}">
        <p14:creationId xmlns:p14="http://schemas.microsoft.com/office/powerpoint/2010/main" val="4148425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20">
            <a:extLst>
              <a:ext uri="{FF2B5EF4-FFF2-40B4-BE49-F238E27FC236}">
                <a16:creationId xmlns:a16="http://schemas.microsoft.com/office/drawing/2014/main" id="{26594BF2-3F06-A267-C98B-71489071E24F}"/>
              </a:ext>
            </a:extLst>
          </p:cNvPr>
          <p:cNvSpPr>
            <a:spLocks/>
          </p:cNvSpPr>
          <p:nvPr/>
        </p:nvSpPr>
        <p:spPr bwMode="auto">
          <a:xfrm>
            <a:off x="3254148" y="4875552"/>
            <a:ext cx="715958" cy="1208325"/>
          </a:xfrm>
          <a:custGeom>
            <a:avLst/>
            <a:gdLst/>
            <a:ahLst/>
            <a:cxnLst>
              <a:cxn ang="0">
                <a:pos x="0" y="659"/>
              </a:cxn>
              <a:cxn ang="0">
                <a:pos x="116" y="577"/>
              </a:cxn>
              <a:cxn ang="0">
                <a:pos x="476" y="13"/>
              </a:cxn>
              <a:cxn ang="0">
                <a:pos x="984" y="657"/>
              </a:cxn>
            </a:cxnLst>
            <a:rect l="0" t="0" r="r" b="b"/>
            <a:pathLst>
              <a:path w="984" h="685">
                <a:moveTo>
                  <a:pt x="0" y="659"/>
                </a:moveTo>
                <a:cubicBezTo>
                  <a:pt x="19" y="645"/>
                  <a:pt x="37" y="685"/>
                  <a:pt x="116" y="577"/>
                </a:cubicBezTo>
                <a:cubicBezTo>
                  <a:pt x="195" y="469"/>
                  <a:pt x="331" y="0"/>
                  <a:pt x="476" y="13"/>
                </a:cubicBezTo>
                <a:cubicBezTo>
                  <a:pt x="621" y="26"/>
                  <a:pt x="878" y="523"/>
                  <a:pt x="984" y="657"/>
                </a:cubicBezTo>
              </a:path>
            </a:pathLst>
          </a:custGeom>
          <a:solidFill>
            <a:srgbClr val="FFB7B7"/>
          </a:solidFill>
          <a:ln w="28575" cap="flat" cmpd="sng">
            <a:solidFill>
              <a:srgbClr val="FF0000"/>
            </a:solidFill>
            <a:prstDash val="solid"/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pt-BR"/>
          </a:p>
        </p:txBody>
      </p:sp>
      <p:sp>
        <p:nvSpPr>
          <p:cNvPr id="3" name="Freeform 28">
            <a:extLst>
              <a:ext uri="{FF2B5EF4-FFF2-40B4-BE49-F238E27FC236}">
                <a16:creationId xmlns:a16="http://schemas.microsoft.com/office/drawing/2014/main" id="{9F00C9EF-FCC7-38EF-A229-C697A3B43B0F}"/>
              </a:ext>
            </a:extLst>
          </p:cNvPr>
          <p:cNvSpPr>
            <a:spLocks/>
          </p:cNvSpPr>
          <p:nvPr/>
        </p:nvSpPr>
        <p:spPr bwMode="auto">
          <a:xfrm flipH="1">
            <a:off x="3635374" y="4884182"/>
            <a:ext cx="1166811" cy="1260476"/>
          </a:xfrm>
          <a:custGeom>
            <a:avLst/>
            <a:gdLst/>
            <a:ahLst/>
            <a:cxnLst>
              <a:cxn ang="0">
                <a:pos x="732" y="780"/>
              </a:cxn>
              <a:cxn ang="0">
                <a:pos x="732" y="0"/>
              </a:cxn>
              <a:cxn ang="0">
                <a:pos x="633" y="21"/>
              </a:cxn>
              <a:cxn ang="0">
                <a:pos x="525" y="81"/>
              </a:cxn>
              <a:cxn ang="0">
                <a:pos x="327" y="291"/>
              </a:cxn>
              <a:cxn ang="0">
                <a:pos x="0" y="780"/>
              </a:cxn>
              <a:cxn ang="0">
                <a:pos x="732" y="780"/>
              </a:cxn>
            </a:cxnLst>
            <a:rect l="0" t="0" r="r" b="b"/>
            <a:pathLst>
              <a:path w="732" h="780">
                <a:moveTo>
                  <a:pt x="732" y="780"/>
                </a:moveTo>
                <a:lnTo>
                  <a:pt x="732" y="0"/>
                </a:lnTo>
                <a:lnTo>
                  <a:pt x="633" y="21"/>
                </a:lnTo>
                <a:lnTo>
                  <a:pt x="525" y="81"/>
                </a:lnTo>
                <a:lnTo>
                  <a:pt x="327" y="291"/>
                </a:lnTo>
                <a:lnTo>
                  <a:pt x="0" y="780"/>
                </a:lnTo>
                <a:lnTo>
                  <a:pt x="732" y="780"/>
                </a:lnTo>
                <a:close/>
              </a:path>
            </a:pathLst>
          </a:custGeom>
          <a:solidFill>
            <a:srgbClr val="99CCFF"/>
          </a:solidFill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C10DD19-09BB-0951-AA30-A580A6ACD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 para o uso da técnica VSB</a:t>
            </a:r>
          </a:p>
        </p:txBody>
      </p:sp>
      <p:sp>
        <p:nvSpPr>
          <p:cNvPr id="4" name="Freeform 27">
            <a:extLst>
              <a:ext uri="{FF2B5EF4-FFF2-40B4-BE49-F238E27FC236}">
                <a16:creationId xmlns:a16="http://schemas.microsoft.com/office/drawing/2014/main" id="{CB7D465B-0A4C-5E22-3096-222E607A091A}"/>
              </a:ext>
            </a:extLst>
          </p:cNvPr>
          <p:cNvSpPr>
            <a:spLocks/>
          </p:cNvSpPr>
          <p:nvPr/>
        </p:nvSpPr>
        <p:spPr bwMode="auto">
          <a:xfrm>
            <a:off x="2471737" y="4877832"/>
            <a:ext cx="184731" cy="369332"/>
          </a:xfrm>
          <a:custGeom>
            <a:avLst/>
            <a:gdLst/>
            <a:ahLst/>
            <a:cxnLst>
              <a:cxn ang="0">
                <a:pos x="732" y="780"/>
              </a:cxn>
              <a:cxn ang="0">
                <a:pos x="732" y="0"/>
              </a:cxn>
              <a:cxn ang="0">
                <a:pos x="633" y="21"/>
              </a:cxn>
              <a:cxn ang="0">
                <a:pos x="525" y="81"/>
              </a:cxn>
              <a:cxn ang="0">
                <a:pos x="327" y="291"/>
              </a:cxn>
              <a:cxn ang="0">
                <a:pos x="0" y="780"/>
              </a:cxn>
              <a:cxn ang="0">
                <a:pos x="732" y="780"/>
              </a:cxn>
            </a:cxnLst>
            <a:rect l="0" t="0" r="r" b="b"/>
            <a:pathLst>
              <a:path w="732" h="780">
                <a:moveTo>
                  <a:pt x="732" y="780"/>
                </a:moveTo>
                <a:lnTo>
                  <a:pt x="732" y="0"/>
                </a:lnTo>
                <a:lnTo>
                  <a:pt x="633" y="21"/>
                </a:lnTo>
                <a:lnTo>
                  <a:pt x="525" y="81"/>
                </a:lnTo>
                <a:lnTo>
                  <a:pt x="327" y="291"/>
                </a:lnTo>
                <a:lnTo>
                  <a:pt x="0" y="780"/>
                </a:lnTo>
                <a:lnTo>
                  <a:pt x="732" y="780"/>
                </a:lnTo>
                <a:close/>
              </a:path>
            </a:pathLst>
          </a:custGeom>
          <a:solidFill>
            <a:srgbClr val="CCFFFF"/>
          </a:solidFill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pt-BR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E3084B77-DE29-7B1C-45F2-E619488C3464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5391150" y="4552951"/>
            <a:ext cx="3698448" cy="646331"/>
          </a:xfrm>
          <a:prstGeom prst="rect">
            <a:avLst/>
          </a:prstGeom>
          <a:solidFill>
            <a:srgbClr val="009999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pt-BR">
                <a:solidFill>
                  <a:srgbClr val="FFFF00"/>
                </a:solidFill>
                <a:latin typeface="Arial" charset="0"/>
              </a:rPr>
              <a:t>Largura de banda de transmissão:</a:t>
            </a:r>
          </a:p>
          <a:p>
            <a:r>
              <a:rPr lang="pt-BR" i="1">
                <a:solidFill>
                  <a:srgbClr val="FFFF00"/>
                </a:solidFill>
                <a:latin typeface="Times New Roman" pitchFamily="18" charset="0"/>
              </a:rPr>
              <a:t>B</a:t>
            </a:r>
            <a:r>
              <a:rPr lang="pt-BR" i="1" baseline="-25000">
                <a:solidFill>
                  <a:srgbClr val="FFFF00"/>
                </a:solidFill>
                <a:latin typeface="Times New Roman" pitchFamily="18" charset="0"/>
              </a:rPr>
              <a:t>T </a:t>
            </a:r>
            <a:r>
              <a:rPr lang="pt-BR">
                <a:solidFill>
                  <a:srgbClr val="FFFF00"/>
                </a:solidFill>
                <a:latin typeface="Arial" charset="0"/>
              </a:rPr>
              <a:t> =  </a:t>
            </a:r>
            <a:r>
              <a:rPr lang="pt-BR" i="1">
                <a:solidFill>
                  <a:srgbClr val="FFFF00"/>
                </a:solidFill>
                <a:latin typeface="Times New Roman" pitchFamily="18" charset="0"/>
              </a:rPr>
              <a:t>B</a:t>
            </a:r>
            <a:r>
              <a:rPr lang="pt-BR" i="1" baseline="-25000">
                <a:solidFill>
                  <a:srgbClr val="FFFF00"/>
                </a:solidFill>
                <a:latin typeface="Times New Roman" pitchFamily="18" charset="0"/>
              </a:rPr>
              <a:t>m</a:t>
            </a:r>
            <a:r>
              <a:rPr lang="pt-BR" i="1">
                <a:solidFill>
                  <a:srgbClr val="FFFF00"/>
                </a:solidFill>
                <a:latin typeface="Times New Roman" pitchFamily="18" charset="0"/>
              </a:rPr>
              <a:t>+ </a:t>
            </a:r>
            <a:r>
              <a:rPr lang="pt-BR" i="1">
                <a:solidFill>
                  <a:srgbClr val="FFFF00"/>
                </a:solidFill>
                <a:latin typeface="Times New Roman" pitchFamily="18" charset="0"/>
                <a:sym typeface="Symbol" pitchFamily="18" charset="2"/>
              </a:rPr>
              <a:t>B</a:t>
            </a:r>
            <a:r>
              <a:rPr lang="pt-BR" i="1" baseline="-25000">
                <a:solidFill>
                  <a:srgbClr val="FFFF00"/>
                </a:solidFill>
                <a:latin typeface="Times New Roman" pitchFamily="18" charset="0"/>
                <a:sym typeface="Symbol" pitchFamily="18" charset="2"/>
              </a:rPr>
              <a:t>v</a:t>
            </a:r>
            <a:endParaRPr lang="pt-BR" i="1" baseline="-25000">
              <a:solidFill>
                <a:srgbClr val="FFFF00"/>
              </a:solidFill>
              <a:latin typeface="Times New Roman" pitchFamily="18" charset="0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E54F1F9A-E03C-E104-BFA1-00B9BE613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868" y="1130559"/>
            <a:ext cx="9400263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85750" indent="-28575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CC"/>
                </a:solidFill>
                <a:latin typeface="Arial Narrow" pitchFamily="34" charset="0"/>
              </a:rPr>
              <a:t>Dificuldade para gerar um sinal SSB </a:t>
            </a:r>
          </a:p>
          <a:p>
            <a:pPr marL="285750" indent="-28575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pt-BR" sz="2400" i="1" dirty="0">
                <a:solidFill>
                  <a:srgbClr val="0000CC"/>
                </a:solidFill>
                <a:latin typeface="Arial Narrow" pitchFamily="34" charset="0"/>
              </a:rPr>
              <a:t>banda lateral vestigial (vestigial </a:t>
            </a:r>
            <a:r>
              <a:rPr lang="pt-BR" sz="2400" i="1" dirty="0" err="1">
                <a:solidFill>
                  <a:srgbClr val="0000CC"/>
                </a:solidFill>
                <a:latin typeface="Arial Narrow" pitchFamily="34" charset="0"/>
              </a:rPr>
              <a:t>sideband</a:t>
            </a:r>
            <a:r>
              <a:rPr lang="pt-BR" sz="2400" dirty="0">
                <a:solidFill>
                  <a:srgbClr val="0000CC"/>
                </a:solidFill>
                <a:latin typeface="Arial Narrow" pitchFamily="34" charset="0"/>
              </a:rPr>
              <a:t> – VSB).</a:t>
            </a:r>
          </a:p>
          <a:p>
            <a:pPr marL="742950" lvl="1" indent="-28575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uma das bandas laterais é preservada quase intacta enquanto que da outra banda lateral é deixado apenas um resíduo, ou </a:t>
            </a:r>
            <a:r>
              <a:rPr lang="pt-BR" sz="2400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vestígio, </a:t>
            </a:r>
            <a:r>
              <a:rPr lang="pt-BR" sz="24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que compensa a parte afetada da outra banda lateral</a:t>
            </a:r>
            <a:r>
              <a:rPr lang="pt-BR" sz="2400" dirty="0">
                <a:solidFill>
                  <a:srgbClr val="0000CC"/>
                </a:solidFill>
                <a:latin typeface="Arial Narrow" pitchFamily="34" charset="0"/>
              </a:rPr>
              <a:t>.</a:t>
            </a:r>
          </a:p>
          <a:p>
            <a:pPr marL="742950" lvl="1" indent="-28575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CC"/>
                </a:solidFill>
                <a:latin typeface="Arial Narrow" pitchFamily="34" charset="0"/>
              </a:rPr>
              <a:t>A largura espectral de um sinal VSB é maior que a do sinal SSB correspondente</a:t>
            </a:r>
            <a:r>
              <a:rPr lang="pt-BR" sz="2400" i="1" dirty="0">
                <a:solidFill>
                  <a:srgbClr val="0000CC"/>
                </a:solidFill>
                <a:latin typeface="Arial Narrow" pitchFamily="34" charset="0"/>
              </a:rPr>
              <a:t>, </a:t>
            </a:r>
            <a:r>
              <a:rPr lang="pt-BR" sz="2400" dirty="0">
                <a:solidFill>
                  <a:srgbClr val="0000CC"/>
                </a:solidFill>
                <a:latin typeface="Arial Narrow" pitchFamily="34" charset="0"/>
              </a:rPr>
              <a:t>mas é bem menor que a largura espectral de um sinal DSB. 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5AE7D64A-02D6-0EBC-F44F-826EE3DD4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8450" y="5600700"/>
            <a:ext cx="34671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>
                <a:solidFill>
                  <a:schemeClr val="accent2"/>
                </a:solidFill>
                <a:latin typeface="Arial Narrow" pitchFamily="34" charset="0"/>
              </a:rPr>
              <a:t>Tipicamente</a:t>
            </a:r>
            <a:r>
              <a:rPr lang="pt-BR">
                <a:solidFill>
                  <a:schemeClr val="accent2"/>
                </a:solidFill>
                <a:latin typeface="Times New Roman" pitchFamily="18" charset="0"/>
              </a:rPr>
              <a:t>, </a:t>
            </a:r>
            <a:r>
              <a:rPr lang="pt-BR" i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B</a:t>
            </a:r>
            <a:r>
              <a:rPr lang="pt-BR" i="1" baseline="-2500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v </a:t>
            </a:r>
            <a:r>
              <a:rPr lang="pt-BR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</a:t>
            </a:r>
            <a:r>
              <a:rPr lang="pt-BR" i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pt-BR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0,25 </a:t>
            </a:r>
            <a:r>
              <a:rPr lang="pt-BR" i="1">
                <a:solidFill>
                  <a:schemeClr val="accent2"/>
                </a:solidFill>
                <a:latin typeface="Times New Roman" pitchFamily="18" charset="0"/>
              </a:rPr>
              <a:t>B</a:t>
            </a:r>
            <a:r>
              <a:rPr lang="pt-BR" i="1" baseline="-25000">
                <a:solidFill>
                  <a:schemeClr val="accent2"/>
                </a:solidFill>
                <a:latin typeface="Times New Roman" pitchFamily="18" charset="0"/>
              </a:rPr>
              <a:t>m</a:t>
            </a:r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B26F7D50-3D5E-21C3-E74E-A5E33F9392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0562" y="6131957"/>
            <a:ext cx="3298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9" name="Object 11">
            <a:extLst>
              <a:ext uri="{FF2B5EF4-FFF2-40B4-BE49-F238E27FC236}">
                <a16:creationId xmlns:a16="http://schemas.microsoft.com/office/drawing/2014/main" id="{E131CE63-F115-FFF3-2AFB-5B7796E685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6647626"/>
              </p:ext>
            </p:extLst>
          </p:nvPr>
        </p:nvGraphicFramePr>
        <p:xfrm>
          <a:off x="3481386" y="6144658"/>
          <a:ext cx="306388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440" imgH="228600" progId="Equation.3">
                  <p:embed/>
                </p:oleObj>
              </mc:Choice>
              <mc:Fallback>
                <p:oleObj name="Equation" r:id="rId3" imgW="190440" imgH="228600" progId="Equation.3">
                  <p:embed/>
                  <p:pic>
                    <p:nvPicPr>
                      <p:cNvPr id="9" name="Object 11">
                        <a:extLst>
                          <a:ext uri="{FF2B5EF4-FFF2-40B4-BE49-F238E27FC236}">
                            <a16:creationId xmlns:a16="http://schemas.microsoft.com/office/drawing/2014/main" id="{E131CE63-F115-FFF3-2AFB-5B7796E685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386" y="6144658"/>
                        <a:ext cx="306388" cy="366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>
            <a:extLst>
              <a:ext uri="{FF2B5EF4-FFF2-40B4-BE49-F238E27FC236}">
                <a16:creationId xmlns:a16="http://schemas.microsoft.com/office/drawing/2014/main" id="{E9FB0BDA-FE37-1A6A-EF73-6FFAEB6F9C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275421"/>
              </p:ext>
            </p:extLst>
          </p:nvPr>
        </p:nvGraphicFramePr>
        <p:xfrm>
          <a:off x="4365624" y="6144658"/>
          <a:ext cx="836612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20560" imgH="228600" progId="Equation.3">
                  <p:embed/>
                </p:oleObj>
              </mc:Choice>
              <mc:Fallback>
                <p:oleObj name="Equation" r:id="rId5" imgW="520560" imgH="228600" progId="Equation.3">
                  <p:embed/>
                  <p:pic>
                    <p:nvPicPr>
                      <p:cNvPr id="10" name="Object 12">
                        <a:extLst>
                          <a:ext uri="{FF2B5EF4-FFF2-40B4-BE49-F238E27FC236}">
                            <a16:creationId xmlns:a16="http://schemas.microsoft.com/office/drawing/2014/main" id="{E9FB0BDA-FE37-1A6A-EF73-6FFAEB6F9C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24" y="6144658"/>
                        <a:ext cx="836612" cy="366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>
            <a:extLst>
              <a:ext uri="{FF2B5EF4-FFF2-40B4-BE49-F238E27FC236}">
                <a16:creationId xmlns:a16="http://schemas.microsoft.com/office/drawing/2014/main" id="{0E02A28B-E8B1-2215-2C48-67CB950E65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043327"/>
              </p:ext>
            </p:extLst>
          </p:nvPr>
        </p:nvGraphicFramePr>
        <p:xfrm>
          <a:off x="2076450" y="6144658"/>
          <a:ext cx="81597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07960" imgH="228600" progId="Equation.3">
                  <p:embed/>
                </p:oleObj>
              </mc:Choice>
              <mc:Fallback>
                <p:oleObj name="Equation" r:id="rId7" imgW="507960" imgH="228600" progId="Equation.3">
                  <p:embed/>
                  <p:pic>
                    <p:nvPicPr>
                      <p:cNvPr id="11" name="Object 13">
                        <a:extLst>
                          <a:ext uri="{FF2B5EF4-FFF2-40B4-BE49-F238E27FC236}">
                            <a16:creationId xmlns:a16="http://schemas.microsoft.com/office/drawing/2014/main" id="{0E02A28B-E8B1-2215-2C48-67CB950E65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6144658"/>
                        <a:ext cx="815975" cy="366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Line 15">
            <a:extLst>
              <a:ext uri="{FF2B5EF4-FFF2-40B4-BE49-F238E27FC236}">
                <a16:creationId xmlns:a16="http://schemas.microsoft.com/office/drawing/2014/main" id="{76958858-9CEF-3BB3-6194-EE12B05A61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6787" y="6125607"/>
            <a:ext cx="4667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3" name="Freeform 19">
            <a:extLst>
              <a:ext uri="{FF2B5EF4-FFF2-40B4-BE49-F238E27FC236}">
                <a16:creationId xmlns:a16="http://schemas.microsoft.com/office/drawing/2014/main" id="{547ACBA5-AF70-5716-1EDF-B509A7556121}"/>
              </a:ext>
            </a:extLst>
          </p:cNvPr>
          <p:cNvSpPr>
            <a:spLocks/>
          </p:cNvSpPr>
          <p:nvPr/>
        </p:nvSpPr>
        <p:spPr bwMode="auto">
          <a:xfrm>
            <a:off x="2471737" y="4876244"/>
            <a:ext cx="2289173" cy="1281113"/>
          </a:xfrm>
          <a:custGeom>
            <a:avLst/>
            <a:gdLst/>
            <a:ahLst/>
            <a:cxnLst>
              <a:cxn ang="0">
                <a:pos x="0" y="787"/>
              </a:cxn>
              <a:cxn ang="0">
                <a:pos x="726" y="1"/>
              </a:cxn>
              <a:cxn ang="0">
                <a:pos x="1458" y="781"/>
              </a:cxn>
            </a:cxnLst>
            <a:rect l="0" t="0" r="r" b="b"/>
            <a:pathLst>
              <a:path w="1458" h="787">
                <a:moveTo>
                  <a:pt x="0" y="787"/>
                </a:moveTo>
                <a:cubicBezTo>
                  <a:pt x="241" y="394"/>
                  <a:pt x="483" y="2"/>
                  <a:pt x="726" y="1"/>
                </a:cubicBezTo>
                <a:cubicBezTo>
                  <a:pt x="969" y="0"/>
                  <a:pt x="1213" y="390"/>
                  <a:pt x="1458" y="781"/>
                </a:cubicBezTo>
              </a:path>
            </a:pathLst>
          </a:custGeom>
          <a:noFill/>
          <a:ln w="28575" cap="flat" cmpd="sng">
            <a:solidFill>
              <a:srgbClr val="0000CC"/>
            </a:solidFill>
            <a:prstDash val="dash"/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pt-BR"/>
          </a:p>
        </p:txBody>
      </p:sp>
      <p:sp>
        <p:nvSpPr>
          <p:cNvPr id="15" name="Line 21">
            <a:extLst>
              <a:ext uri="{FF2B5EF4-FFF2-40B4-BE49-F238E27FC236}">
                <a16:creationId xmlns:a16="http://schemas.microsoft.com/office/drawing/2014/main" id="{C77269FF-6560-0E30-5B01-6315DF244F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81261" y="4528582"/>
            <a:ext cx="0" cy="14414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pt-BR"/>
          </a:p>
        </p:txBody>
      </p:sp>
      <p:sp>
        <p:nvSpPr>
          <p:cNvPr id="16" name="Line 22">
            <a:extLst>
              <a:ext uri="{FF2B5EF4-FFF2-40B4-BE49-F238E27FC236}">
                <a16:creationId xmlns:a16="http://schemas.microsoft.com/office/drawing/2014/main" id="{94B935AC-D189-4F4F-4576-B146D2B0C6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9011" y="4528582"/>
            <a:ext cx="0" cy="14414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pt-BR"/>
          </a:p>
        </p:txBody>
      </p:sp>
      <p:sp>
        <p:nvSpPr>
          <p:cNvPr id="17" name="Line 24">
            <a:extLst>
              <a:ext uri="{FF2B5EF4-FFF2-40B4-BE49-F238E27FC236}">
                <a16:creationId xmlns:a16="http://schemas.microsoft.com/office/drawing/2014/main" id="{490EC4A9-BE46-5495-FEC8-23DA6E41C6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8087" y="4692095"/>
            <a:ext cx="11588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</p:spPr>
        <p:txBody>
          <a:bodyPr wrap="none">
            <a:spAutoFit/>
          </a:bodyPr>
          <a:lstStyle/>
          <a:p>
            <a:endParaRPr lang="pt-BR"/>
          </a:p>
        </p:txBody>
      </p:sp>
      <p:sp>
        <p:nvSpPr>
          <p:cNvPr id="18" name="Text Box 23">
            <a:extLst>
              <a:ext uri="{FF2B5EF4-FFF2-40B4-BE49-F238E27FC236}">
                <a16:creationId xmlns:a16="http://schemas.microsoft.com/office/drawing/2014/main" id="{744D7145-9342-5B0B-10BD-2D885A67637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852737" y="4493658"/>
            <a:ext cx="409575" cy="36671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latin typeface="Arial Narrow" pitchFamily="34" charset="0"/>
              </a:rPr>
              <a:t>BLI</a:t>
            </a:r>
          </a:p>
        </p:txBody>
      </p:sp>
      <p:sp>
        <p:nvSpPr>
          <p:cNvPr id="19" name="Line 25">
            <a:extLst>
              <a:ext uri="{FF2B5EF4-FFF2-40B4-BE49-F238E27FC236}">
                <a16:creationId xmlns:a16="http://schemas.microsoft.com/office/drawing/2014/main" id="{BB9FD519-241B-CE34-BF5F-4187646CF8C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6962" y="4692095"/>
            <a:ext cx="11588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</p:spPr>
        <p:txBody>
          <a:bodyPr wrap="none">
            <a:spAutoFit/>
          </a:bodyPr>
          <a:lstStyle/>
          <a:p>
            <a:endParaRPr lang="pt-BR"/>
          </a:p>
        </p:txBody>
      </p:sp>
      <p:sp>
        <p:nvSpPr>
          <p:cNvPr id="20" name="Text Box 26">
            <a:extLst>
              <a:ext uri="{FF2B5EF4-FFF2-40B4-BE49-F238E27FC236}">
                <a16:creationId xmlns:a16="http://schemas.microsoft.com/office/drawing/2014/main" id="{41382E25-7A36-0353-BC3B-5CC0DA7AEC51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975099" y="4493658"/>
            <a:ext cx="482600" cy="36671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latin typeface="Arial Narrow" pitchFamily="34" charset="0"/>
              </a:rPr>
              <a:t>BLS</a:t>
            </a:r>
          </a:p>
        </p:txBody>
      </p:sp>
      <p:sp>
        <p:nvSpPr>
          <p:cNvPr id="21" name="Line 9">
            <a:extLst>
              <a:ext uri="{FF2B5EF4-FFF2-40B4-BE49-F238E27FC236}">
                <a16:creationId xmlns:a16="http://schemas.microsoft.com/office/drawing/2014/main" id="{16292304-BD84-849C-347C-59F8380A8E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05213" y="4485385"/>
            <a:ext cx="20638" cy="168783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2" name="Line 14">
            <a:extLst>
              <a:ext uri="{FF2B5EF4-FFF2-40B4-BE49-F238E27FC236}">
                <a16:creationId xmlns:a16="http://schemas.microsoft.com/office/drawing/2014/main" id="{CD732813-785D-5731-7177-1B278EA0B6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0561" y="6125607"/>
            <a:ext cx="1282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3" name="Line 16">
            <a:extLst>
              <a:ext uri="{FF2B5EF4-FFF2-40B4-BE49-F238E27FC236}">
                <a16:creationId xmlns:a16="http://schemas.microsoft.com/office/drawing/2014/main" id="{32F7468C-B7FF-4031-8882-95AF8D930F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84537" y="5261783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24" name="Object 17">
            <a:extLst>
              <a:ext uri="{FF2B5EF4-FFF2-40B4-BE49-F238E27FC236}">
                <a16:creationId xmlns:a16="http://schemas.microsoft.com/office/drawing/2014/main" id="{1A805479-1407-CE11-A195-1D8732960E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7244267"/>
              </p:ext>
            </p:extLst>
          </p:nvPr>
        </p:nvGraphicFramePr>
        <p:xfrm>
          <a:off x="3284537" y="6141942"/>
          <a:ext cx="32702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3040" imgH="228600" progId="">
                  <p:embed/>
                </p:oleObj>
              </mc:Choice>
              <mc:Fallback>
                <p:oleObj name="Equation" r:id="rId9" imgW="203040" imgH="228600" progId="">
                  <p:embed/>
                  <p:pic>
                    <p:nvPicPr>
                      <p:cNvPr id="24" name="Object 17">
                        <a:extLst>
                          <a:ext uri="{FF2B5EF4-FFF2-40B4-BE49-F238E27FC236}">
                            <a16:creationId xmlns:a16="http://schemas.microsoft.com/office/drawing/2014/main" id="{1A805479-1407-CE11-A195-1D8732960E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4537" y="6141942"/>
                        <a:ext cx="327025" cy="366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Line 18">
            <a:extLst>
              <a:ext uri="{FF2B5EF4-FFF2-40B4-BE49-F238E27FC236}">
                <a16:creationId xmlns:a16="http://schemas.microsoft.com/office/drawing/2014/main" id="{3CA4F778-DB58-DDB9-D634-62FA7BA165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5011" y="6125383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0391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7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0B8D3-EC06-E497-07EE-E7F20424E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Espectro</a:t>
            </a:r>
            <a:br>
              <a:rPr lang="pt-BR" dirty="0"/>
            </a:br>
            <a:r>
              <a:rPr lang="pt-BR" dirty="0"/>
              <a:t>DSB, SSB, VSB</a:t>
            </a:r>
          </a:p>
        </p:txBody>
      </p:sp>
      <p:grpSp>
        <p:nvGrpSpPr>
          <p:cNvPr id="3" name="Group 26">
            <a:extLst>
              <a:ext uri="{FF2B5EF4-FFF2-40B4-BE49-F238E27FC236}">
                <a16:creationId xmlns:a16="http://schemas.microsoft.com/office/drawing/2014/main" id="{234924BB-11FC-51F8-1B81-8AAC2ACAE871}"/>
              </a:ext>
            </a:extLst>
          </p:cNvPr>
          <p:cNvGrpSpPr>
            <a:grpSpLocks/>
          </p:cNvGrpSpPr>
          <p:nvPr/>
        </p:nvGrpSpPr>
        <p:grpSpPr bwMode="auto">
          <a:xfrm>
            <a:off x="3374571" y="1284514"/>
            <a:ext cx="6792687" cy="5132161"/>
            <a:chOff x="982" y="335"/>
            <a:chExt cx="4826" cy="3707"/>
          </a:xfrm>
        </p:grpSpPr>
        <p:pic>
          <p:nvPicPr>
            <p:cNvPr id="4" name="Picture 2" descr="fig1">
              <a:extLst>
                <a:ext uri="{FF2B5EF4-FFF2-40B4-BE49-F238E27FC236}">
                  <a16:creationId xmlns:a16="http://schemas.microsoft.com/office/drawing/2014/main" id="{451A5368-2A8B-5BD3-81D4-21DCFA584F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 b="1614"/>
            <a:stretch>
              <a:fillRect/>
            </a:stretch>
          </p:blipFill>
          <p:spPr bwMode="gray">
            <a:xfrm>
              <a:off x="982" y="335"/>
              <a:ext cx="4826" cy="3657"/>
            </a:xfrm>
            <a:prstGeom prst="rect">
              <a:avLst/>
            </a:prstGeom>
            <a:noFill/>
          </p:spPr>
        </p:pic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27FB81BB-5E49-FDBC-C138-2324AF1B3A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8" y="422"/>
            <a:ext cx="433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31640" imgH="203040" progId="">
                    <p:embed/>
                  </p:oleObj>
                </mc:Choice>
                <mc:Fallback>
                  <p:oleObj name="Equation" r:id="rId3" imgW="431640" imgH="203040" progId="">
                    <p:embed/>
                    <p:pic>
                      <p:nvPicPr>
                        <p:cNvPr id="5" name="Object 4">
                          <a:extLst>
                            <a:ext uri="{FF2B5EF4-FFF2-40B4-BE49-F238E27FC236}">
                              <a16:creationId xmlns:a16="http://schemas.microsoft.com/office/drawing/2014/main" id="{27FB81BB-5E49-FDBC-C138-2324AF1B3A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3218" y="422"/>
                          <a:ext cx="433" cy="20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2D8103E7-2CD8-FD18-4860-8079EEE7690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216" y="955"/>
              <a:ext cx="116" cy="233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pt-BR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04265B44-AD8F-49C2-7EF7-9A766A2864B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84" y="953"/>
              <a:ext cx="450" cy="233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graphicFrame>
          <p:nvGraphicFramePr>
            <p:cNvPr id="8" name="Object 6">
              <a:extLst>
                <a:ext uri="{FF2B5EF4-FFF2-40B4-BE49-F238E27FC236}">
                  <a16:creationId xmlns:a16="http://schemas.microsoft.com/office/drawing/2014/main" id="{02FF8118-821B-FE85-7669-2EEC00B72D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85" y="977"/>
            <a:ext cx="242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41200" imgH="228600" progId="">
                    <p:embed/>
                  </p:oleObj>
                </mc:Choice>
                <mc:Fallback>
                  <p:oleObj name="Equation" r:id="rId5" imgW="241200" imgH="228600" progId="">
                    <p:embed/>
                    <p:pic>
                      <p:nvPicPr>
                        <p:cNvPr id="8" name="Object 6">
                          <a:extLst>
                            <a:ext uri="{FF2B5EF4-FFF2-40B4-BE49-F238E27FC236}">
                              <a16:creationId xmlns:a16="http://schemas.microsoft.com/office/drawing/2014/main" id="{02FF8118-821B-FE85-7669-2EEC00B72D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3285" y="977"/>
                          <a:ext cx="242" cy="23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9">
              <a:extLst>
                <a:ext uri="{FF2B5EF4-FFF2-40B4-BE49-F238E27FC236}">
                  <a16:creationId xmlns:a16="http://schemas.microsoft.com/office/drawing/2014/main" id="{1FA31257-113F-F106-2C46-DDBD082EFDF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86" y="957"/>
            <a:ext cx="344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42720" imgH="228600" progId="">
                    <p:embed/>
                  </p:oleObj>
                </mc:Choice>
                <mc:Fallback>
                  <p:oleObj name="Equation" r:id="rId7" imgW="342720" imgH="228600" progId="">
                    <p:embed/>
                    <p:pic>
                      <p:nvPicPr>
                        <p:cNvPr id="9" name="Object 9">
                          <a:extLst>
                            <a:ext uri="{FF2B5EF4-FFF2-40B4-BE49-F238E27FC236}">
                              <a16:creationId xmlns:a16="http://schemas.microsoft.com/office/drawing/2014/main" id="{1FA31257-113F-F106-2C46-DDBD082EFD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2386" y="957"/>
                          <a:ext cx="344" cy="23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5">
              <a:extLst>
                <a:ext uri="{FF2B5EF4-FFF2-40B4-BE49-F238E27FC236}">
                  <a16:creationId xmlns:a16="http://schemas.microsoft.com/office/drawing/2014/main" id="{2B8B3493-7FF2-7A0C-524D-4C55470567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6" y="1932"/>
            <a:ext cx="191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90440" imgH="228600" progId="">
                    <p:embed/>
                  </p:oleObj>
                </mc:Choice>
                <mc:Fallback>
                  <p:oleObj name="Equation" r:id="rId9" imgW="190440" imgH="228600" progId="">
                    <p:embed/>
                    <p:pic>
                      <p:nvPicPr>
                        <p:cNvPr id="10" name="Object 15">
                          <a:extLst>
                            <a:ext uri="{FF2B5EF4-FFF2-40B4-BE49-F238E27FC236}">
                              <a16:creationId xmlns:a16="http://schemas.microsoft.com/office/drawing/2014/main" id="{2B8B3493-7FF2-7A0C-524D-4C55470567D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4286" y="1932"/>
                          <a:ext cx="191" cy="23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6">
              <a:extLst>
                <a:ext uri="{FF2B5EF4-FFF2-40B4-BE49-F238E27FC236}">
                  <a16:creationId xmlns:a16="http://schemas.microsoft.com/office/drawing/2014/main" id="{1909C9A8-C0DF-5244-29A0-383B5DFBA0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14" y="1900"/>
            <a:ext cx="280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79360" imgH="228600" progId="">
                    <p:embed/>
                  </p:oleObj>
                </mc:Choice>
                <mc:Fallback>
                  <p:oleObj name="Equation" r:id="rId11" imgW="279360" imgH="228600" progId="">
                    <p:embed/>
                    <p:pic>
                      <p:nvPicPr>
                        <p:cNvPr id="11" name="Object 16">
                          <a:extLst>
                            <a:ext uri="{FF2B5EF4-FFF2-40B4-BE49-F238E27FC236}">
                              <a16:creationId xmlns:a16="http://schemas.microsoft.com/office/drawing/2014/main" id="{1909C9A8-C0DF-5244-29A0-383B5DFBA0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1414" y="1900"/>
                          <a:ext cx="280" cy="23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Rectangle 17">
              <a:extLst>
                <a:ext uri="{FF2B5EF4-FFF2-40B4-BE49-F238E27FC236}">
                  <a16:creationId xmlns:a16="http://schemas.microsoft.com/office/drawing/2014/main" id="{9C64E9D5-7CC8-77CB-388B-11FBB4F5186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058" y="1420"/>
              <a:ext cx="576" cy="233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graphicFrame>
          <p:nvGraphicFramePr>
            <p:cNvPr id="13" name="Object 14">
              <a:extLst>
                <a:ext uri="{FF2B5EF4-FFF2-40B4-BE49-F238E27FC236}">
                  <a16:creationId xmlns:a16="http://schemas.microsoft.com/office/drawing/2014/main" id="{2923776F-D784-C5A7-3216-891BFEE0B7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10" y="1418"/>
            <a:ext cx="534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533160" imgH="228600" progId="">
                    <p:embed/>
                  </p:oleObj>
                </mc:Choice>
                <mc:Fallback>
                  <p:oleObj name="Equation" r:id="rId13" imgW="533160" imgH="228600" progId="">
                    <p:embed/>
                    <p:pic>
                      <p:nvPicPr>
                        <p:cNvPr id="13" name="Object 14">
                          <a:extLst>
                            <a:ext uri="{FF2B5EF4-FFF2-40B4-BE49-F238E27FC236}">
                              <a16:creationId xmlns:a16="http://schemas.microsoft.com/office/drawing/2014/main" id="{2923776F-D784-C5A7-3216-891BFEE0B78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3010" y="1418"/>
                          <a:ext cx="534" cy="23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8">
              <a:extLst>
                <a:ext uri="{FF2B5EF4-FFF2-40B4-BE49-F238E27FC236}">
                  <a16:creationId xmlns:a16="http://schemas.microsoft.com/office/drawing/2014/main" id="{BB81B87E-3C16-38D8-8465-FC1BDAD2DC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96" y="2872"/>
            <a:ext cx="191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90440" imgH="228600" progId="">
                    <p:embed/>
                  </p:oleObj>
                </mc:Choice>
                <mc:Fallback>
                  <p:oleObj name="Equation" r:id="rId15" imgW="190440" imgH="228600" progId="">
                    <p:embed/>
                    <p:pic>
                      <p:nvPicPr>
                        <p:cNvPr id="14" name="Object 18">
                          <a:extLst>
                            <a:ext uri="{FF2B5EF4-FFF2-40B4-BE49-F238E27FC236}">
                              <a16:creationId xmlns:a16="http://schemas.microsoft.com/office/drawing/2014/main" id="{BB81B87E-3C16-38D8-8465-FC1BDAD2DC7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4296" y="2872"/>
                          <a:ext cx="191" cy="23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9">
              <a:extLst>
                <a:ext uri="{FF2B5EF4-FFF2-40B4-BE49-F238E27FC236}">
                  <a16:creationId xmlns:a16="http://schemas.microsoft.com/office/drawing/2014/main" id="{C2395C13-77AE-0D4E-9730-514F26B75B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06" y="2840"/>
            <a:ext cx="280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79360" imgH="228600" progId="">
                    <p:embed/>
                  </p:oleObj>
                </mc:Choice>
                <mc:Fallback>
                  <p:oleObj name="Equation" r:id="rId17" imgW="279360" imgH="228600" progId="">
                    <p:embed/>
                    <p:pic>
                      <p:nvPicPr>
                        <p:cNvPr id="15" name="Object 19">
                          <a:extLst>
                            <a:ext uri="{FF2B5EF4-FFF2-40B4-BE49-F238E27FC236}">
                              <a16:creationId xmlns:a16="http://schemas.microsoft.com/office/drawing/2014/main" id="{C2395C13-77AE-0D4E-9730-514F26B75B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1406" y="2840"/>
                          <a:ext cx="280" cy="23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ectangle 20">
              <a:extLst>
                <a:ext uri="{FF2B5EF4-FFF2-40B4-BE49-F238E27FC236}">
                  <a16:creationId xmlns:a16="http://schemas.microsoft.com/office/drawing/2014/main" id="{1BAB55A6-5DC1-CC2D-A3DB-B1091AF7652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050" y="2360"/>
              <a:ext cx="576" cy="233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graphicFrame>
          <p:nvGraphicFramePr>
            <p:cNvPr id="17" name="Object 21">
              <a:extLst>
                <a:ext uri="{FF2B5EF4-FFF2-40B4-BE49-F238E27FC236}">
                  <a16:creationId xmlns:a16="http://schemas.microsoft.com/office/drawing/2014/main" id="{E8AAECC6-EC1A-CF11-9241-15F0929A8F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02" y="2358"/>
            <a:ext cx="534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533160" imgH="228600" progId="">
                    <p:embed/>
                  </p:oleObj>
                </mc:Choice>
                <mc:Fallback>
                  <p:oleObj name="Equation" r:id="rId19" imgW="533160" imgH="228600" progId="">
                    <p:embed/>
                    <p:pic>
                      <p:nvPicPr>
                        <p:cNvPr id="17" name="Object 21">
                          <a:extLst>
                            <a:ext uri="{FF2B5EF4-FFF2-40B4-BE49-F238E27FC236}">
                              <a16:creationId xmlns:a16="http://schemas.microsoft.com/office/drawing/2014/main" id="{E8AAECC6-EC1A-CF11-9241-15F0929A8F1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3002" y="2358"/>
                          <a:ext cx="534" cy="23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22">
              <a:extLst>
                <a:ext uri="{FF2B5EF4-FFF2-40B4-BE49-F238E27FC236}">
                  <a16:creationId xmlns:a16="http://schemas.microsoft.com/office/drawing/2014/main" id="{B5516085-4FC2-159B-137C-C6E3824AC4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94" y="3812"/>
            <a:ext cx="191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90440" imgH="228600" progId="">
                    <p:embed/>
                  </p:oleObj>
                </mc:Choice>
                <mc:Fallback>
                  <p:oleObj name="Equation" r:id="rId21" imgW="190440" imgH="228600" progId="">
                    <p:embed/>
                    <p:pic>
                      <p:nvPicPr>
                        <p:cNvPr id="18" name="Object 22">
                          <a:extLst>
                            <a:ext uri="{FF2B5EF4-FFF2-40B4-BE49-F238E27FC236}">
                              <a16:creationId xmlns:a16="http://schemas.microsoft.com/office/drawing/2014/main" id="{B5516085-4FC2-159B-137C-C6E3824AC4F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4294" y="3812"/>
                          <a:ext cx="191" cy="23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3">
              <a:extLst>
                <a:ext uri="{FF2B5EF4-FFF2-40B4-BE49-F238E27FC236}">
                  <a16:creationId xmlns:a16="http://schemas.microsoft.com/office/drawing/2014/main" id="{E621C4F5-2F03-909B-21BC-8E96634122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04" y="3780"/>
            <a:ext cx="280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79360" imgH="228600" progId="">
                    <p:embed/>
                  </p:oleObj>
                </mc:Choice>
                <mc:Fallback>
                  <p:oleObj name="Equation" r:id="rId22" imgW="279360" imgH="228600" progId="">
                    <p:embed/>
                    <p:pic>
                      <p:nvPicPr>
                        <p:cNvPr id="19" name="Object 23">
                          <a:extLst>
                            <a:ext uri="{FF2B5EF4-FFF2-40B4-BE49-F238E27FC236}">
                              <a16:creationId xmlns:a16="http://schemas.microsoft.com/office/drawing/2014/main" id="{E621C4F5-2F03-909B-21BC-8E96634122A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1404" y="3780"/>
                          <a:ext cx="280" cy="23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Rectangle 24">
              <a:extLst>
                <a:ext uri="{FF2B5EF4-FFF2-40B4-BE49-F238E27FC236}">
                  <a16:creationId xmlns:a16="http://schemas.microsoft.com/office/drawing/2014/main" id="{67FB66AE-B6AE-1D6B-B006-A7B52E97B98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048" y="3300"/>
              <a:ext cx="576" cy="233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graphicFrame>
          <p:nvGraphicFramePr>
            <p:cNvPr id="21" name="Object 25">
              <a:extLst>
                <a:ext uri="{FF2B5EF4-FFF2-40B4-BE49-F238E27FC236}">
                  <a16:creationId xmlns:a16="http://schemas.microsoft.com/office/drawing/2014/main" id="{05A7906B-1930-6BA9-EDA7-D0D4C660A17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00" y="3298"/>
            <a:ext cx="534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533160" imgH="228600" progId="">
                    <p:embed/>
                  </p:oleObj>
                </mc:Choice>
                <mc:Fallback>
                  <p:oleObj name="Equation" r:id="rId23" imgW="533160" imgH="228600" progId="">
                    <p:embed/>
                    <p:pic>
                      <p:nvPicPr>
                        <p:cNvPr id="21" name="Object 25">
                          <a:extLst>
                            <a:ext uri="{FF2B5EF4-FFF2-40B4-BE49-F238E27FC236}">
                              <a16:creationId xmlns:a16="http://schemas.microsoft.com/office/drawing/2014/main" id="{05A7906B-1930-6BA9-EDA7-D0D4C660A17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3000" y="3298"/>
                          <a:ext cx="534" cy="23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1949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2DFE1-937E-4C49-11B3-17834B219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Geração de Sinais VSB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97D0A3FC-F226-8EE8-8D1E-0C5E47121CD0}"/>
                  </a:ext>
                </a:extLst>
              </p:cNvPr>
              <p:cNvSpPr txBox="1"/>
              <p:nvPr/>
            </p:nvSpPr>
            <p:spPr bwMode="auto">
              <a:xfrm>
                <a:off x="1774939" y="5317898"/>
                <a:ext cx="7930921" cy="4572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)  =  </m:t>
                      </m:r>
                      <m:r>
                        <a:rPr lang="pt-BR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)  =  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pt-BR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97D0A3FC-F226-8EE8-8D1E-0C5E47121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4939" y="5317898"/>
                <a:ext cx="7930921" cy="457200"/>
              </a:xfrm>
              <a:prstGeom prst="rect">
                <a:avLst/>
              </a:prstGeom>
              <a:blipFill>
                <a:blip r:embed="rId2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0D214307-1C87-AF3A-54E5-386B907FB1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6098100"/>
              </p:ext>
            </p:extLst>
          </p:nvPr>
        </p:nvGraphicFramePr>
        <p:xfrm>
          <a:off x="1757364" y="5890986"/>
          <a:ext cx="7635875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09880" imgH="368280" progId="Equation.3">
                  <p:embed/>
                </p:oleObj>
              </mc:Choice>
              <mc:Fallback>
                <p:oleObj name="Equation" r:id="rId3" imgW="3809880" imgH="368280" progId="Equation.3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0D214307-1C87-AF3A-54E5-386B907FB1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364" y="5890986"/>
                        <a:ext cx="7635875" cy="738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Oval 6">
            <a:extLst>
              <a:ext uri="{FF2B5EF4-FFF2-40B4-BE49-F238E27FC236}">
                <a16:creationId xmlns:a16="http://schemas.microsoft.com/office/drawing/2014/main" id="{26C5DE43-168E-9ED5-2783-656D095B4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02089" y="1509487"/>
            <a:ext cx="409575" cy="409575"/>
          </a:xfrm>
          <a:prstGeom prst="ellipse">
            <a:avLst/>
          </a:prstGeom>
          <a:solidFill>
            <a:srgbClr val="CCFFFF"/>
          </a:solidFill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</a:pPr>
            <a:r>
              <a:rPr lang="pt-BR" sz="2800">
                <a:solidFill>
                  <a:schemeClr val="accent2"/>
                </a:solidFill>
                <a:latin typeface="Symbol" pitchFamily="18" charset="2"/>
                <a:sym typeface="Wingdings 2" pitchFamily="18" charset="2"/>
              </a:rPr>
              <a:t></a:t>
            </a:r>
            <a:endParaRPr lang="pt-BR" sz="2800">
              <a:solidFill>
                <a:schemeClr val="accent2"/>
              </a:solidFill>
              <a:latin typeface="Symbol" pitchFamily="18" charset="2"/>
            </a:endParaRP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F84E9AB7-9EB6-DACF-6501-F04F53962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013" y="1207862"/>
            <a:ext cx="1484312" cy="1019175"/>
          </a:xfrm>
          <a:prstGeom prst="flowChartProcess">
            <a:avLst/>
          </a:prstGeom>
          <a:solidFill>
            <a:srgbClr val="CCFFFF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pt-BR" sz="2000">
                <a:solidFill>
                  <a:schemeClr val="accent2"/>
                </a:solidFill>
                <a:latin typeface="Arial Narrow" pitchFamily="34" charset="0"/>
              </a:rPr>
              <a:t>Filtro </a:t>
            </a:r>
          </a:p>
          <a:p>
            <a:pPr>
              <a:lnSpc>
                <a:spcPct val="90000"/>
              </a:lnSpc>
            </a:pPr>
            <a:r>
              <a:rPr lang="pt-BR" sz="2000">
                <a:solidFill>
                  <a:schemeClr val="accent2"/>
                </a:solidFill>
                <a:latin typeface="Arial Narrow" pitchFamily="34" charset="0"/>
              </a:rPr>
              <a:t>passa-faixa,</a:t>
            </a:r>
          </a:p>
          <a:p>
            <a:pPr>
              <a:lnSpc>
                <a:spcPct val="90000"/>
              </a:lnSpc>
            </a:pPr>
            <a:r>
              <a:rPr lang="pt-BR" sz="2000" i="1">
                <a:solidFill>
                  <a:schemeClr val="accent2"/>
                </a:solidFill>
                <a:latin typeface="Times New Roman" pitchFamily="18" charset="0"/>
              </a:rPr>
              <a:t>H</a:t>
            </a:r>
            <a:r>
              <a:rPr lang="pt-BR" sz="2000" i="1" baseline="-25000">
                <a:solidFill>
                  <a:schemeClr val="accent2"/>
                </a:solidFill>
                <a:latin typeface="Times New Roman" pitchFamily="18" charset="0"/>
              </a:rPr>
              <a:t>v </a:t>
            </a:r>
            <a:r>
              <a:rPr lang="pt-BR" sz="2000">
                <a:solidFill>
                  <a:schemeClr val="accent2"/>
                </a:solidFill>
                <a:latin typeface="Times New Roman" pitchFamily="18" charset="0"/>
              </a:rPr>
              <a:t>( </a:t>
            </a:r>
            <a:r>
              <a:rPr lang="pt-BR" sz="2000" baseline="-2500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pt-BR" sz="2000" i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f </a:t>
            </a:r>
            <a:r>
              <a:rPr lang="pt-BR" sz="2000">
                <a:solidFill>
                  <a:schemeClr val="accent2"/>
                </a:solidFill>
                <a:latin typeface="Times New Roman" pitchFamily="18" charset="0"/>
              </a:rPr>
              <a:t>)</a:t>
            </a:r>
            <a:endParaRPr lang="pt-BR" sz="2000" i="1">
              <a:solidFill>
                <a:schemeClr val="accent2"/>
              </a:solidFill>
              <a:latin typeface="Times New Roman" pitchFamily="18" charset="0"/>
            </a:endParaRPr>
          </a:p>
        </p:txBody>
      </p:sp>
      <p:cxnSp>
        <p:nvCxnSpPr>
          <p:cNvPr id="7" name="AutoShape 8">
            <a:extLst>
              <a:ext uri="{FF2B5EF4-FFF2-40B4-BE49-F238E27FC236}">
                <a16:creationId xmlns:a16="http://schemas.microsoft.com/office/drawing/2014/main" id="{A5D95431-AC3C-61F2-E652-29576F6F5033}"/>
              </a:ext>
            </a:extLst>
          </p:cNvPr>
          <p:cNvCxnSpPr>
            <a:cxnSpLocks noChangeShapeType="1"/>
            <a:stCxn id="5" idx="6"/>
            <a:endCxn id="6" idx="1"/>
          </p:cNvCxnSpPr>
          <p:nvPr/>
        </p:nvCxnSpPr>
        <p:spPr bwMode="auto">
          <a:xfrm>
            <a:off x="4430713" y="1714275"/>
            <a:ext cx="2381250" cy="3175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</p:cxnSp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858BE04C-C846-0444-9D3B-59D353A69C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8969269"/>
              </p:ext>
            </p:extLst>
          </p:nvPr>
        </p:nvGraphicFramePr>
        <p:xfrm>
          <a:off x="3035300" y="1365024"/>
          <a:ext cx="596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0120" imgH="203040" progId="Equation.3">
                  <p:embed/>
                </p:oleObj>
              </mc:Choice>
              <mc:Fallback>
                <p:oleObj name="Equation" r:id="rId5" imgW="330120" imgH="203040" progId="Equation.3">
                  <p:embed/>
                  <p:pic>
                    <p:nvPicPr>
                      <p:cNvPr id="8" name="Object 9">
                        <a:extLst>
                          <a:ext uri="{FF2B5EF4-FFF2-40B4-BE49-F238E27FC236}">
                            <a16:creationId xmlns:a16="http://schemas.microsoft.com/office/drawing/2014/main" id="{858BE04C-C846-0444-9D3B-59D353A69C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300" y="1365024"/>
                        <a:ext cx="5969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3C882A74-DD29-6F5A-6425-863AF80F45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206522"/>
              </p:ext>
            </p:extLst>
          </p:nvPr>
        </p:nvGraphicFramePr>
        <p:xfrm>
          <a:off x="3530601" y="2320700"/>
          <a:ext cx="1357313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49160" imgH="228600" progId="Equation.3">
                  <p:embed/>
                </p:oleObj>
              </mc:Choice>
              <mc:Fallback>
                <p:oleObj name="Equation" r:id="rId7" imgW="749160" imgH="228600" progId="Equation.3">
                  <p:embed/>
                  <p:pic>
                    <p:nvPicPr>
                      <p:cNvPr id="9" name="Object 10">
                        <a:extLst>
                          <a:ext uri="{FF2B5EF4-FFF2-40B4-BE49-F238E27FC236}">
                            <a16:creationId xmlns:a16="http://schemas.microsoft.com/office/drawing/2014/main" id="{3C882A74-DD29-6F5A-6425-863AF80F45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601" y="2320700"/>
                        <a:ext cx="1357313" cy="414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AutoShape 11">
            <a:extLst>
              <a:ext uri="{FF2B5EF4-FFF2-40B4-BE49-F238E27FC236}">
                <a16:creationId xmlns:a16="http://schemas.microsoft.com/office/drawing/2014/main" id="{DC905A7F-0210-F0CD-0A4A-5FDF381981E5}"/>
              </a:ext>
            </a:extLst>
          </p:cNvPr>
          <p:cNvCxnSpPr>
            <a:cxnSpLocks noChangeShapeType="1"/>
            <a:endCxn id="5" idx="4"/>
          </p:cNvCxnSpPr>
          <p:nvPr/>
        </p:nvCxnSpPr>
        <p:spPr bwMode="auto">
          <a:xfrm flipH="1" flipV="1">
            <a:off x="4206876" y="1938111"/>
            <a:ext cx="3175" cy="382588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</p:cxnSp>
      <p:sp>
        <p:nvSpPr>
          <p:cNvPr id="11" name="Line 12">
            <a:extLst>
              <a:ext uri="{FF2B5EF4-FFF2-40B4-BE49-F238E27FC236}">
                <a16:creationId xmlns:a16="http://schemas.microsoft.com/office/drawing/2014/main" id="{EA3299B3-D647-5A69-CF57-B4327CBC26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7500" y="1736499"/>
            <a:ext cx="11049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12" name="Object 13">
            <a:extLst>
              <a:ext uri="{FF2B5EF4-FFF2-40B4-BE49-F238E27FC236}">
                <a16:creationId xmlns:a16="http://schemas.microsoft.com/office/drawing/2014/main" id="{9964CD18-AB70-E2FD-49FC-029B09AE8D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3994521"/>
              </p:ext>
            </p:extLst>
          </p:nvPr>
        </p:nvGraphicFramePr>
        <p:xfrm>
          <a:off x="5327650" y="1336450"/>
          <a:ext cx="54768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04560" imgH="203040" progId="Equation.3">
                  <p:embed/>
                </p:oleObj>
              </mc:Choice>
              <mc:Fallback>
                <p:oleObj name="Equation" r:id="rId9" imgW="304560" imgH="203040" progId="Equation.3">
                  <p:embed/>
                  <p:pic>
                    <p:nvPicPr>
                      <p:cNvPr id="12" name="Object 13">
                        <a:extLst>
                          <a:ext uri="{FF2B5EF4-FFF2-40B4-BE49-F238E27FC236}">
                            <a16:creationId xmlns:a16="http://schemas.microsoft.com/office/drawing/2014/main" id="{9964CD18-AB70-E2FD-49FC-029B09AE8D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650" y="1336450"/>
                        <a:ext cx="547688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4">
            <a:extLst>
              <a:ext uri="{FF2B5EF4-FFF2-40B4-BE49-F238E27FC236}">
                <a16:creationId xmlns:a16="http://schemas.microsoft.com/office/drawing/2014/main" id="{C5E81D84-8BCC-4270-4D24-8084F88E6A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0406370"/>
              </p:ext>
            </p:extLst>
          </p:nvPr>
        </p:nvGraphicFramePr>
        <p:xfrm>
          <a:off x="8439151" y="1347561"/>
          <a:ext cx="500063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9360" imgH="203040" progId="Equation.3">
                  <p:embed/>
                </p:oleObj>
              </mc:Choice>
              <mc:Fallback>
                <p:oleObj name="Equation" r:id="rId11" imgW="279360" imgH="203040" progId="Equation.3">
                  <p:embed/>
                  <p:pic>
                    <p:nvPicPr>
                      <p:cNvPr id="13" name="Object 14">
                        <a:extLst>
                          <a:ext uri="{FF2B5EF4-FFF2-40B4-BE49-F238E27FC236}">
                            <a16:creationId xmlns:a16="http://schemas.microsoft.com/office/drawing/2014/main" id="{C5E81D84-8BCC-4270-4D24-8084F88E6A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9151" y="1347561"/>
                        <a:ext cx="500063" cy="363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Line 15">
            <a:extLst>
              <a:ext uri="{FF2B5EF4-FFF2-40B4-BE49-F238E27FC236}">
                <a16:creationId xmlns:a16="http://schemas.microsoft.com/office/drawing/2014/main" id="{AA4AA546-670A-775C-7710-0BC9AAFAF90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5326" y="1726975"/>
            <a:ext cx="923925" cy="15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C4A919AD-FF24-42CC-2713-AA65EDAEA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2101" y="1344386"/>
            <a:ext cx="13239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pt-BR" sz="2000">
                <a:latin typeface="Arial Narrow" pitchFamily="34" charset="0"/>
              </a:rPr>
              <a:t>Sinal-mensagem</a:t>
            </a: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45F14D75-8C3D-2870-7D1E-FB57D0B40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2100" y="1268186"/>
            <a:ext cx="127635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pt-BR" sz="2000">
                <a:latin typeface="Arial Narrow" pitchFamily="34" charset="0"/>
              </a:rPr>
              <a:t>Sinal moduladoVSB</a:t>
            </a: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F7814ACC-FFC6-26FA-EC47-A5CB902F1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775" y="1730149"/>
            <a:ext cx="18669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pt-BR" sz="2000">
                <a:latin typeface="Arial Narrow" pitchFamily="34" charset="0"/>
              </a:rPr>
              <a:t>Sinal modulado DSB-SC</a:t>
            </a:r>
          </a:p>
        </p:txBody>
      </p:sp>
      <p:grpSp>
        <p:nvGrpSpPr>
          <p:cNvPr id="18" name="Group 47">
            <a:extLst>
              <a:ext uri="{FF2B5EF4-FFF2-40B4-BE49-F238E27FC236}">
                <a16:creationId xmlns:a16="http://schemas.microsoft.com/office/drawing/2014/main" id="{97818360-C5C6-BD20-0A05-A73F940BD512}"/>
              </a:ext>
            </a:extLst>
          </p:cNvPr>
          <p:cNvGrpSpPr>
            <a:grpSpLocks/>
          </p:cNvGrpSpPr>
          <p:nvPr/>
        </p:nvGrpSpPr>
        <p:grpSpPr bwMode="auto">
          <a:xfrm>
            <a:off x="4511675" y="2955699"/>
            <a:ext cx="5969000" cy="1916112"/>
            <a:chOff x="1882" y="1903"/>
            <a:chExt cx="3760" cy="1207"/>
          </a:xfrm>
        </p:grpSpPr>
        <p:sp>
          <p:nvSpPr>
            <p:cNvPr id="19" name="Line 22">
              <a:extLst>
                <a:ext uri="{FF2B5EF4-FFF2-40B4-BE49-F238E27FC236}">
                  <a16:creationId xmlns:a16="http://schemas.microsoft.com/office/drawing/2014/main" id="{C66592DB-619E-07CB-3AEE-9D8CDA34E8E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422" y="2248"/>
              <a:ext cx="2414" cy="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20" name="Group 45">
              <a:extLst>
                <a:ext uri="{FF2B5EF4-FFF2-40B4-BE49-F238E27FC236}">
                  <a16:creationId xmlns:a16="http://schemas.microsoft.com/office/drawing/2014/main" id="{75758DAB-9CCD-3D20-DDB7-F0A2DF9ED8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30" y="2248"/>
              <a:ext cx="2288" cy="616"/>
              <a:chOff x="3030" y="2092"/>
              <a:chExt cx="2288" cy="772"/>
            </a:xfrm>
          </p:grpSpPr>
          <p:sp>
            <p:nvSpPr>
              <p:cNvPr id="43" name="Freeform 19">
                <a:extLst>
                  <a:ext uri="{FF2B5EF4-FFF2-40B4-BE49-F238E27FC236}">
                    <a16:creationId xmlns:a16="http://schemas.microsoft.com/office/drawing/2014/main" id="{208AE25F-AB7E-EE6F-F30E-8906B86EB66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050" y="2096"/>
                <a:ext cx="2264" cy="768"/>
              </a:xfrm>
              <a:custGeom>
                <a:avLst/>
                <a:gdLst/>
                <a:ahLst/>
                <a:cxnLst>
                  <a:cxn ang="0">
                    <a:pos x="0" y="752"/>
                  </a:cxn>
                  <a:cxn ang="0">
                    <a:pos x="144" y="720"/>
                  </a:cxn>
                  <a:cxn ang="0">
                    <a:pos x="296" y="624"/>
                  </a:cxn>
                  <a:cxn ang="0">
                    <a:pos x="384" y="456"/>
                  </a:cxn>
                  <a:cxn ang="0">
                    <a:pos x="512" y="224"/>
                  </a:cxn>
                  <a:cxn ang="0">
                    <a:pos x="640" y="56"/>
                  </a:cxn>
                  <a:cxn ang="0">
                    <a:pos x="848" y="0"/>
                  </a:cxn>
                  <a:cxn ang="0">
                    <a:pos x="1928" y="8"/>
                  </a:cxn>
                  <a:cxn ang="0">
                    <a:pos x="2016" y="120"/>
                  </a:cxn>
                  <a:cxn ang="0">
                    <a:pos x="2080" y="392"/>
                  </a:cxn>
                  <a:cxn ang="0">
                    <a:pos x="2144" y="640"/>
                  </a:cxn>
                  <a:cxn ang="0">
                    <a:pos x="2200" y="712"/>
                  </a:cxn>
                  <a:cxn ang="0">
                    <a:pos x="2264" y="768"/>
                  </a:cxn>
                  <a:cxn ang="0">
                    <a:pos x="0" y="752"/>
                  </a:cxn>
                </a:cxnLst>
                <a:rect l="0" t="0" r="r" b="b"/>
                <a:pathLst>
                  <a:path w="2264" h="768">
                    <a:moveTo>
                      <a:pt x="0" y="752"/>
                    </a:moveTo>
                    <a:lnTo>
                      <a:pt x="144" y="720"/>
                    </a:lnTo>
                    <a:lnTo>
                      <a:pt x="296" y="624"/>
                    </a:lnTo>
                    <a:lnTo>
                      <a:pt x="384" y="456"/>
                    </a:lnTo>
                    <a:lnTo>
                      <a:pt x="512" y="224"/>
                    </a:lnTo>
                    <a:lnTo>
                      <a:pt x="640" y="56"/>
                    </a:lnTo>
                    <a:lnTo>
                      <a:pt x="848" y="0"/>
                    </a:lnTo>
                    <a:lnTo>
                      <a:pt x="1928" y="8"/>
                    </a:lnTo>
                    <a:lnTo>
                      <a:pt x="2016" y="120"/>
                    </a:lnTo>
                    <a:lnTo>
                      <a:pt x="2080" y="392"/>
                    </a:lnTo>
                    <a:lnTo>
                      <a:pt x="2144" y="640"/>
                    </a:lnTo>
                    <a:lnTo>
                      <a:pt x="2200" y="712"/>
                    </a:lnTo>
                    <a:lnTo>
                      <a:pt x="2264" y="768"/>
                    </a:lnTo>
                    <a:lnTo>
                      <a:pt x="0" y="752"/>
                    </a:lnTo>
                    <a:close/>
                  </a:path>
                </a:pathLst>
              </a:custGeom>
              <a:solidFill>
                <a:srgbClr val="FFFFCC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8C9E6653-5A2B-0B99-9968-FD49C3CEE2B7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030" y="2096"/>
                <a:ext cx="878" cy="764"/>
              </a:xfrm>
              <a:custGeom>
                <a:avLst/>
                <a:gdLst/>
                <a:ahLst/>
                <a:cxnLst>
                  <a:cxn ang="0">
                    <a:pos x="0" y="764"/>
                  </a:cxn>
                  <a:cxn ang="0">
                    <a:pos x="296" y="624"/>
                  </a:cxn>
                  <a:cxn ang="0">
                    <a:pos x="604" y="104"/>
                  </a:cxn>
                  <a:cxn ang="0">
                    <a:pos x="878" y="0"/>
                  </a:cxn>
                </a:cxnLst>
                <a:rect l="0" t="0" r="r" b="b"/>
                <a:pathLst>
                  <a:path w="878" h="764">
                    <a:moveTo>
                      <a:pt x="0" y="764"/>
                    </a:moveTo>
                    <a:cubicBezTo>
                      <a:pt x="49" y="741"/>
                      <a:pt x="195" y="734"/>
                      <a:pt x="296" y="624"/>
                    </a:cubicBezTo>
                    <a:cubicBezTo>
                      <a:pt x="397" y="514"/>
                      <a:pt x="507" y="208"/>
                      <a:pt x="604" y="104"/>
                    </a:cubicBezTo>
                    <a:cubicBezTo>
                      <a:pt x="701" y="0"/>
                      <a:pt x="821" y="22"/>
                      <a:pt x="878" y="0"/>
                    </a:cubicBezTo>
                  </a:path>
                </a:pathLst>
              </a:custGeom>
              <a:noFill/>
              <a:ln w="38100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5" name="Line 26">
                <a:extLst>
                  <a:ext uri="{FF2B5EF4-FFF2-40B4-BE49-F238E27FC236}">
                    <a16:creationId xmlns:a16="http://schemas.microsoft.com/office/drawing/2014/main" id="{D5375946-1066-0E7C-F6DA-7AA1158389F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3900" y="2097"/>
                <a:ext cx="1062" cy="3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48CDC2BB-1D79-5484-B507-101F32A6C114}"/>
                  </a:ext>
                </a:extLst>
              </p:cNvPr>
              <p:cNvSpPr>
                <a:spLocks/>
              </p:cNvSpPr>
              <p:nvPr/>
            </p:nvSpPr>
            <p:spPr bwMode="gray">
              <a:xfrm flipH="1">
                <a:off x="4956" y="2092"/>
                <a:ext cx="362" cy="764"/>
              </a:xfrm>
              <a:custGeom>
                <a:avLst/>
                <a:gdLst/>
                <a:ahLst/>
                <a:cxnLst>
                  <a:cxn ang="0">
                    <a:pos x="0" y="764"/>
                  </a:cxn>
                  <a:cxn ang="0">
                    <a:pos x="296" y="624"/>
                  </a:cxn>
                  <a:cxn ang="0">
                    <a:pos x="604" y="104"/>
                  </a:cxn>
                  <a:cxn ang="0">
                    <a:pos x="878" y="0"/>
                  </a:cxn>
                </a:cxnLst>
                <a:rect l="0" t="0" r="r" b="b"/>
                <a:pathLst>
                  <a:path w="878" h="764">
                    <a:moveTo>
                      <a:pt x="0" y="764"/>
                    </a:moveTo>
                    <a:cubicBezTo>
                      <a:pt x="49" y="741"/>
                      <a:pt x="195" y="734"/>
                      <a:pt x="296" y="624"/>
                    </a:cubicBezTo>
                    <a:cubicBezTo>
                      <a:pt x="397" y="514"/>
                      <a:pt x="507" y="208"/>
                      <a:pt x="604" y="104"/>
                    </a:cubicBezTo>
                    <a:cubicBezTo>
                      <a:pt x="701" y="0"/>
                      <a:pt x="821" y="22"/>
                      <a:pt x="878" y="0"/>
                    </a:cubicBezTo>
                  </a:path>
                </a:pathLst>
              </a:custGeom>
              <a:noFill/>
              <a:ln w="38100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2E77D0EA-E44D-5619-8E6C-9AB0DF288A5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280" y="2855"/>
              <a:ext cx="3348" cy="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7D68DA32-4444-798E-326E-C92FFADDDECF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030" y="2800"/>
              <a:ext cx="0" cy="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3" name="Line 28">
              <a:extLst>
                <a:ext uri="{FF2B5EF4-FFF2-40B4-BE49-F238E27FC236}">
                  <a16:creationId xmlns:a16="http://schemas.microsoft.com/office/drawing/2014/main" id="{7F0825B6-10F2-D83B-F20B-CBFB66B122B1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418" y="1928"/>
              <a:ext cx="0" cy="10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" name="Line 29">
              <a:extLst>
                <a:ext uri="{FF2B5EF4-FFF2-40B4-BE49-F238E27FC236}">
                  <a16:creationId xmlns:a16="http://schemas.microsoft.com/office/drawing/2014/main" id="{CF846EAB-74DA-9E77-F2FE-EB43C97D9038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474" y="2800"/>
              <a:ext cx="0" cy="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5" name="Line 30">
              <a:extLst>
                <a:ext uri="{FF2B5EF4-FFF2-40B4-BE49-F238E27FC236}">
                  <a16:creationId xmlns:a16="http://schemas.microsoft.com/office/drawing/2014/main" id="{B52DE2FF-62AD-3E86-BB49-14978A09E7BD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906" y="2794"/>
              <a:ext cx="0" cy="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6" name="Line 31">
              <a:extLst>
                <a:ext uri="{FF2B5EF4-FFF2-40B4-BE49-F238E27FC236}">
                  <a16:creationId xmlns:a16="http://schemas.microsoft.com/office/drawing/2014/main" id="{A65A20D8-EA6D-DC02-D89F-5CAB12883B35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4968" y="2794"/>
              <a:ext cx="0" cy="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27" name="Object 32">
              <a:extLst>
                <a:ext uri="{FF2B5EF4-FFF2-40B4-BE49-F238E27FC236}">
                  <a16:creationId xmlns:a16="http://schemas.microsoft.com/office/drawing/2014/main" id="{2B9F24DE-F931-8732-D68B-D5D71C0BC7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8" y="2874"/>
            <a:ext cx="472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469800" imgH="228600" progId="">
                    <p:embed/>
                  </p:oleObj>
                </mc:Choice>
                <mc:Fallback>
                  <p:oleObj name="Equation" r:id="rId13" imgW="469800" imgH="228600" progId="">
                    <p:embed/>
                    <p:pic>
                      <p:nvPicPr>
                        <p:cNvPr id="27" name="Object 32">
                          <a:extLst>
                            <a:ext uri="{FF2B5EF4-FFF2-40B4-BE49-F238E27FC236}">
                              <a16:creationId xmlns:a16="http://schemas.microsoft.com/office/drawing/2014/main" id="{2B9F24DE-F931-8732-D68B-D5D71C0BC7B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2788" y="2874"/>
                          <a:ext cx="472" cy="2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33">
              <a:extLst>
                <a:ext uri="{FF2B5EF4-FFF2-40B4-BE49-F238E27FC236}">
                  <a16:creationId xmlns:a16="http://schemas.microsoft.com/office/drawing/2014/main" id="{5E889DDA-24DF-AC8C-7D51-1743E3B6D2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76" y="2874"/>
            <a:ext cx="472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469800" imgH="228600" progId="">
                    <p:embed/>
                  </p:oleObj>
                </mc:Choice>
                <mc:Fallback>
                  <p:oleObj name="Equation" r:id="rId15" imgW="469800" imgH="228600" progId="">
                    <p:embed/>
                    <p:pic>
                      <p:nvPicPr>
                        <p:cNvPr id="28" name="Object 33">
                          <a:extLst>
                            <a:ext uri="{FF2B5EF4-FFF2-40B4-BE49-F238E27FC236}">
                              <a16:creationId xmlns:a16="http://schemas.microsoft.com/office/drawing/2014/main" id="{5E889DDA-24DF-AC8C-7D51-1743E3B6D21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3676" y="2874"/>
                          <a:ext cx="472" cy="2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34">
              <a:extLst>
                <a:ext uri="{FF2B5EF4-FFF2-40B4-BE49-F238E27FC236}">
                  <a16:creationId xmlns:a16="http://schemas.microsoft.com/office/drawing/2014/main" id="{9813A0B6-2271-9205-CCBC-2A677D8FEC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72" y="2874"/>
            <a:ext cx="191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90440" imgH="228600" progId="Equation.3">
                    <p:embed/>
                  </p:oleObj>
                </mc:Choice>
                <mc:Fallback>
                  <p:oleObj name="Equation" r:id="rId17" imgW="190440" imgH="228600" progId="Equation.3">
                    <p:embed/>
                    <p:pic>
                      <p:nvPicPr>
                        <p:cNvPr id="29" name="Object 34">
                          <a:extLst>
                            <a:ext uri="{FF2B5EF4-FFF2-40B4-BE49-F238E27FC236}">
                              <a16:creationId xmlns:a16="http://schemas.microsoft.com/office/drawing/2014/main" id="{9813A0B6-2271-9205-CCBC-2A677D8FEC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3372" y="2874"/>
                          <a:ext cx="191" cy="2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35">
              <a:extLst>
                <a:ext uri="{FF2B5EF4-FFF2-40B4-BE49-F238E27FC236}">
                  <a16:creationId xmlns:a16="http://schemas.microsoft.com/office/drawing/2014/main" id="{22A534E2-FEC4-061E-88F3-4D23CD61E80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15" y="2880"/>
            <a:ext cx="510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507960" imgH="228600" progId="Equation.3">
                    <p:embed/>
                  </p:oleObj>
                </mc:Choice>
                <mc:Fallback>
                  <p:oleObj name="Equation" r:id="rId19" imgW="507960" imgH="228600" progId="Equation.3">
                    <p:embed/>
                    <p:pic>
                      <p:nvPicPr>
                        <p:cNvPr id="30" name="Object 35">
                          <a:extLst>
                            <a:ext uri="{FF2B5EF4-FFF2-40B4-BE49-F238E27FC236}">
                              <a16:creationId xmlns:a16="http://schemas.microsoft.com/office/drawing/2014/main" id="{22A534E2-FEC4-061E-88F3-4D23CD61E80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4715" y="2880"/>
                          <a:ext cx="510" cy="2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Line 36">
              <a:extLst>
                <a:ext uri="{FF2B5EF4-FFF2-40B4-BE49-F238E27FC236}">
                  <a16:creationId xmlns:a16="http://schemas.microsoft.com/office/drawing/2014/main" id="{98A8DCAF-998B-22E5-090E-985C52DD119C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308" y="2852"/>
              <a:ext cx="33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2" name="Line 37">
              <a:extLst>
                <a:ext uri="{FF2B5EF4-FFF2-40B4-BE49-F238E27FC236}">
                  <a16:creationId xmlns:a16="http://schemas.microsoft.com/office/drawing/2014/main" id="{891603F8-B858-04A2-176A-AA82F8641C9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278" y="2854"/>
              <a:ext cx="756" cy="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33" name="Group 46">
              <a:extLst>
                <a:ext uri="{FF2B5EF4-FFF2-40B4-BE49-F238E27FC236}">
                  <a16:creationId xmlns:a16="http://schemas.microsoft.com/office/drawing/2014/main" id="{7952EBEB-F9CE-109C-7B1E-4694B10FD1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8" y="2256"/>
              <a:ext cx="1494" cy="608"/>
              <a:chOff x="3468" y="2092"/>
              <a:chExt cx="1494" cy="772"/>
            </a:xfrm>
          </p:grpSpPr>
          <p:sp>
            <p:nvSpPr>
              <p:cNvPr id="40" name="Line 23">
                <a:extLst>
                  <a:ext uri="{FF2B5EF4-FFF2-40B4-BE49-F238E27FC236}">
                    <a16:creationId xmlns:a16="http://schemas.microsoft.com/office/drawing/2014/main" id="{FE44AC8A-F38E-1AF1-9D34-CCB68571EAD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 flipV="1">
                <a:off x="3906" y="2092"/>
                <a:ext cx="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" name="Line 24">
                <a:extLst>
                  <a:ext uri="{FF2B5EF4-FFF2-40B4-BE49-F238E27FC236}">
                    <a16:creationId xmlns:a16="http://schemas.microsoft.com/office/drawing/2014/main" id="{231ED7A1-6CAA-D1C9-1817-AB560B3C93E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 flipV="1">
                <a:off x="4962" y="2106"/>
                <a:ext cx="0" cy="7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" name="Line 38">
                <a:extLst>
                  <a:ext uri="{FF2B5EF4-FFF2-40B4-BE49-F238E27FC236}">
                    <a16:creationId xmlns:a16="http://schemas.microsoft.com/office/drawing/2014/main" id="{4A364DCA-73C4-C3FE-5AF1-6542493B9AE8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 flipV="1">
                <a:off x="3468" y="2480"/>
                <a:ext cx="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aphicFrame>
          <p:nvGraphicFramePr>
            <p:cNvPr id="34" name="Object 39">
              <a:extLst>
                <a:ext uri="{FF2B5EF4-FFF2-40B4-BE49-F238E27FC236}">
                  <a16:creationId xmlns:a16="http://schemas.microsoft.com/office/drawing/2014/main" id="{16C4AA63-3A30-1750-D621-40B3191031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37" y="2875"/>
            <a:ext cx="165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64880" imgH="203040" progId="Equation.3">
                    <p:embed/>
                  </p:oleObj>
                </mc:Choice>
                <mc:Fallback>
                  <p:oleObj name="Equation" r:id="rId21" imgW="164880" imgH="203040" progId="Equation.3">
                    <p:embed/>
                    <p:pic>
                      <p:nvPicPr>
                        <p:cNvPr id="34" name="Object 39">
                          <a:extLst>
                            <a:ext uri="{FF2B5EF4-FFF2-40B4-BE49-F238E27FC236}">
                              <a16:creationId xmlns:a16="http://schemas.microsoft.com/office/drawing/2014/main" id="{16C4AA63-3A30-1750-D621-40B31910317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5337" y="2875"/>
                          <a:ext cx="165" cy="2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Line 40">
              <a:extLst>
                <a:ext uri="{FF2B5EF4-FFF2-40B4-BE49-F238E27FC236}">
                  <a16:creationId xmlns:a16="http://schemas.microsoft.com/office/drawing/2014/main" id="{006C737B-DAF6-D841-C0E6-0DEAF428720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472" y="2982"/>
              <a:ext cx="1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36" name="Object 41">
              <a:extLst>
                <a:ext uri="{FF2B5EF4-FFF2-40B4-BE49-F238E27FC236}">
                  <a16:creationId xmlns:a16="http://schemas.microsoft.com/office/drawing/2014/main" id="{A0DF6B82-2E34-0F08-1CFE-33C2AF8F93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70" y="2875"/>
            <a:ext cx="127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26720" imgH="177480" progId="Equation.3">
                    <p:embed/>
                  </p:oleObj>
                </mc:Choice>
                <mc:Fallback>
                  <p:oleObj name="Equation" r:id="rId23" imgW="126720" imgH="177480" progId="Equation.3">
                    <p:embed/>
                    <p:pic>
                      <p:nvPicPr>
                        <p:cNvPr id="36" name="Object 41">
                          <a:extLst>
                            <a:ext uri="{FF2B5EF4-FFF2-40B4-BE49-F238E27FC236}">
                              <a16:creationId xmlns:a16="http://schemas.microsoft.com/office/drawing/2014/main" id="{A0DF6B82-2E34-0F08-1CFE-33C2AF8F938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2270" y="2875"/>
                          <a:ext cx="127" cy="1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42">
              <a:extLst>
                <a:ext uri="{FF2B5EF4-FFF2-40B4-BE49-F238E27FC236}">
                  <a16:creationId xmlns:a16="http://schemas.microsoft.com/office/drawing/2014/main" id="{504F06C3-86C0-C3AD-4336-2689260C005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24" y="2182"/>
            <a:ext cx="153" cy="1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52280" imgH="139680" progId="Equation.3">
                    <p:embed/>
                  </p:oleObj>
                </mc:Choice>
                <mc:Fallback>
                  <p:oleObj name="Equation" r:id="rId25" imgW="152280" imgH="139680" progId="Equation.3">
                    <p:embed/>
                    <p:pic>
                      <p:nvPicPr>
                        <p:cNvPr id="37" name="Object 42">
                          <a:extLst>
                            <a:ext uri="{FF2B5EF4-FFF2-40B4-BE49-F238E27FC236}">
                              <a16:creationId xmlns:a16="http://schemas.microsoft.com/office/drawing/2014/main" id="{504F06C3-86C0-C3AD-4336-2689260C005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2224" y="2182"/>
                          <a:ext cx="153" cy="1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43">
              <a:extLst>
                <a:ext uri="{FF2B5EF4-FFF2-40B4-BE49-F238E27FC236}">
                  <a16:creationId xmlns:a16="http://schemas.microsoft.com/office/drawing/2014/main" id="{2CE40B11-8139-6F6B-9BC0-425502463E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82" y="1903"/>
            <a:ext cx="521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520560" imgH="253800" progId="Equation.3">
                    <p:embed/>
                  </p:oleObj>
                </mc:Choice>
                <mc:Fallback>
                  <p:oleObj name="Equation" r:id="rId27" imgW="520560" imgH="253800" progId="Equation.3">
                    <p:embed/>
                    <p:pic>
                      <p:nvPicPr>
                        <p:cNvPr id="38" name="Object 43">
                          <a:extLst>
                            <a:ext uri="{FF2B5EF4-FFF2-40B4-BE49-F238E27FC236}">
                              <a16:creationId xmlns:a16="http://schemas.microsoft.com/office/drawing/2014/main" id="{2CE40B11-8139-6F6B-9BC0-425502463E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1882" y="1903"/>
                          <a:ext cx="521" cy="2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Text Box 44">
              <a:extLst>
                <a:ext uri="{FF2B5EF4-FFF2-40B4-BE49-F238E27FC236}">
                  <a16:creationId xmlns:a16="http://schemas.microsoft.com/office/drawing/2014/main" id="{793AE583-8F05-2C59-7D96-4BA7EBAD8C5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513" y="2654"/>
              <a:ext cx="178" cy="233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lIns="54000" rIns="54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>
                  <a:solidFill>
                    <a:srgbClr val="FF0000"/>
                  </a:solidFill>
                </a:rPr>
                <a:t>...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0943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B660CB-3514-3942-C3BE-F2D8443C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Demodulação de um sinal VSB: </a:t>
            </a:r>
            <a:br>
              <a:rPr lang="pt-BR" dirty="0"/>
            </a:br>
            <a:r>
              <a:rPr lang="pt-BR" dirty="0"/>
              <a:t>detecção coerente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F1534BE-951B-AE4C-4EE4-80E0E480917F}"/>
              </a:ext>
            </a:extLst>
          </p:cNvPr>
          <p:cNvGrpSpPr>
            <a:grpSpLocks/>
          </p:cNvGrpSpPr>
          <p:nvPr/>
        </p:nvGrpSpPr>
        <p:grpSpPr bwMode="auto">
          <a:xfrm>
            <a:off x="2895601" y="1049338"/>
            <a:ext cx="6124575" cy="1536700"/>
            <a:chOff x="864" y="769"/>
            <a:chExt cx="3858" cy="968"/>
          </a:xfrm>
        </p:grpSpPr>
        <p:sp>
          <p:nvSpPr>
            <p:cNvPr id="4" name="Oval 4">
              <a:extLst>
                <a:ext uri="{FF2B5EF4-FFF2-40B4-BE49-F238E27FC236}">
                  <a16:creationId xmlns:a16="http://schemas.microsoft.com/office/drawing/2014/main" id="{279603ED-98FB-AEF6-FA8F-C9685C84888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65" y="961"/>
              <a:ext cx="258" cy="258"/>
            </a:xfrm>
            <a:prstGeom prst="ellipse">
              <a:avLst/>
            </a:prstGeom>
            <a:solidFill>
              <a:srgbClr val="CCFFFF"/>
            </a:solidFill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r>
                <a:rPr lang="pt-BR" sz="2800">
                  <a:solidFill>
                    <a:schemeClr val="accent2"/>
                  </a:solidFill>
                  <a:latin typeface="Symbol" pitchFamily="18" charset="2"/>
                  <a:sym typeface="Wingdings 2" pitchFamily="18" charset="2"/>
                </a:rPr>
                <a:t></a:t>
              </a:r>
              <a:endParaRPr lang="pt-BR" sz="2800">
                <a:solidFill>
                  <a:schemeClr val="accent2"/>
                </a:solidFill>
                <a:latin typeface="Symbol" pitchFamily="18" charset="2"/>
              </a:endParaRP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E937B6A1-03D0-C851-3EBE-C4DA7FA78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" y="769"/>
              <a:ext cx="1067" cy="642"/>
            </a:xfrm>
            <a:prstGeom prst="flowChartProcess">
              <a:avLst/>
            </a:prstGeom>
            <a:solidFill>
              <a:srgbClr val="CCFFFF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pt-BR" sz="2000">
                  <a:latin typeface="Arial Narrow" pitchFamily="34" charset="0"/>
                </a:rPr>
                <a:t>Filtro </a:t>
              </a:r>
            </a:p>
            <a:p>
              <a:pPr>
                <a:lnSpc>
                  <a:spcPct val="90000"/>
                </a:lnSpc>
              </a:pPr>
              <a:r>
                <a:rPr lang="pt-BR" sz="2000">
                  <a:latin typeface="Arial Narrow" pitchFamily="34" charset="0"/>
                </a:rPr>
                <a:t>passa-baixos,</a:t>
              </a:r>
            </a:p>
            <a:p>
              <a:pPr>
                <a:lnSpc>
                  <a:spcPct val="90000"/>
                </a:lnSpc>
              </a:pPr>
              <a:r>
                <a:rPr lang="pt-BR" sz="2000" i="1">
                  <a:latin typeface="Times New Roman" pitchFamily="18" charset="0"/>
                </a:rPr>
                <a:t>H</a:t>
              </a:r>
              <a:r>
                <a:rPr lang="pt-BR" sz="2000" i="1" baseline="-25000">
                  <a:latin typeface="Times New Roman" pitchFamily="18" charset="0"/>
                </a:rPr>
                <a:t>d </a:t>
              </a:r>
              <a:r>
                <a:rPr lang="pt-BR" sz="2000">
                  <a:latin typeface="Times New Roman" pitchFamily="18" charset="0"/>
                </a:rPr>
                <a:t>( </a:t>
              </a:r>
              <a:r>
                <a:rPr lang="pt-BR" sz="2000" i="1">
                  <a:latin typeface="Times New Roman" pitchFamily="18" charset="0"/>
                  <a:sym typeface="Symbol" pitchFamily="18" charset="2"/>
                </a:rPr>
                <a:t>f </a:t>
              </a:r>
              <a:r>
                <a:rPr lang="pt-BR" sz="2000">
                  <a:latin typeface="Times New Roman" pitchFamily="18" charset="0"/>
                </a:rPr>
                <a:t>)</a:t>
              </a:r>
              <a:endParaRPr lang="pt-BR" sz="2000" i="1">
                <a:latin typeface="Times New Roman" pitchFamily="18" charset="0"/>
              </a:endParaRPr>
            </a:p>
          </p:txBody>
        </p:sp>
        <p:cxnSp>
          <p:nvCxnSpPr>
            <p:cNvPr id="6" name="AutoShape 6">
              <a:extLst>
                <a:ext uri="{FF2B5EF4-FFF2-40B4-BE49-F238E27FC236}">
                  <a16:creationId xmlns:a16="http://schemas.microsoft.com/office/drawing/2014/main" id="{A3293B58-C300-6712-CDB8-75B397DC1A5A}"/>
                </a:ext>
              </a:extLst>
            </p:cNvPr>
            <p:cNvCxnSpPr>
              <a:cxnSpLocks noChangeShapeType="1"/>
              <a:stCxn id="4" idx="6"/>
              <a:endCxn id="5" idx="1"/>
            </p:cNvCxnSpPr>
            <p:nvPr/>
          </p:nvCxnSpPr>
          <p:spPr bwMode="auto">
            <a:xfrm>
              <a:off x="2335" y="1090"/>
              <a:ext cx="732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</p:cxnSp>
        <p:graphicFrame>
          <p:nvGraphicFramePr>
            <p:cNvPr id="7" name="Object 7">
              <a:extLst>
                <a:ext uri="{FF2B5EF4-FFF2-40B4-BE49-F238E27FC236}">
                  <a16:creationId xmlns:a16="http://schemas.microsoft.com/office/drawing/2014/main" id="{4601C665-BF10-F915-179B-A135541311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1" y="877"/>
            <a:ext cx="282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79360" imgH="203040" progId="Equation.3">
                    <p:embed/>
                  </p:oleObj>
                </mc:Choice>
                <mc:Fallback>
                  <p:oleObj name="Equation" r:id="rId2" imgW="279360" imgH="203040" progId="Equation.3">
                    <p:embed/>
                    <p:pic>
                      <p:nvPicPr>
                        <p:cNvPr id="7" name="Object 7">
                          <a:extLst>
                            <a:ext uri="{FF2B5EF4-FFF2-40B4-BE49-F238E27FC236}">
                              <a16:creationId xmlns:a16="http://schemas.microsoft.com/office/drawing/2014/main" id="{4601C665-BF10-F915-179B-A135541311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1" y="877"/>
                          <a:ext cx="282" cy="20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8">
              <a:extLst>
                <a:ext uri="{FF2B5EF4-FFF2-40B4-BE49-F238E27FC236}">
                  <a16:creationId xmlns:a16="http://schemas.microsoft.com/office/drawing/2014/main" id="{B733D7B3-EDB8-2EC5-4F1F-2429CBA26F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05" y="1506"/>
            <a:ext cx="578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71320" imgH="228600" progId="Equation.3">
                    <p:embed/>
                  </p:oleObj>
                </mc:Choice>
                <mc:Fallback>
                  <p:oleObj name="Equation" r:id="rId4" imgW="571320" imgH="228600" progId="Equation.3">
                    <p:embed/>
                    <p:pic>
                      <p:nvPicPr>
                        <p:cNvPr id="8" name="Object 8">
                          <a:extLst>
                            <a:ext uri="{FF2B5EF4-FFF2-40B4-BE49-F238E27FC236}">
                              <a16:creationId xmlns:a16="http://schemas.microsoft.com/office/drawing/2014/main" id="{B733D7B3-EDB8-2EC5-4F1F-2429CBA26F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5" y="1506"/>
                          <a:ext cx="578" cy="2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9" name="AutoShape 9">
              <a:extLst>
                <a:ext uri="{FF2B5EF4-FFF2-40B4-BE49-F238E27FC236}">
                  <a16:creationId xmlns:a16="http://schemas.microsoft.com/office/drawing/2014/main" id="{16851C45-52F9-291D-E320-2D23B7515C8A}"/>
                </a:ext>
              </a:extLst>
            </p:cNvPr>
            <p:cNvCxnSpPr>
              <a:cxnSpLocks noChangeShapeType="1"/>
              <a:endCxn id="4" idx="4"/>
            </p:cNvCxnSpPr>
            <p:nvPr/>
          </p:nvCxnSpPr>
          <p:spPr bwMode="auto">
            <a:xfrm flipV="1">
              <a:off x="2194" y="1231"/>
              <a:ext cx="0" cy="275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</p:cxn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D6F8020C-C8EF-B3A7-E00C-C5B500B9FE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091"/>
              <a:ext cx="72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11" name="Object 11">
              <a:extLst>
                <a:ext uri="{FF2B5EF4-FFF2-40B4-BE49-F238E27FC236}">
                  <a16:creationId xmlns:a16="http://schemas.microsoft.com/office/drawing/2014/main" id="{6718327F-3E2C-4A1A-6E7D-038C718C41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40" y="877"/>
            <a:ext cx="281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79360" imgH="203040" progId="Equation.3">
                    <p:embed/>
                  </p:oleObj>
                </mc:Choice>
                <mc:Fallback>
                  <p:oleObj name="Equation" r:id="rId6" imgW="279360" imgH="203040" progId="Equation.3">
                    <p:embed/>
                    <p:pic>
                      <p:nvPicPr>
                        <p:cNvPr id="11" name="Object 11">
                          <a:extLst>
                            <a:ext uri="{FF2B5EF4-FFF2-40B4-BE49-F238E27FC236}">
                              <a16:creationId xmlns:a16="http://schemas.microsoft.com/office/drawing/2014/main" id="{6718327F-3E2C-4A1A-6E7D-038C718C41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0" y="877"/>
                          <a:ext cx="281" cy="2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2">
              <a:extLst>
                <a:ext uri="{FF2B5EF4-FFF2-40B4-BE49-F238E27FC236}">
                  <a16:creationId xmlns:a16="http://schemas.microsoft.com/office/drawing/2014/main" id="{AADCE3D1-AC55-15A6-9049-0BDE65291E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68" y="878"/>
            <a:ext cx="317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17160" imgH="203040" progId="Equation.3">
                    <p:embed/>
                  </p:oleObj>
                </mc:Choice>
                <mc:Fallback>
                  <p:oleObj name="Equation" r:id="rId8" imgW="317160" imgH="203040" progId="Equation.3">
                    <p:embed/>
                    <p:pic>
                      <p:nvPicPr>
                        <p:cNvPr id="12" name="Object 12">
                          <a:extLst>
                            <a:ext uri="{FF2B5EF4-FFF2-40B4-BE49-F238E27FC236}">
                              <a16:creationId xmlns:a16="http://schemas.microsoft.com/office/drawing/2014/main" id="{AADCE3D1-AC55-15A6-9049-0BDE65291E4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8" y="878"/>
                          <a:ext cx="317" cy="2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307D8D5A-B706-9863-3A19-29E2CB481B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6" y="1091"/>
              <a:ext cx="57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0783AA7A-C407-AD2A-4578-EC7503E5F5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888"/>
              <a:ext cx="528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pt-BR" sz="2000">
                  <a:latin typeface="Arial Narrow" pitchFamily="34" charset="0"/>
                </a:rPr>
                <a:t>Sinal VSB</a:t>
              </a:r>
            </a:p>
          </p:txBody>
        </p:sp>
      </p:grpSp>
      <p:graphicFrame>
        <p:nvGraphicFramePr>
          <p:cNvPr id="15" name="Object 15">
            <a:extLst>
              <a:ext uri="{FF2B5EF4-FFF2-40B4-BE49-F238E27FC236}">
                <a16:creationId xmlns:a16="http://schemas.microsoft.com/office/drawing/2014/main" id="{2E2541D1-9AD5-8A8B-7B8B-25F6B6D2A8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9576" y="2528888"/>
          <a:ext cx="2079625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95280" imgH="228600" progId="Equation.3">
                  <p:embed/>
                </p:oleObj>
              </mc:Choice>
              <mc:Fallback>
                <p:oleObj name="Equation" r:id="rId10" imgW="1295280" imgH="228600" progId="Equation.3">
                  <p:embed/>
                  <p:pic>
                    <p:nvPicPr>
                      <p:cNvPr id="15" name="Object 15">
                        <a:extLst>
                          <a:ext uri="{FF2B5EF4-FFF2-40B4-BE49-F238E27FC236}">
                            <a16:creationId xmlns:a16="http://schemas.microsoft.com/office/drawing/2014/main" id="{2E2541D1-9AD5-8A8B-7B8B-25F6B6D2A8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576" y="2528888"/>
                        <a:ext cx="2079625" cy="366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>
            <a:extLst>
              <a:ext uri="{FF2B5EF4-FFF2-40B4-BE49-F238E27FC236}">
                <a16:creationId xmlns:a16="http://schemas.microsoft.com/office/drawing/2014/main" id="{7297073E-AB50-47A2-FCB7-130AB3C08F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8151" y="3071813"/>
          <a:ext cx="879157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499000" imgH="711000" progId="Equation.3">
                  <p:embed/>
                </p:oleObj>
              </mc:Choice>
              <mc:Fallback>
                <p:oleObj name="Equation" r:id="rId12" imgW="5499000" imgH="711000" progId="Equation.3">
                  <p:embed/>
                  <p:pic>
                    <p:nvPicPr>
                      <p:cNvPr id="16" name="Object 16">
                        <a:extLst>
                          <a:ext uri="{FF2B5EF4-FFF2-40B4-BE49-F238E27FC236}">
                            <a16:creationId xmlns:a16="http://schemas.microsoft.com/office/drawing/2014/main" id="{7297073E-AB50-47A2-FCB7-130AB3C08F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1" y="3071813"/>
                        <a:ext cx="8791575" cy="1136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>
            <a:extLst>
              <a:ext uri="{FF2B5EF4-FFF2-40B4-BE49-F238E27FC236}">
                <a16:creationId xmlns:a16="http://schemas.microsoft.com/office/drawing/2014/main" id="{C89BBE23-D541-5A29-EFB9-DF0860D808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4500" y="4384676"/>
          <a:ext cx="578485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619440" imgH="368280" progId="Equation.3">
                  <p:embed/>
                </p:oleObj>
              </mc:Choice>
              <mc:Fallback>
                <p:oleObj name="Equation" r:id="rId14" imgW="3619440" imgH="368280" progId="Equation.3">
                  <p:embed/>
                  <p:pic>
                    <p:nvPicPr>
                      <p:cNvPr id="17" name="Object 17">
                        <a:extLst>
                          <a:ext uri="{FF2B5EF4-FFF2-40B4-BE49-F238E27FC236}">
                            <a16:creationId xmlns:a16="http://schemas.microsoft.com/office/drawing/2014/main" id="{C89BBE23-D541-5A29-EFB9-DF0860D808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4384676"/>
                        <a:ext cx="5784850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>
            <a:extLst>
              <a:ext uri="{FF2B5EF4-FFF2-40B4-BE49-F238E27FC236}">
                <a16:creationId xmlns:a16="http://schemas.microsoft.com/office/drawing/2014/main" id="{0D47D57A-8DCF-B842-B279-B39DB07979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2438" y="5251451"/>
          <a:ext cx="570230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568680" imgH="241200" progId="Equation.3">
                  <p:embed/>
                </p:oleObj>
              </mc:Choice>
              <mc:Fallback>
                <p:oleObj name="Equation" r:id="rId16" imgW="3568680" imgH="241200" progId="Equation.3">
                  <p:embed/>
                  <p:pic>
                    <p:nvPicPr>
                      <p:cNvPr id="18" name="Object 18">
                        <a:extLst>
                          <a:ext uri="{FF2B5EF4-FFF2-40B4-BE49-F238E27FC236}">
                            <a16:creationId xmlns:a16="http://schemas.microsoft.com/office/drawing/2014/main" id="{0D47D57A-8DCF-B842-B279-B39DB07979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2438" y="5251451"/>
                        <a:ext cx="5702300" cy="385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>
            <a:extLst>
              <a:ext uri="{FF2B5EF4-FFF2-40B4-BE49-F238E27FC236}">
                <a16:creationId xmlns:a16="http://schemas.microsoft.com/office/drawing/2014/main" id="{3DB0AAF4-BB2D-2129-F252-7BCA88611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663" y="4495801"/>
            <a:ext cx="192405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sz="2000">
                <a:solidFill>
                  <a:schemeClr val="accent2"/>
                </a:solidFill>
                <a:latin typeface="Arial Narrow" pitchFamily="34" charset="0"/>
              </a:rPr>
              <a:t>Para que o sinal de informação seja recuperado sem distorção</a:t>
            </a:r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584E9D34-50B3-BEC2-01F5-810CB3D6A4D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05713" y="4724400"/>
            <a:ext cx="285750" cy="838200"/>
          </a:xfrm>
          <a:prstGeom prst="curvedLeftArrow">
            <a:avLst>
              <a:gd name="adj1" fmla="val 58667"/>
              <a:gd name="adj2" fmla="val 117333"/>
              <a:gd name="adj3" fmla="val 33333"/>
            </a:avLst>
          </a:prstGeom>
          <a:solidFill>
            <a:schemeClr val="accent1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21" name="Object 21">
            <a:extLst>
              <a:ext uri="{FF2B5EF4-FFF2-40B4-BE49-F238E27FC236}">
                <a16:creationId xmlns:a16="http://schemas.microsoft.com/office/drawing/2014/main" id="{1C4FDA1A-921F-63BB-58CC-61120AF759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4539" y="2813051"/>
          <a:ext cx="451167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819160" imgH="368280" progId="Equation.3">
                  <p:embed/>
                </p:oleObj>
              </mc:Choice>
              <mc:Fallback>
                <p:oleObj name="Equation" r:id="rId18" imgW="2819160" imgH="368280" progId="Equation.3">
                  <p:embed/>
                  <p:pic>
                    <p:nvPicPr>
                      <p:cNvPr id="21" name="Object 21">
                        <a:extLst>
                          <a:ext uri="{FF2B5EF4-FFF2-40B4-BE49-F238E27FC236}">
                            <a16:creationId xmlns:a16="http://schemas.microsoft.com/office/drawing/2014/main" id="{1C4FDA1A-921F-63BB-58CC-61120AF759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4539" y="2813051"/>
                        <a:ext cx="4511675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AutoShape 22">
            <a:extLst>
              <a:ext uri="{FF2B5EF4-FFF2-40B4-BE49-F238E27FC236}">
                <a16:creationId xmlns:a16="http://schemas.microsoft.com/office/drawing/2014/main" id="{846960F7-E59E-199D-DDF8-D0937D4D33FB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5600700" y="3238500"/>
            <a:ext cx="361950" cy="419100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23" name="Object 23">
            <a:extLst>
              <a:ext uri="{FF2B5EF4-FFF2-40B4-BE49-F238E27FC236}">
                <a16:creationId xmlns:a16="http://schemas.microsoft.com/office/drawing/2014/main" id="{A0488CF8-6FB4-74B6-0F16-17B6E9297D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9101" y="5767389"/>
          <a:ext cx="5541963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466800" imgH="406080" progId="Equation.3">
                  <p:embed/>
                </p:oleObj>
              </mc:Choice>
              <mc:Fallback>
                <p:oleObj name="Equation" r:id="rId20" imgW="3466800" imgH="406080" progId="Equation.3">
                  <p:embed/>
                  <p:pic>
                    <p:nvPicPr>
                      <p:cNvPr id="23" name="Object 23">
                        <a:extLst>
                          <a:ext uri="{FF2B5EF4-FFF2-40B4-BE49-F238E27FC236}">
                            <a16:creationId xmlns:a16="http://schemas.microsoft.com/office/drawing/2014/main" id="{A0488CF8-6FB4-74B6-0F16-17B6E9297D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101" y="5767389"/>
                        <a:ext cx="5541963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AutoShape 24">
            <a:extLst>
              <a:ext uri="{FF2B5EF4-FFF2-40B4-BE49-F238E27FC236}">
                <a16:creationId xmlns:a16="http://schemas.microsoft.com/office/drawing/2014/main" id="{0B2B4BB2-F7DE-6FE3-8923-E0A7D9313E6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18413" y="5594350"/>
            <a:ext cx="285750" cy="628650"/>
          </a:xfrm>
          <a:prstGeom prst="curvedLeftArrow">
            <a:avLst>
              <a:gd name="adj1" fmla="val 44000"/>
              <a:gd name="adj2" fmla="val 88000"/>
              <a:gd name="adj3" fmla="val 33333"/>
            </a:avLst>
          </a:prstGeom>
          <a:solidFill>
            <a:schemeClr val="accent1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794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C5086-AD2B-8122-1E54-62AABE21E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Escolha do Filtro Vestigial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863324E4-3086-7336-8AB2-1FFE6F8B60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7188" y="1665288"/>
          <a:ext cx="5014912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36680" imgH="241200" progId="Equation.3">
                  <p:embed/>
                </p:oleObj>
              </mc:Choice>
              <mc:Fallback>
                <p:oleObj name="Equation" r:id="rId2" imgW="3136680" imgH="241200" progId="Equation.3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863324E4-3086-7336-8AB2-1FFE6F8B60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7188" y="1665288"/>
                        <a:ext cx="5014912" cy="385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A2656DCC-0DF1-091A-4450-301BD2319E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5800" y="1833564"/>
          <a:ext cx="35941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47840" imgH="406080" progId="Equation.3">
                  <p:embed/>
                </p:oleObj>
              </mc:Choice>
              <mc:Fallback>
                <p:oleObj name="Equation" r:id="rId4" imgW="2247840" imgH="406080" progId="Equation.3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A2656DCC-0DF1-091A-4450-301BD2319E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5800" y="1833564"/>
                        <a:ext cx="3594100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D8F43B46-9358-D0F1-50AB-D00C18F796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6" y="2217739"/>
          <a:ext cx="3656013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0" imgH="368280" progId="Equation.3">
                  <p:embed/>
                </p:oleObj>
              </mc:Choice>
              <mc:Fallback>
                <p:oleObj name="Equation" r:id="rId6" imgW="2286000" imgH="368280" progId="Equation.3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D8F43B46-9358-D0F1-50AB-D00C18F796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6" y="2217739"/>
                        <a:ext cx="3656013" cy="592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9404B16D-1F88-579C-4FB3-8A3BE5892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957263"/>
            <a:ext cx="5505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>
                <a:solidFill>
                  <a:schemeClr val="accent2"/>
                </a:solidFill>
                <a:latin typeface="Arial Narrow" pitchFamily="34" charset="0"/>
              </a:rPr>
              <a:t>Se </a:t>
            </a:r>
            <a:r>
              <a:rPr lang="pt-BR" i="1">
                <a:solidFill>
                  <a:schemeClr val="accent2"/>
                </a:solidFill>
                <a:latin typeface="Times New Roman" pitchFamily="18" charset="0"/>
              </a:rPr>
              <a:t>H</a:t>
            </a:r>
            <a:r>
              <a:rPr lang="pt-BR" i="1" baseline="-25000">
                <a:solidFill>
                  <a:schemeClr val="accent2"/>
                </a:solidFill>
                <a:latin typeface="Times New Roman" pitchFamily="18" charset="0"/>
              </a:rPr>
              <a:t>v</a:t>
            </a:r>
            <a:r>
              <a:rPr lang="pt-BR">
                <a:solidFill>
                  <a:schemeClr val="accent2"/>
                </a:solidFill>
                <a:latin typeface="Times New Roman" pitchFamily="18" charset="0"/>
              </a:rPr>
              <a:t>( </a:t>
            </a:r>
            <a:r>
              <a:rPr lang="pt-BR" i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f </a:t>
            </a:r>
            <a:r>
              <a:rPr lang="pt-BR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) </a:t>
            </a:r>
            <a:r>
              <a:rPr lang="pt-BR">
                <a:solidFill>
                  <a:schemeClr val="accent2"/>
                </a:solidFill>
                <a:latin typeface="Arial Narrow" pitchFamily="34" charset="0"/>
                <a:sym typeface="Symbol" pitchFamily="18" charset="2"/>
              </a:rPr>
              <a:t>for escolhido</a:t>
            </a:r>
            <a:r>
              <a:rPr lang="pt-BR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pt-BR">
                <a:solidFill>
                  <a:schemeClr val="accent2"/>
                </a:solidFill>
                <a:latin typeface="Arial Narrow" pitchFamily="34" charset="0"/>
                <a:sym typeface="Symbol" pitchFamily="18" charset="2"/>
              </a:rPr>
              <a:t>de modo que</a:t>
            </a:r>
            <a:endParaRPr lang="pt-BR">
              <a:solidFill>
                <a:schemeClr val="accent2"/>
              </a:solidFill>
              <a:latin typeface="Arial Narrow" pitchFamily="34" charset="0"/>
            </a:endParaRP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FCBFD18B-AAED-1ECB-D5D6-3B3F0B3C05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8301" y="3370263"/>
          <a:ext cx="50133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36680" imgH="253800" progId="Equation.3">
                  <p:embed/>
                </p:oleObj>
              </mc:Choice>
              <mc:Fallback>
                <p:oleObj name="Equation" r:id="rId8" imgW="3136680" imgH="253800" progId="Equation.3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FCBFD18B-AAED-1ECB-D5D6-3B3F0B3C05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1" y="3370263"/>
                        <a:ext cx="5013325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FB4261BA-9676-C8EB-4CD5-CCC206840D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78464" y="4121151"/>
          <a:ext cx="49307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85920" imgH="241200" progId="Equation.3">
                  <p:embed/>
                </p:oleObj>
              </mc:Choice>
              <mc:Fallback>
                <p:oleObj name="Equation" r:id="rId10" imgW="3085920" imgH="241200" progId="Equation.3">
                  <p:embed/>
                  <p:pic>
                    <p:nvPicPr>
                      <p:cNvPr id="8" name="Object 8">
                        <a:extLst>
                          <a:ext uri="{FF2B5EF4-FFF2-40B4-BE49-F238E27FC236}">
                            <a16:creationId xmlns:a16="http://schemas.microsoft.com/office/drawing/2014/main" id="{FB4261BA-9676-C8EB-4CD5-CCC206840D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8464" y="4121151"/>
                        <a:ext cx="4930775" cy="384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AutoShape 9">
            <a:extLst>
              <a:ext uri="{FF2B5EF4-FFF2-40B4-BE49-F238E27FC236}">
                <a16:creationId xmlns:a16="http://schemas.microsoft.com/office/drawing/2014/main" id="{945ED12E-CC31-08EF-56B9-9902028BD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1" y="1822451"/>
            <a:ext cx="174625" cy="842963"/>
          </a:xfrm>
          <a:prstGeom prst="curvedLeftArrow">
            <a:avLst>
              <a:gd name="adj1" fmla="val 96546"/>
              <a:gd name="adj2" fmla="val 193091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9C8A8FB7-B829-F10B-0EF8-FDD748736C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2113" y="3151188"/>
          <a:ext cx="19875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44520" imgH="253800" progId="Equation.3">
                  <p:embed/>
                </p:oleObj>
              </mc:Choice>
              <mc:Fallback>
                <p:oleObj name="Equation" r:id="rId12" imgW="1244520" imgH="253800" progId="Equation.3">
                  <p:embed/>
                  <p:pic>
                    <p:nvPicPr>
                      <p:cNvPr id="10" name="Object 10">
                        <a:extLst>
                          <a:ext uri="{FF2B5EF4-FFF2-40B4-BE49-F238E27FC236}">
                            <a16:creationId xmlns:a16="http://schemas.microsoft.com/office/drawing/2014/main" id="{9C8A8FB7-B829-F10B-0EF8-FDD748736C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2113" y="3151188"/>
                        <a:ext cx="198755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FD9414C0-686D-2267-0950-A3F8E06D88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3701" y="3705226"/>
          <a:ext cx="275907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26920" imgH="253800" progId="Equation.3">
                  <p:embed/>
                </p:oleObj>
              </mc:Choice>
              <mc:Fallback>
                <p:oleObj name="Equation" r:id="rId14" imgW="1726920" imgH="253800" progId="Equation.3">
                  <p:embed/>
                  <p:pic>
                    <p:nvPicPr>
                      <p:cNvPr id="11" name="Object 11">
                        <a:extLst>
                          <a:ext uri="{FF2B5EF4-FFF2-40B4-BE49-F238E27FC236}">
                            <a16:creationId xmlns:a16="http://schemas.microsoft.com/office/drawing/2014/main" id="{FD9414C0-686D-2267-0950-A3F8E06D88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701" y="3705226"/>
                        <a:ext cx="2759075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AutoShape 12">
            <a:extLst>
              <a:ext uri="{FF2B5EF4-FFF2-40B4-BE49-F238E27FC236}">
                <a16:creationId xmlns:a16="http://schemas.microsoft.com/office/drawing/2014/main" id="{63F1CBB9-7B5C-8EC9-EEDA-CD6C1A59C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7550" y="3340100"/>
            <a:ext cx="101600" cy="596900"/>
          </a:xfrm>
          <a:prstGeom prst="curvedLeftArrow">
            <a:avLst>
              <a:gd name="adj1" fmla="val 117500"/>
              <a:gd name="adj2" fmla="val 235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4B876569-1A4E-6B6E-083A-DCF9C57A0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450" y="3479800"/>
            <a:ext cx="222250" cy="215900"/>
          </a:xfrm>
          <a:prstGeom prst="rightArrow">
            <a:avLst>
              <a:gd name="adj1" fmla="val 50000"/>
              <a:gd name="adj2" fmla="val 2573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B4957342-5543-8E09-BC1D-41C37F685E4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753350" y="3835400"/>
            <a:ext cx="285750" cy="215900"/>
          </a:xfrm>
          <a:prstGeom prst="rightArrow">
            <a:avLst>
              <a:gd name="adj1" fmla="val 50000"/>
              <a:gd name="adj2" fmla="val 3308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2A3EE937-4573-C306-D0E7-BE27DC11EA72}"/>
              </a:ext>
            </a:extLst>
          </p:cNvPr>
          <p:cNvSpPr>
            <a:spLocks/>
          </p:cNvSpPr>
          <p:nvPr/>
        </p:nvSpPr>
        <p:spPr bwMode="auto">
          <a:xfrm>
            <a:off x="5467351" y="2114550"/>
            <a:ext cx="184731" cy="36933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34" y="144"/>
              </a:cxn>
              <a:cxn ang="0">
                <a:pos x="828" y="732"/>
              </a:cxn>
            </a:cxnLst>
            <a:rect l="0" t="0" r="r" b="b"/>
            <a:pathLst>
              <a:path w="828" h="732">
                <a:moveTo>
                  <a:pt x="0" y="0"/>
                </a:moveTo>
                <a:cubicBezTo>
                  <a:pt x="39" y="24"/>
                  <a:pt x="96" y="22"/>
                  <a:pt x="234" y="144"/>
                </a:cubicBezTo>
                <a:cubicBezTo>
                  <a:pt x="372" y="266"/>
                  <a:pt x="704" y="610"/>
                  <a:pt x="828" y="732"/>
                </a:cubicBezTo>
              </a:path>
            </a:pathLst>
          </a:custGeom>
          <a:noFill/>
          <a:ln w="38100" cap="flat" cmpd="sng">
            <a:solidFill>
              <a:schemeClr val="bg2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wrap="none">
            <a:spAutoFit/>
          </a:bodyPr>
          <a:lstStyle/>
          <a:p>
            <a:endParaRPr lang="pt-BR"/>
          </a:p>
        </p:txBody>
      </p:sp>
      <p:graphicFrame>
        <p:nvGraphicFramePr>
          <p:cNvPr id="16" name="Object 16">
            <a:extLst>
              <a:ext uri="{FF2B5EF4-FFF2-40B4-BE49-F238E27FC236}">
                <a16:creationId xmlns:a16="http://schemas.microsoft.com/office/drawing/2014/main" id="{80AE7C48-FF46-1C41-BC50-A5CDC7FA01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6175" y="6130926"/>
          <a:ext cx="66833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19040" imgH="228600" progId="">
                  <p:embed/>
                </p:oleObj>
              </mc:Choice>
              <mc:Fallback>
                <p:oleObj name="Equation" r:id="rId16" imgW="419040" imgH="228600" progId="">
                  <p:embed/>
                  <p:pic>
                    <p:nvPicPr>
                      <p:cNvPr id="16" name="Object 16">
                        <a:extLst>
                          <a:ext uri="{FF2B5EF4-FFF2-40B4-BE49-F238E27FC236}">
                            <a16:creationId xmlns:a16="http://schemas.microsoft.com/office/drawing/2014/main" id="{80AE7C48-FF46-1C41-BC50-A5CDC7FA01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6175" y="6130926"/>
                        <a:ext cx="668338" cy="365125"/>
                      </a:xfrm>
                      <a:prstGeom prst="rect">
                        <a:avLst/>
                      </a:prstGeom>
                      <a:solidFill>
                        <a:srgbClr val="99FFCC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>
            <a:extLst>
              <a:ext uri="{FF2B5EF4-FFF2-40B4-BE49-F238E27FC236}">
                <a16:creationId xmlns:a16="http://schemas.microsoft.com/office/drawing/2014/main" id="{2D105321-32A7-17BE-2C4D-A4E599327F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86325" y="6130926"/>
          <a:ext cx="6477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080" imgH="228600" progId="">
                  <p:embed/>
                </p:oleObj>
              </mc:Choice>
              <mc:Fallback>
                <p:oleObj name="Equation" r:id="rId18" imgW="406080" imgH="228600" progId="">
                  <p:embed/>
                  <p:pic>
                    <p:nvPicPr>
                      <p:cNvPr id="17" name="Object 17">
                        <a:extLst>
                          <a:ext uri="{FF2B5EF4-FFF2-40B4-BE49-F238E27FC236}">
                            <a16:creationId xmlns:a16="http://schemas.microsoft.com/office/drawing/2014/main" id="{2D105321-32A7-17BE-2C4D-A4E599327F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6325" y="6130926"/>
                        <a:ext cx="647700" cy="365125"/>
                      </a:xfrm>
                      <a:prstGeom prst="rect">
                        <a:avLst/>
                      </a:prstGeom>
                      <a:solidFill>
                        <a:srgbClr val="99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ine 18">
            <a:extLst>
              <a:ext uri="{FF2B5EF4-FFF2-40B4-BE49-F238E27FC236}">
                <a16:creationId xmlns:a16="http://schemas.microsoft.com/office/drawing/2014/main" id="{FBA820C7-E5F1-2793-8F1C-20A8CE3033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5548313"/>
            <a:ext cx="2489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pt-BR"/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64530C80-E763-E4C5-B398-3B48B58BBC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5027613"/>
            <a:ext cx="28892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pt-BR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A2BA29F6-4E0D-81A6-419E-0D6206AA7374}"/>
              </a:ext>
            </a:extLst>
          </p:cNvPr>
          <p:cNvSpPr>
            <a:spLocks/>
          </p:cNvSpPr>
          <p:nvPr/>
        </p:nvSpPr>
        <p:spPr bwMode="auto">
          <a:xfrm>
            <a:off x="5562601" y="5772150"/>
            <a:ext cx="184731" cy="369332"/>
          </a:xfrm>
          <a:custGeom>
            <a:avLst/>
            <a:gdLst/>
            <a:ahLst/>
            <a:cxnLst>
              <a:cxn ang="0">
                <a:pos x="0" y="330"/>
              </a:cxn>
              <a:cxn ang="0">
                <a:pos x="52" y="276"/>
              </a:cxn>
              <a:cxn ang="0">
                <a:pos x="84" y="0"/>
              </a:cxn>
            </a:cxnLst>
            <a:rect l="0" t="0" r="r" b="b"/>
            <a:pathLst>
              <a:path w="84" h="331">
                <a:moveTo>
                  <a:pt x="0" y="330"/>
                </a:moveTo>
                <a:cubicBezTo>
                  <a:pt x="9" y="321"/>
                  <a:pt x="38" y="331"/>
                  <a:pt x="52" y="276"/>
                </a:cubicBezTo>
                <a:cubicBezTo>
                  <a:pt x="66" y="221"/>
                  <a:pt x="77" y="57"/>
                  <a:pt x="84" y="0"/>
                </a:cubicBezTo>
              </a:path>
            </a:pathLst>
          </a:custGeom>
          <a:noFill/>
          <a:ln w="6350" cap="flat" cmpd="sng">
            <a:solidFill>
              <a:schemeClr val="tx1"/>
            </a:solidFill>
            <a:prstDash val="solid"/>
            <a:round/>
            <a:headEnd type="none" w="med" len="med"/>
            <a:tailEnd type="triangle" w="sm" len="lg"/>
          </a:ln>
          <a:effectLst/>
        </p:spPr>
        <p:txBody>
          <a:bodyPr wrap="none">
            <a:spAutoFit/>
          </a:bodyPr>
          <a:lstStyle/>
          <a:p>
            <a:endParaRPr lang="pt-BR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8DD5F59F-94F9-F04B-CE5D-2B40EFA4182B}"/>
              </a:ext>
            </a:extLst>
          </p:cNvPr>
          <p:cNvGrpSpPr>
            <a:grpSpLocks/>
          </p:cNvGrpSpPr>
          <p:nvPr/>
        </p:nvGrpSpPr>
        <p:grpSpPr bwMode="auto">
          <a:xfrm>
            <a:off x="2387600" y="4265613"/>
            <a:ext cx="7118350" cy="1871662"/>
            <a:chOff x="544" y="2687"/>
            <a:chExt cx="4484" cy="1179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B75A2909-ED38-10AA-FE78-DFC2C62D3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4" y="3043"/>
              <a:ext cx="2264" cy="577"/>
            </a:xfrm>
            <a:custGeom>
              <a:avLst/>
              <a:gdLst/>
              <a:ahLst/>
              <a:cxnLst>
                <a:cxn ang="0">
                  <a:pos x="0" y="752"/>
                </a:cxn>
                <a:cxn ang="0">
                  <a:pos x="144" y="720"/>
                </a:cxn>
                <a:cxn ang="0">
                  <a:pos x="296" y="624"/>
                </a:cxn>
                <a:cxn ang="0">
                  <a:pos x="384" y="456"/>
                </a:cxn>
                <a:cxn ang="0">
                  <a:pos x="512" y="224"/>
                </a:cxn>
                <a:cxn ang="0">
                  <a:pos x="640" y="56"/>
                </a:cxn>
                <a:cxn ang="0">
                  <a:pos x="848" y="0"/>
                </a:cxn>
                <a:cxn ang="0">
                  <a:pos x="1928" y="8"/>
                </a:cxn>
                <a:cxn ang="0">
                  <a:pos x="2016" y="120"/>
                </a:cxn>
                <a:cxn ang="0">
                  <a:pos x="2080" y="392"/>
                </a:cxn>
                <a:cxn ang="0">
                  <a:pos x="2144" y="640"/>
                </a:cxn>
                <a:cxn ang="0">
                  <a:pos x="2200" y="712"/>
                </a:cxn>
                <a:cxn ang="0">
                  <a:pos x="2264" y="768"/>
                </a:cxn>
                <a:cxn ang="0">
                  <a:pos x="0" y="752"/>
                </a:cxn>
              </a:cxnLst>
              <a:rect l="0" t="0" r="r" b="b"/>
              <a:pathLst>
                <a:path w="2264" h="768">
                  <a:moveTo>
                    <a:pt x="0" y="752"/>
                  </a:moveTo>
                  <a:lnTo>
                    <a:pt x="144" y="720"/>
                  </a:lnTo>
                  <a:lnTo>
                    <a:pt x="296" y="624"/>
                  </a:lnTo>
                  <a:lnTo>
                    <a:pt x="384" y="456"/>
                  </a:lnTo>
                  <a:lnTo>
                    <a:pt x="512" y="224"/>
                  </a:lnTo>
                  <a:lnTo>
                    <a:pt x="640" y="56"/>
                  </a:lnTo>
                  <a:lnTo>
                    <a:pt x="848" y="0"/>
                  </a:lnTo>
                  <a:lnTo>
                    <a:pt x="1928" y="8"/>
                  </a:lnTo>
                  <a:lnTo>
                    <a:pt x="2016" y="120"/>
                  </a:lnTo>
                  <a:lnTo>
                    <a:pt x="2080" y="392"/>
                  </a:lnTo>
                  <a:lnTo>
                    <a:pt x="2144" y="640"/>
                  </a:lnTo>
                  <a:lnTo>
                    <a:pt x="2200" y="712"/>
                  </a:lnTo>
                  <a:lnTo>
                    <a:pt x="2264" y="768"/>
                  </a:lnTo>
                  <a:lnTo>
                    <a:pt x="0" y="752"/>
                  </a:lnTo>
                  <a:close/>
                </a:path>
              </a:pathLst>
            </a:custGeom>
            <a:solidFill>
              <a:srgbClr val="FFFFCC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23" name="Object 23">
              <a:extLst>
                <a:ext uri="{FF2B5EF4-FFF2-40B4-BE49-F238E27FC236}">
                  <a16:creationId xmlns:a16="http://schemas.microsoft.com/office/drawing/2014/main" id="{8D8B56AD-387D-4A97-65DA-F17CECBE9F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89" y="3636"/>
            <a:ext cx="510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507960" imgH="228600" progId="Equation.3">
                    <p:embed/>
                  </p:oleObj>
                </mc:Choice>
                <mc:Fallback>
                  <p:oleObj name="Equation" r:id="rId20" imgW="507960" imgH="228600" progId="Equation.3">
                    <p:embed/>
                    <p:pic>
                      <p:nvPicPr>
                        <p:cNvPr id="23" name="Object 23">
                          <a:extLst>
                            <a:ext uri="{FF2B5EF4-FFF2-40B4-BE49-F238E27FC236}">
                              <a16:creationId xmlns:a16="http://schemas.microsoft.com/office/drawing/2014/main" id="{8D8B56AD-387D-4A97-65DA-F17CECBE9F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9" y="3636"/>
                          <a:ext cx="510" cy="2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70E90557-C083-66CA-D617-54258E7981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6" y="3615"/>
              <a:ext cx="41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B952C65F-983A-A38D-240B-13441D9BC4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2715"/>
              <a:ext cx="0" cy="10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26" name="Object 26">
              <a:extLst>
                <a:ext uri="{FF2B5EF4-FFF2-40B4-BE49-F238E27FC236}">
                  <a16:creationId xmlns:a16="http://schemas.microsoft.com/office/drawing/2014/main" id="{F252294C-809E-6D1A-1228-CABA8D2916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2" y="3630"/>
            <a:ext cx="472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469800" imgH="228600" progId="">
                    <p:embed/>
                  </p:oleObj>
                </mc:Choice>
                <mc:Fallback>
                  <p:oleObj name="Equation" r:id="rId22" imgW="469800" imgH="228600" progId="">
                    <p:embed/>
                    <p:pic>
                      <p:nvPicPr>
                        <p:cNvPr id="26" name="Object 26">
                          <a:extLst>
                            <a:ext uri="{FF2B5EF4-FFF2-40B4-BE49-F238E27FC236}">
                              <a16:creationId xmlns:a16="http://schemas.microsoft.com/office/drawing/2014/main" id="{F252294C-809E-6D1A-1228-CABA8D2916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2" y="3630"/>
                          <a:ext cx="472" cy="2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27">
              <a:extLst>
                <a:ext uri="{FF2B5EF4-FFF2-40B4-BE49-F238E27FC236}">
                  <a16:creationId xmlns:a16="http://schemas.microsoft.com/office/drawing/2014/main" id="{A4F59187-29F3-0B4D-506D-76ED9714B59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39" y="3630"/>
            <a:ext cx="472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469800" imgH="228600" progId="">
                    <p:embed/>
                  </p:oleObj>
                </mc:Choice>
                <mc:Fallback>
                  <p:oleObj name="Equation" r:id="rId24" imgW="469800" imgH="228600" progId="">
                    <p:embed/>
                    <p:pic>
                      <p:nvPicPr>
                        <p:cNvPr id="27" name="Object 27">
                          <a:extLst>
                            <a:ext uri="{FF2B5EF4-FFF2-40B4-BE49-F238E27FC236}">
                              <a16:creationId xmlns:a16="http://schemas.microsoft.com/office/drawing/2014/main" id="{A4F59187-29F3-0B4D-506D-76ED9714B59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9" y="3630"/>
                          <a:ext cx="472" cy="2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28">
              <a:extLst>
                <a:ext uri="{FF2B5EF4-FFF2-40B4-BE49-F238E27FC236}">
                  <a16:creationId xmlns:a16="http://schemas.microsoft.com/office/drawing/2014/main" id="{0F5384E4-A800-F869-D295-6CB74943CB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46" y="3630"/>
            <a:ext cx="191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90440" imgH="228600" progId="Equation.3">
                    <p:embed/>
                  </p:oleObj>
                </mc:Choice>
                <mc:Fallback>
                  <p:oleObj name="Equation" r:id="rId26" imgW="190440" imgH="228600" progId="Equation.3">
                    <p:embed/>
                    <p:pic>
                      <p:nvPicPr>
                        <p:cNvPr id="28" name="Object 28">
                          <a:extLst>
                            <a:ext uri="{FF2B5EF4-FFF2-40B4-BE49-F238E27FC236}">
                              <a16:creationId xmlns:a16="http://schemas.microsoft.com/office/drawing/2014/main" id="{0F5384E4-A800-F869-D295-6CB74943CB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6" y="3630"/>
                          <a:ext cx="191" cy="2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680A7B4A-FEDC-CB38-DDE7-A89DD4FCD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3606"/>
              <a:ext cx="45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" name="Line 30">
              <a:extLst>
                <a:ext uri="{FF2B5EF4-FFF2-40B4-BE49-F238E27FC236}">
                  <a16:creationId xmlns:a16="http://schemas.microsoft.com/office/drawing/2014/main" id="{9840E96E-AFF6-0997-77C6-27BF92C932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3606"/>
              <a:ext cx="143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" name="Line 31">
              <a:extLst>
                <a:ext uri="{FF2B5EF4-FFF2-40B4-BE49-F238E27FC236}">
                  <a16:creationId xmlns:a16="http://schemas.microsoft.com/office/drawing/2014/main" id="{98A1C878-9EA7-2D05-99C0-0DD2B2E05A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4" y="3572"/>
              <a:ext cx="0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2" name="Line 32">
              <a:extLst>
                <a:ext uri="{FF2B5EF4-FFF2-40B4-BE49-F238E27FC236}">
                  <a16:creationId xmlns:a16="http://schemas.microsoft.com/office/drawing/2014/main" id="{612AD469-2EC2-A98D-0D2C-945ECC0F65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2" y="3043"/>
              <a:ext cx="3172" cy="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3" name="Line 33">
              <a:extLst>
                <a:ext uri="{FF2B5EF4-FFF2-40B4-BE49-F238E27FC236}">
                  <a16:creationId xmlns:a16="http://schemas.microsoft.com/office/drawing/2014/main" id="{4AB83595-A9C3-F90C-A54E-184416E842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80" y="3040"/>
              <a:ext cx="0" cy="5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4" name="Line 34">
              <a:extLst>
                <a:ext uri="{FF2B5EF4-FFF2-40B4-BE49-F238E27FC236}">
                  <a16:creationId xmlns:a16="http://schemas.microsoft.com/office/drawing/2014/main" id="{6BB2D0BE-7499-69B0-07BA-63E1CFFB15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6" y="3051"/>
              <a:ext cx="0" cy="5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098A873E-2CE5-EF13-D735-47F2C358F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1" y="3043"/>
              <a:ext cx="881" cy="560"/>
            </a:xfrm>
            <a:custGeom>
              <a:avLst/>
              <a:gdLst/>
              <a:ahLst/>
              <a:cxnLst>
                <a:cxn ang="0">
                  <a:pos x="0" y="560"/>
                </a:cxn>
                <a:cxn ang="0">
                  <a:pos x="299" y="469"/>
                </a:cxn>
                <a:cxn ang="0">
                  <a:pos x="607" y="78"/>
                </a:cxn>
                <a:cxn ang="0">
                  <a:pos x="881" y="0"/>
                </a:cxn>
              </a:cxnLst>
              <a:rect l="0" t="0" r="r" b="b"/>
              <a:pathLst>
                <a:path w="881" h="560">
                  <a:moveTo>
                    <a:pt x="0" y="560"/>
                  </a:moveTo>
                  <a:cubicBezTo>
                    <a:pt x="50" y="544"/>
                    <a:pt x="198" y="549"/>
                    <a:pt x="299" y="469"/>
                  </a:cubicBezTo>
                  <a:cubicBezTo>
                    <a:pt x="400" y="389"/>
                    <a:pt x="510" y="156"/>
                    <a:pt x="607" y="78"/>
                  </a:cubicBezTo>
                  <a:cubicBezTo>
                    <a:pt x="704" y="0"/>
                    <a:pt x="824" y="17"/>
                    <a:pt x="881" y="0"/>
                  </a:cubicBez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6" name="Line 36">
              <a:extLst>
                <a:ext uri="{FF2B5EF4-FFF2-40B4-BE49-F238E27FC236}">
                  <a16:creationId xmlns:a16="http://schemas.microsoft.com/office/drawing/2014/main" id="{F5A70315-4E3C-6C44-5865-12CF01FF7B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4" y="3044"/>
              <a:ext cx="1062" cy="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7" name="Line 37">
              <a:extLst>
                <a:ext uri="{FF2B5EF4-FFF2-40B4-BE49-F238E27FC236}">
                  <a16:creationId xmlns:a16="http://schemas.microsoft.com/office/drawing/2014/main" id="{04423F97-94B6-429F-22AD-DC1C5DBD22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8" y="3572"/>
              <a:ext cx="0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9A1A760F-F64C-C7DE-F805-144F34D0FE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80" y="3567"/>
              <a:ext cx="0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9" name="Line 39">
              <a:extLst>
                <a:ext uri="{FF2B5EF4-FFF2-40B4-BE49-F238E27FC236}">
                  <a16:creationId xmlns:a16="http://schemas.microsoft.com/office/drawing/2014/main" id="{58A8C0F0-66D9-A97E-02A4-47EB584AAB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2" y="3567"/>
              <a:ext cx="0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0" name="Line 40">
              <a:extLst>
                <a:ext uri="{FF2B5EF4-FFF2-40B4-BE49-F238E27FC236}">
                  <a16:creationId xmlns:a16="http://schemas.microsoft.com/office/drawing/2014/main" id="{0CE69C7E-9280-EFEC-0C74-3351E13181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6" y="3332"/>
              <a:ext cx="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41" name="Object 41">
              <a:extLst>
                <a:ext uri="{FF2B5EF4-FFF2-40B4-BE49-F238E27FC236}">
                  <a16:creationId xmlns:a16="http://schemas.microsoft.com/office/drawing/2014/main" id="{BFD8EE1C-7C07-B7C1-CE6C-18742A3E1F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25" y="3631"/>
            <a:ext cx="165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64880" imgH="203040" progId="Equation.3">
                    <p:embed/>
                  </p:oleObj>
                </mc:Choice>
                <mc:Fallback>
                  <p:oleObj name="Equation" r:id="rId28" imgW="164880" imgH="203040" progId="Equation.3">
                    <p:embed/>
                    <p:pic>
                      <p:nvPicPr>
                        <p:cNvPr id="41" name="Object 41">
                          <a:extLst>
                            <a:ext uri="{FF2B5EF4-FFF2-40B4-BE49-F238E27FC236}">
                              <a16:creationId xmlns:a16="http://schemas.microsoft.com/office/drawing/2014/main" id="{BFD8EE1C-7C07-B7C1-CE6C-18742A3E1FF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5" y="3631"/>
                          <a:ext cx="165" cy="2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Line 42">
              <a:extLst>
                <a:ext uri="{FF2B5EF4-FFF2-40B4-BE49-F238E27FC236}">
                  <a16:creationId xmlns:a16="http://schemas.microsoft.com/office/drawing/2014/main" id="{812D5AC1-E148-CF83-0AA2-3793BC5B77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0" y="3738"/>
              <a:ext cx="1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43" name="Object 43">
              <a:extLst>
                <a:ext uri="{FF2B5EF4-FFF2-40B4-BE49-F238E27FC236}">
                  <a16:creationId xmlns:a16="http://schemas.microsoft.com/office/drawing/2014/main" id="{15AFE5F2-607A-2634-2E1D-5325769172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08" y="3631"/>
            <a:ext cx="127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26720" imgH="177480" progId="Equation.3">
                    <p:embed/>
                  </p:oleObj>
                </mc:Choice>
                <mc:Fallback>
                  <p:oleObj name="Equation" r:id="rId30" imgW="126720" imgH="177480" progId="Equation.3">
                    <p:embed/>
                    <p:pic>
                      <p:nvPicPr>
                        <p:cNvPr id="43" name="Object 43">
                          <a:extLst>
                            <a:ext uri="{FF2B5EF4-FFF2-40B4-BE49-F238E27FC236}">
                              <a16:creationId xmlns:a16="http://schemas.microsoft.com/office/drawing/2014/main" id="{15AFE5F2-607A-2634-2E1D-5325769172E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8" y="3631"/>
                          <a:ext cx="127" cy="1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Object 44">
              <a:extLst>
                <a:ext uri="{FF2B5EF4-FFF2-40B4-BE49-F238E27FC236}">
                  <a16:creationId xmlns:a16="http://schemas.microsoft.com/office/drawing/2014/main" id="{D232760A-B34E-5836-466B-FB048382BFF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75" y="2962"/>
            <a:ext cx="153" cy="1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52280" imgH="139680" progId="Equation.3">
                    <p:embed/>
                  </p:oleObj>
                </mc:Choice>
                <mc:Fallback>
                  <p:oleObj name="Equation" r:id="rId32" imgW="152280" imgH="139680" progId="Equation.3">
                    <p:embed/>
                    <p:pic>
                      <p:nvPicPr>
                        <p:cNvPr id="44" name="Object 44">
                          <a:extLst>
                            <a:ext uri="{FF2B5EF4-FFF2-40B4-BE49-F238E27FC236}">
                              <a16:creationId xmlns:a16="http://schemas.microsoft.com/office/drawing/2014/main" id="{D232760A-B34E-5836-466B-FB048382BFF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5" y="2962"/>
                          <a:ext cx="153" cy="1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45">
              <a:extLst>
                <a:ext uri="{FF2B5EF4-FFF2-40B4-BE49-F238E27FC236}">
                  <a16:creationId xmlns:a16="http://schemas.microsoft.com/office/drawing/2014/main" id="{85639CA5-8975-BAE1-45DB-6F122F76A2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4" y="2687"/>
            <a:ext cx="521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520560" imgH="253800" progId="Equation.3">
                    <p:embed/>
                  </p:oleObj>
                </mc:Choice>
                <mc:Fallback>
                  <p:oleObj name="Equation" r:id="rId34" imgW="520560" imgH="253800" progId="Equation.3">
                    <p:embed/>
                    <p:pic>
                      <p:nvPicPr>
                        <p:cNvPr id="45" name="Object 45">
                          <a:extLst>
                            <a:ext uri="{FF2B5EF4-FFF2-40B4-BE49-F238E27FC236}">
                              <a16:creationId xmlns:a16="http://schemas.microsoft.com/office/drawing/2014/main" id="{85639CA5-8975-BAE1-45DB-6F122F76A2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" y="2687"/>
                          <a:ext cx="521" cy="2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20AC5D79-7D71-2DC5-0D36-89B75BFCA45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230" y="3040"/>
              <a:ext cx="362" cy="574"/>
            </a:xfrm>
            <a:custGeom>
              <a:avLst/>
              <a:gdLst/>
              <a:ahLst/>
              <a:cxnLst>
                <a:cxn ang="0">
                  <a:pos x="0" y="764"/>
                </a:cxn>
                <a:cxn ang="0">
                  <a:pos x="296" y="624"/>
                </a:cxn>
                <a:cxn ang="0">
                  <a:pos x="604" y="104"/>
                </a:cxn>
                <a:cxn ang="0">
                  <a:pos x="878" y="0"/>
                </a:cxn>
              </a:cxnLst>
              <a:rect l="0" t="0" r="r" b="b"/>
              <a:pathLst>
                <a:path w="878" h="764">
                  <a:moveTo>
                    <a:pt x="0" y="764"/>
                  </a:moveTo>
                  <a:cubicBezTo>
                    <a:pt x="49" y="741"/>
                    <a:pt x="195" y="734"/>
                    <a:pt x="296" y="624"/>
                  </a:cubicBezTo>
                  <a:cubicBezTo>
                    <a:pt x="397" y="514"/>
                    <a:pt x="507" y="208"/>
                    <a:pt x="604" y="104"/>
                  </a:cubicBezTo>
                  <a:cubicBezTo>
                    <a:pt x="701" y="0"/>
                    <a:pt x="821" y="22"/>
                    <a:pt x="878" y="0"/>
                  </a:cubicBez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7" name="Freeform 47">
            <a:extLst>
              <a:ext uri="{FF2B5EF4-FFF2-40B4-BE49-F238E27FC236}">
                <a16:creationId xmlns:a16="http://schemas.microsoft.com/office/drawing/2014/main" id="{66181324-8203-0AB6-5DCF-CC802C743A76}"/>
              </a:ext>
            </a:extLst>
          </p:cNvPr>
          <p:cNvSpPr>
            <a:spLocks/>
          </p:cNvSpPr>
          <p:nvPr/>
        </p:nvSpPr>
        <p:spPr bwMode="auto">
          <a:xfrm flipH="1">
            <a:off x="6083301" y="5765800"/>
            <a:ext cx="184731" cy="369332"/>
          </a:xfrm>
          <a:custGeom>
            <a:avLst/>
            <a:gdLst/>
            <a:ahLst/>
            <a:cxnLst>
              <a:cxn ang="0">
                <a:pos x="0" y="330"/>
              </a:cxn>
              <a:cxn ang="0">
                <a:pos x="52" y="276"/>
              </a:cxn>
              <a:cxn ang="0">
                <a:pos x="84" y="0"/>
              </a:cxn>
            </a:cxnLst>
            <a:rect l="0" t="0" r="r" b="b"/>
            <a:pathLst>
              <a:path w="84" h="331">
                <a:moveTo>
                  <a:pt x="0" y="330"/>
                </a:moveTo>
                <a:cubicBezTo>
                  <a:pt x="9" y="321"/>
                  <a:pt x="38" y="331"/>
                  <a:pt x="52" y="276"/>
                </a:cubicBezTo>
                <a:cubicBezTo>
                  <a:pt x="66" y="221"/>
                  <a:pt x="77" y="57"/>
                  <a:pt x="84" y="0"/>
                </a:cubicBezTo>
              </a:path>
            </a:pathLst>
          </a:custGeom>
          <a:noFill/>
          <a:ln w="6350" cap="flat" cmpd="sng">
            <a:solidFill>
              <a:schemeClr val="tx1"/>
            </a:solidFill>
            <a:prstDash val="solid"/>
            <a:round/>
            <a:headEnd type="none" w="med" len="med"/>
            <a:tailEnd type="triangle" w="sm" len="lg"/>
          </a:ln>
          <a:effectLst/>
        </p:spPr>
        <p:txBody>
          <a:bodyPr wrap="none">
            <a:spAutoFit/>
          </a:bodyPr>
          <a:lstStyle/>
          <a:p>
            <a:endParaRPr lang="pt-BR"/>
          </a:p>
        </p:txBody>
      </p:sp>
      <p:sp>
        <p:nvSpPr>
          <p:cNvPr id="48" name="Line 48">
            <a:extLst>
              <a:ext uri="{FF2B5EF4-FFF2-40B4-BE49-F238E27FC236}">
                <a16:creationId xmlns:a16="http://schemas.microsoft.com/office/drawing/2014/main" id="{182FF814-04F5-78B4-3A4C-621CBE014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3300" y="5022850"/>
            <a:ext cx="0" cy="711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pt-BR"/>
          </a:p>
        </p:txBody>
      </p:sp>
      <p:sp>
        <p:nvSpPr>
          <p:cNvPr id="49" name="Line 49">
            <a:extLst>
              <a:ext uri="{FF2B5EF4-FFF2-40B4-BE49-F238E27FC236}">
                <a16:creationId xmlns:a16="http://schemas.microsoft.com/office/drawing/2014/main" id="{2B575230-DB29-B26F-EBB3-21BB0D9024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9600" y="5543550"/>
            <a:ext cx="0" cy="190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933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8" grpId="0" animBg="1"/>
      <p:bldP spid="19" grpId="0" animBg="1"/>
      <p:bldP spid="20" grpId="0" animBg="1"/>
      <p:bldP spid="47" grpId="0" animBg="1"/>
      <p:bldP spid="48" grpId="0" animBg="1"/>
      <p:bldP spid="4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A6FC7-536E-AEB0-6E56-6D283F507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VSB em TV analógica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CB5BBD-9665-1C8A-2005-5244F4CF9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Sinal de vídeo tem componentes DC</a:t>
            </a:r>
          </a:p>
          <a:p>
            <a:pPr lvl="1"/>
            <a:r>
              <a:rPr lang="pt-BR" sz="2800" dirty="0"/>
              <a:t>SSB não é viável</a:t>
            </a:r>
          </a:p>
          <a:p>
            <a:pPr lvl="1"/>
            <a:endParaRPr lang="pt-BR" dirty="0"/>
          </a:p>
          <a:p>
            <a:r>
              <a:rPr lang="pt-BR" dirty="0"/>
              <a:t>Sinal de vídeo é muito largo (4,2 MHz)</a:t>
            </a:r>
          </a:p>
          <a:p>
            <a:pPr lvl="1"/>
            <a:r>
              <a:rPr lang="pt-BR" sz="2800" dirty="0"/>
              <a:t>DSB desperdiça muita banda</a:t>
            </a:r>
          </a:p>
        </p:txBody>
      </p:sp>
    </p:spTree>
    <p:extLst>
      <p:ext uri="{BB962C8B-B14F-4D97-AF65-F5344CB8AC3E}">
        <p14:creationId xmlns:p14="http://schemas.microsoft.com/office/powerpoint/2010/main" val="397977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6D8D65-CCD3-3B8B-98FA-8D1A734A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VSB em TV Analógica</a:t>
            </a:r>
          </a:p>
        </p:txBody>
      </p:sp>
      <p:pic>
        <p:nvPicPr>
          <p:cNvPr id="4" name="Picture 3" descr="fig182b">
            <a:extLst>
              <a:ext uri="{FF2B5EF4-FFF2-40B4-BE49-F238E27FC236}">
                <a16:creationId xmlns:a16="http://schemas.microsoft.com/office/drawing/2014/main" id="{0B65FB4F-8073-7228-EC8F-C74D6A549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7837"/>
          <a:stretch>
            <a:fillRect/>
          </a:stretch>
        </p:blipFill>
        <p:spPr bwMode="auto">
          <a:xfrm>
            <a:off x="1306286" y="3616779"/>
            <a:ext cx="9144000" cy="2863850"/>
          </a:xfrm>
          <a:prstGeom prst="rect">
            <a:avLst/>
          </a:prstGeom>
          <a:noFill/>
        </p:spPr>
      </p:pic>
      <p:pic>
        <p:nvPicPr>
          <p:cNvPr id="6" name="Picture 4" descr="fig182a">
            <a:extLst>
              <a:ext uri="{FF2B5EF4-FFF2-40B4-BE49-F238E27FC236}">
                <a16:creationId xmlns:a16="http://schemas.microsoft.com/office/drawing/2014/main" id="{90885FC1-302A-7659-903F-09F96FE01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8308"/>
          <a:stretch>
            <a:fillRect/>
          </a:stretch>
        </p:blipFill>
        <p:spPr bwMode="auto">
          <a:xfrm>
            <a:off x="1306286" y="1156155"/>
            <a:ext cx="9144000" cy="26892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0255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647C8B-DCC9-C6EB-755A-72E9F8F1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Espectro Sistema PAL-M</a:t>
            </a:r>
            <a:br>
              <a:rPr lang="pt-BR" dirty="0"/>
            </a:br>
            <a:r>
              <a:rPr lang="pt-BR" dirty="0"/>
              <a:t>Padrão Brasileiro de TV Analógica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C671854-D617-06F9-BA74-1F121992594B}"/>
              </a:ext>
            </a:extLst>
          </p:cNvPr>
          <p:cNvGrpSpPr>
            <a:grpSpLocks/>
          </p:cNvGrpSpPr>
          <p:nvPr/>
        </p:nvGrpSpPr>
        <p:grpSpPr bwMode="auto">
          <a:xfrm>
            <a:off x="1866901" y="3568700"/>
            <a:ext cx="7980363" cy="1404938"/>
            <a:chOff x="168" y="2464"/>
            <a:chExt cx="5027" cy="885"/>
          </a:xfrm>
        </p:grpSpPr>
        <p:pic>
          <p:nvPicPr>
            <p:cNvPr id="4" name="Picture 4" descr="Espectro TV">
              <a:extLst>
                <a:ext uri="{FF2B5EF4-FFF2-40B4-BE49-F238E27FC236}">
                  <a16:creationId xmlns:a16="http://schemas.microsoft.com/office/drawing/2014/main" id="{BE0E5221-247E-833A-32F2-732FB443AB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76" y="2464"/>
              <a:ext cx="4504" cy="885"/>
            </a:xfrm>
            <a:prstGeom prst="rect">
              <a:avLst/>
            </a:prstGeom>
            <a:noFill/>
          </p:spPr>
        </p:pic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A2DB59F-7A98-AB06-444D-B00CCFA241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3" y="3291"/>
              <a:ext cx="392" cy="2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" y="21"/>
                </a:cxn>
                <a:cxn ang="0">
                  <a:pos x="392" y="21"/>
                </a:cxn>
              </a:cxnLst>
              <a:rect l="0" t="0" r="r" b="b"/>
              <a:pathLst>
                <a:path w="392" h="21">
                  <a:moveTo>
                    <a:pt x="0" y="0"/>
                  </a:moveTo>
                  <a:lnTo>
                    <a:pt x="38" y="21"/>
                  </a:lnTo>
                  <a:lnTo>
                    <a:pt x="392" y="21"/>
                  </a:lnTo>
                </a:path>
              </a:pathLst>
            </a:custGeom>
            <a:noFill/>
            <a:ln w="571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08E7E0C7-2412-37A5-2EEF-B333BC6BE9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" y="3312"/>
              <a:ext cx="381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62B5CFB-C9AE-659C-7C8E-7A7E7412D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3287"/>
              <a:ext cx="11" cy="34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34"/>
                </a:cxn>
              </a:cxnLst>
              <a:rect l="0" t="0" r="r" b="b"/>
              <a:pathLst>
                <a:path w="11" h="34">
                  <a:moveTo>
                    <a:pt x="11" y="0"/>
                  </a:moveTo>
                  <a:lnTo>
                    <a:pt x="0" y="34"/>
                  </a:lnTo>
                </a:path>
              </a:pathLst>
            </a:custGeom>
            <a:noFill/>
            <a:ln w="571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41179DF-507C-F196-AE7E-DAADA47B3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2" y="3283"/>
              <a:ext cx="13" cy="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36"/>
                </a:cxn>
              </a:cxnLst>
              <a:rect l="0" t="0" r="r" b="b"/>
              <a:pathLst>
                <a:path w="13" h="36">
                  <a:moveTo>
                    <a:pt x="0" y="0"/>
                  </a:moveTo>
                  <a:lnTo>
                    <a:pt x="13" y="36"/>
                  </a:lnTo>
                </a:path>
              </a:pathLst>
            </a:custGeom>
            <a:noFill/>
            <a:ln w="571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9" name="Line 9">
            <a:extLst>
              <a:ext uri="{FF2B5EF4-FFF2-40B4-BE49-F238E27FC236}">
                <a16:creationId xmlns:a16="http://schemas.microsoft.com/office/drawing/2014/main" id="{9823B5D1-DDAA-537B-50F6-D5713C69F1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5000" y="2170113"/>
            <a:ext cx="0" cy="142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D0F14055-E9CE-18F1-38AC-F7011D94F7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591550" y="2089151"/>
            <a:ext cx="0" cy="1573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A5E099DD-6121-4201-DE20-85A9B5A1C41F}"/>
              </a:ext>
            </a:extLst>
          </p:cNvPr>
          <p:cNvGrpSpPr>
            <a:grpSpLocks/>
          </p:cNvGrpSpPr>
          <p:nvPr/>
        </p:nvGrpSpPr>
        <p:grpSpPr bwMode="auto">
          <a:xfrm>
            <a:off x="4237038" y="1797051"/>
            <a:ext cx="4781550" cy="1852613"/>
            <a:chOff x="1661" y="1348"/>
            <a:chExt cx="3012" cy="1167"/>
          </a:xfrm>
        </p:grpSpPr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ABBB5D85-DF9A-8E82-56FE-C8C44DA2A2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61" y="1352"/>
              <a:ext cx="0" cy="9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B20C154F-701E-4FB8-25ED-D9F6B7949B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73" y="1348"/>
              <a:ext cx="0" cy="11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9F2DC0AF-AD00-70AF-9B19-51CB44C78CF5}"/>
              </a:ext>
            </a:extLst>
          </p:cNvPr>
          <p:cNvGrpSpPr>
            <a:grpSpLocks/>
          </p:cNvGrpSpPr>
          <p:nvPr/>
        </p:nvGrpSpPr>
        <p:grpSpPr bwMode="auto">
          <a:xfrm>
            <a:off x="2455864" y="1270001"/>
            <a:ext cx="6918325" cy="3559175"/>
            <a:chOff x="539" y="1372"/>
            <a:chExt cx="4358" cy="1922"/>
          </a:xfrm>
        </p:grpSpPr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61B83475-8EB9-7739-49D6-78A093A0C1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9" y="1384"/>
              <a:ext cx="0" cy="19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22FBFB90-CAEC-BED5-2433-0813C96A84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97" y="1372"/>
              <a:ext cx="0" cy="19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7" name="Line 17">
            <a:extLst>
              <a:ext uri="{FF2B5EF4-FFF2-40B4-BE49-F238E27FC236}">
                <a16:creationId xmlns:a16="http://schemas.microsoft.com/office/drawing/2014/main" id="{96A5DEFE-8A62-67AE-5734-FEE5E6BFBA5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9450" y="4929188"/>
            <a:ext cx="789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953A2B71-0796-81A5-ACE9-35D580681C36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1509713"/>
            <a:ext cx="30368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91BD8AF3-C54E-40F7-8D91-1B13DB36BD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57450" y="1509713"/>
            <a:ext cx="30368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4B0EDF38-92C8-F92F-8A32-7ED3F94F7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5450" y="1308101"/>
            <a:ext cx="819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>
                <a:latin typeface="Arial Narrow" pitchFamily="34" charset="0"/>
              </a:rPr>
              <a:t>6 MHz</a:t>
            </a:r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D125FBDB-A030-0906-2446-A3504C2F43F6}"/>
              </a:ext>
            </a:extLst>
          </p:cNvPr>
          <p:cNvSpPr>
            <a:spLocks noChangeShapeType="1"/>
          </p:cNvSpPr>
          <p:nvPr/>
        </p:nvSpPr>
        <p:spPr bwMode="auto">
          <a:xfrm>
            <a:off x="7124700" y="1941513"/>
            <a:ext cx="18938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F598E5A7-2638-E93B-E1AC-A61510F306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29100" y="1941513"/>
            <a:ext cx="18938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3" name="Text Box 23">
            <a:extLst>
              <a:ext uri="{FF2B5EF4-FFF2-40B4-BE49-F238E27FC236}">
                <a16:creationId xmlns:a16="http://schemas.microsoft.com/office/drawing/2014/main" id="{8B55FCFA-A091-4494-AF66-EA430EFE1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739901"/>
            <a:ext cx="1066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>
                <a:latin typeface="Arial Narrow" pitchFamily="34" charset="0"/>
              </a:rPr>
              <a:t>4,5 MHz</a:t>
            </a:r>
          </a:p>
        </p:txBody>
      </p:sp>
      <p:sp>
        <p:nvSpPr>
          <p:cNvPr id="24" name="Text Box 24">
            <a:extLst>
              <a:ext uri="{FF2B5EF4-FFF2-40B4-BE49-F238E27FC236}">
                <a16:creationId xmlns:a16="http://schemas.microsoft.com/office/drawing/2014/main" id="{71479C87-A587-5F7C-05B8-81AB1608F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2224088"/>
            <a:ext cx="11811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pt-BR" sz="2000">
                <a:latin typeface="Arial Narrow" pitchFamily="34" charset="0"/>
              </a:rPr>
              <a:t>0,75 MHz</a:t>
            </a:r>
          </a:p>
        </p:txBody>
      </p:sp>
      <p:sp>
        <p:nvSpPr>
          <p:cNvPr id="25" name="Line 25">
            <a:extLst>
              <a:ext uri="{FF2B5EF4-FFF2-40B4-BE49-F238E27FC236}">
                <a16:creationId xmlns:a16="http://schemas.microsoft.com/office/drawing/2014/main" id="{289333AE-2912-0E57-3238-3725FFA18F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4800" y="2401888"/>
            <a:ext cx="330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CCE39051-83CC-0AC9-CC5A-D15E1D5E0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941513"/>
            <a:ext cx="350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9F7B7616-A373-2FA1-BD16-375AA5FA02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57450" y="1941513"/>
            <a:ext cx="3619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E888D4A1-8D7D-E95A-4402-E94297982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1739901"/>
            <a:ext cx="11620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>
                <a:latin typeface="Arial Narrow" pitchFamily="34" charset="0"/>
              </a:rPr>
              <a:t>1,25 MHz</a:t>
            </a:r>
          </a:p>
        </p:txBody>
      </p:sp>
      <p:sp>
        <p:nvSpPr>
          <p:cNvPr id="29" name="Line 29">
            <a:extLst>
              <a:ext uri="{FF2B5EF4-FFF2-40B4-BE49-F238E27FC236}">
                <a16:creationId xmlns:a16="http://schemas.microsoft.com/office/drawing/2014/main" id="{A5EC148D-D597-428A-AC34-ABFB85193B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388475" y="1938338"/>
            <a:ext cx="3619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EA1C201E-5505-C45A-59FF-53B612C00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0" y="1774825"/>
            <a:ext cx="6286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pt-BR" sz="2000">
                <a:latin typeface="Arial Narrow" pitchFamily="34" charset="0"/>
              </a:rPr>
              <a:t>0,25 MHz</a:t>
            </a:r>
          </a:p>
        </p:txBody>
      </p:sp>
      <p:sp>
        <p:nvSpPr>
          <p:cNvPr id="31" name="Line 31">
            <a:extLst>
              <a:ext uri="{FF2B5EF4-FFF2-40B4-BE49-F238E27FC236}">
                <a16:creationId xmlns:a16="http://schemas.microsoft.com/office/drawing/2014/main" id="{5F7BAE4D-E8A6-BAF9-55D9-A56347E78A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75588" y="2590800"/>
            <a:ext cx="0" cy="1047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2" name="Line 32">
            <a:extLst>
              <a:ext uri="{FF2B5EF4-FFF2-40B4-BE49-F238E27FC236}">
                <a16:creationId xmlns:a16="http://schemas.microsoft.com/office/drawing/2014/main" id="{E78E7938-000C-7F7D-5690-FE29B0DFD5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32600" y="2871789"/>
            <a:ext cx="1036638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3" name="Line 33">
            <a:extLst>
              <a:ext uri="{FF2B5EF4-FFF2-40B4-BE49-F238E27FC236}">
                <a16:creationId xmlns:a16="http://schemas.microsoft.com/office/drawing/2014/main" id="{36058DB3-8B75-2F89-EB01-C53734C1E4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41800" y="2871789"/>
            <a:ext cx="1066800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4" name="Text Box 34">
            <a:extLst>
              <a:ext uri="{FF2B5EF4-FFF2-40B4-BE49-F238E27FC236}">
                <a16:creationId xmlns:a16="http://schemas.microsoft.com/office/drawing/2014/main" id="{CFD7B451-73EF-89E5-1A15-8747C0DE2F8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172076" y="2660651"/>
            <a:ext cx="1770063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>
                <a:latin typeface="Arial Narrow" pitchFamily="34" charset="0"/>
              </a:rPr>
              <a:t>3,57561149 MHz</a:t>
            </a:r>
          </a:p>
        </p:txBody>
      </p:sp>
      <p:graphicFrame>
        <p:nvGraphicFramePr>
          <p:cNvPr id="35" name="Object 35">
            <a:extLst>
              <a:ext uri="{FF2B5EF4-FFF2-40B4-BE49-F238E27FC236}">
                <a16:creationId xmlns:a16="http://schemas.microsoft.com/office/drawing/2014/main" id="{22CC4905-4986-F6DC-9A4D-F085CA636E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6850" y="4929188"/>
          <a:ext cx="482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1200" imgH="241200" progId="Equation.3">
                  <p:embed/>
                </p:oleObj>
              </mc:Choice>
              <mc:Fallback>
                <p:oleObj name="Equation" r:id="rId3" imgW="241200" imgH="241200" progId="Equation.3">
                  <p:embed/>
                  <p:pic>
                    <p:nvPicPr>
                      <p:cNvPr id="35" name="Object 35">
                        <a:extLst>
                          <a:ext uri="{FF2B5EF4-FFF2-40B4-BE49-F238E27FC236}">
                            <a16:creationId xmlns:a16="http://schemas.microsoft.com/office/drawing/2014/main" id="{22CC4905-4986-F6DC-9A4D-F085CA636E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6850" y="4929188"/>
                        <a:ext cx="4826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6">
            <a:extLst>
              <a:ext uri="{FF2B5EF4-FFF2-40B4-BE49-F238E27FC236}">
                <a16:creationId xmlns:a16="http://schemas.microsoft.com/office/drawing/2014/main" id="{567CCB11-2D65-0D23-6280-FDAFD8601A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45400" y="4929188"/>
          <a:ext cx="482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1200" imgH="241200" progId="Equation.3">
                  <p:embed/>
                </p:oleObj>
              </mc:Choice>
              <mc:Fallback>
                <p:oleObj name="Equation" r:id="rId5" imgW="241200" imgH="241200" progId="Equation.3">
                  <p:embed/>
                  <p:pic>
                    <p:nvPicPr>
                      <p:cNvPr id="36" name="Object 36">
                        <a:extLst>
                          <a:ext uri="{FF2B5EF4-FFF2-40B4-BE49-F238E27FC236}">
                            <a16:creationId xmlns:a16="http://schemas.microsoft.com/office/drawing/2014/main" id="{567CCB11-2D65-0D23-6280-FDAFD8601A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5400" y="4929188"/>
                        <a:ext cx="4826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7">
            <a:extLst>
              <a:ext uri="{FF2B5EF4-FFF2-40B4-BE49-F238E27FC236}">
                <a16:creationId xmlns:a16="http://schemas.microsoft.com/office/drawing/2014/main" id="{8E9CC0AF-FEA4-39B7-8CBA-CB84689943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88400" y="4929188"/>
          <a:ext cx="482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1200" imgH="241200" progId="Equation.3">
                  <p:embed/>
                </p:oleObj>
              </mc:Choice>
              <mc:Fallback>
                <p:oleObj name="Equation" r:id="rId7" imgW="241200" imgH="241200" progId="Equation.3">
                  <p:embed/>
                  <p:pic>
                    <p:nvPicPr>
                      <p:cNvPr id="37" name="Object 37">
                        <a:extLst>
                          <a:ext uri="{FF2B5EF4-FFF2-40B4-BE49-F238E27FC236}">
                            <a16:creationId xmlns:a16="http://schemas.microsoft.com/office/drawing/2014/main" id="{8E9CC0AF-FEA4-39B7-8CBA-CB84689943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8400" y="4929188"/>
                        <a:ext cx="4826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38">
            <a:extLst>
              <a:ext uri="{FF2B5EF4-FFF2-40B4-BE49-F238E27FC236}">
                <a16:creationId xmlns:a16="http://schemas.microsoft.com/office/drawing/2014/main" id="{D7F44FF8-4396-98B7-6EDF-00AA8AA37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2350" y="5391150"/>
            <a:ext cx="131445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pt-BR" sz="2000">
                <a:latin typeface="Arial Narrow" pitchFamily="34" charset="0"/>
              </a:rPr>
              <a:t>Freq. da portadora de vídeo</a:t>
            </a:r>
          </a:p>
        </p:txBody>
      </p:sp>
      <p:sp>
        <p:nvSpPr>
          <p:cNvPr id="39" name="Text Box 39">
            <a:extLst>
              <a:ext uri="{FF2B5EF4-FFF2-40B4-BE49-F238E27FC236}">
                <a16:creationId xmlns:a16="http://schemas.microsoft.com/office/drawing/2014/main" id="{42124ABE-73D6-D83E-D362-A5DEC4BAB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0" y="5391150"/>
            <a:ext cx="14859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54000" rIns="54000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pt-BR" sz="2000">
                <a:latin typeface="Arial Narrow" pitchFamily="34" charset="0"/>
              </a:rPr>
              <a:t>Freq. da subportadora de cor</a:t>
            </a:r>
          </a:p>
        </p:txBody>
      </p:sp>
      <p:sp>
        <p:nvSpPr>
          <p:cNvPr id="40" name="Text Box 40">
            <a:extLst>
              <a:ext uri="{FF2B5EF4-FFF2-40B4-BE49-F238E27FC236}">
                <a16:creationId xmlns:a16="http://schemas.microsoft.com/office/drawing/2014/main" id="{CC292727-F981-8F04-A078-95A56CA5E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5391150"/>
            <a:ext cx="131445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pt-BR" sz="2000">
                <a:latin typeface="Arial Narrow" pitchFamily="34" charset="0"/>
              </a:rPr>
              <a:t>Freq. da portadora de áudio</a:t>
            </a:r>
          </a:p>
        </p:txBody>
      </p:sp>
      <p:sp>
        <p:nvSpPr>
          <p:cNvPr id="41" name="Rectangle 41">
            <a:extLst>
              <a:ext uri="{FF2B5EF4-FFF2-40B4-BE49-F238E27FC236}">
                <a16:creationId xmlns:a16="http://schemas.microsoft.com/office/drawing/2014/main" id="{B231ED16-2175-2CD0-9EEF-27F058506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810000"/>
            <a:ext cx="5143500" cy="1104900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42" name="Group 42">
            <a:extLst>
              <a:ext uri="{FF2B5EF4-FFF2-40B4-BE49-F238E27FC236}">
                <a16:creationId xmlns:a16="http://schemas.microsoft.com/office/drawing/2014/main" id="{77AF3704-516F-39C0-0D21-424848C7945C}"/>
              </a:ext>
            </a:extLst>
          </p:cNvPr>
          <p:cNvGrpSpPr>
            <a:grpSpLocks/>
          </p:cNvGrpSpPr>
          <p:nvPr/>
        </p:nvGrpSpPr>
        <p:grpSpPr bwMode="auto">
          <a:xfrm>
            <a:off x="3168650" y="3790950"/>
            <a:ext cx="5137150" cy="1155700"/>
            <a:chOff x="988" y="1188"/>
            <a:chExt cx="3236" cy="920"/>
          </a:xfrm>
        </p:grpSpPr>
        <p:sp>
          <p:nvSpPr>
            <p:cNvPr id="43" name="Line 43">
              <a:extLst>
                <a:ext uri="{FF2B5EF4-FFF2-40B4-BE49-F238E27FC236}">
                  <a16:creationId xmlns:a16="http://schemas.microsoft.com/office/drawing/2014/main" id="{14430E0E-1C7A-46C0-6FAE-432478FA92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88" y="1188"/>
              <a:ext cx="0" cy="9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4" name="Line 44">
              <a:extLst>
                <a:ext uri="{FF2B5EF4-FFF2-40B4-BE49-F238E27FC236}">
                  <a16:creationId xmlns:a16="http://schemas.microsoft.com/office/drawing/2014/main" id="{4F45253A-7308-E493-2D1D-E789BB199A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1200"/>
              <a:ext cx="0" cy="9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5" name="Line 45">
            <a:extLst>
              <a:ext uri="{FF2B5EF4-FFF2-40B4-BE49-F238E27FC236}">
                <a16:creationId xmlns:a16="http://schemas.microsoft.com/office/drawing/2014/main" id="{7079D184-3574-3232-55A2-8C2B34B81A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75588" y="3835400"/>
            <a:ext cx="0" cy="10985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6" name="Line 46">
            <a:extLst>
              <a:ext uri="{FF2B5EF4-FFF2-40B4-BE49-F238E27FC236}">
                <a16:creationId xmlns:a16="http://schemas.microsoft.com/office/drawing/2014/main" id="{1C6E206D-4804-FD51-AA74-647DF2234E6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4000" y="4819650"/>
            <a:ext cx="0" cy="1095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7" name="Line 47">
            <a:extLst>
              <a:ext uri="{FF2B5EF4-FFF2-40B4-BE49-F238E27FC236}">
                <a16:creationId xmlns:a16="http://schemas.microsoft.com/office/drawing/2014/main" id="{3AFECB9E-821A-7C43-F6EC-D2D9248AE5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37038" y="3359150"/>
            <a:ext cx="0" cy="158115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triangle" w="sm" len="lg"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8" name="Freeform 48">
            <a:extLst>
              <a:ext uri="{FF2B5EF4-FFF2-40B4-BE49-F238E27FC236}">
                <a16:creationId xmlns:a16="http://schemas.microsoft.com/office/drawing/2014/main" id="{28FF5C2F-5F31-40BB-EF19-E7641107091C}"/>
              </a:ext>
            </a:extLst>
          </p:cNvPr>
          <p:cNvSpPr>
            <a:spLocks/>
          </p:cNvSpPr>
          <p:nvPr/>
        </p:nvSpPr>
        <p:spPr bwMode="auto">
          <a:xfrm>
            <a:off x="2546351" y="3805238"/>
            <a:ext cx="625475" cy="1117600"/>
          </a:xfrm>
          <a:custGeom>
            <a:avLst/>
            <a:gdLst/>
            <a:ahLst/>
            <a:cxnLst>
              <a:cxn ang="0">
                <a:pos x="0" y="704"/>
              </a:cxn>
              <a:cxn ang="0">
                <a:pos x="32" y="684"/>
              </a:cxn>
              <a:cxn ang="0">
                <a:pos x="71" y="636"/>
              </a:cxn>
              <a:cxn ang="0">
                <a:pos x="110" y="578"/>
              </a:cxn>
              <a:cxn ang="0">
                <a:pos x="145" y="508"/>
              </a:cxn>
              <a:cxn ang="0">
                <a:pos x="175" y="425"/>
              </a:cxn>
              <a:cxn ang="0">
                <a:pos x="195" y="348"/>
              </a:cxn>
              <a:cxn ang="0">
                <a:pos x="226" y="253"/>
              </a:cxn>
              <a:cxn ang="0">
                <a:pos x="253" y="172"/>
              </a:cxn>
              <a:cxn ang="0">
                <a:pos x="284" y="108"/>
              </a:cxn>
              <a:cxn ang="0">
                <a:pos x="320" y="54"/>
              </a:cxn>
              <a:cxn ang="0">
                <a:pos x="346" y="17"/>
              </a:cxn>
              <a:cxn ang="0">
                <a:pos x="394" y="0"/>
              </a:cxn>
              <a:cxn ang="0">
                <a:pos x="394" y="704"/>
              </a:cxn>
              <a:cxn ang="0">
                <a:pos x="0" y="704"/>
              </a:cxn>
            </a:cxnLst>
            <a:rect l="0" t="0" r="r" b="b"/>
            <a:pathLst>
              <a:path w="394" h="704">
                <a:moveTo>
                  <a:pt x="0" y="704"/>
                </a:moveTo>
                <a:lnTo>
                  <a:pt x="32" y="684"/>
                </a:lnTo>
                <a:lnTo>
                  <a:pt x="71" y="636"/>
                </a:lnTo>
                <a:lnTo>
                  <a:pt x="110" y="578"/>
                </a:lnTo>
                <a:lnTo>
                  <a:pt x="145" y="508"/>
                </a:lnTo>
                <a:lnTo>
                  <a:pt x="175" y="425"/>
                </a:lnTo>
                <a:lnTo>
                  <a:pt x="195" y="348"/>
                </a:lnTo>
                <a:lnTo>
                  <a:pt x="226" y="253"/>
                </a:lnTo>
                <a:lnTo>
                  <a:pt x="253" y="172"/>
                </a:lnTo>
                <a:lnTo>
                  <a:pt x="284" y="108"/>
                </a:lnTo>
                <a:lnTo>
                  <a:pt x="320" y="54"/>
                </a:lnTo>
                <a:lnTo>
                  <a:pt x="346" y="17"/>
                </a:lnTo>
                <a:lnTo>
                  <a:pt x="394" y="0"/>
                </a:lnTo>
                <a:lnTo>
                  <a:pt x="394" y="704"/>
                </a:lnTo>
                <a:lnTo>
                  <a:pt x="0" y="704"/>
                </a:lnTo>
                <a:close/>
              </a:path>
            </a:pathLst>
          </a:custGeom>
          <a:solidFill>
            <a:srgbClr val="CCECFF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9" name="Freeform 49">
            <a:extLst>
              <a:ext uri="{FF2B5EF4-FFF2-40B4-BE49-F238E27FC236}">
                <a16:creationId xmlns:a16="http://schemas.microsoft.com/office/drawing/2014/main" id="{4E89DF58-014D-824C-2CD4-A25513AEADC6}"/>
              </a:ext>
            </a:extLst>
          </p:cNvPr>
          <p:cNvSpPr>
            <a:spLocks/>
          </p:cNvSpPr>
          <p:nvPr/>
        </p:nvSpPr>
        <p:spPr bwMode="auto">
          <a:xfrm>
            <a:off x="8297864" y="3798888"/>
            <a:ext cx="490537" cy="1122362"/>
          </a:xfrm>
          <a:custGeom>
            <a:avLst/>
            <a:gdLst/>
            <a:ahLst/>
            <a:cxnLst>
              <a:cxn ang="0">
                <a:pos x="309" y="707"/>
              </a:cxn>
              <a:cxn ang="0">
                <a:pos x="292" y="687"/>
              </a:cxn>
              <a:cxn ang="0">
                <a:pos x="277" y="660"/>
              </a:cxn>
              <a:cxn ang="0">
                <a:pos x="255" y="600"/>
              </a:cxn>
              <a:cxn ang="0">
                <a:pos x="230" y="520"/>
              </a:cxn>
              <a:cxn ang="0">
                <a:pos x="215" y="435"/>
              </a:cxn>
              <a:cxn ang="0">
                <a:pos x="208" y="347"/>
              </a:cxn>
              <a:cxn ang="0">
                <a:pos x="195" y="255"/>
              </a:cxn>
              <a:cxn ang="0">
                <a:pos x="180" y="171"/>
              </a:cxn>
              <a:cxn ang="0">
                <a:pos x="150" y="88"/>
              </a:cxn>
              <a:cxn ang="0">
                <a:pos x="114" y="39"/>
              </a:cxn>
              <a:cxn ang="0">
                <a:pos x="60" y="11"/>
              </a:cxn>
              <a:cxn ang="0">
                <a:pos x="0" y="0"/>
              </a:cxn>
              <a:cxn ang="0">
                <a:pos x="3" y="706"/>
              </a:cxn>
              <a:cxn ang="0">
                <a:pos x="309" y="707"/>
              </a:cxn>
            </a:cxnLst>
            <a:rect l="0" t="0" r="r" b="b"/>
            <a:pathLst>
              <a:path w="309" h="707">
                <a:moveTo>
                  <a:pt x="309" y="707"/>
                </a:moveTo>
                <a:lnTo>
                  <a:pt x="292" y="687"/>
                </a:lnTo>
                <a:lnTo>
                  <a:pt x="277" y="660"/>
                </a:lnTo>
                <a:lnTo>
                  <a:pt x="255" y="600"/>
                </a:lnTo>
                <a:lnTo>
                  <a:pt x="230" y="520"/>
                </a:lnTo>
                <a:lnTo>
                  <a:pt x="215" y="435"/>
                </a:lnTo>
                <a:lnTo>
                  <a:pt x="208" y="347"/>
                </a:lnTo>
                <a:lnTo>
                  <a:pt x="195" y="255"/>
                </a:lnTo>
                <a:lnTo>
                  <a:pt x="180" y="171"/>
                </a:lnTo>
                <a:lnTo>
                  <a:pt x="150" y="88"/>
                </a:lnTo>
                <a:lnTo>
                  <a:pt x="114" y="39"/>
                </a:lnTo>
                <a:lnTo>
                  <a:pt x="60" y="11"/>
                </a:lnTo>
                <a:lnTo>
                  <a:pt x="0" y="0"/>
                </a:lnTo>
                <a:lnTo>
                  <a:pt x="3" y="706"/>
                </a:lnTo>
                <a:lnTo>
                  <a:pt x="309" y="707"/>
                </a:lnTo>
                <a:close/>
              </a:path>
            </a:pathLst>
          </a:custGeom>
          <a:solidFill>
            <a:srgbClr val="CCECFF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0" name="Freeform 50">
            <a:extLst>
              <a:ext uri="{FF2B5EF4-FFF2-40B4-BE49-F238E27FC236}">
                <a16:creationId xmlns:a16="http://schemas.microsoft.com/office/drawing/2014/main" id="{CF74B3E0-A1B7-B948-C86E-CD5984DB6BA1}"/>
              </a:ext>
            </a:extLst>
          </p:cNvPr>
          <p:cNvSpPr>
            <a:spLocks/>
          </p:cNvSpPr>
          <p:nvPr/>
        </p:nvSpPr>
        <p:spPr bwMode="auto">
          <a:xfrm>
            <a:off x="8832851" y="3789364"/>
            <a:ext cx="417513" cy="1138237"/>
          </a:xfrm>
          <a:custGeom>
            <a:avLst/>
            <a:gdLst/>
            <a:ahLst/>
            <a:cxnLst>
              <a:cxn ang="0">
                <a:pos x="0" y="715"/>
              </a:cxn>
              <a:cxn ang="0">
                <a:pos x="2" y="695"/>
              </a:cxn>
              <a:cxn ang="0">
                <a:pos x="20" y="670"/>
              </a:cxn>
              <a:cxn ang="0">
                <a:pos x="29" y="640"/>
              </a:cxn>
              <a:cxn ang="0">
                <a:pos x="46" y="567"/>
              </a:cxn>
              <a:cxn ang="0">
                <a:pos x="62" y="418"/>
              </a:cxn>
              <a:cxn ang="0">
                <a:pos x="77" y="264"/>
              </a:cxn>
              <a:cxn ang="0">
                <a:pos x="83" y="179"/>
              </a:cxn>
              <a:cxn ang="0">
                <a:pos x="91" y="130"/>
              </a:cxn>
              <a:cxn ang="0">
                <a:pos x="104" y="43"/>
              </a:cxn>
              <a:cxn ang="0">
                <a:pos x="112" y="0"/>
              </a:cxn>
              <a:cxn ang="0">
                <a:pos x="124" y="19"/>
              </a:cxn>
              <a:cxn ang="0">
                <a:pos x="141" y="126"/>
              </a:cxn>
              <a:cxn ang="0">
                <a:pos x="150" y="201"/>
              </a:cxn>
              <a:cxn ang="0">
                <a:pos x="161" y="303"/>
              </a:cxn>
              <a:cxn ang="0">
                <a:pos x="182" y="508"/>
              </a:cxn>
              <a:cxn ang="0">
                <a:pos x="194" y="612"/>
              </a:cxn>
              <a:cxn ang="0">
                <a:pos x="209" y="668"/>
              </a:cxn>
              <a:cxn ang="0">
                <a:pos x="232" y="700"/>
              </a:cxn>
              <a:cxn ang="0">
                <a:pos x="263" y="717"/>
              </a:cxn>
              <a:cxn ang="0">
                <a:pos x="0" y="715"/>
              </a:cxn>
            </a:cxnLst>
            <a:rect l="0" t="0" r="r" b="b"/>
            <a:pathLst>
              <a:path w="263" h="717">
                <a:moveTo>
                  <a:pt x="0" y="715"/>
                </a:moveTo>
                <a:lnTo>
                  <a:pt x="2" y="695"/>
                </a:lnTo>
                <a:lnTo>
                  <a:pt x="20" y="670"/>
                </a:lnTo>
                <a:lnTo>
                  <a:pt x="29" y="640"/>
                </a:lnTo>
                <a:lnTo>
                  <a:pt x="46" y="567"/>
                </a:lnTo>
                <a:lnTo>
                  <a:pt x="62" y="418"/>
                </a:lnTo>
                <a:lnTo>
                  <a:pt x="77" y="264"/>
                </a:lnTo>
                <a:lnTo>
                  <a:pt x="83" y="179"/>
                </a:lnTo>
                <a:lnTo>
                  <a:pt x="91" y="130"/>
                </a:lnTo>
                <a:lnTo>
                  <a:pt x="104" y="43"/>
                </a:lnTo>
                <a:lnTo>
                  <a:pt x="112" y="0"/>
                </a:lnTo>
                <a:lnTo>
                  <a:pt x="124" y="19"/>
                </a:lnTo>
                <a:lnTo>
                  <a:pt x="141" y="126"/>
                </a:lnTo>
                <a:lnTo>
                  <a:pt x="150" y="201"/>
                </a:lnTo>
                <a:lnTo>
                  <a:pt x="161" y="303"/>
                </a:lnTo>
                <a:lnTo>
                  <a:pt x="182" y="508"/>
                </a:lnTo>
                <a:lnTo>
                  <a:pt x="194" y="612"/>
                </a:lnTo>
                <a:lnTo>
                  <a:pt x="209" y="668"/>
                </a:lnTo>
                <a:lnTo>
                  <a:pt x="232" y="700"/>
                </a:lnTo>
                <a:lnTo>
                  <a:pt x="263" y="717"/>
                </a:lnTo>
                <a:lnTo>
                  <a:pt x="0" y="715"/>
                </a:lnTo>
                <a:close/>
              </a:path>
            </a:pathLst>
          </a:custGeom>
          <a:solidFill>
            <a:srgbClr val="3399FF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1" name="Line 51">
            <a:extLst>
              <a:ext uri="{FF2B5EF4-FFF2-40B4-BE49-F238E27FC236}">
                <a16:creationId xmlns:a16="http://schemas.microsoft.com/office/drawing/2014/main" id="{291A94AF-6C63-7A78-BB3B-EC491FFE31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18588" y="3835400"/>
            <a:ext cx="0" cy="10985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2" name="Line 52">
            <a:extLst>
              <a:ext uri="{FF2B5EF4-FFF2-40B4-BE49-F238E27FC236}">
                <a16:creationId xmlns:a16="http://schemas.microsoft.com/office/drawing/2014/main" id="{3AEAB007-04BC-8ED7-BD9B-061668834D0A}"/>
              </a:ext>
            </a:extLst>
          </p:cNvPr>
          <p:cNvSpPr>
            <a:spLocks noChangeShapeType="1"/>
          </p:cNvSpPr>
          <p:nvPr/>
        </p:nvSpPr>
        <p:spPr bwMode="auto">
          <a:xfrm>
            <a:off x="9017000" y="4813300"/>
            <a:ext cx="0" cy="1095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3" name="Text Box 53">
            <a:extLst>
              <a:ext uri="{FF2B5EF4-FFF2-40B4-BE49-F238E27FC236}">
                <a16:creationId xmlns:a16="http://schemas.microsoft.com/office/drawing/2014/main" id="{BA7148FE-761E-2CC6-CEDA-351CC15A1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276601"/>
            <a:ext cx="295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pt-BR" sz="2000">
                <a:latin typeface="Arial Narrow" pitchFamily="34" charset="0"/>
              </a:rPr>
              <a:t>Espectro do sinal de vídeo</a:t>
            </a:r>
          </a:p>
        </p:txBody>
      </p:sp>
      <p:sp>
        <p:nvSpPr>
          <p:cNvPr id="54" name="Line 54">
            <a:extLst>
              <a:ext uri="{FF2B5EF4-FFF2-40B4-BE49-F238E27FC236}">
                <a16:creationId xmlns:a16="http://schemas.microsoft.com/office/drawing/2014/main" id="{CBC5B8E8-602C-2E6B-CBBE-43E78998CE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08550" y="3479801"/>
            <a:ext cx="177800" cy="257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5" name="Text Box 55">
            <a:extLst>
              <a:ext uri="{FF2B5EF4-FFF2-40B4-BE49-F238E27FC236}">
                <a16:creationId xmlns:a16="http://schemas.microsoft.com/office/drawing/2014/main" id="{88F5CCC4-4AAC-C98E-1080-A3AE99273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375" y="3448050"/>
            <a:ext cx="11049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pt-BR" sz="2000">
                <a:latin typeface="Arial Narrow" pitchFamily="34" charset="0"/>
              </a:rPr>
              <a:t>Espectro do sinal de áudio</a:t>
            </a:r>
          </a:p>
        </p:txBody>
      </p:sp>
      <p:sp>
        <p:nvSpPr>
          <p:cNvPr id="56" name="Line 56">
            <a:extLst>
              <a:ext uri="{FF2B5EF4-FFF2-40B4-BE49-F238E27FC236}">
                <a16:creationId xmlns:a16="http://schemas.microsoft.com/office/drawing/2014/main" id="{DE7365A2-F7FE-0EAB-FA40-14D5892933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28125" y="3917951"/>
            <a:ext cx="425450" cy="157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57" name="Group 57">
            <a:extLst>
              <a:ext uri="{FF2B5EF4-FFF2-40B4-BE49-F238E27FC236}">
                <a16:creationId xmlns:a16="http://schemas.microsoft.com/office/drawing/2014/main" id="{10B56F91-809E-CB5E-D341-326EDAC8B649}"/>
              </a:ext>
            </a:extLst>
          </p:cNvPr>
          <p:cNvGrpSpPr>
            <a:grpSpLocks/>
          </p:cNvGrpSpPr>
          <p:nvPr/>
        </p:nvGrpSpPr>
        <p:grpSpPr bwMode="auto">
          <a:xfrm>
            <a:off x="1628776" y="3157539"/>
            <a:ext cx="7750175" cy="3214687"/>
            <a:chOff x="66" y="2097"/>
            <a:chExt cx="4882" cy="2025"/>
          </a:xfrm>
        </p:grpSpPr>
        <p:grpSp>
          <p:nvGrpSpPr>
            <p:cNvPr id="58" name="Group 58">
              <a:extLst>
                <a:ext uri="{FF2B5EF4-FFF2-40B4-BE49-F238E27FC236}">
                  <a16:creationId xmlns:a16="http://schemas.microsoft.com/office/drawing/2014/main" id="{4A89367F-3817-0BCB-5DD9-6DBB864793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8" y="2097"/>
              <a:ext cx="3920" cy="1129"/>
              <a:chOff x="1088" y="2097"/>
              <a:chExt cx="3920" cy="1129"/>
            </a:xfrm>
          </p:grpSpPr>
          <p:sp>
            <p:nvSpPr>
              <p:cNvPr id="61" name="Line 59">
                <a:extLst>
                  <a:ext uri="{FF2B5EF4-FFF2-40B4-BE49-F238E27FC236}">
                    <a16:creationId xmlns:a16="http://schemas.microsoft.com/office/drawing/2014/main" id="{520F598C-87AA-D0D1-538C-F87851C310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88" y="2100"/>
                <a:ext cx="1228" cy="1116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2" name="Line 60">
                <a:extLst>
                  <a:ext uri="{FF2B5EF4-FFF2-40B4-BE49-F238E27FC236}">
                    <a16:creationId xmlns:a16="http://schemas.microsoft.com/office/drawing/2014/main" id="{D970D338-C80C-4881-7BDE-C0C40C6674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6" y="2100"/>
                <a:ext cx="2584" cy="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3" name="Freeform 61">
                <a:extLst>
                  <a:ext uri="{FF2B5EF4-FFF2-40B4-BE49-F238E27FC236}">
                    <a16:creationId xmlns:a16="http://schemas.microsoft.com/office/drawing/2014/main" id="{E44463A4-0056-BF8E-AC45-88F9EBC260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6" y="2097"/>
                <a:ext cx="112" cy="1129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44" y="107"/>
                  </a:cxn>
                  <a:cxn ang="0">
                    <a:pos x="76" y="643"/>
                  </a:cxn>
                  <a:cxn ang="0">
                    <a:pos x="104" y="1071"/>
                  </a:cxn>
                  <a:cxn ang="0">
                    <a:pos x="112" y="1111"/>
                  </a:cxn>
                </a:cxnLst>
                <a:rect l="0" t="0" r="r" b="b"/>
                <a:pathLst>
                  <a:path w="112" h="1149">
                    <a:moveTo>
                      <a:pt x="0" y="3"/>
                    </a:moveTo>
                    <a:cubicBezTo>
                      <a:pt x="15" y="1"/>
                      <a:pt x="31" y="0"/>
                      <a:pt x="44" y="107"/>
                    </a:cubicBezTo>
                    <a:cubicBezTo>
                      <a:pt x="57" y="214"/>
                      <a:pt x="66" y="482"/>
                      <a:pt x="76" y="643"/>
                    </a:cubicBezTo>
                    <a:cubicBezTo>
                      <a:pt x="86" y="804"/>
                      <a:pt x="98" y="993"/>
                      <a:pt x="104" y="1071"/>
                    </a:cubicBezTo>
                    <a:cubicBezTo>
                      <a:pt x="110" y="1149"/>
                      <a:pt x="111" y="1130"/>
                      <a:pt x="112" y="1111"/>
                    </a:cubicBezTo>
                  </a:path>
                </a:pathLst>
              </a:custGeom>
              <a:noFill/>
              <a:ln w="28575" cap="flat" cmpd="sng">
                <a:solidFill>
                  <a:srgbClr val="FF330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59" name="Text Box 62">
              <a:extLst>
                <a:ext uri="{FF2B5EF4-FFF2-40B4-BE49-F238E27FC236}">
                  <a16:creationId xmlns:a16="http://schemas.microsoft.com/office/drawing/2014/main" id="{DF0FC456-2602-ADDF-7B68-FFB141CEDB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" y="3372"/>
              <a:ext cx="1284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90000"/>
                </a:lnSpc>
                <a:spcBef>
                  <a:spcPct val="50000"/>
                </a:spcBef>
              </a:pPr>
              <a:r>
                <a:rPr lang="pt-BR" sz="2000">
                  <a:latin typeface="Arial Narrow" pitchFamily="34" charset="0"/>
                </a:rPr>
                <a:t>Resposta de freqüência do amplificador de FI do receptor</a:t>
              </a:r>
            </a:p>
          </p:txBody>
        </p:sp>
        <p:sp>
          <p:nvSpPr>
            <p:cNvPr id="60" name="Freeform 63">
              <a:extLst>
                <a:ext uri="{FF2B5EF4-FFF2-40B4-BE49-F238E27FC236}">
                  <a16:creationId xmlns:a16="http://schemas.microsoft.com/office/drawing/2014/main" id="{5C2B0703-ACBB-136B-FD01-A482AE49D3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4" y="3028"/>
              <a:ext cx="243" cy="628"/>
            </a:xfrm>
            <a:custGeom>
              <a:avLst/>
              <a:gdLst/>
              <a:ahLst/>
              <a:cxnLst>
                <a:cxn ang="0">
                  <a:pos x="0" y="628"/>
                </a:cxn>
                <a:cxn ang="0">
                  <a:pos x="204" y="468"/>
                </a:cxn>
                <a:cxn ang="0">
                  <a:pos x="232" y="0"/>
                </a:cxn>
              </a:cxnLst>
              <a:rect l="0" t="0" r="r" b="b"/>
              <a:pathLst>
                <a:path w="243" h="628">
                  <a:moveTo>
                    <a:pt x="0" y="628"/>
                  </a:moveTo>
                  <a:cubicBezTo>
                    <a:pt x="83" y="600"/>
                    <a:pt x="165" y="573"/>
                    <a:pt x="204" y="468"/>
                  </a:cubicBezTo>
                  <a:cubicBezTo>
                    <a:pt x="243" y="363"/>
                    <a:pt x="226" y="97"/>
                    <a:pt x="232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sm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64" name="Line 64">
            <a:extLst>
              <a:ext uri="{FF2B5EF4-FFF2-40B4-BE49-F238E27FC236}">
                <a16:creationId xmlns:a16="http://schemas.microsoft.com/office/drawing/2014/main" id="{4B64A832-B584-E52A-2B2C-CA466D7850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5450" y="2405063"/>
            <a:ext cx="43513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65" name="Text Box 65">
            <a:extLst>
              <a:ext uri="{FF2B5EF4-FFF2-40B4-BE49-F238E27FC236}">
                <a16:creationId xmlns:a16="http://schemas.microsoft.com/office/drawing/2014/main" id="{BA6122CC-582A-EB18-AED5-A5654C9BACB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876925" y="2203451"/>
            <a:ext cx="106680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>
                <a:latin typeface="Arial Narrow" pitchFamily="34" charset="0"/>
              </a:rPr>
              <a:t>4,2 MHz</a:t>
            </a:r>
          </a:p>
        </p:txBody>
      </p:sp>
    </p:spTree>
    <p:extLst>
      <p:ext uri="{BB962C8B-B14F-4D97-AF65-F5344CB8AC3E}">
        <p14:creationId xmlns:p14="http://schemas.microsoft.com/office/powerpoint/2010/main" val="182837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558EA0-E91B-BB42-0E00-3B30676B0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Espectro Real de TV Analógica</a:t>
            </a:r>
          </a:p>
        </p:txBody>
      </p:sp>
      <p:pic>
        <p:nvPicPr>
          <p:cNvPr id="4" name="Picture 6" descr="http://www.ka7oei.com/TVBND.GIF">
            <a:extLst>
              <a:ext uri="{FF2B5EF4-FFF2-40B4-BE49-F238E27FC236}">
                <a16:creationId xmlns:a16="http://schemas.microsoft.com/office/drawing/2014/main" id="{12221C25-9173-C2EF-D20A-852D1756D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48157" y="1430049"/>
            <a:ext cx="6529243" cy="47636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95628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91CDF1-CF10-CAE1-8B61-EA78D24E4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VSB hoje em dia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C6D6B4-4570-3AF9-0C6D-0CD8F1980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TV Analógica foi descontinuada na maior parte do mundo</a:t>
            </a:r>
          </a:p>
          <a:p>
            <a:r>
              <a:rPr lang="pt-BR" dirty="0"/>
              <a:t>O sistema de TV digital americano (ATSC 1.0 e 2.0) ainda usa uma versão digital do VSB</a:t>
            </a:r>
          </a:p>
        </p:txBody>
      </p:sp>
    </p:spTree>
    <p:extLst>
      <p:ext uri="{BB962C8B-B14F-4D97-AF65-F5344CB8AC3E}">
        <p14:creationId xmlns:p14="http://schemas.microsoft.com/office/powerpoint/2010/main" val="1350702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Espectro TV</a:t>
            </a:r>
          </a:p>
        </p:txBody>
      </p:sp>
      <p:sp>
        <p:nvSpPr>
          <p:cNvPr id="281602" name="AutoShape 2" descr="data:image/jpeg;base64,/9j/4AAQSkZJRgABAQAAAQABAAD/2wCEAAkGBxISEhUUExQVFhQXGRcYGBcYGB0bHRwXHB0YFxwfGB0YISggHBolHR0YITEhJSkrLi4uGh8zODMsNygtLisBCgoKBQUFDgUFDisZExkrKysrKysrKysrKysrKysrKysrKysrKysrKysrKysrKysrKysrKysrKysrKysrKysrK//AABEIAMABBwMBIgACEQEDEQH/xAAbAAACAwEBAQAAAAAAAAAAAAAFBgADBAIBB//EAE4QAAIBAgQCAwkMCAQFBAMAAAECAwQRAAUSIRMxBhQiIzJBUVNUYZPRFRYzNEJScYGSs9LTByRDcnORlLJidKG0Y4OiscFEo6TUwuHx/8QAFAEBAAAAAAAAAAAAAAAAAAAAAP/EABQRAQAAAAAAAAAAAAAAAAAAAAD/2gAMAwEAAhEDEQA/APqFf7p9bXhdX6nqi1ar8W3b4mn5PzOfptjqjkrzUycVFWmfUsel1Lx6e9YjTY69za7W7At3xwfwlaM5UlrqwPWLLrjJHZlMJ08JLdoRj4R+e4O5AGcuy2oCSiSpnLFmCMeFdUDEqVtHa5Fgbg/VgTV0+ZJT0oWSV5SL1BAhLByi7C+hdIfVy/1wy5fXNJfVFLHYDdwoufRpY4srmmAHBWMm++tmUW9GlTc4ABIuYhS0Z1WgQCOXQrNMTLrIZLhWHcyAbqeVxu2GSDVpXV31hf6bb8vThV6SVGZao1gRwdF3eMxmMPci1pELvYWNrpsed+WovXdbtaTh61A2i4PB0DUWJPF4uvUABt3u1rnAZ6M5kOKbMXEUthKYuE09xwuDwiHEffX4ljbT4bnGeZ80eKQgSKdcOi6wB9G/EsFlZbX082B529LPmEsxjmEKd1VG4Re2hpCpK8jfSGsDe2AEFTmKxylUlbeLRx1hMu5PFOiF0RlA02uwN9fMBbgU6K9a4H63fia3sW0huHe66hGSoIG3M8gTzsDGEarnzZkhIEikmp4hSOIGwdBBdWZwLpqOxPpIxqafOOHEVSHWIYzIrJcmbhys9mWUBQXWNORtxCbkDAN+AVKK5dZez8JGSNQVHHY2KySG3cyAAthtcyGxGnB3EwC3Q+6QgYSiMzxsHUqwKzJzaM9ldB75Qbbdgkt2hijNkzERx6TIzlZC4hMQ0yMylFJlteNV1rcbkgE89mLMmcROY+/0nTZQxv6FLKCfpIwu1VRXtDTMFnVjEeMI1gMgnAWwYSnQIydd9P8Ah3AwDHl/E4UfFAEmhdYBuNdhqsQBfe+9hgbxarrjrpY05i7LERhBKLEXIbiEm5v2QNh9JH11XmYeNVjW16bWVRWUgsvH7bSqVAXXYaGNrEEk7Z8ulzTrY4ms0/FnDArGFEI4nCKle0TtH4zub+gLKNcy4Ut+KH0J8IYLmXV3Q0/D7IUrfTxPDpuANWDHR0VGh+PrA19zEpjMgj0r8JwuxfXrta+1r74tyzjOxllvGpFkh2uo56pCP2h8QNlG25ucEcBMLdbHmXFk4bxCEyxFLgaxGoi1qvySHPE3bddJsG1DSyYEZjUVC1NOEVmgbUJbKth2W0lmZgQAwXZVPPngBsSZmNesq145hFw9A0ydsoZtfPbQAUNrk6l8I1ZBTVqSt1hw8ZjW3aDWkBN/2aHcW8Y28Hh5NLW8eZlmkESq4RXWE65GF1KaVBWNL27RuxvewF2o6IdfDOKt3kXSpVnijis9zdQI2bVtY3JtgD9cJrDgmMG++sEi3o0kb4W+krZjdFgV78NtUkRiCiS+3c5gWaw3tqUf+N3SSqquDEaaObW7DUAY1KLpJOsusg52HZU7+EDfAmvqMz4cIQScTQxkcCILq1HSGVkYswFuWgHntewDuaLMxWhlklaDiRdgxwrHw9KCTt8QyXB1tbQbmw5doMeaPOYpxAtphG3BZ7aTIVOnwk2DWvcD68CJXzPiHSITFxodyLPwbwiQBb6TcGVtRa66SLNcHFlNLmIEXEWO1n4hXdrhGK3XZe+07K3P0b4DFkqZgY5xOZyQqNGQIEcuNRZFALoAeyNTEc9gLXxfKuYwRRKGM7kyGVgkbMt7FEUFoQUG41nc2Gwv2dvRWrq5I2NWgR9XZUJosng1dtwW8JsbC9t7XJvAIVe2c2i0atfVoCwAh0mp7XFDFmuBfTyuLcsHS+Yie/cjBrA06O1w9YUnXxOYW7974LYYMTATExMTATExMTATC9FlsU1TVGRS5VowO0dhw0NgL2G5J+vDDgRljAVFXcjv4vukwAqNstaCGYISk7iOMdvUZCWBUqTcMul9V+WhvFj2oXLUgWdhpR41lVSzByh0m4TVe41C/ixzTdGWWsklMimnBmlgj1G61E4CysRa1tnI3Pw8vowCn6FVHAWIdTkY0tHCXkLXienAvwjoOpWNyO9sd7G+wH6bKqU108VgdMFO2jiNsS9QCdOra4CXP7uCNNlFDJfQqOASp0uWsRzBs2x9GFQdE9VXVLxEBcVEgnEjiZRVK8YGkKFIUqbds2EUfZBAIL9Eshkp5WllWli7jHAEprhX0EniPqAsd7Ku+kE9pr7Bw9RlvF4XCka0ghMixzNEspIGhpANINyAfACbEg3AkuX0IrNHc9KQStIvENlIeKxcauybE8/GcaMuoaymYxRNTGnM8kvEdn4ipLI0zoI1GljqZgH1iwIuptut1/RKplMyNLShpIK+NFDhRpneJlYRpEulQR2iTIxaS+o4BmrKfLY0ZyI20KX0o5Zio1E6VDXPety8R8WNhyeh1lNMesLqKazqC+MjVfT6cBc76JCXr3CFOvHpI6eDwaCOsauS9lDxE7297HbYY8Toq4rZZu4sjvJKshkYSAvFwdBULpKj5xYi1hpuAcBrnyujeWn4YRkZpA2lyQbIWF7NY+A42UeXUErSLGEZom0uAzdlvEd/pH0gjmDjFk2Wikjy2A8MNGhR9HemRYbMw2BNyCbkXOOOhrRirzMKFW1SvKw2MUbkfRxGkf8Aedj4TgDXvcpfJD+be3A3OMhp1amCx2DThTZm3XRIbc+VwD9WGTiL4x/PAvPHGql3HxhfD/w5cB173aXyQ+03tx773qXyQ+03twS4g8Y/nicQeMfzwCz0iyOnWFSqWPGphcMw2aeJSNjyIJH14Ke96l8kPtN7ccdJXHBXcfD0v+4hwV4g8Y/ngBvvdpfJD7Te3CXmVbSutfEsBj4MM7QzB37pwbxzFRtpMchVdib3vj6HK1wQrAGxsedj4Dbw4R5uglDTQK+uXuMcolYyyScSN42WcaGcqpcnWdAHaUfRgCElVlSxcUm0fASp1Wl+AfZWtz38XP0Y9Woywsi2kUyFFUslQoDP3iuzABHbaysQd123F81L0I0xGJqtnHV46ZLog0xxvqXvbajawJPivjbm3RUT1InafZZYJUVlDFGiKErGxPYjfT2gBe5J1W7OAycWk6gKxoXAKiyK7Mxdm4aKpuLszFQOW5GOMppBFDaupXiMaxjiJM84kY2SyhO6GQt8kIb3FicFj0fiFB1NpCVVdnUhWDK3ERl5gMrBSOe4GMlJlk9TTapK2S8qwuoVERUAKyaSEszBu9btC6mwtgK46rK2MSjiapmkRF01GrVGyxuHW149LMt9YFgb8t8ZqbMMslMbJ8A8U8pldp4wFi4JJAkABS0ou1xYi2++kjkPRRKWRHWRbJ1qyKiov6w0LkAKbBVMWw8Tb3IuaT0LiaCCB5SyRUk1GbAAssohUte50sOELDfn6MANyqry5aZJJTNqMrQ6SKkycQhpVUxjtgmMBhcbi3jGGv3v0/zX9bJ+LAHo50dj0QSh0BSczHRBFCGKxS02m0VvnFtRJP0DYOGseMYAb736f5r+tk/FgdkuSQushbiG00yju0vIOQB33IDbDHrHjGBfR9hpm3Hw8/8AeTgPfe7T/Nf10v48ee92n8Unrpfx4K6h48TUPHgAvRyERyVaKW0rOukM7PYGCnYgFySBck28ZOJizJfh63+On+3psTAF8L0GU081VVNLDFIwaIAvGrEDhqbAsOW5/nhhwApsxhiqqoSSxoS0RAd1UkcNRfc8sBr97dF5pTepT2YnvbovNKb1KezFozul84h9YntxPdul84h9YntwASn6PUfXpx1WnsIKYgcJLAl6q5tbmbD+QwV97dF5pTepT2YH0+cUwrpzx4bGCmF+IvMPVX8PpH88Ffdyl84g9antwA/Muh9JKoCxpCQb6o4Yb/WJY3U/WMAn6JhKyJVFI44EpPFpIyTZ4QT3Iot9wb6fnePZt93KXziD1qe3AuXOabrsR6xDbgTAniL8+D0/TgKBkmk9vLaFx449Oq+/yZIgAOXyzz8Nt+BHRKLy5W0W/Lqkcx5c/wBU4u3g+rxWOD/u3S+cQesT24nu3S+cQesT24BSrGyk1NGgjpQzu6hDEqsdUbldSMoNiRYEjvrDngf0Cyqlkrs2VqeBhHUIFBiQhRpIstxsLjwYZc4zCkeooy0sDaJJHF3U2bhuAeex32OFj9HmaQLXZmzTRKJJSwJdRe1RWJtc79lVP0EYB697dF5pT+pT2YF530fow1NalpxedQbRJuNEmx25YM+7VL5xD6xfbgXneb05amtPCbTqT3ReWiT04Df726LzSn9SnsxPe3ReaU3qU9mLvdmm8vD6xfbie7NN5eH1i+3ABukXR6jEIIpacd2phtEnIzxA+DxYJ+9ui80pvUp7MYOkub05hFp4T3am/aL4J4j48Ffdmm8vD6xfbgKfe3ReaU/qU9mBfSro/RrRVJFLTgiGUgiJNjpPLbBr3ZpvLw+sX24F9K80gNFVATREmCXk6/Mb04DcOjlF5rT+pT2YnvcovNaf1KezF4zan8tF6xfbj33Wp/LResX24DJN0dotLfqtPyP7FPZgBBlEEdLSTCjgkjEUfHUQI0mkop1pYXYqdyguWBa12AVmebNafSe7Rcj+0X24w9HM1gFJTgzRX4MV+2vPQvpwFlPkWXyKrpTUrowDKyxRkFSLgggWII8OLPe1ReaU3qU9mAsdaYapY4Hj6o5LyM0sWmNrMSsQ167O2m402WzEd9sfgz2lfVpqIW0sVa0i7MOYO/PABujXR2janUmlpydUm5iTyjjxYJ+9mh80pvUp7MZejGZQCnUGWK+qT5a+Uf04K+6cHlovtr7cBl97ND5pTepT2YGZD0coyJb0tObTzAdxTlqNhy5YPe6UHlY/tr7cC8gzCECa8sfw83y1+cfTgNB6M0PmlN6lPZie9mh80pvUp7MbPdGHysf219uJ7ow+Vj+2vtwAzo1SRxSVqRIiIJ0sqKFG9PT+AbYmO8gkVpq0qQw46bg3/wDT0/ixMAawDpKcNUVmy6rxAFl1WPCW23hF/BfBzCwc4ghqatZJ4opDwyodgP2YANiRcXwHVJJM8crSwLBw007RGUtKL63jVO08XLSLBm35YF09fOaald0KvIG4x9z5iUcKDo4Q7QF9Q1nY2HjxR0Nz6RDK+YZlRya9OiON1AQ9pjY33Ha0/QinBTpL0mgamlFNWRLMV7BWWIEH6ZLqB4za9r23wE6MqZJ5GmiVXNPTkjh6NuLVhW0NcoWUK2k7i9jyxdPWSisEYoiaXZGl0LfiMLhhvfhrspOk7sTcBDdXzXpCj1btDUojmlgAIqY1VJtdQe6A3EircXAvt4NwQSk6Qr1osK2Hh8RCp6xHwxDoUOjR98ZC+shvSp1WGnAFJZKoCYCljLwxykHR2Z5LEwiLe4BHf35E2F+eBfRyeSbMCJYuwtO+h2pmg1EyRauzIbm1l8G2rmfAx++yg87p/Wr7cDJek1F12JutQaRBOL8RbXL0/hv6D/LAMvU4/mJ9kYnVI/mJ9kYHe+qg87p/Wr7cee+ug87p/Wr7cBzmdLH1il7C99L8keTbCh+j2BOu1N1U61nIFh8murRt9oD+WDea9K6DrFL+tQWBmZjxFsAI2G5vYbkYQeg/SemgqKF5JlAlp6mN+0OzLJVNMuv5u2rc8r+nAfZupx/MT7IwLzykj1U1kT4dfkj5kmO/fVQed0/rV9uBmddJ6ImntVQG06k90XYaZN+eAZOpx+TT7IxOpx+TT7IwO99VB53T+tX24nvqoPO6f1qe3AJuZmCRqlqipaIwVcMaQoY41RdUBjZldSJA2riEm+x0i1sbctr5lqtLrA8EtbPTgFTxF0xPMpB70IOGy6beEG/gxvz7pFlw0TCWjeZHiVXYxsyq0iI+k3uLKzHbG/3dyy4PHpLhjIDrj2cgqWG/fFSRq52J8eAUqTpNUNDSFxl0UlTDJUh5VZYlSNYjwxd7tIS7MTcBVB2a29OaZ9PVQHhw00cctNQlldGLhq6SSn7LKQNKnSwJXcD07N02b5S0axGWiKLbQhaMqtu90ryFvBbC9nPTWlSGUyClMxTsyxPHOheMl4dQ2kGl+0NSaVJPavuQ8rOkkq05KpS9YQ1uscFmDrSycIsq8RRGh2JZpDbYAPfZ3oIopIkk4SDWitbSDbUAbXtvgP7s5PIoPGoXVXLjtRECRu0zDxOSSSee+NkXSjLlAVaqlVQAABKgAA2AAB2GAITUMWk9zTkfkj2YwdG6KI0lNeNL8GL5I+YvoxU/THLjrQVlPqUb90XwgkWN7H6sZOjvSqhWkpw1XTgiGIEGVBY6FFueAYeoQ+Tj+yPZj55+h2KORcx1IjWr5yLqDsQvj8G2HP32Zf55TeuT24+ffokz6khFXxKmFOJIko1SKtyy72ufRgHzozQRGnW8UffS/IXyj+jBT3Oh8lH9hfZhe6N9KKEU6g1dMDql2MyD9o58eCfvroPPKb1ye3Abvc6HyUf2F9mBmQ5fCRNeKP4eb5A+d9GLffXQeeU3rk/FgZknSigUS3rKYXmlIvMnIt9PLAMHuZB5GL7C+zHnuXB5GL7C+zGL32Zf57S+vj/Fj0dK8v8APKX18f4sBx0fhVJq1UVVHHTZQAPi9P4BiY46M1kU0ta8UiSIZ0syMGXanpwbFdsTAHsCss+M1f70X3a4E12T1bVEjrsDLEySdamXRGqxBl4Croa5WTYmx1740xZpFDVVQcsCTEdo3bbhgc0UjwYBixMCffHT/Ok9TL+DE98dP45PUy/gwHlN8fn/AMvTfeVWC+FSn6QU/XZjd7GCnHwMvMPU+DR6Rgr74qfxyepl/BgC2BM/x6L/AC9R95T45XpNSm9mc2NjaGXY+I9jngbPn8HXYjqewgnB7lLz4lPb5PoOAasTAn3xU/zn9TL+DCd0w/SPS9Xq4qd3eYII4+GG1GVwwsNgVKWBPh38eA4/SbJI+YZXBFpPGNRG99xw7wGX/oVxivOIpjAj0yCSfhS1USm3fR1ccu1/DokYem9vDgX0eo4aeogrJpZiztPOIZIZB1dpomklANtzcAeix8ZOGXJs1hi9zdRe60zxN3KTvikMh+TvvGxwDblOaxzJEVcM0kSSi3hRrb/RfFWe99Tfx0/tkx8qqek9RlmYOUp56ihCCKE8NgV1kOI1JUA91YKt+S7DURg8f0kU1TPQxA6WYiSRNLs0cqrvGbLuRdr7cx4MB9MxMKVX+kOgSeOLjKdRdXNm7mwtpDjTsWJtvbf6cFV6TUptaQ7i47m+423HZ3G439IwHXSgdwH8am+/iwWwrdJc/pzBYM3wtOfg5PBNET8nBNukdMBcuwA5kxyfhwBbAnpb8Rqv4E39jY998VN85vVyfhwL6U5/TtRVIDNcwygdzk+Y3+HAF63I4JW4hUrLYDixs0chA5AvGQzL/hJI9GBGYQZjG8McMnGjLozySBUZEVlLhmTaQuupQoiFtyW2Fyg6Q03z29XJ+HE98VN89vVyfhwAPJQfdXMzc2ZKdQP3IwT96MHujHxOm/gQ/wBi4T8tzuDrRn1EcWSsQ2R+S8KJb9nc/q5Po1H04OdG+kFOKSmBc3EMQPc3+Yv+HAMk0mlS3iBP8t8fN/0NsQHU+aZe/wBpZh/+ODfTbpNCuX1Zjc6+BKF7DjcqQNyBbnhY6L1gpsxp1cqsZy5UYor2M0bJqUC26rqNtttR33wH0Lov8WX96X7x8FcK/RvPqdadQXPfS/Ifyjn5uCfvipvnn7D/AIcAVwMyLlN/Hl/uxz74qbyh+w/4cDck6QUwE15Oc8p7x/GP8OAZ8TAr3xU3lP8Aof8ADie+Ol8p/wBLezAc5N8PW/xk/wBvT49xR0bqkllrHQ3UzpvYj/09P48TAHcCss+M1f70X3a4K4XI80WKqqgyTNcxG8cMkg7wDcopF/RgGPEwI98Mfkqr+lm/Bie+GPyVV/SzfgwEpvj8/wDl6b7yqwXwp0+fR9emPDqd4KcW6tNfZ6nwaL235/T4sET0lj1W4NXyvfqs1v56OeAN4ET/AB+H/L1H3lNiuPpNGb9xqxbx0k/p5djA6fP4+uxHh1NhBOPi0193pvBovbbn9HjwG/pf0i6jFG4iMzSTRwoisFJd76dztzGFXoV+jlqOvkqnZWEkbK4JuDK/AkZlBGy61l57976cXUeZJPmUtS8VWY4FWGAGCcji9vjOEVbA2ZFud9jyw0++KLydV/Sz/gwAr9IBuKaO5HGl4GxsbSqY2sRuDpZt8EeldMvASTcGnkilQgkW0sFblzBjZ1IOxDHCtnHSGGqzCkVVnaKmkkeS1PNfrAjbQltF+ypYkelfEcMmaZpDPDJCyVirIjIStLOGAYWup4exHMYAzXUUcyhZBdQ8cgFyO3G6yIdvEyqfTbCVnfQemibiUq8GpmqdfWBZnVnVy2guDpUm+3+I+jGno503gP6pI071cIIkXq8rOUUhVkYLHtqUox2Fi+Nec59GTT9zqdp1O9LOPkvyunPAJ2VfoiYQScWbu84pmkYbskiyiWYo24JYAAG3MeLBanyhsqqYZZai9GgeniaV+0iSK0pVyRYgPFEqG9+0B4Bdu98MXk6r+ln/AC8Ys3rKSqiaGenqJInG6tSVH8wQlwR4CNxgKcxz6CooYJ1YBZpaTQGI1amlibQQCe2Be49Bxk/SFnY6rWUyA8Zo440F++eoEigKBvcKjt9WE7OuidFA01XTrWcZpYpIongqFhWYyoQTaO/M+PwkAHYY6yMVc+bDMK6kliRVKLEsE0gDIpCSbId+24Btcb8vCDt0SzJYleCacyTiazBjd9Uw4guo71SdYA5ALbwYL9LfiNV/Am/sbHzr9IuVJMGnokqkqpZUEhNNUAMrItOLnh7aOy45nZrbtjN0k6fz9WmMsckK2lpBE0TFXmKMQ5kKAg96Am1rsSDsQH2MYyZnmUcEetzZdSJcb9p2WNf+phhIP6WqSFXFXHPTTqW0wPE+sqAGXcDSGYEbX2uMI+e5+K6aHL1M6RvW1MsrLHJqKJI7KojC6mPZJ23UjcbYB2y2cRQ0cUbEPTNSPPqFw3XuJGwBvcEPJrvbxDffDl0Y+J038CH+xcfO6isVqnMjGk+qRIDAvVZ7a6RY3QEBLheIwB5beK4wy9Ful9L1akj7txGp42Cinna6qqKxUrGQygkC4uNxgNf6SxfLKofOQL9plX/zj3NxbNaA+Dg1o/2xH/Y4GfpAz2J6GRQlRdmgHapZ1G80fhaMD6vDy8OLM3z2I11C2ipsOsrvSzg7op2Bjue98GAYOjHxdf35vvXwVwrdG8+iFOo01PfS8qWoP7RzzEeCfvhh+ZU/0lT+VgC2BeQ8p/48v/cY4PSKH5lT/SVP5WBmSdIIQJrpU7zynakqD4R4o9j6MA1YmBA6Rw/Mqf6Op/KxPfHD82p/pKn8rAe5P8PWfxk+4gxMUdG6tZZaxlDgcdB20eM/AQfJkAb/AExMAdwKy34zVfvRfdjBXC7HXtHVVIWCaUXiOqPh2HYGx1upv9XhwDFiYEjOJPNKn/2fzcT3Yk80qf8A2vzcB5TH9fn/AMvTfeVWC+FSDNn69Meq1HwFOLWiv39Tv8JyN/8AQ4Itnr3t1KrP1RenwmX0YA1hZ6T1rQS8VF1ulJVsq3tqbXTaRc8rmwvjameuf/R1Y2vusQ8Y8pz2wtdLM1cyp+rVAvE62Ij31VFGNrSfV9YwDX0cyrqtOkRkeRhqZpJDqZnZi7En6Sf9MYM8zio1qlEiysqGaS9iGQalWNG1C0jsGAaxA0G+JnHSKWKF2WknD2smoR6dbEKl7SXtqIwC6G0MtDJUAUtSYSsCQi0VwEVi5NpNtUryP9LHAGKGg4C5bEQAy6g9vDJwH1k25ktck+G+GfCtmebuZ6U9VqRZ5NrR79yfl3TEynOpOLV3pqphxxYdzOkcCn23k23u1ht2r8ycBZ0rp6lXglooY5JuIyvrOgcJ0OoswF73SMA2O9tsBcrzWOEUWXzTq1XFNoA31OkYkVWPiumnmdzhp92X80qf5R/mYU+mDEKskFDOJ2q6WZjaMGQxFdr6zvw0Kj/94D6FiYRKHprVxXSuoZVla5iEJRuItwDYF7hl1Dbe439GDtB0nWdEkip6hkdQ6kBN1PI2L3A+kYDR0o+A/wCbTffxYLYVukebMYfi1QO60/NU8tF/j+rBT3ZbzWp+zH+PAFcLnTbKIJKCqDRgjS821x3VBqVjbw3VfptbG33ZbzWp+yn48DOk+bsaOpHVqkXhl3KpYdhudn5YC89DqV6mepmjSV5gqjWgJRRHwmCtzGoXuRbGXoR0JhoAzHtzMzMXbtFb2BCs3asbaj4yTgsM5bzWp+yn48L3SLpvIrilpaeQ1r6SqSJ2VTcszFGtfSrWFxvgL8rb9YjkOwkfMYxfwnioV/mkDEegYU/0f5FLS1tNqaR4TT6oWa5A46CR4weQ0NFew8Dg+HDNmFQ8FJCEpKljSmNuSXKqNEpuZO+MbSHfmTjilleaio9EdXHJFFGySIkTbmIxnaQkEEMTy8WAJ/pD3pFHjqaIf/Jhx30je1ZlvpmmX+dPMf8AxhQrulnXqHL2WGcmSrpAx0r2nik1yAWbn3Nz4OWDHS/NW4uXydXqAI6tb3VeUkcsIA7XMs6jAMvRj4uv7833smCuFfo5mxEAHV6g9uXkq+Uf/Fgn7snzap+wv4sAVwLyHlP/AB5f+4x57snzap+wv4sDckzcjjfq9Qe7ynZF8Y/xYBnxMCvdo+bVP2F/Fie7R82qfsD8WA8yf4es/jJ9xBiYo6OT65axtDpeZNnFj8BB4LnEwB3ArLPjNX+9F92uCuF2KqlSqqQkDSi8VyHRbHhrtZyD/wD3AMWJgT7pVHmcnrYvxYnulUeZyesi/HgPKf4/P/l6b7yqwXwnU2dSHMZ0FM5k6vTkoJIrgB59z2/DqG3twYbNKre1FId/KxcvH32AM4UelVmrqGLwyaz6qSnqD93b68XV/SySJkRqOVpHIVY0khZyxse9D7KBuWNgBgBPm01RmOXS9UkUrHX9jiRk3BijbcNbsnY/TtfAM1VTNVVekyOsNNw2ZFItJMSJQJLgmyBYmFiLlz4MMOFPoxXT8Iyikc8eR5rh4t1c9i/b5iMIPqwX90p/M5fWQ/jwEzX4xSfxJPupMc5J8NW/5hf9tTYHZnmE3Hpb0kgs8lhri37lJ/jxzk2YTiWstSSm86kjXFt+r0wse39e3jwDVgXnnOn/AI6f2vjz3Sn8zl9ZD+ZgbnWYzkwXpJR3dP2kW+z7d/gD9RQxyPG7orPES0bEbqSCpK+K4JGEelpGop5qubsJHUNAHI26lIBIv1LUSc/AA304ajmdR5nL6yH8zE905/MpvWQfmYBSqOn9NU03aSWKQGB2jdGB1JNEZI47gGR0utwo+Utt9g9ZfXRzxrJEwZGvYjxg2II5hgQQQdwQQdxhT6XqZkjeTL3LwzQNG5eG6txor6SJLi9gPEdr4wZxlksbSVaU9drRhMsazRaQofiSqI43vJxO0SGDG5FrYD6JgV0s+JVX8Cb+xsKlN0xrxcvS6jOiSUkd0jIDswAlYytqspiLEKCLttyOKc+6d8SkqB1SYKYpY2fXDZJuHITHIA91YaSLHe9ha5Fw+ijAfo8dbVUvgeocL9ESpTn/AK45P54WdObVOkVMTRwWuy08iJIzEEgF+KCgQkDYnXp3C3K4P5O8tPDHEKWobQLFmeDUzc2Zu6d8zEk+k4A9ILg38Rwp/oqqGbLIEcMHhHCYMLd7YoR6DGUI9BGDEmZzWP6nPy+fB+bhV6OV09P1YillMVTFECNUN+OkC2ZTxO9aKMgg2sUXnc2Ciuyt4M1ooIU0UfEeoAA7Am4U6Mq/NNrNbkdRPjwx9P8Aamjb5tVQt/8AJhGKc2zGYzUn6nMLSu1tcG/cJl2tL/i8OMXT/MZjROTSTKFeB7l4bdiaJ/BIT4PFgGLoz8XH7833smCuECk6Z9Wjp1encLNPURajJCBrDynSO6W1agF3tv6bXafdWfzKo+3T/nYAtgXkPKf+PL/3GOfdWbzKo+1T/nYF5HnE3dP1GpF5ZT31Pt2uR7tz+jb04BqxMCBnElyvVJ9QAJGunuAb2JHG5Gx/kccjOZtv1Gp3JHfU+1vCe7cj4PpwHWTfD1v8aP8A28GJijo3Mzy1paN4zxk7LlSfgIPmMw/1x7gDuEPPs4qqaqnWnRJGnMcUIZTtUhEYa2uBoMXEY8rcLw3th8x876WZxWQzzw0sacSoaFIZWe2mYKhKldJB7ndtyNlfxC4FJP0h0yLLxY5oHjFgkyhDJKOcURuQ77odrizgg2vbmOCtq5DVLxKN4u5xQSgMHGnU/GCvpKs5UKVNwI737RUcHpoSqcRKNCzFdElWwZJBsVkBg7DAkLvbdgPCLyHpBmM8r9Wp6V4YgyOeskq8p0m0biLcoAVYWtdwL3UgAs5H0NrYaiedZoxmTrFMSwLRqszzrJFYtuq6QQQeaL4MNGU5rmMkMVO8RWsuyVFQU7lGFPfpyEjuliqrsCTqtp0kBN0nzOmqpJqiijIMMStHHIzP2nqWgAKqw199E3gZyhBAON1f+kCcw9xplaR4nbucrSNC9iFE6CG6Pr7NjtqUgkAE4BzybJYaVNMYNzu8jEtI7bAtI7dpmNhufEMIdTSVtPXSMWjVAtQtEbBmDVNRS62kGwYB5AAu2ym/jJGWozel7KxCczWRC02vhTHbU5SBLRW7Rvy0kA7gEVLm1fUV0NO9InGg1mRuI6xEJJTzKwZovDpj2XV329sB9HyyiWCGOFblY0VATzIUBQT6dsasB+t13m0H9S35GJ1uu82g/qW/IwHWa/GKT+JJ9zJjzJPhq3/ML/tqbAvMqqt49LengB1yW/WW37lJe/cdtsTJqms4tZanhvx1v+sNser03LuO4tY/X9eAa8C8850/8dP7Xxx1uu82g/qW/JwNzmqrLwXp4R3ZLfrB56X/AODgGnEwI63XebQf1Lfk4nW67zaH+pb8nAddJvgP+bT/AH0WCuFTpHVVnB3p4QOLT8qgnfjR2/ZeE7YKdbrvNof6lvycBqqcrikninZbyQiQRnxcTSG+uygfzwP6YUMTUNWGjQgxSOQVG7qt1Y+NgVWx57DxYu63W+bQ/wBSfycDOlFVWGjqb00IHBluRUEkDQ3IcLf+eAaRj3AgVdb5tD/UH8rE63W+bQ/1B/KwBWTkfoOF+iypKrLqaN2dDwYGV420ujhFsynxj03B3BBBxqarrLH9Wi/qD+VjB0cqqvqlNaniI4MVjxyNtC/8PAUZdlctPWxwjiPTKksySOzOUc2Ro3dyS19Wpbm/fDkBgl01pUlopkcXRguscuxqUtuOW18XdbrPNov6g/lYorTVTRvFJSxlHUow6yR2WFjuI7j6RgFfol0AgXrDEs1PULNGYix2Z5XWQg8xdEhAN79k4aMuzcRUEc9Q3eRqJCBuZF7mQAObFxYAcyRhFhySvmgMZiEkSCokgZ6gllqNTKm+gFtLBnBa+7c9hYrTFUValt4yRUpG9Z3NRIxZNMYjF+2xK3BOogXOlQA3V+c5rLETTUQhIFmE7qXLE6Twwl00qGD62bfSRpxOjM6JORHMZFaaphku+u8yBXBN+9fSrggWBuPEMVz9KsxZGnhoVNPGoLB2lSZttTcJGiBNgeRG5BwsdHcjqL8EBoZNYqA8cyhuLEvAnvrjYHUsqXuOZvgGmOCeSWWtpLNI00lPZyVXgRgxeLfROrSA2JIZwOYtvq+iaLAeDqFWqXWcOyPJMqnSZmUgyKW3KtdfRgTTZxXw6Yqei4sEZMGozAu0+x1s1gBCp1K7ab6jsNt/ZekuZwMYZKSKWZUacujlEMC31AAhiJQbKASb3B8dgOdFKwTNUygFRI8TaWtcXp4DZrEi4OxsfBiYy9A4CnXBvY1AdQXD2V4YHAUqq9karDa9rbnniYBqwJoEBqam4BsYiPQeHa49NiR9eC2F6PrHWqng8LTeIHWWvfQDtpHLcYAw2Xwl2cxRl3UIzaRdkFyFY2uV3Oxx3R0scSLHGioiiyqoAAHiAGwwEzavroY9QSlYlkQBpWjBZ2Ci7MPCSAAASSQADfGar905GWMT0kDFdbJHd5LCwJVpVI03NrmPxcsAQWZUrahnYKopqYlmNgBrqtyTsMVjPYLuaWJ6h2IZjAg0sdluZnKxEgADv72HLbACjyGUV8rMkEsiwwMGmeSUqS9QLx6wdHLkoA/mcMJrakFV1UYZmKKNbXLBS5UC27BQTbxAnAWWrpDzhp0v4LzSFfpOlI25+CQYuy/J1jfitJLNLpKa5G+SSGIVECxrchblVBOkXJtiipqqqJGeQ0iIouzM7qoA5kkiwGMlRW1y1KIerhDDM5BZrXRoRckrcWDH0bm/IYBkxMAmzGoEXGL0Yh0h+KZW0aCLhtVrabWN72xVTZzLIqPHJQukjFEZZmIZwGJVSAQzAKxsPEfFgNma/GKT9+T7qTGRaiSmmqGeCR4ZZBIJIhxCAIYIyHjXul7o1tCty8G2MuZT1fWaVCKbiXlcKHe+kRspYjTfTdlF/GwHhwRkq6tWRW6oGckKDI4LEAsQoK7kKCbDwAnAb8vzSGcExSI+m2oA7qTvZ15qfQQDjNnnOn/jp/a+B+Y5TNOQ0kFKXUELIJJFkUHY6JEUOl/8JGBVbRZlE0PdYZU4y6UlZiQdLaQJVQNp53Lh2N+eAecTC9RZjXN2JIqWOaxbhcdmOgHTqGlLlTtvYbm2Noet+ZT+sf8ABgOelHwH/Npvv4sFsK/SV6zgbpT24tP+0fnxorfI8eCTSV3gjpvWyfl4AtgV0s+JVX8Cb+xsTiV3k6b1r/l4GdKJKzqdTeOntwZb2le9tDcu588AzjHuBQlrfJU3rn/KxOLW+SpvXP8AlYAnJyP0HA7ov8Tpf4EP9i44klrbHuVNyP7Z/wArA/o3JWdTprRU9uDFa8zg20Lz7ltgGbEwK4td5Km9e/5OJxa7yVN6+T8nATox8XX9+b718VZd0Uo4H4iQIZNbOrsAzIWLG0ZbdEGprKtgLnGDo3LW9XXTFTW1S85nH7R/+Fgnxq7yNN6+T8nAFsLcOSw1KyCZSdNRMQVdkO5AIJQglWGxU7EY3cau8jTevk/JwNyWattNaGm+GlveeQb3/g4BgoaKOFFjiRUReSqLDxn6ybknwkk4vKg8x6PqwK41d5Gm9fJ+Ticau8jTevk/JwGDoZlMVK1ZFFq0CoUgMxYi9PT7AsSbDwXO3LExo6NNIZaziqivx02Riwt1entuVU/6YmAO4F5Z8Yqv3ovu1wUwGny+qE0kkE0KrJpJWSFnIZV07FZU2sBtbAas+yxaqnlgY21qQGtcq3NWF/lKwVh6QMItblWYTQNUujx1EkkCSwoQX6tCrAojRyRmzTs0vZkQlLD0Fw6vmHnFJ/TSf/YxOr5h5xSf00n/ANjAJTZXWq8LJxpJhBCCkh0myzzMoZ45yUcIbEvxFcKQbknGvKsmnp2AjSSJVrqyVnkkLIYngqOG5JdrpqaO97HVuRffDDHldcJnm6xTanSOMjq0lrIZGH7fn3Q/yGNXAzDy9L/TSfn4D5rRNNNHPHTmqMzZcSdVUJg1QzqNcRWV1TUQxBGkEchYHDFmNBVvXcRYpAoeZGOpmDQvTuFsTJpEZlEXcxGCGXUT4WYaXK6qK/DeiS+50Urrc+M2n3x42XVxlWXrFNdUdLdXksdRRrnu/MaB/M4AfW5ZIcoghaCSR0jpQ8aSKkimPhktGW7BkQrqCk2bTbw4H5RQ1t4jokVeumTVIsUcrR9VlQtUin7DDi6FB74gLcbA4aeBX+Xpf6eT8/HnAr/L0v8ATyfn4BApMmzDdkiq46kUE8cksswcPVGSnZuBeVtAfRIQRoG68rbXtk1QYqYyQ1skcdTK5jD8OZYjTunYfrLPp4hOzS6jdgBYgFvqMtrneNzPTXjLEfq8m+pSm/d/TjTwMw8vS/08n5+ASa+izMwRKI5uKkYZHEjOdpnZUbTKqiZYhDqkbia+0oDb6tKZDUieOa8/ENbXG0k7mMRFKkwHhligXVwiLLff+Tbwa/y1L/Tyfn4zVeW18hjJnpew4cWp5NyAw37v6cAE6E5bMlUJJIauP9VCSNUTcXVPrBcp3R9IJudtIO1hh8wH4OYeWpf6eT8/HvBr/LUvqJPzsB70o+A/5tN9/FgthfzHLa6ZNBnpgNUbXFO/yHWQftvDpt9eNPBr/LUvqJPzsAXwJ6W/Ear+BN/Y2PODX+WpfUSfnYzZpltdPDJEZqYCRGQkQSXAYFbju3pwB8Y9wI4Nf5Wl9RJ+dj3hV3lab1Mn5uAKScj9BwO6MfE6b+BD/YuK2hriPhab1Mn5uKMuoK6KKOITUxEaKgPBffSAt/hfRgD2JgTwq7ytN6mT83E4Vd5Wm9TJ+bgPei/xZf3pfvHwVwBy3L6yGMIJacgFjfgv8pi3lfTjTw63ylN6p/zcAVwMyLlN/Hl/uxzw67ylN6p/zMZ6KgrYw9pac6nd/gX+Ub2+E8GAO4mBXDrvKU3qn/MxCld8+m9W/wCPAc5N8PW/x0/29PiYtyahkjMzysjNLIH7ClQAI44rdpiT3l7+nHmAJ4VIzXapSesa+76QRT8D5fC0Ed1v3nfHmWv6NWYzZmKpRDHTmkvFqZnIkAJbiaRa2w08/wDW/ZGA5uraiAyE1I0642KgLKYSEESEdoRj4R++3G5Kh1lqZkYmBkmEpaCxlSEqF1jiEBApJ06ri/K1rHGuePMJIp7s0MquODwjEwdRGgO8insl9ZswDC1uXMdldXmwSUshkIEBjDhEJbX3VbhEABTkbGx8J5YY8gkqmWQ1SojCSyhDdSgVBqB52ZtbAHcAgeDABM6ir1mRYpahoRGl3RYCzSan16tSWvp0WsAMd1EGadYZ0fuInhAQtHvT9yEh0cG995T8KDtsDspu6ZVFaoHUxIX0kgBFKFt7BiVZr3tt2RYntY96xXdatZtGtAF0JwuCUUuzPfXxA+sADbZRa12wDNhcpJqt4J+IJ1lV2MZjSFGdBZlWMSF0F91u59NxjPT12ZmCYPAqTiBjCQQweUDs6jcBDqt2NJH+M4urq7MIxM3BjOmOMxLFebVIWYMCGMR73T4bC99+WAklBXCmVesStUliSyCEKNR2Dlot0QeFVDNbkL2BunDxpEjF5WsFaSyi5Ckl3AsACRyUc2G1sVZHPM8CNOAJSO2FVkANzyDktb0k789uWN+AXFet63+04XEta0XB4Om4YH4Xi6rC17c9rdrGOlkzMrJ33EMT/CLFoWo1KFEGghmitxCeIb2CbgkjDfhZyyfNXeVZ4qeFNEnCkVy516yE1qbbaLE2P8r2UPBLmvE3SALqisFJK6bTiQsxGq5IhawXbUBvZjirNK7M0QcONDIZWG0fERYrIQx7pG3ztrEk+Ib48zSuzEw8SOIxs0qpw7B2WNVfW5Kq/fPa1lPZ0nYk6eaLMc0EURanWRzx9YJCdlXBjO4B1NHqUDSo1EEhRgG2M3AJ52Hox1jNlhkMMZltxSiF7C3bsNVh9N8YVrJ+umMqTAYrhhG1hICO+kJsbgnYAWtzN9gL4mB+aVMvBlMCEyLst1596SVBI1WBNhcXItfAQ1+YrGDFCZyJiAJLQM0PCZrtzCkS2A2Fx4BzINeJgA1ZXEoY4Y2UwgtxGaG0tzsAEkJ28B9G5vjJS5rXcanjeKyNFG07GFzpkKjUqurFb6r3uAFHhJwDVgd0hacU7mnJEvZ0kKGNtS6rBtr6dXjtzs3IkcTAJVM+ayRqo1Kwle7u0Skx8NSpvwGA7ZYW4YO3O2521c+ZxxwqkazSLd5mBUBlDbRrq0dsr8vSBdR2QGsGjCv0trq2N16spZdBNghJL35EhHFrW2Oj97xBdUT5gHYqitE00ITYB44rxcQtdrOtjL4mUjYN4GLC1LmGYcbQtOvC4sQ4hIuIyI3fs33AtMhN9mZLAgE47yL3QLq0+gRkMWUkXHzQoVBb03Y7ePngK0rK1oJrq3EWYAMsQUmAstzGjsQzBdXfHci9vk4I5RUTCEtMrsQxC3VRIyXspdVOkN9FthewOw66RzzJAzQC7gpsFLHTqAbSADdtN7bEYA02aV5iUyJJGvEkGsQl5NAVCl4ha2pi4Ladgo2GrUAIZ/PWLLaAPp0KYwqoyvLdtSzFjdEto3Wx3bc2Ax51it63bS/D4lraE4fA0X1676+Jr2t9Wm3bxlqsxzACPuZWQwxtoWIurTm/ESRgxESgBdyflHdtNjsavrhPbgoYNen5WvRrVL3vbkS/LktvTgMC1Wb8JS0cOvgubL8qayMuoG4QAllIGq5BOwsDpzKvzGMTMIUJVIeEsYMwZy0gcG5iIsoT6L335Y96L5zWTyyLU03CVRdWAcC9yNN3A1bWNwLYZcBiyaaV4I2mAEpHbAVkGrw2VyWA+k4mNuJgP//Z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81604" name="AutoShape 4" descr="data:image/jpeg;base64,/9j/4AAQSkZJRgABAQAAAQABAAD/2wCEAAkGBxISEhUUExQVFhQXGRcYGBcYGB0bHRwXHB0YFxwfGB0YISggHBolHR0YITEhJSkrLi4uGh8zODMsNygtLisBCgoKBQUFDgUFDisZExkrKysrKysrKysrKysrKysrKysrKysrKysrKysrKysrKysrKysrKysrKysrKysrKysrK//AABEIAMABBwMBIgACEQEDEQH/xAAbAAACAwEBAQAAAAAAAAAAAAAFBgADBAIBB//EAE4QAAIBAgQCAwkMCAQFBAMAAAECAwQRAAUSIRMxBhQiIzJBUVNUYZPRFRYzNEJScYGSs9LTByRDcnORlLJidKG0Y4OiscFEo6TUwuHx/8QAFAEBAAAAAAAAAAAAAAAAAAAAAP/EABQRAQAAAAAAAAAAAAAAAAAAAAD/2gAMAwEAAhEDEQA/APqFf7p9bXhdX6nqi1ar8W3b4mn5PzOfptjqjkrzUycVFWmfUsel1Lx6e9YjTY69za7W7At3xwfwlaM5UlrqwPWLLrjJHZlMJ08JLdoRj4R+e4O5AGcuy2oCSiSpnLFmCMeFdUDEqVtHa5Fgbg/VgTV0+ZJT0oWSV5SL1BAhLByi7C+hdIfVy/1wy5fXNJfVFLHYDdwoufRpY4srmmAHBWMm++tmUW9GlTc4ABIuYhS0Z1WgQCOXQrNMTLrIZLhWHcyAbqeVxu2GSDVpXV31hf6bb8vThV6SVGZao1gRwdF3eMxmMPci1pELvYWNrpsed+WovXdbtaTh61A2i4PB0DUWJPF4uvUABt3u1rnAZ6M5kOKbMXEUthKYuE09xwuDwiHEffX4ljbT4bnGeZ80eKQgSKdcOi6wB9G/EsFlZbX082B529LPmEsxjmEKd1VG4Re2hpCpK8jfSGsDe2AEFTmKxylUlbeLRx1hMu5PFOiF0RlA02uwN9fMBbgU6K9a4H63fia3sW0huHe66hGSoIG3M8gTzsDGEarnzZkhIEikmp4hSOIGwdBBdWZwLpqOxPpIxqafOOHEVSHWIYzIrJcmbhys9mWUBQXWNORtxCbkDAN+AVKK5dZez8JGSNQVHHY2KySG3cyAAthtcyGxGnB3EwC3Q+6QgYSiMzxsHUqwKzJzaM9ldB75Qbbdgkt2hijNkzERx6TIzlZC4hMQ0yMylFJlteNV1rcbkgE89mLMmcROY+/0nTZQxv6FLKCfpIwu1VRXtDTMFnVjEeMI1gMgnAWwYSnQIydd9P8Ah3AwDHl/E4UfFAEmhdYBuNdhqsQBfe+9hgbxarrjrpY05i7LERhBKLEXIbiEm5v2QNh9JH11XmYeNVjW16bWVRWUgsvH7bSqVAXXYaGNrEEk7Z8ulzTrY4ms0/FnDArGFEI4nCKle0TtH4zub+gLKNcy4Ut+KH0J8IYLmXV3Q0/D7IUrfTxPDpuANWDHR0VGh+PrA19zEpjMgj0r8JwuxfXrta+1r74tyzjOxllvGpFkh2uo56pCP2h8QNlG25ucEcBMLdbHmXFk4bxCEyxFLgaxGoi1qvySHPE3bddJsG1DSyYEZjUVC1NOEVmgbUJbKth2W0lmZgQAwXZVPPngBsSZmNesq145hFw9A0ydsoZtfPbQAUNrk6l8I1ZBTVqSt1hw8ZjW3aDWkBN/2aHcW8Y28Hh5NLW8eZlmkESq4RXWE65GF1KaVBWNL27RuxvewF2o6IdfDOKt3kXSpVnijis9zdQI2bVtY3JtgD9cJrDgmMG++sEi3o0kb4W+krZjdFgV78NtUkRiCiS+3c5gWaw3tqUf+N3SSqquDEaaObW7DUAY1KLpJOsusg52HZU7+EDfAmvqMz4cIQScTQxkcCILq1HSGVkYswFuWgHntewDuaLMxWhlklaDiRdgxwrHw9KCTt8QyXB1tbQbmw5doMeaPOYpxAtphG3BZ7aTIVOnwk2DWvcD68CJXzPiHSITFxodyLPwbwiQBb6TcGVtRa66SLNcHFlNLmIEXEWO1n4hXdrhGK3XZe+07K3P0b4DFkqZgY5xOZyQqNGQIEcuNRZFALoAeyNTEc9gLXxfKuYwRRKGM7kyGVgkbMt7FEUFoQUG41nc2Gwv2dvRWrq5I2NWgR9XZUJosng1dtwW8JsbC9t7XJvAIVe2c2i0atfVoCwAh0mp7XFDFmuBfTyuLcsHS+Yie/cjBrA06O1w9YUnXxOYW7974LYYMTATExMTATExMTATC9FlsU1TVGRS5VowO0dhw0NgL2G5J+vDDgRljAVFXcjv4vukwAqNstaCGYISk7iOMdvUZCWBUqTcMul9V+WhvFj2oXLUgWdhpR41lVSzByh0m4TVe41C/ixzTdGWWsklMimnBmlgj1G61E4CysRa1tnI3Pw8vowCn6FVHAWIdTkY0tHCXkLXienAvwjoOpWNyO9sd7G+wH6bKqU108VgdMFO2jiNsS9QCdOra4CXP7uCNNlFDJfQqOASp0uWsRzBs2x9GFQdE9VXVLxEBcVEgnEjiZRVK8YGkKFIUqbds2EUfZBAIL9Eshkp5WllWli7jHAEprhX0EniPqAsd7Ku+kE9pr7Bw9RlvF4XCka0ghMixzNEspIGhpANINyAfACbEg3AkuX0IrNHc9KQStIvENlIeKxcauybE8/GcaMuoaymYxRNTGnM8kvEdn4ipLI0zoI1GljqZgH1iwIuptut1/RKplMyNLShpIK+NFDhRpneJlYRpEulQR2iTIxaS+o4BmrKfLY0ZyI20KX0o5Zio1E6VDXPety8R8WNhyeh1lNMesLqKazqC+MjVfT6cBc76JCXr3CFOvHpI6eDwaCOsauS9lDxE7297HbYY8Toq4rZZu4sjvJKshkYSAvFwdBULpKj5xYi1hpuAcBrnyujeWn4YRkZpA2lyQbIWF7NY+A42UeXUErSLGEZom0uAzdlvEd/pH0gjmDjFk2Wikjy2A8MNGhR9HemRYbMw2BNyCbkXOOOhrRirzMKFW1SvKw2MUbkfRxGkf8Aedj4TgDXvcpfJD+be3A3OMhp1amCx2DThTZm3XRIbc+VwD9WGTiL4x/PAvPHGql3HxhfD/w5cB173aXyQ+03tx773qXyQ+03twS4g8Y/nicQeMfzwCz0iyOnWFSqWPGphcMw2aeJSNjyIJH14Ke96l8kPtN7ccdJXHBXcfD0v+4hwV4g8Y/ngBvvdpfJD7Te3CXmVbSutfEsBj4MM7QzB37pwbxzFRtpMchVdib3vj6HK1wQrAGxsedj4Dbw4R5uglDTQK+uXuMcolYyyScSN42WcaGcqpcnWdAHaUfRgCElVlSxcUm0fASp1Wl+AfZWtz38XP0Y9Woywsi2kUyFFUslQoDP3iuzABHbaysQd123F81L0I0xGJqtnHV46ZLog0xxvqXvbajawJPivjbm3RUT1InafZZYJUVlDFGiKErGxPYjfT2gBe5J1W7OAycWk6gKxoXAKiyK7Mxdm4aKpuLszFQOW5GOMppBFDaupXiMaxjiJM84kY2SyhO6GQt8kIb3FicFj0fiFB1NpCVVdnUhWDK3ERl5gMrBSOe4GMlJlk9TTapK2S8qwuoVERUAKyaSEszBu9btC6mwtgK46rK2MSjiapmkRF01GrVGyxuHW149LMt9YFgb8t8ZqbMMslMbJ8A8U8pldp4wFi4JJAkABS0ou1xYi2++kjkPRRKWRHWRbJ1qyKiov6w0LkAKbBVMWw8Tb3IuaT0LiaCCB5SyRUk1GbAAssohUte50sOELDfn6MANyqry5aZJJTNqMrQ6SKkycQhpVUxjtgmMBhcbi3jGGv3v0/zX9bJ+LAHo50dj0QSh0BSczHRBFCGKxS02m0VvnFtRJP0DYOGseMYAb736f5r+tk/FgdkuSQushbiG00yju0vIOQB33IDbDHrHjGBfR9hpm3Hw8/8AeTgPfe7T/Nf10v48ee92n8Unrpfx4K6h48TUPHgAvRyERyVaKW0rOukM7PYGCnYgFySBck28ZOJizJfh63+On+3psTAF8L0GU081VVNLDFIwaIAvGrEDhqbAsOW5/nhhwApsxhiqqoSSxoS0RAd1UkcNRfc8sBr97dF5pTepT2YnvbovNKb1KezFozul84h9YntxPdul84h9YntwASn6PUfXpx1WnsIKYgcJLAl6q5tbmbD+QwV97dF5pTepT2YH0+cUwrpzx4bGCmF+IvMPVX8PpH88Ffdyl84g9antwA/Muh9JKoCxpCQb6o4Yb/WJY3U/WMAn6JhKyJVFI44EpPFpIyTZ4QT3Iot9wb6fnePZt93KXziD1qe3AuXOabrsR6xDbgTAniL8+D0/TgKBkmk9vLaFx449Oq+/yZIgAOXyzz8Nt+BHRKLy5W0W/Lqkcx5c/wBU4u3g+rxWOD/u3S+cQesT24nu3S+cQesT24BSrGyk1NGgjpQzu6hDEqsdUbldSMoNiRYEjvrDngf0Cyqlkrs2VqeBhHUIFBiQhRpIstxsLjwYZc4zCkeooy0sDaJJHF3U2bhuAeex32OFj9HmaQLXZmzTRKJJSwJdRe1RWJtc79lVP0EYB697dF5pT+pT2YF530fow1NalpxedQbRJuNEmx25YM+7VL5xD6xfbgXneb05amtPCbTqT3ReWiT04Df726LzSn9SnsxPe3ReaU3qU9mLvdmm8vD6xfbie7NN5eH1i+3ABukXR6jEIIpacd2phtEnIzxA+DxYJ+9ui80pvUp7MYOkub05hFp4T3am/aL4J4j48Ffdmm8vD6xfbgKfe3ReaU/qU9mBfSro/RrRVJFLTgiGUgiJNjpPLbBr3ZpvLw+sX24F9K80gNFVATREmCXk6/Mb04DcOjlF5rT+pT2YnvcovNaf1KezF4zan8tF6xfbj33Wp/LResX24DJN0dotLfqtPyP7FPZgBBlEEdLSTCjgkjEUfHUQI0mkop1pYXYqdyguWBa12AVmebNafSe7Rcj+0X24w9HM1gFJTgzRX4MV+2vPQvpwFlPkWXyKrpTUrowDKyxRkFSLgggWII8OLPe1ReaU3qU9mAsdaYapY4Hj6o5LyM0sWmNrMSsQ167O2m402WzEd9sfgz2lfVpqIW0sVa0i7MOYO/PABujXR2janUmlpydUm5iTyjjxYJ+9mh80pvUp7MZejGZQCnUGWK+qT5a+Uf04K+6cHlovtr7cBl97ND5pTepT2YGZD0coyJb0tObTzAdxTlqNhy5YPe6UHlY/tr7cC8gzCECa8sfw83y1+cfTgNB6M0PmlN6lPZie9mh80pvUp7MbPdGHysf219uJ7ow+Vj+2vtwAzo1SRxSVqRIiIJ0sqKFG9PT+AbYmO8gkVpq0qQw46bg3/wDT0/ixMAawDpKcNUVmy6rxAFl1WPCW23hF/BfBzCwc4ghqatZJ4opDwyodgP2YANiRcXwHVJJM8crSwLBw007RGUtKL63jVO08XLSLBm35YF09fOaald0KvIG4x9z5iUcKDo4Q7QF9Q1nY2HjxR0Nz6RDK+YZlRya9OiON1AQ9pjY33Ha0/QinBTpL0mgamlFNWRLMV7BWWIEH6ZLqB4za9r23wE6MqZJ5GmiVXNPTkjh6NuLVhW0NcoWUK2k7i9jyxdPWSisEYoiaXZGl0LfiMLhhvfhrspOk7sTcBDdXzXpCj1btDUojmlgAIqY1VJtdQe6A3EircXAvt4NwQSk6Qr1osK2Hh8RCp6xHwxDoUOjR98ZC+shvSp1WGnAFJZKoCYCljLwxykHR2Z5LEwiLe4BHf35E2F+eBfRyeSbMCJYuwtO+h2pmg1EyRauzIbm1l8G2rmfAx++yg87p/Wr7cDJek1F12JutQaRBOL8RbXL0/hv6D/LAMvU4/mJ9kYnVI/mJ9kYHe+qg87p/Wr7cee+ug87p/Wr7cBzmdLH1il7C99L8keTbCh+j2BOu1N1U61nIFh8murRt9oD+WDea9K6DrFL+tQWBmZjxFsAI2G5vYbkYQeg/SemgqKF5JlAlp6mN+0OzLJVNMuv5u2rc8r+nAfZupx/MT7IwLzykj1U1kT4dfkj5kmO/fVQed0/rV9uBmddJ6ImntVQG06k90XYaZN+eAZOpx+TT7IxOpx+TT7IwO99VB53T+tX24nvqoPO6f1qe3AJuZmCRqlqipaIwVcMaQoY41RdUBjZldSJA2riEm+x0i1sbctr5lqtLrA8EtbPTgFTxF0xPMpB70IOGy6beEG/gxvz7pFlw0TCWjeZHiVXYxsyq0iI+k3uLKzHbG/3dyy4PHpLhjIDrj2cgqWG/fFSRq52J8eAUqTpNUNDSFxl0UlTDJUh5VZYlSNYjwxd7tIS7MTcBVB2a29OaZ9PVQHhw00cctNQlldGLhq6SSn7LKQNKnSwJXcD07N02b5S0axGWiKLbQhaMqtu90ryFvBbC9nPTWlSGUyClMxTsyxPHOheMl4dQ2kGl+0NSaVJPavuQ8rOkkq05KpS9YQ1uscFmDrSycIsq8RRGh2JZpDbYAPfZ3oIopIkk4SDWitbSDbUAbXtvgP7s5PIoPGoXVXLjtRECRu0zDxOSSSee+NkXSjLlAVaqlVQAABKgAA2AAB2GAITUMWk9zTkfkj2YwdG6KI0lNeNL8GL5I+YvoxU/THLjrQVlPqUb90XwgkWN7H6sZOjvSqhWkpw1XTgiGIEGVBY6FFueAYeoQ+Tj+yPZj55+h2KORcx1IjWr5yLqDsQvj8G2HP32Zf55TeuT24+ffokz6khFXxKmFOJIko1SKtyy72ufRgHzozQRGnW8UffS/IXyj+jBT3Oh8lH9hfZhe6N9KKEU6g1dMDql2MyD9o58eCfvroPPKb1ye3Abvc6HyUf2F9mBmQ5fCRNeKP4eb5A+d9GLffXQeeU3rk/FgZknSigUS3rKYXmlIvMnIt9PLAMHuZB5GL7C+zHnuXB5GL7C+zGL32Zf57S+vj/Fj0dK8v8APKX18f4sBx0fhVJq1UVVHHTZQAPi9P4BiY46M1kU0ta8UiSIZ0syMGXanpwbFdsTAHsCss+M1f70X3a4E12T1bVEjrsDLEySdamXRGqxBl4Croa5WTYmx1740xZpFDVVQcsCTEdo3bbhgc0UjwYBixMCffHT/Ok9TL+DE98dP45PUy/gwHlN8fn/AMvTfeVWC+FSn6QU/XZjd7GCnHwMvMPU+DR6Rgr74qfxyepl/BgC2BM/x6L/AC9R95T45XpNSm9mc2NjaGXY+I9jngbPn8HXYjqewgnB7lLz4lPb5PoOAasTAn3xU/zn9TL+DCd0w/SPS9Xq4qd3eYII4+GG1GVwwsNgVKWBPh38eA4/SbJI+YZXBFpPGNRG99xw7wGX/oVxivOIpjAj0yCSfhS1USm3fR1ccu1/DokYem9vDgX0eo4aeogrJpZiztPOIZIZB1dpomklANtzcAeix8ZOGXJs1hi9zdRe60zxN3KTvikMh+TvvGxwDblOaxzJEVcM0kSSi3hRrb/RfFWe99Tfx0/tkx8qqek9RlmYOUp56ihCCKE8NgV1kOI1JUA91YKt+S7DURg8f0kU1TPQxA6WYiSRNLs0cqrvGbLuRdr7cx4MB9MxMKVX+kOgSeOLjKdRdXNm7mwtpDjTsWJtvbf6cFV6TUptaQ7i47m+423HZ3G439IwHXSgdwH8am+/iwWwrdJc/pzBYM3wtOfg5PBNET8nBNukdMBcuwA5kxyfhwBbAnpb8Rqv4E39jY998VN85vVyfhwL6U5/TtRVIDNcwygdzk+Y3+HAF63I4JW4hUrLYDixs0chA5AvGQzL/hJI9GBGYQZjG8McMnGjLozySBUZEVlLhmTaQuupQoiFtyW2Fyg6Q03z29XJ+HE98VN89vVyfhwAPJQfdXMzc2ZKdQP3IwT96MHujHxOm/gQ/wBi4T8tzuDrRn1EcWSsQ2R+S8KJb9nc/q5Po1H04OdG+kFOKSmBc3EMQPc3+Yv+HAMk0mlS3iBP8t8fN/0NsQHU+aZe/wBpZh/+ODfTbpNCuX1Zjc6+BKF7DjcqQNyBbnhY6L1gpsxp1cqsZy5UYor2M0bJqUC26rqNtttR33wH0Lov8WX96X7x8FcK/RvPqdadQXPfS/Ifyjn5uCfvipvnn7D/AIcAVwMyLlN/Hl/uxz74qbyh+w/4cDck6QUwE15Oc8p7x/GP8OAZ8TAr3xU3lP8Aof8ADie+Ol8p/wBLezAc5N8PW/xk/wBvT49xR0bqkllrHQ3UzpvYj/09P48TAHcCss+M1f70X3a4K4XI80WKqqgyTNcxG8cMkg7wDcopF/RgGPEwI98Mfkqr+lm/Bie+GPyVV/SzfgwEpvj8/wDl6b7yqwXwp0+fR9emPDqd4KcW6tNfZ6nwaL235/T4sET0lj1W4NXyvfqs1v56OeAN4ET/AB+H/L1H3lNiuPpNGb9xqxbx0k/p5djA6fP4+uxHh1NhBOPi0193pvBovbbn9HjwG/pf0i6jFG4iMzSTRwoisFJd76dztzGFXoV+jlqOvkqnZWEkbK4JuDK/AkZlBGy61l57976cXUeZJPmUtS8VWY4FWGAGCcji9vjOEVbA2ZFud9jyw0++KLydV/Sz/gwAr9IBuKaO5HGl4GxsbSqY2sRuDpZt8EeldMvASTcGnkilQgkW0sFblzBjZ1IOxDHCtnHSGGqzCkVVnaKmkkeS1PNfrAjbQltF+ypYkelfEcMmaZpDPDJCyVirIjIStLOGAYWup4exHMYAzXUUcyhZBdQ8cgFyO3G6yIdvEyqfTbCVnfQemibiUq8GpmqdfWBZnVnVy2guDpUm+3+I+jGno503gP6pI071cIIkXq8rOUUhVkYLHtqUox2Fi+Nec59GTT9zqdp1O9LOPkvyunPAJ2VfoiYQScWbu84pmkYbskiyiWYo24JYAAG3MeLBanyhsqqYZZai9GgeniaV+0iSK0pVyRYgPFEqG9+0B4Bdu98MXk6r+ln/AC8Ys3rKSqiaGenqJInG6tSVH8wQlwR4CNxgKcxz6CooYJ1YBZpaTQGI1amlibQQCe2Be49Bxk/SFnY6rWUyA8Zo440F++eoEigKBvcKjt9WE7OuidFA01XTrWcZpYpIongqFhWYyoQTaO/M+PwkAHYY6yMVc+bDMK6kliRVKLEsE0gDIpCSbId+24Btcb8vCDt0SzJYleCacyTiazBjd9Uw4guo71SdYA5ALbwYL9LfiNV/Am/sbHzr9IuVJMGnokqkqpZUEhNNUAMrItOLnh7aOy45nZrbtjN0k6fz9WmMsckK2lpBE0TFXmKMQ5kKAg96Am1rsSDsQH2MYyZnmUcEetzZdSJcb9p2WNf+phhIP6WqSFXFXHPTTqW0wPE+sqAGXcDSGYEbX2uMI+e5+K6aHL1M6RvW1MsrLHJqKJI7KojC6mPZJ23UjcbYB2y2cRQ0cUbEPTNSPPqFw3XuJGwBvcEPJrvbxDffDl0Y+J038CH+xcfO6isVqnMjGk+qRIDAvVZ7a6RY3QEBLheIwB5beK4wy9Ful9L1akj7txGp42Cinna6qqKxUrGQygkC4uNxgNf6SxfLKofOQL9plX/zj3NxbNaA+Dg1o/2xH/Y4GfpAz2J6GRQlRdmgHapZ1G80fhaMD6vDy8OLM3z2I11C2ipsOsrvSzg7op2Bjue98GAYOjHxdf35vvXwVwrdG8+iFOo01PfS8qWoP7RzzEeCfvhh+ZU/0lT+VgC2BeQ8p/48v/cY4PSKH5lT/SVP5WBmSdIIQJrpU7zynakqD4R4o9j6MA1YmBA6Rw/Mqf6Op/KxPfHD82p/pKn8rAe5P8PWfxk+4gxMUdG6tZZaxlDgcdB20eM/AQfJkAb/AExMAdwKy34zVfvRfdjBXC7HXtHVVIWCaUXiOqPh2HYGx1upv9XhwDFiYEjOJPNKn/2fzcT3Yk80qf8A2vzcB5TH9fn/AMvTfeVWC+FSDNn69Meq1HwFOLWiv39Tv8JyN/8AQ4Itnr3t1KrP1RenwmX0YA1hZ6T1rQS8VF1ulJVsq3tqbXTaRc8rmwvjameuf/R1Y2vusQ8Y8pz2wtdLM1cyp+rVAvE62Ij31VFGNrSfV9YwDX0cyrqtOkRkeRhqZpJDqZnZi7En6Sf9MYM8zio1qlEiysqGaS9iGQalWNG1C0jsGAaxA0G+JnHSKWKF2WknD2smoR6dbEKl7SXtqIwC6G0MtDJUAUtSYSsCQi0VwEVi5NpNtUryP9LHAGKGg4C5bEQAy6g9vDJwH1k25ktck+G+GfCtmebuZ6U9VqRZ5NrR79yfl3TEynOpOLV3pqphxxYdzOkcCn23k23u1ht2r8ycBZ0rp6lXglooY5JuIyvrOgcJ0OoswF73SMA2O9tsBcrzWOEUWXzTq1XFNoA31OkYkVWPiumnmdzhp92X80qf5R/mYU+mDEKskFDOJ2q6WZjaMGQxFdr6zvw0Kj/94D6FiYRKHprVxXSuoZVla5iEJRuItwDYF7hl1Dbe439GDtB0nWdEkip6hkdQ6kBN1PI2L3A+kYDR0o+A/wCbTffxYLYVukebMYfi1QO60/NU8tF/j+rBT3ZbzWp+zH+PAFcLnTbKIJKCqDRgjS821x3VBqVjbw3VfptbG33ZbzWp+yn48DOk+bsaOpHVqkXhl3KpYdhudn5YC89DqV6mepmjSV5gqjWgJRRHwmCtzGoXuRbGXoR0JhoAzHtzMzMXbtFb2BCs3asbaj4yTgsM5bzWp+yn48L3SLpvIrilpaeQ1r6SqSJ2VTcszFGtfSrWFxvgL8rb9YjkOwkfMYxfwnioV/mkDEegYU/0f5FLS1tNqaR4TT6oWa5A46CR4weQ0NFew8Dg+HDNmFQ8FJCEpKljSmNuSXKqNEpuZO+MbSHfmTjilleaio9EdXHJFFGySIkTbmIxnaQkEEMTy8WAJ/pD3pFHjqaIf/Jhx30je1ZlvpmmX+dPMf8AxhQrulnXqHL2WGcmSrpAx0r2nik1yAWbn3Nz4OWDHS/NW4uXydXqAI6tb3VeUkcsIA7XMs6jAMvRj4uv7833smCuFfo5mxEAHV6g9uXkq+Uf/Fgn7snzap+wv4sAVwLyHlP/AB5f+4x57snzap+wv4sDckzcjjfq9Qe7ynZF8Y/xYBnxMCvdo+bVP2F/Fie7R82qfsD8WA8yf4es/jJ9xBiYo6OT65axtDpeZNnFj8BB4LnEwB3ArLPjNX+9F92uCuF2KqlSqqQkDSi8VyHRbHhrtZyD/wD3AMWJgT7pVHmcnrYvxYnulUeZyesi/HgPKf4/P/l6b7yqwXwnU2dSHMZ0FM5k6vTkoJIrgB59z2/DqG3twYbNKre1FId/KxcvH32AM4UelVmrqGLwyaz6qSnqD93b68XV/SySJkRqOVpHIVY0khZyxse9D7KBuWNgBgBPm01RmOXS9UkUrHX9jiRk3BijbcNbsnY/TtfAM1VTNVVekyOsNNw2ZFItJMSJQJLgmyBYmFiLlz4MMOFPoxXT8Iyikc8eR5rh4t1c9i/b5iMIPqwX90p/M5fWQ/jwEzX4xSfxJPupMc5J8NW/5hf9tTYHZnmE3Hpb0kgs8lhri37lJ/jxzk2YTiWstSSm86kjXFt+r0wse39e3jwDVgXnnOn/AI6f2vjz3Sn8zl9ZD+ZgbnWYzkwXpJR3dP2kW+z7d/gD9RQxyPG7orPES0bEbqSCpK+K4JGEelpGop5qubsJHUNAHI26lIBIv1LUSc/AA304ajmdR5nL6yH8zE905/MpvWQfmYBSqOn9NU03aSWKQGB2jdGB1JNEZI47gGR0utwo+Utt9g9ZfXRzxrJEwZGvYjxg2II5hgQQQdwQQdxhT6XqZkjeTL3LwzQNG5eG6txor6SJLi9gPEdr4wZxlksbSVaU9drRhMsazRaQofiSqI43vJxO0SGDG5FrYD6JgV0s+JVX8Cb+xsKlN0xrxcvS6jOiSUkd0jIDswAlYytqspiLEKCLttyOKc+6d8SkqB1SYKYpY2fXDZJuHITHIA91YaSLHe9ha5Fw+ijAfo8dbVUvgeocL9ESpTn/AK45P54WdObVOkVMTRwWuy08iJIzEEgF+KCgQkDYnXp3C3K4P5O8tPDHEKWobQLFmeDUzc2Zu6d8zEk+k4A9ILg38Rwp/oqqGbLIEcMHhHCYMLd7YoR6DGUI9BGDEmZzWP6nPy+fB+bhV6OV09P1YillMVTFECNUN+OkC2ZTxO9aKMgg2sUXnc2Ciuyt4M1ooIU0UfEeoAA7Am4U6Mq/NNrNbkdRPjwx9P8Aamjb5tVQt/8AJhGKc2zGYzUn6nMLSu1tcG/cJl2tL/i8OMXT/MZjROTSTKFeB7l4bdiaJ/BIT4PFgGLoz8XH7833smCuECk6Z9Wjp1encLNPURajJCBrDynSO6W1agF3tv6bXafdWfzKo+3T/nYAtgXkPKf+PL/3GOfdWbzKo+1T/nYF5HnE3dP1GpF5ZT31Pt2uR7tz+jb04BqxMCBnElyvVJ9QAJGunuAb2JHG5Gx/kccjOZtv1Gp3JHfU+1vCe7cj4PpwHWTfD1v8aP8A28GJijo3Mzy1paN4zxk7LlSfgIPmMw/1x7gDuEPPs4qqaqnWnRJGnMcUIZTtUhEYa2uBoMXEY8rcLw3th8x876WZxWQzzw0sacSoaFIZWe2mYKhKldJB7ndtyNlfxC4FJP0h0yLLxY5oHjFgkyhDJKOcURuQ77odrizgg2vbmOCtq5DVLxKN4u5xQSgMHGnU/GCvpKs5UKVNwI737RUcHpoSqcRKNCzFdElWwZJBsVkBg7DAkLvbdgPCLyHpBmM8r9Wp6V4YgyOeskq8p0m0biLcoAVYWtdwL3UgAs5H0NrYaiedZoxmTrFMSwLRqszzrJFYtuq6QQQeaL4MNGU5rmMkMVO8RWsuyVFQU7lGFPfpyEjuliqrsCTqtp0kBN0nzOmqpJqiijIMMStHHIzP2nqWgAKqw199E3gZyhBAON1f+kCcw9xplaR4nbucrSNC9iFE6CG6Pr7NjtqUgkAE4BzybJYaVNMYNzu8jEtI7bAtI7dpmNhufEMIdTSVtPXSMWjVAtQtEbBmDVNRS62kGwYB5AAu2ym/jJGWozel7KxCczWRC02vhTHbU5SBLRW7Rvy0kA7gEVLm1fUV0NO9InGg1mRuI6xEJJTzKwZovDpj2XV329sB9HyyiWCGOFblY0VATzIUBQT6dsasB+t13m0H9S35GJ1uu82g/qW/IwHWa/GKT+JJ9zJjzJPhq3/ML/tqbAvMqqt49LengB1yW/WW37lJe/cdtsTJqms4tZanhvx1v+sNser03LuO4tY/X9eAa8C8850/8dP7Xxx1uu82g/qW/JwNzmqrLwXp4R3ZLfrB56X/AODgGnEwI63XebQf1Lfk4nW67zaH+pb8nAddJvgP+bT/AH0WCuFTpHVVnB3p4QOLT8qgnfjR2/ZeE7YKdbrvNof6lvycBqqcrikninZbyQiQRnxcTSG+uygfzwP6YUMTUNWGjQgxSOQVG7qt1Y+NgVWx57DxYu63W+bQ/wBSfycDOlFVWGjqb00IHBluRUEkDQ3IcLf+eAaRj3AgVdb5tD/UH8rE63W+bQ/1B/KwBWTkfoOF+iypKrLqaN2dDwYGV420ujhFsynxj03B3BBBxqarrLH9Wi/qD+VjB0cqqvqlNaniI4MVjxyNtC/8PAUZdlctPWxwjiPTKksySOzOUc2Ro3dyS19Wpbm/fDkBgl01pUlopkcXRguscuxqUtuOW18XdbrPNov6g/lYorTVTRvFJSxlHUow6yR2WFjuI7j6RgFfol0AgXrDEs1PULNGYix2Z5XWQg8xdEhAN79k4aMuzcRUEc9Q3eRqJCBuZF7mQAObFxYAcyRhFhySvmgMZiEkSCokgZ6gllqNTKm+gFtLBnBa+7c9hYrTFUValt4yRUpG9Z3NRIxZNMYjF+2xK3BOogXOlQA3V+c5rLETTUQhIFmE7qXLE6Twwl00qGD62bfSRpxOjM6JORHMZFaaphku+u8yBXBN+9fSrggWBuPEMVz9KsxZGnhoVNPGoLB2lSZttTcJGiBNgeRG5BwsdHcjqL8EBoZNYqA8cyhuLEvAnvrjYHUsqXuOZvgGmOCeSWWtpLNI00lPZyVXgRgxeLfROrSA2JIZwOYtvq+iaLAeDqFWqXWcOyPJMqnSZmUgyKW3KtdfRgTTZxXw6Yqei4sEZMGozAu0+x1s1gBCp1K7ab6jsNt/ZekuZwMYZKSKWZUacujlEMC31AAhiJQbKASb3B8dgOdFKwTNUygFRI8TaWtcXp4DZrEi4OxsfBiYy9A4CnXBvY1AdQXD2V4YHAUqq9karDa9rbnniYBqwJoEBqam4BsYiPQeHa49NiR9eC2F6PrHWqng8LTeIHWWvfQDtpHLcYAw2Xwl2cxRl3UIzaRdkFyFY2uV3Oxx3R0scSLHGioiiyqoAAHiAGwwEzavroY9QSlYlkQBpWjBZ2Ci7MPCSAAASSQADfGar905GWMT0kDFdbJHd5LCwJVpVI03NrmPxcsAQWZUrahnYKopqYlmNgBrqtyTsMVjPYLuaWJ6h2IZjAg0sdluZnKxEgADv72HLbACjyGUV8rMkEsiwwMGmeSUqS9QLx6wdHLkoA/mcMJrakFV1UYZmKKNbXLBS5UC27BQTbxAnAWWrpDzhp0v4LzSFfpOlI25+CQYuy/J1jfitJLNLpKa5G+SSGIVECxrchblVBOkXJtiipqqqJGeQ0iIouzM7qoA5kkiwGMlRW1y1KIerhDDM5BZrXRoRckrcWDH0bm/IYBkxMAmzGoEXGL0Yh0h+KZW0aCLhtVrabWN72xVTZzLIqPHJQukjFEZZmIZwGJVSAQzAKxsPEfFgNma/GKT9+T7qTGRaiSmmqGeCR4ZZBIJIhxCAIYIyHjXul7o1tCty8G2MuZT1fWaVCKbiXlcKHe+kRspYjTfTdlF/GwHhwRkq6tWRW6oGckKDI4LEAsQoK7kKCbDwAnAb8vzSGcExSI+m2oA7qTvZ15qfQQDjNnnOn/jp/a+B+Y5TNOQ0kFKXUELIJJFkUHY6JEUOl/8JGBVbRZlE0PdYZU4y6UlZiQdLaQJVQNp53Lh2N+eAecTC9RZjXN2JIqWOaxbhcdmOgHTqGlLlTtvYbm2Noet+ZT+sf8ABgOelHwH/Npvv4sFsK/SV6zgbpT24tP+0fnxorfI8eCTSV3gjpvWyfl4AtgV0s+JVX8Cb+xsTiV3k6b1r/l4GdKJKzqdTeOntwZb2le9tDcu588AzjHuBQlrfJU3rn/KxOLW+SpvXP8AlYAnJyP0HA7ov8Tpf4EP9i44klrbHuVNyP7Z/wArA/o3JWdTprRU9uDFa8zg20Lz7ltgGbEwK4td5Km9e/5OJxa7yVN6+T8nATox8XX9+b718VZd0Uo4H4iQIZNbOrsAzIWLG0ZbdEGprKtgLnGDo3LW9XXTFTW1S85nH7R/+Fgnxq7yNN6+T8nAFsLcOSw1KyCZSdNRMQVdkO5AIJQglWGxU7EY3cau8jTevk/JwNyWattNaGm+GlveeQb3/g4BgoaKOFFjiRUReSqLDxn6ybknwkk4vKg8x6PqwK41d5Gm9fJ+Ticau8jTevk/JwGDoZlMVK1ZFFq0CoUgMxYi9PT7AsSbDwXO3LExo6NNIZaziqivx02Riwt1entuVU/6YmAO4F5Z8Yqv3ovu1wUwGny+qE0kkE0KrJpJWSFnIZV07FZU2sBtbAas+yxaqnlgY21qQGtcq3NWF/lKwVh6QMItblWYTQNUujx1EkkCSwoQX6tCrAojRyRmzTs0vZkQlLD0Fw6vmHnFJ/TSf/YxOr5h5xSf00n/ANjAJTZXWq8LJxpJhBCCkh0myzzMoZ45yUcIbEvxFcKQbknGvKsmnp2AjSSJVrqyVnkkLIYngqOG5JdrpqaO97HVuRffDDHldcJnm6xTanSOMjq0lrIZGH7fn3Q/yGNXAzDy9L/TSfn4D5rRNNNHPHTmqMzZcSdVUJg1QzqNcRWV1TUQxBGkEchYHDFmNBVvXcRYpAoeZGOpmDQvTuFsTJpEZlEXcxGCGXUT4WYaXK6qK/DeiS+50Urrc+M2n3x42XVxlWXrFNdUdLdXksdRRrnu/MaB/M4AfW5ZIcoghaCSR0jpQ8aSKkimPhktGW7BkQrqCk2bTbw4H5RQ1t4jokVeumTVIsUcrR9VlQtUin7DDi6FB74gLcbA4aeBX+Xpf6eT8/HnAr/L0v8ATyfn4BApMmzDdkiq46kUE8cksswcPVGSnZuBeVtAfRIQRoG68rbXtk1QYqYyQ1skcdTK5jD8OZYjTunYfrLPp4hOzS6jdgBYgFvqMtrneNzPTXjLEfq8m+pSm/d/TjTwMw8vS/08n5+ASa+izMwRKI5uKkYZHEjOdpnZUbTKqiZYhDqkbia+0oDb6tKZDUieOa8/ENbXG0k7mMRFKkwHhligXVwiLLff+Tbwa/y1L/Tyfn4zVeW18hjJnpew4cWp5NyAw37v6cAE6E5bMlUJJIauP9VCSNUTcXVPrBcp3R9IJudtIO1hh8wH4OYeWpf6eT8/HvBr/LUvqJPzsB70o+A/5tN9/FgthfzHLa6ZNBnpgNUbXFO/yHWQftvDpt9eNPBr/LUvqJPzsAXwJ6W/Ear+BN/Y2PODX+WpfUSfnYzZpltdPDJEZqYCRGQkQSXAYFbju3pwB8Y9wI4Nf5Wl9RJ+dj3hV3lab1Mn5uAKScj9BwO6MfE6b+BD/YuK2hriPhab1Mn5uKMuoK6KKOITUxEaKgPBffSAt/hfRgD2JgTwq7ytN6mT83E4Vd5Wm9TJ+bgPei/xZf3pfvHwVwBy3L6yGMIJacgFjfgv8pi3lfTjTw63ylN6p/zcAVwMyLlN/Hl/uxzw67ylN6p/zMZ6KgrYw9pac6nd/gX+Ub2+E8GAO4mBXDrvKU3qn/MxCld8+m9W/wCPAc5N8PW/x0/29PiYtyahkjMzysjNLIH7ClQAI44rdpiT3l7+nHmAJ4VIzXapSesa+76QRT8D5fC0Ed1v3nfHmWv6NWYzZmKpRDHTmkvFqZnIkAJbiaRa2w08/wDW/ZGA5uraiAyE1I0642KgLKYSEESEdoRj4R++3G5Kh1lqZkYmBkmEpaCxlSEqF1jiEBApJ06ri/K1rHGuePMJIp7s0MquODwjEwdRGgO8insl9ZswDC1uXMdldXmwSUshkIEBjDhEJbX3VbhEABTkbGx8J5YY8gkqmWQ1SojCSyhDdSgVBqB52ZtbAHcAgeDABM6ir1mRYpahoRGl3RYCzSan16tSWvp0WsAMd1EGadYZ0fuInhAQtHvT9yEh0cG995T8KDtsDspu6ZVFaoHUxIX0kgBFKFt7BiVZr3tt2RYntY96xXdatZtGtAF0JwuCUUuzPfXxA+sADbZRa12wDNhcpJqt4J+IJ1lV2MZjSFGdBZlWMSF0F91u59NxjPT12ZmCYPAqTiBjCQQweUDs6jcBDqt2NJH+M4urq7MIxM3BjOmOMxLFebVIWYMCGMR73T4bC99+WAklBXCmVesStUliSyCEKNR2Dlot0QeFVDNbkL2BunDxpEjF5WsFaSyi5Ckl3AsACRyUc2G1sVZHPM8CNOAJSO2FVkANzyDktb0k789uWN+AXFet63+04XEta0XB4Om4YH4Xi6rC17c9rdrGOlkzMrJ33EMT/CLFoWo1KFEGghmitxCeIb2CbgkjDfhZyyfNXeVZ4qeFNEnCkVy516yE1qbbaLE2P8r2UPBLmvE3SALqisFJK6bTiQsxGq5IhawXbUBvZjirNK7M0QcONDIZWG0fERYrIQx7pG3ztrEk+Ib48zSuzEw8SOIxs0qpw7B2WNVfW5Kq/fPa1lPZ0nYk6eaLMc0EURanWRzx9YJCdlXBjO4B1NHqUDSo1EEhRgG2M3AJ52Hox1jNlhkMMZltxSiF7C3bsNVh9N8YVrJ+umMqTAYrhhG1hICO+kJsbgnYAWtzN9gL4mB+aVMvBlMCEyLst1596SVBI1WBNhcXItfAQ1+YrGDFCZyJiAJLQM0PCZrtzCkS2A2Fx4BzINeJgA1ZXEoY4Y2UwgtxGaG0tzsAEkJ28B9G5vjJS5rXcanjeKyNFG07GFzpkKjUqurFb6r3uAFHhJwDVgd0hacU7mnJEvZ0kKGNtS6rBtr6dXjtzs3IkcTAJVM+ayRqo1Kwle7u0Skx8NSpvwGA7ZYW4YO3O2521c+ZxxwqkazSLd5mBUBlDbRrq0dsr8vSBdR2QGsGjCv0trq2N16spZdBNghJL35EhHFrW2Oj97xBdUT5gHYqitE00ITYB44rxcQtdrOtjL4mUjYN4GLC1LmGYcbQtOvC4sQ4hIuIyI3fs33AtMhN9mZLAgE47yL3QLq0+gRkMWUkXHzQoVBb03Y7ePngK0rK1oJrq3EWYAMsQUmAstzGjsQzBdXfHci9vk4I5RUTCEtMrsQxC3VRIyXspdVOkN9FthewOw66RzzJAzQC7gpsFLHTqAbSADdtN7bEYA02aV5iUyJJGvEkGsQl5NAVCl4ha2pi4Ladgo2GrUAIZ/PWLLaAPp0KYwqoyvLdtSzFjdEto3Wx3bc2Ax51it63bS/D4lraE4fA0X1676+Jr2t9Wm3bxlqsxzACPuZWQwxtoWIurTm/ESRgxESgBdyflHdtNjsavrhPbgoYNen5WvRrVL3vbkS/LktvTgMC1Wb8JS0cOvgubL8qayMuoG4QAllIGq5BOwsDpzKvzGMTMIUJVIeEsYMwZy0gcG5iIsoT6L335Y96L5zWTyyLU03CVRdWAcC9yNN3A1bWNwLYZcBiyaaV4I2mAEpHbAVkGrw2VyWA+k4mNuJgP//Z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81606" name="Picture 6" descr="http://www.ka7oei.com/TVBND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43" y="1593334"/>
            <a:ext cx="5600700" cy="4086226"/>
          </a:xfrm>
          <a:prstGeom prst="rect">
            <a:avLst/>
          </a:prstGeom>
          <a:noFill/>
        </p:spPr>
      </p:pic>
    </p:spTree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560389"/>
            <a:ext cx="4573588" cy="420687"/>
          </a:xfrm>
        </p:spPr>
        <p:txBody>
          <a:bodyPr>
            <a:normAutofit fontScale="90000"/>
          </a:bodyPr>
          <a:lstStyle/>
          <a:p>
            <a:endParaRPr lang="pt-BR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524000" y="1"/>
            <a:ext cx="9144000" cy="6881813"/>
            <a:chOff x="0" y="0"/>
            <a:chExt cx="5760" cy="4335"/>
          </a:xfrm>
        </p:grpSpPr>
        <p:sp>
          <p:nvSpPr>
            <p:cNvPr id="878596" name="Rectangle 4"/>
            <p:cNvSpPr>
              <a:spLocks noChangeArrowheads="1"/>
            </p:cNvSpPr>
            <p:nvPr/>
          </p:nvSpPr>
          <p:spPr bwMode="gray">
            <a:xfrm>
              <a:off x="0" y="0"/>
              <a:ext cx="5760" cy="4335"/>
            </a:xfrm>
            <a:prstGeom prst="rect">
              <a:avLst/>
            </a:prstGeom>
            <a:solidFill>
              <a:srgbClr val="FFFFCC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597" name="Freeform 5"/>
            <p:cNvSpPr>
              <a:spLocks/>
            </p:cNvSpPr>
            <p:nvPr/>
          </p:nvSpPr>
          <p:spPr bwMode="gray">
            <a:xfrm>
              <a:off x="2297" y="267"/>
              <a:ext cx="996" cy="493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288" y="0"/>
                </a:cxn>
                <a:cxn ang="0">
                  <a:pos x="576" y="432"/>
                </a:cxn>
              </a:cxnLst>
              <a:rect l="0" t="0" r="r" b="b"/>
              <a:pathLst>
                <a:path w="576" h="432">
                  <a:moveTo>
                    <a:pt x="0" y="432"/>
                  </a:moveTo>
                  <a:cubicBezTo>
                    <a:pt x="96" y="216"/>
                    <a:pt x="192" y="0"/>
                    <a:pt x="288" y="0"/>
                  </a:cubicBezTo>
                  <a:cubicBezTo>
                    <a:pt x="384" y="0"/>
                    <a:pt x="480" y="216"/>
                    <a:pt x="576" y="432"/>
                  </a:cubicBezTo>
                </a:path>
              </a:pathLst>
            </a:custGeom>
            <a:solidFill>
              <a:srgbClr val="FFCCCC"/>
            </a:solidFill>
            <a:ln w="28575" cmpd="sng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598" name="Line 6"/>
            <p:cNvSpPr>
              <a:spLocks noChangeShapeType="1"/>
            </p:cNvSpPr>
            <p:nvPr/>
          </p:nvSpPr>
          <p:spPr bwMode="gray">
            <a:xfrm>
              <a:off x="76" y="760"/>
              <a:ext cx="56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599" name="Line 7"/>
            <p:cNvSpPr>
              <a:spLocks noChangeShapeType="1"/>
            </p:cNvSpPr>
            <p:nvPr/>
          </p:nvSpPr>
          <p:spPr bwMode="gray">
            <a:xfrm flipV="1">
              <a:off x="2795" y="174"/>
              <a:ext cx="0" cy="6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00" name="Text Box 8"/>
            <p:cNvSpPr txBox="1">
              <a:spLocks noChangeArrowheads="1"/>
            </p:cNvSpPr>
            <p:nvPr/>
          </p:nvSpPr>
          <p:spPr bwMode="gray">
            <a:xfrm>
              <a:off x="5445" y="781"/>
              <a:ext cx="29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latin typeface="Times New Roman" pitchFamily="18" charset="0"/>
                </a:rPr>
                <a:t>f </a:t>
              </a:r>
              <a:r>
                <a:rPr lang="pt-BR" sz="1600">
                  <a:latin typeface="Times New Roman" pitchFamily="18" charset="0"/>
                  <a:sym typeface="Symbol" pitchFamily="18" charset="2"/>
                </a:rPr>
                <a:t></a:t>
              </a:r>
              <a:endParaRPr lang="pt-BR" sz="1600" i="1">
                <a:latin typeface="Times New Roman" pitchFamily="18" charset="0"/>
              </a:endParaRPr>
            </a:p>
          </p:txBody>
        </p:sp>
        <p:sp>
          <p:nvSpPr>
            <p:cNvPr id="878601" name="Text Box 9"/>
            <p:cNvSpPr txBox="1">
              <a:spLocks noChangeArrowheads="1"/>
            </p:cNvSpPr>
            <p:nvPr/>
          </p:nvSpPr>
          <p:spPr bwMode="gray">
            <a:xfrm>
              <a:off x="4725" y="783"/>
              <a:ext cx="12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latin typeface="Times New Roman" pitchFamily="18" charset="0"/>
                </a:rPr>
                <a:t>f</a:t>
              </a:r>
              <a:r>
                <a:rPr lang="pt-BR" sz="1600" i="1" baseline="-25000">
                  <a:latin typeface="Times New Roman" pitchFamily="18" charset="0"/>
                </a:rPr>
                <a:t>c</a:t>
              </a:r>
              <a:endParaRPr lang="pt-BR" sz="1600" i="1">
                <a:latin typeface="Times New Roman" pitchFamily="18" charset="0"/>
              </a:endParaRPr>
            </a:p>
          </p:txBody>
        </p:sp>
        <p:sp>
          <p:nvSpPr>
            <p:cNvPr id="878602" name="Text Box 10"/>
            <p:cNvSpPr txBox="1">
              <a:spLocks noChangeArrowheads="1"/>
            </p:cNvSpPr>
            <p:nvPr/>
          </p:nvSpPr>
          <p:spPr bwMode="gray">
            <a:xfrm>
              <a:off x="719" y="783"/>
              <a:ext cx="15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latin typeface="Times New Roman" pitchFamily="18" charset="0"/>
                </a:rPr>
                <a:t>-f</a:t>
              </a:r>
              <a:r>
                <a:rPr lang="pt-BR" sz="1600" i="1" baseline="-25000">
                  <a:latin typeface="Times New Roman" pitchFamily="18" charset="0"/>
                </a:rPr>
                <a:t>c</a:t>
              </a:r>
              <a:endParaRPr lang="pt-BR" sz="1600" i="1">
                <a:latin typeface="Times New Roman" pitchFamily="18" charset="0"/>
              </a:endParaRPr>
            </a:p>
          </p:txBody>
        </p:sp>
        <p:sp>
          <p:nvSpPr>
            <p:cNvPr id="878603" name="Line 11"/>
            <p:cNvSpPr>
              <a:spLocks noChangeShapeType="1"/>
            </p:cNvSpPr>
            <p:nvPr/>
          </p:nvSpPr>
          <p:spPr bwMode="gray">
            <a:xfrm flipV="1">
              <a:off x="802" y="702"/>
              <a:ext cx="0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04" name="Line 12"/>
            <p:cNvSpPr>
              <a:spLocks noChangeShapeType="1"/>
            </p:cNvSpPr>
            <p:nvPr/>
          </p:nvSpPr>
          <p:spPr bwMode="gray">
            <a:xfrm flipV="1">
              <a:off x="4787" y="702"/>
              <a:ext cx="0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05" name="Line 13"/>
            <p:cNvSpPr>
              <a:spLocks noChangeShapeType="1"/>
            </p:cNvSpPr>
            <p:nvPr/>
          </p:nvSpPr>
          <p:spPr bwMode="gray">
            <a:xfrm>
              <a:off x="76" y="757"/>
              <a:ext cx="2221" cy="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06" name="Line 14"/>
            <p:cNvSpPr>
              <a:spLocks noChangeShapeType="1"/>
            </p:cNvSpPr>
            <p:nvPr/>
          </p:nvSpPr>
          <p:spPr bwMode="gray">
            <a:xfrm>
              <a:off x="3293" y="760"/>
              <a:ext cx="240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3" name="Group 15"/>
            <p:cNvGrpSpPr>
              <a:grpSpLocks/>
            </p:cNvGrpSpPr>
            <p:nvPr/>
          </p:nvGrpSpPr>
          <p:grpSpPr bwMode="auto">
            <a:xfrm>
              <a:off x="2203" y="781"/>
              <a:ext cx="1204" cy="154"/>
              <a:chOff x="2538" y="1009"/>
              <a:chExt cx="696" cy="127"/>
            </a:xfrm>
          </p:grpSpPr>
          <p:sp>
            <p:nvSpPr>
              <p:cNvPr id="878608" name="Text Box 16"/>
              <p:cNvSpPr txBox="1">
                <a:spLocks noChangeArrowheads="1"/>
              </p:cNvSpPr>
              <p:nvPr/>
            </p:nvSpPr>
            <p:spPr bwMode="gray">
              <a:xfrm>
                <a:off x="2836" y="1009"/>
                <a:ext cx="90" cy="1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pt-BR" sz="1600">
                    <a:latin typeface="Times New Roman" pitchFamily="18" charset="0"/>
                  </a:rPr>
                  <a:t>0</a:t>
                </a:r>
                <a:endParaRPr lang="pt-BR" sz="1600" i="1">
                  <a:latin typeface="Times New Roman" pitchFamily="18" charset="0"/>
                </a:endParaRPr>
              </a:p>
            </p:txBody>
          </p:sp>
          <p:sp>
            <p:nvSpPr>
              <p:cNvPr id="878609" name="Text Box 17"/>
              <p:cNvSpPr txBox="1">
                <a:spLocks noChangeArrowheads="1"/>
              </p:cNvSpPr>
              <p:nvPr/>
            </p:nvSpPr>
            <p:spPr bwMode="gray">
              <a:xfrm>
                <a:off x="3138" y="1009"/>
                <a:ext cx="96" cy="1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pt-BR" sz="1600" i="1">
                    <a:latin typeface="Times New Roman" pitchFamily="18" charset="0"/>
                  </a:rPr>
                  <a:t>B</a:t>
                </a:r>
                <a:r>
                  <a:rPr lang="pt-BR" sz="1600" i="1" baseline="-25000">
                    <a:latin typeface="Times New Roman" pitchFamily="18" charset="0"/>
                  </a:rPr>
                  <a:t>m</a:t>
                </a:r>
                <a:endParaRPr lang="pt-BR" sz="1600" i="1">
                  <a:latin typeface="Times New Roman" pitchFamily="18" charset="0"/>
                </a:endParaRPr>
              </a:p>
            </p:txBody>
          </p:sp>
          <p:sp>
            <p:nvSpPr>
              <p:cNvPr id="878610" name="Text Box 18"/>
              <p:cNvSpPr txBox="1">
                <a:spLocks noChangeArrowheads="1"/>
              </p:cNvSpPr>
              <p:nvPr/>
            </p:nvSpPr>
            <p:spPr bwMode="gray">
              <a:xfrm>
                <a:off x="2538" y="1009"/>
                <a:ext cx="120" cy="1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pt-BR" sz="1600" i="1">
                    <a:latin typeface="Times New Roman" pitchFamily="18" charset="0"/>
                  </a:rPr>
                  <a:t>-B</a:t>
                </a:r>
                <a:r>
                  <a:rPr lang="pt-BR" sz="1600" i="1" baseline="-25000">
                    <a:latin typeface="Times New Roman" pitchFamily="18" charset="0"/>
                  </a:rPr>
                  <a:t>m</a:t>
                </a:r>
                <a:endParaRPr lang="pt-BR" sz="1600" i="1">
                  <a:latin typeface="Times New Roman" pitchFamily="18" charset="0"/>
                </a:endParaRPr>
              </a:p>
            </p:txBody>
          </p:sp>
        </p:grpSp>
        <p:graphicFrame>
          <p:nvGraphicFramePr>
            <p:cNvPr id="878611" name="Object 19"/>
            <p:cNvGraphicFramePr>
              <a:graphicFrameLocks noChangeAspect="1"/>
            </p:cNvGraphicFramePr>
            <p:nvPr/>
          </p:nvGraphicFramePr>
          <p:xfrm>
            <a:off x="2817" y="144"/>
            <a:ext cx="352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58720" imgH="241200" progId="Equation.3">
                    <p:embed/>
                  </p:oleObj>
                </mc:Choice>
                <mc:Fallback>
                  <p:oleObj name="Equation" r:id="rId2" imgW="558720" imgH="241200" progId="Equation.3">
                    <p:embed/>
                    <p:pic>
                      <p:nvPicPr>
                        <p:cNvPr id="878611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2817" y="144"/>
                          <a:ext cx="352" cy="1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78612" name="Freeform 20"/>
            <p:cNvSpPr>
              <a:spLocks/>
            </p:cNvSpPr>
            <p:nvPr/>
          </p:nvSpPr>
          <p:spPr bwMode="gray">
            <a:xfrm>
              <a:off x="2297" y="3493"/>
              <a:ext cx="996" cy="447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288" y="0"/>
                </a:cxn>
                <a:cxn ang="0">
                  <a:pos x="576" y="432"/>
                </a:cxn>
              </a:cxnLst>
              <a:rect l="0" t="0" r="r" b="b"/>
              <a:pathLst>
                <a:path w="576" h="432">
                  <a:moveTo>
                    <a:pt x="0" y="432"/>
                  </a:moveTo>
                  <a:cubicBezTo>
                    <a:pt x="96" y="216"/>
                    <a:pt x="192" y="0"/>
                    <a:pt x="288" y="0"/>
                  </a:cubicBezTo>
                  <a:cubicBezTo>
                    <a:pt x="384" y="0"/>
                    <a:pt x="480" y="216"/>
                    <a:pt x="576" y="432"/>
                  </a:cubicBezTo>
                </a:path>
              </a:pathLst>
            </a:custGeom>
            <a:solidFill>
              <a:srgbClr val="FFCCCC"/>
            </a:solidFill>
            <a:ln w="28575" cmpd="sng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13" name="Line 21"/>
            <p:cNvSpPr>
              <a:spLocks noChangeShapeType="1"/>
            </p:cNvSpPr>
            <p:nvPr/>
          </p:nvSpPr>
          <p:spPr bwMode="gray">
            <a:xfrm>
              <a:off x="76" y="3945"/>
              <a:ext cx="56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14" name="Line 22"/>
            <p:cNvSpPr>
              <a:spLocks noChangeShapeType="1"/>
            </p:cNvSpPr>
            <p:nvPr/>
          </p:nvSpPr>
          <p:spPr bwMode="gray">
            <a:xfrm flipV="1">
              <a:off x="2795" y="3350"/>
              <a:ext cx="0" cy="6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15" name="Line 23"/>
            <p:cNvSpPr>
              <a:spLocks noChangeShapeType="1"/>
            </p:cNvSpPr>
            <p:nvPr/>
          </p:nvSpPr>
          <p:spPr bwMode="gray">
            <a:xfrm flipV="1">
              <a:off x="802" y="3882"/>
              <a:ext cx="0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16" name="Line 24"/>
            <p:cNvSpPr>
              <a:spLocks noChangeShapeType="1"/>
            </p:cNvSpPr>
            <p:nvPr/>
          </p:nvSpPr>
          <p:spPr bwMode="gray">
            <a:xfrm flipV="1">
              <a:off x="4787" y="3882"/>
              <a:ext cx="0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17" name="Line 25"/>
            <p:cNvSpPr>
              <a:spLocks noChangeShapeType="1"/>
            </p:cNvSpPr>
            <p:nvPr/>
          </p:nvSpPr>
          <p:spPr bwMode="gray">
            <a:xfrm>
              <a:off x="76" y="3940"/>
              <a:ext cx="222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18" name="Line 26"/>
            <p:cNvSpPr>
              <a:spLocks noChangeShapeType="1"/>
            </p:cNvSpPr>
            <p:nvPr/>
          </p:nvSpPr>
          <p:spPr bwMode="gray">
            <a:xfrm flipV="1">
              <a:off x="3274" y="3935"/>
              <a:ext cx="2413" cy="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19" name="Text Box 27"/>
            <p:cNvSpPr txBox="1">
              <a:spLocks noChangeArrowheads="1"/>
            </p:cNvSpPr>
            <p:nvPr/>
          </p:nvSpPr>
          <p:spPr bwMode="gray">
            <a:xfrm>
              <a:off x="5469" y="3957"/>
              <a:ext cx="27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 sz="1600" i="1">
                  <a:latin typeface="Times New Roman" pitchFamily="18" charset="0"/>
                </a:rPr>
                <a:t>f </a:t>
              </a:r>
              <a:r>
                <a:rPr lang="pt-BR" sz="1600">
                  <a:latin typeface="Times New Roman" pitchFamily="18" charset="0"/>
                  <a:sym typeface="Symbol" pitchFamily="18" charset="2"/>
                </a:rPr>
                <a:t></a:t>
              </a:r>
              <a:endParaRPr lang="pt-BR" sz="1600" i="1">
                <a:latin typeface="Times New Roman" pitchFamily="18" charset="0"/>
              </a:endParaRPr>
            </a:p>
          </p:txBody>
        </p:sp>
        <p:sp>
          <p:nvSpPr>
            <p:cNvPr id="878620" name="Text Box 28"/>
            <p:cNvSpPr txBox="1">
              <a:spLocks noChangeArrowheads="1"/>
            </p:cNvSpPr>
            <p:nvPr/>
          </p:nvSpPr>
          <p:spPr bwMode="gray">
            <a:xfrm>
              <a:off x="4752" y="3957"/>
              <a:ext cx="11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 sz="1600" i="1">
                  <a:latin typeface="Times New Roman" pitchFamily="18" charset="0"/>
                </a:rPr>
                <a:t>f</a:t>
              </a:r>
              <a:r>
                <a:rPr lang="pt-BR" sz="1600" i="1" baseline="-25000">
                  <a:latin typeface="Times New Roman" pitchFamily="18" charset="0"/>
                </a:rPr>
                <a:t>c</a:t>
              </a:r>
              <a:endParaRPr lang="pt-BR" sz="1600" i="1">
                <a:latin typeface="Times New Roman" pitchFamily="18" charset="0"/>
              </a:endParaRPr>
            </a:p>
          </p:txBody>
        </p:sp>
        <p:sp>
          <p:nvSpPr>
            <p:cNvPr id="878621" name="Text Box 29"/>
            <p:cNvSpPr txBox="1">
              <a:spLocks noChangeArrowheads="1"/>
            </p:cNvSpPr>
            <p:nvPr/>
          </p:nvSpPr>
          <p:spPr bwMode="gray">
            <a:xfrm>
              <a:off x="724" y="3957"/>
              <a:ext cx="15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latin typeface="Times New Roman" pitchFamily="18" charset="0"/>
                </a:rPr>
                <a:t>-f</a:t>
              </a:r>
              <a:r>
                <a:rPr lang="pt-BR" sz="1600" i="1" baseline="-25000">
                  <a:latin typeface="Times New Roman" pitchFamily="18" charset="0"/>
                </a:rPr>
                <a:t>c</a:t>
              </a:r>
              <a:endParaRPr lang="pt-BR" sz="1600" i="1">
                <a:latin typeface="Times New Roman" pitchFamily="18" charset="0"/>
              </a:endParaRPr>
            </a:p>
          </p:txBody>
        </p:sp>
        <p:sp>
          <p:nvSpPr>
            <p:cNvPr id="878622" name="Text Box 30"/>
            <p:cNvSpPr txBox="1">
              <a:spLocks noChangeArrowheads="1"/>
            </p:cNvSpPr>
            <p:nvPr/>
          </p:nvSpPr>
          <p:spPr bwMode="gray">
            <a:xfrm>
              <a:off x="2719" y="3957"/>
              <a:ext cx="15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>
                  <a:latin typeface="Times New Roman" pitchFamily="18" charset="0"/>
                </a:rPr>
                <a:t>0</a:t>
              </a:r>
              <a:endParaRPr lang="pt-BR" sz="1600" i="1">
                <a:latin typeface="Times New Roman" pitchFamily="18" charset="0"/>
              </a:endParaRPr>
            </a:p>
          </p:txBody>
        </p:sp>
        <p:sp>
          <p:nvSpPr>
            <p:cNvPr id="878623" name="Text Box 31"/>
            <p:cNvSpPr txBox="1">
              <a:spLocks noChangeArrowheads="1"/>
            </p:cNvSpPr>
            <p:nvPr/>
          </p:nvSpPr>
          <p:spPr bwMode="gray">
            <a:xfrm>
              <a:off x="3241" y="3957"/>
              <a:ext cx="16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latin typeface="Times New Roman" pitchFamily="18" charset="0"/>
                </a:rPr>
                <a:t>B</a:t>
              </a:r>
              <a:r>
                <a:rPr lang="pt-BR" sz="1600" i="1" baseline="-25000">
                  <a:latin typeface="Times New Roman" pitchFamily="18" charset="0"/>
                </a:rPr>
                <a:t>m</a:t>
              </a:r>
              <a:endParaRPr lang="pt-BR" sz="1600" i="1">
                <a:latin typeface="Times New Roman" pitchFamily="18" charset="0"/>
              </a:endParaRPr>
            </a:p>
          </p:txBody>
        </p:sp>
        <p:sp>
          <p:nvSpPr>
            <p:cNvPr id="878624" name="Text Box 32"/>
            <p:cNvSpPr txBox="1">
              <a:spLocks noChangeArrowheads="1"/>
            </p:cNvSpPr>
            <p:nvPr/>
          </p:nvSpPr>
          <p:spPr bwMode="gray">
            <a:xfrm>
              <a:off x="2203" y="3957"/>
              <a:ext cx="20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latin typeface="Times New Roman" pitchFamily="18" charset="0"/>
                </a:rPr>
                <a:t>-B</a:t>
              </a:r>
              <a:r>
                <a:rPr lang="pt-BR" sz="1600" i="1" baseline="-25000">
                  <a:latin typeface="Times New Roman" pitchFamily="18" charset="0"/>
                </a:rPr>
                <a:t>m</a:t>
              </a:r>
              <a:endParaRPr lang="pt-BR" sz="1600" i="1">
                <a:latin typeface="Times New Roman" pitchFamily="18" charset="0"/>
              </a:endParaRPr>
            </a:p>
          </p:txBody>
        </p:sp>
        <p:graphicFrame>
          <p:nvGraphicFramePr>
            <p:cNvPr id="878625" name="Object 33"/>
            <p:cNvGraphicFramePr>
              <a:graphicFrameLocks noChangeAspect="1"/>
            </p:cNvGraphicFramePr>
            <p:nvPr/>
          </p:nvGraphicFramePr>
          <p:xfrm>
            <a:off x="2822" y="3308"/>
            <a:ext cx="432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85800" imgH="241200" progId="Equation.3">
                    <p:embed/>
                  </p:oleObj>
                </mc:Choice>
                <mc:Fallback>
                  <p:oleObj name="Equation" r:id="rId4" imgW="685800" imgH="241200" progId="Equation.3">
                    <p:embed/>
                    <p:pic>
                      <p:nvPicPr>
                        <p:cNvPr id="878625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2822" y="3308"/>
                          <a:ext cx="432" cy="1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78626" name="Freeform 34"/>
            <p:cNvSpPr>
              <a:spLocks/>
            </p:cNvSpPr>
            <p:nvPr/>
          </p:nvSpPr>
          <p:spPr bwMode="gray">
            <a:xfrm>
              <a:off x="304" y="1385"/>
              <a:ext cx="996" cy="432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288" y="0"/>
                </a:cxn>
                <a:cxn ang="0">
                  <a:pos x="576" y="432"/>
                </a:cxn>
              </a:cxnLst>
              <a:rect l="0" t="0" r="r" b="b"/>
              <a:pathLst>
                <a:path w="576" h="432">
                  <a:moveTo>
                    <a:pt x="0" y="432"/>
                  </a:moveTo>
                  <a:cubicBezTo>
                    <a:pt x="96" y="216"/>
                    <a:pt x="192" y="0"/>
                    <a:pt x="288" y="0"/>
                  </a:cubicBezTo>
                  <a:cubicBezTo>
                    <a:pt x="384" y="0"/>
                    <a:pt x="480" y="216"/>
                    <a:pt x="576" y="432"/>
                  </a:cubicBezTo>
                </a:path>
              </a:pathLst>
            </a:custGeom>
            <a:solidFill>
              <a:srgbClr val="33CCCC"/>
            </a:solidFill>
            <a:ln w="19050" cmpd="sng">
              <a:solidFill>
                <a:srgbClr val="0000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27" name="Freeform 35"/>
            <p:cNvSpPr>
              <a:spLocks/>
            </p:cNvSpPr>
            <p:nvPr/>
          </p:nvSpPr>
          <p:spPr bwMode="gray">
            <a:xfrm>
              <a:off x="4289" y="1385"/>
              <a:ext cx="997" cy="432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288" y="0"/>
                </a:cxn>
                <a:cxn ang="0">
                  <a:pos x="576" y="432"/>
                </a:cxn>
              </a:cxnLst>
              <a:rect l="0" t="0" r="r" b="b"/>
              <a:pathLst>
                <a:path w="576" h="432">
                  <a:moveTo>
                    <a:pt x="0" y="432"/>
                  </a:moveTo>
                  <a:cubicBezTo>
                    <a:pt x="96" y="216"/>
                    <a:pt x="192" y="0"/>
                    <a:pt x="288" y="0"/>
                  </a:cubicBezTo>
                  <a:cubicBezTo>
                    <a:pt x="384" y="0"/>
                    <a:pt x="480" y="216"/>
                    <a:pt x="576" y="432"/>
                  </a:cubicBezTo>
                </a:path>
              </a:pathLst>
            </a:custGeom>
            <a:solidFill>
              <a:srgbClr val="33CCCC"/>
            </a:solid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4" name="Group 36"/>
            <p:cNvGrpSpPr>
              <a:grpSpLocks/>
            </p:cNvGrpSpPr>
            <p:nvPr/>
          </p:nvGrpSpPr>
          <p:grpSpPr bwMode="auto">
            <a:xfrm>
              <a:off x="275" y="1381"/>
              <a:ext cx="532" cy="466"/>
              <a:chOff x="284" y="1083"/>
              <a:chExt cx="532" cy="250"/>
            </a:xfrm>
          </p:grpSpPr>
          <p:sp>
            <p:nvSpPr>
              <p:cNvPr id="878629" name="AutoShape 37"/>
              <p:cNvSpPr>
                <a:spLocks noChangeArrowheads="1"/>
              </p:cNvSpPr>
              <p:nvPr/>
            </p:nvSpPr>
            <p:spPr bwMode="gray">
              <a:xfrm flipH="1">
                <a:off x="318" y="1083"/>
                <a:ext cx="498" cy="232"/>
              </a:xfrm>
              <a:prstGeom prst="rtTriangle">
                <a:avLst/>
              </a:prstGeom>
              <a:solidFill>
                <a:srgbClr val="99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630" name="Freeform 38"/>
              <p:cNvSpPr>
                <a:spLocks/>
              </p:cNvSpPr>
              <p:nvPr/>
            </p:nvSpPr>
            <p:spPr bwMode="gray">
              <a:xfrm>
                <a:off x="284" y="1093"/>
                <a:ext cx="522" cy="240"/>
              </a:xfrm>
              <a:custGeom>
                <a:avLst/>
                <a:gdLst/>
                <a:ahLst/>
                <a:cxnLst>
                  <a:cxn ang="0">
                    <a:pos x="56" y="215"/>
                  </a:cxn>
                  <a:cxn ang="0">
                    <a:pos x="410" y="51"/>
                  </a:cxn>
                  <a:cxn ang="0">
                    <a:pos x="482" y="17"/>
                  </a:cxn>
                  <a:cxn ang="0">
                    <a:pos x="506" y="8"/>
                  </a:cxn>
                  <a:cxn ang="0">
                    <a:pos x="516" y="0"/>
                  </a:cxn>
                  <a:cxn ang="0">
                    <a:pos x="468" y="6"/>
                  </a:cxn>
                  <a:cxn ang="0">
                    <a:pos x="432" y="14"/>
                  </a:cxn>
                  <a:cxn ang="0">
                    <a:pos x="402" y="20"/>
                  </a:cxn>
                  <a:cxn ang="0">
                    <a:pos x="372" y="30"/>
                  </a:cxn>
                  <a:cxn ang="0">
                    <a:pos x="350" y="39"/>
                  </a:cxn>
                  <a:cxn ang="0">
                    <a:pos x="326" y="50"/>
                  </a:cxn>
                  <a:cxn ang="0">
                    <a:pos x="296" y="63"/>
                  </a:cxn>
                  <a:cxn ang="0">
                    <a:pos x="270" y="78"/>
                  </a:cxn>
                  <a:cxn ang="0">
                    <a:pos x="249" y="90"/>
                  </a:cxn>
                  <a:cxn ang="0">
                    <a:pos x="219" y="105"/>
                  </a:cxn>
                  <a:cxn ang="0">
                    <a:pos x="203" y="119"/>
                  </a:cxn>
                  <a:cxn ang="0">
                    <a:pos x="182" y="128"/>
                  </a:cxn>
                  <a:cxn ang="0">
                    <a:pos x="159" y="144"/>
                  </a:cxn>
                  <a:cxn ang="0">
                    <a:pos x="135" y="161"/>
                  </a:cxn>
                  <a:cxn ang="0">
                    <a:pos x="99" y="182"/>
                  </a:cxn>
                  <a:cxn ang="0">
                    <a:pos x="74" y="203"/>
                  </a:cxn>
                  <a:cxn ang="0">
                    <a:pos x="56" y="215"/>
                  </a:cxn>
                </a:cxnLst>
                <a:rect l="0" t="0" r="r" b="b"/>
                <a:pathLst>
                  <a:path w="522" h="240">
                    <a:moveTo>
                      <a:pt x="56" y="215"/>
                    </a:moveTo>
                    <a:cubicBezTo>
                      <a:pt x="112" y="190"/>
                      <a:pt x="339" y="84"/>
                      <a:pt x="410" y="51"/>
                    </a:cubicBezTo>
                    <a:cubicBezTo>
                      <a:pt x="481" y="18"/>
                      <a:pt x="466" y="24"/>
                      <a:pt x="482" y="17"/>
                    </a:cubicBezTo>
                    <a:cubicBezTo>
                      <a:pt x="498" y="10"/>
                      <a:pt x="500" y="11"/>
                      <a:pt x="506" y="8"/>
                    </a:cubicBezTo>
                    <a:cubicBezTo>
                      <a:pt x="512" y="5"/>
                      <a:pt x="522" y="0"/>
                      <a:pt x="516" y="0"/>
                    </a:cubicBezTo>
                    <a:cubicBezTo>
                      <a:pt x="510" y="0"/>
                      <a:pt x="482" y="4"/>
                      <a:pt x="468" y="6"/>
                    </a:cubicBezTo>
                    <a:cubicBezTo>
                      <a:pt x="454" y="8"/>
                      <a:pt x="443" y="12"/>
                      <a:pt x="432" y="14"/>
                    </a:cubicBezTo>
                    <a:cubicBezTo>
                      <a:pt x="421" y="16"/>
                      <a:pt x="412" y="17"/>
                      <a:pt x="402" y="20"/>
                    </a:cubicBezTo>
                    <a:cubicBezTo>
                      <a:pt x="392" y="23"/>
                      <a:pt x="381" y="27"/>
                      <a:pt x="372" y="30"/>
                    </a:cubicBezTo>
                    <a:cubicBezTo>
                      <a:pt x="363" y="33"/>
                      <a:pt x="358" y="36"/>
                      <a:pt x="350" y="39"/>
                    </a:cubicBezTo>
                    <a:cubicBezTo>
                      <a:pt x="342" y="42"/>
                      <a:pt x="335" y="46"/>
                      <a:pt x="326" y="50"/>
                    </a:cubicBezTo>
                    <a:cubicBezTo>
                      <a:pt x="317" y="54"/>
                      <a:pt x="305" y="58"/>
                      <a:pt x="296" y="63"/>
                    </a:cubicBezTo>
                    <a:cubicBezTo>
                      <a:pt x="287" y="68"/>
                      <a:pt x="278" y="73"/>
                      <a:pt x="270" y="78"/>
                    </a:cubicBezTo>
                    <a:cubicBezTo>
                      <a:pt x="262" y="83"/>
                      <a:pt x="257" y="86"/>
                      <a:pt x="249" y="90"/>
                    </a:cubicBezTo>
                    <a:cubicBezTo>
                      <a:pt x="241" y="94"/>
                      <a:pt x="227" y="100"/>
                      <a:pt x="219" y="105"/>
                    </a:cubicBezTo>
                    <a:cubicBezTo>
                      <a:pt x="211" y="110"/>
                      <a:pt x="209" y="115"/>
                      <a:pt x="203" y="119"/>
                    </a:cubicBezTo>
                    <a:cubicBezTo>
                      <a:pt x="197" y="123"/>
                      <a:pt x="189" y="124"/>
                      <a:pt x="182" y="128"/>
                    </a:cubicBezTo>
                    <a:cubicBezTo>
                      <a:pt x="175" y="132"/>
                      <a:pt x="167" y="139"/>
                      <a:pt x="159" y="144"/>
                    </a:cubicBezTo>
                    <a:cubicBezTo>
                      <a:pt x="151" y="149"/>
                      <a:pt x="145" y="155"/>
                      <a:pt x="135" y="161"/>
                    </a:cubicBezTo>
                    <a:cubicBezTo>
                      <a:pt x="125" y="167"/>
                      <a:pt x="109" y="175"/>
                      <a:pt x="99" y="182"/>
                    </a:cubicBezTo>
                    <a:cubicBezTo>
                      <a:pt x="89" y="189"/>
                      <a:pt x="80" y="198"/>
                      <a:pt x="74" y="203"/>
                    </a:cubicBezTo>
                    <a:cubicBezTo>
                      <a:pt x="68" y="208"/>
                      <a:pt x="0" y="240"/>
                      <a:pt x="56" y="215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5" name="Group 39"/>
            <p:cNvGrpSpPr>
              <a:grpSpLocks/>
            </p:cNvGrpSpPr>
            <p:nvPr/>
          </p:nvGrpSpPr>
          <p:grpSpPr bwMode="auto">
            <a:xfrm flipH="1">
              <a:off x="4793" y="1381"/>
              <a:ext cx="532" cy="466"/>
              <a:chOff x="284" y="1083"/>
              <a:chExt cx="532" cy="250"/>
            </a:xfrm>
          </p:grpSpPr>
          <p:sp>
            <p:nvSpPr>
              <p:cNvPr id="878632" name="AutoShape 40"/>
              <p:cNvSpPr>
                <a:spLocks noChangeArrowheads="1"/>
              </p:cNvSpPr>
              <p:nvPr/>
            </p:nvSpPr>
            <p:spPr bwMode="gray">
              <a:xfrm flipH="1">
                <a:off x="318" y="1083"/>
                <a:ext cx="498" cy="232"/>
              </a:xfrm>
              <a:prstGeom prst="rtTriangle">
                <a:avLst/>
              </a:prstGeom>
              <a:solidFill>
                <a:srgbClr val="99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633" name="Freeform 41"/>
              <p:cNvSpPr>
                <a:spLocks/>
              </p:cNvSpPr>
              <p:nvPr/>
            </p:nvSpPr>
            <p:spPr bwMode="gray">
              <a:xfrm>
                <a:off x="284" y="1093"/>
                <a:ext cx="522" cy="240"/>
              </a:xfrm>
              <a:custGeom>
                <a:avLst/>
                <a:gdLst/>
                <a:ahLst/>
                <a:cxnLst>
                  <a:cxn ang="0">
                    <a:pos x="56" y="215"/>
                  </a:cxn>
                  <a:cxn ang="0">
                    <a:pos x="410" y="51"/>
                  </a:cxn>
                  <a:cxn ang="0">
                    <a:pos x="482" y="17"/>
                  </a:cxn>
                  <a:cxn ang="0">
                    <a:pos x="506" y="8"/>
                  </a:cxn>
                  <a:cxn ang="0">
                    <a:pos x="516" y="0"/>
                  </a:cxn>
                  <a:cxn ang="0">
                    <a:pos x="468" y="6"/>
                  </a:cxn>
                  <a:cxn ang="0">
                    <a:pos x="432" y="14"/>
                  </a:cxn>
                  <a:cxn ang="0">
                    <a:pos x="402" y="20"/>
                  </a:cxn>
                  <a:cxn ang="0">
                    <a:pos x="372" y="30"/>
                  </a:cxn>
                  <a:cxn ang="0">
                    <a:pos x="350" y="39"/>
                  </a:cxn>
                  <a:cxn ang="0">
                    <a:pos x="326" y="50"/>
                  </a:cxn>
                  <a:cxn ang="0">
                    <a:pos x="296" y="63"/>
                  </a:cxn>
                  <a:cxn ang="0">
                    <a:pos x="270" y="78"/>
                  </a:cxn>
                  <a:cxn ang="0">
                    <a:pos x="249" y="90"/>
                  </a:cxn>
                  <a:cxn ang="0">
                    <a:pos x="219" y="105"/>
                  </a:cxn>
                  <a:cxn ang="0">
                    <a:pos x="203" y="119"/>
                  </a:cxn>
                  <a:cxn ang="0">
                    <a:pos x="182" y="128"/>
                  </a:cxn>
                  <a:cxn ang="0">
                    <a:pos x="159" y="144"/>
                  </a:cxn>
                  <a:cxn ang="0">
                    <a:pos x="135" y="161"/>
                  </a:cxn>
                  <a:cxn ang="0">
                    <a:pos x="99" y="182"/>
                  </a:cxn>
                  <a:cxn ang="0">
                    <a:pos x="74" y="203"/>
                  </a:cxn>
                  <a:cxn ang="0">
                    <a:pos x="56" y="215"/>
                  </a:cxn>
                </a:cxnLst>
                <a:rect l="0" t="0" r="r" b="b"/>
                <a:pathLst>
                  <a:path w="522" h="240">
                    <a:moveTo>
                      <a:pt x="56" y="215"/>
                    </a:moveTo>
                    <a:cubicBezTo>
                      <a:pt x="112" y="190"/>
                      <a:pt x="339" y="84"/>
                      <a:pt x="410" y="51"/>
                    </a:cubicBezTo>
                    <a:cubicBezTo>
                      <a:pt x="481" y="18"/>
                      <a:pt x="466" y="24"/>
                      <a:pt x="482" y="17"/>
                    </a:cubicBezTo>
                    <a:cubicBezTo>
                      <a:pt x="498" y="10"/>
                      <a:pt x="500" y="11"/>
                      <a:pt x="506" y="8"/>
                    </a:cubicBezTo>
                    <a:cubicBezTo>
                      <a:pt x="512" y="5"/>
                      <a:pt x="522" y="0"/>
                      <a:pt x="516" y="0"/>
                    </a:cubicBezTo>
                    <a:cubicBezTo>
                      <a:pt x="510" y="0"/>
                      <a:pt x="482" y="4"/>
                      <a:pt x="468" y="6"/>
                    </a:cubicBezTo>
                    <a:cubicBezTo>
                      <a:pt x="454" y="8"/>
                      <a:pt x="443" y="12"/>
                      <a:pt x="432" y="14"/>
                    </a:cubicBezTo>
                    <a:cubicBezTo>
                      <a:pt x="421" y="16"/>
                      <a:pt x="412" y="17"/>
                      <a:pt x="402" y="20"/>
                    </a:cubicBezTo>
                    <a:cubicBezTo>
                      <a:pt x="392" y="23"/>
                      <a:pt x="381" y="27"/>
                      <a:pt x="372" y="30"/>
                    </a:cubicBezTo>
                    <a:cubicBezTo>
                      <a:pt x="363" y="33"/>
                      <a:pt x="358" y="36"/>
                      <a:pt x="350" y="39"/>
                    </a:cubicBezTo>
                    <a:cubicBezTo>
                      <a:pt x="342" y="42"/>
                      <a:pt x="335" y="46"/>
                      <a:pt x="326" y="50"/>
                    </a:cubicBezTo>
                    <a:cubicBezTo>
                      <a:pt x="317" y="54"/>
                      <a:pt x="305" y="58"/>
                      <a:pt x="296" y="63"/>
                    </a:cubicBezTo>
                    <a:cubicBezTo>
                      <a:pt x="287" y="68"/>
                      <a:pt x="278" y="73"/>
                      <a:pt x="270" y="78"/>
                    </a:cubicBezTo>
                    <a:cubicBezTo>
                      <a:pt x="262" y="83"/>
                      <a:pt x="257" y="86"/>
                      <a:pt x="249" y="90"/>
                    </a:cubicBezTo>
                    <a:cubicBezTo>
                      <a:pt x="241" y="94"/>
                      <a:pt x="227" y="100"/>
                      <a:pt x="219" y="105"/>
                    </a:cubicBezTo>
                    <a:cubicBezTo>
                      <a:pt x="211" y="110"/>
                      <a:pt x="209" y="115"/>
                      <a:pt x="203" y="119"/>
                    </a:cubicBezTo>
                    <a:cubicBezTo>
                      <a:pt x="197" y="123"/>
                      <a:pt x="189" y="124"/>
                      <a:pt x="182" y="128"/>
                    </a:cubicBezTo>
                    <a:cubicBezTo>
                      <a:pt x="175" y="132"/>
                      <a:pt x="167" y="139"/>
                      <a:pt x="159" y="144"/>
                    </a:cubicBezTo>
                    <a:cubicBezTo>
                      <a:pt x="151" y="149"/>
                      <a:pt x="145" y="155"/>
                      <a:pt x="135" y="161"/>
                    </a:cubicBezTo>
                    <a:cubicBezTo>
                      <a:pt x="125" y="167"/>
                      <a:pt x="109" y="175"/>
                      <a:pt x="99" y="182"/>
                    </a:cubicBezTo>
                    <a:cubicBezTo>
                      <a:pt x="89" y="189"/>
                      <a:pt x="80" y="198"/>
                      <a:pt x="74" y="203"/>
                    </a:cubicBezTo>
                    <a:cubicBezTo>
                      <a:pt x="68" y="208"/>
                      <a:pt x="0" y="240"/>
                      <a:pt x="56" y="215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878634" name="Line 42"/>
            <p:cNvSpPr>
              <a:spLocks noChangeShapeType="1"/>
            </p:cNvSpPr>
            <p:nvPr/>
          </p:nvSpPr>
          <p:spPr bwMode="gray">
            <a:xfrm>
              <a:off x="76" y="1815"/>
              <a:ext cx="56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35" name="Line 43"/>
            <p:cNvSpPr>
              <a:spLocks noChangeShapeType="1"/>
            </p:cNvSpPr>
            <p:nvPr/>
          </p:nvSpPr>
          <p:spPr bwMode="gray">
            <a:xfrm flipV="1">
              <a:off x="2795" y="1351"/>
              <a:ext cx="0" cy="4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36" name="Text Box 44"/>
            <p:cNvSpPr txBox="1">
              <a:spLocks noChangeArrowheads="1"/>
            </p:cNvSpPr>
            <p:nvPr/>
          </p:nvSpPr>
          <p:spPr bwMode="gray">
            <a:xfrm>
              <a:off x="5458" y="1833"/>
              <a:ext cx="27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 sz="1600" i="1">
                  <a:latin typeface="Times New Roman" pitchFamily="18" charset="0"/>
                </a:rPr>
                <a:t>f </a:t>
              </a:r>
              <a:r>
                <a:rPr lang="pt-BR" sz="1600">
                  <a:latin typeface="Times New Roman" pitchFamily="18" charset="0"/>
                  <a:sym typeface="Symbol" pitchFamily="18" charset="2"/>
                </a:rPr>
                <a:t></a:t>
              </a:r>
              <a:endParaRPr lang="pt-BR" sz="1600" i="1">
                <a:latin typeface="Times New Roman" pitchFamily="18" charset="0"/>
              </a:endParaRPr>
            </a:p>
          </p:txBody>
        </p:sp>
        <p:sp>
          <p:nvSpPr>
            <p:cNvPr id="878637" name="Text Box 45"/>
            <p:cNvSpPr txBox="1">
              <a:spLocks noChangeArrowheads="1"/>
            </p:cNvSpPr>
            <p:nvPr/>
          </p:nvSpPr>
          <p:spPr bwMode="gray">
            <a:xfrm>
              <a:off x="4775" y="1833"/>
              <a:ext cx="11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 sz="1600" i="1">
                  <a:latin typeface="Times New Roman" pitchFamily="18" charset="0"/>
                </a:rPr>
                <a:t>f</a:t>
              </a:r>
              <a:r>
                <a:rPr lang="pt-BR" sz="1600" i="1" baseline="-25000">
                  <a:latin typeface="Times New Roman" pitchFamily="18" charset="0"/>
                </a:rPr>
                <a:t>c</a:t>
              </a:r>
              <a:endParaRPr lang="pt-BR" sz="1600" i="1">
                <a:latin typeface="Times New Roman" pitchFamily="18" charset="0"/>
              </a:endParaRPr>
            </a:p>
          </p:txBody>
        </p:sp>
        <p:sp>
          <p:nvSpPr>
            <p:cNvPr id="878638" name="Text Box 46"/>
            <p:cNvSpPr txBox="1">
              <a:spLocks noChangeArrowheads="1"/>
            </p:cNvSpPr>
            <p:nvPr/>
          </p:nvSpPr>
          <p:spPr bwMode="gray">
            <a:xfrm>
              <a:off x="710" y="1833"/>
              <a:ext cx="15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latin typeface="Times New Roman" pitchFamily="18" charset="0"/>
                </a:rPr>
                <a:t>-f</a:t>
              </a:r>
              <a:r>
                <a:rPr lang="pt-BR" sz="1600" i="1" baseline="-25000">
                  <a:latin typeface="Times New Roman" pitchFamily="18" charset="0"/>
                </a:rPr>
                <a:t>c</a:t>
              </a:r>
              <a:endParaRPr lang="pt-BR" sz="1600" i="1">
                <a:latin typeface="Times New Roman" pitchFamily="18" charset="0"/>
              </a:endParaRPr>
            </a:p>
          </p:txBody>
        </p:sp>
        <p:sp>
          <p:nvSpPr>
            <p:cNvPr id="878639" name="Text Box 47"/>
            <p:cNvSpPr txBox="1">
              <a:spLocks noChangeArrowheads="1"/>
            </p:cNvSpPr>
            <p:nvPr/>
          </p:nvSpPr>
          <p:spPr bwMode="gray">
            <a:xfrm>
              <a:off x="2736" y="1833"/>
              <a:ext cx="12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>
                  <a:latin typeface="Times New Roman" pitchFamily="18" charset="0"/>
                </a:rPr>
                <a:t>0</a:t>
              </a:r>
              <a:endParaRPr lang="pt-BR" sz="1600" i="1">
                <a:latin typeface="Times New Roman" pitchFamily="18" charset="0"/>
              </a:endParaRPr>
            </a:p>
          </p:txBody>
        </p:sp>
        <p:sp>
          <p:nvSpPr>
            <p:cNvPr id="878640" name="Line 48"/>
            <p:cNvSpPr>
              <a:spLocks noChangeShapeType="1"/>
            </p:cNvSpPr>
            <p:nvPr/>
          </p:nvSpPr>
          <p:spPr bwMode="gray">
            <a:xfrm flipV="1">
              <a:off x="4787" y="1757"/>
              <a:ext cx="0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41" name="Line 49"/>
            <p:cNvSpPr>
              <a:spLocks noChangeShapeType="1"/>
            </p:cNvSpPr>
            <p:nvPr/>
          </p:nvSpPr>
          <p:spPr bwMode="gray">
            <a:xfrm>
              <a:off x="5286" y="1810"/>
              <a:ext cx="408" cy="5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42" name="Line 50"/>
            <p:cNvSpPr>
              <a:spLocks noChangeShapeType="1"/>
            </p:cNvSpPr>
            <p:nvPr/>
          </p:nvSpPr>
          <p:spPr bwMode="gray">
            <a:xfrm flipV="1">
              <a:off x="76" y="1815"/>
              <a:ext cx="228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43" name="Line 51"/>
            <p:cNvSpPr>
              <a:spLocks noChangeShapeType="1"/>
            </p:cNvSpPr>
            <p:nvPr/>
          </p:nvSpPr>
          <p:spPr bwMode="gray">
            <a:xfrm>
              <a:off x="1300" y="1815"/>
              <a:ext cx="2989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44" name="Text Box 52"/>
            <p:cNvSpPr txBox="1">
              <a:spLocks noChangeArrowheads="1"/>
            </p:cNvSpPr>
            <p:nvPr/>
          </p:nvSpPr>
          <p:spPr bwMode="gray">
            <a:xfrm>
              <a:off x="4698" y="1990"/>
              <a:ext cx="249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 sz="1600" i="1">
                  <a:latin typeface="Times New Roman" pitchFamily="18" charset="0"/>
                </a:rPr>
                <a:t>2B</a:t>
              </a:r>
              <a:r>
                <a:rPr lang="pt-BR" sz="1600" i="1" baseline="-25000">
                  <a:latin typeface="Times New Roman" pitchFamily="18" charset="0"/>
                </a:rPr>
                <a:t>m</a:t>
              </a:r>
              <a:endParaRPr lang="pt-BR" sz="1600" i="1">
                <a:latin typeface="Times New Roman" pitchFamily="18" charset="0"/>
              </a:endParaRPr>
            </a:p>
          </p:txBody>
        </p:sp>
        <p:sp>
          <p:nvSpPr>
            <p:cNvPr id="878645" name="Line 53"/>
            <p:cNvSpPr>
              <a:spLocks noChangeShapeType="1"/>
            </p:cNvSpPr>
            <p:nvPr/>
          </p:nvSpPr>
          <p:spPr bwMode="gray">
            <a:xfrm>
              <a:off x="4953" y="2062"/>
              <a:ext cx="3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sm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46" name="Line 54"/>
            <p:cNvSpPr>
              <a:spLocks noChangeShapeType="1"/>
            </p:cNvSpPr>
            <p:nvPr/>
          </p:nvSpPr>
          <p:spPr bwMode="gray">
            <a:xfrm flipH="1">
              <a:off x="4289" y="2062"/>
              <a:ext cx="3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sm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6" name="Group 55"/>
            <p:cNvGrpSpPr>
              <a:grpSpLocks/>
            </p:cNvGrpSpPr>
            <p:nvPr/>
          </p:nvGrpSpPr>
          <p:grpSpPr bwMode="auto">
            <a:xfrm>
              <a:off x="304" y="1873"/>
              <a:ext cx="4975" cy="242"/>
              <a:chOff x="1440" y="1728"/>
              <a:chExt cx="2880" cy="240"/>
            </a:xfrm>
          </p:grpSpPr>
          <p:sp>
            <p:nvSpPr>
              <p:cNvPr id="878648" name="Line 56"/>
              <p:cNvSpPr>
                <a:spLocks noChangeShapeType="1"/>
              </p:cNvSpPr>
              <p:nvPr/>
            </p:nvSpPr>
            <p:spPr bwMode="gray">
              <a:xfrm>
                <a:off x="3744" y="172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649" name="Line 57"/>
              <p:cNvSpPr>
                <a:spLocks noChangeShapeType="1"/>
              </p:cNvSpPr>
              <p:nvPr/>
            </p:nvSpPr>
            <p:spPr bwMode="gray">
              <a:xfrm>
                <a:off x="4320" y="172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650" name="Line 58"/>
              <p:cNvSpPr>
                <a:spLocks noChangeShapeType="1"/>
              </p:cNvSpPr>
              <p:nvPr/>
            </p:nvSpPr>
            <p:spPr bwMode="gray">
              <a:xfrm>
                <a:off x="1440" y="172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651" name="Line 59"/>
              <p:cNvSpPr>
                <a:spLocks noChangeShapeType="1"/>
              </p:cNvSpPr>
              <p:nvPr/>
            </p:nvSpPr>
            <p:spPr bwMode="gray">
              <a:xfrm>
                <a:off x="2016" y="172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878652" name="Text Box 60"/>
            <p:cNvSpPr txBox="1">
              <a:spLocks noChangeArrowheads="1"/>
            </p:cNvSpPr>
            <p:nvPr/>
          </p:nvSpPr>
          <p:spPr bwMode="gray">
            <a:xfrm>
              <a:off x="719" y="1989"/>
              <a:ext cx="249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 sz="1600" i="1">
                  <a:latin typeface="Times New Roman" pitchFamily="18" charset="0"/>
                </a:rPr>
                <a:t>2B</a:t>
              </a:r>
              <a:r>
                <a:rPr lang="pt-BR" sz="1600" i="1" baseline="-25000">
                  <a:latin typeface="Times New Roman" pitchFamily="18" charset="0"/>
                </a:rPr>
                <a:t>m</a:t>
              </a:r>
              <a:endParaRPr lang="pt-BR" sz="1600" i="1">
                <a:latin typeface="Times New Roman" pitchFamily="18" charset="0"/>
              </a:endParaRPr>
            </a:p>
          </p:txBody>
        </p:sp>
        <p:sp>
          <p:nvSpPr>
            <p:cNvPr id="878653" name="Line 61"/>
            <p:cNvSpPr>
              <a:spLocks noChangeShapeType="1"/>
            </p:cNvSpPr>
            <p:nvPr/>
          </p:nvSpPr>
          <p:spPr bwMode="gray">
            <a:xfrm>
              <a:off x="968" y="2062"/>
              <a:ext cx="3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sm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54" name="Line 62"/>
            <p:cNvSpPr>
              <a:spLocks noChangeShapeType="1"/>
            </p:cNvSpPr>
            <p:nvPr/>
          </p:nvSpPr>
          <p:spPr bwMode="gray">
            <a:xfrm flipH="1">
              <a:off x="304" y="2062"/>
              <a:ext cx="3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sm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55" name="Line 63"/>
            <p:cNvSpPr>
              <a:spLocks noChangeShapeType="1"/>
            </p:cNvSpPr>
            <p:nvPr/>
          </p:nvSpPr>
          <p:spPr bwMode="gray">
            <a:xfrm flipV="1">
              <a:off x="802" y="1757"/>
              <a:ext cx="0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56" name="Line 64"/>
            <p:cNvSpPr>
              <a:spLocks noChangeShapeType="1"/>
            </p:cNvSpPr>
            <p:nvPr/>
          </p:nvSpPr>
          <p:spPr bwMode="gray">
            <a:xfrm flipV="1">
              <a:off x="4787" y="1757"/>
              <a:ext cx="0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878657" name="Object 65"/>
            <p:cNvGraphicFramePr>
              <a:graphicFrameLocks noChangeAspect="1"/>
            </p:cNvGraphicFramePr>
            <p:nvPr/>
          </p:nvGraphicFramePr>
          <p:xfrm>
            <a:off x="2827" y="1316"/>
            <a:ext cx="472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49160" imgH="279360" progId="Equation.3">
                    <p:embed/>
                  </p:oleObj>
                </mc:Choice>
                <mc:Fallback>
                  <p:oleObj name="Equation" r:id="rId6" imgW="749160" imgH="279360" progId="Equation.3">
                    <p:embed/>
                    <p:pic>
                      <p:nvPicPr>
                        <p:cNvPr id="878657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2827" y="1316"/>
                          <a:ext cx="472" cy="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78658" name="Freeform 66"/>
            <p:cNvSpPr>
              <a:spLocks/>
            </p:cNvSpPr>
            <p:nvPr/>
          </p:nvSpPr>
          <p:spPr bwMode="gray">
            <a:xfrm>
              <a:off x="4289" y="1385"/>
              <a:ext cx="997" cy="432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288" y="0"/>
                </a:cxn>
                <a:cxn ang="0">
                  <a:pos x="576" y="432"/>
                </a:cxn>
              </a:cxnLst>
              <a:rect l="0" t="0" r="r" b="b"/>
              <a:pathLst>
                <a:path w="576" h="432">
                  <a:moveTo>
                    <a:pt x="0" y="432"/>
                  </a:moveTo>
                  <a:cubicBezTo>
                    <a:pt x="96" y="216"/>
                    <a:pt x="192" y="0"/>
                    <a:pt x="288" y="0"/>
                  </a:cubicBezTo>
                  <a:cubicBezTo>
                    <a:pt x="384" y="0"/>
                    <a:pt x="480" y="216"/>
                    <a:pt x="576" y="432"/>
                  </a:cubicBezTo>
                </a:path>
              </a:pathLst>
            </a:custGeom>
            <a:noFill/>
            <a:ln w="28575" cmpd="sng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59" name="Freeform 67"/>
            <p:cNvSpPr>
              <a:spLocks/>
            </p:cNvSpPr>
            <p:nvPr/>
          </p:nvSpPr>
          <p:spPr bwMode="gray">
            <a:xfrm>
              <a:off x="305" y="1385"/>
              <a:ext cx="997" cy="432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288" y="0"/>
                </a:cxn>
                <a:cxn ang="0">
                  <a:pos x="576" y="432"/>
                </a:cxn>
              </a:cxnLst>
              <a:rect l="0" t="0" r="r" b="b"/>
              <a:pathLst>
                <a:path w="576" h="432">
                  <a:moveTo>
                    <a:pt x="0" y="432"/>
                  </a:moveTo>
                  <a:cubicBezTo>
                    <a:pt x="96" y="216"/>
                    <a:pt x="192" y="0"/>
                    <a:pt x="288" y="0"/>
                  </a:cubicBezTo>
                  <a:cubicBezTo>
                    <a:pt x="384" y="0"/>
                    <a:pt x="480" y="216"/>
                    <a:pt x="576" y="432"/>
                  </a:cubicBezTo>
                </a:path>
              </a:pathLst>
            </a:custGeom>
            <a:noFill/>
            <a:ln w="28575" cmpd="sng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7" name="Group 68"/>
            <p:cNvGrpSpPr>
              <a:grpSpLocks/>
            </p:cNvGrpSpPr>
            <p:nvPr/>
          </p:nvGrpSpPr>
          <p:grpSpPr bwMode="auto">
            <a:xfrm>
              <a:off x="4710" y="1344"/>
              <a:ext cx="594" cy="474"/>
              <a:chOff x="4710" y="1530"/>
              <a:chExt cx="594" cy="474"/>
            </a:xfrm>
          </p:grpSpPr>
          <p:sp>
            <p:nvSpPr>
              <p:cNvPr id="878661" name="Line 69"/>
              <p:cNvSpPr>
                <a:spLocks noChangeShapeType="1"/>
              </p:cNvSpPr>
              <p:nvPr/>
            </p:nvSpPr>
            <p:spPr bwMode="gray">
              <a:xfrm flipV="1">
                <a:off x="5298" y="1536"/>
                <a:ext cx="0" cy="462"/>
              </a:xfrm>
              <a:prstGeom prst="line">
                <a:avLst/>
              </a:prstGeom>
              <a:noFill/>
              <a:ln w="28575">
                <a:solidFill>
                  <a:srgbClr val="660066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662" name="Line 70"/>
              <p:cNvSpPr>
                <a:spLocks noChangeShapeType="1"/>
              </p:cNvSpPr>
              <p:nvPr/>
            </p:nvSpPr>
            <p:spPr bwMode="gray">
              <a:xfrm flipH="1" flipV="1">
                <a:off x="4860" y="1536"/>
                <a:ext cx="444" cy="0"/>
              </a:xfrm>
              <a:prstGeom prst="line">
                <a:avLst/>
              </a:prstGeom>
              <a:noFill/>
              <a:ln w="28575">
                <a:solidFill>
                  <a:srgbClr val="660066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663" name="Line 71"/>
              <p:cNvSpPr>
                <a:spLocks noChangeShapeType="1"/>
              </p:cNvSpPr>
              <p:nvPr/>
            </p:nvSpPr>
            <p:spPr bwMode="gray">
              <a:xfrm flipH="1">
                <a:off x="4710" y="1530"/>
                <a:ext cx="156" cy="474"/>
              </a:xfrm>
              <a:prstGeom prst="line">
                <a:avLst/>
              </a:prstGeom>
              <a:noFill/>
              <a:ln w="28575">
                <a:solidFill>
                  <a:srgbClr val="660066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8" name="Group 72"/>
            <p:cNvGrpSpPr>
              <a:grpSpLocks/>
            </p:cNvGrpSpPr>
            <p:nvPr/>
          </p:nvGrpSpPr>
          <p:grpSpPr bwMode="auto">
            <a:xfrm flipH="1">
              <a:off x="282" y="1340"/>
              <a:ext cx="594" cy="474"/>
              <a:chOff x="4710" y="1530"/>
              <a:chExt cx="594" cy="474"/>
            </a:xfrm>
          </p:grpSpPr>
          <p:sp>
            <p:nvSpPr>
              <p:cNvPr id="878665" name="Line 73"/>
              <p:cNvSpPr>
                <a:spLocks noChangeShapeType="1"/>
              </p:cNvSpPr>
              <p:nvPr/>
            </p:nvSpPr>
            <p:spPr bwMode="gray">
              <a:xfrm flipV="1">
                <a:off x="5298" y="1536"/>
                <a:ext cx="0" cy="462"/>
              </a:xfrm>
              <a:prstGeom prst="line">
                <a:avLst/>
              </a:prstGeom>
              <a:noFill/>
              <a:ln w="28575">
                <a:solidFill>
                  <a:srgbClr val="660066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666" name="Line 74"/>
              <p:cNvSpPr>
                <a:spLocks noChangeShapeType="1"/>
              </p:cNvSpPr>
              <p:nvPr/>
            </p:nvSpPr>
            <p:spPr bwMode="gray">
              <a:xfrm flipH="1" flipV="1">
                <a:off x="4860" y="1536"/>
                <a:ext cx="444" cy="0"/>
              </a:xfrm>
              <a:prstGeom prst="line">
                <a:avLst/>
              </a:prstGeom>
              <a:noFill/>
              <a:ln w="28575">
                <a:solidFill>
                  <a:srgbClr val="660066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667" name="Line 75"/>
              <p:cNvSpPr>
                <a:spLocks noChangeShapeType="1"/>
              </p:cNvSpPr>
              <p:nvPr/>
            </p:nvSpPr>
            <p:spPr bwMode="gray">
              <a:xfrm flipH="1">
                <a:off x="4710" y="1530"/>
                <a:ext cx="156" cy="474"/>
              </a:xfrm>
              <a:prstGeom prst="line">
                <a:avLst/>
              </a:prstGeom>
              <a:noFill/>
              <a:ln w="28575">
                <a:solidFill>
                  <a:srgbClr val="660066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878668" name="Line 76"/>
            <p:cNvSpPr>
              <a:spLocks noChangeShapeType="1"/>
            </p:cNvSpPr>
            <p:nvPr/>
          </p:nvSpPr>
          <p:spPr bwMode="gray">
            <a:xfrm>
              <a:off x="872" y="1814"/>
              <a:ext cx="3840" cy="0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69" name="Line 77"/>
            <p:cNvSpPr>
              <a:spLocks noChangeShapeType="1"/>
            </p:cNvSpPr>
            <p:nvPr/>
          </p:nvSpPr>
          <p:spPr bwMode="gray">
            <a:xfrm>
              <a:off x="84" y="1810"/>
              <a:ext cx="200" cy="0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70" name="Line 78"/>
            <p:cNvSpPr>
              <a:spLocks noChangeShapeType="1"/>
            </p:cNvSpPr>
            <p:nvPr/>
          </p:nvSpPr>
          <p:spPr bwMode="gray">
            <a:xfrm>
              <a:off x="5296" y="1814"/>
              <a:ext cx="384" cy="0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71" name="Line 79"/>
            <p:cNvSpPr>
              <a:spLocks noChangeShapeType="1"/>
            </p:cNvSpPr>
            <p:nvPr/>
          </p:nvSpPr>
          <p:spPr bwMode="gray">
            <a:xfrm>
              <a:off x="72" y="2914"/>
              <a:ext cx="56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72" name="Line 80"/>
            <p:cNvSpPr>
              <a:spLocks noChangeShapeType="1"/>
            </p:cNvSpPr>
            <p:nvPr/>
          </p:nvSpPr>
          <p:spPr bwMode="gray">
            <a:xfrm flipV="1">
              <a:off x="2791" y="2450"/>
              <a:ext cx="0" cy="4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73" name="Text Box 81"/>
            <p:cNvSpPr txBox="1">
              <a:spLocks noChangeArrowheads="1"/>
            </p:cNvSpPr>
            <p:nvPr/>
          </p:nvSpPr>
          <p:spPr bwMode="gray">
            <a:xfrm>
              <a:off x="5454" y="2932"/>
              <a:ext cx="27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 sz="1600" i="1">
                  <a:latin typeface="Times New Roman" pitchFamily="18" charset="0"/>
                </a:rPr>
                <a:t>f </a:t>
              </a:r>
              <a:r>
                <a:rPr lang="pt-BR" sz="1600">
                  <a:latin typeface="Times New Roman" pitchFamily="18" charset="0"/>
                  <a:sym typeface="Symbol" pitchFamily="18" charset="2"/>
                </a:rPr>
                <a:t></a:t>
              </a:r>
              <a:endParaRPr lang="pt-BR" sz="1600" i="1">
                <a:latin typeface="Times New Roman" pitchFamily="18" charset="0"/>
              </a:endParaRPr>
            </a:p>
          </p:txBody>
        </p:sp>
        <p:sp>
          <p:nvSpPr>
            <p:cNvPr id="878674" name="Text Box 82"/>
            <p:cNvSpPr txBox="1">
              <a:spLocks noChangeArrowheads="1"/>
            </p:cNvSpPr>
            <p:nvPr/>
          </p:nvSpPr>
          <p:spPr bwMode="gray">
            <a:xfrm>
              <a:off x="4763" y="2932"/>
              <a:ext cx="11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 sz="1600" i="1">
                  <a:latin typeface="Times New Roman" pitchFamily="18" charset="0"/>
                </a:rPr>
                <a:t>f</a:t>
              </a:r>
              <a:r>
                <a:rPr lang="pt-BR" sz="1600" i="1" baseline="-25000">
                  <a:latin typeface="Times New Roman" pitchFamily="18" charset="0"/>
                </a:rPr>
                <a:t>c</a:t>
              </a:r>
              <a:endParaRPr lang="pt-BR" sz="1600" i="1">
                <a:latin typeface="Times New Roman" pitchFamily="18" charset="0"/>
              </a:endParaRPr>
            </a:p>
          </p:txBody>
        </p:sp>
        <p:sp>
          <p:nvSpPr>
            <p:cNvPr id="878675" name="Text Box 83"/>
            <p:cNvSpPr txBox="1">
              <a:spLocks noChangeArrowheads="1"/>
            </p:cNvSpPr>
            <p:nvPr/>
          </p:nvSpPr>
          <p:spPr bwMode="gray">
            <a:xfrm>
              <a:off x="722" y="2932"/>
              <a:ext cx="15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latin typeface="Times New Roman" pitchFamily="18" charset="0"/>
                </a:rPr>
                <a:t>-f</a:t>
              </a:r>
              <a:r>
                <a:rPr lang="pt-BR" sz="1600" i="1" baseline="-25000">
                  <a:latin typeface="Times New Roman" pitchFamily="18" charset="0"/>
                </a:rPr>
                <a:t>c</a:t>
              </a:r>
              <a:endParaRPr lang="pt-BR" sz="1600" i="1">
                <a:latin typeface="Times New Roman" pitchFamily="18" charset="0"/>
              </a:endParaRPr>
            </a:p>
          </p:txBody>
        </p:sp>
        <p:sp>
          <p:nvSpPr>
            <p:cNvPr id="878676" name="Text Box 84"/>
            <p:cNvSpPr txBox="1">
              <a:spLocks noChangeArrowheads="1"/>
            </p:cNvSpPr>
            <p:nvPr/>
          </p:nvSpPr>
          <p:spPr bwMode="gray">
            <a:xfrm>
              <a:off x="2732" y="2932"/>
              <a:ext cx="12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>
                  <a:latin typeface="Times New Roman" pitchFamily="18" charset="0"/>
                </a:rPr>
                <a:t>0</a:t>
              </a:r>
              <a:endParaRPr lang="pt-BR" sz="1600" i="1">
                <a:latin typeface="Times New Roman" pitchFamily="18" charset="0"/>
              </a:endParaRPr>
            </a:p>
          </p:txBody>
        </p:sp>
        <p:sp>
          <p:nvSpPr>
            <p:cNvPr id="878677" name="Line 85"/>
            <p:cNvSpPr>
              <a:spLocks noChangeShapeType="1"/>
            </p:cNvSpPr>
            <p:nvPr/>
          </p:nvSpPr>
          <p:spPr bwMode="gray">
            <a:xfrm flipV="1">
              <a:off x="81" y="2914"/>
              <a:ext cx="228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78" name="Line 86"/>
            <p:cNvSpPr>
              <a:spLocks noChangeShapeType="1"/>
            </p:cNvSpPr>
            <p:nvPr/>
          </p:nvSpPr>
          <p:spPr bwMode="gray">
            <a:xfrm>
              <a:off x="803" y="3104"/>
              <a:ext cx="0" cy="1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679" name="Line 87"/>
            <p:cNvSpPr>
              <a:spLocks noChangeShapeType="1"/>
            </p:cNvSpPr>
            <p:nvPr/>
          </p:nvSpPr>
          <p:spPr bwMode="gray">
            <a:xfrm flipV="1">
              <a:off x="798" y="2856"/>
              <a:ext cx="0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878680" name="Object 88"/>
            <p:cNvGraphicFramePr>
              <a:graphicFrameLocks noChangeAspect="1"/>
            </p:cNvGraphicFramePr>
            <p:nvPr/>
          </p:nvGraphicFramePr>
          <p:xfrm>
            <a:off x="2807" y="2415"/>
            <a:ext cx="455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723600" imgH="279360" progId="Equation.3">
                    <p:embed/>
                  </p:oleObj>
                </mc:Choice>
                <mc:Fallback>
                  <p:oleObj name="Equation" r:id="rId8" imgW="723600" imgH="279360" progId="Equation.3">
                    <p:embed/>
                    <p:pic>
                      <p:nvPicPr>
                        <p:cNvPr id="87868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2807" y="2415"/>
                          <a:ext cx="455" cy="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" name="Group 89"/>
            <p:cNvGrpSpPr>
              <a:grpSpLocks/>
            </p:cNvGrpSpPr>
            <p:nvPr/>
          </p:nvGrpSpPr>
          <p:grpSpPr bwMode="auto">
            <a:xfrm>
              <a:off x="4285" y="2480"/>
              <a:ext cx="1405" cy="466"/>
              <a:chOff x="4285" y="2587"/>
              <a:chExt cx="1405" cy="466"/>
            </a:xfrm>
          </p:grpSpPr>
          <p:sp>
            <p:nvSpPr>
              <p:cNvPr id="878682" name="Freeform 90"/>
              <p:cNvSpPr>
                <a:spLocks/>
              </p:cNvSpPr>
              <p:nvPr/>
            </p:nvSpPr>
            <p:spPr bwMode="gray">
              <a:xfrm>
                <a:off x="4285" y="2591"/>
                <a:ext cx="997" cy="432"/>
              </a:xfrm>
              <a:custGeom>
                <a:avLst/>
                <a:gdLst/>
                <a:ahLst/>
                <a:cxnLst>
                  <a:cxn ang="0">
                    <a:pos x="0" y="432"/>
                  </a:cxn>
                  <a:cxn ang="0">
                    <a:pos x="288" y="0"/>
                  </a:cxn>
                  <a:cxn ang="0">
                    <a:pos x="576" y="432"/>
                  </a:cxn>
                </a:cxnLst>
                <a:rect l="0" t="0" r="r" b="b"/>
                <a:pathLst>
                  <a:path w="576" h="432">
                    <a:moveTo>
                      <a:pt x="0" y="432"/>
                    </a:moveTo>
                    <a:cubicBezTo>
                      <a:pt x="96" y="216"/>
                      <a:pt x="192" y="0"/>
                      <a:pt x="288" y="0"/>
                    </a:cubicBezTo>
                    <a:cubicBezTo>
                      <a:pt x="384" y="0"/>
                      <a:pt x="480" y="216"/>
                      <a:pt x="576" y="432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grpSp>
            <p:nvGrpSpPr>
              <p:cNvPr id="10" name="Group 91"/>
              <p:cNvGrpSpPr>
                <a:grpSpLocks/>
              </p:cNvGrpSpPr>
              <p:nvPr/>
            </p:nvGrpSpPr>
            <p:grpSpPr bwMode="auto">
              <a:xfrm flipH="1">
                <a:off x="4789" y="2587"/>
                <a:ext cx="532" cy="466"/>
                <a:chOff x="284" y="1083"/>
                <a:chExt cx="532" cy="250"/>
              </a:xfrm>
            </p:grpSpPr>
            <p:sp>
              <p:nvSpPr>
                <p:cNvPr id="878684" name="AutoShape 92"/>
                <p:cNvSpPr>
                  <a:spLocks noChangeArrowheads="1"/>
                </p:cNvSpPr>
                <p:nvPr/>
              </p:nvSpPr>
              <p:spPr bwMode="gray">
                <a:xfrm flipH="1">
                  <a:off x="318" y="1083"/>
                  <a:ext cx="498" cy="232"/>
                </a:xfrm>
                <a:prstGeom prst="rtTriangle">
                  <a:avLst/>
                </a:prstGeom>
                <a:solidFill>
                  <a:srgbClr val="99CCFF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878685" name="Freeform 93"/>
                <p:cNvSpPr>
                  <a:spLocks/>
                </p:cNvSpPr>
                <p:nvPr/>
              </p:nvSpPr>
              <p:spPr bwMode="gray">
                <a:xfrm>
                  <a:off x="284" y="1093"/>
                  <a:ext cx="522" cy="240"/>
                </a:xfrm>
                <a:custGeom>
                  <a:avLst/>
                  <a:gdLst/>
                  <a:ahLst/>
                  <a:cxnLst>
                    <a:cxn ang="0">
                      <a:pos x="56" y="215"/>
                    </a:cxn>
                    <a:cxn ang="0">
                      <a:pos x="410" y="51"/>
                    </a:cxn>
                    <a:cxn ang="0">
                      <a:pos x="482" y="17"/>
                    </a:cxn>
                    <a:cxn ang="0">
                      <a:pos x="506" y="8"/>
                    </a:cxn>
                    <a:cxn ang="0">
                      <a:pos x="516" y="0"/>
                    </a:cxn>
                    <a:cxn ang="0">
                      <a:pos x="468" y="6"/>
                    </a:cxn>
                    <a:cxn ang="0">
                      <a:pos x="432" y="14"/>
                    </a:cxn>
                    <a:cxn ang="0">
                      <a:pos x="402" y="20"/>
                    </a:cxn>
                    <a:cxn ang="0">
                      <a:pos x="372" y="30"/>
                    </a:cxn>
                    <a:cxn ang="0">
                      <a:pos x="350" y="39"/>
                    </a:cxn>
                    <a:cxn ang="0">
                      <a:pos x="326" y="50"/>
                    </a:cxn>
                    <a:cxn ang="0">
                      <a:pos x="296" y="63"/>
                    </a:cxn>
                    <a:cxn ang="0">
                      <a:pos x="270" y="78"/>
                    </a:cxn>
                    <a:cxn ang="0">
                      <a:pos x="249" y="90"/>
                    </a:cxn>
                    <a:cxn ang="0">
                      <a:pos x="219" y="105"/>
                    </a:cxn>
                    <a:cxn ang="0">
                      <a:pos x="203" y="119"/>
                    </a:cxn>
                    <a:cxn ang="0">
                      <a:pos x="182" y="128"/>
                    </a:cxn>
                    <a:cxn ang="0">
                      <a:pos x="159" y="144"/>
                    </a:cxn>
                    <a:cxn ang="0">
                      <a:pos x="135" y="161"/>
                    </a:cxn>
                    <a:cxn ang="0">
                      <a:pos x="99" y="182"/>
                    </a:cxn>
                    <a:cxn ang="0">
                      <a:pos x="74" y="203"/>
                    </a:cxn>
                    <a:cxn ang="0">
                      <a:pos x="56" y="215"/>
                    </a:cxn>
                  </a:cxnLst>
                  <a:rect l="0" t="0" r="r" b="b"/>
                  <a:pathLst>
                    <a:path w="522" h="240">
                      <a:moveTo>
                        <a:pt x="56" y="215"/>
                      </a:moveTo>
                      <a:cubicBezTo>
                        <a:pt x="112" y="190"/>
                        <a:pt x="339" y="84"/>
                        <a:pt x="410" y="51"/>
                      </a:cubicBezTo>
                      <a:cubicBezTo>
                        <a:pt x="481" y="18"/>
                        <a:pt x="466" y="24"/>
                        <a:pt x="482" y="17"/>
                      </a:cubicBezTo>
                      <a:cubicBezTo>
                        <a:pt x="498" y="10"/>
                        <a:pt x="500" y="11"/>
                        <a:pt x="506" y="8"/>
                      </a:cubicBezTo>
                      <a:cubicBezTo>
                        <a:pt x="512" y="5"/>
                        <a:pt x="522" y="0"/>
                        <a:pt x="516" y="0"/>
                      </a:cubicBezTo>
                      <a:cubicBezTo>
                        <a:pt x="510" y="0"/>
                        <a:pt x="482" y="4"/>
                        <a:pt x="468" y="6"/>
                      </a:cubicBezTo>
                      <a:cubicBezTo>
                        <a:pt x="454" y="8"/>
                        <a:pt x="443" y="12"/>
                        <a:pt x="432" y="14"/>
                      </a:cubicBezTo>
                      <a:cubicBezTo>
                        <a:pt x="421" y="16"/>
                        <a:pt x="412" y="17"/>
                        <a:pt x="402" y="20"/>
                      </a:cubicBezTo>
                      <a:cubicBezTo>
                        <a:pt x="392" y="23"/>
                        <a:pt x="381" y="27"/>
                        <a:pt x="372" y="30"/>
                      </a:cubicBezTo>
                      <a:cubicBezTo>
                        <a:pt x="363" y="33"/>
                        <a:pt x="358" y="36"/>
                        <a:pt x="350" y="39"/>
                      </a:cubicBezTo>
                      <a:cubicBezTo>
                        <a:pt x="342" y="42"/>
                        <a:pt x="335" y="46"/>
                        <a:pt x="326" y="50"/>
                      </a:cubicBezTo>
                      <a:cubicBezTo>
                        <a:pt x="317" y="54"/>
                        <a:pt x="305" y="58"/>
                        <a:pt x="296" y="63"/>
                      </a:cubicBezTo>
                      <a:cubicBezTo>
                        <a:pt x="287" y="68"/>
                        <a:pt x="278" y="73"/>
                        <a:pt x="270" y="78"/>
                      </a:cubicBezTo>
                      <a:cubicBezTo>
                        <a:pt x="262" y="83"/>
                        <a:pt x="257" y="86"/>
                        <a:pt x="249" y="90"/>
                      </a:cubicBezTo>
                      <a:cubicBezTo>
                        <a:pt x="241" y="94"/>
                        <a:pt x="227" y="100"/>
                        <a:pt x="219" y="105"/>
                      </a:cubicBezTo>
                      <a:cubicBezTo>
                        <a:pt x="211" y="110"/>
                        <a:pt x="209" y="115"/>
                        <a:pt x="203" y="119"/>
                      </a:cubicBezTo>
                      <a:cubicBezTo>
                        <a:pt x="197" y="123"/>
                        <a:pt x="189" y="124"/>
                        <a:pt x="182" y="128"/>
                      </a:cubicBezTo>
                      <a:cubicBezTo>
                        <a:pt x="175" y="132"/>
                        <a:pt x="167" y="139"/>
                        <a:pt x="159" y="144"/>
                      </a:cubicBezTo>
                      <a:cubicBezTo>
                        <a:pt x="151" y="149"/>
                        <a:pt x="145" y="155"/>
                        <a:pt x="135" y="161"/>
                      </a:cubicBezTo>
                      <a:cubicBezTo>
                        <a:pt x="125" y="167"/>
                        <a:pt x="109" y="175"/>
                        <a:pt x="99" y="182"/>
                      </a:cubicBezTo>
                      <a:cubicBezTo>
                        <a:pt x="89" y="189"/>
                        <a:pt x="80" y="198"/>
                        <a:pt x="74" y="203"/>
                      </a:cubicBezTo>
                      <a:cubicBezTo>
                        <a:pt x="68" y="208"/>
                        <a:pt x="0" y="240"/>
                        <a:pt x="56" y="215"/>
                      </a:cubicBezTo>
                      <a:close/>
                    </a:path>
                  </a:pathLst>
                </a:custGeom>
                <a:solidFill>
                  <a:srgbClr val="99CCFF"/>
                </a:soli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</p:grpSp>
          <p:sp>
            <p:nvSpPr>
              <p:cNvPr id="878686" name="Line 94"/>
              <p:cNvSpPr>
                <a:spLocks noChangeShapeType="1"/>
              </p:cNvSpPr>
              <p:nvPr/>
            </p:nvSpPr>
            <p:spPr bwMode="gray">
              <a:xfrm flipV="1">
                <a:off x="4783" y="2963"/>
                <a:ext cx="0" cy="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687" name="Line 95"/>
              <p:cNvSpPr>
                <a:spLocks noChangeShapeType="1"/>
              </p:cNvSpPr>
              <p:nvPr/>
            </p:nvSpPr>
            <p:spPr bwMode="gray">
              <a:xfrm>
                <a:off x="5282" y="3016"/>
                <a:ext cx="408" cy="5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688" name="Line 96"/>
              <p:cNvSpPr>
                <a:spLocks noChangeShapeType="1"/>
              </p:cNvSpPr>
              <p:nvPr/>
            </p:nvSpPr>
            <p:spPr bwMode="gray">
              <a:xfrm flipV="1">
                <a:off x="4783" y="2963"/>
                <a:ext cx="0" cy="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689" name="Freeform 97"/>
              <p:cNvSpPr>
                <a:spLocks/>
              </p:cNvSpPr>
              <p:nvPr/>
            </p:nvSpPr>
            <p:spPr bwMode="gray">
              <a:xfrm>
                <a:off x="4285" y="2591"/>
                <a:ext cx="997" cy="432"/>
              </a:xfrm>
              <a:custGeom>
                <a:avLst/>
                <a:gdLst/>
                <a:ahLst/>
                <a:cxnLst>
                  <a:cxn ang="0">
                    <a:pos x="0" y="432"/>
                  </a:cxn>
                  <a:cxn ang="0">
                    <a:pos x="288" y="0"/>
                  </a:cxn>
                  <a:cxn ang="0">
                    <a:pos x="576" y="432"/>
                  </a:cxn>
                </a:cxnLst>
                <a:rect l="0" t="0" r="r" b="b"/>
                <a:pathLst>
                  <a:path w="576" h="432">
                    <a:moveTo>
                      <a:pt x="0" y="432"/>
                    </a:moveTo>
                    <a:cubicBezTo>
                      <a:pt x="96" y="216"/>
                      <a:pt x="192" y="0"/>
                      <a:pt x="288" y="0"/>
                    </a:cubicBezTo>
                    <a:cubicBezTo>
                      <a:pt x="384" y="0"/>
                      <a:pt x="480" y="216"/>
                      <a:pt x="576" y="432"/>
                    </a:cubicBezTo>
                  </a:path>
                </a:pathLst>
              </a:custGeom>
              <a:noFill/>
              <a:ln w="28575" cmpd="sng">
                <a:solidFill>
                  <a:srgbClr val="FF006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690" name="AutoShape 98"/>
              <p:cNvSpPr>
                <a:spLocks noChangeArrowheads="1"/>
              </p:cNvSpPr>
              <p:nvPr/>
            </p:nvSpPr>
            <p:spPr bwMode="gray">
              <a:xfrm flipH="1">
                <a:off x="4713" y="2811"/>
                <a:ext cx="72" cy="207"/>
              </a:xfrm>
              <a:prstGeom prst="rtTriangle">
                <a:avLst/>
              </a:prstGeom>
              <a:solidFill>
                <a:srgbClr val="33CC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691" name="Line 99"/>
              <p:cNvSpPr>
                <a:spLocks noChangeShapeType="1"/>
              </p:cNvSpPr>
              <p:nvPr/>
            </p:nvSpPr>
            <p:spPr bwMode="gray">
              <a:xfrm>
                <a:off x="4785" y="2790"/>
                <a:ext cx="0" cy="23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692" name="Freeform 100"/>
              <p:cNvSpPr>
                <a:spLocks/>
              </p:cNvSpPr>
              <p:nvPr/>
            </p:nvSpPr>
            <p:spPr bwMode="gray">
              <a:xfrm>
                <a:off x="4292" y="2592"/>
                <a:ext cx="478" cy="424"/>
              </a:xfrm>
              <a:custGeom>
                <a:avLst/>
                <a:gdLst/>
                <a:ahLst/>
                <a:cxnLst>
                  <a:cxn ang="0">
                    <a:pos x="0" y="424"/>
                  </a:cxn>
                  <a:cxn ang="0">
                    <a:pos x="46" y="362"/>
                  </a:cxn>
                  <a:cxn ang="0">
                    <a:pos x="94" y="304"/>
                  </a:cxn>
                  <a:cxn ang="0">
                    <a:pos x="132" y="256"/>
                  </a:cxn>
                  <a:cxn ang="0">
                    <a:pos x="184" y="196"/>
                  </a:cxn>
                  <a:cxn ang="0">
                    <a:pos x="242" y="136"/>
                  </a:cxn>
                  <a:cxn ang="0">
                    <a:pos x="334" y="56"/>
                  </a:cxn>
                  <a:cxn ang="0">
                    <a:pos x="404" y="20"/>
                  </a:cxn>
                  <a:cxn ang="0">
                    <a:pos x="478" y="0"/>
                  </a:cxn>
                </a:cxnLst>
                <a:rect l="0" t="0" r="r" b="b"/>
                <a:pathLst>
                  <a:path w="478" h="424">
                    <a:moveTo>
                      <a:pt x="0" y="424"/>
                    </a:moveTo>
                    <a:cubicBezTo>
                      <a:pt x="15" y="403"/>
                      <a:pt x="30" y="382"/>
                      <a:pt x="46" y="362"/>
                    </a:cubicBezTo>
                    <a:cubicBezTo>
                      <a:pt x="62" y="342"/>
                      <a:pt x="80" y="322"/>
                      <a:pt x="94" y="304"/>
                    </a:cubicBezTo>
                    <a:cubicBezTo>
                      <a:pt x="108" y="286"/>
                      <a:pt x="117" y="274"/>
                      <a:pt x="132" y="256"/>
                    </a:cubicBezTo>
                    <a:cubicBezTo>
                      <a:pt x="147" y="238"/>
                      <a:pt x="166" y="216"/>
                      <a:pt x="184" y="196"/>
                    </a:cubicBezTo>
                    <a:cubicBezTo>
                      <a:pt x="202" y="176"/>
                      <a:pt x="217" y="159"/>
                      <a:pt x="242" y="136"/>
                    </a:cubicBezTo>
                    <a:cubicBezTo>
                      <a:pt x="267" y="113"/>
                      <a:pt x="307" y="75"/>
                      <a:pt x="334" y="56"/>
                    </a:cubicBezTo>
                    <a:cubicBezTo>
                      <a:pt x="361" y="37"/>
                      <a:pt x="380" y="29"/>
                      <a:pt x="404" y="20"/>
                    </a:cubicBezTo>
                    <a:cubicBezTo>
                      <a:pt x="428" y="11"/>
                      <a:pt x="466" y="3"/>
                      <a:pt x="478" y="0"/>
                    </a:cubicBezTo>
                  </a:path>
                </a:pathLst>
              </a:custGeom>
              <a:noFill/>
              <a:ln w="57150" cmpd="sng">
                <a:solidFill>
                  <a:srgbClr val="FFFF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693" name="Line 101"/>
              <p:cNvSpPr>
                <a:spLocks noChangeShapeType="1"/>
              </p:cNvSpPr>
              <p:nvPr/>
            </p:nvSpPr>
            <p:spPr bwMode="gray">
              <a:xfrm>
                <a:off x="4862" y="2618"/>
                <a:ext cx="52" cy="26"/>
              </a:xfrm>
              <a:prstGeom prst="line">
                <a:avLst/>
              </a:prstGeom>
              <a:noFill/>
              <a:ln w="9525">
                <a:solidFill>
                  <a:srgbClr val="99CC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694" name="Line 102"/>
              <p:cNvSpPr>
                <a:spLocks noChangeShapeType="1"/>
              </p:cNvSpPr>
              <p:nvPr/>
            </p:nvSpPr>
            <p:spPr bwMode="gray">
              <a:xfrm>
                <a:off x="4742" y="2590"/>
                <a:ext cx="98" cy="4"/>
              </a:xfrm>
              <a:prstGeom prst="line">
                <a:avLst/>
              </a:prstGeom>
              <a:noFill/>
              <a:ln w="38100">
                <a:solidFill>
                  <a:srgbClr val="FFFF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695" name="AutoShape 103"/>
              <p:cNvSpPr>
                <a:spLocks noChangeArrowheads="1"/>
              </p:cNvSpPr>
              <p:nvPr/>
            </p:nvSpPr>
            <p:spPr bwMode="gray">
              <a:xfrm flipV="1">
                <a:off x="4785" y="2595"/>
                <a:ext cx="72" cy="207"/>
              </a:xfrm>
              <a:prstGeom prst="rtTriangle">
                <a:avLst/>
              </a:prstGeom>
              <a:solidFill>
                <a:srgbClr val="FFFFCC"/>
              </a:solidFill>
              <a:ln w="28575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696" name="Line 104"/>
              <p:cNvSpPr>
                <a:spLocks noChangeShapeType="1"/>
              </p:cNvSpPr>
              <p:nvPr/>
            </p:nvSpPr>
            <p:spPr bwMode="gray">
              <a:xfrm flipH="1">
                <a:off x="4707" y="2607"/>
                <a:ext cx="147" cy="411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11" name="Group 105"/>
            <p:cNvGrpSpPr>
              <a:grpSpLocks/>
            </p:cNvGrpSpPr>
            <p:nvPr/>
          </p:nvGrpSpPr>
          <p:grpSpPr bwMode="auto">
            <a:xfrm>
              <a:off x="269" y="2480"/>
              <a:ext cx="1036" cy="466"/>
              <a:chOff x="272" y="2584"/>
              <a:chExt cx="1036" cy="466"/>
            </a:xfrm>
          </p:grpSpPr>
          <p:sp>
            <p:nvSpPr>
              <p:cNvPr id="878698" name="Freeform 106"/>
              <p:cNvSpPr>
                <a:spLocks/>
              </p:cNvSpPr>
              <p:nvPr/>
            </p:nvSpPr>
            <p:spPr bwMode="gray">
              <a:xfrm flipH="1">
                <a:off x="311" y="2588"/>
                <a:ext cx="997" cy="432"/>
              </a:xfrm>
              <a:custGeom>
                <a:avLst/>
                <a:gdLst/>
                <a:ahLst/>
                <a:cxnLst>
                  <a:cxn ang="0">
                    <a:pos x="0" y="432"/>
                  </a:cxn>
                  <a:cxn ang="0">
                    <a:pos x="288" y="0"/>
                  </a:cxn>
                  <a:cxn ang="0">
                    <a:pos x="576" y="432"/>
                  </a:cxn>
                </a:cxnLst>
                <a:rect l="0" t="0" r="r" b="b"/>
                <a:pathLst>
                  <a:path w="576" h="432">
                    <a:moveTo>
                      <a:pt x="0" y="432"/>
                    </a:moveTo>
                    <a:cubicBezTo>
                      <a:pt x="96" y="216"/>
                      <a:pt x="192" y="0"/>
                      <a:pt x="288" y="0"/>
                    </a:cubicBezTo>
                    <a:cubicBezTo>
                      <a:pt x="384" y="0"/>
                      <a:pt x="480" y="216"/>
                      <a:pt x="576" y="432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grpSp>
            <p:nvGrpSpPr>
              <p:cNvPr id="12" name="Group 107"/>
              <p:cNvGrpSpPr>
                <a:grpSpLocks/>
              </p:cNvGrpSpPr>
              <p:nvPr/>
            </p:nvGrpSpPr>
            <p:grpSpPr bwMode="auto">
              <a:xfrm>
                <a:off x="272" y="2584"/>
                <a:ext cx="532" cy="466"/>
                <a:chOff x="284" y="1083"/>
                <a:chExt cx="532" cy="250"/>
              </a:xfrm>
            </p:grpSpPr>
            <p:sp>
              <p:nvSpPr>
                <p:cNvPr id="878700" name="AutoShape 108"/>
                <p:cNvSpPr>
                  <a:spLocks noChangeArrowheads="1"/>
                </p:cNvSpPr>
                <p:nvPr/>
              </p:nvSpPr>
              <p:spPr bwMode="gray">
                <a:xfrm flipH="1">
                  <a:off x="318" y="1083"/>
                  <a:ext cx="498" cy="232"/>
                </a:xfrm>
                <a:prstGeom prst="rtTriangle">
                  <a:avLst/>
                </a:prstGeom>
                <a:solidFill>
                  <a:srgbClr val="99CCFF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878701" name="Freeform 109"/>
                <p:cNvSpPr>
                  <a:spLocks/>
                </p:cNvSpPr>
                <p:nvPr/>
              </p:nvSpPr>
              <p:spPr bwMode="gray">
                <a:xfrm>
                  <a:off x="284" y="1093"/>
                  <a:ext cx="522" cy="240"/>
                </a:xfrm>
                <a:custGeom>
                  <a:avLst/>
                  <a:gdLst/>
                  <a:ahLst/>
                  <a:cxnLst>
                    <a:cxn ang="0">
                      <a:pos x="56" y="215"/>
                    </a:cxn>
                    <a:cxn ang="0">
                      <a:pos x="410" y="51"/>
                    </a:cxn>
                    <a:cxn ang="0">
                      <a:pos x="482" y="17"/>
                    </a:cxn>
                    <a:cxn ang="0">
                      <a:pos x="506" y="8"/>
                    </a:cxn>
                    <a:cxn ang="0">
                      <a:pos x="516" y="0"/>
                    </a:cxn>
                    <a:cxn ang="0">
                      <a:pos x="468" y="6"/>
                    </a:cxn>
                    <a:cxn ang="0">
                      <a:pos x="432" y="14"/>
                    </a:cxn>
                    <a:cxn ang="0">
                      <a:pos x="402" y="20"/>
                    </a:cxn>
                    <a:cxn ang="0">
                      <a:pos x="372" y="30"/>
                    </a:cxn>
                    <a:cxn ang="0">
                      <a:pos x="350" y="39"/>
                    </a:cxn>
                    <a:cxn ang="0">
                      <a:pos x="326" y="50"/>
                    </a:cxn>
                    <a:cxn ang="0">
                      <a:pos x="296" y="63"/>
                    </a:cxn>
                    <a:cxn ang="0">
                      <a:pos x="270" y="78"/>
                    </a:cxn>
                    <a:cxn ang="0">
                      <a:pos x="249" y="90"/>
                    </a:cxn>
                    <a:cxn ang="0">
                      <a:pos x="219" y="105"/>
                    </a:cxn>
                    <a:cxn ang="0">
                      <a:pos x="203" y="119"/>
                    </a:cxn>
                    <a:cxn ang="0">
                      <a:pos x="182" y="128"/>
                    </a:cxn>
                    <a:cxn ang="0">
                      <a:pos x="159" y="144"/>
                    </a:cxn>
                    <a:cxn ang="0">
                      <a:pos x="135" y="161"/>
                    </a:cxn>
                    <a:cxn ang="0">
                      <a:pos x="99" y="182"/>
                    </a:cxn>
                    <a:cxn ang="0">
                      <a:pos x="74" y="203"/>
                    </a:cxn>
                    <a:cxn ang="0">
                      <a:pos x="56" y="215"/>
                    </a:cxn>
                  </a:cxnLst>
                  <a:rect l="0" t="0" r="r" b="b"/>
                  <a:pathLst>
                    <a:path w="522" h="240">
                      <a:moveTo>
                        <a:pt x="56" y="215"/>
                      </a:moveTo>
                      <a:cubicBezTo>
                        <a:pt x="112" y="190"/>
                        <a:pt x="339" y="84"/>
                        <a:pt x="410" y="51"/>
                      </a:cubicBezTo>
                      <a:cubicBezTo>
                        <a:pt x="481" y="18"/>
                        <a:pt x="466" y="24"/>
                        <a:pt x="482" y="17"/>
                      </a:cubicBezTo>
                      <a:cubicBezTo>
                        <a:pt x="498" y="10"/>
                        <a:pt x="500" y="11"/>
                        <a:pt x="506" y="8"/>
                      </a:cubicBezTo>
                      <a:cubicBezTo>
                        <a:pt x="512" y="5"/>
                        <a:pt x="522" y="0"/>
                        <a:pt x="516" y="0"/>
                      </a:cubicBezTo>
                      <a:cubicBezTo>
                        <a:pt x="510" y="0"/>
                        <a:pt x="482" y="4"/>
                        <a:pt x="468" y="6"/>
                      </a:cubicBezTo>
                      <a:cubicBezTo>
                        <a:pt x="454" y="8"/>
                        <a:pt x="443" y="12"/>
                        <a:pt x="432" y="14"/>
                      </a:cubicBezTo>
                      <a:cubicBezTo>
                        <a:pt x="421" y="16"/>
                        <a:pt x="412" y="17"/>
                        <a:pt x="402" y="20"/>
                      </a:cubicBezTo>
                      <a:cubicBezTo>
                        <a:pt x="392" y="23"/>
                        <a:pt x="381" y="27"/>
                        <a:pt x="372" y="30"/>
                      </a:cubicBezTo>
                      <a:cubicBezTo>
                        <a:pt x="363" y="33"/>
                        <a:pt x="358" y="36"/>
                        <a:pt x="350" y="39"/>
                      </a:cubicBezTo>
                      <a:cubicBezTo>
                        <a:pt x="342" y="42"/>
                        <a:pt x="335" y="46"/>
                        <a:pt x="326" y="50"/>
                      </a:cubicBezTo>
                      <a:cubicBezTo>
                        <a:pt x="317" y="54"/>
                        <a:pt x="305" y="58"/>
                        <a:pt x="296" y="63"/>
                      </a:cubicBezTo>
                      <a:cubicBezTo>
                        <a:pt x="287" y="68"/>
                        <a:pt x="278" y="73"/>
                        <a:pt x="270" y="78"/>
                      </a:cubicBezTo>
                      <a:cubicBezTo>
                        <a:pt x="262" y="83"/>
                        <a:pt x="257" y="86"/>
                        <a:pt x="249" y="90"/>
                      </a:cubicBezTo>
                      <a:cubicBezTo>
                        <a:pt x="241" y="94"/>
                        <a:pt x="227" y="100"/>
                        <a:pt x="219" y="105"/>
                      </a:cubicBezTo>
                      <a:cubicBezTo>
                        <a:pt x="211" y="110"/>
                        <a:pt x="209" y="115"/>
                        <a:pt x="203" y="119"/>
                      </a:cubicBezTo>
                      <a:cubicBezTo>
                        <a:pt x="197" y="123"/>
                        <a:pt x="189" y="124"/>
                        <a:pt x="182" y="128"/>
                      </a:cubicBezTo>
                      <a:cubicBezTo>
                        <a:pt x="175" y="132"/>
                        <a:pt x="167" y="139"/>
                        <a:pt x="159" y="144"/>
                      </a:cubicBezTo>
                      <a:cubicBezTo>
                        <a:pt x="151" y="149"/>
                        <a:pt x="145" y="155"/>
                        <a:pt x="135" y="161"/>
                      </a:cubicBezTo>
                      <a:cubicBezTo>
                        <a:pt x="125" y="167"/>
                        <a:pt x="109" y="175"/>
                        <a:pt x="99" y="182"/>
                      </a:cubicBezTo>
                      <a:cubicBezTo>
                        <a:pt x="89" y="189"/>
                        <a:pt x="80" y="198"/>
                        <a:pt x="74" y="203"/>
                      </a:cubicBezTo>
                      <a:cubicBezTo>
                        <a:pt x="68" y="208"/>
                        <a:pt x="0" y="240"/>
                        <a:pt x="56" y="215"/>
                      </a:cubicBezTo>
                      <a:close/>
                    </a:path>
                  </a:pathLst>
                </a:custGeom>
                <a:solidFill>
                  <a:srgbClr val="99CCFF"/>
                </a:soli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</p:grpSp>
          <p:sp>
            <p:nvSpPr>
              <p:cNvPr id="878702" name="Line 110"/>
              <p:cNvSpPr>
                <a:spLocks noChangeShapeType="1"/>
              </p:cNvSpPr>
              <p:nvPr/>
            </p:nvSpPr>
            <p:spPr bwMode="gray">
              <a:xfrm flipH="1" flipV="1">
                <a:off x="810" y="2960"/>
                <a:ext cx="0" cy="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703" name="Line 111"/>
              <p:cNvSpPr>
                <a:spLocks noChangeShapeType="1"/>
              </p:cNvSpPr>
              <p:nvPr/>
            </p:nvSpPr>
            <p:spPr bwMode="gray">
              <a:xfrm flipH="1" flipV="1">
                <a:off x="810" y="2960"/>
                <a:ext cx="0" cy="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704" name="Freeform 112"/>
              <p:cNvSpPr>
                <a:spLocks/>
              </p:cNvSpPr>
              <p:nvPr/>
            </p:nvSpPr>
            <p:spPr bwMode="gray">
              <a:xfrm flipH="1">
                <a:off x="311" y="2588"/>
                <a:ext cx="997" cy="432"/>
              </a:xfrm>
              <a:custGeom>
                <a:avLst/>
                <a:gdLst/>
                <a:ahLst/>
                <a:cxnLst>
                  <a:cxn ang="0">
                    <a:pos x="0" y="432"/>
                  </a:cxn>
                  <a:cxn ang="0">
                    <a:pos x="288" y="0"/>
                  </a:cxn>
                  <a:cxn ang="0">
                    <a:pos x="576" y="432"/>
                  </a:cxn>
                </a:cxnLst>
                <a:rect l="0" t="0" r="r" b="b"/>
                <a:pathLst>
                  <a:path w="576" h="432">
                    <a:moveTo>
                      <a:pt x="0" y="432"/>
                    </a:moveTo>
                    <a:cubicBezTo>
                      <a:pt x="96" y="216"/>
                      <a:pt x="192" y="0"/>
                      <a:pt x="288" y="0"/>
                    </a:cubicBezTo>
                    <a:cubicBezTo>
                      <a:pt x="384" y="0"/>
                      <a:pt x="480" y="216"/>
                      <a:pt x="576" y="432"/>
                    </a:cubicBezTo>
                  </a:path>
                </a:pathLst>
              </a:custGeom>
              <a:noFill/>
              <a:ln w="28575" cmpd="sng">
                <a:solidFill>
                  <a:srgbClr val="FF006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705" name="AutoShape 113"/>
              <p:cNvSpPr>
                <a:spLocks noChangeArrowheads="1"/>
              </p:cNvSpPr>
              <p:nvPr/>
            </p:nvSpPr>
            <p:spPr bwMode="gray">
              <a:xfrm>
                <a:off x="808" y="2808"/>
                <a:ext cx="72" cy="207"/>
              </a:xfrm>
              <a:prstGeom prst="rtTriangle">
                <a:avLst/>
              </a:prstGeom>
              <a:solidFill>
                <a:srgbClr val="33CC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706" name="Line 114"/>
              <p:cNvSpPr>
                <a:spLocks noChangeShapeType="1"/>
              </p:cNvSpPr>
              <p:nvPr/>
            </p:nvSpPr>
            <p:spPr bwMode="gray">
              <a:xfrm flipH="1">
                <a:off x="808" y="2787"/>
                <a:ext cx="0" cy="23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707" name="Freeform 115"/>
              <p:cNvSpPr>
                <a:spLocks/>
              </p:cNvSpPr>
              <p:nvPr/>
            </p:nvSpPr>
            <p:spPr bwMode="gray">
              <a:xfrm flipH="1">
                <a:off x="823" y="2589"/>
                <a:ext cx="478" cy="424"/>
              </a:xfrm>
              <a:custGeom>
                <a:avLst/>
                <a:gdLst/>
                <a:ahLst/>
                <a:cxnLst>
                  <a:cxn ang="0">
                    <a:pos x="0" y="424"/>
                  </a:cxn>
                  <a:cxn ang="0">
                    <a:pos x="46" y="362"/>
                  </a:cxn>
                  <a:cxn ang="0">
                    <a:pos x="94" y="304"/>
                  </a:cxn>
                  <a:cxn ang="0">
                    <a:pos x="132" y="256"/>
                  </a:cxn>
                  <a:cxn ang="0">
                    <a:pos x="184" y="196"/>
                  </a:cxn>
                  <a:cxn ang="0">
                    <a:pos x="242" y="136"/>
                  </a:cxn>
                  <a:cxn ang="0">
                    <a:pos x="334" y="56"/>
                  </a:cxn>
                  <a:cxn ang="0">
                    <a:pos x="404" y="20"/>
                  </a:cxn>
                  <a:cxn ang="0">
                    <a:pos x="478" y="0"/>
                  </a:cxn>
                </a:cxnLst>
                <a:rect l="0" t="0" r="r" b="b"/>
                <a:pathLst>
                  <a:path w="478" h="424">
                    <a:moveTo>
                      <a:pt x="0" y="424"/>
                    </a:moveTo>
                    <a:cubicBezTo>
                      <a:pt x="15" y="403"/>
                      <a:pt x="30" y="382"/>
                      <a:pt x="46" y="362"/>
                    </a:cubicBezTo>
                    <a:cubicBezTo>
                      <a:pt x="62" y="342"/>
                      <a:pt x="80" y="322"/>
                      <a:pt x="94" y="304"/>
                    </a:cubicBezTo>
                    <a:cubicBezTo>
                      <a:pt x="108" y="286"/>
                      <a:pt x="117" y="274"/>
                      <a:pt x="132" y="256"/>
                    </a:cubicBezTo>
                    <a:cubicBezTo>
                      <a:pt x="147" y="238"/>
                      <a:pt x="166" y="216"/>
                      <a:pt x="184" y="196"/>
                    </a:cubicBezTo>
                    <a:cubicBezTo>
                      <a:pt x="202" y="176"/>
                      <a:pt x="217" y="159"/>
                      <a:pt x="242" y="136"/>
                    </a:cubicBezTo>
                    <a:cubicBezTo>
                      <a:pt x="267" y="113"/>
                      <a:pt x="307" y="75"/>
                      <a:pt x="334" y="56"/>
                    </a:cubicBezTo>
                    <a:cubicBezTo>
                      <a:pt x="361" y="37"/>
                      <a:pt x="380" y="29"/>
                      <a:pt x="404" y="20"/>
                    </a:cubicBezTo>
                    <a:cubicBezTo>
                      <a:pt x="428" y="11"/>
                      <a:pt x="466" y="3"/>
                      <a:pt x="478" y="0"/>
                    </a:cubicBezTo>
                  </a:path>
                </a:pathLst>
              </a:custGeom>
              <a:noFill/>
              <a:ln w="57150" cmpd="sng">
                <a:solidFill>
                  <a:srgbClr val="FFFF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708" name="Line 116"/>
              <p:cNvSpPr>
                <a:spLocks noChangeShapeType="1"/>
              </p:cNvSpPr>
              <p:nvPr/>
            </p:nvSpPr>
            <p:spPr bwMode="gray">
              <a:xfrm flipH="1">
                <a:off x="679" y="2615"/>
                <a:ext cx="52" cy="26"/>
              </a:xfrm>
              <a:prstGeom prst="line">
                <a:avLst/>
              </a:prstGeom>
              <a:noFill/>
              <a:ln w="9525">
                <a:solidFill>
                  <a:srgbClr val="99CC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709" name="Line 117"/>
              <p:cNvSpPr>
                <a:spLocks noChangeShapeType="1"/>
              </p:cNvSpPr>
              <p:nvPr/>
            </p:nvSpPr>
            <p:spPr bwMode="gray">
              <a:xfrm flipH="1">
                <a:off x="753" y="2587"/>
                <a:ext cx="98" cy="4"/>
              </a:xfrm>
              <a:prstGeom prst="line">
                <a:avLst/>
              </a:prstGeom>
              <a:noFill/>
              <a:ln w="38100">
                <a:solidFill>
                  <a:srgbClr val="FFFF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710" name="AutoShape 118"/>
              <p:cNvSpPr>
                <a:spLocks noChangeArrowheads="1"/>
              </p:cNvSpPr>
              <p:nvPr/>
            </p:nvSpPr>
            <p:spPr bwMode="gray">
              <a:xfrm flipH="1" flipV="1">
                <a:off x="736" y="2592"/>
                <a:ext cx="72" cy="207"/>
              </a:xfrm>
              <a:prstGeom prst="rtTriangle">
                <a:avLst/>
              </a:prstGeom>
              <a:solidFill>
                <a:srgbClr val="FFFFCC"/>
              </a:solidFill>
              <a:ln w="28575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711" name="Line 119"/>
              <p:cNvSpPr>
                <a:spLocks noChangeShapeType="1"/>
              </p:cNvSpPr>
              <p:nvPr/>
            </p:nvSpPr>
            <p:spPr bwMode="gray">
              <a:xfrm>
                <a:off x="739" y="2604"/>
                <a:ext cx="147" cy="411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878712" name="Line 120"/>
            <p:cNvSpPr>
              <a:spLocks noChangeShapeType="1"/>
            </p:cNvSpPr>
            <p:nvPr/>
          </p:nvSpPr>
          <p:spPr bwMode="gray">
            <a:xfrm>
              <a:off x="869" y="2911"/>
              <a:ext cx="3844" cy="3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cxnSp>
          <p:nvCxnSpPr>
            <p:cNvPr id="878713" name="AutoShape 121"/>
            <p:cNvCxnSpPr>
              <a:cxnSpLocks noChangeShapeType="1"/>
            </p:cNvCxnSpPr>
            <p:nvPr/>
          </p:nvCxnSpPr>
          <p:spPr bwMode="gray">
            <a:xfrm rot="10800000" flipV="1">
              <a:off x="2999" y="2725"/>
              <a:ext cx="1915" cy="1016"/>
            </a:xfrm>
            <a:prstGeom prst="curvedConnector3">
              <a:avLst>
                <a:gd name="adj1" fmla="val 49972"/>
              </a:avLst>
            </a:prstGeom>
            <a:noFill/>
            <a:ln w="9525">
              <a:solidFill>
                <a:schemeClr val="accent2"/>
              </a:solidFill>
              <a:round/>
              <a:headEnd/>
              <a:tailEnd type="stealth" w="med" len="med"/>
            </a:ln>
            <a:effectLst/>
          </p:spPr>
        </p:cxnSp>
        <p:cxnSp>
          <p:nvCxnSpPr>
            <p:cNvPr id="878714" name="AutoShape 122"/>
            <p:cNvCxnSpPr>
              <a:cxnSpLocks noChangeShapeType="1"/>
            </p:cNvCxnSpPr>
            <p:nvPr/>
          </p:nvCxnSpPr>
          <p:spPr bwMode="gray">
            <a:xfrm>
              <a:off x="672" y="2724"/>
              <a:ext cx="1927" cy="1016"/>
            </a:xfrm>
            <a:prstGeom prst="curvedConnector3">
              <a:avLst>
                <a:gd name="adj1" fmla="val 49921"/>
              </a:avLst>
            </a:prstGeom>
            <a:noFill/>
            <a:ln w="9525">
              <a:solidFill>
                <a:schemeClr val="accent2"/>
              </a:solidFill>
              <a:round/>
              <a:headEnd/>
              <a:tailEnd type="stealth" w="med" len="med"/>
            </a:ln>
            <a:effectLst/>
          </p:spPr>
        </p:cxnSp>
        <p:sp>
          <p:nvSpPr>
            <p:cNvPr id="878715" name="Text Box 123"/>
            <p:cNvSpPr txBox="1">
              <a:spLocks noChangeArrowheads="1"/>
            </p:cNvSpPr>
            <p:nvPr/>
          </p:nvSpPr>
          <p:spPr bwMode="gray">
            <a:xfrm>
              <a:off x="4116" y="1008"/>
              <a:ext cx="51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pt-BR" sz="1600">
                  <a:latin typeface="Arial" charset="0"/>
                </a:rPr>
                <a:t>Filtro vestigial</a:t>
              </a:r>
            </a:p>
          </p:txBody>
        </p:sp>
        <p:cxnSp>
          <p:nvCxnSpPr>
            <p:cNvPr id="878716" name="AutoShape 124"/>
            <p:cNvCxnSpPr>
              <a:cxnSpLocks noChangeShapeType="1"/>
              <a:stCxn id="878715" idx="3"/>
              <a:endCxn id="878663" idx="0"/>
            </p:cNvCxnSpPr>
            <p:nvPr/>
          </p:nvCxnSpPr>
          <p:spPr bwMode="gray">
            <a:xfrm>
              <a:off x="4632" y="1176"/>
              <a:ext cx="234" cy="15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med"/>
            </a:ln>
            <a:effectLst/>
          </p:spPr>
        </p:cxnSp>
        <p:grpSp>
          <p:nvGrpSpPr>
            <p:cNvPr id="13" name="Group 125"/>
            <p:cNvGrpSpPr>
              <a:grpSpLocks/>
            </p:cNvGrpSpPr>
            <p:nvPr/>
          </p:nvGrpSpPr>
          <p:grpSpPr bwMode="auto">
            <a:xfrm>
              <a:off x="300" y="2942"/>
              <a:ext cx="835" cy="309"/>
              <a:chOff x="300" y="2846"/>
              <a:chExt cx="835" cy="309"/>
            </a:xfrm>
          </p:grpSpPr>
          <p:sp>
            <p:nvSpPr>
              <p:cNvPr id="878718" name="Text Box 126"/>
              <p:cNvSpPr txBox="1">
                <a:spLocks noChangeArrowheads="1"/>
              </p:cNvSpPr>
              <p:nvPr/>
            </p:nvSpPr>
            <p:spPr bwMode="gray">
              <a:xfrm>
                <a:off x="956" y="2982"/>
                <a:ext cx="179" cy="173"/>
              </a:xfrm>
              <a:prstGeom prst="rect">
                <a:avLst/>
              </a:prstGeom>
              <a:solidFill>
                <a:srgbClr val="FFFF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pt-BR" sz="1600" i="1">
                    <a:latin typeface="Times New Roman" pitchFamily="18" charset="0"/>
                    <a:sym typeface="Symbol" pitchFamily="18" charset="2"/>
                  </a:rPr>
                  <a:t>B</a:t>
                </a:r>
                <a:r>
                  <a:rPr lang="pt-BR" i="1" baseline="-25000">
                    <a:latin typeface="Times New Roman" pitchFamily="18" charset="0"/>
                    <a:sym typeface="Symbol" pitchFamily="18" charset="2"/>
                  </a:rPr>
                  <a:t>v</a:t>
                </a:r>
                <a:endParaRPr lang="pt-BR" sz="1600" i="1">
                  <a:latin typeface="Times New Roman" pitchFamily="18" charset="0"/>
                </a:endParaRPr>
              </a:p>
            </p:txBody>
          </p:sp>
          <p:sp>
            <p:nvSpPr>
              <p:cNvPr id="878719" name="Line 127"/>
              <p:cNvSpPr>
                <a:spLocks noChangeShapeType="1"/>
              </p:cNvSpPr>
              <p:nvPr/>
            </p:nvSpPr>
            <p:spPr bwMode="gray">
              <a:xfrm flipH="1">
                <a:off x="300" y="2846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720" name="Line 128"/>
              <p:cNvSpPr>
                <a:spLocks noChangeShapeType="1"/>
              </p:cNvSpPr>
              <p:nvPr/>
            </p:nvSpPr>
            <p:spPr bwMode="gray">
              <a:xfrm flipH="1">
                <a:off x="300" y="3065"/>
                <a:ext cx="50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stealth" w="sm" len="med"/>
                <a:tailEnd type="stealth" w="sm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721" name="Text Box 129"/>
              <p:cNvSpPr txBox="1">
                <a:spLocks noChangeArrowheads="1"/>
              </p:cNvSpPr>
              <p:nvPr/>
            </p:nvSpPr>
            <p:spPr bwMode="gray">
              <a:xfrm>
                <a:off x="480" y="2992"/>
                <a:ext cx="179" cy="154"/>
              </a:xfrm>
              <a:prstGeom prst="rect">
                <a:avLst/>
              </a:prstGeom>
              <a:solidFill>
                <a:srgbClr val="FFFF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pt-BR" sz="1600" i="1">
                    <a:latin typeface="Times New Roman" pitchFamily="18" charset="0"/>
                  </a:rPr>
                  <a:t>B</a:t>
                </a:r>
                <a:r>
                  <a:rPr lang="pt-BR" sz="1600" i="1" baseline="-25000">
                    <a:latin typeface="Times New Roman" pitchFamily="18" charset="0"/>
                  </a:rPr>
                  <a:t>m</a:t>
                </a:r>
                <a:endParaRPr lang="pt-BR" sz="1600" i="1">
                  <a:latin typeface="Times New Roman" pitchFamily="18" charset="0"/>
                </a:endParaRPr>
              </a:p>
            </p:txBody>
          </p:sp>
          <p:sp>
            <p:nvSpPr>
              <p:cNvPr id="878722" name="Line 130"/>
              <p:cNvSpPr>
                <a:spLocks noChangeShapeType="1"/>
              </p:cNvSpPr>
              <p:nvPr/>
            </p:nvSpPr>
            <p:spPr bwMode="gray">
              <a:xfrm flipH="1">
                <a:off x="882" y="2846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8723" name="Line 131"/>
              <p:cNvSpPr>
                <a:spLocks noChangeShapeType="1"/>
              </p:cNvSpPr>
              <p:nvPr/>
            </p:nvSpPr>
            <p:spPr bwMode="gray">
              <a:xfrm flipH="1">
                <a:off x="882" y="3065"/>
                <a:ext cx="8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878724" name="Text Box 132"/>
            <p:cNvSpPr txBox="1">
              <a:spLocks noChangeArrowheads="1"/>
            </p:cNvSpPr>
            <p:nvPr/>
          </p:nvSpPr>
          <p:spPr bwMode="gray">
            <a:xfrm flipH="1">
              <a:off x="4458" y="3078"/>
              <a:ext cx="179" cy="173"/>
            </a:xfrm>
            <a:prstGeom prst="rect">
              <a:avLst/>
            </a:prstGeom>
            <a:solidFill>
              <a:srgbClr val="FFFF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latin typeface="Times New Roman" pitchFamily="18" charset="0"/>
                  <a:sym typeface="Symbol" pitchFamily="18" charset="2"/>
                </a:rPr>
                <a:t>B</a:t>
              </a:r>
              <a:r>
                <a:rPr lang="pt-BR" i="1" baseline="-25000">
                  <a:latin typeface="Times New Roman" pitchFamily="18" charset="0"/>
                  <a:sym typeface="Symbol" pitchFamily="18" charset="2"/>
                </a:rPr>
                <a:t>v</a:t>
              </a:r>
              <a:endParaRPr lang="pt-BR" sz="1600" i="1">
                <a:latin typeface="Times New Roman" pitchFamily="18" charset="0"/>
              </a:endParaRPr>
            </a:p>
          </p:txBody>
        </p:sp>
        <p:sp>
          <p:nvSpPr>
            <p:cNvPr id="878725" name="Line 133"/>
            <p:cNvSpPr>
              <a:spLocks noChangeShapeType="1"/>
            </p:cNvSpPr>
            <p:nvPr/>
          </p:nvSpPr>
          <p:spPr bwMode="gray">
            <a:xfrm>
              <a:off x="5280" y="2942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726" name="Line 134"/>
            <p:cNvSpPr>
              <a:spLocks noChangeShapeType="1"/>
            </p:cNvSpPr>
            <p:nvPr/>
          </p:nvSpPr>
          <p:spPr bwMode="gray">
            <a:xfrm>
              <a:off x="4774" y="3161"/>
              <a:ext cx="5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stealth" w="sm" len="med"/>
              <a:tailEnd type="stealth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727" name="Text Box 135"/>
            <p:cNvSpPr txBox="1">
              <a:spLocks noChangeArrowheads="1"/>
            </p:cNvSpPr>
            <p:nvPr/>
          </p:nvSpPr>
          <p:spPr bwMode="gray">
            <a:xfrm flipH="1">
              <a:off x="4953" y="3080"/>
              <a:ext cx="179" cy="154"/>
            </a:xfrm>
            <a:prstGeom prst="rect">
              <a:avLst/>
            </a:prstGeom>
            <a:solidFill>
              <a:srgbClr val="FFFF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i="1">
                  <a:latin typeface="Times New Roman" pitchFamily="18" charset="0"/>
                </a:rPr>
                <a:t>B</a:t>
              </a:r>
              <a:r>
                <a:rPr lang="pt-BR" sz="1600" i="1" baseline="-25000">
                  <a:latin typeface="Times New Roman" pitchFamily="18" charset="0"/>
                </a:rPr>
                <a:t>m</a:t>
              </a:r>
              <a:endParaRPr lang="pt-BR" sz="1600" i="1">
                <a:latin typeface="Times New Roman" pitchFamily="18" charset="0"/>
              </a:endParaRPr>
            </a:p>
          </p:txBody>
        </p:sp>
        <p:sp>
          <p:nvSpPr>
            <p:cNvPr id="878728" name="Line 136"/>
            <p:cNvSpPr>
              <a:spLocks noChangeShapeType="1"/>
            </p:cNvSpPr>
            <p:nvPr/>
          </p:nvSpPr>
          <p:spPr bwMode="gray">
            <a:xfrm>
              <a:off x="4706" y="2942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729" name="Line 137"/>
            <p:cNvSpPr>
              <a:spLocks noChangeShapeType="1"/>
            </p:cNvSpPr>
            <p:nvPr/>
          </p:nvSpPr>
          <p:spPr bwMode="gray">
            <a:xfrm>
              <a:off x="4620" y="3161"/>
              <a:ext cx="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78730" name="Line 138"/>
            <p:cNvSpPr>
              <a:spLocks noChangeShapeType="1"/>
            </p:cNvSpPr>
            <p:nvPr/>
          </p:nvSpPr>
          <p:spPr bwMode="gray">
            <a:xfrm>
              <a:off x="4783" y="3109"/>
              <a:ext cx="0" cy="1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</p:spTree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560389"/>
            <a:ext cx="8348353" cy="420687"/>
          </a:xfrm>
        </p:spPr>
        <p:txBody>
          <a:bodyPr wrap="square">
            <a:normAutofit fontScale="90000"/>
          </a:bodyPr>
          <a:lstStyle/>
          <a:p>
            <a:r>
              <a:rPr lang="pt-BR" dirty="0"/>
              <a:t>Sinais VSB+C: detecção de envoltória</a:t>
            </a:r>
          </a:p>
        </p:txBody>
      </p:sp>
      <p:graphicFrame>
        <p:nvGraphicFramePr>
          <p:cNvPr id="884739" name="Object 3"/>
          <p:cNvGraphicFramePr>
            <a:graphicFrameLocks noChangeAspect="1"/>
          </p:cNvGraphicFramePr>
          <p:nvPr/>
        </p:nvGraphicFramePr>
        <p:xfrm>
          <a:off x="1847851" y="1114425"/>
          <a:ext cx="561181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92360" imgH="241200" progId="Equation.3">
                  <p:embed/>
                </p:oleObj>
              </mc:Choice>
              <mc:Fallback>
                <p:oleObj name="Equation" r:id="rId2" imgW="3492360" imgH="241200" progId="Equation.3">
                  <p:embed/>
                  <p:pic>
                    <p:nvPicPr>
                      <p:cNvPr id="8847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1114425"/>
                        <a:ext cx="5611813" cy="387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4740" name="Object 4"/>
          <p:cNvGraphicFramePr>
            <a:graphicFrameLocks noChangeAspect="1"/>
          </p:cNvGraphicFramePr>
          <p:nvPr/>
        </p:nvGraphicFramePr>
        <p:xfrm>
          <a:off x="1925638" y="1779589"/>
          <a:ext cx="8469312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270400" imgH="838080" progId="Equation.3">
                  <p:embed/>
                </p:oleObj>
              </mc:Choice>
              <mc:Fallback>
                <p:oleObj name="Equation" r:id="rId4" imgW="5270400" imgH="838080" progId="Equation.3">
                  <p:embed/>
                  <p:pic>
                    <p:nvPicPr>
                      <p:cNvPr id="8847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638" y="1779589"/>
                        <a:ext cx="8469312" cy="1343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4741" name="Text Box 5"/>
          <p:cNvSpPr txBox="1">
            <a:spLocks noChangeArrowheads="1"/>
          </p:cNvSpPr>
          <p:nvPr/>
        </p:nvSpPr>
        <p:spPr bwMode="auto">
          <a:xfrm>
            <a:off x="1790700" y="3440114"/>
            <a:ext cx="88773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81000" indent="-381000">
              <a:spcBef>
                <a:spcPct val="25000"/>
              </a:spcBef>
            </a:pPr>
            <a:r>
              <a:rPr lang="pt-BR" sz="2000">
                <a:solidFill>
                  <a:schemeClr val="accent2"/>
                </a:solidFill>
                <a:latin typeface="Arial Narrow" pitchFamily="34" charset="0"/>
              </a:rPr>
              <a:t>A distorção pode ser reduzida de duas formas:</a:t>
            </a:r>
          </a:p>
          <a:p>
            <a:pPr marL="381000" indent="-381000">
              <a:spcBef>
                <a:spcPct val="25000"/>
              </a:spcBef>
              <a:buFont typeface="Wingdings" pitchFamily="2" charset="2"/>
              <a:buChar char="Ø"/>
            </a:pPr>
            <a:r>
              <a:rPr lang="pt-BR" sz="2000">
                <a:solidFill>
                  <a:schemeClr val="accent2"/>
                </a:solidFill>
                <a:latin typeface="Arial Narrow" pitchFamily="34" charset="0"/>
              </a:rPr>
              <a:t>Reduzindo a percentagem de modulação; isto é, reduzindo a sensibilidade de amplitude, </a:t>
            </a:r>
            <a:r>
              <a:rPr lang="pt-BR" sz="2000" i="1">
                <a:solidFill>
                  <a:schemeClr val="accent2"/>
                </a:solidFill>
                <a:latin typeface="Times New Roman" pitchFamily="18" charset="0"/>
              </a:rPr>
              <a:t>k</a:t>
            </a:r>
            <a:r>
              <a:rPr lang="pt-BR" sz="2000" i="1" baseline="-25000">
                <a:solidFill>
                  <a:schemeClr val="accent2"/>
                </a:solidFill>
                <a:latin typeface="Times New Roman" pitchFamily="18" charset="0"/>
              </a:rPr>
              <a:t>a</a:t>
            </a:r>
            <a:r>
              <a:rPr lang="pt-BR" sz="2000">
                <a:solidFill>
                  <a:schemeClr val="accent2"/>
                </a:solidFill>
                <a:latin typeface="Arial Narrow" pitchFamily="34" charset="0"/>
              </a:rPr>
              <a:t>, do modulador </a:t>
            </a:r>
            <a:r>
              <a:rPr lang="pt-BR" sz="2000" i="1">
                <a:solidFill>
                  <a:schemeClr val="accent2"/>
                </a:solidFill>
                <a:latin typeface="Arial Narrow" pitchFamily="34" charset="0"/>
              </a:rPr>
              <a:t>.</a:t>
            </a:r>
          </a:p>
          <a:p>
            <a:pPr marL="381000" indent="-381000">
              <a:spcBef>
                <a:spcPct val="25000"/>
              </a:spcBef>
              <a:buFont typeface="Wingdings" pitchFamily="2" charset="2"/>
              <a:buChar char="Ø"/>
            </a:pPr>
            <a:r>
              <a:rPr lang="pt-BR" sz="2000">
                <a:solidFill>
                  <a:schemeClr val="accent2"/>
                </a:solidFill>
                <a:latin typeface="Arial Narrow" pitchFamily="34" charset="0"/>
              </a:rPr>
              <a:t>Aumentando a largura</a:t>
            </a:r>
            <a:r>
              <a:rPr lang="pt-BR" sz="2000" i="1">
                <a:solidFill>
                  <a:schemeClr val="accent2"/>
                </a:solidFill>
                <a:latin typeface="Arial Narrow" pitchFamily="34" charset="0"/>
              </a:rPr>
              <a:t> </a:t>
            </a:r>
            <a:r>
              <a:rPr lang="pt-BR" sz="2000">
                <a:solidFill>
                  <a:schemeClr val="accent2"/>
                </a:solidFill>
                <a:latin typeface="Arial Narrow" pitchFamily="34" charset="0"/>
              </a:rPr>
              <a:t>da banda lateral vestigial para reduzir </a:t>
            </a:r>
            <a:r>
              <a:rPr lang="pt-BR" sz="2000" i="1">
                <a:solidFill>
                  <a:schemeClr val="accent2"/>
                </a:solidFill>
                <a:latin typeface="Times New Roman" pitchFamily="18" charset="0"/>
              </a:rPr>
              <a:t>m</a:t>
            </a:r>
            <a:r>
              <a:rPr lang="pt-BR" sz="2000" baseline="-25000">
                <a:solidFill>
                  <a:schemeClr val="accent2"/>
                </a:solidFill>
                <a:latin typeface="Times New Roman" pitchFamily="18" charset="0"/>
              </a:rPr>
              <a:t>Q</a:t>
            </a:r>
            <a:r>
              <a:rPr lang="pt-BR" sz="2000">
                <a:solidFill>
                  <a:schemeClr val="accent2"/>
                </a:solidFill>
                <a:latin typeface="Times New Roman" pitchFamily="18" charset="0"/>
              </a:rPr>
              <a:t>(</a:t>
            </a:r>
            <a:r>
              <a:rPr lang="pt-BR" sz="2000" i="1">
                <a:solidFill>
                  <a:schemeClr val="accent2"/>
                </a:solidFill>
                <a:latin typeface="Times New Roman" pitchFamily="18" charset="0"/>
              </a:rPr>
              <a:t>t</a:t>
            </a:r>
            <a:r>
              <a:rPr lang="pt-BR" sz="2000">
                <a:solidFill>
                  <a:schemeClr val="accent2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884742" name="AutoShape 6"/>
          <p:cNvSpPr>
            <a:spLocks/>
          </p:cNvSpPr>
          <p:nvPr/>
        </p:nvSpPr>
        <p:spPr bwMode="auto">
          <a:xfrm rot="5400000">
            <a:off x="9545638" y="2557463"/>
            <a:ext cx="127000" cy="1393825"/>
          </a:xfrm>
          <a:prstGeom prst="rightBrace">
            <a:avLst>
              <a:gd name="adj1" fmla="val 91458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884743" name="Text Box 7"/>
          <p:cNvSpPr txBox="1">
            <a:spLocks noChangeArrowheads="1"/>
          </p:cNvSpPr>
          <p:nvPr/>
        </p:nvSpPr>
        <p:spPr bwMode="auto">
          <a:xfrm>
            <a:off x="8774113" y="3267075"/>
            <a:ext cx="15552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latin typeface="Arial Narrow" pitchFamily="34" charset="0"/>
              </a:rPr>
              <a:t>Causa distorção</a:t>
            </a:r>
          </a:p>
        </p:txBody>
      </p:sp>
      <p:sp>
        <p:nvSpPr>
          <p:cNvPr id="884744" name="Text Box 8"/>
          <p:cNvSpPr txBox="1">
            <a:spLocks noChangeArrowheads="1"/>
          </p:cNvSpPr>
          <p:nvPr/>
        </p:nvSpPr>
        <p:spPr bwMode="auto">
          <a:xfrm>
            <a:off x="1866900" y="4932363"/>
            <a:ext cx="8477250" cy="13716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l">
              <a:spcBef>
                <a:spcPct val="25000"/>
              </a:spcBef>
            </a:pPr>
            <a:r>
              <a:rPr lang="pt-BR" sz="2000">
                <a:solidFill>
                  <a:schemeClr val="accent2"/>
                </a:solidFill>
                <a:latin typeface="Arial Narrow" pitchFamily="34" charset="0"/>
              </a:rPr>
              <a:t>No padrão para TV comercial, a largura da banda lateral vestigial (que é </a:t>
            </a:r>
            <a:r>
              <a:rPr lang="pt-BR" sz="2000">
                <a:solidFill>
                  <a:schemeClr val="accent2"/>
                </a:solidFill>
                <a:latin typeface="Arial Narrow" pitchFamily="34" charset="0"/>
                <a:sym typeface="Symbol" pitchFamily="18" charset="2"/>
              </a:rPr>
              <a:t> 0,75 MHz, ou </a:t>
            </a:r>
            <a:r>
              <a:rPr lang="pt-BR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</a:t>
            </a:r>
            <a:r>
              <a:rPr lang="pt-BR">
                <a:latin typeface="Times New Roman" pitchFamily="18" charset="0"/>
                <a:sym typeface="Symbol" pitchFamily="18" charset="2"/>
              </a:rPr>
              <a:t> </a:t>
            </a:r>
            <a:r>
              <a:rPr lang="pt-BR" sz="2000">
                <a:solidFill>
                  <a:schemeClr val="accent2"/>
                </a:solidFill>
                <a:latin typeface="Arial Narrow" pitchFamily="34" charset="0"/>
                <a:sym typeface="Symbol" pitchFamily="18" charset="2"/>
              </a:rPr>
              <a:t>1/6 de uma banda lateral completa, que </a:t>
            </a:r>
            <a:r>
              <a:rPr lang="pt-BR" sz="2000">
                <a:solidFill>
                  <a:schemeClr val="accent2"/>
                </a:solidFill>
                <a:latin typeface="Times New Roman" pitchFamily="18" charset="0"/>
              </a:rPr>
              <a:t>é </a:t>
            </a:r>
            <a:r>
              <a:rPr lang="pt-BR" sz="200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 4,2 MHz</a:t>
            </a:r>
            <a:r>
              <a:rPr lang="pt-BR" sz="2000">
                <a:solidFill>
                  <a:schemeClr val="accent2"/>
                </a:solidFill>
                <a:latin typeface="Arial Narrow" pitchFamily="34" charset="0"/>
                <a:sym typeface="Symbol" pitchFamily="18" charset="2"/>
              </a:rPr>
              <a:t> ) foi determinada para que a distorção ficasse dentro de limites toleráveis quando a percentagem de modulação fosse próxima de 100%.</a:t>
            </a:r>
          </a:p>
        </p:txBody>
      </p:sp>
      <p:graphicFrame>
        <p:nvGraphicFramePr>
          <p:cNvPr id="884745" name="Object 9"/>
          <p:cNvGraphicFramePr>
            <a:graphicFrameLocks noChangeAspect="1"/>
          </p:cNvGraphicFramePr>
          <p:nvPr/>
        </p:nvGraphicFramePr>
        <p:xfrm>
          <a:off x="6705600" y="1917700"/>
          <a:ext cx="1930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200" imgH="228600" progId="">
                  <p:embed/>
                </p:oleObj>
              </mc:Choice>
              <mc:Fallback>
                <p:oleObj name="Equation" r:id="rId6" imgW="1384200" imgH="228600" progId="">
                  <p:embed/>
                  <p:pic>
                    <p:nvPicPr>
                      <p:cNvPr id="88474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917700"/>
                        <a:ext cx="1930400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4746" name="Freeform 10"/>
          <p:cNvSpPr>
            <a:spLocks/>
          </p:cNvSpPr>
          <p:nvPr/>
        </p:nvSpPr>
        <p:spPr bwMode="auto">
          <a:xfrm>
            <a:off x="6489700" y="2089150"/>
            <a:ext cx="177800" cy="431800"/>
          </a:xfrm>
          <a:custGeom>
            <a:avLst/>
            <a:gdLst/>
            <a:ahLst/>
            <a:cxnLst>
              <a:cxn ang="0">
                <a:pos x="112" y="0"/>
              </a:cxn>
              <a:cxn ang="0">
                <a:pos x="20" y="68"/>
              </a:cxn>
              <a:cxn ang="0">
                <a:pos x="0" y="272"/>
              </a:cxn>
            </a:cxnLst>
            <a:rect l="0" t="0" r="r" b="b"/>
            <a:pathLst>
              <a:path w="112" h="272">
                <a:moveTo>
                  <a:pt x="112" y="0"/>
                </a:moveTo>
                <a:cubicBezTo>
                  <a:pt x="97" y="11"/>
                  <a:pt x="39" y="23"/>
                  <a:pt x="20" y="68"/>
                </a:cubicBezTo>
                <a:cubicBezTo>
                  <a:pt x="1" y="113"/>
                  <a:pt x="4" y="230"/>
                  <a:pt x="0" y="272"/>
                </a:cubicBezTo>
              </a:path>
            </a:pathLst>
          </a:custGeom>
          <a:noFill/>
          <a:ln w="6350" cap="flat" cmpd="sng">
            <a:solidFill>
              <a:schemeClr val="tx1"/>
            </a:solidFill>
            <a:prstDash val="solid"/>
            <a:round/>
            <a:headEnd type="none" w="med" len="med"/>
            <a:tailEnd type="stealth" w="sm" len="lg"/>
          </a:ln>
          <a:effectLst/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4741" grpId="0"/>
      <p:bldP spid="884742" grpId="0" animBg="1"/>
      <p:bldP spid="884743" grpId="0"/>
      <p:bldP spid="884744" grpId="0" animBg="1"/>
      <p:bldP spid="88474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43050" y="357189"/>
            <a:ext cx="2851150" cy="420687"/>
          </a:xfrm>
        </p:spPr>
        <p:txBody>
          <a:bodyPr>
            <a:normAutofit fontScale="90000"/>
          </a:bodyPr>
          <a:lstStyle/>
          <a:p>
            <a:r>
              <a:rPr lang="pt-BR">
                <a:solidFill>
                  <a:srgbClr val="FFFF00"/>
                </a:solidFill>
                <a:effectLst/>
              </a:rPr>
              <a:t>Componentes YUV</a:t>
            </a:r>
          </a:p>
        </p:txBody>
      </p:sp>
      <p:pic>
        <p:nvPicPr>
          <p:cNvPr id="914435" name="Picture 3" descr="200px-YUV_components">
            <a:hlinkClick r:id="rId2"/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 l="-2835" t="-948" r="-2835" b="-948"/>
          <a:stretch>
            <a:fillRect/>
          </a:stretch>
        </p:blipFill>
        <p:spPr bwMode="auto">
          <a:xfrm>
            <a:off x="8416925" y="0"/>
            <a:ext cx="2243138" cy="6464300"/>
          </a:xfrm>
          <a:solidFill>
            <a:schemeClr val="bg1"/>
          </a:solidFill>
          <a:ln>
            <a:miter lim="800000"/>
            <a:headEnd/>
            <a:tailEnd/>
          </a:ln>
        </p:spPr>
      </p:pic>
      <p:sp>
        <p:nvSpPr>
          <p:cNvPr id="914436" name="Text Box 4"/>
          <p:cNvSpPr txBox="1">
            <a:spLocks noChangeArrowheads="1"/>
          </p:cNvSpPr>
          <p:nvPr/>
        </p:nvSpPr>
        <p:spPr bwMode="auto">
          <a:xfrm>
            <a:off x="1581150" y="736601"/>
            <a:ext cx="6337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pt-BR">
                <a:solidFill>
                  <a:schemeClr val="bg1"/>
                </a:solidFill>
                <a:latin typeface="Arial" charset="0"/>
              </a:rPr>
              <a:t>O sistema PAL usa o modelo YUV para o espaço de cor. </a:t>
            </a:r>
          </a:p>
        </p:txBody>
      </p:sp>
      <p:sp>
        <p:nvSpPr>
          <p:cNvPr id="914437" name="Rectangle 5"/>
          <p:cNvSpPr>
            <a:spLocks noChangeArrowheads="1"/>
          </p:cNvSpPr>
          <p:nvPr/>
        </p:nvSpPr>
        <p:spPr bwMode="auto">
          <a:xfrm rot="16200000">
            <a:off x="7097714" y="5243514"/>
            <a:ext cx="23129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pt-BR" sz="1200">
                <a:solidFill>
                  <a:srgbClr val="FFFF00"/>
                </a:solidFill>
                <a:latin typeface="Arial" charset="0"/>
              </a:rPr>
              <a:t>http://en.wikipedia.org/wiki/YUV</a:t>
            </a:r>
          </a:p>
        </p:txBody>
      </p:sp>
      <p:pic>
        <p:nvPicPr>
          <p:cNvPr id="914438" name="Picture 6" descr="core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05101" y="3390900"/>
            <a:ext cx="3787775" cy="30289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</p:spPr>
      </p:pic>
      <p:graphicFrame>
        <p:nvGraphicFramePr>
          <p:cNvPr id="914439" name="Object 7"/>
          <p:cNvGraphicFramePr>
            <a:graphicFrameLocks noChangeAspect="1"/>
          </p:cNvGraphicFramePr>
          <p:nvPr/>
        </p:nvGraphicFramePr>
        <p:xfrm>
          <a:off x="2679700" y="1082675"/>
          <a:ext cx="4217988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36760" imgH="583920" progId="Equation.3">
                  <p:embed/>
                </p:oleObj>
              </mc:Choice>
              <mc:Fallback>
                <p:oleObj name="Equation" r:id="rId5" imgW="2336760" imgH="583920" progId="Equation.3">
                  <p:embed/>
                  <p:pic>
                    <p:nvPicPr>
                      <p:cNvPr id="9144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679700" y="1082675"/>
                        <a:ext cx="4217988" cy="1055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4440" name="Object 8"/>
          <p:cNvGraphicFramePr>
            <a:graphicFrameLocks noChangeAspect="1"/>
          </p:cNvGraphicFramePr>
          <p:nvPr/>
        </p:nvGraphicFramePr>
        <p:xfrm>
          <a:off x="1581151" y="2195514"/>
          <a:ext cx="6670675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95400" imgH="583920" progId="Equation.3">
                  <p:embed/>
                </p:oleObj>
              </mc:Choice>
              <mc:Fallback>
                <p:oleObj name="Equation" r:id="rId7" imgW="3695400" imgH="583920" progId="Equation.3">
                  <p:embed/>
                  <p:pic>
                    <p:nvPicPr>
                      <p:cNvPr id="9144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581151" y="2195514"/>
                        <a:ext cx="6670675" cy="1055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8D5A22-AAFF-A7E8-EB2D-D913CC43C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QAM</a:t>
            </a:r>
            <a:br>
              <a:rPr lang="pt-BR" dirty="0"/>
            </a:br>
            <a:r>
              <a:rPr lang="pt-BR" dirty="0" err="1"/>
              <a:t>Quadrature</a:t>
            </a:r>
            <a:r>
              <a:rPr lang="pt-BR" dirty="0"/>
              <a:t> AM</a:t>
            </a:r>
          </a:p>
        </p:txBody>
      </p:sp>
    </p:spTree>
    <p:extLst>
      <p:ext uri="{BB962C8B-B14F-4D97-AF65-F5344CB8AC3E}">
        <p14:creationId xmlns:p14="http://schemas.microsoft.com/office/powerpoint/2010/main" val="3048718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5A43A-029B-1452-EF96-4A72BFCDA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 – DSB</a:t>
            </a:r>
            <a:br>
              <a:rPr lang="pt-BR" dirty="0"/>
            </a:br>
            <a:r>
              <a:rPr lang="pt-BR" dirty="0"/>
              <a:t>Como melhorar?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F1EC80-497C-D122-5140-22BE0CCCD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051"/>
            <a:ext cx="10515600" cy="4784838"/>
          </a:xfrm>
        </p:spPr>
        <p:txBody>
          <a:bodyPr/>
          <a:lstStyle/>
          <a:p>
            <a:endParaRPr lang="pt-BR" dirty="0"/>
          </a:p>
          <a:p>
            <a:r>
              <a:rPr lang="pt-BR" dirty="0"/>
              <a:t>AM DSB ocupa o dobro da banda </a:t>
            </a:r>
            <a:r>
              <a:rPr lang="pt-BR" dirty="0" err="1"/>
              <a:t>mecessária</a:t>
            </a:r>
            <a:r>
              <a:rPr lang="pt-BR" dirty="0"/>
              <a:t> para carregar informações</a:t>
            </a:r>
          </a:p>
          <a:p>
            <a:r>
              <a:rPr lang="pt-BR" dirty="0"/>
              <a:t>Em AM SSB apenas metade da banda é transmitida</a:t>
            </a:r>
          </a:p>
          <a:p>
            <a:pPr lvl="1"/>
            <a:r>
              <a:rPr lang="pt-BR" dirty="0"/>
              <a:t>Mas é difícil de se implementar</a:t>
            </a:r>
          </a:p>
          <a:p>
            <a:pPr lvl="1"/>
            <a:endParaRPr lang="pt-BR" dirty="0"/>
          </a:p>
          <a:p>
            <a:r>
              <a:rPr lang="pt-BR" dirty="0"/>
              <a:t>Solução:</a:t>
            </a:r>
            <a:br>
              <a:rPr lang="pt-BR" dirty="0"/>
            </a:br>
            <a:r>
              <a:rPr lang="pt-BR" dirty="0"/>
              <a:t>	enviar 2 sinais de banda B para </a:t>
            </a:r>
            <a:r>
              <a:rPr lang="pt-BR" dirty="0" err="1"/>
              <a:t>ocubar</a:t>
            </a:r>
            <a:r>
              <a:rPr lang="pt-BR" dirty="0"/>
              <a:t> uma banda 2B</a:t>
            </a:r>
          </a:p>
        </p:txBody>
      </p:sp>
    </p:spTree>
    <p:extLst>
      <p:ext uri="{BB962C8B-B14F-4D97-AF65-F5344CB8AC3E}">
        <p14:creationId xmlns:p14="http://schemas.microsoft.com/office/powerpoint/2010/main" val="1352843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ED754B-1B7D-7D41-1D45-3C622D9B4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Multiplexação com portadoras em quadratura</a:t>
            </a:r>
          </a:p>
        </p:txBody>
      </p:sp>
      <p:grpSp>
        <p:nvGrpSpPr>
          <p:cNvPr id="4" name="Group 63">
            <a:extLst>
              <a:ext uri="{FF2B5EF4-FFF2-40B4-BE49-F238E27FC236}">
                <a16:creationId xmlns:a16="http://schemas.microsoft.com/office/drawing/2014/main" id="{9B4120E2-3C7D-1186-30E3-7B87CF8AA7D1}"/>
              </a:ext>
            </a:extLst>
          </p:cNvPr>
          <p:cNvGrpSpPr>
            <a:grpSpLocks/>
          </p:cNvGrpSpPr>
          <p:nvPr/>
        </p:nvGrpSpPr>
        <p:grpSpPr bwMode="auto">
          <a:xfrm>
            <a:off x="1638300" y="2119314"/>
            <a:ext cx="8891588" cy="3902075"/>
            <a:chOff x="72" y="1335"/>
            <a:chExt cx="5601" cy="2458"/>
          </a:xfrm>
        </p:grpSpPr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0EECE658-16CE-D7DC-37E3-FD67955822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5" y="3425"/>
              <a:ext cx="237" cy="240"/>
            </a:xfrm>
            <a:prstGeom prst="flowChartConnector">
              <a:avLst/>
            </a:prstGeom>
            <a:solidFill>
              <a:srgbClr val="CCFFFF"/>
            </a:solidFill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60000"/>
                </a:lnSpc>
                <a:spcBef>
                  <a:spcPct val="0"/>
                </a:spcBef>
              </a:pPr>
              <a:r>
                <a:rPr lang="pt-BR" sz="3200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</a:t>
              </a:r>
              <a:endParaRPr lang="pt-BR" sz="3200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6" name="AutoShape 6">
              <a:extLst>
                <a:ext uri="{FF2B5EF4-FFF2-40B4-BE49-F238E27FC236}">
                  <a16:creationId xmlns:a16="http://schemas.microsoft.com/office/drawing/2014/main" id="{92D2B088-B655-F1C8-71F5-CBD6648E2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5" y="1464"/>
              <a:ext cx="237" cy="240"/>
            </a:xfrm>
            <a:prstGeom prst="flowChartConnector">
              <a:avLst/>
            </a:prstGeom>
            <a:solidFill>
              <a:srgbClr val="CCFFFF"/>
            </a:solidFill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60000"/>
                </a:lnSpc>
                <a:spcBef>
                  <a:spcPct val="0"/>
                </a:spcBef>
              </a:pPr>
              <a:r>
                <a:rPr lang="pt-BR" sz="3200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</a:t>
              </a:r>
              <a:endParaRPr lang="pt-BR" sz="3200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D68DF4E2-D3C0-E609-B5A3-31DCF7336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9" y="3421"/>
              <a:ext cx="237" cy="240"/>
            </a:xfrm>
            <a:prstGeom prst="flowChartConnector">
              <a:avLst/>
            </a:prstGeom>
            <a:solidFill>
              <a:srgbClr val="CCFFFF"/>
            </a:solidFill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60000"/>
                </a:lnSpc>
                <a:spcBef>
                  <a:spcPct val="0"/>
                </a:spcBef>
              </a:pPr>
              <a:r>
                <a:rPr lang="pt-BR" sz="3200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</a:t>
              </a:r>
              <a:endParaRPr lang="pt-BR" sz="3200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45384C1D-DE7F-392A-EDD4-42897C8AA3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1" y="1580"/>
              <a:ext cx="51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850E48BD-AAB9-16C4-E1F8-45F9FE2778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1" y="3542"/>
              <a:ext cx="51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cxnSp>
          <p:nvCxnSpPr>
            <p:cNvPr id="10" name="AutoShape 10">
              <a:extLst>
                <a:ext uri="{FF2B5EF4-FFF2-40B4-BE49-F238E27FC236}">
                  <a16:creationId xmlns:a16="http://schemas.microsoft.com/office/drawing/2014/main" id="{88AD4831-B684-83F3-EC9A-652AB7193C0B}"/>
                </a:ext>
              </a:extLst>
            </p:cNvPr>
            <p:cNvCxnSpPr>
              <a:cxnSpLocks noChangeShapeType="1"/>
              <a:stCxn id="49" idx="6"/>
              <a:endCxn id="6" idx="4"/>
            </p:cNvCxnSpPr>
            <p:nvPr/>
          </p:nvCxnSpPr>
          <p:spPr bwMode="auto">
            <a:xfrm flipV="1">
              <a:off x="969" y="1716"/>
              <a:ext cx="305" cy="542"/>
            </a:xfrm>
            <a:prstGeom prst="bentConnector2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 type="triangle" w="med" len="lg"/>
            </a:ln>
            <a:effectLst/>
          </p:spPr>
        </p:cxnSp>
        <p:cxnSp>
          <p:nvCxnSpPr>
            <p:cNvPr id="11" name="AutoShape 12">
              <a:extLst>
                <a:ext uri="{FF2B5EF4-FFF2-40B4-BE49-F238E27FC236}">
                  <a16:creationId xmlns:a16="http://schemas.microsoft.com/office/drawing/2014/main" id="{3F72E6B3-DCE4-6579-45BB-1C920B526283}"/>
                </a:ext>
              </a:extLst>
            </p:cNvPr>
            <p:cNvCxnSpPr>
              <a:cxnSpLocks noChangeShapeType="1"/>
              <a:stCxn id="19" idx="2"/>
              <a:endCxn id="5" idx="0"/>
            </p:cNvCxnSpPr>
            <p:nvPr/>
          </p:nvCxnSpPr>
          <p:spPr bwMode="auto">
            <a:xfrm>
              <a:off x="1274" y="2975"/>
              <a:ext cx="0" cy="438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</p:cxnSp>
        <p:cxnSp>
          <p:nvCxnSpPr>
            <p:cNvPr id="12" name="AutoShape 13">
              <a:extLst>
                <a:ext uri="{FF2B5EF4-FFF2-40B4-BE49-F238E27FC236}">
                  <a16:creationId xmlns:a16="http://schemas.microsoft.com/office/drawing/2014/main" id="{FB0708DB-46F9-57DC-A6D8-14F12FC21C02}"/>
                </a:ext>
              </a:extLst>
            </p:cNvPr>
            <p:cNvCxnSpPr>
              <a:cxnSpLocks noChangeShapeType="1"/>
              <a:endCxn id="6" idx="2"/>
            </p:cNvCxnSpPr>
            <p:nvPr/>
          </p:nvCxnSpPr>
          <p:spPr bwMode="auto">
            <a:xfrm flipV="1">
              <a:off x="784" y="1584"/>
              <a:ext cx="359" cy="1"/>
            </a:xfrm>
            <a:prstGeom prst="bentConnector3">
              <a:avLst>
                <a:gd name="adj1" fmla="val 51532"/>
              </a:avLst>
            </a:prstGeom>
            <a:noFill/>
            <a:ln w="38100">
              <a:solidFill>
                <a:schemeClr val="accent2"/>
              </a:solidFill>
              <a:miter lim="800000"/>
              <a:headEnd/>
              <a:tailEnd type="triangle" w="med" len="lg"/>
            </a:ln>
            <a:effectLst/>
          </p:spPr>
        </p:cxnSp>
        <p:cxnSp>
          <p:nvCxnSpPr>
            <p:cNvPr id="13" name="AutoShape 14">
              <a:extLst>
                <a:ext uri="{FF2B5EF4-FFF2-40B4-BE49-F238E27FC236}">
                  <a16:creationId xmlns:a16="http://schemas.microsoft.com/office/drawing/2014/main" id="{64BF33F5-60FA-542E-1126-30B25C0F73BC}"/>
                </a:ext>
              </a:extLst>
            </p:cNvPr>
            <p:cNvCxnSpPr>
              <a:cxnSpLocks noChangeShapeType="1"/>
              <a:endCxn id="5" idx="2"/>
            </p:cNvCxnSpPr>
            <p:nvPr/>
          </p:nvCxnSpPr>
          <p:spPr bwMode="auto">
            <a:xfrm flipV="1">
              <a:off x="763" y="3545"/>
              <a:ext cx="380" cy="1"/>
            </a:xfrm>
            <a:prstGeom prst="bentConnector3">
              <a:avLst>
                <a:gd name="adj1" fmla="val 51315"/>
              </a:avLst>
            </a:prstGeom>
            <a:noFill/>
            <a:ln w="38100">
              <a:solidFill>
                <a:schemeClr val="accent2"/>
              </a:solidFill>
              <a:miter lim="800000"/>
              <a:headEnd/>
              <a:tailEnd type="triangle" w="med" len="lg"/>
            </a:ln>
            <a:effectLst/>
          </p:spPr>
        </p:cxnSp>
        <p:cxnSp>
          <p:nvCxnSpPr>
            <p:cNvPr id="14" name="AutoShape 15">
              <a:extLst>
                <a:ext uri="{FF2B5EF4-FFF2-40B4-BE49-F238E27FC236}">
                  <a16:creationId xmlns:a16="http://schemas.microsoft.com/office/drawing/2014/main" id="{F11DCB47-07B3-5F2F-08B7-3E2E5AD5170E}"/>
                </a:ext>
              </a:extLst>
            </p:cNvPr>
            <p:cNvCxnSpPr>
              <a:cxnSpLocks noChangeShapeType="1"/>
              <a:stCxn id="6" idx="6"/>
              <a:endCxn id="16" idx="0"/>
            </p:cNvCxnSpPr>
            <p:nvPr/>
          </p:nvCxnSpPr>
          <p:spPr bwMode="auto">
            <a:xfrm>
              <a:off x="1404" y="1584"/>
              <a:ext cx="470" cy="848"/>
            </a:xfrm>
            <a:prstGeom prst="bentConnector2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 type="triangle" w="med" len="lg"/>
            </a:ln>
            <a:effectLst/>
          </p:spPr>
        </p:cxnSp>
        <p:cxnSp>
          <p:nvCxnSpPr>
            <p:cNvPr id="15" name="AutoShape 16">
              <a:extLst>
                <a:ext uri="{FF2B5EF4-FFF2-40B4-BE49-F238E27FC236}">
                  <a16:creationId xmlns:a16="http://schemas.microsoft.com/office/drawing/2014/main" id="{EE71C150-3552-A365-7FB1-9D8FCDA828A2}"/>
                </a:ext>
              </a:extLst>
            </p:cNvPr>
            <p:cNvCxnSpPr>
              <a:cxnSpLocks noChangeShapeType="1"/>
              <a:stCxn id="5" idx="6"/>
              <a:endCxn id="16" idx="4"/>
            </p:cNvCxnSpPr>
            <p:nvPr/>
          </p:nvCxnSpPr>
          <p:spPr bwMode="auto">
            <a:xfrm flipV="1">
              <a:off x="1404" y="2696"/>
              <a:ext cx="470" cy="849"/>
            </a:xfrm>
            <a:prstGeom prst="bentConnector2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 type="triangle" w="med" len="lg"/>
            </a:ln>
            <a:effectLst/>
          </p:spPr>
        </p:cxnSp>
        <p:sp>
          <p:nvSpPr>
            <p:cNvPr id="16" name="AutoShape 17">
              <a:extLst>
                <a:ext uri="{FF2B5EF4-FFF2-40B4-BE49-F238E27FC236}">
                  <a16:creationId xmlns:a16="http://schemas.microsoft.com/office/drawing/2014/main" id="{6F8BF3D4-EB28-D676-2AE9-5BC16A529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5" y="2444"/>
              <a:ext cx="237" cy="240"/>
            </a:xfrm>
            <a:prstGeom prst="flowChartConnector">
              <a:avLst/>
            </a:prstGeom>
            <a:solidFill>
              <a:srgbClr val="CCFFFF"/>
            </a:solidFill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pt-BR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</a:t>
              </a:r>
              <a:endParaRPr lang="pt-BR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17" name="Object 18">
              <a:extLst>
                <a:ext uri="{FF2B5EF4-FFF2-40B4-BE49-F238E27FC236}">
                  <a16:creationId xmlns:a16="http://schemas.microsoft.com/office/drawing/2014/main" id="{3CE19F7A-2DEE-98B4-C4E1-23EAF677F8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9" y="3054"/>
            <a:ext cx="920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914400" imgH="228600" progId="Equation.DSMT4">
                    <p:embed/>
                  </p:oleObj>
                </mc:Choice>
                <mc:Fallback>
                  <p:oleObj name="Equation" r:id="rId2" imgW="914400" imgH="228600" progId="Equation.DSMT4">
                    <p:embed/>
                    <p:pic>
                      <p:nvPicPr>
                        <p:cNvPr id="846866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" y="3054"/>
                          <a:ext cx="920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9">
              <a:extLst>
                <a:ext uri="{FF2B5EF4-FFF2-40B4-BE49-F238E27FC236}">
                  <a16:creationId xmlns:a16="http://schemas.microsoft.com/office/drawing/2014/main" id="{372ECFA3-F6A0-9E70-E03B-D01202FEAE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9" y="1866"/>
            <a:ext cx="908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901440" imgH="228600" progId="Equation.DSMT4">
                    <p:embed/>
                  </p:oleObj>
                </mc:Choice>
                <mc:Fallback>
                  <p:oleObj name="Equation" r:id="rId4" imgW="901440" imgH="228600" progId="Equation.DSMT4">
                    <p:embed/>
                    <p:pic>
                      <p:nvPicPr>
                        <p:cNvPr id="846867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" y="1866"/>
                          <a:ext cx="908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AutoShape 20">
              <a:extLst>
                <a:ext uri="{FF2B5EF4-FFF2-40B4-BE49-F238E27FC236}">
                  <a16:creationId xmlns:a16="http://schemas.microsoft.com/office/drawing/2014/main" id="{1487B2D9-4DF6-32BA-1276-1F20CA99D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2541"/>
              <a:ext cx="780" cy="422"/>
            </a:xfrm>
            <a:prstGeom prst="flowChartProcess">
              <a:avLst/>
            </a:prstGeom>
            <a:solidFill>
              <a:srgbClr val="CCFFFF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54000" rIns="54000" anchor="ctr"/>
            <a:lstStyle/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pt-BR" sz="2000">
                  <a:solidFill>
                    <a:schemeClr val="accent2"/>
                  </a:solidFill>
                </a:rPr>
                <a:t>Defasador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pt-BR" sz="2000">
                  <a:solidFill>
                    <a:schemeClr val="accent2"/>
                  </a:solidFill>
                </a:rPr>
                <a:t>-90</a:t>
              </a:r>
              <a:r>
                <a:rPr lang="pt-BR" sz="2000" baseline="30000">
                  <a:solidFill>
                    <a:schemeClr val="accent2"/>
                  </a:solidFill>
                </a:rPr>
                <a:t>o</a:t>
              </a:r>
              <a:endParaRPr lang="pt-BR" sz="2000">
                <a:solidFill>
                  <a:schemeClr val="accent2"/>
                </a:solidFill>
              </a:endParaRPr>
            </a:p>
          </p:txBody>
        </p:sp>
        <p:cxnSp>
          <p:nvCxnSpPr>
            <p:cNvPr id="20" name="AutoShape 21">
              <a:extLst>
                <a:ext uri="{FF2B5EF4-FFF2-40B4-BE49-F238E27FC236}">
                  <a16:creationId xmlns:a16="http://schemas.microsoft.com/office/drawing/2014/main" id="{E5540EB4-9B64-9083-F7FC-7707FC58406C}"/>
                </a:ext>
              </a:extLst>
            </p:cNvPr>
            <p:cNvCxnSpPr>
              <a:cxnSpLocks noChangeShapeType="1"/>
              <a:stCxn id="49" idx="6"/>
              <a:endCxn id="19" idx="0"/>
            </p:cNvCxnSpPr>
            <p:nvPr/>
          </p:nvCxnSpPr>
          <p:spPr bwMode="auto">
            <a:xfrm>
              <a:off x="969" y="2258"/>
              <a:ext cx="305" cy="271"/>
            </a:xfrm>
            <a:prstGeom prst="bentConnector2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 type="triangle" w="med" len="lg"/>
            </a:ln>
            <a:effectLst/>
          </p:spPr>
        </p:cxnSp>
        <p:cxnSp>
          <p:nvCxnSpPr>
            <p:cNvPr id="21" name="AutoShape 23">
              <a:extLst>
                <a:ext uri="{FF2B5EF4-FFF2-40B4-BE49-F238E27FC236}">
                  <a16:creationId xmlns:a16="http://schemas.microsoft.com/office/drawing/2014/main" id="{71D83213-E4BF-73B7-D1B5-82AE7009CE86}"/>
                </a:ext>
              </a:extLst>
            </p:cNvPr>
            <p:cNvCxnSpPr>
              <a:cxnSpLocks noChangeShapeType="1"/>
              <a:stCxn id="47" idx="2"/>
              <a:endCxn id="38" idx="4"/>
            </p:cNvCxnSpPr>
            <p:nvPr/>
          </p:nvCxnSpPr>
          <p:spPr bwMode="auto">
            <a:xfrm rot="10800000">
              <a:off x="3368" y="1715"/>
              <a:ext cx="189" cy="536"/>
            </a:xfrm>
            <a:prstGeom prst="bentConnector2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 type="triangle" w="med" len="lg"/>
            </a:ln>
            <a:effectLst/>
          </p:spPr>
        </p:cxnSp>
        <p:cxnSp>
          <p:nvCxnSpPr>
            <p:cNvPr id="22" name="AutoShape 24">
              <a:extLst>
                <a:ext uri="{FF2B5EF4-FFF2-40B4-BE49-F238E27FC236}">
                  <a16:creationId xmlns:a16="http://schemas.microsoft.com/office/drawing/2014/main" id="{9B7DFDED-C6FE-08CE-ACB7-3FB5888FE819}"/>
                </a:ext>
              </a:extLst>
            </p:cNvPr>
            <p:cNvCxnSpPr>
              <a:cxnSpLocks noChangeShapeType="1"/>
              <a:stCxn id="44" idx="2"/>
              <a:endCxn id="7" idx="0"/>
            </p:cNvCxnSpPr>
            <p:nvPr/>
          </p:nvCxnSpPr>
          <p:spPr bwMode="auto">
            <a:xfrm>
              <a:off x="3367" y="2968"/>
              <a:ext cx="1" cy="441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</p:cxnSp>
        <p:grpSp>
          <p:nvGrpSpPr>
            <p:cNvPr id="23" name="Group 25">
              <a:extLst>
                <a:ext uri="{FF2B5EF4-FFF2-40B4-BE49-F238E27FC236}">
                  <a16:creationId xmlns:a16="http://schemas.microsoft.com/office/drawing/2014/main" id="{D1424F15-EFED-C4AA-29B7-10BBF508E6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1" y="1584"/>
              <a:ext cx="441" cy="1962"/>
              <a:chOff x="2723" y="1050"/>
              <a:chExt cx="441" cy="1972"/>
            </a:xfrm>
          </p:grpSpPr>
          <p:cxnSp>
            <p:nvCxnSpPr>
              <p:cNvPr id="51" name="AutoShape 26">
                <a:extLst>
                  <a:ext uri="{FF2B5EF4-FFF2-40B4-BE49-F238E27FC236}">
                    <a16:creationId xmlns:a16="http://schemas.microsoft.com/office/drawing/2014/main" id="{63D6F954-8542-B788-63EC-98080785AF2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>
                <a:off x="2399" y="1374"/>
                <a:ext cx="1089" cy="441"/>
              </a:xfrm>
              <a:prstGeom prst="bentConnector2">
                <a:avLst/>
              </a:prstGeom>
              <a:noFill/>
              <a:ln w="38100">
                <a:solidFill>
                  <a:schemeClr val="accent2"/>
                </a:solidFill>
                <a:miter lim="800000"/>
                <a:headEnd/>
                <a:tailEnd type="triangle" w="med" len="lg"/>
              </a:ln>
              <a:effectLst/>
            </p:spPr>
          </p:cxnSp>
          <p:cxnSp>
            <p:nvCxnSpPr>
              <p:cNvPr id="52" name="AutoShape 27">
                <a:extLst>
                  <a:ext uri="{FF2B5EF4-FFF2-40B4-BE49-F238E27FC236}">
                    <a16:creationId xmlns:a16="http://schemas.microsoft.com/office/drawing/2014/main" id="{2C823C73-FF5D-1A5F-F1CD-C11304D90F25}"/>
                  </a:ext>
                </a:extLst>
              </p:cNvPr>
              <p:cNvCxnSpPr>
                <a:cxnSpLocks noChangeShapeType="1"/>
                <a:stCxn id="29" idx="1"/>
              </p:cNvCxnSpPr>
              <p:nvPr/>
            </p:nvCxnSpPr>
            <p:spPr bwMode="auto">
              <a:xfrm rot="16200000" flipH="1">
                <a:off x="2465" y="2324"/>
                <a:ext cx="957" cy="440"/>
              </a:xfrm>
              <a:prstGeom prst="bentConnector2">
                <a:avLst/>
              </a:prstGeom>
              <a:noFill/>
              <a:ln w="38100">
                <a:solidFill>
                  <a:schemeClr val="accent2"/>
                </a:solidFill>
                <a:miter lim="800000"/>
                <a:headEnd/>
                <a:tailEnd type="triangle" w="med" len="lg"/>
              </a:ln>
              <a:effectLst/>
            </p:spPr>
          </p:cxnSp>
        </p:grpSp>
        <p:cxnSp>
          <p:nvCxnSpPr>
            <p:cNvPr id="24" name="AutoShape 28">
              <a:extLst>
                <a:ext uri="{FF2B5EF4-FFF2-40B4-BE49-F238E27FC236}">
                  <a16:creationId xmlns:a16="http://schemas.microsoft.com/office/drawing/2014/main" id="{515DBFDC-D070-C6B6-9978-7D15C7340281}"/>
                </a:ext>
              </a:extLst>
            </p:cNvPr>
            <p:cNvCxnSpPr>
              <a:cxnSpLocks noChangeShapeType="1"/>
              <a:stCxn id="38" idx="6"/>
              <a:endCxn id="30" idx="1"/>
            </p:cNvCxnSpPr>
            <p:nvPr/>
          </p:nvCxnSpPr>
          <p:spPr bwMode="auto">
            <a:xfrm>
              <a:off x="3498" y="1583"/>
              <a:ext cx="620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</p:cxnSp>
        <p:cxnSp>
          <p:nvCxnSpPr>
            <p:cNvPr id="25" name="AutoShape 29">
              <a:extLst>
                <a:ext uri="{FF2B5EF4-FFF2-40B4-BE49-F238E27FC236}">
                  <a16:creationId xmlns:a16="http://schemas.microsoft.com/office/drawing/2014/main" id="{C0E1ED34-C36B-C1E0-9056-0049A94B561F}"/>
                </a:ext>
              </a:extLst>
            </p:cNvPr>
            <p:cNvCxnSpPr>
              <a:cxnSpLocks noChangeShapeType="1"/>
              <a:stCxn id="7" idx="6"/>
              <a:endCxn id="34" idx="1"/>
            </p:cNvCxnSpPr>
            <p:nvPr/>
          </p:nvCxnSpPr>
          <p:spPr bwMode="auto">
            <a:xfrm>
              <a:off x="3498" y="3541"/>
              <a:ext cx="614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</p:cxnSp>
        <p:cxnSp>
          <p:nvCxnSpPr>
            <p:cNvPr id="26" name="AutoShape 34">
              <a:extLst>
                <a:ext uri="{FF2B5EF4-FFF2-40B4-BE49-F238E27FC236}">
                  <a16:creationId xmlns:a16="http://schemas.microsoft.com/office/drawing/2014/main" id="{F836C48A-A0E3-DAEF-67EC-96C7309D5D96}"/>
                </a:ext>
              </a:extLst>
            </p:cNvPr>
            <p:cNvCxnSpPr>
              <a:cxnSpLocks noChangeShapeType="1"/>
              <a:stCxn id="47" idx="2"/>
              <a:endCxn id="44" idx="0"/>
            </p:cNvCxnSpPr>
            <p:nvPr/>
          </p:nvCxnSpPr>
          <p:spPr bwMode="auto">
            <a:xfrm rot="10800000" flipV="1">
              <a:off x="3367" y="2251"/>
              <a:ext cx="190" cy="271"/>
            </a:xfrm>
            <a:prstGeom prst="bentConnector2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 type="triangle" w="med" len="lg"/>
            </a:ln>
            <a:effectLst/>
          </p:spPr>
        </p:cxnSp>
        <p:sp>
          <p:nvSpPr>
            <p:cNvPr id="27" name="Line 35">
              <a:extLst>
                <a:ext uri="{FF2B5EF4-FFF2-40B4-BE49-F238E27FC236}">
                  <a16:creationId xmlns:a16="http://schemas.microsoft.com/office/drawing/2014/main" id="{7DF8775D-D4E1-5AFD-1A70-2078F63DE2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4" y="2566"/>
              <a:ext cx="23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8" name="Text Box 36">
              <a:extLst>
                <a:ext uri="{FF2B5EF4-FFF2-40B4-BE49-F238E27FC236}">
                  <a16:creationId xmlns:a16="http://schemas.microsoft.com/office/drawing/2014/main" id="{EBEB1A90-140C-20C5-9890-757AFE601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0" y="2083"/>
              <a:ext cx="787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l">
                <a:lnSpc>
                  <a:spcPct val="85000"/>
                </a:lnSpc>
                <a:spcBef>
                  <a:spcPct val="0"/>
                </a:spcBef>
              </a:pPr>
              <a:r>
                <a:rPr lang="pt-BR" sz="2000">
                  <a:solidFill>
                    <a:schemeClr val="accent2"/>
                  </a:solidFill>
                </a:rPr>
                <a:t>Oscilador local</a:t>
              </a:r>
              <a:endParaRPr lang="pt-BR" sz="2000" i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29" name="Line 37">
              <a:extLst>
                <a:ext uri="{FF2B5EF4-FFF2-40B4-BE49-F238E27FC236}">
                  <a16:creationId xmlns:a16="http://schemas.microsoft.com/office/drawing/2014/main" id="{15732CAF-AA0B-CCA0-E037-EFC1BC2A92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4" y="2566"/>
              <a:ext cx="45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prstDash val="sysDot"/>
              <a:round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" name="AutoShape 38">
              <a:extLst>
                <a:ext uri="{FF2B5EF4-FFF2-40B4-BE49-F238E27FC236}">
                  <a16:creationId xmlns:a16="http://schemas.microsoft.com/office/drawing/2014/main" id="{86BE4EBA-8CBB-7D65-CABF-E1EE5945F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0" y="1372"/>
              <a:ext cx="1028" cy="422"/>
            </a:xfrm>
            <a:prstGeom prst="flowChartProcess">
              <a:avLst/>
            </a:prstGeom>
            <a:solidFill>
              <a:srgbClr val="CCFFFF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pt-BR" sz="2000">
                  <a:solidFill>
                    <a:schemeClr val="accent2"/>
                  </a:solidFill>
                </a:rPr>
                <a:t>Filtro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pt-BR" sz="2000">
                  <a:solidFill>
                    <a:schemeClr val="accent2"/>
                  </a:solidFill>
                </a:rPr>
                <a:t>passa-baixos</a:t>
              </a:r>
            </a:p>
          </p:txBody>
        </p:sp>
        <p:graphicFrame>
          <p:nvGraphicFramePr>
            <p:cNvPr id="31" name="Object 39">
              <a:extLst>
                <a:ext uri="{FF2B5EF4-FFF2-40B4-BE49-F238E27FC236}">
                  <a16:creationId xmlns:a16="http://schemas.microsoft.com/office/drawing/2014/main" id="{8510F0C2-6CDE-B064-1B2F-975E2443E9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3" y="1337"/>
            <a:ext cx="691" cy="4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685800" imgH="495000" progId="Equation.DSMT4">
                    <p:embed/>
                  </p:oleObj>
                </mc:Choice>
                <mc:Fallback>
                  <p:oleObj name="Equation" r:id="rId6" imgW="685800" imgH="495000" progId="Equation.DSMT4">
                    <p:embed/>
                    <p:pic>
                      <p:nvPicPr>
                        <p:cNvPr id="846887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" y="1337"/>
                          <a:ext cx="691" cy="4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41">
              <a:extLst>
                <a:ext uri="{FF2B5EF4-FFF2-40B4-BE49-F238E27FC236}">
                  <a16:creationId xmlns:a16="http://schemas.microsoft.com/office/drawing/2014/main" id="{6EF6781A-CBCD-7D65-C480-0A8991F8E7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20" y="1335"/>
            <a:ext cx="359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55320" imgH="215640" progId="Equation.3">
                    <p:embed/>
                  </p:oleObj>
                </mc:Choice>
                <mc:Fallback>
                  <p:oleObj name="Equation" r:id="rId8" imgW="355320" imgH="215640" progId="Equation.3">
                    <p:embed/>
                    <p:pic>
                      <p:nvPicPr>
                        <p:cNvPr id="846889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0" y="1335"/>
                          <a:ext cx="359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42">
              <a:extLst>
                <a:ext uri="{FF2B5EF4-FFF2-40B4-BE49-F238E27FC236}">
                  <a16:creationId xmlns:a16="http://schemas.microsoft.com/office/drawing/2014/main" id="{C89F41CC-4C8E-EEFD-6730-8E23A07D5F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20" y="3302"/>
            <a:ext cx="37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68280" imgH="215640" progId="Equation.3">
                    <p:embed/>
                  </p:oleObj>
                </mc:Choice>
                <mc:Fallback>
                  <p:oleObj name="Equation" r:id="rId10" imgW="368280" imgH="215640" progId="Equation.3">
                    <p:embed/>
                    <p:pic>
                      <p:nvPicPr>
                        <p:cNvPr id="84689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0" y="3302"/>
                          <a:ext cx="372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AutoShape 43">
              <a:extLst>
                <a:ext uri="{FF2B5EF4-FFF2-40B4-BE49-F238E27FC236}">
                  <a16:creationId xmlns:a16="http://schemas.microsoft.com/office/drawing/2014/main" id="{5AF38E1B-0453-B284-D22B-31731961D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4" y="3330"/>
              <a:ext cx="1028" cy="422"/>
            </a:xfrm>
            <a:prstGeom prst="flowChartProcess">
              <a:avLst/>
            </a:prstGeom>
            <a:solidFill>
              <a:srgbClr val="CCFFFF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pt-BR" sz="2000">
                  <a:solidFill>
                    <a:schemeClr val="accent2"/>
                  </a:solidFill>
                </a:rPr>
                <a:t>Filtro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pt-BR" sz="2000">
                  <a:solidFill>
                    <a:schemeClr val="accent2"/>
                  </a:solidFill>
                </a:rPr>
                <a:t>passa-baixos</a:t>
              </a:r>
            </a:p>
          </p:txBody>
        </p:sp>
        <p:graphicFrame>
          <p:nvGraphicFramePr>
            <p:cNvPr id="35" name="Object 44">
              <a:extLst>
                <a:ext uri="{FF2B5EF4-FFF2-40B4-BE49-F238E27FC236}">
                  <a16:creationId xmlns:a16="http://schemas.microsoft.com/office/drawing/2014/main" id="{0C2D264F-5AB0-E5C2-705D-E966512819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1" y="1339"/>
            <a:ext cx="397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93480" imgH="215640" progId="Equation.DSMT4">
                    <p:embed/>
                  </p:oleObj>
                </mc:Choice>
                <mc:Fallback>
                  <p:oleObj name="Equation" r:id="rId12" imgW="393480" imgH="215640" progId="Equation.DSMT4">
                    <p:embed/>
                    <p:pic>
                      <p:nvPicPr>
                        <p:cNvPr id="846892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1" y="1339"/>
                          <a:ext cx="397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45">
              <a:extLst>
                <a:ext uri="{FF2B5EF4-FFF2-40B4-BE49-F238E27FC236}">
                  <a16:creationId xmlns:a16="http://schemas.microsoft.com/office/drawing/2014/main" id="{F2EEC374-E172-AE1E-47F1-BEC08E2380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1" y="3298"/>
            <a:ext cx="41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06080" imgH="215640" progId="Equation.DSMT4">
                    <p:embed/>
                  </p:oleObj>
                </mc:Choice>
                <mc:Fallback>
                  <p:oleObj name="Equation" r:id="rId14" imgW="406080" imgH="215640" progId="Equation.DSMT4">
                    <p:embed/>
                    <p:pic>
                      <p:nvPicPr>
                        <p:cNvPr id="846893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1" y="3298"/>
                          <a:ext cx="41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Oval 46">
              <a:extLst>
                <a:ext uri="{FF2B5EF4-FFF2-40B4-BE49-F238E27FC236}">
                  <a16:creationId xmlns:a16="http://schemas.microsoft.com/office/drawing/2014/main" id="{E154D5D5-A9FF-F832-0CE9-C36091608D6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1" y="2546"/>
              <a:ext cx="41" cy="41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8" name="AutoShape 47">
              <a:extLst>
                <a:ext uri="{FF2B5EF4-FFF2-40B4-BE49-F238E27FC236}">
                  <a16:creationId xmlns:a16="http://schemas.microsoft.com/office/drawing/2014/main" id="{F9296862-AF33-B1FF-49A8-F10DCF658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9" y="1463"/>
              <a:ext cx="237" cy="240"/>
            </a:xfrm>
            <a:prstGeom prst="flowChartConnector">
              <a:avLst/>
            </a:prstGeom>
            <a:solidFill>
              <a:srgbClr val="CCFFFF"/>
            </a:solidFill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60000"/>
                </a:lnSpc>
                <a:spcBef>
                  <a:spcPct val="0"/>
                </a:spcBef>
              </a:pPr>
              <a:r>
                <a:rPr lang="pt-BR" sz="3200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</a:t>
              </a:r>
              <a:endParaRPr lang="pt-BR" sz="3200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grpSp>
          <p:nvGrpSpPr>
            <p:cNvPr id="39" name="Group 51">
              <a:extLst>
                <a:ext uri="{FF2B5EF4-FFF2-40B4-BE49-F238E27FC236}">
                  <a16:creationId xmlns:a16="http://schemas.microsoft.com/office/drawing/2014/main" id="{340A9D75-4D66-A4CF-21EF-D120D4BB46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2116"/>
              <a:ext cx="285" cy="284"/>
              <a:chOff x="1015" y="1744"/>
              <a:chExt cx="302" cy="284"/>
            </a:xfrm>
          </p:grpSpPr>
          <p:sp>
            <p:nvSpPr>
              <p:cNvPr id="49" name="Oval 4">
                <a:extLst>
                  <a:ext uri="{FF2B5EF4-FFF2-40B4-BE49-F238E27FC236}">
                    <a16:creationId xmlns:a16="http://schemas.microsoft.com/office/drawing/2014/main" id="{E7E66AD6-EC7C-1B76-685B-F5BB93B2D7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5" y="1744"/>
                <a:ext cx="302" cy="284"/>
              </a:xfrm>
              <a:prstGeom prst="ellipse">
                <a:avLst/>
              </a:prstGeom>
              <a:solidFill>
                <a:srgbClr val="CCFFFF"/>
              </a:solidFill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endParaRPr lang="pt-BR" sz="3200">
                  <a:solidFill>
                    <a:schemeClr val="accent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0" name="Freeform 48">
                <a:extLst>
                  <a:ext uri="{FF2B5EF4-FFF2-40B4-BE49-F238E27FC236}">
                    <a16:creationId xmlns:a16="http://schemas.microsoft.com/office/drawing/2014/main" id="{3ADD8100-FA36-8663-0577-B1DE4A87D2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1" y="1804"/>
                <a:ext cx="148" cy="163"/>
              </a:xfrm>
              <a:custGeom>
                <a:avLst/>
                <a:gdLst/>
                <a:ahLst/>
                <a:cxnLst>
                  <a:cxn ang="0">
                    <a:pos x="0" y="82"/>
                  </a:cxn>
                  <a:cxn ang="0">
                    <a:pos x="43" y="11"/>
                  </a:cxn>
                  <a:cxn ang="0">
                    <a:pos x="106" y="151"/>
                  </a:cxn>
                  <a:cxn ang="0">
                    <a:pos x="148" y="80"/>
                  </a:cxn>
                </a:cxnLst>
                <a:rect l="0" t="0" r="r" b="b"/>
                <a:pathLst>
                  <a:path w="148" h="163">
                    <a:moveTo>
                      <a:pt x="0" y="82"/>
                    </a:moveTo>
                    <a:cubicBezTo>
                      <a:pt x="7" y="70"/>
                      <a:pt x="25" y="0"/>
                      <a:pt x="43" y="11"/>
                    </a:cubicBezTo>
                    <a:cubicBezTo>
                      <a:pt x="61" y="22"/>
                      <a:pt x="88" y="139"/>
                      <a:pt x="106" y="151"/>
                    </a:cubicBezTo>
                    <a:cubicBezTo>
                      <a:pt x="124" y="163"/>
                      <a:pt x="139" y="95"/>
                      <a:pt x="148" y="80"/>
                    </a:cubicBezTo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  <p:graphicFrame>
          <p:nvGraphicFramePr>
            <p:cNvPr id="40" name="Object 50">
              <a:extLst>
                <a:ext uri="{FF2B5EF4-FFF2-40B4-BE49-F238E27FC236}">
                  <a16:creationId xmlns:a16="http://schemas.microsoft.com/office/drawing/2014/main" id="{2758190D-760F-C25C-AB6D-2E19DF8CDE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" y="3298"/>
            <a:ext cx="691" cy="4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685800" imgH="495000" progId="Equation.DSMT4">
                    <p:embed/>
                  </p:oleObj>
                </mc:Choice>
                <mc:Fallback>
                  <p:oleObj name="Equation" r:id="rId16" imgW="685800" imgH="495000" progId="Equation.DSMT4">
                    <p:embed/>
                    <p:pic>
                      <p:nvPicPr>
                        <p:cNvPr id="846898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" y="3298"/>
                          <a:ext cx="691" cy="4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Object 52">
              <a:extLst>
                <a:ext uri="{FF2B5EF4-FFF2-40B4-BE49-F238E27FC236}">
                  <a16:creationId xmlns:a16="http://schemas.microsoft.com/office/drawing/2014/main" id="{BECB04A5-BF71-541C-2936-3A28882FEA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57" y="2025"/>
            <a:ext cx="819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812520" imgH="482400" progId="Equation.DSMT4">
                    <p:embed/>
                  </p:oleObj>
                </mc:Choice>
                <mc:Fallback>
                  <p:oleObj name="Equation" r:id="rId18" imgW="812520" imgH="482400" progId="Equation.DSMT4">
                    <p:embed/>
                    <p:pic>
                      <p:nvPicPr>
                        <p:cNvPr id="84690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7" y="2025"/>
                          <a:ext cx="819" cy="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ct 53">
              <a:extLst>
                <a:ext uri="{FF2B5EF4-FFF2-40B4-BE49-F238E27FC236}">
                  <a16:creationId xmlns:a16="http://schemas.microsoft.com/office/drawing/2014/main" id="{D16E5168-1655-67C7-E496-A221BEA009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76" y="3053"/>
            <a:ext cx="1163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155600" imgH="228600" progId="Equation.DSMT4">
                    <p:embed/>
                  </p:oleObj>
                </mc:Choice>
                <mc:Fallback>
                  <p:oleObj name="Equation" r:id="rId20" imgW="1155600" imgH="228600" progId="Equation.DSMT4">
                    <p:embed/>
                    <p:pic>
                      <p:nvPicPr>
                        <p:cNvPr id="846901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6" y="3053"/>
                          <a:ext cx="1163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54">
              <a:extLst>
                <a:ext uri="{FF2B5EF4-FFF2-40B4-BE49-F238E27FC236}">
                  <a16:creationId xmlns:a16="http://schemas.microsoft.com/office/drawing/2014/main" id="{7072DB83-4ABA-07E8-417C-D4B922D774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82" y="1865"/>
            <a:ext cx="1152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143000" imgH="228600" progId="Equation.DSMT4">
                    <p:embed/>
                  </p:oleObj>
                </mc:Choice>
                <mc:Fallback>
                  <p:oleObj name="Equation" r:id="rId22" imgW="1143000" imgH="228600" progId="Equation.DSMT4">
                    <p:embed/>
                    <p:pic>
                      <p:nvPicPr>
                        <p:cNvPr id="846902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2" y="1865"/>
                          <a:ext cx="1152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AutoShape 55">
              <a:extLst>
                <a:ext uri="{FF2B5EF4-FFF2-40B4-BE49-F238E27FC236}">
                  <a16:creationId xmlns:a16="http://schemas.microsoft.com/office/drawing/2014/main" id="{954DE315-6FEC-615B-1F69-5E9B4D43A9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7" y="2534"/>
              <a:ext cx="780" cy="422"/>
            </a:xfrm>
            <a:prstGeom prst="flowChartProcess">
              <a:avLst/>
            </a:prstGeom>
            <a:solidFill>
              <a:srgbClr val="CCFFFF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54000" rIns="54000" anchor="ctr"/>
            <a:lstStyle/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pt-BR" sz="2000">
                  <a:solidFill>
                    <a:schemeClr val="accent2"/>
                  </a:solidFill>
                </a:rPr>
                <a:t>Defasador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pt-BR" sz="2000">
                  <a:solidFill>
                    <a:schemeClr val="accent2"/>
                  </a:solidFill>
                </a:rPr>
                <a:t>-90</a:t>
              </a:r>
              <a:r>
                <a:rPr lang="pt-BR" sz="2000" baseline="30000">
                  <a:solidFill>
                    <a:schemeClr val="accent2"/>
                  </a:solidFill>
                </a:rPr>
                <a:t>o</a:t>
              </a:r>
              <a:endParaRPr lang="pt-BR" sz="2000">
                <a:solidFill>
                  <a:schemeClr val="accent2"/>
                </a:solidFill>
              </a:endParaRPr>
            </a:p>
          </p:txBody>
        </p:sp>
        <p:grpSp>
          <p:nvGrpSpPr>
            <p:cNvPr id="45" name="Group 56">
              <a:extLst>
                <a:ext uri="{FF2B5EF4-FFF2-40B4-BE49-F238E27FC236}">
                  <a16:creationId xmlns:a16="http://schemas.microsoft.com/office/drawing/2014/main" id="{06B4E5AE-5903-BF88-8FD6-BF01C18167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9" y="2109"/>
              <a:ext cx="285" cy="284"/>
              <a:chOff x="1015" y="1744"/>
              <a:chExt cx="302" cy="284"/>
            </a:xfrm>
          </p:grpSpPr>
          <p:sp>
            <p:nvSpPr>
              <p:cNvPr id="47" name="Oval 57">
                <a:extLst>
                  <a:ext uri="{FF2B5EF4-FFF2-40B4-BE49-F238E27FC236}">
                    <a16:creationId xmlns:a16="http://schemas.microsoft.com/office/drawing/2014/main" id="{700DFF94-B38C-4588-9830-A27A5F129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5" y="1744"/>
                <a:ext cx="302" cy="284"/>
              </a:xfrm>
              <a:prstGeom prst="ellipse">
                <a:avLst/>
              </a:prstGeom>
              <a:solidFill>
                <a:srgbClr val="CCFFFF"/>
              </a:solidFill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endParaRPr lang="pt-BR" sz="3200">
                  <a:solidFill>
                    <a:schemeClr val="accent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8" name="Freeform 58">
                <a:extLst>
                  <a:ext uri="{FF2B5EF4-FFF2-40B4-BE49-F238E27FC236}">
                    <a16:creationId xmlns:a16="http://schemas.microsoft.com/office/drawing/2014/main" id="{082512FB-3FD5-E6E7-9677-B775718255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1" y="1804"/>
                <a:ext cx="148" cy="163"/>
              </a:xfrm>
              <a:custGeom>
                <a:avLst/>
                <a:gdLst/>
                <a:ahLst/>
                <a:cxnLst>
                  <a:cxn ang="0">
                    <a:pos x="0" y="82"/>
                  </a:cxn>
                  <a:cxn ang="0">
                    <a:pos x="43" y="11"/>
                  </a:cxn>
                  <a:cxn ang="0">
                    <a:pos x="106" y="151"/>
                  </a:cxn>
                  <a:cxn ang="0">
                    <a:pos x="148" y="80"/>
                  </a:cxn>
                </a:cxnLst>
                <a:rect l="0" t="0" r="r" b="b"/>
                <a:pathLst>
                  <a:path w="148" h="163">
                    <a:moveTo>
                      <a:pt x="0" y="82"/>
                    </a:moveTo>
                    <a:cubicBezTo>
                      <a:pt x="7" y="70"/>
                      <a:pt x="25" y="0"/>
                      <a:pt x="43" y="11"/>
                    </a:cubicBezTo>
                    <a:cubicBezTo>
                      <a:pt x="61" y="22"/>
                      <a:pt x="88" y="139"/>
                      <a:pt x="106" y="151"/>
                    </a:cubicBezTo>
                    <a:cubicBezTo>
                      <a:pt x="124" y="163"/>
                      <a:pt x="139" y="95"/>
                      <a:pt x="148" y="80"/>
                    </a:cubicBezTo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46" name="Line 59">
              <a:extLst>
                <a:ext uri="{FF2B5EF4-FFF2-40B4-BE49-F238E27FC236}">
                  <a16:creationId xmlns:a16="http://schemas.microsoft.com/office/drawing/2014/main" id="{7ADE76FB-84DF-0A99-44FB-F91A0F0071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7" y="2565"/>
              <a:ext cx="383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53" name="Text Box 61">
            <a:extLst>
              <a:ext uri="{FF2B5EF4-FFF2-40B4-BE49-F238E27FC236}">
                <a16:creationId xmlns:a16="http://schemas.microsoft.com/office/drawing/2014/main" id="{72A225B3-D141-8B4D-998A-714DE86F7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9" y="1466850"/>
            <a:ext cx="1478019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r>
              <a:rPr lang="pt-BR"/>
              <a:t>TRANSMISSOR</a:t>
            </a:r>
          </a:p>
        </p:txBody>
      </p:sp>
      <p:sp>
        <p:nvSpPr>
          <p:cNvPr id="54" name="Text Box 62">
            <a:extLst>
              <a:ext uri="{FF2B5EF4-FFF2-40B4-BE49-F238E27FC236}">
                <a16:creationId xmlns:a16="http://schemas.microsoft.com/office/drawing/2014/main" id="{9F783BBA-29CA-53FB-01C8-D5D0558E7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0114" y="1466850"/>
            <a:ext cx="1079833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r>
              <a:rPr lang="pt-BR"/>
              <a:t>RECEPTOR</a:t>
            </a:r>
          </a:p>
        </p:txBody>
      </p:sp>
    </p:spTree>
    <p:extLst>
      <p:ext uri="{BB962C8B-B14F-4D97-AF65-F5344CB8AC3E}">
        <p14:creationId xmlns:p14="http://schemas.microsoft.com/office/powerpoint/2010/main" val="728426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9641C-8167-8362-0C67-3CA3EF1CD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Demodulação QAM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C0D9F367-585D-B701-E9E5-8F5A9C2D4F9F}"/>
                  </a:ext>
                </a:extLst>
              </p:cNvPr>
              <p:cNvSpPr txBox="1"/>
              <p:nvPr/>
            </p:nvSpPr>
            <p:spPr bwMode="auto">
              <a:xfrm>
                <a:off x="1472924" y="1181556"/>
                <a:ext cx="7885761" cy="4572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)  =  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)  +  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sen</m:t>
                          </m:r>
                        </m:fName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C0D9F367-585D-B701-E9E5-8F5A9C2D4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2924" y="1181556"/>
                <a:ext cx="7885761" cy="457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962A2085-AD12-D063-C39B-A6D068DB6EAA}"/>
                  </a:ext>
                </a:extLst>
              </p:cNvPr>
              <p:cNvSpPr txBox="1"/>
              <p:nvPr/>
            </p:nvSpPr>
            <p:spPr bwMode="auto">
              <a:xfrm>
                <a:off x="1466574" y="1816556"/>
                <a:ext cx="8074025" cy="25400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)  =  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func>
                        <m:funcPr>
                          <m:ctrl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>
                      <m:r>
                        <m:rPr>
                          <m:aln/>
                        </m:rP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pt-BR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sSub>
                            <m:sSubPr>
                              <m:ctrlP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pt-BR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sen</m:t>
                              </m:r>
                            </m:fName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sSub>
                            <m:sSubPr>
                              <m:ctrlP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)​</m:t>
                          </m:r>
                        </m:e>
                      </m:d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func>
                        <m:funcPr>
                          <m:ctrl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>
                      <m:r>
                        <m:rPr>
                          <m:aln/>
                        </m:rP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sSub>
                            <m:sSub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𝑠𝑖𝑛</m:t>
                          </m:r>
                        </m:fName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)  +  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sSub>
                            <m:sSub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pt-BR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sSub>
                            <m:sSub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pt-BR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sSub>
                            <m:sSub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sen</m:t>
                          </m:r>
                        </m:fName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962A2085-AD12-D063-C39B-A6D068DB6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66574" y="1816556"/>
                <a:ext cx="8074025" cy="254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9">
            <a:extLst>
              <a:ext uri="{FF2B5EF4-FFF2-40B4-BE49-F238E27FC236}">
                <a16:creationId xmlns:a16="http://schemas.microsoft.com/office/drawing/2014/main" id="{24F73E94-4405-8A6F-5E7B-B44EAAA00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8874" y="3845053"/>
            <a:ext cx="2019300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54000" rIns="54000">
            <a:spAutoFit/>
          </a:bodyPr>
          <a:lstStyle/>
          <a:p>
            <a:pPr algn="l"/>
            <a:r>
              <a:rPr lang="pt-BR" dirty="0">
                <a:solidFill>
                  <a:srgbClr val="FF3300"/>
                </a:solidFill>
              </a:rPr>
              <a:t>Eliminados pelos filtros PB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34C5C644-F19A-6FEC-4BF9-13E2ABE2BFD9}"/>
              </a:ext>
            </a:extLst>
          </p:cNvPr>
          <p:cNvSpPr>
            <a:spLocks/>
          </p:cNvSpPr>
          <p:nvPr/>
        </p:nvSpPr>
        <p:spPr bwMode="auto">
          <a:xfrm>
            <a:off x="6388236" y="3444737"/>
            <a:ext cx="109119" cy="36933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32" y="942"/>
              </a:cxn>
              <a:cxn ang="0">
                <a:pos x="1140" y="1092"/>
              </a:cxn>
            </a:cxnLst>
            <a:rect l="0" t="0" r="r" b="b"/>
            <a:pathLst>
              <a:path w="1140" h="1124">
                <a:moveTo>
                  <a:pt x="0" y="0"/>
                </a:moveTo>
                <a:cubicBezTo>
                  <a:pt x="122" y="157"/>
                  <a:pt x="542" y="760"/>
                  <a:pt x="732" y="942"/>
                </a:cubicBezTo>
                <a:cubicBezTo>
                  <a:pt x="922" y="1124"/>
                  <a:pt x="1055" y="1061"/>
                  <a:pt x="1140" y="1092"/>
                </a:cubicBezTo>
              </a:path>
            </a:pathLst>
          </a:custGeom>
          <a:noFill/>
          <a:ln w="127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wrap="none" lIns="54000" rIns="54000"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572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C35ABB-6734-9214-6FBD-D93CE05A1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Interferência de </a:t>
            </a:r>
            <a:r>
              <a:rPr lang="pt-BR" dirty="0" err="1"/>
              <a:t>co-canal</a:t>
            </a:r>
            <a:r>
              <a:rPr lang="pt-BR" dirty="0"/>
              <a:t> em QAM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9EA1638-BE1B-EC90-6675-12014D59CA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7351" y="2252663"/>
          <a:ext cx="62976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49280" imgH="380880" progId="Equation.DSMT4">
                  <p:embed/>
                </p:oleObj>
              </mc:Choice>
              <mc:Fallback>
                <p:oleObj name="Equation" r:id="rId2" imgW="3149280" imgH="380880" progId="Equation.DSMT4">
                  <p:embed/>
                  <p:pic>
                    <p:nvPicPr>
                      <p:cNvPr id="7884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1" y="2252663"/>
                        <a:ext cx="629761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>
            <a:extLst>
              <a:ext uri="{FF2B5EF4-FFF2-40B4-BE49-F238E27FC236}">
                <a16:creationId xmlns:a16="http://schemas.microsoft.com/office/drawing/2014/main" id="{E2530B03-8B36-E2E8-3490-BDF49D360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1052513"/>
            <a:ext cx="862488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pt-BR" dirty="0">
                <a:solidFill>
                  <a:schemeClr val="accent2"/>
                </a:solidFill>
              </a:rPr>
              <a:t>Na prática, </a:t>
            </a:r>
            <a:r>
              <a:rPr lang="pt-BR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</a:t>
            </a:r>
            <a:r>
              <a:rPr lang="pt-BR" i="1" baseline="-250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e</a:t>
            </a:r>
            <a:r>
              <a:rPr lang="pt-BR" dirty="0">
                <a:solidFill>
                  <a:schemeClr val="accent2"/>
                </a:solidFill>
                <a:sym typeface="Symbol" pitchFamily="18" charset="2"/>
              </a:rPr>
              <a:t> é pequeno, mas não é zero, e varia aleatoriamente. Isso causa a distorção dos sinais-mensagens e a interferência de um sinal-mensagem sobre o outro (interferência de </a:t>
            </a:r>
            <a:r>
              <a:rPr lang="pt-BR" dirty="0" err="1">
                <a:solidFill>
                  <a:schemeClr val="accent2"/>
                </a:solidFill>
                <a:sym typeface="Symbol" pitchFamily="18" charset="2"/>
              </a:rPr>
              <a:t>co-canal</a:t>
            </a:r>
            <a:r>
              <a:rPr lang="pt-BR" dirty="0">
                <a:solidFill>
                  <a:schemeClr val="accent2"/>
                </a:solidFill>
                <a:sym typeface="Symbol" pitchFamily="18" charset="2"/>
              </a:rPr>
              <a:t>), uma vez que </a:t>
            </a:r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40681811-0351-B1F0-2B4F-A8B0C5A7B7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7351" y="3090863"/>
          <a:ext cx="63230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62240" imgH="380880" progId="Equation.DSMT4">
                  <p:embed/>
                </p:oleObj>
              </mc:Choice>
              <mc:Fallback>
                <p:oleObj name="Equation" r:id="rId4" imgW="3162240" imgH="380880" progId="Equation.DSMT4">
                  <p:embed/>
                  <p:pic>
                    <p:nvPicPr>
                      <p:cNvPr id="7884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1" y="3090863"/>
                        <a:ext cx="632301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6">
            <a:extLst>
              <a:ext uri="{FF2B5EF4-FFF2-40B4-BE49-F238E27FC236}">
                <a16:creationId xmlns:a16="http://schemas.microsoft.com/office/drawing/2014/main" id="{E9B89913-4B73-5D2B-7B3D-BB595F59A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7350" y="3871914"/>
            <a:ext cx="883443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pt-BR">
                <a:solidFill>
                  <a:schemeClr val="accent2"/>
                </a:solidFill>
              </a:rPr>
              <a:t>A atenuação desigual da BLS e da BLI durante a transmissão também causa interferência de co-canal (ou </a:t>
            </a:r>
            <a:r>
              <a:rPr lang="pt-BR" i="1">
                <a:solidFill>
                  <a:schemeClr val="accent2"/>
                </a:solidFill>
              </a:rPr>
              <a:t>crosstalk</a:t>
            </a:r>
            <a:r>
              <a:rPr lang="pt-BR">
                <a:solidFill>
                  <a:schemeClr val="accent2"/>
                </a:solidFill>
              </a:rPr>
              <a:t>)</a:t>
            </a:r>
            <a:r>
              <a:rPr lang="pt-BR">
                <a:solidFill>
                  <a:schemeClr val="accent2"/>
                </a:solidFill>
                <a:sym typeface="Symbol" pitchFamily="18" charset="2"/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179624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3D346-A405-14E3-029A-64D78C054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envoltória Complexa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98E1F-D872-64E7-65C4-543B36CF8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Podemos reescrever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Como</a:t>
            </a:r>
          </a:p>
          <a:p>
            <a:pPr lvl="1"/>
            <a:endParaRPr lang="pt-BR" dirty="0"/>
          </a:p>
          <a:p>
            <a:endParaRPr lang="pt-BR" dirty="0"/>
          </a:p>
          <a:p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3AE752F0-8EBB-10D7-AD20-077DF7DA8855}"/>
                  </a:ext>
                </a:extLst>
              </p:cNvPr>
              <p:cNvSpPr txBox="1"/>
              <p:nvPr/>
            </p:nvSpPr>
            <p:spPr bwMode="auto">
              <a:xfrm>
                <a:off x="1743268" y="2231129"/>
                <a:ext cx="7885761" cy="4572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)  =  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)  +  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sen</m:t>
                          </m:r>
                        </m:fName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3AE752F0-8EBB-10D7-AD20-077DF7DA8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43268" y="2231129"/>
                <a:ext cx="7885761" cy="457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3">
                <a:extLst>
                  <a:ext uri="{FF2B5EF4-FFF2-40B4-BE49-F238E27FC236}">
                    <a16:creationId xmlns:a16="http://schemas.microsoft.com/office/drawing/2014/main" id="{338E1773-B372-6E8D-471D-05A6FB95EC25}"/>
                  </a:ext>
                </a:extLst>
              </p:cNvPr>
              <p:cNvSpPr txBox="1"/>
              <p:nvPr/>
            </p:nvSpPr>
            <p:spPr bwMode="auto">
              <a:xfrm>
                <a:off x="1743267" y="3631809"/>
                <a:ext cx="7885761" cy="4572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)  =  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ℛ</m:t>
                      </m:r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acc>
                            <m:accPr>
                              <m:chr m:val="̃"/>
                              <m:ctrlP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  <m:d>
                            <m:dPr>
                              <m:ctrlP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dirty="0"/>
              </a:p>
              <a:p>
                <a:pPr/>
                <a:endParaRPr lang="pt-BR" dirty="0"/>
              </a:p>
              <a:p>
                <a:pPr/>
                <a:r>
                  <a:rPr lang="pt-BR" dirty="0"/>
                  <a:t>Com</a:t>
                </a:r>
              </a:p>
              <a:p>
                <a:pPr/>
                <a:endParaRPr lang="pt-BR" dirty="0"/>
              </a:p>
              <a:p>
                <a:pPr/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acc>
                    <m:d>
                      <m:dPr>
                        <m:ctrlP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sSub>
                      <m:sSubPr>
                        <m:ctrlP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 a </a:t>
                </a:r>
                <a:r>
                  <a:rPr lang="pt-BR"/>
                  <a:t>envoltória complexa do sinal</a:t>
                </a:r>
                <a:endParaRPr lang="pt-BR" dirty="0"/>
              </a:p>
            </p:txBody>
          </p:sp>
        </mc:Choice>
        <mc:Fallback>
          <p:sp>
            <p:nvSpPr>
              <p:cNvPr id="7" name="Object 3">
                <a:extLst>
                  <a:ext uri="{FF2B5EF4-FFF2-40B4-BE49-F238E27FC236}">
                    <a16:creationId xmlns:a16="http://schemas.microsoft.com/office/drawing/2014/main" id="{338E1773-B372-6E8D-471D-05A6FB95E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43267" y="3631809"/>
                <a:ext cx="7885761" cy="457200"/>
              </a:xfrm>
              <a:prstGeom prst="rect">
                <a:avLst/>
              </a:prstGeom>
              <a:blipFill>
                <a:blip r:embed="rId3"/>
                <a:stretch>
                  <a:fillRect l="-696" b="-249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0930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cks Attorneys - Brazil - Presentation EN.potx  -  versão 2.0: 06/01/2022 11:04  -  Somente Leitura" id="{A6674CF9-3814-4F73-9FDA-DA843D583E93}" vid="{DB5BBEE7-B585-4951-AEB8-B408A647032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6BCB7353188E4C9571C1B2EA1322FC" ma:contentTypeVersion="35" ma:contentTypeDescription="Crie um novo documento." ma:contentTypeScope="" ma:versionID="92c51d0239284ad1c813a13c01a4fe40">
  <xsd:schema xmlns:xsd="http://www.w3.org/2001/XMLSchema" xmlns:xs="http://www.w3.org/2001/XMLSchema" xmlns:p="http://schemas.microsoft.com/office/2006/metadata/properties" xmlns:ns1="http://schemas.microsoft.com/sharepoint/v3" xmlns:ns2="95c025fe-a600-4cde-9b8b-77161b10ab73" xmlns:ns3="7338d0ee-48d0-42fd-8eee-cce9c16843bc" targetNamespace="http://schemas.microsoft.com/office/2006/metadata/properties" ma:root="true" ma:fieldsID="6edbb47d3ff2f476a00cc06bb1101404" ns1:_="" ns2:_="" ns3:_="">
    <xsd:import namespace="http://schemas.microsoft.com/sharepoint/v3"/>
    <xsd:import namespace="95c025fe-a600-4cde-9b8b-77161b10ab73"/>
    <xsd:import namespace="7338d0ee-48d0-42fd-8eee-cce9c16843bc"/>
    <xsd:element name="properties">
      <xsd:complexType>
        <xsd:sequence>
          <xsd:element name="documentManagement">
            <xsd:complexType>
              <xsd:all>
                <xsd:element ref="ns2:Country_x0020_1" minOccurs="0"/>
                <xsd:element ref="ns1:PublishingStartDate" minOccurs="0"/>
                <xsd:element ref="ns1:PublishingExpirationDate" minOccurs="0"/>
                <xsd:element ref="ns3:SharedWithUsers" minOccurs="0"/>
                <xsd:element ref="ns3:SharingHintHash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Agendamento de Data de Início" ma:description="Data de Início de Agendamento é uma coluna de site criada pelo recurso de Publicação. Ela é usada para especificar a data e hora em que essa página aparecerá pela primeira vez aos visitantes do site." ma:hidden="true" ma:internalName="PublishingStartDate" ma:readOnly="false">
      <xsd:simpleType>
        <xsd:restriction base="dms:Unknown"/>
      </xsd:simpleType>
    </xsd:element>
    <xsd:element name="PublishingExpirationDate" ma:index="9" nillable="true" ma:displayName="Agendamento de Data de Término" ma:description="Data Final de Agendamento é uma coluna de site criada pelo recurso de Publicação. Ela é usada para especificar a data e a hora em que essa página não será mais exibida aos visitantes do site." ma:hidden="true" ma:internalName="PublishingExpirationDate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c025fe-a600-4cde-9b8b-77161b10ab73" elementFormDefault="qualified">
    <xsd:import namespace="http://schemas.microsoft.com/office/2006/documentManagement/types"/>
    <xsd:import namespace="http://schemas.microsoft.com/office/infopath/2007/PartnerControls"/>
    <xsd:element name="Country_x0020_1" ma:index="2" nillable="true" ma:displayName="Country" ma:format="Dropdown" ma:internalName="Country_x0020_1" ma:readOnly="false">
      <xsd:simpleType>
        <xsd:restriction base="dms:Choice">
          <xsd:enumeration value="China"/>
          <xsd:enumeration value="France"/>
          <xsd:enumeration value="Germany"/>
          <xsd:enumeration value="Japan"/>
          <xsd:enumeration value="Netherlands"/>
          <xsd:enumeration value="UK"/>
          <xsd:enumeration value="USA"/>
        </xsd:restriction>
      </xsd:simpleType>
    </xsd:element>
    <xsd:element name="MediaServiceMetadata" ma:index="15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7" nillable="true" ma:displayName="MediaServiceAutoTags" ma:description="" ma:hidden="true" ma:internalName="MediaServiceAutoTags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MediaServiceLocation" ma:hidden="true" ma:internalName="MediaServiceLocation" ma:readOnly="true">
      <xsd:simpleType>
        <xsd:restriction base="dms:Text"/>
      </xsd:simpleType>
    </xsd:element>
    <xsd:element name="MediaServiceOCR" ma:index="20" nillable="true" ma:displayName="MediaServiceOCR" ma:hidden="true" ma:internalName="MediaServiceOCR" ma:readOnly="true">
      <xsd:simpleType>
        <xsd:restriction base="dms:Note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hidden="true" ma:internalName="MediaServiceKeyPoints" ma:readOnly="true">
      <xsd:simpleType>
        <xsd:restriction base="dms:Note"/>
      </xsd:simpleType>
    </xsd:element>
    <xsd:element name="MediaLengthInSeconds" ma:index="2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8" nillable="true" ma:taxonomy="true" ma:internalName="lcf76f155ced4ddcb4097134ff3c332f" ma:taxonomyFieldName="MediaServiceImageTags" ma:displayName="Marcações de imagem" ma:readOnly="false" ma:fieldId="{5cf76f15-5ced-4ddc-b409-7134ff3c332f}" ma:taxonomyMulti="true" ma:sspId="04e8a720-b6b8-4622-b52c-5ab72fdc0c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38d0ee-48d0-42fd-8eee-cce9c16843b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Hash de Dica de Compartilhamento" ma:hidden="true" ma:internalName="SharingHintHash" ma:readOnly="true">
      <xsd:simpleType>
        <xsd:restriction base="dms:Text"/>
      </xsd:simpleType>
    </xsd:element>
    <xsd:element name="SharedWithDetails" ma:index="12" nillable="true" ma:displayName="Detalhes de Compartilhado Com" ma:description="" ma:hidden="true" ma:internalName="SharedWithDetails" ma:readOnly="true">
      <xsd:simpleType>
        <xsd:restriction base="dms:Note"/>
      </xsd:simpleType>
    </xsd:element>
    <xsd:element name="LastSharedByUser" ma:index="13" nillable="true" ma:displayName="Último Compartilhamento Por Usuário" ma:description="" ma:hidden="true" ma:internalName="LastSharedByUser" ma:readOnly="true">
      <xsd:simpleType>
        <xsd:restriction base="dms:Note"/>
      </xsd:simpleType>
    </xsd:element>
    <xsd:element name="LastSharedByTime" ma:index="14" nillable="true" ma:displayName="Último Compartilhamento Por Tempo" ma:description="" ma:hidden="true" ma:internalName="LastSharedByTime" ma:readOnly="true">
      <xsd:simpleType>
        <xsd:restriction base="dms:DateTime"/>
      </xsd:simpleType>
    </xsd:element>
    <xsd:element name="TaxCatchAll" ma:index="29" nillable="true" ma:displayName="Taxonomy Catch All Column" ma:hidden="true" ma:list="{8971a6ca-946b-442e-a300-cc99d2254307}" ma:internalName="TaxCatchAll" ma:showField="CatchAllData" ma:web="7338d0ee-48d0-42fd-8eee-cce9c16843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Country_x0020_1 xmlns="95c025fe-a600-4cde-9b8b-77161b10ab73" xsi:nil="true"/>
    <TaxCatchAll xmlns="7338d0ee-48d0-42fd-8eee-cce9c16843bc" xsi:nil="true"/>
    <lcf76f155ced4ddcb4097134ff3c332f xmlns="95c025fe-a600-4cde-9b8b-77161b10ab7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4FEC8D3-7B32-419B-A4A3-EBB3317EEE7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BDDB90-0A5B-4A8F-A01B-30AFB72EE556}">
  <ds:schemaRefs>
    <ds:schemaRef ds:uri="7338d0ee-48d0-42fd-8eee-cce9c16843bc"/>
    <ds:schemaRef ds:uri="95c025fe-a600-4cde-9b8b-77161b10ab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79FE441-B5D8-464E-B272-E5E9701C444C}">
  <ds:schemaRefs>
    <ds:schemaRef ds:uri="http://schemas.microsoft.com/office/2006/documentManagement/types"/>
    <ds:schemaRef ds:uri="http://purl.org/dc/terms/"/>
    <ds:schemaRef ds:uri="http://purl.org/dc/dcmitype/"/>
    <ds:schemaRef ds:uri="95c025fe-a600-4cde-9b8b-77161b10ab73"/>
    <ds:schemaRef ds:uri="http://schemas.microsoft.com/sharepoint/v3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7338d0ee-48d0-42fd-8eee-cce9c16843bc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756163f3-60ab-41f6-93dc-6e1b6af775b3}" enabled="1" method="Privileged" siteId="{a5a01691-338c-4b57-812c-24d594995cd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Licks Attorneys - Brazil - Presentation EN</Template>
  <TotalTime>15922</TotalTime>
  <Words>1933</Words>
  <Application>Microsoft Office PowerPoint</Application>
  <PresentationFormat>Widescreen</PresentationFormat>
  <Paragraphs>417</Paragraphs>
  <Slides>52</Slides>
  <Notes>3</Notes>
  <HiddenSlides>5</HiddenSlides>
  <MMClips>0</MMClips>
  <ScaleCrop>false</ScaleCrop>
  <HeadingPairs>
    <vt:vector size="8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52</vt:i4>
      </vt:variant>
    </vt:vector>
  </HeadingPairs>
  <TitlesOfParts>
    <vt:vector size="65" baseType="lpstr">
      <vt:lpstr>Arial</vt:lpstr>
      <vt:lpstr>Arial Narrow</vt:lpstr>
      <vt:lpstr>Calibri</vt:lpstr>
      <vt:lpstr>Calibri Light</vt:lpstr>
      <vt:lpstr>Cambria Math</vt:lpstr>
      <vt:lpstr>Nokia Sans Wide</vt:lpstr>
      <vt:lpstr>Segoe UI</vt:lpstr>
      <vt:lpstr>Segoe UI Black</vt:lpstr>
      <vt:lpstr>Symbol</vt:lpstr>
      <vt:lpstr>Times New Roman</vt:lpstr>
      <vt:lpstr>Wingdings</vt:lpstr>
      <vt:lpstr>Tema do Office</vt:lpstr>
      <vt:lpstr>Equation</vt:lpstr>
      <vt:lpstr>Modulação - Introdução</vt:lpstr>
      <vt:lpstr>Revisão</vt:lpstr>
      <vt:lpstr>Modulação</vt:lpstr>
      <vt:lpstr>Banda Base x Banda Passante</vt:lpstr>
      <vt:lpstr>Modulação AM DSB-SC </vt:lpstr>
      <vt:lpstr>Modulação AM – DSB/SC</vt:lpstr>
      <vt:lpstr>AM DSB-SC Demodulação – na Frequência</vt:lpstr>
      <vt:lpstr>AM DSB-SC Demodulação Síncrona / Coerente</vt:lpstr>
      <vt:lpstr>Modulação em Amplitude DSB+C (with carrier)</vt:lpstr>
      <vt:lpstr>Espectro de um sinal AM</vt:lpstr>
      <vt:lpstr>AM SSB/VSB</vt:lpstr>
      <vt:lpstr>Sinal DSB Double Side Band</vt:lpstr>
      <vt:lpstr>Sinal SSB (Single Side Band) USB</vt:lpstr>
      <vt:lpstr>Sinal SSB (Single Side Band) LSB</vt:lpstr>
      <vt:lpstr>Geração de Sinais SSB Filtragem Seletiva</vt:lpstr>
      <vt:lpstr>Geração de Sinais SSB Desafios de Filtragem Seletiva</vt:lpstr>
      <vt:lpstr>Geração de sinais SSB para sinais de voz Filtragem Seletiva </vt:lpstr>
      <vt:lpstr>Geração de sinais SSB Método da defasagem </vt:lpstr>
      <vt:lpstr>Transformada de Hilbert Defasagem Ideal</vt:lpstr>
      <vt:lpstr>Transformada de Hilbert Pares</vt:lpstr>
      <vt:lpstr>Transformada de Hilbert Propriedades</vt:lpstr>
      <vt:lpstr>Geração de sinais SSB para sinais de voz Método da defasagem </vt:lpstr>
      <vt:lpstr>Geração de sinais SSB para sinais de voz Método da defasagem </vt:lpstr>
      <vt:lpstr>Geração de sinais SSB para sinais de voz Método da defasagem (USB)</vt:lpstr>
      <vt:lpstr>Geração de sinais SSB para sinais de voz Método da defasagem (LSB)</vt:lpstr>
      <vt:lpstr>Sinal SSB Modulante Tonal</vt:lpstr>
      <vt:lpstr>Geração de Sinais SSB Desafios da Defasagem</vt:lpstr>
      <vt:lpstr>Demodulação de sinais SSB detecção coerente</vt:lpstr>
      <vt:lpstr>Detecção de envoltória de sinais SSB+C com portadora destacada</vt:lpstr>
      <vt:lpstr>Detecção de envoltória de sinais SSB+C com portadora destacada</vt:lpstr>
      <vt:lpstr>SSB Utilização</vt:lpstr>
      <vt:lpstr>AM-VSB Vestigial Side Band</vt:lpstr>
      <vt:lpstr>Motivação para o uso da técnica VSB</vt:lpstr>
      <vt:lpstr>Espectro DSB, SSB, VSB</vt:lpstr>
      <vt:lpstr>Geração de Sinais VSB </vt:lpstr>
      <vt:lpstr>Demodulação de um sinal VSB:  detecção coerente</vt:lpstr>
      <vt:lpstr>Escolha do Filtro Vestigial</vt:lpstr>
      <vt:lpstr>VSB em TV analógica</vt:lpstr>
      <vt:lpstr>VSB em TV Analógica</vt:lpstr>
      <vt:lpstr>Espectro Sistema PAL-M Padrão Brasileiro de TV Analógica</vt:lpstr>
      <vt:lpstr>Espectro Real de TV Analógica</vt:lpstr>
      <vt:lpstr>O VSB hoje em dia</vt:lpstr>
      <vt:lpstr>Espectro TV</vt:lpstr>
      <vt:lpstr>Apresentação do PowerPoint</vt:lpstr>
      <vt:lpstr>Sinais VSB+C: detecção de envoltória</vt:lpstr>
      <vt:lpstr>Componentes YUV</vt:lpstr>
      <vt:lpstr>QAM Quadrature AM</vt:lpstr>
      <vt:lpstr>AM – DSB Como melhorar?</vt:lpstr>
      <vt:lpstr>Multiplexação com portadoras em quadratura</vt:lpstr>
      <vt:lpstr>Demodulação QAM</vt:lpstr>
      <vt:lpstr>Interferência de co-canal em QAM</vt:lpstr>
      <vt:lpstr>A envoltória Complexa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June 29th, 2021</dc:title>
  <dc:creator>Sonia Ximenes</dc:creator>
  <cp:lastModifiedBy>André Barreto | Brazil | Licks Attorneys</cp:lastModifiedBy>
  <cp:revision>34</cp:revision>
  <cp:lastPrinted>2017-06-06T18:46:34Z</cp:lastPrinted>
  <dcterms:created xsi:type="dcterms:W3CDTF">2022-06-23T16:27:38Z</dcterms:created>
  <dcterms:modified xsi:type="dcterms:W3CDTF">2026-10-14T03:29:30Z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0x010100016BCB7353188E4C9571C1B2EA1322FC</vt:lpwstr>
  </property>
  <property fmtid="{D5CDD505-2E9C-101B-9397-08002B2CF9AE}" pid="3" name="MSIP_Label_8b38cb3f-a960-40d2-b589-fe5c7caef41b_Enabled">
    <vt:lpwstr>true</vt:lpwstr>
  </property>
  <property fmtid="{D5CDD505-2E9C-101B-9397-08002B2CF9AE}" pid="4" name="MSIP_Label_8b38cb3f-a960-40d2-b589-fe5c7caef41b_SetDate">
    <vt:lpwstr>2022-06-23T16:46:29Z</vt:lpwstr>
  </property>
  <property fmtid="{D5CDD505-2E9C-101B-9397-08002B2CF9AE}" pid="5" name="MSIP_Label_8b38cb3f-a960-40d2-b589-fe5c7caef41b_Method">
    <vt:lpwstr>Privileged</vt:lpwstr>
  </property>
  <property fmtid="{D5CDD505-2E9C-101B-9397-08002B2CF9AE}" pid="6" name="MSIP_Label_8b38cb3f-a960-40d2-b589-fe5c7caef41b_Name">
    <vt:lpwstr>CONFIDENTIAL</vt:lpwstr>
  </property>
  <property fmtid="{D5CDD505-2E9C-101B-9397-08002B2CF9AE}" pid="7" name="MSIP_Label_8b38cb3f-a960-40d2-b589-fe5c7caef41b_SiteId">
    <vt:lpwstr>a5a01691-338c-4b57-812c-24d594995cd6</vt:lpwstr>
  </property>
  <property fmtid="{D5CDD505-2E9C-101B-9397-08002B2CF9AE}" pid="8" name="MSIP_Label_8b38cb3f-a960-40d2-b589-fe5c7caef41b_ActionId">
    <vt:lpwstr>82308caf-a452-4fdc-9535-426c4b72816e</vt:lpwstr>
  </property>
  <property fmtid="{D5CDD505-2E9C-101B-9397-08002B2CF9AE}" pid="9" name="MSIP_Label_8b38cb3f-a960-40d2-b589-fe5c7caef41b_ContentBits">
    <vt:lpwstr>1</vt:lpwstr>
  </property>
  <property fmtid="{D5CDD505-2E9C-101B-9397-08002B2CF9AE}" pid="10" name="MediaServiceImageTags">
    <vt:lpwstr/>
  </property>
</Properties>
</file>