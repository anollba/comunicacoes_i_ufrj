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2"/>
  </p:notesMasterIdLst>
  <p:handoutMasterIdLst>
    <p:handoutMasterId r:id="rId43"/>
  </p:handoutMasterIdLst>
  <p:sldIdLst>
    <p:sldId id="259" r:id="rId5"/>
    <p:sldId id="31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4" r:id="rId14"/>
    <p:sldId id="313" r:id="rId15"/>
    <p:sldId id="316" r:id="rId16"/>
    <p:sldId id="317" r:id="rId17"/>
    <p:sldId id="318" r:id="rId18"/>
    <p:sldId id="320" r:id="rId19"/>
    <p:sldId id="319" r:id="rId20"/>
    <p:sldId id="321" r:id="rId21"/>
    <p:sldId id="327" r:id="rId22"/>
    <p:sldId id="328" r:id="rId23"/>
    <p:sldId id="329" r:id="rId24"/>
    <p:sldId id="330" r:id="rId25"/>
    <p:sldId id="322" r:id="rId26"/>
    <p:sldId id="332" r:id="rId27"/>
    <p:sldId id="331" r:id="rId28"/>
    <p:sldId id="333" r:id="rId29"/>
    <p:sldId id="335" r:id="rId30"/>
    <p:sldId id="336" r:id="rId31"/>
    <p:sldId id="339" r:id="rId32"/>
    <p:sldId id="340" r:id="rId33"/>
    <p:sldId id="341" r:id="rId34"/>
    <p:sldId id="337" r:id="rId35"/>
    <p:sldId id="338" r:id="rId36"/>
    <p:sldId id="342" r:id="rId37"/>
    <p:sldId id="343" r:id="rId38"/>
    <p:sldId id="344" r:id="rId39"/>
    <p:sldId id="345" r:id="rId40"/>
    <p:sldId id="346" r:id="rId41"/>
  </p:sldIdLst>
  <p:sldSz cx="12192000" cy="6858000"/>
  <p:notesSz cx="7104063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66F45CC5-03A4-427B-927A-123D5694A762}">
          <p14:sldIdLst>
            <p14:sldId id="259"/>
          </p14:sldIdLst>
        </p14:section>
        <p14:section name="Seção sem Título" id="{0AF02E1A-BA6A-4459-AB01-C48EDF29A88E}">
          <p14:sldIdLst>
            <p14:sldId id="315"/>
            <p14:sldId id="306"/>
            <p14:sldId id="307"/>
            <p14:sldId id="308"/>
            <p14:sldId id="309"/>
            <p14:sldId id="310"/>
            <p14:sldId id="311"/>
            <p14:sldId id="312"/>
            <p14:sldId id="314"/>
            <p14:sldId id="313"/>
            <p14:sldId id="316"/>
            <p14:sldId id="317"/>
            <p14:sldId id="318"/>
            <p14:sldId id="320"/>
            <p14:sldId id="319"/>
            <p14:sldId id="321"/>
            <p14:sldId id="327"/>
            <p14:sldId id="328"/>
            <p14:sldId id="329"/>
            <p14:sldId id="330"/>
            <p14:sldId id="322"/>
            <p14:sldId id="332"/>
            <p14:sldId id="331"/>
            <p14:sldId id="333"/>
            <p14:sldId id="335"/>
            <p14:sldId id="336"/>
            <p14:sldId id="339"/>
            <p14:sldId id="340"/>
            <p14:sldId id="341"/>
            <p14:sldId id="337"/>
            <p14:sldId id="338"/>
            <p14:sldId id="342"/>
            <p14:sldId id="343"/>
            <p14:sldId id="344"/>
            <p14:sldId id="345"/>
            <p14:sldId id="346"/>
          </p14:sldIdLst>
        </p14:section>
      </p14:sectionLst>
    </p:ext>
    <p:ext uri="{EFAFB233-063F-42B5-8137-9DF3F51BA10A}">
      <p15:sldGuideLst xmlns:p15="http://schemas.microsoft.com/office/powerpoint/2012/main">
        <p15:guide id="1" pos="529" userDrawn="1">
          <p15:clr>
            <a:srgbClr val="A4A3A4"/>
          </p15:clr>
        </p15:guide>
        <p15:guide id="2" pos="7151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onia Ximenes | Brazil | Licks Attorneys" initials="SX|B|LA" lastIdx="5" clrIdx="0">
    <p:extLst>
      <p:ext uri="{19B8F6BF-5375-455C-9EA6-DF929625EA0E}">
        <p15:presenceInfo xmlns:p15="http://schemas.microsoft.com/office/powerpoint/2012/main" userId="S-1-5-21-4064988553-3364987943-4011221069-25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00FF"/>
    <a:srgbClr val="72BF44"/>
    <a:srgbClr val="C9252C"/>
    <a:srgbClr val="DDDDDD"/>
    <a:srgbClr val="221B6F"/>
    <a:srgbClr val="231F20"/>
    <a:srgbClr val="1A203F"/>
    <a:srgbClr val="383B71"/>
    <a:srgbClr val="393C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64" y="28"/>
      </p:cViewPr>
      <p:guideLst>
        <p:guide pos="529"/>
        <p:guide pos="7151"/>
        <p:guide orient="horz" pos="7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073928FA-D2C6-41DE-B220-3F2DB2F37ACE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B282AF58-AFB8-48A3-96B5-4550277F4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21278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BA67B741-5C22-4E92-9233-564803058EDF}" type="datetimeFigureOut">
              <a:rPr lang="pt-BR" smtClean="0"/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80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943170F2-A307-469F-9C21-48DA32EBBF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885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3170F2-A307-469F-9C21-48DA32EBBF5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813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2760AE9-7072-6665-A798-B16FE3695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861054" cy="685800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6062421D-6B9C-2119-9B24-9A8301D37D45}"/>
              </a:ext>
            </a:extLst>
          </p:cNvPr>
          <p:cNvSpPr txBox="1"/>
          <p:nvPr userDrawn="1"/>
        </p:nvSpPr>
        <p:spPr>
          <a:xfrm>
            <a:off x="4211128" y="1747180"/>
            <a:ext cx="7410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92CEFEA-E523-3B80-3BF1-555F84BF36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11128" y="212338"/>
            <a:ext cx="741009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>
                <a:solidFill>
                  <a:srgbClr val="0070C0"/>
                </a:solidFill>
              </a:defRPr>
            </a:lvl1pPr>
          </a:lstStyle>
          <a:p>
            <a:r>
              <a:rPr lang="pt-BR" noProof="0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991359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ór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1" y="1367660"/>
            <a:ext cx="5269356" cy="1579289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400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13" name="CaixaDeTexto 15">
            <a:extLst>
              <a:ext uri="{FF2B5EF4-FFF2-40B4-BE49-F238E27FC236}">
                <a16:creationId xmlns:a16="http://schemas.microsoft.com/office/drawing/2014/main" id="{3034A8DE-CBF7-4126-9C31-A37C294C2BE3}"/>
              </a:ext>
            </a:extLst>
          </p:cNvPr>
          <p:cNvSpPr txBox="1"/>
          <p:nvPr userDrawn="1"/>
        </p:nvSpPr>
        <p:spPr>
          <a:xfrm>
            <a:off x="10664324" y="6528028"/>
            <a:ext cx="4586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55878"/>
            <a:fld id="{62780EB2-574A-44ED-8A24-CBC304E57FAD}" type="slidenum">
              <a:rPr lang="pt-BR" sz="900">
                <a:solidFill>
                  <a:schemeClr val="tx1"/>
                </a:solidFill>
              </a:rPr>
              <a:pPr algn="r" defTabSz="855878"/>
              <a:t>‹nº›</a:t>
            </a:fld>
            <a:endParaRPr lang="pt-BR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04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F8B259D-0248-B69D-71BA-B3EF94543820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128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some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838200" y="152401"/>
            <a:ext cx="10515600" cy="862012"/>
          </a:xfrm>
        </p:spPr>
        <p:txBody>
          <a:bodyPr lIns="0" tIns="0" rIns="0" bIns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noProof="0"/>
              <a:t>Click </a:t>
            </a:r>
            <a:r>
              <a:rPr lang="pt-BR" noProof="0" err="1"/>
              <a:t>to</a:t>
            </a:r>
            <a:r>
              <a:rPr lang="pt-BR" noProof="0"/>
              <a:t> </a:t>
            </a:r>
            <a:r>
              <a:rPr lang="pt-BR" noProof="0" err="1"/>
              <a:t>edit</a:t>
            </a:r>
            <a:r>
              <a:rPr lang="pt-BR" noProof="0"/>
              <a:t> Master </a:t>
            </a:r>
            <a:r>
              <a:rPr lang="pt-BR" noProof="0" err="1"/>
              <a:t>title</a:t>
            </a:r>
            <a:r>
              <a:rPr lang="pt-BR" noProof="0"/>
              <a:t> </a:t>
            </a:r>
            <a:r>
              <a:rPr lang="pt-BR" noProof="0" err="1"/>
              <a:t>style</a:t>
            </a:r>
            <a:endParaRPr lang="pt-BR" noProof="0"/>
          </a:p>
        </p:txBody>
      </p:sp>
      <p:sp>
        <p:nvSpPr>
          <p:cNvPr id="2" name="Espaço Reservado para Texto 2">
            <a:extLst>
              <a:ext uri="{FF2B5EF4-FFF2-40B4-BE49-F238E27FC236}">
                <a16:creationId xmlns:a16="http://schemas.microsoft.com/office/drawing/2014/main" id="{CD91DA93-1A48-C321-821D-9EA1954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555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A349D25-7E18-DCA3-9D79-EDA429B7D62D}"/>
              </a:ext>
            </a:extLst>
          </p:cNvPr>
          <p:cNvCxnSpPr/>
          <p:nvPr userDrawn="1"/>
        </p:nvCxnSpPr>
        <p:spPr>
          <a:xfrm>
            <a:off x="838200" y="1014413"/>
            <a:ext cx="1051560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67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6429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BE6A030-3DD1-D6A5-E876-EB091AB8E4C0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" y="0"/>
            <a:ext cx="649089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8AEE830-9E8A-DF74-4039-CE307E4895E4}"/>
              </a:ext>
            </a:extLst>
          </p:cNvPr>
          <p:cNvSpPr txBox="1"/>
          <p:nvPr userDrawn="1"/>
        </p:nvSpPr>
        <p:spPr>
          <a:xfrm>
            <a:off x="838200" y="6383547"/>
            <a:ext cx="269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2477187-2393-2A22-8770-9F34FADBFE4E}"/>
              </a:ext>
            </a:extLst>
          </p:cNvPr>
          <p:cNvSpPr txBox="1"/>
          <p:nvPr userDrawn="1"/>
        </p:nvSpPr>
        <p:spPr>
          <a:xfrm>
            <a:off x="838199" y="6418053"/>
            <a:ext cx="33456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rgbClr val="0070C0"/>
                </a:solidFill>
              </a:rPr>
              <a:t>Comunicações I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A3DE7BE-E395-47CF-16B5-9329C7E53BC8}"/>
              </a:ext>
            </a:extLst>
          </p:cNvPr>
          <p:cNvSpPr txBox="1"/>
          <p:nvPr userDrawn="1"/>
        </p:nvSpPr>
        <p:spPr>
          <a:xfrm>
            <a:off x="9936191" y="6414324"/>
            <a:ext cx="14176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>
                <a:solidFill>
                  <a:srgbClr val="0070C0"/>
                </a:solidFill>
              </a:rPr>
              <a:t>Prof. André Noll</a:t>
            </a:r>
          </a:p>
        </p:txBody>
      </p:sp>
    </p:spTree>
    <p:extLst>
      <p:ext uri="{BB962C8B-B14F-4D97-AF65-F5344CB8AC3E}">
        <p14:creationId xmlns:p14="http://schemas.microsoft.com/office/powerpoint/2010/main" val="268138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1" r:id="rId3"/>
    <p:sldLayoutId id="2147483662" r:id="rId4"/>
    <p:sldLayoutId id="214748365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3.wmf"/><Relationship Id="rId7" Type="http://schemas.openxmlformats.org/officeDocument/2006/relationships/oleObject" Target="../embeddings/oleObject3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9.emf"/><Relationship Id="rId7" Type="http://schemas.openxmlformats.org/officeDocument/2006/relationships/image" Target="../media/image11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e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wmf"/><Relationship Id="rId4" Type="http://schemas.openxmlformats.org/officeDocument/2006/relationships/image" Target="../media/image1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wmf"/><Relationship Id="rId7" Type="http://schemas.openxmlformats.org/officeDocument/2006/relationships/image" Target="../media/image21.png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13" Type="http://schemas.openxmlformats.org/officeDocument/2006/relationships/image" Target="../media/image55.wmf"/><Relationship Id="rId3" Type="http://schemas.openxmlformats.org/officeDocument/2006/relationships/image" Target="../media/image49.png"/><Relationship Id="rId7" Type="http://schemas.openxmlformats.org/officeDocument/2006/relationships/oleObject" Target="../embeddings/oleObject10.bin"/><Relationship Id="rId12" Type="http://schemas.openxmlformats.org/officeDocument/2006/relationships/oleObject" Target="../embeddings/oleObject12.bin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wmf"/><Relationship Id="rId11" Type="http://schemas.openxmlformats.org/officeDocument/2006/relationships/image" Target="../media/image54.png"/><Relationship Id="rId5" Type="http://schemas.openxmlformats.org/officeDocument/2006/relationships/oleObject" Target="../embeddings/oleObject9.bin"/><Relationship Id="rId10" Type="http://schemas.openxmlformats.org/officeDocument/2006/relationships/image" Target="../media/image53.wmf"/><Relationship Id="rId4" Type="http://schemas.openxmlformats.org/officeDocument/2006/relationships/image" Target="../media/image50.png"/><Relationship Id="rId9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7" Type="http://schemas.openxmlformats.org/officeDocument/2006/relationships/image" Target="../media/image61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15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14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17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68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75.wmf"/><Relationship Id="rId18" Type="http://schemas.openxmlformats.org/officeDocument/2006/relationships/oleObject" Target="../embeddings/oleObject31.bin"/><Relationship Id="rId26" Type="http://schemas.openxmlformats.org/officeDocument/2006/relationships/oleObject" Target="../embeddings/oleObject35.bin"/><Relationship Id="rId3" Type="http://schemas.openxmlformats.org/officeDocument/2006/relationships/image" Target="../media/image70.wmf"/><Relationship Id="rId21" Type="http://schemas.openxmlformats.org/officeDocument/2006/relationships/image" Target="../media/image79.wmf"/><Relationship Id="rId7" Type="http://schemas.openxmlformats.org/officeDocument/2006/relationships/image" Target="../media/image72.w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77.wmf"/><Relationship Id="rId25" Type="http://schemas.openxmlformats.org/officeDocument/2006/relationships/image" Target="../media/image81.w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29" Type="http://schemas.openxmlformats.org/officeDocument/2006/relationships/image" Target="../media/image83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74.wmf"/><Relationship Id="rId24" Type="http://schemas.openxmlformats.org/officeDocument/2006/relationships/oleObject" Target="../embeddings/oleObject34.bin"/><Relationship Id="rId5" Type="http://schemas.openxmlformats.org/officeDocument/2006/relationships/image" Target="../media/image71.wmf"/><Relationship Id="rId15" Type="http://schemas.openxmlformats.org/officeDocument/2006/relationships/image" Target="../media/image76.wmf"/><Relationship Id="rId23" Type="http://schemas.openxmlformats.org/officeDocument/2006/relationships/image" Target="../media/image80.wmf"/><Relationship Id="rId28" Type="http://schemas.openxmlformats.org/officeDocument/2006/relationships/oleObject" Target="../embeddings/oleObject36.bin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78.w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73.w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Relationship Id="rId27" Type="http://schemas.openxmlformats.org/officeDocument/2006/relationships/image" Target="../media/image82.wmf"/><Relationship Id="rId30" Type="http://schemas.openxmlformats.org/officeDocument/2006/relationships/oleObject" Target="../embeddings/oleObject37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oleObject" Target="../embeddings/oleObject38.bin"/><Relationship Id="rId7" Type="http://schemas.openxmlformats.org/officeDocument/2006/relationships/image" Target="../media/image8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0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98.emf"/><Relationship Id="rId3" Type="http://schemas.openxmlformats.org/officeDocument/2006/relationships/image" Target="../media/image91.wmf"/><Relationship Id="rId7" Type="http://schemas.openxmlformats.org/officeDocument/2006/relationships/image" Target="../media/image93.wmf"/><Relationship Id="rId12" Type="http://schemas.openxmlformats.org/officeDocument/2006/relationships/slide" Target="slide26.xml"/><Relationship Id="rId17" Type="http://schemas.openxmlformats.org/officeDocument/2006/relationships/oleObject" Target="../embeddings/oleObject47.bin"/><Relationship Id="rId2" Type="http://schemas.openxmlformats.org/officeDocument/2006/relationships/oleObject" Target="../embeddings/oleObject40.bin"/><Relationship Id="rId16" Type="http://schemas.openxmlformats.org/officeDocument/2006/relationships/image" Target="../media/image97.wmf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5" Type="http://schemas.openxmlformats.org/officeDocument/2006/relationships/oleObject" Target="../embeddings/oleObject46.bin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41.bin"/><Relationship Id="rId9" Type="http://schemas.openxmlformats.org/officeDocument/2006/relationships/image" Target="../media/image94.wmf"/><Relationship Id="rId14" Type="http://schemas.openxmlformats.org/officeDocument/2006/relationships/image" Target="../media/image96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1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105.wmf"/><Relationship Id="rId18" Type="http://schemas.openxmlformats.org/officeDocument/2006/relationships/slide" Target="slide8.xml"/><Relationship Id="rId3" Type="http://schemas.openxmlformats.org/officeDocument/2006/relationships/image" Target="../media/image100.png"/><Relationship Id="rId7" Type="http://schemas.openxmlformats.org/officeDocument/2006/relationships/image" Target="../media/image102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107.wmf"/><Relationship Id="rId2" Type="http://schemas.openxmlformats.org/officeDocument/2006/relationships/image" Target="../media/image99.png"/><Relationship Id="rId16" Type="http://schemas.openxmlformats.org/officeDocument/2006/relationships/oleObject" Target="../embeddings/oleObject5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104.wmf"/><Relationship Id="rId5" Type="http://schemas.openxmlformats.org/officeDocument/2006/relationships/image" Target="../media/image101.wmf"/><Relationship Id="rId15" Type="http://schemas.openxmlformats.org/officeDocument/2006/relationships/image" Target="../media/image106.wmf"/><Relationship Id="rId10" Type="http://schemas.openxmlformats.org/officeDocument/2006/relationships/oleObject" Target="../embeddings/oleObject51.bin"/><Relationship Id="rId4" Type="http://schemas.openxmlformats.org/officeDocument/2006/relationships/oleObject" Target="../embeddings/oleObject48.bin"/><Relationship Id="rId9" Type="http://schemas.openxmlformats.org/officeDocument/2006/relationships/image" Target="../media/image103.wmf"/><Relationship Id="rId14" Type="http://schemas.openxmlformats.org/officeDocument/2006/relationships/oleObject" Target="../embeddings/oleObject53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113.wmf"/><Relationship Id="rId18" Type="http://schemas.openxmlformats.org/officeDocument/2006/relationships/oleObject" Target="../embeddings/oleObject63.bin"/><Relationship Id="rId3" Type="http://schemas.openxmlformats.org/officeDocument/2006/relationships/image" Target="../media/image108.wmf"/><Relationship Id="rId21" Type="http://schemas.openxmlformats.org/officeDocument/2006/relationships/image" Target="../media/image117.wmf"/><Relationship Id="rId7" Type="http://schemas.openxmlformats.org/officeDocument/2006/relationships/image" Target="../media/image110.w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115.wmf"/><Relationship Id="rId2" Type="http://schemas.openxmlformats.org/officeDocument/2006/relationships/oleObject" Target="../embeddings/oleObject55.bin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112.wmf"/><Relationship Id="rId5" Type="http://schemas.openxmlformats.org/officeDocument/2006/relationships/image" Target="../media/image109.wmf"/><Relationship Id="rId15" Type="http://schemas.openxmlformats.org/officeDocument/2006/relationships/image" Target="../media/image114.wmf"/><Relationship Id="rId23" Type="http://schemas.openxmlformats.org/officeDocument/2006/relationships/image" Target="../media/image118.wmf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116.w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111.wmf"/><Relationship Id="rId14" Type="http://schemas.openxmlformats.org/officeDocument/2006/relationships/oleObject" Target="../embeddings/oleObject61.bin"/><Relationship Id="rId22" Type="http://schemas.openxmlformats.org/officeDocument/2006/relationships/oleObject" Target="../embeddings/oleObject65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124.wmf"/><Relationship Id="rId3" Type="http://schemas.openxmlformats.org/officeDocument/2006/relationships/image" Target="../media/image119.wmf"/><Relationship Id="rId7" Type="http://schemas.openxmlformats.org/officeDocument/2006/relationships/image" Target="../media/image121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126.w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123.wmf"/><Relationship Id="rId5" Type="http://schemas.openxmlformats.org/officeDocument/2006/relationships/image" Target="../media/image120.wmf"/><Relationship Id="rId15" Type="http://schemas.openxmlformats.org/officeDocument/2006/relationships/image" Target="../media/image125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122.wmf"/><Relationship Id="rId14" Type="http://schemas.openxmlformats.org/officeDocument/2006/relationships/oleObject" Target="../embeddings/oleObject72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.bin"/><Relationship Id="rId13" Type="http://schemas.openxmlformats.org/officeDocument/2006/relationships/image" Target="../media/image129.wmf"/><Relationship Id="rId18" Type="http://schemas.openxmlformats.org/officeDocument/2006/relationships/oleObject" Target="../embeddings/oleObject82.bin"/><Relationship Id="rId3" Type="http://schemas.openxmlformats.org/officeDocument/2006/relationships/image" Target="../media/image127.wmf"/><Relationship Id="rId7" Type="http://schemas.openxmlformats.org/officeDocument/2006/relationships/image" Target="../media/image122.wmf"/><Relationship Id="rId12" Type="http://schemas.openxmlformats.org/officeDocument/2006/relationships/oleObject" Target="../embeddings/oleObject79.bin"/><Relationship Id="rId17" Type="http://schemas.openxmlformats.org/officeDocument/2006/relationships/image" Target="../media/image131.wmf"/><Relationship Id="rId2" Type="http://schemas.openxmlformats.org/officeDocument/2006/relationships/oleObject" Target="../embeddings/oleObject74.bin"/><Relationship Id="rId16" Type="http://schemas.openxmlformats.org/officeDocument/2006/relationships/oleObject" Target="../embeddings/oleObject81.bin"/><Relationship Id="rId20" Type="http://schemas.openxmlformats.org/officeDocument/2006/relationships/image" Target="../media/image132.wmf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76.bin"/><Relationship Id="rId11" Type="http://schemas.openxmlformats.org/officeDocument/2006/relationships/image" Target="../media/image128.wmf"/><Relationship Id="rId5" Type="http://schemas.openxmlformats.org/officeDocument/2006/relationships/image" Target="../media/image120.wmf"/><Relationship Id="rId15" Type="http://schemas.openxmlformats.org/officeDocument/2006/relationships/image" Target="../media/image130.wmf"/><Relationship Id="rId10" Type="http://schemas.openxmlformats.org/officeDocument/2006/relationships/oleObject" Target="../embeddings/oleObject78.bin"/><Relationship Id="rId19" Type="http://schemas.openxmlformats.org/officeDocument/2006/relationships/oleObject" Target="../embeddings/oleObject83.bin"/><Relationship Id="rId4" Type="http://schemas.openxmlformats.org/officeDocument/2006/relationships/oleObject" Target="../embeddings/oleObject75.bin"/><Relationship Id="rId9" Type="http://schemas.openxmlformats.org/officeDocument/2006/relationships/image" Target="../media/image123.wmf"/><Relationship Id="rId14" Type="http://schemas.openxmlformats.org/officeDocument/2006/relationships/oleObject" Target="../embeddings/oleObject8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.bin"/><Relationship Id="rId13" Type="http://schemas.openxmlformats.org/officeDocument/2006/relationships/image" Target="../media/image136.wmf"/><Relationship Id="rId3" Type="http://schemas.openxmlformats.org/officeDocument/2006/relationships/image" Target="../media/image133.wmf"/><Relationship Id="rId7" Type="http://schemas.openxmlformats.org/officeDocument/2006/relationships/image" Target="../media/image116.wmf"/><Relationship Id="rId12" Type="http://schemas.openxmlformats.org/officeDocument/2006/relationships/oleObject" Target="../embeddings/oleObject89.bin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86.bin"/><Relationship Id="rId11" Type="http://schemas.openxmlformats.org/officeDocument/2006/relationships/image" Target="../media/image112.wmf"/><Relationship Id="rId5" Type="http://schemas.openxmlformats.org/officeDocument/2006/relationships/image" Target="../media/image134.wmf"/><Relationship Id="rId10" Type="http://schemas.openxmlformats.org/officeDocument/2006/relationships/oleObject" Target="../embeddings/oleObject88.bin"/><Relationship Id="rId4" Type="http://schemas.openxmlformats.org/officeDocument/2006/relationships/oleObject" Target="../embeddings/oleObject85.bin"/><Relationship Id="rId9" Type="http://schemas.openxmlformats.org/officeDocument/2006/relationships/image" Target="../media/image13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F866E-AD52-F484-BC73-B5DC3F9FC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Modulação - Introdução</a:t>
            </a:r>
          </a:p>
        </p:txBody>
      </p:sp>
    </p:spTree>
    <p:extLst>
      <p:ext uri="{BB962C8B-B14F-4D97-AF65-F5344CB8AC3E}">
        <p14:creationId xmlns:p14="http://schemas.microsoft.com/office/powerpoint/2010/main" val="209690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CEAA3-E9A6-4D70-8504-3D47C095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Portadora (Carrier)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F5E6502E-183A-7A32-D525-8E389E6CF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321764"/>
              </p:ext>
            </p:extLst>
          </p:nvPr>
        </p:nvGraphicFramePr>
        <p:xfrm>
          <a:off x="3349625" y="1421493"/>
          <a:ext cx="549275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2197080" imgH="279360" progId="Equation.3">
                  <p:embed/>
                </p:oleObj>
              </mc:Choice>
              <mc:Fallback>
                <p:oleObj name="Equação" r:id="rId2" imgW="2197080" imgH="27936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t="-16367" b="-16367"/>
                      <a:stretch>
                        <a:fillRect/>
                      </a:stretch>
                    </p:blipFill>
                    <p:spPr bwMode="auto">
                      <a:xfrm>
                        <a:off x="3349625" y="1421493"/>
                        <a:ext cx="5492750" cy="9271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212EC974-6E7A-9355-9756-ACA91ABEDB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575" y="2570843"/>
            <a:ext cx="26289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 algn="ctr"/>
            <a:r>
              <a:rPr lang="pt-BR" sz="1800" dirty="0">
                <a:solidFill>
                  <a:schemeClr val="accent2"/>
                </a:solidFill>
                <a:latin typeface="Arial" charset="0"/>
              </a:rPr>
              <a:t>Amplitude da portadora (em volts, V )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5F4E4D28-6780-789F-33A4-500B3F97C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2570843"/>
            <a:ext cx="2870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t-BR" sz="1800">
                <a:solidFill>
                  <a:schemeClr val="accent2"/>
                </a:solidFill>
                <a:latin typeface="Arial" charset="0"/>
              </a:rPr>
              <a:t>Freqüência da portadora (em hertz, Hz)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D03A7BF8-048F-C41C-E359-758A2E305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675" y="2570843"/>
            <a:ext cx="33401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t-BR" sz="1800">
                <a:solidFill>
                  <a:schemeClr val="accent2"/>
                </a:solidFill>
                <a:latin typeface="Arial" charset="0"/>
              </a:rPr>
              <a:t>Fase relativa da portadora (em radianos, rad, ou graus )</a:t>
            </a: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66D7FF23-2A5B-9DAD-848E-BB95BCC7C1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67125" y="2094593"/>
            <a:ext cx="1289050" cy="5334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8">
            <a:extLst>
              <a:ext uri="{FF2B5EF4-FFF2-40B4-BE49-F238E27FC236}">
                <a16:creationId xmlns:a16="http://schemas.microsoft.com/office/drawing/2014/main" id="{4743C43C-DC66-8DBC-C329-FBB9D6A70A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13475" y="2196193"/>
            <a:ext cx="850900" cy="42545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Line 9">
            <a:extLst>
              <a:ext uri="{FF2B5EF4-FFF2-40B4-BE49-F238E27FC236}">
                <a16:creationId xmlns:a16="http://schemas.microsoft.com/office/drawing/2014/main" id="{BA05C8A3-6C06-87BD-84D9-0CB4CE42524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296275" y="2119993"/>
            <a:ext cx="381000" cy="508000"/>
          </a:xfrm>
          <a:prstGeom prst="line">
            <a:avLst/>
          </a:prstGeom>
          <a:noFill/>
          <a:ln w="19050">
            <a:solidFill>
              <a:srgbClr val="0000CC"/>
            </a:solidFill>
            <a:round/>
            <a:headEnd/>
            <a:tailEnd type="stealth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8BA193F3-A66B-4030-2F70-BE94F04047F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08438" y="4602843"/>
            <a:ext cx="6008687" cy="31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892D77E4-1F07-75F2-7EFB-A0D6E0639D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462768"/>
              </p:ext>
            </p:extLst>
          </p:nvPr>
        </p:nvGraphicFramePr>
        <p:xfrm>
          <a:off x="1793875" y="4058331"/>
          <a:ext cx="102235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965160" imgH="799920" progId="Equation.3">
                  <p:embed/>
                </p:oleObj>
              </mc:Choice>
              <mc:Fallback>
                <p:oleObj name="Equação" r:id="rId4" imgW="965160" imgH="799920" progId="Equation.3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875" y="4058331"/>
                        <a:ext cx="1022350" cy="8016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2" descr="FEPJED00">
            <a:extLst>
              <a:ext uri="{FF2B5EF4-FFF2-40B4-BE49-F238E27FC236}">
                <a16:creationId xmlns:a16="http://schemas.microsoft.com/office/drawing/2014/main" id="{005A422E-D15E-EAF2-5756-B74BE61A1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blackWhite">
          <a:xfrm>
            <a:off x="3308350" y="3918631"/>
            <a:ext cx="6708775" cy="1370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Group 13">
            <a:extLst>
              <a:ext uri="{FF2B5EF4-FFF2-40B4-BE49-F238E27FC236}">
                <a16:creationId xmlns:a16="http://schemas.microsoft.com/office/drawing/2014/main" id="{51609487-7644-8353-444A-6ADF1080C00C}"/>
              </a:ext>
            </a:extLst>
          </p:cNvPr>
          <p:cNvGrpSpPr>
            <a:grpSpLocks/>
          </p:cNvGrpSpPr>
          <p:nvPr/>
        </p:nvGrpSpPr>
        <p:grpSpPr bwMode="auto">
          <a:xfrm>
            <a:off x="9429750" y="4602843"/>
            <a:ext cx="587375" cy="365125"/>
            <a:chOff x="4994" y="2944"/>
            <a:chExt cx="370" cy="230"/>
          </a:xfrm>
        </p:grpSpPr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FCB7DEE7-4123-0A6C-C078-E3D4651FC048}"/>
                </a:ext>
              </a:extLst>
            </p:cNvPr>
            <p:cNvSpPr txBox="1">
              <a:spLocks noChangeArrowheads="1"/>
            </p:cNvSpPr>
            <p:nvPr/>
          </p:nvSpPr>
          <p:spPr bwMode="blackWhite">
            <a:xfrm>
              <a:off x="4994" y="2944"/>
              <a:ext cx="187" cy="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pt-BR" i="1">
                  <a:solidFill>
                    <a:schemeClr val="tx1"/>
                  </a:solidFill>
                  <a:latin typeface="Times New Roman" pitchFamily="18" charset="0"/>
                </a:rPr>
                <a:t>t</a:t>
              </a: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59CD890-C651-4895-5763-F6B92449D62A}"/>
                </a:ext>
              </a:extLst>
            </p:cNvPr>
            <p:cNvSpPr>
              <a:spLocks noChangeShapeType="1"/>
            </p:cNvSpPr>
            <p:nvPr/>
          </p:nvSpPr>
          <p:spPr bwMode="blackWhite">
            <a:xfrm flipV="1">
              <a:off x="5145" y="3080"/>
              <a:ext cx="219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6" name="Line 16">
            <a:extLst>
              <a:ext uri="{FF2B5EF4-FFF2-40B4-BE49-F238E27FC236}">
                <a16:creationId xmlns:a16="http://schemas.microsoft.com/office/drawing/2014/main" id="{1226EB0B-395E-B2A6-F350-2A8FC18497A4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5029200" y="3394756"/>
            <a:ext cx="0" cy="25574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B04B07F3-7840-4575-FCBA-4E499EEBF293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059238" y="4072618"/>
            <a:ext cx="5080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B37FB4EA-8473-5460-C609-7B22044B2988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071938" y="5144181"/>
            <a:ext cx="50800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Text Box 19">
            <a:extLst>
              <a:ext uri="{FF2B5EF4-FFF2-40B4-BE49-F238E27FC236}">
                <a16:creationId xmlns:a16="http://schemas.microsoft.com/office/drawing/2014/main" id="{E739B576-83D5-58EB-91DE-1033932E87F8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4365625" y="3282043"/>
            <a:ext cx="6397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pt-BR" i="1">
                <a:solidFill>
                  <a:schemeClr val="tx1"/>
                </a:solidFill>
                <a:latin typeface="Times New Roman" pitchFamily="18" charset="0"/>
              </a:rPr>
              <a:t>c</a:t>
            </a:r>
            <a:r>
              <a:rPr lang="pt-BR" i="1" baseline="-250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pt-BR">
                <a:solidFill>
                  <a:schemeClr val="tx1"/>
                </a:solidFill>
                <a:latin typeface="Times New Roman" pitchFamily="18" charset="0"/>
              </a:rPr>
              <a:t>(</a:t>
            </a:r>
            <a:r>
              <a:rPr lang="pt-BR" baseline="300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pt-BR" i="1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pt-BR" i="1" baseline="30000">
                <a:solidFill>
                  <a:schemeClr val="tx1"/>
                </a:solidFill>
                <a:latin typeface="Times New Roman" pitchFamily="18" charset="0"/>
              </a:rPr>
              <a:t> </a:t>
            </a:r>
            <a:r>
              <a:rPr lang="pt-BR">
                <a:solidFill>
                  <a:schemeClr val="tx1"/>
                </a:solidFill>
                <a:latin typeface="Times New Roman" pitchFamily="18" charset="0"/>
              </a:rPr>
              <a:t>) </a:t>
            </a:r>
            <a:endParaRPr lang="pt-BR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0" name="Text Box 20">
            <a:extLst>
              <a:ext uri="{FF2B5EF4-FFF2-40B4-BE49-F238E27FC236}">
                <a16:creationId xmlns:a16="http://schemas.microsoft.com/office/drawing/2014/main" id="{DE7C9D41-5FE1-7A61-75B9-47E073714E23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602038" y="3883706"/>
            <a:ext cx="4413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pt-BR" i="1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lang="pt-BR" i="1" baseline="-25000">
                <a:solidFill>
                  <a:schemeClr val="tx1"/>
                </a:solidFill>
                <a:latin typeface="Times New Roman" pitchFamily="18" charset="0"/>
              </a:rPr>
              <a:t>c</a:t>
            </a:r>
            <a:endParaRPr lang="pt-BR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A2FCB5C7-0029-8BB5-3074-667810EF9971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602038" y="4948918"/>
            <a:ext cx="4413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pt-BR">
                <a:solidFill>
                  <a:schemeClr val="tx1"/>
                </a:solidFill>
                <a:latin typeface="Times New Roman" pitchFamily="18" charset="0"/>
              </a:rPr>
              <a:t>-</a:t>
            </a:r>
            <a:r>
              <a:rPr lang="pt-BR" i="1">
                <a:solidFill>
                  <a:schemeClr val="tx1"/>
                </a:solidFill>
                <a:latin typeface="Times New Roman" pitchFamily="18" charset="0"/>
              </a:rPr>
              <a:t>A</a:t>
            </a:r>
            <a:r>
              <a:rPr lang="pt-BR" i="1" baseline="-25000">
                <a:solidFill>
                  <a:schemeClr val="tx1"/>
                </a:solidFill>
                <a:latin typeface="Times New Roman" pitchFamily="18" charset="0"/>
              </a:rPr>
              <a:t>c</a:t>
            </a:r>
            <a:endParaRPr lang="pt-BR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2" name="Line 22">
            <a:extLst>
              <a:ext uri="{FF2B5EF4-FFF2-40B4-BE49-F238E27FC236}">
                <a16:creationId xmlns:a16="http://schemas.microsoft.com/office/drawing/2014/main" id="{64007B3D-0BE4-372A-24D5-395CE6AA1A73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6107113" y="3728131"/>
            <a:ext cx="0" cy="2809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0848E27C-0C66-DDBE-0CAA-71A68C12982F}"/>
              </a:ext>
            </a:extLst>
          </p:cNvPr>
          <p:cNvSpPr>
            <a:spLocks noChangeShapeType="1"/>
          </p:cNvSpPr>
          <p:nvPr/>
        </p:nvSpPr>
        <p:spPr bwMode="blackWhite">
          <a:xfrm flipV="1">
            <a:off x="7050088" y="3720193"/>
            <a:ext cx="0" cy="28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Line 24">
            <a:extLst>
              <a:ext uri="{FF2B5EF4-FFF2-40B4-BE49-F238E27FC236}">
                <a16:creationId xmlns:a16="http://schemas.microsoft.com/office/drawing/2014/main" id="{6DF1CBFD-F179-7E64-8159-B8F763D4205E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6097588" y="3880531"/>
            <a:ext cx="287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 type="non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5" name="Text Box 25">
            <a:extLst>
              <a:ext uri="{FF2B5EF4-FFF2-40B4-BE49-F238E27FC236}">
                <a16:creationId xmlns:a16="http://schemas.microsoft.com/office/drawing/2014/main" id="{23F726BB-530E-9E6F-7BF0-BACBC3B96A6F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421438" y="3664631"/>
            <a:ext cx="296862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pt-BR" i="1">
                <a:solidFill>
                  <a:schemeClr val="tx1"/>
                </a:solidFill>
                <a:latin typeface="Times New Roman" pitchFamily="18" charset="0"/>
              </a:rPr>
              <a:t>T</a:t>
            </a:r>
            <a:r>
              <a:rPr lang="pt-BR" i="1" baseline="-25000">
                <a:solidFill>
                  <a:schemeClr val="tx1"/>
                </a:solidFill>
                <a:latin typeface="Times New Roman" pitchFamily="18" charset="0"/>
              </a:rPr>
              <a:t>c</a:t>
            </a:r>
            <a:endParaRPr lang="pt-BR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26" name="Line 26">
            <a:extLst>
              <a:ext uri="{FF2B5EF4-FFF2-40B4-BE49-F238E27FC236}">
                <a16:creationId xmlns:a16="http://schemas.microsoft.com/office/drawing/2014/main" id="{05444F74-093B-5C35-9556-DB1A5B6C6C66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4225925" y="4148818"/>
            <a:ext cx="0" cy="185737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7" name="Object 27">
            <a:extLst>
              <a:ext uri="{FF2B5EF4-FFF2-40B4-BE49-F238E27FC236}">
                <a16:creationId xmlns:a16="http://schemas.microsoft.com/office/drawing/2014/main" id="{B2498639-D02F-735C-20DB-2CB137A081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3641489"/>
              </p:ext>
            </p:extLst>
          </p:nvPr>
        </p:nvGraphicFramePr>
        <p:xfrm>
          <a:off x="4300538" y="5433106"/>
          <a:ext cx="657225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7" imgW="495000" imgH="583920" progId="Equation.3">
                  <p:embed/>
                </p:oleObj>
              </mc:Choice>
              <mc:Fallback>
                <p:oleObj name="Equação" r:id="rId7" imgW="495000" imgH="583920" progId="Equation.3">
                  <p:embed/>
                  <p:pic>
                    <p:nvPicPr>
                      <p:cNvPr id="2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gray">
                      <a:xfrm>
                        <a:off x="4300538" y="5433106"/>
                        <a:ext cx="657225" cy="73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28">
            <a:extLst>
              <a:ext uri="{FF2B5EF4-FFF2-40B4-BE49-F238E27FC236}">
                <a16:creationId xmlns:a16="http://schemas.microsoft.com/office/drawing/2014/main" id="{D76EBE4D-0A84-188A-31C3-FC0D624BD4B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3902075" y="5758543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9" name="Line 29">
            <a:extLst>
              <a:ext uri="{FF2B5EF4-FFF2-40B4-BE49-F238E27FC236}">
                <a16:creationId xmlns:a16="http://schemas.microsoft.com/office/drawing/2014/main" id="{FA9A29B8-38E6-C992-3DA2-8AD3F906D0DF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5026025" y="5758543"/>
            <a:ext cx="323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lg"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A24B79C6-07AA-1F35-AA59-BFE86E4AE7D4}"/>
              </a:ext>
            </a:extLst>
          </p:cNvPr>
          <p:cNvSpPr txBox="1">
            <a:spLocks noChangeArrowheads="1"/>
          </p:cNvSpPr>
          <p:nvPr/>
        </p:nvSpPr>
        <p:spPr bwMode="blackWhite">
          <a:xfrm>
            <a:off x="3630613" y="4426631"/>
            <a:ext cx="441325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 algn="ctr"/>
            <a:r>
              <a:rPr lang="pt-BR">
                <a:solidFill>
                  <a:schemeClr val="tx1"/>
                </a:solidFill>
                <a:latin typeface="Times New Roman" pitchFamily="18" charset="0"/>
              </a:rPr>
              <a:t>0</a:t>
            </a:r>
            <a:endParaRPr lang="pt-BR" i="1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1" name="Line 31">
            <a:extLst>
              <a:ext uri="{FF2B5EF4-FFF2-40B4-BE49-F238E27FC236}">
                <a16:creationId xmlns:a16="http://schemas.microsoft.com/office/drawing/2014/main" id="{988EA3D6-4454-665D-6A04-B7E026650371}"/>
              </a:ext>
            </a:extLst>
          </p:cNvPr>
          <p:cNvSpPr>
            <a:spLocks noChangeShapeType="1"/>
          </p:cNvSpPr>
          <p:nvPr/>
        </p:nvSpPr>
        <p:spPr bwMode="blackWhite">
          <a:xfrm>
            <a:off x="6764338" y="3880531"/>
            <a:ext cx="284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med"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687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0502B-E15B-74CF-1ED5-B3626666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</a:p>
        </p:txBody>
      </p:sp>
      <p:sp>
        <p:nvSpPr>
          <p:cNvPr id="106499" name="Rectangle 3"/>
          <p:cNvSpPr txBox="1">
            <a:spLocks noChangeArrowheads="1"/>
          </p:cNvSpPr>
          <p:nvPr/>
        </p:nvSpPr>
        <p:spPr>
          <a:xfrm>
            <a:off x="1905000" y="1143001"/>
            <a:ext cx="8299450" cy="20732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pPr>
              <a:buFontTx/>
              <a:buNone/>
            </a:pPr>
            <a:r>
              <a:rPr lang="en-US" dirty="0"/>
              <a:t> </a:t>
            </a:r>
          </a:p>
        </p:txBody>
      </p:sp>
      <p:sp>
        <p:nvSpPr>
          <p:cNvPr id="106500" name="Rectangle 4"/>
          <p:cNvSpPr>
            <a:spLocks noChangeArrowheads="1"/>
          </p:cNvSpPr>
          <p:nvPr/>
        </p:nvSpPr>
        <p:spPr bwMode="auto">
          <a:xfrm>
            <a:off x="1904999" y="1347651"/>
            <a:ext cx="8772298" cy="32466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280988" indent="-280988" defTabSz="762000">
              <a:spcBef>
                <a:spcPct val="40000"/>
              </a:spcBef>
              <a:buClr>
                <a:schemeClr val="hlink"/>
              </a:buClr>
              <a:buFontTx/>
              <a:buChar char="•"/>
            </a:pPr>
            <a:r>
              <a:rPr lang="en-US" sz="2800" b="1" dirty="0" err="1">
                <a:solidFill>
                  <a:schemeClr val="hlink"/>
                </a:solidFill>
              </a:rPr>
              <a:t>Modulação</a:t>
            </a:r>
            <a:r>
              <a:rPr lang="en-US" sz="2800" dirty="0"/>
              <a:t> é o </a:t>
            </a:r>
            <a:r>
              <a:rPr lang="en-US" sz="2800" dirty="0" err="1"/>
              <a:t>processo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que</a:t>
            </a:r>
            <a:r>
              <a:rPr lang="en-US" sz="2800" dirty="0"/>
              <a:t> </a:t>
            </a:r>
            <a:r>
              <a:rPr lang="en-US" sz="2800" dirty="0" err="1"/>
              <a:t>algum</a:t>
            </a:r>
            <a:r>
              <a:rPr lang="en-US" sz="2800" dirty="0"/>
              <a:t> </a:t>
            </a:r>
            <a:r>
              <a:rPr lang="en-US" sz="2800" dirty="0" err="1"/>
              <a:t>parâmetro</a:t>
            </a:r>
            <a:r>
              <a:rPr lang="en-US" sz="2800" dirty="0"/>
              <a:t>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portadora</a:t>
            </a:r>
            <a:r>
              <a:rPr lang="en-US" sz="2800" dirty="0"/>
              <a:t> é </a:t>
            </a:r>
            <a:r>
              <a:rPr lang="en-US" sz="2800" dirty="0" err="1"/>
              <a:t>modificado</a:t>
            </a:r>
            <a:r>
              <a:rPr lang="en-US" sz="2800" dirty="0"/>
              <a:t> de </a:t>
            </a:r>
            <a:r>
              <a:rPr lang="en-US" sz="2800" dirty="0" err="1"/>
              <a:t>acordo</a:t>
            </a:r>
            <a:r>
              <a:rPr lang="en-US" sz="2800" dirty="0"/>
              <a:t> com um </a:t>
            </a:r>
            <a:r>
              <a:rPr lang="en-US" sz="2800" dirty="0" err="1">
                <a:solidFill>
                  <a:srgbClr val="063DE8"/>
                </a:solidFill>
              </a:rPr>
              <a:t>sinal</a:t>
            </a:r>
            <a:r>
              <a:rPr lang="en-US" sz="2800" dirty="0">
                <a:solidFill>
                  <a:srgbClr val="063DE8"/>
                </a:solidFill>
              </a:rPr>
              <a:t> </a:t>
            </a:r>
            <a:r>
              <a:rPr lang="en-US" sz="2800" dirty="0" err="1">
                <a:solidFill>
                  <a:srgbClr val="063DE8"/>
                </a:solidFill>
              </a:rPr>
              <a:t>mensagem</a:t>
            </a:r>
            <a:r>
              <a:rPr lang="en-US" sz="2800" dirty="0"/>
              <a:t>, </a:t>
            </a:r>
            <a:r>
              <a:rPr lang="en-US" sz="2800" dirty="0" err="1"/>
              <a:t>gerando</a:t>
            </a:r>
            <a:r>
              <a:rPr lang="en-US" sz="2800" dirty="0"/>
              <a:t> um </a:t>
            </a:r>
            <a:r>
              <a:rPr lang="en-US" sz="2800" dirty="0" err="1">
                <a:solidFill>
                  <a:schemeClr val="accent6"/>
                </a:solidFill>
              </a:rPr>
              <a:t>sinal</a:t>
            </a:r>
            <a:r>
              <a:rPr lang="en-US" sz="2800" dirty="0">
                <a:solidFill>
                  <a:schemeClr val="accent6"/>
                </a:solidFill>
              </a:rPr>
              <a:t> </a:t>
            </a:r>
            <a:r>
              <a:rPr lang="en-US" sz="2800" dirty="0" err="1">
                <a:solidFill>
                  <a:schemeClr val="accent6"/>
                </a:solidFill>
              </a:rPr>
              <a:t>modulado</a:t>
            </a:r>
            <a:endParaRPr lang="en-US" sz="2800" dirty="0">
              <a:solidFill>
                <a:schemeClr val="accent6"/>
              </a:solidFill>
            </a:endParaRP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B6EC0C8-BE31-CD10-B5E4-DAC4A0CCBEF4}"/>
              </a:ext>
            </a:extLst>
          </p:cNvPr>
          <p:cNvGrpSpPr/>
          <p:nvPr/>
        </p:nvGrpSpPr>
        <p:grpSpPr>
          <a:xfrm>
            <a:off x="4553611" y="2753283"/>
            <a:ext cx="3084778" cy="1600198"/>
            <a:chOff x="4042052" y="3801978"/>
            <a:chExt cx="3084778" cy="1600198"/>
          </a:xfrm>
        </p:grpSpPr>
        <p:cxnSp>
          <p:nvCxnSpPr>
            <p:cNvPr id="7" name="Conector de seta reta 6"/>
            <p:cNvCxnSpPr/>
            <p:nvPr/>
          </p:nvCxnSpPr>
          <p:spPr bwMode="auto">
            <a:xfrm>
              <a:off x="4170997" y="5053261"/>
              <a:ext cx="673769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8" name="Retângulo 7"/>
            <p:cNvSpPr/>
            <p:nvPr/>
          </p:nvSpPr>
          <p:spPr bwMode="auto">
            <a:xfrm>
              <a:off x="4844766" y="4788566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4042052" y="4584030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m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pt-BR" i="1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dirty="0">
                  <a:solidFill>
                    <a:srgbClr val="063DE8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cxnSp>
          <p:nvCxnSpPr>
            <p:cNvPr id="10" name="Conector de seta reta 9"/>
            <p:cNvCxnSpPr/>
            <p:nvPr/>
          </p:nvCxnSpPr>
          <p:spPr bwMode="auto">
            <a:xfrm>
              <a:off x="6453061" y="5049245"/>
              <a:ext cx="673769" cy="1588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1" name="CaixaDeTexto 10"/>
            <p:cNvSpPr txBox="1"/>
            <p:nvPr/>
          </p:nvSpPr>
          <p:spPr>
            <a:xfrm>
              <a:off x="6552695" y="4628142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i="1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pt-BR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(</a:t>
              </a:r>
              <a:r>
                <a:rPr lang="pt-BR" i="1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pt-BR" dirty="0">
                  <a:solidFill>
                    <a:schemeClr val="accent6"/>
                  </a:solidFill>
                  <a:latin typeface="Times New Roman" pitchFamily="18" charset="0"/>
                  <a:cs typeface="Times New Roman" pitchFamily="18" charset="0"/>
                </a:rPr>
                <a:t>)</a:t>
              </a:r>
            </a:p>
          </p:txBody>
        </p:sp>
        <p:cxnSp>
          <p:nvCxnSpPr>
            <p:cNvPr id="15" name="Conector de seta reta 14"/>
            <p:cNvCxnSpPr/>
            <p:nvPr/>
          </p:nvCxnSpPr>
          <p:spPr bwMode="auto">
            <a:xfrm rot="16200000" flipH="1">
              <a:off x="5356065" y="4505826"/>
              <a:ext cx="589551" cy="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7" name="CaixaDeTexto 16"/>
            <p:cNvSpPr txBox="1"/>
            <p:nvPr/>
          </p:nvSpPr>
          <p:spPr>
            <a:xfrm>
              <a:off x="5413576" y="3801978"/>
              <a:ext cx="5052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>
                  <a:latin typeface="Times New Roman" pitchFamily="18" charset="0"/>
                </a:rPr>
                <a:t>c</a:t>
              </a:r>
              <a:r>
                <a:rPr lang="en-US" dirty="0">
                  <a:latin typeface="Times New Roman" pitchFamily="18" charset="0"/>
                </a:rPr>
                <a:t>(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dirty="0">
                  <a:latin typeface="Times New Roman" pitchFamily="18" charset="0"/>
                </a:rPr>
                <a:t>)</a:t>
              </a:r>
              <a:endParaRPr lang="pt-BR" dirty="0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08E1F702-640B-6C08-9362-15AE5EED20C2}"/>
                  </a:ext>
                </a:extLst>
              </p:cNvPr>
              <p:cNvSpPr txBox="1"/>
              <p:nvPr/>
            </p:nvSpPr>
            <p:spPr bwMode="auto">
              <a:xfrm>
                <a:off x="1904999" y="4634079"/>
                <a:ext cx="9339943" cy="927100"/>
              </a:xfrm>
              <a:prstGeom prst="rect">
                <a:avLst/>
              </a:prstGeom>
              <a:solidFill>
                <a:srgbClr val="FFFFCC"/>
              </a:solidFill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pt-BR" sz="36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6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36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pt-BR" sz="3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3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3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36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pt-BR" sz="3600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pt-BR" sz="3600" b="0" i="0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r>
                                        <a:rPr lang="pt-BR" sz="3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pt-BR" sz="3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3600" b="0" i="1" smtClean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pt-BR" sz="36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36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3600" dirty="0"/>
              </a:p>
            </p:txBody>
          </p:sp>
        </mc:Choice>
        <mc:Fallback>
          <p:sp>
            <p:nvSpPr>
              <p:cNvPr id="5" name="Object 3">
                <a:extLst>
                  <a:ext uri="{FF2B5EF4-FFF2-40B4-BE49-F238E27FC236}">
                    <a16:creationId xmlns:a16="http://schemas.microsoft.com/office/drawing/2014/main" id="{08E1F702-640B-6C08-9362-15AE5EED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4999" y="4634079"/>
                <a:ext cx="9339943" cy="9271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D6C4E7-8AB4-B4DB-7FD0-E74BD57F09A7}"/>
                  </a:ext>
                </a:extLst>
              </p:cNvPr>
              <p:cNvSpPr txBox="1"/>
              <p:nvPr/>
            </p:nvSpPr>
            <p:spPr>
              <a:xfrm>
                <a:off x="3836961" y="5804179"/>
                <a:ext cx="5689186" cy="5577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sz="28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 são função de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8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D6C4E7-8AB4-B4DB-7FD0-E74BD57F0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6961" y="5804179"/>
                <a:ext cx="5689186" cy="557717"/>
              </a:xfrm>
              <a:prstGeom prst="rect">
                <a:avLst/>
              </a:prstGeom>
              <a:blipFill>
                <a:blip r:embed="rId3"/>
                <a:stretch>
                  <a:fillRect t="-9783" b="-239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14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00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32654-21B0-7D0C-9ED2-32FDF07F3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  <a:br>
              <a:rPr lang="pt-BR" dirty="0"/>
            </a:br>
            <a:r>
              <a:rPr lang="pt-BR" dirty="0"/>
              <a:t>Exemplos</a:t>
            </a:r>
          </a:p>
        </p:txBody>
      </p:sp>
      <p:grpSp>
        <p:nvGrpSpPr>
          <p:cNvPr id="107523" name="Group 3"/>
          <p:cNvGrpSpPr>
            <a:grpSpLocks/>
          </p:cNvGrpSpPr>
          <p:nvPr/>
        </p:nvGrpSpPr>
        <p:grpSpPr bwMode="auto">
          <a:xfrm>
            <a:off x="1830387" y="1118339"/>
            <a:ext cx="8531225" cy="1323975"/>
            <a:chOff x="190" y="604"/>
            <a:chExt cx="5374" cy="834"/>
          </a:xfrm>
        </p:grpSpPr>
        <p:graphicFrame>
          <p:nvGraphicFramePr>
            <p:cNvPr id="107524" name="Object 4"/>
            <p:cNvGraphicFramePr>
              <a:graphicFrameLocks noChangeAspect="1"/>
            </p:cNvGraphicFramePr>
            <p:nvPr/>
          </p:nvGraphicFramePr>
          <p:xfrm>
            <a:off x="380" y="604"/>
            <a:ext cx="5184" cy="8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2" imgW="8077680" imgH="1510200" progId="Excel.Sheet.8">
                    <p:embed/>
                  </p:oleObj>
                </mc:Choice>
                <mc:Fallback>
                  <p:oleObj name="Chart" r:id="rId2" imgW="8077680" imgH="1510200" progId="Excel.Sheet.8">
                    <p:embed/>
                    <p:pic>
                      <p:nvPicPr>
                        <p:cNvPr id="10752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" y="604"/>
                          <a:ext cx="5184" cy="8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25" name="Text Box 5"/>
            <p:cNvSpPr txBox="1">
              <a:spLocks noChangeArrowheads="1"/>
            </p:cNvSpPr>
            <p:nvPr/>
          </p:nvSpPr>
          <p:spPr bwMode="auto">
            <a:xfrm rot="16200000">
              <a:off x="-23" y="915"/>
              <a:ext cx="639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/>
                <a:t>Portadora</a:t>
              </a:r>
            </a:p>
          </p:txBody>
        </p:sp>
      </p:grpSp>
      <p:grpSp>
        <p:nvGrpSpPr>
          <p:cNvPr id="107526" name="Group 6"/>
          <p:cNvGrpSpPr>
            <a:grpSpLocks/>
          </p:cNvGrpSpPr>
          <p:nvPr/>
        </p:nvGrpSpPr>
        <p:grpSpPr bwMode="auto">
          <a:xfrm>
            <a:off x="1779588" y="2402628"/>
            <a:ext cx="8604251" cy="1547813"/>
            <a:chOff x="158" y="1413"/>
            <a:chExt cx="5420" cy="975"/>
          </a:xfrm>
        </p:grpSpPr>
        <p:graphicFrame>
          <p:nvGraphicFramePr>
            <p:cNvPr id="107527" name="Object 7"/>
            <p:cNvGraphicFramePr>
              <a:graphicFrameLocks noChangeAspect="1"/>
            </p:cNvGraphicFramePr>
            <p:nvPr/>
          </p:nvGraphicFramePr>
          <p:xfrm>
            <a:off x="388" y="1523"/>
            <a:ext cx="5190" cy="7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4" imgW="8229960" imgH="1519560" progId="Excel.Sheet.8">
                    <p:embed/>
                  </p:oleObj>
                </mc:Choice>
                <mc:Fallback>
                  <p:oleObj name="Chart" r:id="rId4" imgW="8229960" imgH="1519560" progId="Excel.Sheet.8">
                    <p:embed/>
                    <p:pic>
                      <p:nvPicPr>
                        <p:cNvPr id="107527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" y="1523"/>
                          <a:ext cx="5190" cy="7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28" name="Text Box 8"/>
            <p:cNvSpPr txBox="1">
              <a:spLocks noChangeArrowheads="1"/>
            </p:cNvSpPr>
            <p:nvPr/>
          </p:nvSpPr>
          <p:spPr bwMode="auto">
            <a:xfrm rot="16200000">
              <a:off x="-223" y="1794"/>
              <a:ext cx="975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 dirty="0" err="1"/>
                <a:t>Sinal</a:t>
              </a:r>
              <a:r>
                <a:rPr lang="en-US" sz="1600" dirty="0"/>
                <a:t> </a:t>
              </a:r>
              <a:r>
                <a:rPr lang="en-US" sz="1600" dirty="0" err="1"/>
                <a:t>Mensagem</a:t>
              </a:r>
              <a:endParaRPr lang="en-US" sz="1600" dirty="0"/>
            </a:p>
          </p:txBody>
        </p:sp>
      </p:grpSp>
      <p:grpSp>
        <p:nvGrpSpPr>
          <p:cNvPr id="107529" name="Group 9"/>
          <p:cNvGrpSpPr>
            <a:grpSpLocks/>
          </p:cNvGrpSpPr>
          <p:nvPr/>
        </p:nvGrpSpPr>
        <p:grpSpPr bwMode="auto">
          <a:xfrm>
            <a:off x="1857375" y="3888527"/>
            <a:ext cx="8561387" cy="1265237"/>
            <a:chOff x="207" y="2349"/>
            <a:chExt cx="5393" cy="797"/>
          </a:xfrm>
        </p:grpSpPr>
        <p:graphicFrame>
          <p:nvGraphicFramePr>
            <p:cNvPr id="107530" name="Object 10"/>
            <p:cNvGraphicFramePr>
              <a:graphicFrameLocks noChangeAspect="1"/>
            </p:cNvGraphicFramePr>
            <p:nvPr/>
          </p:nvGraphicFramePr>
          <p:xfrm>
            <a:off x="410" y="2349"/>
            <a:ext cx="5190" cy="7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6" imgW="8229960" imgH="1519560" progId="Excel.Sheet.8">
                    <p:embed/>
                  </p:oleObj>
                </mc:Choice>
                <mc:Fallback>
                  <p:oleObj name="Chart" r:id="rId6" imgW="8229960" imgH="1519560" progId="Excel.Sheet.8">
                    <p:embed/>
                    <p:pic>
                      <p:nvPicPr>
                        <p:cNvPr id="10753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" y="2349"/>
                          <a:ext cx="5190" cy="7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1" name="Text Box 11"/>
            <p:cNvSpPr txBox="1">
              <a:spLocks noChangeArrowheads="1"/>
            </p:cNvSpPr>
            <p:nvPr/>
          </p:nvSpPr>
          <p:spPr bwMode="auto">
            <a:xfrm rot="16200000">
              <a:off x="25" y="2634"/>
              <a:ext cx="578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/>
                <a:t>Sinal AM</a:t>
              </a:r>
            </a:p>
          </p:txBody>
        </p:sp>
      </p:grpSp>
      <p:grpSp>
        <p:nvGrpSpPr>
          <p:cNvPr id="107532" name="Group 12"/>
          <p:cNvGrpSpPr>
            <a:grpSpLocks/>
          </p:cNvGrpSpPr>
          <p:nvPr/>
        </p:nvGrpSpPr>
        <p:grpSpPr bwMode="auto">
          <a:xfrm>
            <a:off x="1909762" y="5342676"/>
            <a:ext cx="8531225" cy="1174750"/>
            <a:chOff x="240" y="3265"/>
            <a:chExt cx="5374" cy="740"/>
          </a:xfrm>
        </p:grpSpPr>
        <p:graphicFrame>
          <p:nvGraphicFramePr>
            <p:cNvPr id="107533" name="Object 13"/>
            <p:cNvGraphicFramePr>
              <a:graphicFrameLocks noChangeAspect="1"/>
            </p:cNvGraphicFramePr>
            <p:nvPr/>
          </p:nvGraphicFramePr>
          <p:xfrm>
            <a:off x="424" y="3265"/>
            <a:ext cx="5190" cy="7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hart" r:id="rId8" imgW="8229960" imgH="1519560" progId="Excel.Sheet.8">
                    <p:embed/>
                  </p:oleObj>
                </mc:Choice>
                <mc:Fallback>
                  <p:oleObj name="Chart" r:id="rId8" imgW="8229960" imgH="1519560" progId="Excel.Sheet.8">
                    <p:embed/>
                    <p:pic>
                      <p:nvPicPr>
                        <p:cNvPr id="10753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" y="3265"/>
                          <a:ext cx="5190" cy="7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rgbClr val="0574E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7534" name="Text Box 14"/>
            <p:cNvSpPr txBox="1">
              <a:spLocks noChangeArrowheads="1"/>
            </p:cNvSpPr>
            <p:nvPr/>
          </p:nvSpPr>
          <p:spPr bwMode="auto">
            <a:xfrm rot="16200000">
              <a:off x="65" y="3527"/>
              <a:ext cx="563" cy="213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600"/>
                <a:t>Sinal FM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986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0BAB8-8279-5085-7CBC-708FE068A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Analógica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2CEB320-40E8-0D0E-6A4C-CE8DE4A72874}"/>
              </a:ext>
            </a:extLst>
          </p:cNvPr>
          <p:cNvSpPr txBox="1">
            <a:spLocks noChangeArrowheads="1"/>
          </p:cNvSpPr>
          <p:nvPr/>
        </p:nvSpPr>
        <p:spPr>
          <a:xfrm>
            <a:off x="1374773" y="1216868"/>
            <a:ext cx="8299450" cy="5181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Converte um sinal-mensagem analógico de banda básica em um sinal analógico de alta frequência em banda passante</a:t>
            </a:r>
          </a:p>
          <a:p>
            <a:endParaRPr lang="en-US"/>
          </a:p>
          <a:p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5E88EE7-EBC5-A1D4-E723-7A492443B4ED}"/>
              </a:ext>
            </a:extLst>
          </p:cNvPr>
          <p:cNvGrpSpPr/>
          <p:nvPr/>
        </p:nvGrpSpPr>
        <p:grpSpPr>
          <a:xfrm>
            <a:off x="1212349" y="2351690"/>
            <a:ext cx="8708855" cy="3327057"/>
            <a:chOff x="1754609" y="2181569"/>
            <a:chExt cx="8708855" cy="332705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A51DFB5-4102-9AA7-CF05-724BEEE22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989" y="3980781"/>
              <a:ext cx="1603375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Sinal-mensagem</a:t>
              </a:r>
            </a:p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de </a:t>
              </a:r>
              <a:r>
                <a:rPr lang="pt-BR" u="sng" dirty="0">
                  <a:solidFill>
                    <a:srgbClr val="0000FF"/>
                  </a:solidFill>
                </a:rPr>
                <a:t>banda básica</a:t>
              </a:r>
              <a:endParaRPr lang="pt-BR" dirty="0">
                <a:solidFill>
                  <a:srgbClr val="0000FF"/>
                </a:solidFill>
              </a:endParaRP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0E8A9137-E31C-9BE5-F2D7-E63BC34BE2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904830" y="2863523"/>
              <a:ext cx="661737" cy="12035"/>
            </a:xfrm>
            <a:prstGeom prst="line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517CE396-B927-B6D3-185D-25E5ACC3B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588" y="2181569"/>
              <a:ext cx="1676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portadora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F58A2EBD-DD1E-602C-2EF7-55EF991430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950" y="4878388"/>
              <a:ext cx="1479550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 modulado</a:t>
              </a:r>
            </a:p>
            <a:p>
              <a:pPr algn="ctr">
                <a:spcBef>
                  <a:spcPct val="0"/>
                </a:spcBef>
              </a:pPr>
              <a:r>
                <a:rPr lang="pt-BR" u="sng" dirty="0">
                  <a:solidFill>
                    <a:srgbClr val="0000FF"/>
                  </a:solidFill>
                </a:rPr>
                <a:t>passa-faixa</a:t>
              </a:r>
              <a:endParaRPr lang="pt-BR" dirty="0">
                <a:solidFill>
                  <a:srgbClr val="0000FF"/>
                </a:solidFill>
              </a:endParaRPr>
            </a:p>
          </p:txBody>
        </p:sp>
        <p:cxnSp>
          <p:nvCxnSpPr>
            <p:cNvPr id="9" name="AutoShape 12">
              <a:extLst>
                <a:ext uri="{FF2B5EF4-FFF2-40B4-BE49-F238E27FC236}">
                  <a16:creationId xmlns:a16="http://schemas.microsoft.com/office/drawing/2014/main" id="{5AD37014-89C4-0221-9CDE-8F6D926C5A3C}"/>
                </a:ext>
              </a:extLst>
            </p:cNvPr>
            <p:cNvCxnSpPr>
              <a:cxnSpLocks noChangeShapeType="1"/>
              <a:endCxn id="14" idx="1"/>
            </p:cNvCxnSpPr>
            <p:nvPr/>
          </p:nvCxnSpPr>
          <p:spPr bwMode="auto">
            <a:xfrm flipV="1">
              <a:off x="4050610" y="3531264"/>
              <a:ext cx="445217" cy="601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10" name="AutoShape 13">
              <a:extLst>
                <a:ext uri="{FF2B5EF4-FFF2-40B4-BE49-F238E27FC236}">
                  <a16:creationId xmlns:a16="http://schemas.microsoft.com/office/drawing/2014/main" id="{9D2D0B08-C676-9412-129C-A60B1CE0A2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56136" y="3561345"/>
              <a:ext cx="372979" cy="158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grpSp>
          <p:nvGrpSpPr>
            <p:cNvPr id="11" name="Group 15">
              <a:extLst>
                <a:ext uri="{FF2B5EF4-FFF2-40B4-BE49-F238E27FC236}">
                  <a16:creationId xmlns:a16="http://schemas.microsoft.com/office/drawing/2014/main" id="{97D9C4A2-DF64-B114-223A-C72C7AC5E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54609" y="2995879"/>
              <a:ext cx="2392279" cy="837942"/>
              <a:chOff x="0" y="1517"/>
              <a:chExt cx="1945" cy="799"/>
            </a:xfrm>
          </p:grpSpPr>
          <p:sp>
            <p:nvSpPr>
              <p:cNvPr id="45" name="Freeform 16">
                <a:extLst>
                  <a:ext uri="{FF2B5EF4-FFF2-40B4-BE49-F238E27FC236}">
                    <a16:creationId xmlns:a16="http://schemas.microsoft.com/office/drawing/2014/main" id="{28678DCE-EE86-1175-3016-EED3CE54EF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0" y="1687"/>
                <a:ext cx="785" cy="445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solidFill>
                <a:srgbClr val="FFCCCC"/>
              </a:solidFill>
              <a:ln w="38100" cmpd="sng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46" name="Line 17">
                <a:extLst>
                  <a:ext uri="{FF2B5EF4-FFF2-40B4-BE49-F238E27FC236}">
                    <a16:creationId xmlns:a16="http://schemas.microsoft.com/office/drawing/2014/main" id="{D301964D-DBC1-E5D0-C411-8C4010341C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0" y="2130"/>
                <a:ext cx="194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47" name="Text Box 18">
                <a:extLst>
                  <a:ext uri="{FF2B5EF4-FFF2-40B4-BE49-F238E27FC236}">
                    <a16:creationId xmlns:a16="http://schemas.microsoft.com/office/drawing/2014/main" id="{09B68EF1-EC52-A8DD-0539-8BEB76983D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3" y="2143"/>
                <a:ext cx="217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100">
                    <a:solidFill>
                      <a:srgbClr val="0000FF"/>
                    </a:solidFill>
                    <a:latin typeface="Times New Roman" pitchFamily="18" charset="0"/>
                    <a:sym typeface="Symbol" pitchFamily="18" charset="2"/>
                  </a:rPr>
                  <a:t></a:t>
                </a:r>
                <a:endParaRPr lang="pt-BR" sz="11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8" name="Line 19">
                <a:extLst>
                  <a:ext uri="{FF2B5EF4-FFF2-40B4-BE49-F238E27FC236}">
                    <a16:creationId xmlns:a16="http://schemas.microsoft.com/office/drawing/2014/main" id="{05938C47-96F2-C911-01BB-8205E43DF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5" y="2122"/>
                <a:ext cx="458" cy="1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49" name="Line 20">
                <a:extLst>
                  <a:ext uri="{FF2B5EF4-FFF2-40B4-BE49-F238E27FC236}">
                    <a16:creationId xmlns:a16="http://schemas.microsoft.com/office/drawing/2014/main" id="{52A90DD9-1854-CEFD-9C73-CE6704CB8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4" y="2125"/>
                <a:ext cx="545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  <p:sp>
            <p:nvSpPr>
              <p:cNvPr id="50" name="Text Box 21">
                <a:extLst>
                  <a:ext uri="{FF2B5EF4-FFF2-40B4-BE49-F238E27FC236}">
                    <a16:creationId xmlns:a16="http://schemas.microsoft.com/office/drawing/2014/main" id="{038EBE3B-9B7D-2ECE-327D-A28B5CB50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4" y="2155"/>
                <a:ext cx="63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>
                    <a:solidFill>
                      <a:srgbClr val="0000FF"/>
                    </a:solidFill>
                    <a:latin typeface="Times New Roman" pitchFamily="18" charset="0"/>
                  </a:rPr>
                  <a:t>0</a:t>
                </a:r>
                <a:endParaRPr lang="pt-BR" sz="11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1" name="Text Box 22">
                <a:extLst>
                  <a:ext uri="{FF2B5EF4-FFF2-40B4-BE49-F238E27FC236}">
                    <a16:creationId xmlns:a16="http://schemas.microsoft.com/office/drawing/2014/main" id="{CBF84A6F-42D4-666B-E4A6-385385D991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56" y="2155"/>
                <a:ext cx="143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 dirty="0" err="1">
                    <a:solidFill>
                      <a:srgbClr val="0000FF"/>
                    </a:solidFill>
                    <a:latin typeface="Times New Roman" pitchFamily="18" charset="0"/>
                  </a:rPr>
                  <a:t>B</a:t>
                </a:r>
                <a:r>
                  <a:rPr lang="pt-BR" sz="1100" i="1" baseline="-25000" dirty="0" err="1">
                    <a:solidFill>
                      <a:srgbClr val="0000FF"/>
                    </a:solidFill>
                    <a:latin typeface="Times New Roman" pitchFamily="18" charset="0"/>
                  </a:rPr>
                  <a:t>m</a:t>
                </a:r>
                <a:endParaRPr lang="pt-BR" sz="1100" i="1" dirty="0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2" name="Text Box 23">
                <a:extLst>
                  <a:ext uri="{FF2B5EF4-FFF2-40B4-BE49-F238E27FC236}">
                    <a16:creationId xmlns:a16="http://schemas.microsoft.com/office/drawing/2014/main" id="{B451D930-67C9-82F2-A20A-16CD81894F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" y="2155"/>
                <a:ext cx="192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>
                    <a:solidFill>
                      <a:srgbClr val="0000FF"/>
                    </a:solidFill>
                    <a:latin typeface="Times New Roman" pitchFamily="18" charset="0"/>
                  </a:rPr>
                  <a:t>-B</a:t>
                </a:r>
                <a:r>
                  <a:rPr lang="pt-BR" sz="110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m</a:t>
                </a:r>
                <a:endParaRPr lang="pt-BR" sz="110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3" name="Text Box 24">
                <a:extLst>
                  <a:ext uri="{FF2B5EF4-FFF2-40B4-BE49-F238E27FC236}">
                    <a16:creationId xmlns:a16="http://schemas.microsoft.com/office/drawing/2014/main" id="{BE090F95-FF3D-7C22-3CED-176A9F2768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7" y="1517"/>
                <a:ext cx="270" cy="1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100" i="1" dirty="0">
                    <a:solidFill>
                      <a:srgbClr val="0000FF"/>
                    </a:solidFill>
                    <a:latin typeface="Times New Roman" pitchFamily="18" charset="0"/>
                  </a:rPr>
                  <a:t>M</a:t>
                </a:r>
                <a:r>
                  <a:rPr lang="pt-BR" sz="1100" dirty="0">
                    <a:solidFill>
                      <a:srgbClr val="0000FF"/>
                    </a:solidFill>
                    <a:latin typeface="Times New Roman" pitchFamily="18" charset="0"/>
                  </a:rPr>
                  <a:t>( </a:t>
                </a:r>
                <a:r>
                  <a:rPr lang="pt-BR" sz="1100" i="1" dirty="0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100" dirty="0">
                    <a:solidFill>
                      <a:srgbClr val="0000FF"/>
                    </a:solidFill>
                    <a:latin typeface="Times New Roman" pitchFamily="18" charset="0"/>
                  </a:rPr>
                  <a:t>)</a:t>
                </a:r>
                <a:r>
                  <a:rPr lang="pt-BR" sz="1100" i="1" dirty="0">
                    <a:solidFill>
                      <a:srgbClr val="0000FF"/>
                    </a:solidFill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54" name="Line 25">
                <a:extLst>
                  <a:ext uri="{FF2B5EF4-FFF2-40B4-BE49-F238E27FC236}">
                    <a16:creationId xmlns:a16="http://schemas.microsoft.com/office/drawing/2014/main" id="{7520F513-0506-B4AD-F6A4-0D64C3875D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10" y="1543"/>
                <a:ext cx="2" cy="6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600"/>
              </a:p>
            </p:txBody>
          </p:sp>
        </p:grp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25C08455-DA88-04D1-8891-44CE1B2D87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8925" y="4291034"/>
              <a:ext cx="3398838" cy="336550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pt-BR" sz="1600" dirty="0">
                  <a:solidFill>
                    <a:srgbClr val="0000FF"/>
                  </a:solidFill>
                  <a:latin typeface="Arial" pitchFamily="34" charset="0"/>
                </a:rPr>
                <a:t>Na prática, geralmente</a:t>
              </a:r>
              <a:r>
                <a:rPr lang="pt-BR" sz="1600" dirty="0">
                  <a:solidFill>
                    <a:srgbClr val="0000FF"/>
                  </a:solidFill>
                  <a:latin typeface="Times New Roman" pitchFamily="18" charset="0"/>
                </a:rPr>
                <a:t>   </a:t>
              </a:r>
              <a:r>
                <a:rPr lang="pt-BR" sz="1600" i="1" dirty="0" err="1">
                  <a:solidFill>
                    <a:srgbClr val="0000FF"/>
                  </a:solidFill>
                  <a:latin typeface="Times New Roman" pitchFamily="18" charset="0"/>
                </a:rPr>
                <a:t>f</a:t>
              </a:r>
              <a:r>
                <a:rPr lang="pt-BR" sz="1600" i="1" baseline="-25000" dirty="0" err="1">
                  <a:solidFill>
                    <a:srgbClr val="0000FF"/>
                  </a:solidFill>
                  <a:latin typeface="Times New Roman" pitchFamily="18" charset="0"/>
                </a:rPr>
                <a:t>c</a:t>
              </a:r>
              <a:r>
                <a:rPr lang="pt-BR" sz="1600" i="1" baseline="-25000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pt-BR" sz="1600" i="1" dirty="0">
                  <a:solidFill>
                    <a:srgbClr val="0000FF"/>
                  </a:solidFill>
                  <a:latin typeface="Times New Roman" pitchFamily="18" charset="0"/>
                </a:rPr>
                <a:t>&gt;&gt;</a:t>
              </a:r>
              <a:r>
                <a:rPr lang="pt-BR" sz="1600" i="1" dirty="0" err="1">
                  <a:solidFill>
                    <a:srgbClr val="0000FF"/>
                  </a:solidFill>
                  <a:latin typeface="Times New Roman" pitchFamily="18" charset="0"/>
                  <a:sym typeface="tci2" pitchFamily="2" charset="2"/>
                </a:rPr>
                <a:t>B</a:t>
              </a:r>
              <a:r>
                <a:rPr lang="pt-BR" sz="1600" i="1" baseline="-25000" dirty="0" err="1">
                  <a:solidFill>
                    <a:srgbClr val="0000FF"/>
                  </a:solidFill>
                  <a:latin typeface="Times New Roman" pitchFamily="18" charset="0"/>
                  <a:sym typeface="tci2" pitchFamily="2" charset="2"/>
                </a:rPr>
                <a:t>m</a:t>
              </a:r>
              <a:endParaRPr lang="pt-BR" sz="1600" dirty="0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grpSp>
          <p:nvGrpSpPr>
            <p:cNvPr id="13" name="Group 31">
              <a:extLst>
                <a:ext uri="{FF2B5EF4-FFF2-40B4-BE49-F238E27FC236}">
                  <a16:creationId xmlns:a16="http://schemas.microsoft.com/office/drawing/2014/main" id="{957DF24B-8BE3-A1D3-F797-A949B80531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3342" y="3031960"/>
              <a:ext cx="3920122" cy="1084062"/>
              <a:chOff x="1766" y="2371"/>
              <a:chExt cx="3994" cy="870"/>
            </a:xfrm>
          </p:grpSpPr>
          <p:sp>
            <p:nvSpPr>
              <p:cNvPr id="15" name="Text Box 32">
                <a:extLst>
                  <a:ext uri="{FF2B5EF4-FFF2-40B4-BE49-F238E27FC236}">
                    <a16:creationId xmlns:a16="http://schemas.microsoft.com/office/drawing/2014/main" id="{E7F6F0DE-E024-FDA9-B635-F98C9113E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4" y="2922"/>
                <a:ext cx="123" cy="130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-f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Text Box 33">
                <a:extLst>
                  <a:ext uri="{FF2B5EF4-FFF2-40B4-BE49-F238E27FC236}">
                    <a16:creationId xmlns:a16="http://schemas.microsoft.com/office/drawing/2014/main" id="{46C8C174-006A-4BB8-25E6-4863E2D906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9" y="2928"/>
                <a:ext cx="241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  <a:sym typeface="Symbol" pitchFamily="18" charset="2"/>
                  </a:rPr>
                  <a:t>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Text Box 34">
                <a:extLst>
                  <a:ext uri="{FF2B5EF4-FFF2-40B4-BE49-F238E27FC236}">
                    <a16:creationId xmlns:a16="http://schemas.microsoft.com/office/drawing/2014/main" id="{38357EB2-EC90-2FD6-C25E-9FF9E72156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2" y="2928"/>
                <a:ext cx="82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8" name="Line 35">
                <a:extLst>
                  <a:ext uri="{FF2B5EF4-FFF2-40B4-BE49-F238E27FC236}">
                    <a16:creationId xmlns:a16="http://schemas.microsoft.com/office/drawing/2014/main" id="{3B525F4A-25BC-82DC-6187-ED9156BA89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8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19" name="Text Box 36">
                <a:extLst>
                  <a:ext uri="{FF2B5EF4-FFF2-40B4-BE49-F238E27FC236}">
                    <a16:creationId xmlns:a16="http://schemas.microsoft.com/office/drawing/2014/main" id="{02371206-6A23-01D1-BBDC-584B3836A1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" y="2928"/>
                <a:ext cx="63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0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0" name="Text Box 37">
                <a:extLst>
                  <a:ext uri="{FF2B5EF4-FFF2-40B4-BE49-F238E27FC236}">
                    <a16:creationId xmlns:a16="http://schemas.microsoft.com/office/drawing/2014/main" id="{5F8B1F63-1D65-61C7-4699-E272C7F3D0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2371"/>
                <a:ext cx="270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S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( 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)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21" name="Line 38">
                <a:extLst>
                  <a:ext uri="{FF2B5EF4-FFF2-40B4-BE49-F238E27FC236}">
                    <a16:creationId xmlns:a16="http://schemas.microsoft.com/office/drawing/2014/main" id="{9716C273-7CDA-02F0-E176-0D3121B161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2" name="Line 39">
                <a:extLst>
                  <a:ext uri="{FF2B5EF4-FFF2-40B4-BE49-F238E27FC236}">
                    <a16:creationId xmlns:a16="http://schemas.microsoft.com/office/drawing/2014/main" id="{71EAC1F1-5465-C261-37BD-AF4508190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890"/>
                <a:ext cx="105" cy="2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3" name="Line 40">
                <a:extLst>
                  <a:ext uri="{FF2B5EF4-FFF2-40B4-BE49-F238E27FC236}">
                    <a16:creationId xmlns:a16="http://schemas.microsoft.com/office/drawing/2014/main" id="{4199CB42-88F5-F103-5908-60A3308EC3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5" y="2882"/>
                <a:ext cx="125" cy="6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4" name="Line 41">
                <a:extLst>
                  <a:ext uri="{FF2B5EF4-FFF2-40B4-BE49-F238E27FC236}">
                    <a16:creationId xmlns:a16="http://schemas.microsoft.com/office/drawing/2014/main" id="{0E1157A7-A1A5-E2BB-1BD3-CE7D4E83D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5" name="Line 42">
                <a:extLst>
                  <a:ext uri="{FF2B5EF4-FFF2-40B4-BE49-F238E27FC236}">
                    <a16:creationId xmlns:a16="http://schemas.microsoft.com/office/drawing/2014/main" id="{76AF88AE-93A5-6AAF-A15B-8D1CFF529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6" name="Line 43">
                <a:extLst>
                  <a:ext uri="{FF2B5EF4-FFF2-40B4-BE49-F238E27FC236}">
                    <a16:creationId xmlns:a16="http://schemas.microsoft.com/office/drawing/2014/main" id="{197405AC-253A-43D5-7AC6-194F89F94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5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7" name="Line 44">
                <a:extLst>
                  <a:ext uri="{FF2B5EF4-FFF2-40B4-BE49-F238E27FC236}">
                    <a16:creationId xmlns:a16="http://schemas.microsoft.com/office/drawing/2014/main" id="{3D1666FB-BCAB-8A50-6766-07124D5E5E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8" name="Freeform 45">
                <a:extLst>
                  <a:ext uri="{FF2B5EF4-FFF2-40B4-BE49-F238E27FC236}">
                    <a16:creationId xmlns:a16="http://schemas.microsoft.com/office/drawing/2014/main" id="{C495E60C-D28A-9D42-B4ED-65A32695A1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8" y="2483"/>
                <a:ext cx="1204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9" name="Line 46">
                <a:extLst>
                  <a:ext uri="{FF2B5EF4-FFF2-40B4-BE49-F238E27FC236}">
                    <a16:creationId xmlns:a16="http://schemas.microsoft.com/office/drawing/2014/main" id="{9A2951C1-636A-383E-F8A0-8BB2EC2F4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73" y="2860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grpSp>
            <p:nvGrpSpPr>
              <p:cNvPr id="30" name="Group 47">
                <a:extLst>
                  <a:ext uri="{FF2B5EF4-FFF2-40B4-BE49-F238E27FC236}">
                    <a16:creationId xmlns:a16="http://schemas.microsoft.com/office/drawing/2014/main" id="{FA169B7A-730E-9F7C-ED90-F63A48E7B8D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5" y="3111"/>
                <a:ext cx="1188" cy="130"/>
                <a:chOff x="1865" y="3111"/>
                <a:chExt cx="1188" cy="130"/>
              </a:xfrm>
            </p:grpSpPr>
            <p:sp>
              <p:nvSpPr>
                <p:cNvPr id="42" name="Line 48">
                  <a:extLst>
                    <a:ext uri="{FF2B5EF4-FFF2-40B4-BE49-F238E27FC236}">
                      <a16:creationId xmlns:a16="http://schemas.microsoft.com/office/drawing/2014/main" id="{AE227CBE-8595-3469-501C-01C6A25FEF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43" name="Text Box 49">
                  <a:extLst>
                    <a:ext uri="{FF2B5EF4-FFF2-40B4-BE49-F238E27FC236}">
                      <a16:creationId xmlns:a16="http://schemas.microsoft.com/office/drawing/2014/main" id="{0894BE32-EE7F-D80B-A17D-3F4F28C41A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" name="Line 50">
                  <a:extLst>
                    <a:ext uri="{FF2B5EF4-FFF2-40B4-BE49-F238E27FC236}">
                      <a16:creationId xmlns:a16="http://schemas.microsoft.com/office/drawing/2014/main" id="{A1E35E05-4329-25BF-DB02-0E6576F7367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grpSp>
            <p:nvGrpSpPr>
              <p:cNvPr id="31" name="Group 51">
                <a:extLst>
                  <a:ext uri="{FF2B5EF4-FFF2-40B4-BE49-F238E27FC236}">
                    <a16:creationId xmlns:a16="http://schemas.microsoft.com/office/drawing/2014/main" id="{97CF8C90-CB13-0243-75B2-9442D5E6DC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3111"/>
                <a:ext cx="1188" cy="130"/>
                <a:chOff x="1865" y="3111"/>
                <a:chExt cx="1188" cy="130"/>
              </a:xfrm>
            </p:grpSpPr>
            <p:sp>
              <p:nvSpPr>
                <p:cNvPr id="39" name="Line 52">
                  <a:extLst>
                    <a:ext uri="{FF2B5EF4-FFF2-40B4-BE49-F238E27FC236}">
                      <a16:creationId xmlns:a16="http://schemas.microsoft.com/office/drawing/2014/main" id="{13BA2D94-1385-4D73-BAE7-44CAC16B71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40" name="Text Box 53">
                  <a:extLst>
                    <a:ext uri="{FF2B5EF4-FFF2-40B4-BE49-F238E27FC236}">
                      <a16:creationId xmlns:a16="http://schemas.microsoft.com/office/drawing/2014/main" id="{EBCF8739-154F-3616-1785-C2D9B4776E1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1" name="Line 54">
                  <a:extLst>
                    <a:ext uri="{FF2B5EF4-FFF2-40B4-BE49-F238E27FC236}">
                      <a16:creationId xmlns:a16="http://schemas.microsoft.com/office/drawing/2014/main" id="{47EA3E77-3BC6-C957-34FA-889DFE61D3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sp>
            <p:nvSpPr>
              <p:cNvPr id="32" name="Freeform 55">
                <a:extLst>
                  <a:ext uri="{FF2B5EF4-FFF2-40B4-BE49-F238E27FC236}">
                    <a16:creationId xmlns:a16="http://schemas.microsoft.com/office/drawing/2014/main" id="{FF6F9F2E-AE0D-A3D7-A388-1E89F2E57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2859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3" name="Freeform 56">
                <a:extLst>
                  <a:ext uri="{FF2B5EF4-FFF2-40B4-BE49-F238E27FC236}">
                    <a16:creationId xmlns:a16="http://schemas.microsoft.com/office/drawing/2014/main" id="{2D4F3493-BC4B-0CB5-26BD-535EE18AD9A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679" y="2861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4" name="Line 57">
                <a:extLst>
                  <a:ext uri="{FF2B5EF4-FFF2-40B4-BE49-F238E27FC236}">
                    <a16:creationId xmlns:a16="http://schemas.microsoft.com/office/drawing/2014/main" id="{2E3DC8A3-84FF-667F-61EF-E0E4325FDB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7" y="2394"/>
                <a:ext cx="0" cy="5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5" name="Line 58">
                <a:extLst>
                  <a:ext uri="{FF2B5EF4-FFF2-40B4-BE49-F238E27FC236}">
                    <a16:creationId xmlns:a16="http://schemas.microsoft.com/office/drawing/2014/main" id="{DF4D226F-BB8D-2886-30A2-8745F8CD6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2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6" name="Freeform 59">
                <a:extLst>
                  <a:ext uri="{FF2B5EF4-FFF2-40B4-BE49-F238E27FC236}">
                    <a16:creationId xmlns:a16="http://schemas.microsoft.com/office/drawing/2014/main" id="{76DF52D0-6165-1A49-2372-739F1DB63E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483"/>
                <a:ext cx="1203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7" name="Line 60">
                <a:extLst>
                  <a:ext uri="{FF2B5EF4-FFF2-40B4-BE49-F238E27FC236}">
                    <a16:creationId xmlns:a16="http://schemas.microsoft.com/office/drawing/2014/main" id="{78D46D10-6794-BA5E-EC6D-CFA06E7A5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6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8" name="Line 61">
                <a:extLst>
                  <a:ext uri="{FF2B5EF4-FFF2-40B4-BE49-F238E27FC236}">
                    <a16:creationId xmlns:a16="http://schemas.microsoft.com/office/drawing/2014/main" id="{4F8B5EF6-2C17-1817-05ED-C5D6CD1D94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2" y="2854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</p:grp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7692DEE6-25EE-811B-7B1A-2ABD3A22A68E}"/>
                </a:ext>
              </a:extLst>
            </p:cNvPr>
            <p:cNvSpPr/>
            <p:nvPr/>
          </p:nvSpPr>
          <p:spPr bwMode="auto">
            <a:xfrm>
              <a:off x="4495827" y="3224459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15152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C5AB4C-B275-1F10-F9CC-4ECE7D53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Digital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CB64F45-3D00-F9F0-A1D0-C0609560AA73}"/>
              </a:ext>
            </a:extLst>
          </p:cNvPr>
          <p:cNvSpPr txBox="1">
            <a:spLocks noChangeArrowheads="1"/>
          </p:cNvSpPr>
          <p:nvPr/>
        </p:nvSpPr>
        <p:spPr>
          <a:xfrm>
            <a:off x="941550" y="1153900"/>
            <a:ext cx="10412249" cy="5181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Converte</a:t>
            </a:r>
            <a:r>
              <a:rPr lang="en-US" dirty="0"/>
              <a:t> um </a:t>
            </a:r>
            <a:r>
              <a:rPr lang="en-US" dirty="0" err="1"/>
              <a:t>sinal-mensagem</a:t>
            </a:r>
            <a:r>
              <a:rPr lang="en-US" dirty="0"/>
              <a:t> digital (</a:t>
            </a:r>
            <a:r>
              <a:rPr lang="en-US" dirty="0" err="1"/>
              <a:t>sequência</a:t>
            </a:r>
            <a:r>
              <a:rPr lang="en-US" dirty="0"/>
              <a:t> de bits) </a:t>
            </a:r>
            <a:r>
              <a:rPr lang="en-US" dirty="0" err="1"/>
              <a:t>em</a:t>
            </a:r>
            <a:r>
              <a:rPr lang="en-US" dirty="0"/>
              <a:t> um </a:t>
            </a:r>
            <a:r>
              <a:rPr lang="en-US" dirty="0" err="1"/>
              <a:t>sinal</a:t>
            </a:r>
            <a:r>
              <a:rPr lang="en-US" dirty="0"/>
              <a:t> </a:t>
            </a:r>
            <a:r>
              <a:rPr lang="en-US" dirty="0" err="1"/>
              <a:t>analógico</a:t>
            </a:r>
            <a:r>
              <a:rPr lang="en-US" dirty="0"/>
              <a:t> de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frequência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banda</a:t>
            </a:r>
            <a:r>
              <a:rPr lang="en-US" dirty="0"/>
              <a:t> </a:t>
            </a:r>
            <a:r>
              <a:rPr lang="en-US" dirty="0" err="1"/>
              <a:t>passante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4831C6BB-DCF8-AF48-5322-3F4DAB02AFCF}"/>
              </a:ext>
            </a:extLst>
          </p:cNvPr>
          <p:cNvGrpSpPr/>
          <p:nvPr/>
        </p:nvGrpSpPr>
        <p:grpSpPr>
          <a:xfrm>
            <a:off x="1666072" y="2424083"/>
            <a:ext cx="8563475" cy="2641233"/>
            <a:chOff x="1899989" y="2181569"/>
            <a:chExt cx="8563475" cy="264123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F6F35B-0980-0217-9186-D955A8693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989" y="3980781"/>
              <a:ext cx="1603375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Sinal-mensagem</a:t>
              </a:r>
            </a:p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digital</a:t>
              </a:r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15963DB5-5A3B-0978-684B-E7D3C4D928C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H="1" flipV="1">
              <a:off x="4904830" y="2863523"/>
              <a:ext cx="661737" cy="12035"/>
            </a:xfrm>
            <a:prstGeom prst="line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FF0A55FE-CF95-C6CD-B0BA-B21325F75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3588" y="2181569"/>
              <a:ext cx="16764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portadora</a:t>
              </a:r>
            </a:p>
          </p:txBody>
        </p:sp>
        <p:sp>
          <p:nvSpPr>
            <p:cNvPr id="8" name="Rectangle 11">
              <a:extLst>
                <a:ext uri="{FF2B5EF4-FFF2-40B4-BE49-F238E27FC236}">
                  <a16:creationId xmlns:a16="http://schemas.microsoft.com/office/drawing/2014/main" id="{F607AE66-96B3-623B-638E-12F413C3C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950" y="4192564"/>
              <a:ext cx="1479550" cy="6302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pPr algn="ctr">
                <a:spcBef>
                  <a:spcPct val="0"/>
                </a:spcBef>
              </a:pPr>
              <a:r>
                <a:rPr lang="pt-BR" dirty="0">
                  <a:solidFill>
                    <a:srgbClr val="0000FF"/>
                  </a:solidFill>
                </a:rPr>
                <a:t>Sinal modulado</a:t>
              </a:r>
            </a:p>
            <a:p>
              <a:pPr algn="ctr">
                <a:spcBef>
                  <a:spcPct val="0"/>
                </a:spcBef>
              </a:pPr>
              <a:r>
                <a:rPr lang="pt-BR" u="sng" dirty="0">
                  <a:solidFill>
                    <a:srgbClr val="0000FF"/>
                  </a:solidFill>
                </a:rPr>
                <a:t>passa-faixa</a:t>
              </a:r>
              <a:endParaRPr lang="pt-BR" dirty="0">
                <a:solidFill>
                  <a:srgbClr val="0000FF"/>
                </a:solidFill>
              </a:endParaRPr>
            </a:p>
          </p:txBody>
        </p:sp>
        <p:cxnSp>
          <p:nvCxnSpPr>
            <p:cNvPr id="9" name="AutoShape 12">
              <a:extLst>
                <a:ext uri="{FF2B5EF4-FFF2-40B4-BE49-F238E27FC236}">
                  <a16:creationId xmlns:a16="http://schemas.microsoft.com/office/drawing/2014/main" id="{E3FB3017-3A63-A0D9-D02D-EDA2140C9157}"/>
                </a:ext>
              </a:extLst>
            </p:cNvPr>
            <p:cNvCxnSpPr>
              <a:cxnSpLocks noChangeShapeType="1"/>
              <a:endCxn id="12" idx="1"/>
            </p:cNvCxnSpPr>
            <p:nvPr/>
          </p:nvCxnSpPr>
          <p:spPr bwMode="auto">
            <a:xfrm flipV="1">
              <a:off x="4050610" y="3531264"/>
              <a:ext cx="445217" cy="601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cxnSp>
          <p:nvCxnSpPr>
            <p:cNvPr id="10" name="AutoShape 13">
              <a:extLst>
                <a:ext uri="{FF2B5EF4-FFF2-40B4-BE49-F238E27FC236}">
                  <a16:creationId xmlns:a16="http://schemas.microsoft.com/office/drawing/2014/main" id="{31767E6F-0472-8B0E-EEEC-C3510BA414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56136" y="3561345"/>
              <a:ext cx="372979" cy="1588"/>
            </a:xfrm>
            <a:prstGeom prst="straightConnector1">
              <a:avLst/>
            </a:prstGeom>
            <a:noFill/>
            <a:ln w="38100">
              <a:solidFill>
                <a:srgbClr val="006699"/>
              </a:solidFill>
              <a:round/>
              <a:headEnd/>
              <a:tailEnd type="triangle" w="med" len="lg"/>
            </a:ln>
            <a:effectLst/>
          </p:spPr>
        </p:cxnSp>
        <p:grpSp>
          <p:nvGrpSpPr>
            <p:cNvPr id="11" name="Group 31">
              <a:extLst>
                <a:ext uri="{FF2B5EF4-FFF2-40B4-BE49-F238E27FC236}">
                  <a16:creationId xmlns:a16="http://schemas.microsoft.com/office/drawing/2014/main" id="{A5F3F9E1-0A5F-192D-2AE8-163D3C02BF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43342" y="3031960"/>
              <a:ext cx="3920122" cy="1084062"/>
              <a:chOff x="1766" y="2371"/>
              <a:chExt cx="3994" cy="870"/>
            </a:xfrm>
          </p:grpSpPr>
          <p:sp>
            <p:nvSpPr>
              <p:cNvPr id="14" name="Text Box 32">
                <a:extLst>
                  <a:ext uri="{FF2B5EF4-FFF2-40B4-BE49-F238E27FC236}">
                    <a16:creationId xmlns:a16="http://schemas.microsoft.com/office/drawing/2014/main" id="{DCB5B711-B1B4-2EA5-A042-059CDFDEE1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04" y="2922"/>
                <a:ext cx="123" cy="130"/>
              </a:xfrm>
              <a:prstGeom prst="rect">
                <a:avLst/>
              </a:prstGeom>
              <a:noFill/>
              <a:ln w="57150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-f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5" name="Text Box 33">
                <a:extLst>
                  <a:ext uri="{FF2B5EF4-FFF2-40B4-BE49-F238E27FC236}">
                    <a16:creationId xmlns:a16="http://schemas.microsoft.com/office/drawing/2014/main" id="{233016A1-386C-073C-FC07-7E7FD7E457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9" y="2928"/>
                <a:ext cx="241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  <a:sym typeface="Symbol" pitchFamily="18" charset="2"/>
                  </a:rPr>
                  <a:t>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6" name="Text Box 34">
                <a:extLst>
                  <a:ext uri="{FF2B5EF4-FFF2-40B4-BE49-F238E27FC236}">
                    <a16:creationId xmlns:a16="http://schemas.microsoft.com/office/drawing/2014/main" id="{C02B8D17-62FE-B5D2-0FE5-297B6F3366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52" y="2928"/>
                <a:ext cx="82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</a:t>
                </a:r>
                <a:r>
                  <a:rPr lang="pt-BR" sz="1050" i="1" baseline="-25000">
                    <a:solidFill>
                      <a:srgbClr val="0000FF"/>
                    </a:solidFill>
                    <a:latin typeface="Times New Roman" pitchFamily="18" charset="0"/>
                  </a:rPr>
                  <a:t>c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7" name="Line 35">
                <a:extLst>
                  <a:ext uri="{FF2B5EF4-FFF2-40B4-BE49-F238E27FC236}">
                    <a16:creationId xmlns:a16="http://schemas.microsoft.com/office/drawing/2014/main" id="{7B656817-44BE-BA00-1E2F-8F2A97CC6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8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18" name="Text Box 36">
                <a:extLst>
                  <a:ext uri="{FF2B5EF4-FFF2-40B4-BE49-F238E27FC236}">
                    <a16:creationId xmlns:a16="http://schemas.microsoft.com/office/drawing/2014/main" id="{54424994-7BC5-56DA-4A44-CE7A44B128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9" y="2928"/>
                <a:ext cx="63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0</a:t>
                </a:r>
                <a:endParaRPr lang="pt-BR" sz="1050" i="1">
                  <a:solidFill>
                    <a:srgbClr val="0000FF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19" name="Text Box 37">
                <a:extLst>
                  <a:ext uri="{FF2B5EF4-FFF2-40B4-BE49-F238E27FC236}">
                    <a16:creationId xmlns:a16="http://schemas.microsoft.com/office/drawing/2014/main" id="{60CE49D7-61CA-9E55-A826-32B363D1FB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4" y="2371"/>
                <a:ext cx="270" cy="1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>
                <a:spAutoFit/>
              </a:bodyPr>
              <a:lstStyle/>
              <a:p>
                <a:pPr algn="ctr"/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S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( 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f </a:t>
                </a:r>
                <a:r>
                  <a:rPr lang="pt-BR" sz="1050">
                    <a:solidFill>
                      <a:srgbClr val="0000FF"/>
                    </a:solidFill>
                    <a:latin typeface="Times New Roman" pitchFamily="18" charset="0"/>
                  </a:rPr>
                  <a:t>)</a:t>
                </a:r>
                <a:r>
                  <a:rPr lang="pt-BR" sz="1050" i="1">
                    <a:solidFill>
                      <a:srgbClr val="0000FF"/>
                    </a:solidFill>
                    <a:latin typeface="Times New Roman" pitchFamily="18" charset="0"/>
                  </a:rPr>
                  <a:t>  </a:t>
                </a:r>
              </a:p>
            </p:txBody>
          </p:sp>
          <p:sp>
            <p:nvSpPr>
              <p:cNvPr id="20" name="Line 38">
                <a:extLst>
                  <a:ext uri="{FF2B5EF4-FFF2-40B4-BE49-F238E27FC236}">
                    <a16:creationId xmlns:a16="http://schemas.microsoft.com/office/drawing/2014/main" id="{01006994-9655-0E7C-F9C9-548CC6531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6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1" name="Line 39">
                <a:extLst>
                  <a:ext uri="{FF2B5EF4-FFF2-40B4-BE49-F238E27FC236}">
                    <a16:creationId xmlns:a16="http://schemas.microsoft.com/office/drawing/2014/main" id="{C5AC700E-BAC9-D034-17B8-AF50E48E4C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6" y="2890"/>
                <a:ext cx="105" cy="2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2" name="Line 40">
                <a:extLst>
                  <a:ext uri="{FF2B5EF4-FFF2-40B4-BE49-F238E27FC236}">
                    <a16:creationId xmlns:a16="http://schemas.microsoft.com/office/drawing/2014/main" id="{EF79274E-36D2-CB34-3578-EF7E01BFA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5" y="2882"/>
                <a:ext cx="125" cy="6"/>
              </a:xfrm>
              <a:prstGeom prst="line">
                <a:avLst/>
              </a:prstGeom>
              <a:noFill/>
              <a:ln w="38100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3" name="Line 41">
                <a:extLst>
                  <a:ext uri="{FF2B5EF4-FFF2-40B4-BE49-F238E27FC236}">
                    <a16:creationId xmlns:a16="http://schemas.microsoft.com/office/drawing/2014/main" id="{EDAA69D2-5686-7380-B344-50E6EC169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8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4" name="Line 42">
                <a:extLst>
                  <a:ext uri="{FF2B5EF4-FFF2-40B4-BE49-F238E27FC236}">
                    <a16:creationId xmlns:a16="http://schemas.microsoft.com/office/drawing/2014/main" id="{28BA0015-E38F-7CBB-0C57-0F24EC57CA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71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5" name="Line 43">
                <a:extLst>
                  <a:ext uri="{FF2B5EF4-FFF2-40B4-BE49-F238E27FC236}">
                    <a16:creationId xmlns:a16="http://schemas.microsoft.com/office/drawing/2014/main" id="{C6898B63-A7BB-F1D2-870E-0DB503251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5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6" name="Line 44">
                <a:extLst>
                  <a:ext uri="{FF2B5EF4-FFF2-40B4-BE49-F238E27FC236}">
                    <a16:creationId xmlns:a16="http://schemas.microsoft.com/office/drawing/2014/main" id="{F229B7CC-4FA4-5A7A-CE41-BE512BF0B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3" y="2958"/>
                <a:ext cx="0" cy="2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7" name="Freeform 45">
                <a:extLst>
                  <a:ext uri="{FF2B5EF4-FFF2-40B4-BE49-F238E27FC236}">
                    <a16:creationId xmlns:a16="http://schemas.microsoft.com/office/drawing/2014/main" id="{FA8C4920-4D91-1F41-B345-680F1D0C7E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8" y="2483"/>
                <a:ext cx="1204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28" name="Line 46">
                <a:extLst>
                  <a:ext uri="{FF2B5EF4-FFF2-40B4-BE49-F238E27FC236}">
                    <a16:creationId xmlns:a16="http://schemas.microsoft.com/office/drawing/2014/main" id="{570E2F8B-9A62-168A-AAED-9AF727619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73" y="2860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grpSp>
            <p:nvGrpSpPr>
              <p:cNvPr id="29" name="Group 47">
                <a:extLst>
                  <a:ext uri="{FF2B5EF4-FFF2-40B4-BE49-F238E27FC236}">
                    <a16:creationId xmlns:a16="http://schemas.microsoft.com/office/drawing/2014/main" id="{A86FB334-3C1B-0A93-B9C8-4AC97A0822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5" y="3111"/>
                <a:ext cx="1188" cy="130"/>
                <a:chOff x="1865" y="3111"/>
                <a:chExt cx="1188" cy="130"/>
              </a:xfrm>
            </p:grpSpPr>
            <p:sp>
              <p:nvSpPr>
                <p:cNvPr id="41" name="Line 48">
                  <a:extLst>
                    <a:ext uri="{FF2B5EF4-FFF2-40B4-BE49-F238E27FC236}">
                      <a16:creationId xmlns:a16="http://schemas.microsoft.com/office/drawing/2014/main" id="{72A80107-9F9B-2080-24F8-D1E9841614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42" name="Text Box 49">
                  <a:extLst>
                    <a:ext uri="{FF2B5EF4-FFF2-40B4-BE49-F238E27FC236}">
                      <a16:creationId xmlns:a16="http://schemas.microsoft.com/office/drawing/2014/main" id="{9B623C55-5543-75EE-F72A-A14F0AE7484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" name="Line 50">
                  <a:extLst>
                    <a:ext uri="{FF2B5EF4-FFF2-40B4-BE49-F238E27FC236}">
                      <a16:creationId xmlns:a16="http://schemas.microsoft.com/office/drawing/2014/main" id="{98A9D5D2-F672-E9F4-352D-AD3BD711A0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grpSp>
            <p:nvGrpSpPr>
              <p:cNvPr id="30" name="Group 51">
                <a:extLst>
                  <a:ext uri="{FF2B5EF4-FFF2-40B4-BE49-F238E27FC236}">
                    <a16:creationId xmlns:a16="http://schemas.microsoft.com/office/drawing/2014/main" id="{7304B043-E667-4B41-2CA9-0A3094748C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89" y="3111"/>
                <a:ext cx="1188" cy="130"/>
                <a:chOff x="1865" y="3111"/>
                <a:chExt cx="1188" cy="130"/>
              </a:xfrm>
            </p:grpSpPr>
            <p:sp>
              <p:nvSpPr>
                <p:cNvPr id="38" name="Line 52">
                  <a:extLst>
                    <a:ext uri="{FF2B5EF4-FFF2-40B4-BE49-F238E27FC236}">
                      <a16:creationId xmlns:a16="http://schemas.microsoft.com/office/drawing/2014/main" id="{11FB8C1B-0ADA-4F45-BA20-9E4E13E916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6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stealth" w="med" len="med"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  <p:sp>
              <p:nvSpPr>
                <p:cNvPr id="39" name="Text Box 53">
                  <a:extLst>
                    <a:ext uri="{FF2B5EF4-FFF2-40B4-BE49-F238E27FC236}">
                      <a16:creationId xmlns:a16="http://schemas.microsoft.com/office/drawing/2014/main" id="{2A465D8E-B2CA-874D-6FF2-E402812C054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9" y="3111"/>
                  <a:ext cx="196" cy="13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lIns="0" tIns="0" rIns="0" bIns="0">
                  <a:spAutoFit/>
                </a:bodyPr>
                <a:lstStyle/>
                <a:p>
                  <a:pPr algn="ctr"/>
                  <a:r>
                    <a:rPr lang="pt-BR" sz="1050" i="1">
                      <a:solidFill>
                        <a:srgbClr val="0000FF"/>
                      </a:solidFill>
                      <a:latin typeface="Times New Roman" pitchFamily="18" charset="0"/>
                    </a:rPr>
                    <a:t>B</a:t>
                  </a:r>
                  <a:r>
                    <a:rPr lang="pt-BR" sz="1050" i="1" baseline="-25000">
                      <a:solidFill>
                        <a:srgbClr val="0000FF"/>
                      </a:solidFill>
                      <a:latin typeface="Times New Roman" pitchFamily="18" charset="0"/>
                    </a:rPr>
                    <a:t>T</a:t>
                  </a:r>
                  <a:endParaRPr lang="pt-BR" sz="1050" i="1">
                    <a:solidFill>
                      <a:srgbClr val="0000FF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" name="Line 54">
                  <a:extLst>
                    <a:ext uri="{FF2B5EF4-FFF2-40B4-BE49-F238E27FC236}">
                      <a16:creationId xmlns:a16="http://schemas.microsoft.com/office/drawing/2014/main" id="{CB8D3A1D-3044-D496-016E-BF07BC12B0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55" y="3182"/>
                  <a:ext cx="49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stealth" w="med" len="med"/>
                </a:ln>
                <a:effectLst/>
              </p:spPr>
              <p:txBody>
                <a:bodyPr wrap="none" anchor="ctr"/>
                <a:lstStyle/>
                <a:p>
                  <a:endParaRPr lang="pt-BR" sz="1400"/>
                </a:p>
              </p:txBody>
            </p:sp>
          </p:grpSp>
          <p:sp>
            <p:nvSpPr>
              <p:cNvPr id="31" name="Freeform 55">
                <a:extLst>
                  <a:ext uri="{FF2B5EF4-FFF2-40B4-BE49-F238E27FC236}">
                    <a16:creationId xmlns:a16="http://schemas.microsoft.com/office/drawing/2014/main" id="{1D75C87A-2C07-CDB6-D47C-5B7B88EA3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2859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2" name="Freeform 56">
                <a:extLst>
                  <a:ext uri="{FF2B5EF4-FFF2-40B4-BE49-F238E27FC236}">
                    <a16:creationId xmlns:a16="http://schemas.microsoft.com/office/drawing/2014/main" id="{162F8F42-DD38-B73D-7507-B2B89A02529E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679" y="2861"/>
                <a:ext cx="618" cy="69"/>
              </a:xfrm>
              <a:custGeom>
                <a:avLst/>
                <a:gdLst/>
                <a:ahLst/>
                <a:cxnLst>
                  <a:cxn ang="0">
                    <a:pos x="0" y="36"/>
                  </a:cxn>
                  <a:cxn ang="0">
                    <a:pos x="384" y="36"/>
                  </a:cxn>
                  <a:cxn ang="0">
                    <a:pos x="423" y="0"/>
                  </a:cxn>
                  <a:cxn ang="0">
                    <a:pos x="438" y="69"/>
                  </a:cxn>
                  <a:cxn ang="0">
                    <a:pos x="465" y="33"/>
                  </a:cxn>
                  <a:cxn ang="0">
                    <a:pos x="618" y="33"/>
                  </a:cxn>
                </a:cxnLst>
                <a:rect l="0" t="0" r="r" b="b"/>
                <a:pathLst>
                  <a:path w="618" h="69">
                    <a:moveTo>
                      <a:pt x="0" y="36"/>
                    </a:moveTo>
                    <a:lnTo>
                      <a:pt x="384" y="36"/>
                    </a:lnTo>
                    <a:lnTo>
                      <a:pt x="423" y="0"/>
                    </a:lnTo>
                    <a:lnTo>
                      <a:pt x="438" y="69"/>
                    </a:lnTo>
                    <a:lnTo>
                      <a:pt x="465" y="33"/>
                    </a:lnTo>
                    <a:lnTo>
                      <a:pt x="618" y="33"/>
                    </a:lnTo>
                  </a:path>
                </a:pathLst>
              </a:custGeom>
              <a:noFill/>
              <a:ln w="38100" cap="flat" cmpd="sng">
                <a:solidFill>
                  <a:srgbClr val="0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3" name="Line 57">
                <a:extLst>
                  <a:ext uri="{FF2B5EF4-FFF2-40B4-BE49-F238E27FC236}">
                    <a16:creationId xmlns:a16="http://schemas.microsoft.com/office/drawing/2014/main" id="{2C39EE76-90FC-7789-19D6-D716795B1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677" y="2394"/>
                <a:ext cx="0" cy="54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4" name="Line 58">
                <a:extLst>
                  <a:ext uri="{FF2B5EF4-FFF2-40B4-BE49-F238E27FC236}">
                    <a16:creationId xmlns:a16="http://schemas.microsoft.com/office/drawing/2014/main" id="{55DEAA1A-B50E-0D98-C18B-3E0ED9C9F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42" y="2899"/>
                <a:ext cx="1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5" name="Freeform 59">
                <a:extLst>
                  <a:ext uri="{FF2B5EF4-FFF2-40B4-BE49-F238E27FC236}">
                    <a16:creationId xmlns:a16="http://schemas.microsoft.com/office/drawing/2014/main" id="{26D04496-B94D-61E0-5039-056FDFBBDC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483"/>
                <a:ext cx="1203" cy="414"/>
              </a:xfrm>
              <a:custGeom>
                <a:avLst/>
                <a:gdLst/>
                <a:ahLst/>
                <a:cxnLst>
                  <a:cxn ang="0">
                    <a:pos x="0" y="760"/>
                  </a:cxn>
                  <a:cxn ang="0">
                    <a:pos x="304" y="408"/>
                  </a:cxn>
                  <a:cxn ang="0">
                    <a:pos x="608" y="64"/>
                  </a:cxn>
                  <a:cxn ang="0">
                    <a:pos x="864" y="80"/>
                  </a:cxn>
                  <a:cxn ang="0">
                    <a:pos x="1152" y="56"/>
                  </a:cxn>
                  <a:cxn ang="0">
                    <a:pos x="1424" y="416"/>
                  </a:cxn>
                  <a:cxn ang="0">
                    <a:pos x="1720" y="760"/>
                  </a:cxn>
                </a:cxnLst>
                <a:rect l="0" t="0" r="r" b="b"/>
                <a:pathLst>
                  <a:path w="1720" h="760">
                    <a:moveTo>
                      <a:pt x="0" y="760"/>
                    </a:moveTo>
                    <a:cubicBezTo>
                      <a:pt x="101" y="642"/>
                      <a:pt x="203" y="524"/>
                      <a:pt x="304" y="408"/>
                    </a:cubicBezTo>
                    <a:cubicBezTo>
                      <a:pt x="405" y="292"/>
                      <a:pt x="515" y="119"/>
                      <a:pt x="608" y="64"/>
                    </a:cubicBezTo>
                    <a:cubicBezTo>
                      <a:pt x="701" y="9"/>
                      <a:pt x="773" y="81"/>
                      <a:pt x="864" y="80"/>
                    </a:cubicBezTo>
                    <a:cubicBezTo>
                      <a:pt x="955" y="79"/>
                      <a:pt x="1059" y="0"/>
                      <a:pt x="1152" y="56"/>
                    </a:cubicBezTo>
                    <a:cubicBezTo>
                      <a:pt x="1245" y="112"/>
                      <a:pt x="1329" y="299"/>
                      <a:pt x="1424" y="416"/>
                    </a:cubicBezTo>
                    <a:cubicBezTo>
                      <a:pt x="1519" y="533"/>
                      <a:pt x="1671" y="704"/>
                      <a:pt x="1720" y="760"/>
                    </a:cubicBezTo>
                  </a:path>
                </a:pathLst>
              </a:custGeom>
              <a:solidFill>
                <a:srgbClr val="CCFFCC"/>
              </a:solidFill>
              <a:ln w="38100" cmpd="sng">
                <a:solidFill>
                  <a:srgbClr val="00808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6" name="Line 60">
                <a:extLst>
                  <a:ext uri="{FF2B5EF4-FFF2-40B4-BE49-F238E27FC236}">
                    <a16:creationId xmlns:a16="http://schemas.microsoft.com/office/drawing/2014/main" id="{877DC49C-E720-AE92-F29F-CA54957B8A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6" y="2857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  <p:sp>
            <p:nvSpPr>
              <p:cNvPr id="37" name="Line 61">
                <a:extLst>
                  <a:ext uri="{FF2B5EF4-FFF2-40B4-BE49-F238E27FC236}">
                    <a16:creationId xmlns:a16="http://schemas.microsoft.com/office/drawing/2014/main" id="{AFA1FDE2-F732-21F6-A55B-A62E1948AF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2" y="2854"/>
                <a:ext cx="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 sz="1400"/>
              </a:p>
            </p:txBody>
          </p:sp>
        </p:grp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id="{596A1C10-30F1-94B8-B273-3AFB9FBD9BDE}"/>
                </a:ext>
              </a:extLst>
            </p:cNvPr>
            <p:cNvSpPr/>
            <p:nvPr/>
          </p:nvSpPr>
          <p:spPr bwMode="auto">
            <a:xfrm>
              <a:off x="4495827" y="3224459"/>
              <a:ext cx="1612231" cy="613610"/>
            </a:xfrm>
            <a:prstGeom prst="rect">
              <a:avLst/>
            </a:pr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pt-BR" sz="2000" dirty="0">
                  <a:solidFill>
                    <a:schemeClr val="tx1"/>
                  </a:solidFill>
                  <a:latin typeface="Nokia Sans Wide" pitchFamily="34" charset="0"/>
                </a:rPr>
                <a:t>Modulador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6203D3D9-9045-3DC4-7807-3FD61F7FD0EC}"/>
                </a:ext>
              </a:extLst>
            </p:cNvPr>
            <p:cNvSpPr txBox="1"/>
            <p:nvPr/>
          </p:nvSpPr>
          <p:spPr>
            <a:xfrm>
              <a:off x="1926283" y="3308684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01100101110 ...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45134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3953DD-3443-D7F0-D8A4-B2F4A43A2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- Para Que?</a:t>
            </a:r>
          </a:p>
        </p:txBody>
      </p:sp>
      <p:sp>
        <p:nvSpPr>
          <p:cNvPr id="108547" name="Rectangle 3"/>
          <p:cNvSpPr txBox="1">
            <a:spLocks noChangeArrowheads="1"/>
          </p:cNvSpPr>
          <p:nvPr/>
        </p:nvSpPr>
        <p:spPr>
          <a:xfrm>
            <a:off x="912628" y="1253331"/>
            <a:ext cx="1085761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Para </a:t>
            </a:r>
            <a:r>
              <a:rPr lang="en-US" dirty="0" err="1"/>
              <a:t>facilitar</a:t>
            </a:r>
            <a:r>
              <a:rPr lang="en-US" dirty="0"/>
              <a:t> a </a:t>
            </a:r>
            <a:r>
              <a:rPr lang="en-US" dirty="0" err="1"/>
              <a:t>transmissão</a:t>
            </a:r>
            <a:r>
              <a:rPr lang="en-US" dirty="0"/>
              <a:t> no </a:t>
            </a:r>
            <a:r>
              <a:rPr lang="en-US" dirty="0" err="1"/>
              <a:t>meio</a:t>
            </a:r>
            <a:r>
              <a:rPr lang="en-US" dirty="0"/>
              <a:t> </a:t>
            </a:r>
            <a:r>
              <a:rPr lang="en-US" dirty="0" err="1"/>
              <a:t>físico</a:t>
            </a:r>
            <a:endParaRPr lang="en-US" dirty="0"/>
          </a:p>
          <a:p>
            <a:pPr lvl="1"/>
            <a:r>
              <a:rPr lang="en-US" dirty="0"/>
              <a:t>Em </a:t>
            </a:r>
            <a:r>
              <a:rPr lang="en-US" dirty="0" err="1"/>
              <a:t>transmissão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fio</a:t>
            </a:r>
            <a:r>
              <a:rPr lang="en-US" dirty="0"/>
              <a:t>, </a:t>
            </a:r>
            <a:r>
              <a:rPr lang="en-US" dirty="0" err="1"/>
              <a:t>Tamanho</a:t>
            </a:r>
            <a:r>
              <a:rPr lang="en-US" dirty="0"/>
              <a:t> de </a:t>
            </a:r>
            <a:r>
              <a:rPr lang="en-US" dirty="0" err="1"/>
              <a:t>antenas</a:t>
            </a:r>
            <a:r>
              <a:rPr lang="en-US" dirty="0"/>
              <a:t> </a:t>
            </a:r>
            <a:r>
              <a:rPr lang="en-US" dirty="0" err="1"/>
              <a:t>limitado</a:t>
            </a:r>
            <a:r>
              <a:rPr lang="en-US" dirty="0"/>
              <a:t> </a:t>
            </a:r>
            <a:r>
              <a:rPr lang="en-US" dirty="0" err="1"/>
              <a:t>pelo</a:t>
            </a:r>
            <a:r>
              <a:rPr lang="en-US" dirty="0"/>
              <a:t> </a:t>
            </a:r>
            <a:r>
              <a:rPr lang="en-US" dirty="0" err="1"/>
              <a:t>comprimento</a:t>
            </a:r>
            <a:r>
              <a:rPr lang="en-US" dirty="0"/>
              <a:t> de </a:t>
            </a:r>
            <a:r>
              <a:rPr lang="en-US" dirty="0" err="1"/>
              <a:t>onda</a:t>
            </a:r>
            <a:endParaRPr lang="en-US" dirty="0"/>
          </a:p>
          <a:p>
            <a:pPr lvl="1"/>
            <a:r>
              <a:rPr lang="en-US" dirty="0"/>
              <a:t>Em </a:t>
            </a:r>
            <a:r>
              <a:rPr lang="en-US" dirty="0" err="1"/>
              <a:t>fibras</a:t>
            </a:r>
            <a:r>
              <a:rPr lang="en-US" dirty="0"/>
              <a:t> </a:t>
            </a:r>
            <a:r>
              <a:rPr lang="en-US" dirty="0" err="1"/>
              <a:t>ópticas</a:t>
            </a:r>
            <a:r>
              <a:rPr lang="en-US" dirty="0"/>
              <a:t>, para </a:t>
            </a:r>
            <a:r>
              <a:rPr lang="en-US" dirty="0" err="1"/>
              <a:t>gerarmos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frequência</a:t>
            </a:r>
            <a:r>
              <a:rPr lang="en-US" dirty="0"/>
              <a:t> da luz </a:t>
            </a:r>
            <a:r>
              <a:rPr lang="en-US" dirty="0" err="1"/>
              <a:t>visível</a:t>
            </a:r>
            <a:r>
              <a:rPr lang="en-US" dirty="0"/>
              <a:t> ( entre </a:t>
            </a:r>
            <a:r>
              <a:rPr lang="pt-BR" dirty="0"/>
              <a:t>4,3 x 10</a:t>
            </a:r>
            <a:r>
              <a:rPr lang="pt-BR" baseline="30000" dirty="0"/>
              <a:t>14</a:t>
            </a:r>
            <a:r>
              <a:rPr lang="pt-BR" dirty="0"/>
              <a:t>  e 7.5 x 10</a:t>
            </a:r>
            <a:r>
              <a:rPr lang="pt-BR" baseline="30000" dirty="0"/>
              <a:t>14 </a:t>
            </a:r>
            <a:r>
              <a:rPr lang="pt-BR" dirty="0"/>
              <a:t>Hz)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2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F480C-6118-3ECF-9672-8748F3E2D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E68D6-B6B9-84BF-0EF6-BB156541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</a:t>
            </a:r>
            <a:br>
              <a:rPr lang="pt-BR" dirty="0"/>
            </a:br>
            <a:r>
              <a:rPr lang="pt-BR" dirty="0"/>
              <a:t>Para Que? Multiplexação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C12DBC6-BCF7-B030-6923-8CD3F887DAB0}"/>
              </a:ext>
            </a:extLst>
          </p:cNvPr>
          <p:cNvSpPr txBox="1">
            <a:spLocks noChangeArrowheads="1"/>
          </p:cNvSpPr>
          <p:nvPr/>
        </p:nvSpPr>
        <p:spPr>
          <a:xfrm>
            <a:off x="912628" y="1253331"/>
            <a:ext cx="1085761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Para </a:t>
            </a:r>
            <a:r>
              <a:rPr lang="en-US" dirty="0" err="1"/>
              <a:t>transmitirmos</a:t>
            </a:r>
            <a:r>
              <a:rPr lang="en-US" dirty="0"/>
              <a:t> </a:t>
            </a:r>
            <a:r>
              <a:rPr lang="en-US" dirty="0" err="1"/>
              <a:t>vários</a:t>
            </a:r>
            <a:r>
              <a:rPr lang="en-US" dirty="0"/>
              <a:t> </a:t>
            </a:r>
            <a:r>
              <a:rPr lang="en-US" dirty="0" err="1"/>
              <a:t>sinais</a:t>
            </a:r>
            <a:r>
              <a:rPr lang="en-US" dirty="0"/>
              <a:t> no </a:t>
            </a:r>
            <a:r>
              <a:rPr lang="en-US" dirty="0" err="1"/>
              <a:t>mesmo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</a:t>
            </a:r>
            <a:r>
              <a:rPr lang="en-US" dirty="0" err="1"/>
              <a:t>físico</a:t>
            </a:r>
            <a:r>
              <a:rPr lang="en-US" dirty="0"/>
              <a:t> (</a:t>
            </a:r>
            <a:r>
              <a:rPr lang="en-US" dirty="0" err="1"/>
              <a:t>multiplexação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D9DE29CE-0A13-D709-4336-9780A4A60525}"/>
              </a:ext>
            </a:extLst>
          </p:cNvPr>
          <p:cNvGrpSpPr>
            <a:grpSpLocks/>
          </p:cNvGrpSpPr>
          <p:nvPr/>
        </p:nvGrpSpPr>
        <p:grpSpPr bwMode="auto">
          <a:xfrm>
            <a:off x="3579484" y="4042051"/>
            <a:ext cx="5221706" cy="2116305"/>
            <a:chOff x="438" y="1386"/>
            <a:chExt cx="5040" cy="2340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E1B62560-FF84-C28E-D607-3930DE9D5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" y="1398"/>
              <a:ext cx="576" cy="552"/>
            </a:xfrm>
            <a:prstGeom prst="flowChartProcess">
              <a:avLst/>
            </a:prstGeom>
            <a:solidFill>
              <a:srgbClr val="99FFCC"/>
            </a:solidFill>
            <a:ln w="2857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Fonte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1</a:t>
              </a:r>
            </a:p>
          </p:txBody>
        </p:sp>
        <p:sp>
          <p:nvSpPr>
            <p:cNvPr id="6" name="AutoShape 4">
              <a:extLst>
                <a:ext uri="{FF2B5EF4-FFF2-40B4-BE49-F238E27FC236}">
                  <a16:creationId xmlns:a16="http://schemas.microsoft.com/office/drawing/2014/main" id="{A808FF3C-C394-79E2-BC80-86AEEEA91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" y="2286"/>
              <a:ext cx="576" cy="552"/>
            </a:xfrm>
            <a:prstGeom prst="flowChartProcess">
              <a:avLst/>
            </a:prstGeom>
            <a:solidFill>
              <a:srgbClr val="99CCFF"/>
            </a:solidFill>
            <a:ln w="28575">
              <a:solidFill>
                <a:srgbClr val="3366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Fonte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2</a:t>
              </a:r>
            </a:p>
          </p:txBody>
        </p:sp>
        <p:sp>
          <p:nvSpPr>
            <p:cNvPr id="7" name="AutoShape 5">
              <a:extLst>
                <a:ext uri="{FF2B5EF4-FFF2-40B4-BE49-F238E27FC236}">
                  <a16:creationId xmlns:a16="http://schemas.microsoft.com/office/drawing/2014/main" id="{CEAB4AEA-5357-BB8D-06DD-B0E6BCA88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" y="3174"/>
              <a:ext cx="576" cy="552"/>
            </a:xfrm>
            <a:prstGeom prst="flowChartProcess">
              <a:avLst/>
            </a:prstGeom>
            <a:solidFill>
              <a:srgbClr val="FFFF99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Fonte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3</a:t>
              </a:r>
            </a:p>
          </p:txBody>
        </p:sp>
        <p:sp>
          <p:nvSpPr>
            <p:cNvPr id="8" name="AutoShape 6">
              <a:extLst>
                <a:ext uri="{FF2B5EF4-FFF2-40B4-BE49-F238E27FC236}">
                  <a16:creationId xmlns:a16="http://schemas.microsoft.com/office/drawing/2014/main" id="{0E356B79-D073-E579-D4EE-1192A85F3C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4" y="1386"/>
              <a:ext cx="1044" cy="552"/>
            </a:xfrm>
            <a:prstGeom prst="flowChartProcess">
              <a:avLst/>
            </a:prstGeom>
            <a:solidFill>
              <a:srgbClr val="99FFCC"/>
            </a:solidFill>
            <a:ln w="28575">
              <a:solidFill>
                <a:srgbClr val="0066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Destinatário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1</a:t>
              </a:r>
            </a:p>
          </p:txBody>
        </p:sp>
        <p:sp>
          <p:nvSpPr>
            <p:cNvPr id="9" name="AutoShape 7">
              <a:extLst>
                <a:ext uri="{FF2B5EF4-FFF2-40B4-BE49-F238E27FC236}">
                  <a16:creationId xmlns:a16="http://schemas.microsoft.com/office/drawing/2014/main" id="{7352F54E-5FC1-C902-A004-6FC2E7C968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4" y="2286"/>
              <a:ext cx="1044" cy="552"/>
            </a:xfrm>
            <a:prstGeom prst="flowChartProcess">
              <a:avLst/>
            </a:prstGeom>
            <a:solidFill>
              <a:srgbClr val="99CCFF"/>
            </a:solidFill>
            <a:ln w="28575">
              <a:solidFill>
                <a:srgbClr val="336699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Destinatário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2</a:t>
              </a:r>
            </a:p>
          </p:txBody>
        </p:sp>
        <p:sp>
          <p:nvSpPr>
            <p:cNvPr id="10" name="AutoShape 8">
              <a:extLst>
                <a:ext uri="{FF2B5EF4-FFF2-40B4-BE49-F238E27FC236}">
                  <a16:creationId xmlns:a16="http://schemas.microsoft.com/office/drawing/2014/main" id="{E9F63D6C-44B8-9858-F5EE-772C349FA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4" y="3174"/>
              <a:ext cx="1044" cy="552"/>
            </a:xfrm>
            <a:prstGeom prst="flowChartProcess">
              <a:avLst/>
            </a:prstGeom>
            <a:solidFill>
              <a:srgbClr val="FFFF99"/>
            </a:solidFill>
            <a:ln w="28575">
              <a:solidFill>
                <a:srgbClr val="FF99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lang="pt-BR" sz="1400"/>
                <a:t>Destinatário</a:t>
              </a:r>
            </a:p>
            <a:p>
              <a:pPr algn="ctr">
                <a:spcBef>
                  <a:spcPct val="0"/>
                </a:spcBef>
              </a:pPr>
              <a:r>
                <a:rPr lang="pt-BR" sz="1400"/>
                <a:t>3</a:t>
              </a:r>
            </a:p>
          </p:txBody>
        </p:sp>
        <p:sp>
          <p:nvSpPr>
            <p:cNvPr id="11" name="AutoShape 9">
              <a:extLst>
                <a:ext uri="{FF2B5EF4-FFF2-40B4-BE49-F238E27FC236}">
                  <a16:creationId xmlns:a16="http://schemas.microsoft.com/office/drawing/2014/main" id="{33C906E2-294A-FD69-C9C2-43760DCBC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6" y="2286"/>
              <a:ext cx="1044" cy="552"/>
            </a:xfrm>
            <a:prstGeom prst="flowChartProcess">
              <a:avLst/>
            </a:prstGeom>
            <a:solidFill>
              <a:srgbClr val="DDDDDD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pt-BR" sz="1400"/>
            </a:p>
            <a:p>
              <a:pPr algn="ctr">
                <a:spcBef>
                  <a:spcPct val="0"/>
                </a:spcBef>
              </a:pPr>
              <a:endParaRPr lang="pt-BR" sz="1400"/>
            </a:p>
          </p:txBody>
        </p:sp>
        <p:sp>
          <p:nvSpPr>
            <p:cNvPr id="12" name="AutoShape 10">
              <a:extLst>
                <a:ext uri="{FF2B5EF4-FFF2-40B4-BE49-F238E27FC236}">
                  <a16:creationId xmlns:a16="http://schemas.microsoft.com/office/drawing/2014/main" id="{329971D8-8B6C-2B77-33AB-82B5A3F3F0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1818"/>
              <a:ext cx="396" cy="1488"/>
            </a:xfrm>
            <a:prstGeom prst="flowChartProcess">
              <a:avLst/>
            </a:prstGeom>
            <a:solidFill>
              <a:srgbClr val="CCFFFF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pt-BR" sz="1400"/>
            </a:p>
          </p:txBody>
        </p:sp>
        <p:sp>
          <p:nvSpPr>
            <p:cNvPr id="13" name="AutoShape 11">
              <a:extLst>
                <a:ext uri="{FF2B5EF4-FFF2-40B4-BE49-F238E27FC236}">
                  <a16:creationId xmlns:a16="http://schemas.microsoft.com/office/drawing/2014/main" id="{B9A237E6-1455-EEB5-2324-F8F3F84CD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2" y="1818"/>
              <a:ext cx="396" cy="1488"/>
            </a:xfrm>
            <a:prstGeom prst="flowChartProcess">
              <a:avLst/>
            </a:prstGeom>
            <a:solidFill>
              <a:srgbClr val="CCFFFF"/>
            </a:solidFill>
            <a:ln w="28575">
              <a:solidFill>
                <a:srgbClr val="0033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endParaRPr lang="pt-BR" sz="1400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E6973D43-BA68-5A99-C46E-B3154C3FE3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679"/>
              <a:ext cx="658" cy="753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B76AAAC0-18F8-8197-B348-E7DF4699B9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4" y="2432"/>
              <a:ext cx="2128" cy="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7B3C5ACE-9097-0A4A-8301-C9D0E258E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4" y="1679"/>
              <a:ext cx="646" cy="753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7710A1C2-C74D-8E80-5E19-7C313A0EBA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06" y="2703"/>
              <a:ext cx="658" cy="7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57324453-F86A-1238-E28F-37FEC3DB9D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64" y="2703"/>
              <a:ext cx="2128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19" name="Line 17">
              <a:extLst>
                <a:ext uri="{FF2B5EF4-FFF2-40B4-BE49-F238E27FC236}">
                  <a16:creationId xmlns:a16="http://schemas.microsoft.com/office/drawing/2014/main" id="{E0CFA7FE-36FA-2309-A149-A350DB0A95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784" y="2703"/>
              <a:ext cx="652" cy="75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cxnSp>
          <p:nvCxnSpPr>
            <p:cNvPr id="20" name="AutoShape 18">
              <a:extLst>
                <a:ext uri="{FF2B5EF4-FFF2-40B4-BE49-F238E27FC236}">
                  <a16:creationId xmlns:a16="http://schemas.microsoft.com/office/drawing/2014/main" id="{07F3E766-C4EB-FD5C-117E-D86F1B7AE859}"/>
                </a:ext>
              </a:extLst>
            </p:cNvPr>
            <p:cNvCxnSpPr>
              <a:cxnSpLocks noChangeShapeType="1"/>
              <a:stCxn id="6" idx="3"/>
              <a:endCxn id="9" idx="1"/>
            </p:cNvCxnSpPr>
            <p:nvPr/>
          </p:nvCxnSpPr>
          <p:spPr bwMode="auto">
            <a:xfrm>
              <a:off x="1023" y="2562"/>
              <a:ext cx="3402" cy="0"/>
            </a:xfrm>
            <a:prstGeom prst="straightConnector1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/>
            </a:ln>
            <a:effectLst/>
          </p:spPr>
        </p:cxn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22A3E618-8A36-E818-4FE5-18D909D9C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4" y="2432"/>
              <a:ext cx="184" cy="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41B57709-EED1-06FB-8520-C3FD2D6C1D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4" y="3075"/>
              <a:ext cx="92" cy="112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34A4C183-E7F0-8758-B2EF-6B337EB827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4" y="2703"/>
              <a:ext cx="184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DE6EF9AE-F142-F694-8CB7-3A0CD04220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4" y="2979"/>
              <a:ext cx="184" cy="217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9B19AB37-A92F-DE46-9BE5-496D67072E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4" y="2563"/>
              <a:ext cx="184" cy="0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F0A88308-D613-E9AC-45DE-F2615EAD7F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2" y="2563"/>
              <a:ext cx="184" cy="0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5CDEA7F1-5CBC-6377-CF60-348924B69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563"/>
              <a:ext cx="184" cy="0"/>
            </a:xfrm>
            <a:prstGeom prst="line">
              <a:avLst/>
            </a:prstGeom>
            <a:noFill/>
            <a:ln w="38100">
              <a:solidFill>
                <a:srgbClr val="336699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3FEA1BE0-2640-806F-48FC-A8F2DE4216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0" y="2008"/>
              <a:ext cx="808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pt-BR" sz="1400">
                  <a:solidFill>
                    <a:schemeClr val="accent2"/>
                  </a:solidFill>
                </a:rPr>
                <a:t>Canal</a:t>
              </a:r>
            </a:p>
          </p:txBody>
        </p:sp>
        <p:sp>
          <p:nvSpPr>
            <p:cNvPr id="29" name="Text Box 27">
              <a:extLst>
                <a:ext uri="{FF2B5EF4-FFF2-40B4-BE49-F238E27FC236}">
                  <a16:creationId xmlns:a16="http://schemas.microsoft.com/office/drawing/2014/main" id="{A9EB7C17-6885-FAA8-5398-0AE3F6892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64" y="1519"/>
              <a:ext cx="893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pt-BR" sz="1400" dirty="0" err="1">
                  <a:solidFill>
                    <a:schemeClr val="accent2"/>
                  </a:solidFill>
                </a:rPr>
                <a:t>Multiplex</a:t>
              </a:r>
              <a:endParaRPr lang="pt-BR" sz="1400" dirty="0">
                <a:solidFill>
                  <a:schemeClr val="accent2"/>
                </a:solidFill>
              </a:endParaRPr>
            </a:p>
          </p:txBody>
        </p:sp>
        <p:sp>
          <p:nvSpPr>
            <p:cNvPr id="30" name="Text Box 28">
              <a:extLst>
                <a:ext uri="{FF2B5EF4-FFF2-40B4-BE49-F238E27FC236}">
                  <a16:creationId xmlns:a16="http://schemas.microsoft.com/office/drawing/2014/main" id="{80D9AA38-0AF2-7C2D-4E8D-A4B2DE3CB4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2" y="1527"/>
              <a:ext cx="1104" cy="3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/>
              <a:r>
                <a:rPr lang="pt-BR" sz="1400">
                  <a:solidFill>
                    <a:schemeClr val="accent2"/>
                  </a:solidFill>
                </a:rPr>
                <a:t>Demultiplex</a:t>
              </a:r>
            </a:p>
          </p:txBody>
        </p:sp>
        <p:sp>
          <p:nvSpPr>
            <p:cNvPr id="31" name="Line 29">
              <a:extLst>
                <a:ext uri="{FF2B5EF4-FFF2-40B4-BE49-F238E27FC236}">
                  <a16:creationId xmlns:a16="http://schemas.microsoft.com/office/drawing/2014/main" id="{CFD75BC3-3EF9-91D5-9B90-614953799E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4" y="1936"/>
              <a:ext cx="94" cy="108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49FF4C99-7743-5FA6-89F9-5D2CBF2C304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65859">
              <a:off x="4104" y="1941"/>
              <a:ext cx="114" cy="100"/>
            </a:xfrm>
            <a:prstGeom prst="line">
              <a:avLst/>
            </a:prstGeom>
            <a:noFill/>
            <a:ln w="38100">
              <a:solidFill>
                <a:srgbClr val="006666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pt-BR" sz="1400"/>
            </a:p>
          </p:txBody>
        </p:sp>
      </p:grpSp>
    </p:spTree>
    <p:extLst>
      <p:ext uri="{BB962C8B-B14F-4D97-AF65-F5344CB8AC3E}">
        <p14:creationId xmlns:p14="http://schemas.microsoft.com/office/powerpoint/2010/main" val="334453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5CA56-DDB8-1B46-252B-AA567BCBF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7BC9A7-2AE0-5FDF-2A20-ADFAD60A7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- Para Que?</a:t>
            </a:r>
            <a:br>
              <a:rPr lang="pt-BR" dirty="0"/>
            </a:br>
            <a:r>
              <a:rPr lang="pt-BR" dirty="0" err="1"/>
              <a:t>Duplexação</a:t>
            </a:r>
            <a:endParaRPr lang="pt-BR" dirty="0"/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1D3D8E74-9B35-3767-FD88-458C827E5806}"/>
              </a:ext>
            </a:extLst>
          </p:cNvPr>
          <p:cNvSpPr txBox="1">
            <a:spLocks noChangeArrowheads="1"/>
          </p:cNvSpPr>
          <p:nvPr/>
        </p:nvSpPr>
        <p:spPr>
          <a:xfrm>
            <a:off x="912628" y="1253331"/>
            <a:ext cx="10857614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9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E7329-A0C5-DAF2-C689-61BE9104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em Banda Base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DCE8BD-972F-00EB-BBB6-BDCF8DCC5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7206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33692-9EE9-E753-EC48-050D3987A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Banda Base x Banda Passante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2636C3-84B0-A530-A289-D02A9DB7A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532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BB449-AD1B-965C-4F89-2E6969953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29" y="1367660"/>
            <a:ext cx="6738928" cy="1579289"/>
          </a:xfrm>
        </p:spPr>
        <p:txBody>
          <a:bodyPr/>
          <a:lstStyle/>
          <a:p>
            <a:r>
              <a:rPr lang="pt-BR" dirty="0"/>
              <a:t>Modulação em Amplitude</a:t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8379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B0BB17-80EF-5630-9B06-86847C96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 DSB-SC</a:t>
            </a:r>
            <a:br>
              <a:rPr lang="pt-BR" dirty="0"/>
            </a:br>
            <a:endParaRPr lang="pt-BR"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B694090-7E80-28C0-CB90-6C2031410A0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253331"/>
            <a:ext cx="10515600" cy="4351338"/>
          </a:xfrm>
          <a:prstGeom prst="rect">
            <a:avLst/>
          </a:prstGeom>
          <a:ln/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hlink"/>
                </a:solidFill>
              </a:rPr>
              <a:t>Amplitude Modulation</a:t>
            </a:r>
          </a:p>
          <a:p>
            <a:r>
              <a:rPr lang="en-US" b="1" dirty="0">
                <a:solidFill>
                  <a:schemeClr val="hlink"/>
                </a:solidFill>
              </a:rPr>
              <a:t>D</a:t>
            </a:r>
            <a:r>
              <a:rPr lang="en-US" dirty="0"/>
              <a:t>ouble </a:t>
            </a:r>
            <a:r>
              <a:rPr lang="en-US" b="1" dirty="0">
                <a:solidFill>
                  <a:schemeClr val="hlink"/>
                </a:solidFill>
              </a:rPr>
              <a:t>S</a:t>
            </a:r>
            <a:r>
              <a:rPr lang="en-US" dirty="0"/>
              <a:t>ide </a:t>
            </a:r>
            <a:r>
              <a:rPr lang="en-US" b="1" dirty="0">
                <a:solidFill>
                  <a:schemeClr val="hlink"/>
                </a:solidFill>
              </a:rPr>
              <a:t>B</a:t>
            </a:r>
            <a:r>
              <a:rPr lang="en-US" dirty="0"/>
              <a:t>and – </a:t>
            </a:r>
            <a:r>
              <a:rPr lang="en-US" b="1" dirty="0">
                <a:solidFill>
                  <a:schemeClr val="hlink"/>
                </a:solidFill>
              </a:rPr>
              <a:t>S</a:t>
            </a:r>
            <a:r>
              <a:rPr lang="en-US" dirty="0"/>
              <a:t>uppressed </a:t>
            </a:r>
            <a:r>
              <a:rPr lang="en-US" b="1" dirty="0">
                <a:solidFill>
                  <a:schemeClr val="hlink"/>
                </a:solidFill>
              </a:rPr>
              <a:t>C</a:t>
            </a:r>
            <a:r>
              <a:rPr lang="en-US" dirty="0"/>
              <a:t>arrier</a:t>
            </a:r>
          </a:p>
          <a:p>
            <a:r>
              <a:rPr lang="en-US" dirty="0"/>
              <a:t>Dado um </a:t>
            </a:r>
            <a:r>
              <a:rPr lang="en-US" dirty="0" err="1"/>
              <a:t>sinal</a:t>
            </a:r>
            <a:r>
              <a:rPr lang="en-US" dirty="0"/>
              <a:t> de </a:t>
            </a:r>
            <a:r>
              <a:rPr lang="en-US" dirty="0" err="1"/>
              <a:t>banda</a:t>
            </a:r>
            <a:r>
              <a:rPr lang="en-US" dirty="0"/>
              <a:t> base </a:t>
            </a:r>
            <a:r>
              <a:rPr lang="en-US" i="1" dirty="0">
                <a:latin typeface="Times New Roman" pitchFamily="18" charset="0"/>
              </a:rPr>
              <a:t>m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t</a:t>
            </a:r>
            <a:r>
              <a:rPr lang="en-US" dirty="0">
                <a:latin typeface="Times New Roman" pitchFamily="18" charset="0"/>
              </a:rPr>
              <a:t>)</a:t>
            </a:r>
            <a:r>
              <a:rPr lang="en-US" dirty="0"/>
              <a:t> </a:t>
            </a:r>
          </a:p>
          <a:p>
            <a:r>
              <a:rPr lang="en-US" dirty="0"/>
              <a:t>Amplitude da </a:t>
            </a:r>
            <a:r>
              <a:rPr lang="en-US" dirty="0" err="1"/>
              <a:t>portadora</a:t>
            </a:r>
            <a:r>
              <a:rPr lang="en-US" dirty="0"/>
              <a:t> varia de </a:t>
            </a:r>
            <a:r>
              <a:rPr lang="en-US" dirty="0" err="1"/>
              <a:t>acordo</a:t>
            </a:r>
            <a:r>
              <a:rPr lang="en-US" dirty="0"/>
              <a:t> com </a:t>
            </a:r>
            <a:r>
              <a:rPr lang="en-US" dirty="0" err="1"/>
              <a:t>sinal</a:t>
            </a:r>
            <a:endParaRPr lang="en-US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945D88CA-C807-C832-7AB2-960E8FA33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6801" y="3937227"/>
            <a:ext cx="460382" cy="52322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2800">
                <a:latin typeface="Symbol" pitchFamily="18" charset="2"/>
              </a:rPr>
              <a:t>Ä</a:t>
            </a:r>
            <a:endParaRPr lang="en-US" sz="2800"/>
          </a:p>
        </p:txBody>
      </p:sp>
      <p:sp>
        <p:nvSpPr>
          <p:cNvPr id="5" name="Line 5">
            <a:extLst>
              <a:ext uri="{FF2B5EF4-FFF2-40B4-BE49-F238E27FC236}">
                <a16:creationId xmlns:a16="http://schemas.microsoft.com/office/drawing/2014/main" id="{692D4D75-7FA9-ED5E-1E30-F2B18D5EBF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9214" y="4188052"/>
            <a:ext cx="11096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6" name="Line 6">
            <a:extLst>
              <a:ext uri="{FF2B5EF4-FFF2-40B4-BE49-F238E27FC236}">
                <a16:creationId xmlns:a16="http://schemas.microsoft.com/office/drawing/2014/main" id="{56780032-F902-13B3-7B8F-F3CCA630E2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7464" y="4299178"/>
            <a:ext cx="0" cy="5413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2FC4DACB-D758-28AA-15A5-53A9729FA0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02239" y="4189639"/>
            <a:ext cx="1109662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/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0504EFC1-B6C1-D984-BD5C-DD342E03A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570" y="4086112"/>
            <a:ext cx="867545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3200" i="1" dirty="0">
                <a:latin typeface="Times New Roman" pitchFamily="18" charset="0"/>
              </a:rPr>
              <a:t>m</a:t>
            </a:r>
            <a:r>
              <a:rPr lang="en-US" sz="3200" dirty="0">
                <a:latin typeface="Times New Roman" pitchFamily="18" charset="0"/>
              </a:rPr>
              <a:t>(</a:t>
            </a:r>
            <a:r>
              <a:rPr lang="en-US" sz="3200" i="1" dirty="0">
                <a:latin typeface="Times New Roman" pitchFamily="18" charset="0"/>
              </a:rPr>
              <a:t>t</a:t>
            </a:r>
            <a:r>
              <a:rPr lang="en-US" sz="3200" dirty="0">
                <a:latin typeface="Times New Roman" pitchFamily="18" charset="0"/>
              </a:rPr>
              <a:t>)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BDFBAF7C-E160-386A-A51E-3C9B98B9B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7434" y="3648243"/>
            <a:ext cx="947695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3200" dirty="0" err="1"/>
              <a:t>sinal</a:t>
            </a:r>
            <a:endParaRPr lang="en-US" sz="3200" dirty="0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83328995-5207-18B3-DB78-10D85EB7A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229" y="4818413"/>
            <a:ext cx="1824471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3200" dirty="0" err="1">
                <a:latin typeface="Times New Roman" pitchFamily="18" charset="0"/>
              </a:rPr>
              <a:t>cos</a:t>
            </a:r>
            <a:r>
              <a:rPr lang="en-US" sz="3200" dirty="0">
                <a:latin typeface="Times New Roman" pitchFamily="18" charset="0"/>
              </a:rPr>
              <a:t>(2</a:t>
            </a:r>
            <a:r>
              <a:rPr lang="en-US" sz="3200" dirty="0">
                <a:latin typeface="Symbol" pitchFamily="18" charset="2"/>
              </a:rPr>
              <a:t>p</a:t>
            </a:r>
            <a:r>
              <a:rPr lang="en-US" sz="3200" i="1" dirty="0">
                <a:latin typeface="Times New Roman" pitchFamily="18" charset="0"/>
              </a:rPr>
              <a:t>f</a:t>
            </a:r>
            <a:r>
              <a:rPr lang="en-US" sz="3200" baseline="-25000" dirty="0">
                <a:latin typeface="Times New Roman" pitchFamily="18" charset="0"/>
              </a:rPr>
              <a:t>c</a:t>
            </a:r>
            <a:r>
              <a:rPr lang="en-US" sz="3200" i="1" dirty="0">
                <a:latin typeface="Times New Roman" pitchFamily="18" charset="0"/>
              </a:rPr>
              <a:t>t</a:t>
            </a:r>
            <a:r>
              <a:rPr lang="en-US" sz="3200" dirty="0">
                <a:latin typeface="Times New Roman" pitchFamily="18" charset="0"/>
              </a:rPr>
              <a:t>)</a:t>
            </a:r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293B273F-D975-7E2A-5280-8E6804421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229" y="5301230"/>
            <a:ext cx="3312489" cy="5847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3200" dirty="0" err="1"/>
              <a:t>portadora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9">
                <a:extLst>
                  <a:ext uri="{FF2B5EF4-FFF2-40B4-BE49-F238E27FC236}">
                    <a16:creationId xmlns:a16="http://schemas.microsoft.com/office/drawing/2014/main" id="{201CB0B5-8C5F-9BD7-4E3C-3F2C045D97AA}"/>
                  </a:ext>
                </a:extLst>
              </p:cNvPr>
              <p:cNvSpPr txBox="1"/>
              <p:nvPr/>
            </p:nvSpPr>
            <p:spPr bwMode="auto">
              <a:xfrm>
                <a:off x="6070546" y="3458002"/>
                <a:ext cx="5756332" cy="78761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𝐷𝑆𝐵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3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3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3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3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3200" dirty="0"/>
              </a:p>
            </p:txBody>
          </p:sp>
        </mc:Choice>
        <mc:Fallback>
          <p:sp>
            <p:nvSpPr>
              <p:cNvPr id="12" name="Object 19">
                <a:extLst>
                  <a:ext uri="{FF2B5EF4-FFF2-40B4-BE49-F238E27FC236}">
                    <a16:creationId xmlns:a16="http://schemas.microsoft.com/office/drawing/2014/main" id="{201CB0B5-8C5F-9BD7-4E3C-3F2C045D9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70546" y="3458002"/>
                <a:ext cx="5756332" cy="7876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442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4685E-BF81-8318-93AF-E2097489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 – DSB/SC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2F57E5D5-8FC9-DB8A-E595-68ACFD8A9F2B}"/>
                  </a:ext>
                </a:extLst>
              </p:cNvPr>
              <p:cNvSpPr txBox="1"/>
              <p:nvPr/>
            </p:nvSpPr>
            <p:spPr bwMode="auto">
              <a:xfrm>
                <a:off x="3965575" y="1374775"/>
                <a:ext cx="5788025" cy="1303261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    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)⇔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  <m:oMath>
                      <m:sSub>
                        <m:sSub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𝐷𝑆𝐵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pt-B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)⇔</m:t>
                      </m:r>
                      <m:f>
                        <m:fPr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3" name="Object 4">
                <a:extLst>
                  <a:ext uri="{FF2B5EF4-FFF2-40B4-BE49-F238E27FC236}">
                    <a16:creationId xmlns:a16="http://schemas.microsoft.com/office/drawing/2014/main" id="{2F57E5D5-8FC9-DB8A-E595-68ACFD8A9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5575" y="1374775"/>
                <a:ext cx="5788025" cy="13032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6">
            <a:extLst>
              <a:ext uri="{FF2B5EF4-FFF2-40B4-BE49-F238E27FC236}">
                <a16:creationId xmlns:a16="http://schemas.microsoft.com/office/drawing/2014/main" id="{CE52C27F-0990-87F0-69A4-68AB4FB34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879726" y="3281364"/>
            <a:ext cx="2398713" cy="116522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</p:pic>
      <p:pic>
        <p:nvPicPr>
          <p:cNvPr id="5" name="Picture 7">
            <a:extLst>
              <a:ext uri="{FF2B5EF4-FFF2-40B4-BE49-F238E27FC236}">
                <a16:creationId xmlns:a16="http://schemas.microsoft.com/office/drawing/2014/main" id="{B8FD8429-673A-CDF5-5305-875B38D5C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76550" y="4892676"/>
            <a:ext cx="2401888" cy="117157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DECF67AD-81A5-D193-9680-1968C3E8C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769" y="3178175"/>
            <a:ext cx="569387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t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69424F2D-DD53-3B69-6085-AB52E69BB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1327" y="4732338"/>
            <a:ext cx="1470274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t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</a:t>
            </a:r>
            <a:r>
              <a:rPr lang="en-US" dirty="0" err="1">
                <a:solidFill>
                  <a:schemeClr val="hlink"/>
                </a:solidFill>
                <a:latin typeface="Times New Roman" pitchFamily="18" charset="0"/>
              </a:rPr>
              <a:t>cos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(2</a:t>
            </a:r>
            <a:r>
              <a:rPr lang="en-US" dirty="0">
                <a:solidFill>
                  <a:schemeClr val="hlink"/>
                </a:solidFill>
                <a:latin typeface="Symbol" pitchFamily="18" charset="2"/>
              </a:rPr>
              <a:t>p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f</a:t>
            </a:r>
            <a:r>
              <a:rPr lang="en-US" baseline="-25000" dirty="0">
                <a:solidFill>
                  <a:schemeClr val="hlink"/>
                </a:solidFill>
                <a:latin typeface="Times New Roman" pitchFamily="18" charset="0"/>
              </a:rPr>
              <a:t>c</a:t>
            </a:r>
            <a:r>
              <a:rPr lang="en-US" i="1" dirty="0">
                <a:solidFill>
                  <a:schemeClr val="hlink"/>
                </a:solidFill>
                <a:latin typeface="Times New Roman" pitchFamily="18" charset="0"/>
              </a:rPr>
              <a:t>t</a:t>
            </a:r>
            <a:r>
              <a:rPr lang="en-US" dirty="0">
                <a:solidFill>
                  <a:schemeClr val="hlink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E04AC02B-80D6-5477-D238-EE29B63F9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3878264"/>
            <a:ext cx="227948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t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30EDD899-3068-001D-68A2-EB5532A57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5613401"/>
            <a:ext cx="227948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t</a:t>
            </a:r>
          </a:p>
        </p:txBody>
      </p:sp>
      <p:sp>
        <p:nvSpPr>
          <p:cNvPr id="12" name="Line 420">
            <a:extLst>
              <a:ext uri="{FF2B5EF4-FFF2-40B4-BE49-F238E27FC236}">
                <a16:creationId xmlns:a16="http://schemas.microsoft.com/office/drawing/2014/main" id="{B749C246-C8E5-FA5C-8C46-2AE6A91951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1738" y="3767138"/>
            <a:ext cx="1930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13" name="Line 422">
            <a:extLst>
              <a:ext uri="{FF2B5EF4-FFF2-40B4-BE49-F238E27FC236}">
                <a16:creationId xmlns:a16="http://schemas.microsoft.com/office/drawing/2014/main" id="{BFF99CC2-0BCE-ED1A-754C-8920EA04CC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1538" y="3294064"/>
            <a:ext cx="0" cy="8715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grpSp>
        <p:nvGrpSpPr>
          <p:cNvPr id="14" name="Group 425">
            <a:extLst>
              <a:ext uri="{FF2B5EF4-FFF2-40B4-BE49-F238E27FC236}">
                <a16:creationId xmlns:a16="http://schemas.microsoft.com/office/drawing/2014/main" id="{6A39D843-34C4-2A99-B511-2984B1D4CF2A}"/>
              </a:ext>
            </a:extLst>
          </p:cNvPr>
          <p:cNvGrpSpPr>
            <a:grpSpLocks/>
          </p:cNvGrpSpPr>
          <p:nvPr/>
        </p:nvGrpSpPr>
        <p:grpSpPr bwMode="auto">
          <a:xfrm>
            <a:off x="8272464" y="3376614"/>
            <a:ext cx="434975" cy="401637"/>
            <a:chOff x="4251" y="2207"/>
            <a:chExt cx="274" cy="173"/>
          </a:xfrm>
        </p:grpSpPr>
        <p:sp>
          <p:nvSpPr>
            <p:cNvPr id="15" name="Line 423">
              <a:extLst>
                <a:ext uri="{FF2B5EF4-FFF2-40B4-BE49-F238E27FC236}">
                  <a16:creationId xmlns:a16="http://schemas.microsoft.com/office/drawing/2014/main" id="{405B1DD0-C7AF-01B1-02EE-B5CF00C3F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1" y="2207"/>
              <a:ext cx="138" cy="172"/>
            </a:xfrm>
            <a:prstGeom prst="line">
              <a:avLst/>
            </a:prstGeom>
            <a:noFill/>
            <a:ln w="28575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16" name="Line 424">
              <a:extLst>
                <a:ext uri="{FF2B5EF4-FFF2-40B4-BE49-F238E27FC236}">
                  <a16:creationId xmlns:a16="http://schemas.microsoft.com/office/drawing/2014/main" id="{70D92947-18E4-8160-76BB-EB1830F7D0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87" y="2208"/>
              <a:ext cx="138" cy="172"/>
            </a:xfrm>
            <a:prstGeom prst="line">
              <a:avLst/>
            </a:prstGeom>
            <a:noFill/>
            <a:ln w="28575">
              <a:solidFill>
                <a:srgbClr val="063DE8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sp>
        <p:nvSpPr>
          <p:cNvPr id="17" name="Text Box 426">
            <a:extLst>
              <a:ext uri="{FF2B5EF4-FFF2-40B4-BE49-F238E27FC236}">
                <a16:creationId xmlns:a16="http://schemas.microsoft.com/office/drawing/2014/main" id="{F7DC9605-EAE1-B9DB-F8CC-2BD3D5851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7688" y="3819526"/>
            <a:ext cx="235962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f</a:t>
            </a:r>
          </a:p>
        </p:txBody>
      </p:sp>
      <p:sp>
        <p:nvSpPr>
          <p:cNvPr id="18" name="Text Box 427">
            <a:extLst>
              <a:ext uri="{FF2B5EF4-FFF2-40B4-BE49-F238E27FC236}">
                <a16:creationId xmlns:a16="http://schemas.microsoft.com/office/drawing/2014/main" id="{0377467F-6916-412D-B4BB-B3B76DFFA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8855" y="3203575"/>
            <a:ext cx="595035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M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063DE8"/>
                </a:solidFill>
                <a:latin typeface="Times New Roman" pitchFamily="18" charset="0"/>
              </a:rPr>
              <a:t>f</a:t>
            </a:r>
            <a:r>
              <a:rPr lang="en-US" dirty="0">
                <a:solidFill>
                  <a:srgbClr val="063DE8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9" name="Text Box 428">
            <a:extLst>
              <a:ext uri="{FF2B5EF4-FFF2-40B4-BE49-F238E27FC236}">
                <a16:creationId xmlns:a16="http://schemas.microsoft.com/office/drawing/2014/main" id="{4D287EA9-9183-E3E9-E773-2F06383AD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4088" y="3811589"/>
            <a:ext cx="287258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B</a:t>
            </a:r>
          </a:p>
        </p:txBody>
      </p:sp>
      <p:sp>
        <p:nvSpPr>
          <p:cNvPr id="20" name="Text Box 429">
            <a:extLst>
              <a:ext uri="{FF2B5EF4-FFF2-40B4-BE49-F238E27FC236}">
                <a16:creationId xmlns:a16="http://schemas.microsoft.com/office/drawing/2014/main" id="{796F81A5-6EFD-A73D-844A-D0AC6EDEC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588" y="3813176"/>
            <a:ext cx="338554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-B</a:t>
            </a:r>
          </a:p>
        </p:txBody>
      </p:sp>
      <p:sp>
        <p:nvSpPr>
          <p:cNvPr id="21" name="Line 430">
            <a:extLst>
              <a:ext uri="{FF2B5EF4-FFF2-40B4-BE49-F238E27FC236}">
                <a16:creationId xmlns:a16="http://schemas.microsoft.com/office/drawing/2014/main" id="{615387FB-E04C-852B-19EC-CED6451844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3325" y="5467350"/>
            <a:ext cx="1930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2" name="Line 431">
            <a:extLst>
              <a:ext uri="{FF2B5EF4-FFF2-40B4-BE49-F238E27FC236}">
                <a16:creationId xmlns:a16="http://schemas.microsoft.com/office/drawing/2014/main" id="{9B986A68-C48E-9D9F-9C17-E1C1D63088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93125" y="4994275"/>
            <a:ext cx="0" cy="8715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23" name="Text Box 435">
            <a:extLst>
              <a:ext uri="{FF2B5EF4-FFF2-40B4-BE49-F238E27FC236}">
                <a16:creationId xmlns:a16="http://schemas.microsoft.com/office/drawing/2014/main" id="{E6B961B2-064C-A4BC-351D-870A51F25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275" y="5519739"/>
            <a:ext cx="235962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f</a:t>
            </a:r>
          </a:p>
        </p:txBody>
      </p:sp>
      <p:sp>
        <p:nvSpPr>
          <p:cNvPr id="24" name="Text Box 436">
            <a:extLst>
              <a:ext uri="{FF2B5EF4-FFF2-40B4-BE49-F238E27FC236}">
                <a16:creationId xmlns:a16="http://schemas.microsoft.com/office/drawing/2014/main" id="{06F15C93-CE48-858A-2BF2-98D4233E1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6472" y="4789488"/>
            <a:ext cx="579005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dirty="0">
                <a:solidFill>
                  <a:srgbClr val="EE0000"/>
                </a:solidFill>
                <a:latin typeface="Symbol" pitchFamily="18" charset="2"/>
              </a:rPr>
              <a:t>F</a:t>
            </a:r>
            <a:r>
              <a:rPr lang="en-US" dirty="0">
                <a:solidFill>
                  <a:srgbClr val="EE0000"/>
                </a:solidFill>
                <a:latin typeface="Times New Roman" pitchFamily="18" charset="0"/>
              </a:rPr>
              <a:t>(</a:t>
            </a:r>
            <a:r>
              <a:rPr lang="en-US" i="1" dirty="0">
                <a:solidFill>
                  <a:srgbClr val="EE0000"/>
                </a:solidFill>
                <a:latin typeface="Times New Roman" pitchFamily="18" charset="0"/>
              </a:rPr>
              <a:t>f</a:t>
            </a:r>
            <a:r>
              <a:rPr lang="en-US" dirty="0">
                <a:solidFill>
                  <a:srgbClr val="EE0000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25" name="Text Box 438">
            <a:extLst>
              <a:ext uri="{FF2B5EF4-FFF2-40B4-BE49-F238E27FC236}">
                <a16:creationId xmlns:a16="http://schemas.microsoft.com/office/drawing/2014/main" id="{4306DB21-80CC-84D9-D203-6198C05B7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0513" y="5456239"/>
            <a:ext cx="332142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-f</a:t>
            </a:r>
            <a:r>
              <a:rPr lang="en-US" sz="1200" baseline="-25000">
                <a:latin typeface="Times New Roman" pitchFamily="18" charset="0"/>
              </a:rPr>
              <a:t>c</a:t>
            </a:r>
            <a:endParaRPr lang="en-US" sz="1200">
              <a:latin typeface="Times New Roman" pitchFamily="18" charset="0"/>
            </a:endParaRPr>
          </a:p>
        </p:txBody>
      </p:sp>
      <p:grpSp>
        <p:nvGrpSpPr>
          <p:cNvPr id="26" name="Group 442">
            <a:extLst>
              <a:ext uri="{FF2B5EF4-FFF2-40B4-BE49-F238E27FC236}">
                <a16:creationId xmlns:a16="http://schemas.microsoft.com/office/drawing/2014/main" id="{584D74C0-46E8-1374-2378-FE98666BE22F}"/>
              </a:ext>
            </a:extLst>
          </p:cNvPr>
          <p:cNvGrpSpPr>
            <a:grpSpLocks/>
          </p:cNvGrpSpPr>
          <p:nvPr/>
        </p:nvGrpSpPr>
        <p:grpSpPr bwMode="auto">
          <a:xfrm>
            <a:off x="7861301" y="5254626"/>
            <a:ext cx="1349375" cy="225425"/>
            <a:chOff x="3992" y="3198"/>
            <a:chExt cx="850" cy="254"/>
          </a:xfrm>
        </p:grpSpPr>
        <p:grpSp>
          <p:nvGrpSpPr>
            <p:cNvPr id="27" name="Group 432">
              <a:extLst>
                <a:ext uri="{FF2B5EF4-FFF2-40B4-BE49-F238E27FC236}">
                  <a16:creationId xmlns:a16="http://schemas.microsoft.com/office/drawing/2014/main" id="{C4AA52A4-AF9C-E902-2ACA-B106E8384F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2" y="3198"/>
              <a:ext cx="274" cy="253"/>
              <a:chOff x="4251" y="2207"/>
              <a:chExt cx="274" cy="173"/>
            </a:xfrm>
          </p:grpSpPr>
          <p:sp>
            <p:nvSpPr>
              <p:cNvPr id="31" name="Line 433">
                <a:extLst>
                  <a:ext uri="{FF2B5EF4-FFF2-40B4-BE49-F238E27FC236}">
                    <a16:creationId xmlns:a16="http://schemas.microsoft.com/office/drawing/2014/main" id="{7F210620-B953-4010-2540-EC80A6C50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2" name="Line 434">
                <a:extLst>
                  <a:ext uri="{FF2B5EF4-FFF2-40B4-BE49-F238E27FC236}">
                    <a16:creationId xmlns:a16="http://schemas.microsoft.com/office/drawing/2014/main" id="{4C968D66-34B1-5754-0E84-7A802C8C0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28" name="Group 439">
              <a:extLst>
                <a:ext uri="{FF2B5EF4-FFF2-40B4-BE49-F238E27FC236}">
                  <a16:creationId xmlns:a16="http://schemas.microsoft.com/office/drawing/2014/main" id="{C8C1C634-6A46-BF73-ADA6-8ADF480560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8" y="3199"/>
              <a:ext cx="274" cy="253"/>
              <a:chOff x="4251" y="2207"/>
              <a:chExt cx="274" cy="173"/>
            </a:xfrm>
          </p:grpSpPr>
          <p:sp>
            <p:nvSpPr>
              <p:cNvPr id="29" name="Line 440">
                <a:extLst>
                  <a:ext uri="{FF2B5EF4-FFF2-40B4-BE49-F238E27FC236}">
                    <a16:creationId xmlns:a16="http://schemas.microsoft.com/office/drawing/2014/main" id="{AE95714C-C2CB-9E61-DC8B-8069046781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0" name="Line 441">
                <a:extLst>
                  <a:ext uri="{FF2B5EF4-FFF2-40B4-BE49-F238E27FC236}">
                    <a16:creationId xmlns:a16="http://schemas.microsoft.com/office/drawing/2014/main" id="{252FDA45-59A0-80E1-CD08-A3B4AD35E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EE0000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</p:grpSp>
      <p:sp>
        <p:nvSpPr>
          <p:cNvPr id="33" name="Line 443">
            <a:extLst>
              <a:ext uri="{FF2B5EF4-FFF2-40B4-BE49-F238E27FC236}">
                <a16:creationId xmlns:a16="http://schemas.microsoft.com/office/drawing/2014/main" id="{78F0CC1A-6B18-FF1A-064B-F8D4E3C907B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5249863"/>
            <a:ext cx="0" cy="228600"/>
          </a:xfrm>
          <a:prstGeom prst="line">
            <a:avLst/>
          </a:prstGeom>
          <a:noFill/>
          <a:ln w="63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4" name="Text Box 444">
            <a:extLst>
              <a:ext uri="{FF2B5EF4-FFF2-40B4-BE49-F238E27FC236}">
                <a16:creationId xmlns:a16="http://schemas.microsoft.com/office/drawing/2014/main" id="{9397A701-06B3-2BD1-7058-352305D0EF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8250" y="5481639"/>
            <a:ext cx="280846" cy="27699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1200">
                <a:latin typeface="Times New Roman" pitchFamily="18" charset="0"/>
              </a:rPr>
              <a:t>f</a:t>
            </a:r>
            <a:r>
              <a:rPr lang="en-US" sz="1200" baseline="-25000">
                <a:latin typeface="Times New Roman" pitchFamily="18" charset="0"/>
              </a:rPr>
              <a:t>c</a:t>
            </a:r>
            <a:endParaRPr lang="en-US" sz="1200">
              <a:latin typeface="Times New Roman" pitchFamily="18" charset="0"/>
            </a:endParaRPr>
          </a:p>
        </p:txBody>
      </p:sp>
      <p:sp>
        <p:nvSpPr>
          <p:cNvPr id="35" name="Line 445">
            <a:extLst>
              <a:ext uri="{FF2B5EF4-FFF2-40B4-BE49-F238E27FC236}">
                <a16:creationId xmlns:a16="http://schemas.microsoft.com/office/drawing/2014/main" id="{49958E81-A0B4-0AB6-3E92-5F19E29DF0FA}"/>
              </a:ext>
            </a:extLst>
          </p:cNvPr>
          <p:cNvSpPr>
            <a:spLocks noChangeShapeType="1"/>
          </p:cNvSpPr>
          <p:nvPr/>
        </p:nvSpPr>
        <p:spPr bwMode="auto">
          <a:xfrm>
            <a:off x="8991600" y="5275263"/>
            <a:ext cx="0" cy="228600"/>
          </a:xfrm>
          <a:prstGeom prst="line">
            <a:avLst/>
          </a:prstGeom>
          <a:noFill/>
          <a:ln w="635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6" name="Text Box 446">
            <a:extLst>
              <a:ext uri="{FF2B5EF4-FFF2-40B4-BE49-F238E27FC236}">
                <a16:creationId xmlns:a16="http://schemas.microsoft.com/office/drawing/2014/main" id="{40EE07A7-1ECF-AE0E-4279-635E2DE66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04351" y="4849813"/>
            <a:ext cx="562975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dirty="0"/>
              <a:t>USB</a:t>
            </a:r>
          </a:p>
        </p:txBody>
      </p:sp>
      <p:sp>
        <p:nvSpPr>
          <p:cNvPr id="37" name="Line 447">
            <a:extLst>
              <a:ext uri="{FF2B5EF4-FFF2-40B4-BE49-F238E27FC236}">
                <a16:creationId xmlns:a16="http://schemas.microsoft.com/office/drawing/2014/main" id="{ACA701E2-906D-DDCA-93E0-0D4FC2F4B4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067800" y="5029201"/>
            <a:ext cx="439738" cy="373063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38" name="Text Box 448">
            <a:extLst>
              <a:ext uri="{FF2B5EF4-FFF2-40B4-BE49-F238E27FC236}">
                <a16:creationId xmlns:a16="http://schemas.microsoft.com/office/drawing/2014/main" id="{DA020FE8-C7DF-2FBF-3A04-E5906AC87E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0100" y="4995863"/>
            <a:ext cx="513282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/>
              <a:t>LSB</a:t>
            </a:r>
          </a:p>
        </p:txBody>
      </p:sp>
      <p:sp>
        <p:nvSpPr>
          <p:cNvPr id="39" name="Line 449">
            <a:extLst>
              <a:ext uri="{FF2B5EF4-FFF2-40B4-BE49-F238E27FC236}">
                <a16:creationId xmlns:a16="http://schemas.microsoft.com/office/drawing/2014/main" id="{FEA06702-84A4-D82D-9A0F-30E69BF5B80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45538" y="5207000"/>
            <a:ext cx="169862" cy="1603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0" name="Line 453">
            <a:extLst>
              <a:ext uri="{FF2B5EF4-FFF2-40B4-BE49-F238E27FC236}">
                <a16:creationId xmlns:a16="http://schemas.microsoft.com/office/drawing/2014/main" id="{E48157D6-3A56-F71C-FD4A-A1300415ED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5338" y="6748464"/>
            <a:ext cx="0" cy="793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4" name="AutoShape 13">
            <a:extLst>
              <a:ext uri="{FF2B5EF4-FFF2-40B4-BE49-F238E27FC236}">
                <a16:creationId xmlns:a16="http://schemas.microsoft.com/office/drawing/2014/main" id="{E1D777CB-5570-6733-5C45-465E48A89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5228" y="3547507"/>
            <a:ext cx="1152525" cy="169862"/>
          </a:xfrm>
          <a:prstGeom prst="leftRightArrow">
            <a:avLst>
              <a:gd name="adj1" fmla="val 50000"/>
              <a:gd name="adj2" fmla="val 135701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6" name="AutoShape 14">
            <a:extLst>
              <a:ext uri="{FF2B5EF4-FFF2-40B4-BE49-F238E27FC236}">
                <a16:creationId xmlns:a16="http://schemas.microsoft.com/office/drawing/2014/main" id="{9943AEA1-4912-9438-BCA0-4BA59330E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6815" y="5279469"/>
            <a:ext cx="1152525" cy="169863"/>
          </a:xfrm>
          <a:prstGeom prst="leftRightArrow">
            <a:avLst>
              <a:gd name="adj1" fmla="val 50000"/>
              <a:gd name="adj2" fmla="val 135701"/>
            </a:avLst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pt-BR"/>
          </a:p>
        </p:txBody>
      </p:sp>
      <p:sp>
        <p:nvSpPr>
          <p:cNvPr id="48" name="Text Box 446">
            <a:extLst>
              <a:ext uri="{FF2B5EF4-FFF2-40B4-BE49-F238E27FC236}">
                <a16:creationId xmlns:a16="http://schemas.microsoft.com/office/drawing/2014/main" id="{A5019125-033E-10ED-0B2C-D65D4BFBFF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5450" y="5929016"/>
            <a:ext cx="1707519" cy="36933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dirty="0"/>
              <a:t>LSB + USB = DSB</a:t>
            </a:r>
          </a:p>
        </p:txBody>
      </p:sp>
    </p:spTree>
    <p:extLst>
      <p:ext uri="{BB962C8B-B14F-4D97-AF65-F5344CB8AC3E}">
        <p14:creationId xmlns:p14="http://schemas.microsoft.com/office/powerpoint/2010/main" val="21875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559E8-421E-43FA-D83F-36A765D6D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</a:t>
            </a:r>
            <a:br>
              <a:rPr lang="pt-BR" dirty="0"/>
            </a:br>
            <a:r>
              <a:rPr lang="pt-BR" dirty="0"/>
              <a:t>Demodulação</a:t>
            </a: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FF427B8-898E-40D4-BEBC-313AABE8AF5C}"/>
              </a:ext>
            </a:extLst>
          </p:cNvPr>
          <p:cNvSpPr>
            <a:spLocks/>
          </p:cNvSpPr>
          <p:nvPr/>
        </p:nvSpPr>
        <p:spPr bwMode="auto">
          <a:xfrm rot="16200000">
            <a:off x="8220870" y="3365757"/>
            <a:ext cx="190500" cy="3719512"/>
          </a:xfrm>
          <a:prstGeom prst="leftBrace">
            <a:avLst>
              <a:gd name="adj1" fmla="val 162708"/>
              <a:gd name="adj2" fmla="val 50801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3EC3C4B3-A2E9-44BB-06E2-09DFE708FC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538" y="5339815"/>
            <a:ext cx="4213225" cy="341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54000" rIns="54000">
            <a:spAutoFit/>
          </a:bodyPr>
          <a:lstStyle/>
          <a:p>
            <a:pPr>
              <a:lnSpc>
                <a:spcPct val="90000"/>
              </a:lnSpc>
            </a:pPr>
            <a:r>
              <a:rPr lang="pt-BR" dirty="0">
                <a:solidFill>
                  <a:schemeClr val="accent2"/>
                </a:solidFill>
              </a:rPr>
              <a:t>Esse componente é eliminado pelo filtro LP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F3BFBDB-206F-E1A6-21BE-99AE8DFA3730}"/>
              </a:ext>
            </a:extLst>
          </p:cNvPr>
          <p:cNvSpPr>
            <a:spLocks/>
          </p:cNvSpPr>
          <p:nvPr/>
        </p:nvSpPr>
        <p:spPr bwMode="auto">
          <a:xfrm rot="16200000">
            <a:off x="4786802" y="3876883"/>
            <a:ext cx="210347" cy="2617602"/>
          </a:xfrm>
          <a:prstGeom prst="leftBrace">
            <a:avLst>
              <a:gd name="adj1" fmla="val 82639"/>
              <a:gd name="adj2" fmla="val 50801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ED44978A-9D1C-C4B6-0315-8B1C8D23B1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6652675"/>
              </p:ext>
            </p:extLst>
          </p:nvPr>
        </p:nvGraphicFramePr>
        <p:xfrm>
          <a:off x="4496588" y="5362680"/>
          <a:ext cx="660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0120" imgH="215640" progId="Equation.3">
                  <p:embed/>
                </p:oleObj>
              </mc:Choice>
              <mc:Fallback>
                <p:oleObj name="Equation" r:id="rId2" imgW="330120" imgH="215640" progId="Equation.3">
                  <p:embed/>
                  <p:pic>
                    <p:nvPicPr>
                      <p:cNvPr id="8314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6588" y="5362680"/>
                        <a:ext cx="6604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Oval 11">
            <a:extLst>
              <a:ext uri="{FF2B5EF4-FFF2-40B4-BE49-F238E27FC236}">
                <a16:creationId xmlns:a16="http://schemas.microsoft.com/office/drawing/2014/main" id="{463BF877-B4A3-70BA-FC1D-949643D74F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9" y="1260476"/>
            <a:ext cx="511175" cy="511175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pt-BR" sz="3600">
                <a:solidFill>
                  <a:schemeClr val="accent2"/>
                </a:solidFill>
                <a:latin typeface="Symbol" pitchFamily="18" charset="2"/>
                <a:sym typeface="Wingdings 2" pitchFamily="18" charset="2"/>
              </a:rPr>
              <a:t></a:t>
            </a:r>
            <a:endParaRPr lang="pt-BR" sz="3600">
              <a:solidFill>
                <a:schemeClr val="accent2"/>
              </a:solidFill>
              <a:latin typeface="Symbol" pitchFamily="18" charset="2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1EADD03F-4186-7B94-3591-6C7E1D901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9" y="1082676"/>
            <a:ext cx="1370013" cy="866775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Filtro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passa-baixa</a:t>
            </a:r>
            <a:endParaRPr lang="pt-BR" i="1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7F0ED91F-8564-A131-6B48-71230C5AF90A}"/>
              </a:ext>
            </a:extLst>
          </p:cNvPr>
          <p:cNvCxnSpPr>
            <a:cxnSpLocks noChangeShapeType="1"/>
            <a:stCxn id="11" idx="6"/>
            <a:endCxn id="12" idx="1"/>
          </p:cNvCxnSpPr>
          <p:nvPr/>
        </p:nvCxnSpPr>
        <p:spPr bwMode="auto">
          <a:xfrm>
            <a:off x="7237414" y="1516064"/>
            <a:ext cx="8413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16" name="AutoShape 16">
            <a:extLst>
              <a:ext uri="{FF2B5EF4-FFF2-40B4-BE49-F238E27FC236}">
                <a16:creationId xmlns:a16="http://schemas.microsoft.com/office/drawing/2014/main" id="{9F0EBD81-AF4C-4BE0-BF9B-8D3F0E5975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4" y="2373314"/>
            <a:ext cx="989013" cy="5905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Oscilador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local</a:t>
            </a:r>
            <a:endParaRPr lang="pt-BR" i="1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FDC86329-C36A-4164-7E05-03EB13CBB789}"/>
              </a:ext>
            </a:extLst>
          </p:cNvPr>
          <p:cNvCxnSpPr>
            <a:cxnSpLocks noChangeShapeType="1"/>
            <a:stCxn id="16" idx="0"/>
            <a:endCxn id="11" idx="4"/>
          </p:cNvCxnSpPr>
          <p:nvPr/>
        </p:nvCxnSpPr>
        <p:spPr bwMode="auto">
          <a:xfrm flipV="1">
            <a:off x="6951664" y="1771651"/>
            <a:ext cx="11113" cy="601663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85D5C3DD-E1D9-A158-16C3-8CE3A9ACC184}"/>
              </a:ext>
            </a:extLst>
          </p:cNvPr>
          <p:cNvCxnSpPr>
            <a:cxnSpLocks noChangeShapeType="1"/>
            <a:endCxn id="16" idx="1"/>
          </p:cNvCxnSpPr>
          <p:nvPr/>
        </p:nvCxnSpPr>
        <p:spPr bwMode="auto">
          <a:xfrm>
            <a:off x="5095876" y="1484314"/>
            <a:ext cx="1360488" cy="118427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prstDash val="dash"/>
            <a:miter lim="800000"/>
            <a:headEnd/>
            <a:tailEnd type="triangle" w="med" len="lg"/>
          </a:ln>
          <a:effectLst/>
        </p:spPr>
      </p:cxnSp>
      <p:sp>
        <p:nvSpPr>
          <p:cNvPr id="20" name="Line 20">
            <a:extLst>
              <a:ext uri="{FF2B5EF4-FFF2-40B4-BE49-F238E27FC236}">
                <a16:creationId xmlns:a16="http://schemas.microsoft.com/office/drawing/2014/main" id="{ABA45268-5365-47AC-1EA3-C4373C98AC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67851" y="1519239"/>
            <a:ext cx="8572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0EFE679A-7939-69E5-65D8-361F8F8F8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9" y="1222376"/>
            <a:ext cx="1035050" cy="590550"/>
          </a:xfrm>
          <a:prstGeom prst="flowChartProcess">
            <a:avLst/>
          </a:prstGeom>
          <a:solidFill>
            <a:srgbClr val="FFD7D7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Canal não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distorcivo</a:t>
            </a:r>
            <a:endParaRPr lang="pt-BR" i="1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DDAF184-5D0E-CAEA-7BCA-F8D24989CBB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5939" y="1524001"/>
            <a:ext cx="571500" cy="1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7216BDF6-A361-1792-97AE-C378E45D7B9D}"/>
                  </a:ext>
                </a:extLst>
              </p:cNvPr>
              <p:cNvSpPr txBox="1"/>
              <p:nvPr/>
            </p:nvSpPr>
            <p:spPr bwMode="auto">
              <a:xfrm>
                <a:off x="1465264" y="1041401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7216BDF6-A361-1792-97AE-C378E45D7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5264" y="1041401"/>
                <a:ext cx="457200" cy="331788"/>
              </a:xfrm>
              <a:prstGeom prst="rect">
                <a:avLst/>
              </a:prstGeom>
              <a:blipFill>
                <a:blip r:embed="rId4"/>
                <a:stretch>
                  <a:fillRect r="-4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F58F18AB-44DE-02BC-9E90-EDA36783C671}"/>
              </a:ext>
            </a:extLst>
          </p:cNvPr>
          <p:cNvCxnSpPr>
            <a:cxnSpLocks noChangeShapeType="1"/>
            <a:stCxn id="22" idx="3"/>
            <a:endCxn id="11" idx="2"/>
          </p:cNvCxnSpPr>
          <p:nvPr/>
        </p:nvCxnSpPr>
        <p:spPr bwMode="auto">
          <a:xfrm flipV="1">
            <a:off x="3379789" y="1516064"/>
            <a:ext cx="3327400" cy="1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27" name="AutoShape 27">
            <a:extLst>
              <a:ext uri="{FF2B5EF4-FFF2-40B4-BE49-F238E27FC236}">
                <a16:creationId xmlns:a16="http://schemas.microsoft.com/office/drawing/2014/main" id="{7B9ACDA1-005F-7B18-B5BB-6AC75FB5A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3895725"/>
            <a:ext cx="171450" cy="552450"/>
          </a:xfrm>
          <a:prstGeom prst="downArrow">
            <a:avLst>
              <a:gd name="adj1" fmla="val 50000"/>
              <a:gd name="adj2" fmla="val 80556"/>
            </a:avLst>
          </a:prstGeom>
          <a:solidFill>
            <a:srgbClr val="EAEAEA"/>
          </a:solidFill>
          <a:ln w="9525" algn="ctr">
            <a:solidFill>
              <a:srgbClr val="5F5F5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24">
                <a:extLst>
                  <a:ext uri="{FF2B5EF4-FFF2-40B4-BE49-F238E27FC236}">
                    <a16:creationId xmlns:a16="http://schemas.microsoft.com/office/drawing/2014/main" id="{BAD211E2-671A-7400-2773-BC2EC045102B}"/>
                  </a:ext>
                </a:extLst>
              </p:cNvPr>
              <p:cNvSpPr txBox="1"/>
              <p:nvPr/>
            </p:nvSpPr>
            <p:spPr bwMode="auto">
              <a:xfrm>
                <a:off x="3451005" y="969172"/>
                <a:ext cx="4538662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r>
                  <a:rPr lang="pt-BR" sz="2000" dirty="0">
                    <a:solidFill>
                      <a:srgbClr val="000000"/>
                    </a:solidFill>
                  </a:rPr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sty m:val="p"/>
                      </m:rPr>
                      <a:rPr lang="pt-B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⁡(2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31" name="Object 24">
                <a:extLst>
                  <a:ext uri="{FF2B5EF4-FFF2-40B4-BE49-F238E27FC236}">
                    <a16:creationId xmlns:a16="http://schemas.microsoft.com/office/drawing/2014/main" id="{BAD211E2-671A-7400-2773-BC2EC0451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1005" y="969172"/>
                <a:ext cx="4538662" cy="331788"/>
              </a:xfrm>
              <a:prstGeom prst="rect">
                <a:avLst/>
              </a:prstGeom>
              <a:blipFill>
                <a:blip r:embed="rId5"/>
                <a:stretch>
                  <a:fillRect l="-1342" t="-11111" b="-537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5CCD2A5D-69DD-8AEE-E683-818FF19F9E66}"/>
                  </a:ext>
                </a:extLst>
              </p:cNvPr>
              <p:cNvSpPr txBox="1"/>
              <p:nvPr/>
            </p:nvSpPr>
            <p:spPr bwMode="auto">
              <a:xfrm>
                <a:off x="7313391" y="1014413"/>
                <a:ext cx="676275" cy="3159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5CCD2A5D-69DD-8AEE-E683-818FF19F9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3391" y="1014413"/>
                <a:ext cx="676275" cy="315913"/>
              </a:xfrm>
              <a:prstGeom prst="rect">
                <a:avLst/>
              </a:prstGeom>
              <a:blipFill>
                <a:blip r:embed="rId6"/>
                <a:stretch>
                  <a:fillRect l="-9910" t="-9615" b="-596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260D4589-69DA-61D4-6B9A-EAF1805D22EC}"/>
                  </a:ext>
                </a:extLst>
              </p:cNvPr>
              <p:cNvSpPr txBox="1"/>
              <p:nvPr/>
            </p:nvSpPr>
            <p:spPr bwMode="auto">
              <a:xfrm>
                <a:off x="10088564" y="1082676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260D4589-69DA-61D4-6B9A-EAF1805D22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88564" y="1082676"/>
                <a:ext cx="457200" cy="331788"/>
              </a:xfrm>
              <a:prstGeom prst="rect">
                <a:avLst/>
              </a:prstGeom>
              <a:blipFill>
                <a:blip r:embed="rId7"/>
                <a:stretch>
                  <a:fillRect t="-7407" r="-6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9425AFD8-6E2B-2C8C-A8A3-3725B52E08FC}"/>
                  </a:ext>
                </a:extLst>
              </p:cNvPr>
              <p:cNvSpPr txBox="1"/>
              <p:nvPr/>
            </p:nvSpPr>
            <p:spPr bwMode="auto">
              <a:xfrm>
                <a:off x="4392614" y="2117731"/>
                <a:ext cx="1808163" cy="72310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9425AFD8-6E2B-2C8C-A8A3-3725B52E0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2614" y="2117731"/>
                <a:ext cx="1808163" cy="723106"/>
              </a:xfrm>
              <a:prstGeom prst="rect">
                <a:avLst/>
              </a:prstGeom>
              <a:blipFill>
                <a:blip r:embed="rId8"/>
                <a:stretch>
                  <a:fillRect t="-2521" r="-158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3BD64BDF-D910-B24F-630A-558FDD8F76AF}"/>
                  </a:ext>
                </a:extLst>
              </p:cNvPr>
              <p:cNvSpPr txBox="1"/>
              <p:nvPr/>
            </p:nvSpPr>
            <p:spPr bwMode="auto">
              <a:xfrm>
                <a:off x="2983430" y="3276062"/>
                <a:ext cx="674953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func>
                      <m:funcPr>
                        <m:ctrl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func>
                      <m:funcPr>
                        <m:ctrl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39" name="Object 24">
                <a:extLst>
                  <a:ext uri="{FF2B5EF4-FFF2-40B4-BE49-F238E27FC236}">
                    <a16:creationId xmlns:a16="http://schemas.microsoft.com/office/drawing/2014/main" id="{3BD64BDF-D910-B24F-630A-558FDD8F7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3430" y="3276062"/>
                <a:ext cx="6749533" cy="551660"/>
              </a:xfrm>
              <a:prstGeom prst="rect">
                <a:avLst/>
              </a:prstGeom>
              <a:blipFill>
                <a:blip r:embed="rId9"/>
                <a:stretch>
                  <a:fillRect l="-903" t="-32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85EC58E9-462B-FC6D-35A2-5982F550A778}"/>
                  </a:ext>
                </a:extLst>
              </p:cNvPr>
              <p:cNvSpPr txBox="1"/>
              <p:nvPr/>
            </p:nvSpPr>
            <p:spPr>
              <a:xfrm>
                <a:off x="5680197" y="3945735"/>
                <a:ext cx="1175835" cy="384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85EC58E9-462B-FC6D-35A2-5982F550A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0197" y="3945735"/>
                <a:ext cx="1175835" cy="384914"/>
              </a:xfrm>
              <a:prstGeom prst="rect">
                <a:avLst/>
              </a:prstGeom>
              <a:blipFill>
                <a:blip r:embed="rId10"/>
                <a:stretch>
                  <a:fillRect l="-4663" t="-7937" b="-253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00E4F879-2794-C207-7B77-D83184539FF4}"/>
                  </a:ext>
                </a:extLst>
              </p:cNvPr>
              <p:cNvSpPr txBox="1"/>
              <p:nvPr/>
            </p:nvSpPr>
            <p:spPr bwMode="auto">
              <a:xfrm>
                <a:off x="2728452" y="4509800"/>
                <a:ext cx="795747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func>
                      <m:funcPr>
                        <m:ctrl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</m:e>
                    </m:func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num>
                      <m:den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func>
                      <m:funcPr>
                        <m:ctrl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(4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00E4F879-2794-C207-7B77-D83184539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8452" y="4509800"/>
                <a:ext cx="7957473" cy="551660"/>
              </a:xfrm>
              <a:prstGeom prst="rect">
                <a:avLst/>
              </a:prstGeom>
              <a:blipFill>
                <a:blip r:embed="rId11"/>
                <a:stretch>
                  <a:fillRect l="-843" b="-44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42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2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98672-02E2-3E74-4918-793560B6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</a:t>
            </a:r>
            <a:br>
              <a:rPr lang="pt-BR" dirty="0"/>
            </a:br>
            <a:r>
              <a:rPr lang="pt-BR" dirty="0"/>
              <a:t>Demodulação – na Frequência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163C8BF2-6415-6761-FA4E-28E6FA4D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2837" y="1738314"/>
            <a:ext cx="1293812" cy="886397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65000"/>
              </a:lnSpc>
              <a:spcBef>
                <a:spcPct val="75000"/>
              </a:spcBef>
            </a:pPr>
            <a:r>
              <a:rPr lang="en-US" sz="1400" dirty="0" err="1"/>
              <a:t>Filtro</a:t>
            </a:r>
            <a:endParaRPr lang="en-US" sz="1400" dirty="0"/>
          </a:p>
          <a:p>
            <a:pPr defTabSz="762000">
              <a:lnSpc>
                <a:spcPct val="50000"/>
              </a:lnSpc>
              <a:spcBef>
                <a:spcPct val="75000"/>
              </a:spcBef>
            </a:pPr>
            <a:r>
              <a:rPr lang="en-US" sz="1400" dirty="0" err="1"/>
              <a:t>Passa-Baixa</a:t>
            </a:r>
            <a:endParaRPr lang="en-US" sz="1400" dirty="0"/>
          </a:p>
          <a:p>
            <a:pPr defTabSz="762000">
              <a:lnSpc>
                <a:spcPct val="50000"/>
              </a:lnSpc>
              <a:spcBef>
                <a:spcPct val="75000"/>
              </a:spcBef>
            </a:pPr>
            <a:r>
              <a:rPr lang="en-US" i="1" dirty="0">
                <a:latin typeface="Times New Roman" pitchFamily="18" charset="0"/>
              </a:rPr>
              <a:t>H</a:t>
            </a:r>
            <a:r>
              <a:rPr lang="en-US" baseline="-25000" dirty="0">
                <a:latin typeface="Times New Roman" pitchFamily="18" charset="0"/>
              </a:rPr>
              <a:t>LP</a:t>
            </a:r>
            <a:r>
              <a:rPr lang="en-US" dirty="0">
                <a:latin typeface="Times New Roman" pitchFamily="18" charset="0"/>
              </a:rPr>
              <a:t>(</a:t>
            </a:r>
            <a:r>
              <a:rPr lang="en-US" i="1" dirty="0">
                <a:latin typeface="Times New Roman" pitchFamily="18" charset="0"/>
              </a:rPr>
              <a:t>f</a:t>
            </a:r>
            <a:r>
              <a:rPr lang="en-US" dirty="0">
                <a:latin typeface="Times New Roman" pitchFamily="18" charset="0"/>
              </a:rPr>
              <a:t>)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CDAA317-1AE9-BBD3-C85A-C423C37DF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1105" y="1679463"/>
            <a:ext cx="737603" cy="7699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4400" dirty="0">
                <a:latin typeface="Symbol" pitchFamily="18" charset="2"/>
              </a:rPr>
              <a:t>Ä</a:t>
            </a:r>
            <a:endParaRPr lang="en-US" sz="4400" dirty="0"/>
          </a:p>
        </p:txBody>
      </p:sp>
      <p:sp>
        <p:nvSpPr>
          <p:cNvPr id="6" name="Line 4">
            <a:extLst>
              <a:ext uri="{FF2B5EF4-FFF2-40B4-BE49-F238E27FC236}">
                <a16:creationId xmlns:a16="http://schemas.microsoft.com/office/drawing/2014/main" id="{80F32D91-B54C-9CCB-66AC-FF835D229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7571" y="2068514"/>
            <a:ext cx="132540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 sz="3200"/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C72EAC65-36F2-986E-5182-F90D00CCAF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6569" y="2179639"/>
            <a:ext cx="0" cy="541338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>
            <a:spAutoFit/>
          </a:bodyPr>
          <a:lstStyle/>
          <a:p>
            <a:endParaRPr lang="pt-BR" sz="3200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34E4A4AD-7825-70A0-F914-197D1C697A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1715" y="2070101"/>
            <a:ext cx="1325409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anchor="ctr">
            <a:spAutoFit/>
          </a:bodyPr>
          <a:lstStyle/>
          <a:p>
            <a:endParaRPr lang="pt-BR" sz="3200"/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B67167F3-DB09-0A1A-E79F-A327A0856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6754" y="2746377"/>
            <a:ext cx="2905039" cy="4616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762000"/>
            <a:r>
              <a:rPr lang="en-US" sz="2400" dirty="0" err="1">
                <a:latin typeface="Times New Roman" pitchFamily="18" charset="0"/>
              </a:rPr>
              <a:t>cos</a:t>
            </a:r>
            <a:r>
              <a:rPr lang="en-US" sz="2400" dirty="0">
                <a:latin typeface="Times New Roman" pitchFamily="18" charset="0"/>
              </a:rPr>
              <a:t>(2</a:t>
            </a:r>
            <a:r>
              <a:rPr lang="en-US" sz="2400" dirty="0">
                <a:latin typeface="Symbol" pitchFamily="18" charset="2"/>
              </a:rPr>
              <a:t>p</a:t>
            </a:r>
            <a:r>
              <a:rPr lang="en-US" sz="2400" i="1" dirty="0">
                <a:latin typeface="Times New Roman" pitchFamily="18" charset="0"/>
              </a:rPr>
              <a:t>f</a:t>
            </a:r>
            <a:r>
              <a:rPr lang="en-US" sz="2400" baseline="-25000" dirty="0">
                <a:latin typeface="Times New Roman" pitchFamily="18" charset="0"/>
              </a:rPr>
              <a:t>c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</a:rPr>
              <a:t>)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F960989-AD27-4AED-37AF-EFFC2655B2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9012" y="3082927"/>
            <a:ext cx="1434560" cy="4616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2400" dirty="0" err="1"/>
              <a:t>portadora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CEB1612-10D8-3D51-7ED9-55BBD116C180}"/>
                  </a:ext>
                </a:extLst>
              </p:cNvPr>
              <p:cNvSpPr txBox="1"/>
              <p:nvPr/>
            </p:nvSpPr>
            <p:spPr bwMode="auto">
              <a:xfrm>
                <a:off x="838200" y="1433808"/>
                <a:ext cx="3701285" cy="461669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𝐷𝑆𝐵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𝑆𝐶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11" name="Object 11">
                <a:extLst>
                  <a:ext uri="{FF2B5EF4-FFF2-40B4-BE49-F238E27FC236}">
                    <a16:creationId xmlns:a16="http://schemas.microsoft.com/office/drawing/2014/main" id="{3CEB1612-10D8-3D51-7ED9-55BBD116C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200" y="1433808"/>
                <a:ext cx="3701285" cy="461669"/>
              </a:xfrm>
              <a:prstGeom prst="rect">
                <a:avLst/>
              </a:prstGeom>
              <a:blipFill>
                <a:blip r:embed="rId2"/>
                <a:stretch>
                  <a:fillRect l="-65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13">
            <a:extLst>
              <a:ext uri="{FF2B5EF4-FFF2-40B4-BE49-F238E27FC236}">
                <a16:creationId xmlns:a16="http://schemas.microsoft.com/office/drawing/2014/main" id="{EDD8CDF5-C805-7306-7A1B-3A56B2086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2435" y="1438368"/>
            <a:ext cx="611065" cy="46166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762000"/>
            <a:r>
              <a:rPr lang="en-US" sz="2400" i="1" dirty="0">
                <a:latin typeface="Times New Roman" pitchFamily="18" charset="0"/>
              </a:rPr>
              <a:t>e</a:t>
            </a:r>
            <a:r>
              <a:rPr lang="en-US" sz="2400" dirty="0">
                <a:latin typeface="Times New Roman" pitchFamily="18" charset="0"/>
              </a:rPr>
              <a:t>(</a:t>
            </a:r>
            <a:r>
              <a:rPr lang="en-US" sz="2400" i="1" dirty="0">
                <a:latin typeface="Times New Roman" pitchFamily="18" charset="0"/>
              </a:rPr>
              <a:t>t</a:t>
            </a:r>
            <a:r>
              <a:rPr lang="en-US" sz="2400" dirty="0">
                <a:latin typeface="Times New Roman" pitchFamily="18" charset="0"/>
              </a:rPr>
              <a:t>)</a:t>
            </a:r>
          </a:p>
        </p:txBody>
      </p:sp>
      <p:grpSp>
        <p:nvGrpSpPr>
          <p:cNvPr id="13" name="Group 80">
            <a:extLst>
              <a:ext uri="{FF2B5EF4-FFF2-40B4-BE49-F238E27FC236}">
                <a16:creationId xmlns:a16="http://schemas.microsoft.com/office/drawing/2014/main" id="{61568D38-66A5-75E4-2E64-60442AEE46BE}"/>
              </a:ext>
            </a:extLst>
          </p:cNvPr>
          <p:cNvGrpSpPr>
            <a:grpSpLocks/>
          </p:cNvGrpSpPr>
          <p:nvPr/>
        </p:nvGrpSpPr>
        <p:grpSpPr bwMode="auto">
          <a:xfrm>
            <a:off x="7637762" y="2103438"/>
            <a:ext cx="1109662" cy="736600"/>
            <a:chOff x="3523" y="1325"/>
            <a:chExt cx="699" cy="464"/>
          </a:xfrm>
        </p:grpSpPr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026EC7A9-B058-2AC8-93E7-481F4BA2B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1" y="1556"/>
              <a:ext cx="472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latin typeface="Times New Roman" pitchFamily="18" charset="0"/>
                </a:rPr>
                <a:t>m</a:t>
              </a:r>
              <a:r>
                <a:rPr lang="en-US" dirty="0">
                  <a:latin typeface="Times New Roman" pitchFamily="18" charset="0"/>
                </a:rPr>
                <a:t>(</a:t>
              </a:r>
              <a:r>
                <a:rPr lang="en-US" i="1" dirty="0">
                  <a:latin typeface="Times New Roman" pitchFamily="18" charset="0"/>
                </a:rPr>
                <a:t>t</a:t>
              </a:r>
              <a:r>
                <a:rPr lang="en-US" dirty="0">
                  <a:latin typeface="Times New Roman" pitchFamily="18" charset="0"/>
                </a:rPr>
                <a:t>)/2</a:t>
              </a:r>
            </a:p>
          </p:txBody>
        </p:sp>
        <p:sp>
          <p:nvSpPr>
            <p:cNvPr id="15" name="Text Box 8">
              <a:extLst>
                <a:ext uri="{FF2B5EF4-FFF2-40B4-BE49-F238E27FC236}">
                  <a16:creationId xmlns:a16="http://schemas.microsoft.com/office/drawing/2014/main" id="{9C75F4D3-5C98-F54D-DAED-0B1D8B5FD6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8" y="1376"/>
              <a:ext cx="386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/>
                <a:t>sinal</a:t>
              </a:r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DE211ADC-8891-3FEC-F8AA-A9E1A639A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3" y="1325"/>
              <a:ext cx="699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</p:grpSp>
      <p:grpSp>
        <p:nvGrpSpPr>
          <p:cNvPr id="17" name="Group 76">
            <a:extLst>
              <a:ext uri="{FF2B5EF4-FFF2-40B4-BE49-F238E27FC236}">
                <a16:creationId xmlns:a16="http://schemas.microsoft.com/office/drawing/2014/main" id="{D507001A-C0A9-4544-85B4-CBC9B40C9D71}"/>
              </a:ext>
            </a:extLst>
          </p:cNvPr>
          <p:cNvGrpSpPr>
            <a:grpSpLocks/>
          </p:cNvGrpSpPr>
          <p:nvPr/>
        </p:nvGrpSpPr>
        <p:grpSpPr bwMode="auto">
          <a:xfrm>
            <a:off x="2620742" y="4179591"/>
            <a:ext cx="2722562" cy="1008062"/>
            <a:chOff x="289" y="2655"/>
            <a:chExt cx="1715" cy="635"/>
          </a:xfrm>
        </p:grpSpPr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627580EC-ACAE-7B65-DB6A-C7253EC38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9" y="3039"/>
              <a:ext cx="162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00225341-6685-7D14-0406-D086FA5E96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94" y="2655"/>
              <a:ext cx="0" cy="63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20" name="Text Box 17">
              <a:extLst>
                <a:ext uri="{FF2B5EF4-FFF2-40B4-BE49-F238E27FC236}">
                  <a16:creationId xmlns:a16="http://schemas.microsoft.com/office/drawing/2014/main" id="{4D5E2E76-DEBD-D696-1517-EB6065AF1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5" y="3012"/>
              <a:ext cx="149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21" name="Text Box 18">
              <a:extLst>
                <a:ext uri="{FF2B5EF4-FFF2-40B4-BE49-F238E27FC236}">
                  <a16:creationId xmlns:a16="http://schemas.microsoft.com/office/drawing/2014/main" id="{AC82672A-79A5-05BE-562D-482EA581F1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2656"/>
              <a:ext cx="343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E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f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665979E7-ED0A-E503-5610-8D6D2DADD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" y="3032"/>
              <a:ext cx="258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-2f</a:t>
              </a:r>
              <a:r>
                <a:rPr lang="en-US" sz="1200" baseline="-25000">
                  <a:latin typeface="Times New Roman" pitchFamily="18" charset="0"/>
                </a:rPr>
                <a:t>c</a:t>
              </a:r>
              <a:endParaRPr lang="en-US" sz="1200">
                <a:latin typeface="Times New Roman" pitchFamily="18" charset="0"/>
              </a:endParaRPr>
            </a:p>
          </p:txBody>
        </p:sp>
        <p:grpSp>
          <p:nvGrpSpPr>
            <p:cNvPr id="23" name="Group 21">
              <a:extLst>
                <a:ext uri="{FF2B5EF4-FFF2-40B4-BE49-F238E27FC236}">
                  <a16:creationId xmlns:a16="http://schemas.microsoft.com/office/drawing/2014/main" id="{0385145C-2A99-F055-082A-E8CDC3A0A0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" y="2905"/>
              <a:ext cx="274" cy="141"/>
              <a:chOff x="4251" y="2207"/>
              <a:chExt cx="274" cy="173"/>
            </a:xfrm>
          </p:grpSpPr>
          <p:sp>
            <p:nvSpPr>
              <p:cNvPr id="36" name="Line 22">
                <a:extLst>
                  <a:ext uri="{FF2B5EF4-FFF2-40B4-BE49-F238E27FC236}">
                    <a16:creationId xmlns:a16="http://schemas.microsoft.com/office/drawing/2014/main" id="{60B77B9D-CCCC-341A-2671-CBE5DA7DA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7" name="Line 23">
                <a:extLst>
                  <a:ext uri="{FF2B5EF4-FFF2-40B4-BE49-F238E27FC236}">
                    <a16:creationId xmlns:a16="http://schemas.microsoft.com/office/drawing/2014/main" id="{A06BB966-54EA-2C58-0198-37B5CA4178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24" name="Group 24">
              <a:extLst>
                <a:ext uri="{FF2B5EF4-FFF2-40B4-BE49-F238E27FC236}">
                  <a16:creationId xmlns:a16="http://schemas.microsoft.com/office/drawing/2014/main" id="{CC0BC583-A5F9-5F31-E0FA-3EF23CB9D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2" y="2906"/>
              <a:ext cx="274" cy="141"/>
              <a:chOff x="4251" y="2207"/>
              <a:chExt cx="274" cy="173"/>
            </a:xfrm>
          </p:grpSpPr>
          <p:sp>
            <p:nvSpPr>
              <p:cNvPr id="34" name="Line 25">
                <a:extLst>
                  <a:ext uri="{FF2B5EF4-FFF2-40B4-BE49-F238E27FC236}">
                    <a16:creationId xmlns:a16="http://schemas.microsoft.com/office/drawing/2014/main" id="{C69681C7-D1A3-2CF1-E460-EB95B1B529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51" y="2207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35" name="Line 26">
                <a:extLst>
                  <a:ext uri="{FF2B5EF4-FFF2-40B4-BE49-F238E27FC236}">
                    <a16:creationId xmlns:a16="http://schemas.microsoft.com/office/drawing/2014/main" id="{E1E55061-8903-0546-D54E-5D4F5C1C70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387" y="2208"/>
                <a:ext cx="138" cy="172"/>
              </a:xfrm>
              <a:prstGeom prst="line">
                <a:avLst/>
              </a:prstGeom>
              <a:noFill/>
              <a:ln w="28575">
                <a:solidFill>
                  <a:srgbClr val="063DE8"/>
                </a:solidFill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25" name="Line 27">
              <a:extLst>
                <a:ext uri="{FF2B5EF4-FFF2-40B4-BE49-F238E27FC236}">
                  <a16:creationId xmlns:a16="http://schemas.microsoft.com/office/drawing/2014/main" id="{808D1FC1-B1B7-6261-D693-79E969F097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2" y="2902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sp>
          <p:nvSpPr>
            <p:cNvPr id="26" name="Text Box 28">
              <a:extLst>
                <a:ext uri="{FF2B5EF4-FFF2-40B4-BE49-F238E27FC236}">
                  <a16:creationId xmlns:a16="http://schemas.microsoft.com/office/drawing/2014/main" id="{96DBDA7E-9D19-BFA1-6E46-520F2EC66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" y="3028"/>
              <a:ext cx="225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2f</a:t>
              </a:r>
              <a:r>
                <a:rPr lang="en-US" sz="1200" baseline="-25000">
                  <a:latin typeface="Times New Roman" pitchFamily="18" charset="0"/>
                </a:rPr>
                <a:t>c</a:t>
              </a:r>
              <a:endParaRPr lang="en-US" sz="1200">
                <a:latin typeface="Times New Roman" pitchFamily="18" charset="0"/>
              </a:endParaRPr>
            </a:p>
          </p:txBody>
        </p:sp>
        <p:sp>
          <p:nvSpPr>
            <p:cNvPr id="27" name="Line 29">
              <a:extLst>
                <a:ext uri="{FF2B5EF4-FFF2-40B4-BE49-F238E27FC236}">
                  <a16:creationId xmlns:a16="http://schemas.microsoft.com/office/drawing/2014/main" id="{07B6BC53-3AB9-F0A6-19E6-EE794B22A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8" y="2918"/>
              <a:ext cx="0" cy="14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endParaRPr lang="pt-BR"/>
            </a:p>
          </p:txBody>
        </p:sp>
        <p:grpSp>
          <p:nvGrpSpPr>
            <p:cNvPr id="28" name="Group 38">
              <a:extLst>
                <a:ext uri="{FF2B5EF4-FFF2-40B4-BE49-F238E27FC236}">
                  <a16:creationId xmlns:a16="http://schemas.microsoft.com/office/drawing/2014/main" id="{D6B4163E-B48B-BFDC-83F7-37C2CC88D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8" y="2769"/>
              <a:ext cx="274" cy="294"/>
              <a:chOff x="958" y="2907"/>
              <a:chExt cx="274" cy="156"/>
            </a:xfrm>
          </p:grpSpPr>
          <p:grpSp>
            <p:nvGrpSpPr>
              <p:cNvPr id="30" name="Group 34">
                <a:extLst>
                  <a:ext uri="{FF2B5EF4-FFF2-40B4-BE49-F238E27FC236}">
                    <a16:creationId xmlns:a16="http://schemas.microsoft.com/office/drawing/2014/main" id="{CE33FD3C-0AD1-3835-61EE-0AD3E72F48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8" y="2907"/>
                <a:ext cx="274" cy="141"/>
                <a:chOff x="4251" y="2207"/>
                <a:chExt cx="274" cy="173"/>
              </a:xfrm>
            </p:grpSpPr>
            <p:sp>
              <p:nvSpPr>
                <p:cNvPr id="32" name="Line 35">
                  <a:extLst>
                    <a:ext uri="{FF2B5EF4-FFF2-40B4-BE49-F238E27FC236}">
                      <a16:creationId xmlns:a16="http://schemas.microsoft.com/office/drawing/2014/main" id="{C4CE1F3C-52D6-9032-B4B5-6084A4F01B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51" y="2207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33" name="Line 36">
                  <a:extLst>
                    <a:ext uri="{FF2B5EF4-FFF2-40B4-BE49-F238E27FC236}">
                      <a16:creationId xmlns:a16="http://schemas.microsoft.com/office/drawing/2014/main" id="{B0A73ED7-31AF-807C-7C63-487A8B275DB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387" y="2208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</p:grpSp>
          <p:sp>
            <p:nvSpPr>
              <p:cNvPr id="31" name="Line 37">
                <a:extLst>
                  <a:ext uri="{FF2B5EF4-FFF2-40B4-BE49-F238E27FC236}">
                    <a16:creationId xmlns:a16="http://schemas.microsoft.com/office/drawing/2014/main" id="{8F53C678-9A07-A441-6AE2-949E025AEE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" y="2919"/>
                <a:ext cx="0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29" name="Text Box 40">
              <a:extLst>
                <a:ext uri="{FF2B5EF4-FFF2-40B4-BE49-F238E27FC236}">
                  <a16:creationId xmlns:a16="http://schemas.microsoft.com/office/drawing/2014/main" id="{486C89F8-6910-DA78-0016-5490920D45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3060"/>
              <a:ext cx="181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B</a:t>
              </a:r>
            </a:p>
          </p:txBody>
        </p:sp>
      </p:grpSp>
      <p:grpSp>
        <p:nvGrpSpPr>
          <p:cNvPr id="38" name="Group 77">
            <a:extLst>
              <a:ext uri="{FF2B5EF4-FFF2-40B4-BE49-F238E27FC236}">
                <a16:creationId xmlns:a16="http://schemas.microsoft.com/office/drawing/2014/main" id="{CDD27678-FE7C-34D8-04F6-AFDBEC308511}"/>
              </a:ext>
            </a:extLst>
          </p:cNvPr>
          <p:cNvGrpSpPr>
            <a:grpSpLocks/>
          </p:cNvGrpSpPr>
          <p:nvPr/>
        </p:nvGrpSpPr>
        <p:grpSpPr bwMode="auto">
          <a:xfrm>
            <a:off x="3398617" y="3977979"/>
            <a:ext cx="1206500" cy="822325"/>
            <a:chOff x="779" y="2528"/>
            <a:chExt cx="760" cy="518"/>
          </a:xfrm>
        </p:grpSpPr>
        <p:grpSp>
          <p:nvGrpSpPr>
            <p:cNvPr id="39" name="Group 43">
              <a:extLst>
                <a:ext uri="{FF2B5EF4-FFF2-40B4-BE49-F238E27FC236}">
                  <a16:creationId xmlns:a16="http://schemas.microsoft.com/office/drawing/2014/main" id="{48165366-6107-FAFF-B4EE-481278C220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9" y="2725"/>
              <a:ext cx="325" cy="320"/>
              <a:chOff x="779" y="2725"/>
              <a:chExt cx="325" cy="320"/>
            </a:xfrm>
          </p:grpSpPr>
          <p:sp>
            <p:nvSpPr>
              <p:cNvPr id="44" name="Line 41">
                <a:extLst>
                  <a:ext uri="{FF2B5EF4-FFF2-40B4-BE49-F238E27FC236}">
                    <a16:creationId xmlns:a16="http://schemas.microsoft.com/office/drawing/2014/main" id="{08147937-C892-4212-B6F7-E3E8856459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9" y="2725"/>
                <a:ext cx="133" cy="32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5" name="Line 42">
                <a:extLst>
                  <a:ext uri="{FF2B5EF4-FFF2-40B4-BE49-F238E27FC236}">
                    <a16:creationId xmlns:a16="http://schemas.microsoft.com/office/drawing/2014/main" id="{738F0F83-2BA0-B014-DC29-FA21FC31E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2731"/>
                <a:ext cx="192" cy="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grpSp>
          <p:nvGrpSpPr>
            <p:cNvPr id="40" name="Group 44">
              <a:extLst>
                <a:ext uri="{FF2B5EF4-FFF2-40B4-BE49-F238E27FC236}">
                  <a16:creationId xmlns:a16="http://schemas.microsoft.com/office/drawing/2014/main" id="{CC34B4FA-2112-17BA-7141-E5D2B7C621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090" y="2726"/>
              <a:ext cx="325" cy="320"/>
              <a:chOff x="779" y="2725"/>
              <a:chExt cx="325" cy="320"/>
            </a:xfrm>
          </p:grpSpPr>
          <p:sp>
            <p:nvSpPr>
              <p:cNvPr id="42" name="Line 45">
                <a:extLst>
                  <a:ext uri="{FF2B5EF4-FFF2-40B4-BE49-F238E27FC236}">
                    <a16:creationId xmlns:a16="http://schemas.microsoft.com/office/drawing/2014/main" id="{F50BA9D7-AE55-0394-DC9F-AF762EB9B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79" y="2725"/>
                <a:ext cx="133" cy="32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  <p:sp>
            <p:nvSpPr>
              <p:cNvPr id="43" name="Line 46">
                <a:extLst>
                  <a:ext uri="{FF2B5EF4-FFF2-40B4-BE49-F238E27FC236}">
                    <a16:creationId xmlns:a16="http://schemas.microsoft.com/office/drawing/2014/main" id="{D32C55FC-2FD0-B9BC-C9D4-ED8A834488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2731"/>
                <a:ext cx="192" cy="0"/>
              </a:xfrm>
              <a:prstGeom prst="line">
                <a:avLst/>
              </a:prstGeom>
              <a:noFill/>
              <a:ln w="6350">
                <a:solidFill>
                  <a:schemeClr val="hlink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41" name="Text Box 47">
              <a:extLst>
                <a:ext uri="{FF2B5EF4-FFF2-40B4-BE49-F238E27FC236}">
                  <a16:creationId xmlns:a16="http://schemas.microsoft.com/office/drawing/2014/main" id="{142FB133-3C50-0DBB-728E-748EA48FD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7" y="2528"/>
              <a:ext cx="472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solidFill>
                    <a:schemeClr val="hlink"/>
                  </a:solidFill>
                  <a:latin typeface="Times New Roman" pitchFamily="18" charset="0"/>
                </a:rPr>
                <a:t>H</a:t>
              </a:r>
              <a:r>
                <a:rPr lang="en-US" baseline="-25000" dirty="0">
                  <a:solidFill>
                    <a:schemeClr val="hlink"/>
                  </a:solidFill>
                  <a:latin typeface="Times New Roman" pitchFamily="18" charset="0"/>
                </a:rPr>
                <a:t>LP</a:t>
              </a:r>
              <a:r>
                <a:rPr lang="en-US" dirty="0">
                  <a:solidFill>
                    <a:schemeClr val="hlink"/>
                  </a:solidFill>
                  <a:latin typeface="Times New Roman" pitchFamily="18" charset="0"/>
                </a:rPr>
                <a:t>(</a:t>
              </a:r>
              <a:r>
                <a:rPr lang="en-US" i="1" dirty="0">
                  <a:solidFill>
                    <a:schemeClr val="hlink"/>
                  </a:solidFill>
                  <a:latin typeface="Times New Roman" pitchFamily="18" charset="0"/>
                </a:rPr>
                <a:t>f</a:t>
              </a:r>
              <a:r>
                <a:rPr lang="en-US" dirty="0">
                  <a:solidFill>
                    <a:schemeClr val="hlink"/>
                  </a:solidFill>
                  <a:latin typeface="Times New Roman" pitchFamily="18" charset="0"/>
                </a:rPr>
                <a:t>)</a:t>
              </a:r>
            </a:p>
          </p:txBody>
        </p:sp>
      </p:grpSp>
      <p:grpSp>
        <p:nvGrpSpPr>
          <p:cNvPr id="46" name="Group 78">
            <a:extLst>
              <a:ext uri="{FF2B5EF4-FFF2-40B4-BE49-F238E27FC236}">
                <a16:creationId xmlns:a16="http://schemas.microsoft.com/office/drawing/2014/main" id="{33E1BD5D-8A91-554C-B59E-5E62077C2D8B}"/>
              </a:ext>
            </a:extLst>
          </p:cNvPr>
          <p:cNvGrpSpPr>
            <a:grpSpLocks/>
          </p:cNvGrpSpPr>
          <p:nvPr/>
        </p:nvGrpSpPr>
        <p:grpSpPr bwMode="auto">
          <a:xfrm>
            <a:off x="5449667" y="4222454"/>
            <a:ext cx="3695700" cy="1008063"/>
            <a:chOff x="2071" y="2682"/>
            <a:chExt cx="2328" cy="635"/>
          </a:xfrm>
        </p:grpSpPr>
        <p:sp>
          <p:nvSpPr>
            <p:cNvPr id="47" name="Line 39">
              <a:extLst>
                <a:ext uri="{FF2B5EF4-FFF2-40B4-BE49-F238E27FC236}">
                  <a16:creationId xmlns:a16="http://schemas.microsoft.com/office/drawing/2014/main" id="{A94B8342-BF82-2246-E91B-1788C8407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973"/>
              <a:ext cx="50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48" name="Line 49">
              <a:extLst>
                <a:ext uri="{FF2B5EF4-FFF2-40B4-BE49-F238E27FC236}">
                  <a16:creationId xmlns:a16="http://schemas.microsoft.com/office/drawing/2014/main" id="{968D993D-198A-FA5A-499B-AE73ED8F33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066"/>
              <a:ext cx="1621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49" name="Line 50">
              <a:extLst>
                <a:ext uri="{FF2B5EF4-FFF2-40B4-BE49-F238E27FC236}">
                  <a16:creationId xmlns:a16="http://schemas.microsoft.com/office/drawing/2014/main" id="{17C8AB6A-B6C2-E7B1-DA8F-7161DAC2B9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9" y="2682"/>
              <a:ext cx="0" cy="635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endParaRPr lang="pt-BR"/>
            </a:p>
          </p:txBody>
        </p:sp>
        <p:sp>
          <p:nvSpPr>
            <p:cNvPr id="50" name="Text Box 51">
              <a:extLst>
                <a:ext uri="{FF2B5EF4-FFF2-40B4-BE49-F238E27FC236}">
                  <a16:creationId xmlns:a16="http://schemas.microsoft.com/office/drawing/2014/main" id="{0593CABD-0B5C-868F-50BC-0D21E42378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0" y="3039"/>
              <a:ext cx="149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f</a:t>
              </a:r>
            </a:p>
          </p:txBody>
        </p:sp>
        <p:sp>
          <p:nvSpPr>
            <p:cNvPr id="51" name="Text Box 52">
              <a:extLst>
                <a:ext uri="{FF2B5EF4-FFF2-40B4-BE49-F238E27FC236}">
                  <a16:creationId xmlns:a16="http://schemas.microsoft.com/office/drawing/2014/main" id="{BCF98612-FF19-6627-D18C-D32CB3D4E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5" y="2683"/>
              <a:ext cx="375" cy="233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M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(</a:t>
              </a:r>
              <a:r>
                <a:rPr lang="en-US" i="1" dirty="0">
                  <a:solidFill>
                    <a:srgbClr val="063DE8"/>
                  </a:solidFill>
                  <a:latin typeface="Times New Roman" pitchFamily="18" charset="0"/>
                </a:rPr>
                <a:t>f</a:t>
              </a:r>
              <a:r>
                <a:rPr lang="en-US" dirty="0">
                  <a:solidFill>
                    <a:srgbClr val="063DE8"/>
                  </a:solidFill>
                  <a:latin typeface="Times New Roman" pitchFamily="18" charset="0"/>
                </a:rPr>
                <a:t>)</a:t>
              </a:r>
            </a:p>
          </p:txBody>
        </p:sp>
        <p:grpSp>
          <p:nvGrpSpPr>
            <p:cNvPr id="52" name="Group 63">
              <a:extLst>
                <a:ext uri="{FF2B5EF4-FFF2-40B4-BE49-F238E27FC236}">
                  <a16:creationId xmlns:a16="http://schemas.microsoft.com/office/drawing/2014/main" id="{9D3E1C50-BA2A-A642-41B5-4E8E480C58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3" y="2796"/>
              <a:ext cx="274" cy="294"/>
              <a:chOff x="958" y="2907"/>
              <a:chExt cx="274" cy="156"/>
            </a:xfrm>
          </p:grpSpPr>
          <p:grpSp>
            <p:nvGrpSpPr>
              <p:cNvPr id="54" name="Group 64">
                <a:extLst>
                  <a:ext uri="{FF2B5EF4-FFF2-40B4-BE49-F238E27FC236}">
                    <a16:creationId xmlns:a16="http://schemas.microsoft.com/office/drawing/2014/main" id="{B5FAFA65-7072-FC76-4F39-8AA7D873C4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8" y="2907"/>
                <a:ext cx="274" cy="141"/>
                <a:chOff x="4251" y="2207"/>
                <a:chExt cx="274" cy="173"/>
              </a:xfrm>
            </p:grpSpPr>
            <p:sp>
              <p:nvSpPr>
                <p:cNvPr id="56" name="Line 65">
                  <a:extLst>
                    <a:ext uri="{FF2B5EF4-FFF2-40B4-BE49-F238E27FC236}">
                      <a16:creationId xmlns:a16="http://schemas.microsoft.com/office/drawing/2014/main" id="{6DFC3F86-4887-233A-3075-79D074C69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251" y="2207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  <p:sp>
              <p:nvSpPr>
                <p:cNvPr id="57" name="Line 66">
                  <a:extLst>
                    <a:ext uri="{FF2B5EF4-FFF2-40B4-BE49-F238E27FC236}">
                      <a16:creationId xmlns:a16="http://schemas.microsoft.com/office/drawing/2014/main" id="{E28C199F-CF46-47DF-9E26-C0BBE6BA1D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4387" y="2208"/>
                  <a:ext cx="138" cy="172"/>
                </a:xfrm>
                <a:prstGeom prst="line">
                  <a:avLst/>
                </a:prstGeom>
                <a:noFill/>
                <a:ln w="28575">
                  <a:solidFill>
                    <a:srgbClr val="063DE8"/>
                  </a:solidFill>
                  <a:round/>
                  <a:headEnd/>
                  <a:tailEnd/>
                </a:ln>
                <a:effectLst/>
              </p:spPr>
              <p:txBody>
                <a:bodyPr anchor="ctr">
                  <a:spAutoFit/>
                </a:bodyPr>
                <a:lstStyle/>
                <a:p>
                  <a:endParaRPr lang="pt-BR"/>
                </a:p>
              </p:txBody>
            </p:sp>
          </p:grpSp>
          <p:sp>
            <p:nvSpPr>
              <p:cNvPr id="55" name="Line 67">
                <a:extLst>
                  <a:ext uri="{FF2B5EF4-FFF2-40B4-BE49-F238E27FC236}">
                    <a16:creationId xmlns:a16="http://schemas.microsoft.com/office/drawing/2014/main" id="{F6D6D50F-D503-E6A2-53F4-474629760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4" y="2919"/>
                <a:ext cx="0" cy="144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>
                <a:spAutoFit/>
              </a:bodyPr>
              <a:lstStyle/>
              <a:p>
                <a:endParaRPr lang="pt-BR"/>
              </a:p>
            </p:txBody>
          </p:sp>
        </p:grpSp>
        <p:sp>
          <p:nvSpPr>
            <p:cNvPr id="53" name="Text Box 68">
              <a:extLst>
                <a:ext uri="{FF2B5EF4-FFF2-40B4-BE49-F238E27FC236}">
                  <a16:creationId xmlns:a16="http://schemas.microsoft.com/office/drawing/2014/main" id="{BB00D7EA-479B-E0BC-70ED-C777294C1A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6" y="3087"/>
              <a:ext cx="181" cy="17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defTabSz="762000"/>
              <a:r>
                <a:rPr lang="en-US" sz="1200">
                  <a:latin typeface="Times New Roman" pitchFamily="18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383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643AB-3F9F-9B67-2FA7-4DD5CFAE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23024-B2DB-0A58-CB87-997DF465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</a:t>
            </a:r>
            <a:br>
              <a:rPr lang="pt-BR" dirty="0"/>
            </a:br>
            <a:r>
              <a:rPr lang="pt-BR" dirty="0"/>
              <a:t>Demodulação Síncrona / Coerente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5375204D-6FD3-B3B8-7F17-71589DD90A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707189" y="1462498"/>
            <a:ext cx="511175" cy="511175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pt-BR" sz="3600">
                <a:solidFill>
                  <a:schemeClr val="accent2"/>
                </a:solidFill>
                <a:latin typeface="Symbol" pitchFamily="18" charset="2"/>
                <a:sym typeface="Wingdings 2" pitchFamily="18" charset="2"/>
              </a:rPr>
              <a:t></a:t>
            </a:r>
            <a:endParaRPr lang="pt-BR" sz="3600">
              <a:solidFill>
                <a:schemeClr val="accent2"/>
              </a:solidFill>
              <a:latin typeface="Symbol" pitchFamily="18" charset="2"/>
            </a:endParaRPr>
          </a:p>
        </p:txBody>
      </p:sp>
      <p:sp>
        <p:nvSpPr>
          <p:cNvPr id="12" name="AutoShape 12">
            <a:extLst>
              <a:ext uri="{FF2B5EF4-FFF2-40B4-BE49-F238E27FC236}">
                <a16:creationId xmlns:a16="http://schemas.microsoft.com/office/drawing/2014/main" id="{77859F2A-EAB2-EB02-3398-B383C13A9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839" y="1284698"/>
            <a:ext cx="1370013" cy="866775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Filtro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passa-baixa</a:t>
            </a:r>
            <a:endParaRPr lang="pt-BR" i="1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13" name="AutoShape 13">
            <a:extLst>
              <a:ext uri="{FF2B5EF4-FFF2-40B4-BE49-F238E27FC236}">
                <a16:creationId xmlns:a16="http://schemas.microsoft.com/office/drawing/2014/main" id="{BBF2F856-501D-1FC9-5CE5-F2EF49B7030D}"/>
              </a:ext>
            </a:extLst>
          </p:cNvPr>
          <p:cNvCxnSpPr>
            <a:cxnSpLocks noChangeShapeType="1"/>
            <a:stCxn id="11" idx="6"/>
            <a:endCxn id="12" idx="1"/>
          </p:cNvCxnSpPr>
          <p:nvPr/>
        </p:nvCxnSpPr>
        <p:spPr bwMode="auto">
          <a:xfrm>
            <a:off x="7237414" y="1718086"/>
            <a:ext cx="8413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16" name="AutoShape 16">
            <a:extLst>
              <a:ext uri="{FF2B5EF4-FFF2-40B4-BE49-F238E27FC236}">
                <a16:creationId xmlns:a16="http://schemas.microsoft.com/office/drawing/2014/main" id="{B4AB4DB7-B25F-64FC-7711-9EDDA31A7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4" y="2575336"/>
            <a:ext cx="989013" cy="5905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Oscilador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local</a:t>
            </a:r>
            <a:endParaRPr lang="pt-BR" i="1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17" name="AutoShape 17">
            <a:extLst>
              <a:ext uri="{FF2B5EF4-FFF2-40B4-BE49-F238E27FC236}">
                <a16:creationId xmlns:a16="http://schemas.microsoft.com/office/drawing/2014/main" id="{022DF2FD-CC73-95F7-C59E-D2EF2E781435}"/>
              </a:ext>
            </a:extLst>
          </p:cNvPr>
          <p:cNvCxnSpPr>
            <a:cxnSpLocks noChangeShapeType="1"/>
            <a:stCxn id="16" idx="0"/>
            <a:endCxn id="11" idx="4"/>
          </p:cNvCxnSpPr>
          <p:nvPr/>
        </p:nvCxnSpPr>
        <p:spPr bwMode="auto">
          <a:xfrm flipV="1">
            <a:off x="6951664" y="1973673"/>
            <a:ext cx="11113" cy="601663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cxnSp>
        <p:nvCxnSpPr>
          <p:cNvPr id="18" name="AutoShape 18">
            <a:extLst>
              <a:ext uri="{FF2B5EF4-FFF2-40B4-BE49-F238E27FC236}">
                <a16:creationId xmlns:a16="http://schemas.microsoft.com/office/drawing/2014/main" id="{24CE4C55-3554-CACB-1166-B43EB11B94AB}"/>
              </a:ext>
            </a:extLst>
          </p:cNvPr>
          <p:cNvCxnSpPr>
            <a:cxnSpLocks noChangeShapeType="1"/>
            <a:endCxn id="16" idx="1"/>
          </p:cNvCxnSpPr>
          <p:nvPr/>
        </p:nvCxnSpPr>
        <p:spPr bwMode="auto">
          <a:xfrm>
            <a:off x="5095876" y="1686336"/>
            <a:ext cx="1360488" cy="118427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prstDash val="dash"/>
            <a:miter lim="800000"/>
            <a:headEnd/>
            <a:tailEnd type="triangle" w="med" len="lg"/>
          </a:ln>
          <a:effectLst/>
        </p:spPr>
      </p:cxnSp>
      <p:sp>
        <p:nvSpPr>
          <p:cNvPr id="20" name="Line 20">
            <a:extLst>
              <a:ext uri="{FF2B5EF4-FFF2-40B4-BE49-F238E27FC236}">
                <a16:creationId xmlns:a16="http://schemas.microsoft.com/office/drawing/2014/main" id="{55E54CC1-F158-26A7-EB82-B1F90F0F06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67851" y="1721261"/>
            <a:ext cx="8572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9BA538C4-F6E7-076F-4C6A-54445EEFC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4739" y="1424398"/>
            <a:ext cx="1035050" cy="590550"/>
          </a:xfrm>
          <a:prstGeom prst="flowChartProcess">
            <a:avLst/>
          </a:prstGeom>
          <a:solidFill>
            <a:srgbClr val="FFD7D7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Canal não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distorcivo</a:t>
            </a:r>
            <a:endParaRPr lang="pt-BR" i="1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AE66E06B-28A8-A976-C726-91F5821EBE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85939" y="1726023"/>
            <a:ext cx="571500" cy="1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B3ADD1C8-84F5-5901-CCA3-A8710EE9891B}"/>
                  </a:ext>
                </a:extLst>
              </p:cNvPr>
              <p:cNvSpPr txBox="1"/>
              <p:nvPr/>
            </p:nvSpPr>
            <p:spPr bwMode="auto">
              <a:xfrm>
                <a:off x="1465264" y="1243423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4" name="Object 24">
                <a:extLst>
                  <a:ext uri="{FF2B5EF4-FFF2-40B4-BE49-F238E27FC236}">
                    <a16:creationId xmlns:a16="http://schemas.microsoft.com/office/drawing/2014/main" id="{B3ADD1C8-84F5-5901-CCA3-A8710EE98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65264" y="1243423"/>
                <a:ext cx="457200" cy="331788"/>
              </a:xfrm>
              <a:prstGeom prst="rect">
                <a:avLst/>
              </a:prstGeom>
              <a:blipFill>
                <a:blip r:embed="rId2"/>
                <a:stretch>
                  <a:fillRect r="-4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AutoShape 25">
            <a:extLst>
              <a:ext uri="{FF2B5EF4-FFF2-40B4-BE49-F238E27FC236}">
                <a16:creationId xmlns:a16="http://schemas.microsoft.com/office/drawing/2014/main" id="{D81B5BA2-4549-01F0-C475-F0C1F9B47141}"/>
              </a:ext>
            </a:extLst>
          </p:cNvPr>
          <p:cNvCxnSpPr>
            <a:cxnSpLocks noChangeShapeType="1"/>
            <a:stCxn id="22" idx="3"/>
            <a:endCxn id="11" idx="2"/>
          </p:cNvCxnSpPr>
          <p:nvPr/>
        </p:nvCxnSpPr>
        <p:spPr bwMode="auto">
          <a:xfrm flipV="1">
            <a:off x="3379789" y="1718086"/>
            <a:ext cx="3327400" cy="1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24">
                <a:extLst>
                  <a:ext uri="{FF2B5EF4-FFF2-40B4-BE49-F238E27FC236}">
                    <a16:creationId xmlns:a16="http://schemas.microsoft.com/office/drawing/2014/main" id="{E4B4B390-1FBB-FEFC-00DD-28217013D1F4}"/>
                  </a:ext>
                </a:extLst>
              </p:cNvPr>
              <p:cNvSpPr txBox="1"/>
              <p:nvPr/>
            </p:nvSpPr>
            <p:spPr bwMode="auto">
              <a:xfrm>
                <a:off x="3451005" y="1171194"/>
                <a:ext cx="4538662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r>
                  <a:rPr lang="pt-BR" sz="2000" dirty="0">
                    <a:solidFill>
                      <a:srgbClr val="000000"/>
                    </a:solidFill>
                  </a:rPr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sty m:val="p"/>
                      </m:rPr>
                      <a:rPr lang="pt-B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⁡(2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31" name="Object 24">
                <a:extLst>
                  <a:ext uri="{FF2B5EF4-FFF2-40B4-BE49-F238E27FC236}">
                    <a16:creationId xmlns:a16="http://schemas.microsoft.com/office/drawing/2014/main" id="{E4B4B390-1FBB-FEFC-00DD-28217013D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1005" y="1171194"/>
                <a:ext cx="4538662" cy="331788"/>
              </a:xfrm>
              <a:prstGeom prst="rect">
                <a:avLst/>
              </a:prstGeom>
              <a:blipFill>
                <a:blip r:embed="rId3"/>
                <a:stretch>
                  <a:fillRect l="-1342" t="-9091" b="-5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D4401A5B-E474-AE5F-48CB-6C74BCF79E04}"/>
                  </a:ext>
                </a:extLst>
              </p:cNvPr>
              <p:cNvSpPr txBox="1"/>
              <p:nvPr/>
            </p:nvSpPr>
            <p:spPr bwMode="auto">
              <a:xfrm>
                <a:off x="7313391" y="1216435"/>
                <a:ext cx="676275" cy="3159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33" name="Object 24">
                <a:extLst>
                  <a:ext uri="{FF2B5EF4-FFF2-40B4-BE49-F238E27FC236}">
                    <a16:creationId xmlns:a16="http://schemas.microsoft.com/office/drawing/2014/main" id="{D4401A5B-E474-AE5F-48CB-6C74BCF79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13391" y="1216435"/>
                <a:ext cx="676275" cy="315913"/>
              </a:xfrm>
              <a:prstGeom prst="rect">
                <a:avLst/>
              </a:prstGeom>
              <a:blipFill>
                <a:blip r:embed="rId4"/>
                <a:stretch>
                  <a:fillRect l="-9910" t="-11765" b="-627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EAFC170-9281-D576-CF44-E774C62BBD1E}"/>
                  </a:ext>
                </a:extLst>
              </p:cNvPr>
              <p:cNvSpPr txBox="1"/>
              <p:nvPr/>
            </p:nvSpPr>
            <p:spPr bwMode="auto">
              <a:xfrm>
                <a:off x="10088564" y="1284698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5" name="Object 24">
                <a:extLst>
                  <a:ext uri="{FF2B5EF4-FFF2-40B4-BE49-F238E27FC236}">
                    <a16:creationId xmlns:a16="http://schemas.microsoft.com/office/drawing/2014/main" id="{8EAFC170-9281-D576-CF44-E774C62BB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88564" y="1284698"/>
                <a:ext cx="457200" cy="331788"/>
              </a:xfrm>
              <a:prstGeom prst="rect">
                <a:avLst/>
              </a:prstGeom>
              <a:blipFill>
                <a:blip r:embed="rId5"/>
                <a:stretch>
                  <a:fillRect t="-7407" r="-6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AB8FEE74-93D7-0E2A-B330-1E79333F3012}"/>
                  </a:ext>
                </a:extLst>
              </p:cNvPr>
              <p:cNvSpPr txBox="1"/>
              <p:nvPr/>
            </p:nvSpPr>
            <p:spPr bwMode="auto">
              <a:xfrm>
                <a:off x="4392614" y="2319753"/>
                <a:ext cx="1808163" cy="72310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7" name="Object 24">
                <a:extLst>
                  <a:ext uri="{FF2B5EF4-FFF2-40B4-BE49-F238E27FC236}">
                    <a16:creationId xmlns:a16="http://schemas.microsoft.com/office/drawing/2014/main" id="{AB8FEE74-93D7-0E2A-B330-1E79333F3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2614" y="2319753"/>
                <a:ext cx="1808163" cy="723106"/>
              </a:xfrm>
              <a:prstGeom prst="rect">
                <a:avLst/>
              </a:prstGeom>
              <a:blipFill>
                <a:blip r:embed="rId6"/>
                <a:stretch>
                  <a:fillRect t="-2542" r="-158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4AF7AD8-E6F8-C983-9D4C-6624DDDF791F}"/>
                  </a:ext>
                </a:extLst>
              </p:cNvPr>
              <p:cNvSpPr txBox="1"/>
              <p:nvPr/>
            </p:nvSpPr>
            <p:spPr>
              <a:xfrm>
                <a:off x="3087756" y="3085715"/>
                <a:ext cx="1175835" cy="384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40" name="CaixaDeTexto 39">
                <a:extLst>
                  <a:ext uri="{FF2B5EF4-FFF2-40B4-BE49-F238E27FC236}">
                    <a16:creationId xmlns:a16="http://schemas.microsoft.com/office/drawing/2014/main" id="{44AF7AD8-E6F8-C983-9D4C-6624DDDF79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756" y="3085715"/>
                <a:ext cx="1175835" cy="384914"/>
              </a:xfrm>
              <a:prstGeom prst="rect">
                <a:avLst/>
              </a:prstGeom>
              <a:blipFill>
                <a:blip r:embed="rId7"/>
                <a:stretch>
                  <a:fillRect l="-4688" t="-7937" b="-253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B1F5BA06-D998-F0DA-6DF8-D6EA5F09A98F}"/>
                  </a:ext>
                </a:extLst>
              </p:cNvPr>
              <p:cNvSpPr txBox="1"/>
              <p:nvPr/>
            </p:nvSpPr>
            <p:spPr bwMode="auto">
              <a:xfrm>
                <a:off x="1360637" y="3438904"/>
                <a:ext cx="795747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42" name="Object 24">
                <a:extLst>
                  <a:ext uri="{FF2B5EF4-FFF2-40B4-BE49-F238E27FC236}">
                    <a16:creationId xmlns:a16="http://schemas.microsoft.com/office/drawing/2014/main" id="{B1F5BA06-D998-F0DA-6DF8-D6EA5F09A9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0637" y="3438904"/>
                <a:ext cx="7957473" cy="551660"/>
              </a:xfrm>
              <a:prstGeom prst="rect">
                <a:avLst/>
              </a:prstGeom>
              <a:blipFill>
                <a:blip r:embed="rId8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518DB7B-7E70-3179-E4B9-297DA50DFE51}"/>
                  </a:ext>
                </a:extLst>
              </p:cNvPr>
              <p:cNvSpPr txBox="1"/>
              <p:nvPr/>
            </p:nvSpPr>
            <p:spPr>
              <a:xfrm>
                <a:off x="3087756" y="4360479"/>
                <a:ext cx="11912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pt-BR" dirty="0"/>
                  <a:t> </a:t>
                </a: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4518DB7B-7E70-3179-E4B9-297DA50DFE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7756" y="4360479"/>
                <a:ext cx="1191224" cy="369332"/>
              </a:xfrm>
              <a:prstGeom prst="rect">
                <a:avLst/>
              </a:prstGeom>
              <a:blipFill>
                <a:blip r:embed="rId9"/>
                <a:stretch>
                  <a:fillRect l="-4615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3E80C77C-4C92-185A-B058-E03010896B0B}"/>
                  </a:ext>
                </a:extLst>
              </p:cNvPr>
              <p:cNvSpPr txBox="1"/>
              <p:nvPr/>
            </p:nvSpPr>
            <p:spPr bwMode="auto">
              <a:xfrm>
                <a:off x="1360637" y="4713668"/>
                <a:ext cx="795747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10" name="Object 24">
                <a:extLst>
                  <a:ext uri="{FF2B5EF4-FFF2-40B4-BE49-F238E27FC236}">
                    <a16:creationId xmlns:a16="http://schemas.microsoft.com/office/drawing/2014/main" id="{3E80C77C-4C92-185A-B058-E0301089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0637" y="4713668"/>
                <a:ext cx="7957473" cy="551660"/>
              </a:xfrm>
              <a:prstGeom prst="rect">
                <a:avLst/>
              </a:prstGeom>
              <a:blipFill>
                <a:blip r:embed="rId10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aixaDeTexto 14">
            <a:extLst>
              <a:ext uri="{FF2B5EF4-FFF2-40B4-BE49-F238E27FC236}">
                <a16:creationId xmlns:a16="http://schemas.microsoft.com/office/drawing/2014/main" id="{3306EFFB-074D-C1E6-E5FA-2B582E75D7F5}"/>
              </a:ext>
            </a:extLst>
          </p:cNvPr>
          <p:cNvSpPr txBox="1"/>
          <p:nvPr/>
        </p:nvSpPr>
        <p:spPr>
          <a:xfrm>
            <a:off x="2027849" y="5467350"/>
            <a:ext cx="88570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200" dirty="0">
                <a:solidFill>
                  <a:schemeClr val="accent2"/>
                </a:solidFill>
              </a:rPr>
              <a:t>o receptor precisa gerar uma portadora local sincronizada em frequência e coerente em fase com aquela usada pelo modulador no transmissor. </a:t>
            </a:r>
            <a:endParaRPr lang="pt-BR" dirty="0"/>
          </a:p>
        </p:txBody>
      </p:sp>
      <p:sp>
        <p:nvSpPr>
          <p:cNvPr id="19" name="AutoShape 6">
            <a:extLst>
              <a:ext uri="{FF2B5EF4-FFF2-40B4-BE49-F238E27FC236}">
                <a16:creationId xmlns:a16="http://schemas.microsoft.com/office/drawing/2014/main" id="{B278260C-5F0E-5949-C683-E57ED59BD5BC}"/>
              </a:ext>
            </a:extLst>
          </p:cNvPr>
          <p:cNvSpPr>
            <a:spLocks/>
          </p:cNvSpPr>
          <p:nvPr/>
        </p:nvSpPr>
        <p:spPr bwMode="auto">
          <a:xfrm rot="16200000">
            <a:off x="6623805" y="3740469"/>
            <a:ext cx="187037" cy="749191"/>
          </a:xfrm>
          <a:prstGeom prst="leftBrace">
            <a:avLst>
              <a:gd name="adj1" fmla="val 82639"/>
              <a:gd name="adj2" fmla="val 50801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D0DF229-E1DD-C4AF-99CF-0D232C34632A}"/>
              </a:ext>
            </a:extLst>
          </p:cNvPr>
          <p:cNvSpPr txBox="1"/>
          <p:nvPr/>
        </p:nvSpPr>
        <p:spPr>
          <a:xfrm>
            <a:off x="6200777" y="4220509"/>
            <a:ext cx="1300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Erro de fase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DF23C53C-27C9-2E08-75E0-AA2E7685268F}"/>
              </a:ext>
            </a:extLst>
          </p:cNvPr>
          <p:cNvSpPr/>
          <p:nvPr/>
        </p:nvSpPr>
        <p:spPr>
          <a:xfrm>
            <a:off x="5849273" y="3574284"/>
            <a:ext cx="1651668" cy="48892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id="{6B9F1F06-06BD-02D1-4499-2229186F90B7}"/>
              </a:ext>
            </a:extLst>
          </p:cNvPr>
          <p:cNvCxnSpPr/>
          <p:nvPr/>
        </p:nvCxnSpPr>
        <p:spPr>
          <a:xfrm flipH="1" flipV="1">
            <a:off x="7500941" y="3854604"/>
            <a:ext cx="1110537" cy="92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00A507F2-E175-FE21-63E2-0CACE95440A8}"/>
              </a:ext>
            </a:extLst>
          </p:cNvPr>
          <p:cNvSpPr txBox="1"/>
          <p:nvPr/>
        </p:nvSpPr>
        <p:spPr>
          <a:xfrm>
            <a:off x="8309254" y="4747716"/>
            <a:ext cx="2367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Atenuação (pode ser 0)</a:t>
            </a:r>
          </a:p>
        </p:txBody>
      </p:sp>
    </p:spTree>
    <p:extLst>
      <p:ext uri="{BB962C8B-B14F-4D97-AF65-F5344CB8AC3E}">
        <p14:creationId xmlns:p14="http://schemas.microsoft.com/office/powerpoint/2010/main" val="420036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0D30-4584-E74B-EC2B-C3B2DC8DC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61E417-3F63-FA20-4A07-BA8A5975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</a:t>
            </a:r>
            <a:br>
              <a:rPr lang="pt-BR" dirty="0"/>
            </a:br>
            <a:r>
              <a:rPr lang="pt-BR" dirty="0"/>
              <a:t>Demodulação com Erro de Frequência</a:t>
            </a:r>
          </a:p>
        </p:txBody>
      </p:sp>
      <p:sp>
        <p:nvSpPr>
          <p:cNvPr id="3" name="Oval 11">
            <a:extLst>
              <a:ext uri="{FF2B5EF4-FFF2-40B4-BE49-F238E27FC236}">
                <a16:creationId xmlns:a16="http://schemas.microsoft.com/office/drawing/2014/main" id="{4FE955F8-EA58-F1FE-6EDF-665E8EC40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675292" y="1505025"/>
            <a:ext cx="511175" cy="511175"/>
          </a:xfrm>
          <a:prstGeom prst="ellipse">
            <a:avLst/>
          </a:prstGeom>
          <a:solidFill>
            <a:srgbClr val="CCFFFF"/>
          </a:solidFill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r>
              <a:rPr lang="pt-BR" sz="3600">
                <a:solidFill>
                  <a:schemeClr val="accent2"/>
                </a:solidFill>
                <a:latin typeface="Symbol" pitchFamily="18" charset="2"/>
                <a:sym typeface="Wingdings 2" pitchFamily="18" charset="2"/>
              </a:rPr>
              <a:t></a:t>
            </a:r>
            <a:endParaRPr lang="pt-BR" sz="3600">
              <a:solidFill>
                <a:schemeClr val="accent2"/>
              </a:solidFill>
              <a:latin typeface="Symbol" pitchFamily="18" charset="2"/>
            </a:endParaRPr>
          </a:p>
        </p:txBody>
      </p:sp>
      <p:sp>
        <p:nvSpPr>
          <p:cNvPr id="4" name="AutoShape 12">
            <a:extLst>
              <a:ext uri="{FF2B5EF4-FFF2-40B4-BE49-F238E27FC236}">
                <a16:creationId xmlns:a16="http://schemas.microsoft.com/office/drawing/2014/main" id="{3F665A91-7830-D981-3786-75D136AA9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5942" y="1327225"/>
            <a:ext cx="1370013" cy="866775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Filtro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 dirty="0">
                <a:solidFill>
                  <a:schemeClr val="accent2"/>
                </a:solidFill>
              </a:rPr>
              <a:t>passa-baixa</a:t>
            </a:r>
            <a:endParaRPr lang="pt-BR" i="1" dirty="0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5" name="AutoShape 13">
            <a:extLst>
              <a:ext uri="{FF2B5EF4-FFF2-40B4-BE49-F238E27FC236}">
                <a16:creationId xmlns:a16="http://schemas.microsoft.com/office/drawing/2014/main" id="{4FB6032E-01F9-1C7B-7B16-22B4E03ED8EA}"/>
              </a:ext>
            </a:extLst>
          </p:cNvPr>
          <p:cNvCxnSpPr>
            <a:cxnSpLocks noChangeShapeType="1"/>
            <a:stCxn id="3" idx="6"/>
            <a:endCxn id="4" idx="1"/>
          </p:cNvCxnSpPr>
          <p:nvPr/>
        </p:nvCxnSpPr>
        <p:spPr bwMode="auto">
          <a:xfrm>
            <a:off x="7205517" y="1760613"/>
            <a:ext cx="841375" cy="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sp>
        <p:nvSpPr>
          <p:cNvPr id="6" name="AutoShape 16">
            <a:extLst>
              <a:ext uri="{FF2B5EF4-FFF2-40B4-BE49-F238E27FC236}">
                <a16:creationId xmlns:a16="http://schemas.microsoft.com/office/drawing/2014/main" id="{3297B8B7-3272-157C-8B8F-28C0425BFC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4467" y="2617863"/>
            <a:ext cx="989013" cy="5905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Oscilador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chemeClr val="accent2"/>
                </a:solidFill>
              </a:rPr>
              <a:t>local</a:t>
            </a:r>
            <a:endParaRPr lang="pt-BR" i="1">
              <a:solidFill>
                <a:schemeClr val="accent2"/>
              </a:solidFill>
              <a:latin typeface="Times New Roman" pitchFamily="18" charset="0"/>
              <a:sym typeface="Symbol" pitchFamily="18" charset="2"/>
            </a:endParaRPr>
          </a:p>
        </p:txBody>
      </p:sp>
      <p:cxnSp>
        <p:nvCxnSpPr>
          <p:cNvPr id="7" name="AutoShape 17">
            <a:extLst>
              <a:ext uri="{FF2B5EF4-FFF2-40B4-BE49-F238E27FC236}">
                <a16:creationId xmlns:a16="http://schemas.microsoft.com/office/drawing/2014/main" id="{EECE1EFB-4C8D-AA0F-AABC-A7999B2FE4E8}"/>
              </a:ext>
            </a:extLst>
          </p:cNvPr>
          <p:cNvCxnSpPr>
            <a:cxnSpLocks noChangeShapeType="1"/>
            <a:stCxn id="6" idx="0"/>
            <a:endCxn id="3" idx="4"/>
          </p:cNvCxnSpPr>
          <p:nvPr/>
        </p:nvCxnSpPr>
        <p:spPr bwMode="auto">
          <a:xfrm flipV="1">
            <a:off x="6919767" y="2016200"/>
            <a:ext cx="11113" cy="601663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p:cxnSp>
        <p:nvCxnSpPr>
          <p:cNvPr id="9" name="AutoShape 18">
            <a:extLst>
              <a:ext uri="{FF2B5EF4-FFF2-40B4-BE49-F238E27FC236}">
                <a16:creationId xmlns:a16="http://schemas.microsoft.com/office/drawing/2014/main" id="{9B60F61D-7CB0-26C5-0FB7-CB84D12A4F73}"/>
              </a:ext>
            </a:extLst>
          </p:cNvPr>
          <p:cNvCxnSpPr>
            <a:cxnSpLocks noChangeShapeType="1"/>
            <a:endCxn id="6" idx="1"/>
          </p:cNvCxnSpPr>
          <p:nvPr/>
        </p:nvCxnSpPr>
        <p:spPr bwMode="auto">
          <a:xfrm>
            <a:off x="5063979" y="1728863"/>
            <a:ext cx="1360488" cy="1184275"/>
          </a:xfrm>
          <a:prstGeom prst="bentConnector3">
            <a:avLst>
              <a:gd name="adj1" fmla="val 50000"/>
            </a:avLst>
          </a:prstGeom>
          <a:noFill/>
          <a:ln w="38100">
            <a:solidFill>
              <a:schemeClr val="accent2"/>
            </a:solidFill>
            <a:prstDash val="dash"/>
            <a:miter lim="800000"/>
            <a:headEnd/>
            <a:tailEnd type="triangle" w="med" len="lg"/>
          </a:ln>
          <a:effectLst/>
        </p:spPr>
      </p:cxnSp>
      <p:sp>
        <p:nvSpPr>
          <p:cNvPr id="14" name="Line 20">
            <a:extLst>
              <a:ext uri="{FF2B5EF4-FFF2-40B4-BE49-F238E27FC236}">
                <a16:creationId xmlns:a16="http://schemas.microsoft.com/office/drawing/2014/main" id="{E0525F42-DA83-2A96-D0CC-FD26362FCD9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35954" y="1763788"/>
            <a:ext cx="8572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AutoShape 22">
            <a:extLst>
              <a:ext uri="{FF2B5EF4-FFF2-40B4-BE49-F238E27FC236}">
                <a16:creationId xmlns:a16="http://schemas.microsoft.com/office/drawing/2014/main" id="{23EBEE84-F615-E4EB-86B9-E3F1AAB95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842" y="1466925"/>
            <a:ext cx="1035050" cy="590550"/>
          </a:xfrm>
          <a:prstGeom prst="flowChartProcess">
            <a:avLst/>
          </a:prstGeom>
          <a:solidFill>
            <a:srgbClr val="FFD7D7"/>
          </a:solidFill>
          <a:ln w="3810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lIns="54000" rIns="54000" anchor="ctr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Canal não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pt-BR">
                <a:solidFill>
                  <a:srgbClr val="FF3300"/>
                </a:solidFill>
              </a:rPr>
              <a:t>distorcivo</a:t>
            </a:r>
            <a:endParaRPr lang="pt-BR" i="1">
              <a:solidFill>
                <a:srgbClr val="FF3300"/>
              </a:solidFill>
              <a:latin typeface="Times New Roman" pitchFamily="18" charset="0"/>
              <a:sym typeface="Symbol" pitchFamily="18" charset="2"/>
            </a:endParaRPr>
          </a:p>
        </p:txBody>
      </p:sp>
      <p:sp>
        <p:nvSpPr>
          <p:cNvPr id="21" name="Line 23">
            <a:extLst>
              <a:ext uri="{FF2B5EF4-FFF2-40B4-BE49-F238E27FC236}">
                <a16:creationId xmlns:a16="http://schemas.microsoft.com/office/drawing/2014/main" id="{8867BD81-1583-6108-B847-AC82E00D1B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54042" y="1768550"/>
            <a:ext cx="571500" cy="15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9CEFB6CA-DCBE-5732-758A-F32CD9223042}"/>
                  </a:ext>
                </a:extLst>
              </p:cNvPr>
              <p:cNvSpPr txBox="1"/>
              <p:nvPr/>
            </p:nvSpPr>
            <p:spPr bwMode="auto">
              <a:xfrm>
                <a:off x="1433367" y="1285950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26" name="Object 24">
                <a:extLst>
                  <a:ext uri="{FF2B5EF4-FFF2-40B4-BE49-F238E27FC236}">
                    <a16:creationId xmlns:a16="http://schemas.microsoft.com/office/drawing/2014/main" id="{9CEFB6CA-DCBE-5732-758A-F32CD9223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33367" y="1285950"/>
                <a:ext cx="457200" cy="331788"/>
              </a:xfrm>
              <a:prstGeom prst="rect">
                <a:avLst/>
              </a:prstGeom>
              <a:blipFill>
                <a:blip r:embed="rId2"/>
                <a:stretch>
                  <a:fillRect r="-4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AutoShape 25">
            <a:extLst>
              <a:ext uri="{FF2B5EF4-FFF2-40B4-BE49-F238E27FC236}">
                <a16:creationId xmlns:a16="http://schemas.microsoft.com/office/drawing/2014/main" id="{757EEF2C-F88F-FAD2-1FF5-BE34423997D1}"/>
              </a:ext>
            </a:extLst>
          </p:cNvPr>
          <p:cNvCxnSpPr>
            <a:cxnSpLocks noChangeShapeType="1"/>
            <a:stCxn id="19" idx="3"/>
            <a:endCxn id="3" idx="2"/>
          </p:cNvCxnSpPr>
          <p:nvPr/>
        </p:nvCxnSpPr>
        <p:spPr bwMode="auto">
          <a:xfrm flipV="1">
            <a:off x="3347892" y="1760613"/>
            <a:ext cx="3327400" cy="1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lg"/>
          </a:ln>
          <a:effectLst/>
        </p:spPr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Object 24">
                <a:extLst>
                  <a:ext uri="{FF2B5EF4-FFF2-40B4-BE49-F238E27FC236}">
                    <a16:creationId xmlns:a16="http://schemas.microsoft.com/office/drawing/2014/main" id="{F0B61340-6703-FB4E-1517-FEF54EEAA3B7}"/>
                  </a:ext>
                </a:extLst>
              </p:cNvPr>
              <p:cNvSpPr txBox="1"/>
              <p:nvPr/>
            </p:nvSpPr>
            <p:spPr bwMode="auto">
              <a:xfrm>
                <a:off x="3419108" y="1213721"/>
                <a:ext cx="4538662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r>
                  <a:rPr lang="pt-BR" sz="2000" dirty="0">
                    <a:solidFill>
                      <a:srgbClr val="000000"/>
                    </a:solidFill>
                  </a:rPr>
                  <a:t>r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m:rPr>
                        <m:sty m:val="p"/>
                      </m:rPr>
                      <a:rPr lang="pt-BR" sz="20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⁡(2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28" name="Object 24">
                <a:extLst>
                  <a:ext uri="{FF2B5EF4-FFF2-40B4-BE49-F238E27FC236}">
                    <a16:creationId xmlns:a16="http://schemas.microsoft.com/office/drawing/2014/main" id="{F0B61340-6703-FB4E-1517-FEF54EEAA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19108" y="1213721"/>
                <a:ext cx="4538662" cy="331788"/>
              </a:xfrm>
              <a:prstGeom prst="rect">
                <a:avLst/>
              </a:prstGeom>
              <a:blipFill>
                <a:blip r:embed="rId3"/>
                <a:stretch>
                  <a:fillRect l="-1478" t="-9091" b="-5090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9865864C-2C6A-60C0-5636-574DB0C94272}"/>
                  </a:ext>
                </a:extLst>
              </p:cNvPr>
              <p:cNvSpPr txBox="1"/>
              <p:nvPr/>
            </p:nvSpPr>
            <p:spPr bwMode="auto">
              <a:xfrm>
                <a:off x="7281494" y="1258962"/>
                <a:ext cx="676275" cy="3159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29" name="Object 24">
                <a:extLst>
                  <a:ext uri="{FF2B5EF4-FFF2-40B4-BE49-F238E27FC236}">
                    <a16:creationId xmlns:a16="http://schemas.microsoft.com/office/drawing/2014/main" id="{9865864C-2C6A-60C0-5636-574DB0C94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1494" y="1258962"/>
                <a:ext cx="676275" cy="315913"/>
              </a:xfrm>
              <a:prstGeom prst="rect">
                <a:avLst/>
              </a:prstGeom>
              <a:blipFill>
                <a:blip r:embed="rId4"/>
                <a:stretch>
                  <a:fillRect l="-9009" t="-11765" b="-627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Object 24">
                <a:extLst>
                  <a:ext uri="{FF2B5EF4-FFF2-40B4-BE49-F238E27FC236}">
                    <a16:creationId xmlns:a16="http://schemas.microsoft.com/office/drawing/2014/main" id="{B3CF01C4-9579-1852-6664-0A84FE46467F}"/>
                  </a:ext>
                </a:extLst>
              </p:cNvPr>
              <p:cNvSpPr txBox="1"/>
              <p:nvPr/>
            </p:nvSpPr>
            <p:spPr bwMode="auto">
              <a:xfrm>
                <a:off x="10056667" y="1327225"/>
                <a:ext cx="457200" cy="331788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0" name="Object 24">
                <a:extLst>
                  <a:ext uri="{FF2B5EF4-FFF2-40B4-BE49-F238E27FC236}">
                    <a16:creationId xmlns:a16="http://schemas.microsoft.com/office/drawing/2014/main" id="{B3CF01C4-9579-1852-6664-0A84FE464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56667" y="1327225"/>
                <a:ext cx="457200" cy="331788"/>
              </a:xfrm>
              <a:prstGeom prst="rect">
                <a:avLst/>
              </a:prstGeom>
              <a:blipFill>
                <a:blip r:embed="rId5"/>
                <a:stretch>
                  <a:fillRect t="-7407" r="-62667" b="-38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Object 24">
                <a:extLst>
                  <a:ext uri="{FF2B5EF4-FFF2-40B4-BE49-F238E27FC236}">
                    <a16:creationId xmlns:a16="http://schemas.microsoft.com/office/drawing/2014/main" id="{2D04170B-24C6-AE0E-2820-2600D5122051}"/>
                  </a:ext>
                </a:extLst>
              </p:cNvPr>
              <p:cNvSpPr txBox="1"/>
              <p:nvPr/>
            </p:nvSpPr>
            <p:spPr bwMode="auto">
              <a:xfrm>
                <a:off x="4360717" y="2362280"/>
                <a:ext cx="1808163" cy="72310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2" name="Object 24">
                <a:extLst>
                  <a:ext uri="{FF2B5EF4-FFF2-40B4-BE49-F238E27FC236}">
                    <a16:creationId xmlns:a16="http://schemas.microsoft.com/office/drawing/2014/main" id="{2D04170B-24C6-AE0E-2820-2600D5122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0717" y="2362280"/>
                <a:ext cx="1808163" cy="723106"/>
              </a:xfrm>
              <a:prstGeom prst="rect">
                <a:avLst/>
              </a:prstGeom>
              <a:blipFill>
                <a:blip r:embed="rId6"/>
                <a:stretch>
                  <a:fillRect t="-2542" r="-1548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992E9E90-E7D7-DF71-FB4F-F25BE816D4EB}"/>
                  </a:ext>
                </a:extLst>
              </p:cNvPr>
              <p:cNvSpPr txBox="1"/>
              <p:nvPr/>
            </p:nvSpPr>
            <p:spPr bwMode="auto">
              <a:xfrm>
                <a:off x="2951533" y="3520611"/>
                <a:ext cx="6749533" cy="55166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r>
                  <a:rPr lang="pt-BR" sz="2000" i="1" dirty="0">
                    <a:solidFill>
                      <a:srgbClr val="000000"/>
                    </a:solidFill>
                  </a:rPr>
                  <a:t>y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d>
                      <m:dPr>
                        <m:ctrlP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func>
                      <m:funcPr>
                        <m:ctrl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b>
                              <m:sSubPr>
                                <m:ctrlP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func>
                      <m:funcPr>
                        <m:ctrl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sz="20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(2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  <m:sSub>
                          <m:sSubPr>
                            <m:ctrlP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sz="20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b>
                            <m:r>
                              <a:rPr lang="pt-BR" sz="20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𝜑</m:t>
                        </m:r>
                        <m:r>
                          <a:rPr lang="pt-BR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pt-BR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sz="2000" dirty="0"/>
              </a:p>
            </p:txBody>
          </p:sp>
        </mc:Choice>
        <mc:Fallback>
          <p:sp>
            <p:nvSpPr>
              <p:cNvPr id="34" name="Object 24">
                <a:extLst>
                  <a:ext uri="{FF2B5EF4-FFF2-40B4-BE49-F238E27FC236}">
                    <a16:creationId xmlns:a16="http://schemas.microsoft.com/office/drawing/2014/main" id="{992E9E90-E7D7-DF71-FB4F-F25BE816D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51533" y="3520611"/>
                <a:ext cx="6749533" cy="551660"/>
              </a:xfrm>
              <a:prstGeom prst="rect">
                <a:avLst/>
              </a:prstGeom>
              <a:blipFill>
                <a:blip r:embed="rId7"/>
                <a:stretch>
                  <a:fillRect l="-903" t="-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bject 24">
                <a:extLst>
                  <a:ext uri="{FF2B5EF4-FFF2-40B4-BE49-F238E27FC236}">
                    <a16:creationId xmlns:a16="http://schemas.microsoft.com/office/drawing/2014/main" id="{B8CFB7BB-6913-B94E-34BE-A0FA4147B524}"/>
                  </a:ext>
                </a:extLst>
              </p:cNvPr>
              <p:cNvSpPr txBox="1"/>
              <p:nvPr/>
            </p:nvSpPr>
            <p:spPr bwMode="auto">
              <a:xfrm>
                <a:off x="818645" y="4331994"/>
                <a:ext cx="9739587" cy="468532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d>
                        <m:d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func>
                        <m:funcPr>
                          <m:ctrl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pt-BR" sz="2000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8" name="Object 24">
                <a:extLst>
                  <a:ext uri="{FF2B5EF4-FFF2-40B4-BE49-F238E27FC236}">
                    <a16:creationId xmlns:a16="http://schemas.microsoft.com/office/drawing/2014/main" id="{B8CFB7BB-6913-B94E-34BE-A0FA4147B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8645" y="4331994"/>
                <a:ext cx="9739587" cy="468532"/>
              </a:xfrm>
              <a:prstGeom prst="rect">
                <a:avLst/>
              </a:prstGeom>
              <a:blipFill>
                <a:blip r:embed="rId8"/>
                <a:stretch>
                  <a:fillRect b="-3421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AutoShape 6">
            <a:extLst>
              <a:ext uri="{FF2B5EF4-FFF2-40B4-BE49-F238E27FC236}">
                <a16:creationId xmlns:a16="http://schemas.microsoft.com/office/drawing/2014/main" id="{A2B5923D-FB21-483C-9F89-5465D8906A39}"/>
              </a:ext>
            </a:extLst>
          </p:cNvPr>
          <p:cNvSpPr>
            <a:spLocks/>
          </p:cNvSpPr>
          <p:nvPr/>
        </p:nvSpPr>
        <p:spPr bwMode="auto">
          <a:xfrm rot="16200000">
            <a:off x="5980286" y="3211796"/>
            <a:ext cx="313167" cy="3820044"/>
          </a:xfrm>
          <a:prstGeom prst="leftBrace">
            <a:avLst>
              <a:gd name="adj1" fmla="val 82639"/>
              <a:gd name="adj2" fmla="val 50801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B29D724E-45BD-137D-7CC8-A22A32C77AC5}"/>
              </a:ext>
            </a:extLst>
          </p:cNvPr>
          <p:cNvSpPr txBox="1"/>
          <p:nvPr/>
        </p:nvSpPr>
        <p:spPr>
          <a:xfrm>
            <a:off x="5363306" y="5274947"/>
            <a:ext cx="1611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Sinal distorcido</a:t>
            </a: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A2A632C6-0411-D72C-A64E-1A878A1C44B3}"/>
              </a:ext>
            </a:extLst>
          </p:cNvPr>
          <p:cNvSpPr/>
          <p:nvPr/>
        </p:nvSpPr>
        <p:spPr>
          <a:xfrm>
            <a:off x="6424467" y="4476307"/>
            <a:ext cx="495300" cy="488927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4520C9AF-9C0E-4D19-3D52-F13C50D03DFE}"/>
              </a:ext>
            </a:extLst>
          </p:cNvPr>
          <p:cNvCxnSpPr>
            <a:endCxn id="43" idx="5"/>
          </p:cNvCxnSpPr>
          <p:nvPr/>
        </p:nvCxnSpPr>
        <p:spPr>
          <a:xfrm flipH="1" flipV="1">
            <a:off x="6847232" y="4893632"/>
            <a:ext cx="1110537" cy="922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28450C8-7E79-EFC6-2DF7-C8C54D939D5C}"/>
                  </a:ext>
                </a:extLst>
              </p:cNvPr>
              <p:cNvSpPr txBox="1"/>
              <p:nvPr/>
            </p:nvSpPr>
            <p:spPr>
              <a:xfrm>
                <a:off x="6858495" y="5850359"/>
                <a:ext cx="3426772" cy="38491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dirty="0"/>
                  <a:t>Desvio de frequência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pt-BR" dirty="0"/>
              </a:p>
            </p:txBody>
          </p:sp>
        </mc:Choice>
        <mc:Fallback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328450C8-7E79-EFC6-2DF7-C8C54D939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495" y="5850359"/>
                <a:ext cx="3426772" cy="384914"/>
              </a:xfrm>
              <a:prstGeom prst="rect">
                <a:avLst/>
              </a:prstGeom>
              <a:blipFill>
                <a:blip r:embed="rId9"/>
                <a:stretch>
                  <a:fillRect l="-1423" t="-7937" r="-3737" b="-2539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071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FC89F8-1AC6-3269-C698-B1E6FE71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 - Como Modular?</a:t>
            </a:r>
            <a:br>
              <a:rPr lang="pt-BR" dirty="0"/>
            </a:br>
            <a:r>
              <a:rPr lang="pt-BR" dirty="0"/>
              <a:t>Não Linearidade</a:t>
            </a:r>
          </a:p>
        </p:txBody>
      </p:sp>
      <p:pic>
        <p:nvPicPr>
          <p:cNvPr id="4" name="Picture 3" descr="fig157">
            <a:extLst>
              <a:ext uri="{FF2B5EF4-FFF2-40B4-BE49-F238E27FC236}">
                <a16:creationId xmlns:a16="http://schemas.microsoft.com/office/drawing/2014/main" id="{2389A773-91EB-2D0E-4FD1-50D4BA27A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0976" y="1327931"/>
            <a:ext cx="8643257" cy="2091157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14E3AC0-88E5-B175-FDE7-5A33C3EAC721}"/>
                  </a:ext>
                </a:extLst>
              </p:cNvPr>
              <p:cNvSpPr txBox="1"/>
              <p:nvPr/>
            </p:nvSpPr>
            <p:spPr>
              <a:xfrm>
                <a:off x="1927767" y="3393172"/>
                <a:ext cx="35854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714E3AC0-88E5-B175-FDE7-5A33C3EAC7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767" y="3393172"/>
                <a:ext cx="3585469" cy="369332"/>
              </a:xfrm>
              <a:prstGeom prst="rect">
                <a:avLst/>
              </a:prstGeom>
              <a:blipFill>
                <a:blip r:embed="rId3"/>
                <a:stretch>
                  <a:fillRect l="-680" r="-2721" b="-3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519982D-60F3-A966-1C57-524A97E51863}"/>
                  </a:ext>
                </a:extLst>
              </p:cNvPr>
              <p:cNvSpPr txBox="1"/>
              <p:nvPr/>
            </p:nvSpPr>
            <p:spPr>
              <a:xfrm>
                <a:off x="6096000" y="3337187"/>
                <a:ext cx="35925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pt-BR" sz="24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4519982D-60F3-A966-1C57-524A97E51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337187"/>
                <a:ext cx="3592587" cy="369332"/>
              </a:xfrm>
              <a:prstGeom prst="rect">
                <a:avLst/>
              </a:prstGeom>
              <a:blipFill>
                <a:blip r:embed="rId4"/>
                <a:stretch>
                  <a:fillRect l="-679" r="-2547" b="-3442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DF973973-1CFD-B6E4-2B01-142AF4C6FFE7}"/>
                  </a:ext>
                </a:extLst>
              </p:cNvPr>
              <p:cNvSpPr txBox="1"/>
              <p:nvPr/>
            </p:nvSpPr>
            <p:spPr>
              <a:xfrm>
                <a:off x="1927767" y="4044649"/>
                <a:ext cx="6087692" cy="743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sSubSup>
                            <m:sSubSup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pt-BR" sz="2400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sSubSup>
                            <m:sSub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pt-BR" sz="2400" b="0" i="1" dirty="0">
                  <a:latin typeface="Cambria Math" panose="02040503050406030204" pitchFamily="18" charset="0"/>
                </a:endParaRPr>
              </a:p>
              <a:p>
                <a:pPr/>
                <a:r>
                  <a:rPr lang="pt-BR" sz="2400" b="0" dirty="0"/>
                  <a:t>         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𝑎𝑚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𝑏𝑚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⁡(2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𝜋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sz="2400" b="0" dirty="0"/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DF973973-1CFD-B6E4-2B01-142AF4C6FF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767" y="4044649"/>
                <a:ext cx="6087692" cy="743665"/>
              </a:xfrm>
              <a:prstGeom prst="rect">
                <a:avLst/>
              </a:prstGeom>
              <a:blipFill>
                <a:blip r:embed="rId5"/>
                <a:stretch>
                  <a:fillRect b="-1721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10EA9DC4-362D-B667-2BA6-74E99D55A2EB}"/>
              </a:ext>
            </a:extLst>
          </p:cNvPr>
          <p:cNvCxnSpPr/>
          <p:nvPr/>
        </p:nvCxnSpPr>
        <p:spPr>
          <a:xfrm flipV="1">
            <a:off x="2881423" y="4391247"/>
            <a:ext cx="808075" cy="397067"/>
          </a:xfrm>
          <a:prstGeom prst="line">
            <a:avLst/>
          </a:prstGeom>
          <a:ln w="2222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FA773EE5-F2D1-E6D0-7E73-CBDD4961B6BE}"/>
              </a:ext>
            </a:extLst>
          </p:cNvPr>
          <p:cNvCxnSpPr>
            <a:cxnSpLocks/>
          </p:cNvCxnSpPr>
          <p:nvPr/>
        </p:nvCxnSpPr>
        <p:spPr>
          <a:xfrm flipH="1" flipV="1">
            <a:off x="2881423" y="4388065"/>
            <a:ext cx="914400" cy="400249"/>
          </a:xfrm>
          <a:prstGeom prst="line">
            <a:avLst/>
          </a:prstGeom>
          <a:ln w="22225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6">
            <a:extLst>
              <a:ext uri="{FF2B5EF4-FFF2-40B4-BE49-F238E27FC236}">
                <a16:creationId xmlns:a16="http://schemas.microsoft.com/office/drawing/2014/main" id="{F71B7DC5-F2E5-75DB-C2FE-8F5312449948}"/>
              </a:ext>
            </a:extLst>
          </p:cNvPr>
          <p:cNvSpPr>
            <a:spLocks/>
          </p:cNvSpPr>
          <p:nvPr/>
        </p:nvSpPr>
        <p:spPr bwMode="auto">
          <a:xfrm rot="16200000">
            <a:off x="5218047" y="3974035"/>
            <a:ext cx="372309" cy="2354708"/>
          </a:xfrm>
          <a:prstGeom prst="leftBrace">
            <a:avLst>
              <a:gd name="adj1" fmla="val 82639"/>
              <a:gd name="adj2" fmla="val 50801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5D924751-D053-536C-09B0-6B4F9BE89D02}"/>
              </a:ext>
            </a:extLst>
          </p:cNvPr>
          <p:cNvSpPr txBox="1"/>
          <p:nvPr/>
        </p:nvSpPr>
        <p:spPr>
          <a:xfrm>
            <a:off x="4411076" y="5337544"/>
            <a:ext cx="2606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Sinal modulado</a:t>
            </a:r>
          </a:p>
        </p:txBody>
      </p:sp>
    </p:spTree>
    <p:extLst>
      <p:ext uri="{BB962C8B-B14F-4D97-AF65-F5344CB8AC3E}">
        <p14:creationId xmlns:p14="http://schemas.microsoft.com/office/powerpoint/2010/main" val="2911896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3CC70-EF62-BE40-5DD8-85EA4F8D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138C1-9DB0-A1DA-47C3-F5F5B387C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 - Como Modular?</a:t>
            </a:r>
            <a:br>
              <a:rPr lang="pt-BR" dirty="0"/>
            </a:br>
            <a:r>
              <a:rPr lang="pt-BR" dirty="0"/>
              <a:t>Por chaveamento</a:t>
            </a:r>
          </a:p>
        </p:txBody>
      </p:sp>
      <p:pic>
        <p:nvPicPr>
          <p:cNvPr id="3" name="Picture 43" descr="fig4-4a">
            <a:extLst>
              <a:ext uri="{FF2B5EF4-FFF2-40B4-BE49-F238E27FC236}">
                <a16:creationId xmlns:a16="http://schemas.microsoft.com/office/drawing/2014/main" id="{E7A171B8-2E60-BCA8-353B-E34F85FE4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7025" y="4737100"/>
            <a:ext cx="2876550" cy="1079500"/>
          </a:xfrm>
          <a:prstGeom prst="rect">
            <a:avLst/>
          </a:prstGeom>
          <a:noFill/>
        </p:spPr>
      </p:pic>
      <p:pic>
        <p:nvPicPr>
          <p:cNvPr id="5" name="Picture 45" descr="fig4-4c">
            <a:extLst>
              <a:ext uri="{FF2B5EF4-FFF2-40B4-BE49-F238E27FC236}">
                <a16:creationId xmlns:a16="http://schemas.microsoft.com/office/drawing/2014/main" id="{6A1947EB-2837-F601-FC94-254BBDBD5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95825" y="4927600"/>
            <a:ext cx="2876550" cy="1079500"/>
          </a:xfrm>
          <a:prstGeom prst="rect">
            <a:avLst/>
          </a:prstGeom>
          <a:noFill/>
        </p:spPr>
      </p:pic>
      <p:pic>
        <p:nvPicPr>
          <p:cNvPr id="6" name="Picture 46" descr="fig4-4d">
            <a:extLst>
              <a:ext uri="{FF2B5EF4-FFF2-40B4-BE49-F238E27FC236}">
                <a16:creationId xmlns:a16="http://schemas.microsoft.com/office/drawing/2014/main" id="{B971AE2D-97EB-73B3-CE39-27718C67D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34300" y="4765675"/>
            <a:ext cx="2876550" cy="1079500"/>
          </a:xfrm>
          <a:prstGeom prst="rect">
            <a:avLst/>
          </a:prstGeom>
          <a:noFill/>
        </p:spPr>
      </p:pic>
      <p:grpSp>
        <p:nvGrpSpPr>
          <p:cNvPr id="7" name="Group 57">
            <a:extLst>
              <a:ext uri="{FF2B5EF4-FFF2-40B4-BE49-F238E27FC236}">
                <a16:creationId xmlns:a16="http://schemas.microsoft.com/office/drawing/2014/main" id="{63E2DDE3-0138-EA56-5885-59500522231C}"/>
              </a:ext>
            </a:extLst>
          </p:cNvPr>
          <p:cNvGrpSpPr>
            <a:grpSpLocks/>
          </p:cNvGrpSpPr>
          <p:nvPr/>
        </p:nvGrpSpPr>
        <p:grpSpPr bwMode="auto">
          <a:xfrm>
            <a:off x="2216150" y="2882900"/>
            <a:ext cx="7361238" cy="1714500"/>
            <a:chOff x="472" y="1612"/>
            <a:chExt cx="4637" cy="1080"/>
          </a:xfrm>
        </p:grpSpPr>
        <p:sp>
          <p:nvSpPr>
            <p:cNvPr id="8" name="AutoShape 5">
              <a:extLst>
                <a:ext uri="{FF2B5EF4-FFF2-40B4-BE49-F238E27FC236}">
                  <a16:creationId xmlns:a16="http://schemas.microsoft.com/office/drawing/2014/main" id="{049E7584-7643-C2F6-0EC4-7138984CC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9" y="1612"/>
              <a:ext cx="935" cy="1080"/>
            </a:xfrm>
            <a:prstGeom prst="flowChartProcess">
              <a:avLst/>
            </a:prstGeom>
            <a:solidFill>
              <a:srgbClr val="CCFFFF"/>
            </a:solidFill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Filtro 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>
                  <a:solidFill>
                    <a:schemeClr val="accent2"/>
                  </a:solidFill>
                </a:rPr>
                <a:t>passa-faixa</a:t>
              </a:r>
            </a:p>
            <a:p>
              <a:pPr>
                <a:lnSpc>
                  <a:spcPct val="90000"/>
                </a:lnSpc>
                <a:spcBef>
                  <a:spcPct val="0"/>
                </a:spcBef>
              </a:pPr>
              <a:r>
                <a:rPr lang="pt-BR" sz="2000" i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pt-BR" sz="2000" baseline="-25000">
                  <a:solidFill>
                    <a:schemeClr val="accent2"/>
                  </a:solidFill>
                  <a:sym typeface="Symbol" pitchFamily="18" charset="2"/>
                </a:rPr>
                <a:t>central</a:t>
              </a:r>
              <a:r>
                <a:rPr lang="pt-BR" sz="2000">
                  <a:solidFill>
                    <a:schemeClr val="accent2"/>
                  </a:solidFill>
                  <a:sym typeface="Symbol" pitchFamily="18" charset="2"/>
                </a:rPr>
                <a:t> </a:t>
              </a:r>
              <a:r>
                <a:rPr lang="pt-BR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=</a:t>
              </a:r>
              <a:r>
                <a:rPr lang="pt-BR" sz="2000" i="1">
                  <a:solidFill>
                    <a:schemeClr val="accent2"/>
                  </a:solidFill>
                  <a:sym typeface="Symbol" pitchFamily="18" charset="2"/>
                </a:rPr>
                <a:t> </a:t>
              </a:r>
              <a:r>
                <a:rPr lang="pt-BR" sz="2000" i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f</a:t>
              </a:r>
              <a:r>
                <a:rPr lang="pt-BR" sz="2000" i="1" baseline="-25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c</a:t>
              </a:r>
            </a:p>
            <a:p>
              <a:pPr>
                <a:lnSpc>
                  <a:spcPct val="90000"/>
                </a:lnSpc>
                <a:spcBef>
                  <a:spcPct val="20000"/>
                </a:spcBef>
              </a:pPr>
              <a:r>
                <a:rPr lang="pt-BR" sz="2000" i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B</a:t>
              </a:r>
              <a:r>
                <a:rPr lang="pt-BR" sz="2000" i="1" baseline="-25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p </a:t>
              </a:r>
              <a:r>
                <a:rPr lang="pt-BR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=</a:t>
              </a:r>
              <a:r>
                <a:rPr lang="pt-BR" sz="2000" baseline="-25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</a:t>
              </a:r>
              <a:r>
                <a:rPr lang="pt-BR" sz="2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2</a:t>
              </a:r>
              <a:r>
                <a:rPr lang="pt-BR" sz="2000" i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B</a:t>
              </a:r>
              <a:r>
                <a:rPr lang="pt-BR" sz="2000" i="1" baseline="-2500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m</a:t>
              </a:r>
              <a:endParaRPr lang="pt-BR" sz="2000" i="1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endParaRPr>
            </a:p>
          </p:txBody>
        </p:sp>
        <p:graphicFrame>
          <p:nvGraphicFramePr>
            <p:cNvPr id="9" name="Object 7">
              <a:extLst>
                <a:ext uri="{FF2B5EF4-FFF2-40B4-BE49-F238E27FC236}">
                  <a16:creationId xmlns:a16="http://schemas.microsoft.com/office/drawing/2014/main" id="{E50480F8-1552-BD4E-3858-065C38C176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18" y="2042"/>
            <a:ext cx="374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330120" imgH="203040" progId="Equation.3">
                    <p:embed/>
                  </p:oleObj>
                </mc:Choice>
                <mc:Fallback>
                  <p:oleObj name="Equation" r:id="rId5" imgW="330120" imgH="203040" progId="Equation.3">
                    <p:embed/>
                    <p:pic>
                      <p:nvPicPr>
                        <p:cNvPr id="68506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8" y="2042"/>
                          <a:ext cx="374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2">
              <a:extLst>
                <a:ext uri="{FF2B5EF4-FFF2-40B4-BE49-F238E27FC236}">
                  <a16:creationId xmlns:a16="http://schemas.microsoft.com/office/drawing/2014/main" id="{274314D3-E04D-B634-C614-6D47E3F8805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40" y="2028"/>
            <a:ext cx="1569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384200" imgH="228600" progId="Equation.3">
                    <p:embed/>
                  </p:oleObj>
                </mc:Choice>
                <mc:Fallback>
                  <p:oleObj name="Equation" r:id="rId7" imgW="1384200" imgH="228600" progId="Equation.3">
                    <p:embed/>
                    <p:pic>
                      <p:nvPicPr>
                        <p:cNvPr id="68506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0" y="2028"/>
                          <a:ext cx="1569" cy="2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AutoShape 16">
              <a:extLst>
                <a:ext uri="{FF2B5EF4-FFF2-40B4-BE49-F238E27FC236}">
                  <a16:creationId xmlns:a16="http://schemas.microsoft.com/office/drawing/2014/main" id="{440DFCE4-1566-E9E3-5395-07311F4D511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60" y="1767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12" name="AutoShape 17">
              <a:extLst>
                <a:ext uri="{FF2B5EF4-FFF2-40B4-BE49-F238E27FC236}">
                  <a16:creationId xmlns:a16="http://schemas.microsoft.com/office/drawing/2014/main" id="{ABB30299-E935-A266-E1CD-25CC2DB4FFDD}"/>
                </a:ext>
              </a:extLst>
            </p:cNvPr>
            <p:cNvCxnSpPr>
              <a:cxnSpLocks noChangeShapeType="1"/>
              <a:stCxn id="11" idx="6"/>
              <a:endCxn id="14" idx="1"/>
            </p:cNvCxnSpPr>
            <p:nvPr/>
          </p:nvCxnSpPr>
          <p:spPr bwMode="auto">
            <a:xfrm>
              <a:off x="1614" y="1790"/>
              <a:ext cx="864" cy="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7527FC37-7486-AFA3-77DA-94A6268B34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78" y="1792"/>
              <a:ext cx="0" cy="72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6" name="AutoShape 19">
              <a:extLst>
                <a:ext uri="{FF2B5EF4-FFF2-40B4-BE49-F238E27FC236}">
                  <a16:creationId xmlns:a16="http://schemas.microsoft.com/office/drawing/2014/main" id="{68DB873F-7D57-4798-77B5-D27882BA6B9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60" y="2484"/>
              <a:ext cx="45" cy="45"/>
            </a:xfrm>
            <a:prstGeom prst="flowChartConnector">
              <a:avLst/>
            </a:prstGeom>
            <a:solidFill>
              <a:srgbClr val="0000CC"/>
            </a:solidFill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18" name="AutoShape 20">
              <a:extLst>
                <a:ext uri="{FF2B5EF4-FFF2-40B4-BE49-F238E27FC236}">
                  <a16:creationId xmlns:a16="http://schemas.microsoft.com/office/drawing/2014/main" id="{B18EFA36-A634-48F4-20A6-A7004BC2FE75}"/>
                </a:ext>
              </a:extLst>
            </p:cNvPr>
            <p:cNvCxnSpPr>
              <a:cxnSpLocks noChangeShapeType="1"/>
              <a:stCxn id="16" idx="6"/>
              <a:endCxn id="14" idx="0"/>
            </p:cNvCxnSpPr>
            <p:nvPr/>
          </p:nvCxnSpPr>
          <p:spPr bwMode="auto">
            <a:xfrm>
              <a:off x="1614" y="2507"/>
              <a:ext cx="864" cy="5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21" name="AutoShape 21">
              <a:extLst>
                <a:ext uri="{FF2B5EF4-FFF2-40B4-BE49-F238E27FC236}">
                  <a16:creationId xmlns:a16="http://schemas.microsoft.com/office/drawing/2014/main" id="{CDC2B85B-FEA9-B67E-D350-F81EE338E90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4" y="1767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22" name="AutoShape 22">
              <a:extLst>
                <a:ext uri="{FF2B5EF4-FFF2-40B4-BE49-F238E27FC236}">
                  <a16:creationId xmlns:a16="http://schemas.microsoft.com/office/drawing/2014/main" id="{89898CE8-8447-5F69-12E2-A5E47F8762BE}"/>
                </a:ext>
              </a:extLst>
            </p:cNvPr>
            <p:cNvCxnSpPr>
              <a:cxnSpLocks noChangeShapeType="1"/>
              <a:stCxn id="21" idx="6"/>
              <a:endCxn id="23" idx="2"/>
            </p:cNvCxnSpPr>
            <p:nvPr/>
          </p:nvCxnSpPr>
          <p:spPr bwMode="auto">
            <a:xfrm>
              <a:off x="858" y="1790"/>
              <a:ext cx="465" cy="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23" name="AutoShape 23">
              <a:extLst>
                <a:ext uri="{FF2B5EF4-FFF2-40B4-BE49-F238E27FC236}">
                  <a16:creationId xmlns:a16="http://schemas.microsoft.com/office/drawing/2014/main" id="{DF090AD1-202D-9EFB-3D77-8C744496F6C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332" y="1767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6" name="AutoShape 24">
              <a:extLst>
                <a:ext uri="{FF2B5EF4-FFF2-40B4-BE49-F238E27FC236}">
                  <a16:creationId xmlns:a16="http://schemas.microsoft.com/office/drawing/2014/main" id="{CA02D7B1-EF3E-D87C-B923-DB9FCD3146F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60" y="1991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27" name="AutoShape 25">
              <a:extLst>
                <a:ext uri="{FF2B5EF4-FFF2-40B4-BE49-F238E27FC236}">
                  <a16:creationId xmlns:a16="http://schemas.microsoft.com/office/drawing/2014/main" id="{E892AE6C-DB88-6860-161E-CDF144F12FF0}"/>
                </a:ext>
              </a:extLst>
            </p:cNvPr>
            <p:cNvCxnSpPr>
              <a:cxnSpLocks noChangeShapeType="1"/>
              <a:stCxn id="26" idx="4"/>
              <a:endCxn id="16" idx="0"/>
            </p:cNvCxnSpPr>
            <p:nvPr/>
          </p:nvCxnSpPr>
          <p:spPr bwMode="auto">
            <a:xfrm>
              <a:off x="1583" y="2045"/>
              <a:ext cx="0" cy="430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AB21F5F0-753E-4B32-5C8D-212C2D0D52D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21165579" flipH="1">
              <a:off x="1378" y="1816"/>
              <a:ext cx="198" cy="12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9" name="Arc 29">
              <a:extLst>
                <a:ext uri="{FF2B5EF4-FFF2-40B4-BE49-F238E27FC236}">
                  <a16:creationId xmlns:a16="http://schemas.microsoft.com/office/drawing/2014/main" id="{D2A94BEA-4D9D-7083-AD17-AA2D9C01ED17}"/>
                </a:ext>
              </a:extLst>
            </p:cNvPr>
            <p:cNvSpPr>
              <a:spLocks/>
            </p:cNvSpPr>
            <p:nvPr/>
          </p:nvSpPr>
          <p:spPr bwMode="auto">
            <a:xfrm rot="-9867197">
              <a:off x="1414" y="1810"/>
              <a:ext cx="186" cy="108"/>
            </a:xfrm>
            <a:custGeom>
              <a:avLst/>
              <a:gdLst>
                <a:gd name="G0" fmla="+- 9849 0 0"/>
                <a:gd name="G1" fmla="+- 21600 0 0"/>
                <a:gd name="G2" fmla="+- 21600 0 0"/>
                <a:gd name="T0" fmla="*/ 0 w 31449"/>
                <a:gd name="T1" fmla="*/ 2376 h 21600"/>
                <a:gd name="T2" fmla="*/ 31449 w 31449"/>
                <a:gd name="T3" fmla="*/ 21600 h 21600"/>
                <a:gd name="T4" fmla="*/ 9849 w 31449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449" h="21600" fill="none" extrusionOk="0">
                  <a:moveTo>
                    <a:pt x="0" y="2376"/>
                  </a:moveTo>
                  <a:cubicBezTo>
                    <a:pt x="3048" y="814"/>
                    <a:pt x="6424" y="-1"/>
                    <a:pt x="9849" y="0"/>
                  </a:cubicBezTo>
                  <a:cubicBezTo>
                    <a:pt x="21778" y="0"/>
                    <a:pt x="31449" y="9670"/>
                    <a:pt x="31449" y="21600"/>
                  </a:cubicBezTo>
                </a:path>
                <a:path w="31449" h="21600" stroke="0" extrusionOk="0">
                  <a:moveTo>
                    <a:pt x="0" y="2376"/>
                  </a:moveTo>
                  <a:cubicBezTo>
                    <a:pt x="3048" y="814"/>
                    <a:pt x="6424" y="-1"/>
                    <a:pt x="9849" y="0"/>
                  </a:cubicBezTo>
                  <a:cubicBezTo>
                    <a:pt x="21778" y="0"/>
                    <a:pt x="31449" y="9670"/>
                    <a:pt x="31449" y="21600"/>
                  </a:cubicBezTo>
                  <a:lnTo>
                    <a:pt x="9849" y="2160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stealth" w="sm" len="med"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6F742F6F-4676-A77A-41C9-3FFFBF89B9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878"/>
              <a:ext cx="26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 sz="2000" i="1">
                  <a:solidFill>
                    <a:srgbClr val="0000CC"/>
                  </a:solidFill>
                  <a:latin typeface="Times New Roman" pitchFamily="18" charset="0"/>
                </a:rPr>
                <a:t>f</a:t>
              </a:r>
              <a:r>
                <a:rPr lang="pt-BR" sz="2000" i="1" baseline="-25000">
                  <a:solidFill>
                    <a:srgbClr val="0000CC"/>
                  </a:solidFill>
                  <a:latin typeface="Times New Roman" pitchFamily="18" charset="0"/>
                </a:rPr>
                <a:t>c</a:t>
              </a:r>
              <a:endParaRPr lang="pt-BR" sz="2000" i="1">
                <a:solidFill>
                  <a:srgbClr val="0000CC"/>
                </a:solidFill>
                <a:latin typeface="Times New Roman" pitchFamily="18" charset="0"/>
              </a:endParaRPr>
            </a:p>
          </p:txBody>
        </p:sp>
        <p:sp>
          <p:nvSpPr>
            <p:cNvPr id="31" name="AutoShape 31">
              <a:extLst>
                <a:ext uri="{FF2B5EF4-FFF2-40B4-BE49-F238E27FC236}">
                  <a16:creationId xmlns:a16="http://schemas.microsoft.com/office/drawing/2014/main" id="{79ABD723-72D2-E306-0DA3-59FE3465BED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05" y="2486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32" name="AutoShape 32">
              <a:extLst>
                <a:ext uri="{FF2B5EF4-FFF2-40B4-BE49-F238E27FC236}">
                  <a16:creationId xmlns:a16="http://schemas.microsoft.com/office/drawing/2014/main" id="{6264F1DD-08D0-3388-DABF-A82EA1A0B390}"/>
                </a:ext>
              </a:extLst>
            </p:cNvPr>
            <p:cNvCxnSpPr>
              <a:cxnSpLocks noChangeShapeType="1"/>
              <a:stCxn id="31" idx="6"/>
              <a:endCxn id="16" idx="2"/>
            </p:cNvCxnSpPr>
            <p:nvPr/>
          </p:nvCxnSpPr>
          <p:spPr bwMode="auto">
            <a:xfrm flipV="1">
              <a:off x="859" y="2507"/>
              <a:ext cx="692" cy="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7AB52A1A-BB70-7FFD-2E3D-7BA442048F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" y="1644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6091A140-747F-D7C5-0640-E70D0A522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" y="2342"/>
              <a:ext cx="4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– </a:t>
              </a:r>
            </a:p>
          </p:txBody>
        </p:sp>
        <p:sp>
          <p:nvSpPr>
            <p:cNvPr id="35" name="Line 35">
              <a:extLst>
                <a:ext uri="{FF2B5EF4-FFF2-40B4-BE49-F238E27FC236}">
                  <a16:creationId xmlns:a16="http://schemas.microsoft.com/office/drawing/2014/main" id="{80B4C61A-DC75-B043-062F-E1F833123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4" y="1790"/>
              <a:ext cx="0" cy="72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6" name="AutoShape 36">
              <a:extLst>
                <a:ext uri="{FF2B5EF4-FFF2-40B4-BE49-F238E27FC236}">
                  <a16:creationId xmlns:a16="http://schemas.microsoft.com/office/drawing/2014/main" id="{8D8E8FF2-9B01-5168-D6D4-3D5B757967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027" y="1767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37" name="AutoShape 37">
              <a:extLst>
                <a:ext uri="{FF2B5EF4-FFF2-40B4-BE49-F238E27FC236}">
                  <a16:creationId xmlns:a16="http://schemas.microsoft.com/office/drawing/2014/main" id="{B9568298-3D63-3490-1C15-87CD079C4EF6}"/>
                </a:ext>
              </a:extLst>
            </p:cNvPr>
            <p:cNvCxnSpPr>
              <a:cxnSpLocks noChangeShapeType="1"/>
              <a:stCxn id="36" idx="6"/>
              <a:endCxn id="35" idx="1"/>
            </p:cNvCxnSpPr>
            <p:nvPr/>
          </p:nvCxnSpPr>
          <p:spPr bwMode="auto">
            <a:xfrm flipH="1">
              <a:off x="3414" y="1789"/>
              <a:ext cx="605" cy="1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38" name="AutoShape 38">
              <a:extLst>
                <a:ext uri="{FF2B5EF4-FFF2-40B4-BE49-F238E27FC236}">
                  <a16:creationId xmlns:a16="http://schemas.microsoft.com/office/drawing/2014/main" id="{0E078ECD-EE5F-CA83-D6BE-406FEF0DC96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flipH="1">
              <a:off x="4026" y="2486"/>
              <a:ext cx="45" cy="45"/>
            </a:xfrm>
            <a:prstGeom prst="flowChartConnector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cxnSp>
          <p:nvCxnSpPr>
            <p:cNvPr id="39" name="AutoShape 39">
              <a:extLst>
                <a:ext uri="{FF2B5EF4-FFF2-40B4-BE49-F238E27FC236}">
                  <a16:creationId xmlns:a16="http://schemas.microsoft.com/office/drawing/2014/main" id="{603639AB-1D93-ACF2-A6C7-D421918A7825}"/>
                </a:ext>
              </a:extLst>
            </p:cNvPr>
            <p:cNvCxnSpPr>
              <a:cxnSpLocks noChangeShapeType="1"/>
              <a:stCxn id="38" idx="6"/>
              <a:endCxn id="35" idx="0"/>
            </p:cNvCxnSpPr>
            <p:nvPr/>
          </p:nvCxnSpPr>
          <p:spPr bwMode="auto">
            <a:xfrm flipH="1">
              <a:off x="3414" y="2508"/>
              <a:ext cx="604" cy="2"/>
            </a:xfrm>
            <a:prstGeom prst="straightConnector1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</p:spPr>
        </p:cxnSp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066D464B-8FA4-ECE1-6B3B-D815D153F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54" y="1644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6B3E5E2E-EA4F-C6E4-A8CF-1F0E2F9573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4050" y="2342"/>
              <a:ext cx="25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– </a:t>
              </a:r>
            </a:p>
          </p:txBody>
        </p:sp>
        <p:graphicFrame>
          <p:nvGraphicFramePr>
            <p:cNvPr id="42" name="Object 48">
              <a:extLst>
                <a:ext uri="{FF2B5EF4-FFF2-40B4-BE49-F238E27FC236}">
                  <a16:creationId xmlns:a16="http://schemas.microsoft.com/office/drawing/2014/main" id="{451C9B30-94BE-CCAD-92D2-36DD7E172C2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12" y="2043"/>
            <a:ext cx="705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622080" imgH="203040" progId="Equation.3">
                    <p:embed/>
                  </p:oleObj>
                </mc:Choice>
                <mc:Fallback>
                  <p:oleObj name="Equation" r:id="rId9" imgW="622080" imgH="203040" progId="Equation.3">
                    <p:embed/>
                    <p:pic>
                      <p:nvPicPr>
                        <p:cNvPr id="685104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12" y="2043"/>
                          <a:ext cx="705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Text Box 49">
              <a:extLst>
                <a:ext uri="{FF2B5EF4-FFF2-40B4-BE49-F238E27FC236}">
                  <a16:creationId xmlns:a16="http://schemas.microsoft.com/office/drawing/2014/main" id="{7693FB4A-0DC0-0B5C-874D-E0D4298F3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2" y="1734"/>
              <a:ext cx="22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44" name="Text Box 50">
              <a:extLst>
                <a:ext uri="{FF2B5EF4-FFF2-40B4-BE49-F238E27FC236}">
                  <a16:creationId xmlns:a16="http://schemas.microsoft.com/office/drawing/2014/main" id="{B0E222D6-6D7C-5AB0-D252-CA7496ED24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0" y="2282"/>
              <a:ext cx="4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pt-BR">
                  <a:solidFill>
                    <a:srgbClr val="0000CC"/>
                  </a:solidFill>
                  <a:latin typeface="Times New Roman" pitchFamily="18" charset="0"/>
                </a:rPr>
                <a:t>– </a:t>
              </a:r>
            </a:p>
          </p:txBody>
        </p:sp>
      </p:grpSp>
      <p:sp>
        <p:nvSpPr>
          <p:cNvPr id="45" name="Line 51">
            <a:extLst>
              <a:ext uri="{FF2B5EF4-FFF2-40B4-BE49-F238E27FC236}">
                <a16:creationId xmlns:a16="http://schemas.microsoft.com/office/drawing/2014/main" id="{ED6986B5-26F8-C19F-F00A-6B9A4984FD2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486026"/>
            <a:ext cx="0" cy="828675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dash"/>
            <a:round/>
            <a:headEnd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46" name="Group 58">
            <a:extLst>
              <a:ext uri="{FF2B5EF4-FFF2-40B4-BE49-F238E27FC236}">
                <a16:creationId xmlns:a16="http://schemas.microsoft.com/office/drawing/2014/main" id="{AB1B5B00-6E45-34E8-FA60-9A9B2148420E}"/>
              </a:ext>
            </a:extLst>
          </p:cNvPr>
          <p:cNvGrpSpPr>
            <a:grpSpLocks/>
          </p:cNvGrpSpPr>
          <p:nvPr/>
        </p:nvGrpSpPr>
        <p:grpSpPr bwMode="auto">
          <a:xfrm>
            <a:off x="2644775" y="1592263"/>
            <a:ext cx="2516188" cy="971550"/>
            <a:chOff x="742" y="799"/>
            <a:chExt cx="1585" cy="612"/>
          </a:xfrm>
        </p:grpSpPr>
        <p:pic>
          <p:nvPicPr>
            <p:cNvPr id="47" name="Picture 44" descr="fig4-4b">
              <a:extLst>
                <a:ext uri="{FF2B5EF4-FFF2-40B4-BE49-F238E27FC236}">
                  <a16:creationId xmlns:a16="http://schemas.microsoft.com/office/drawing/2014/main" id="{735FCD04-3F23-5D91-F781-3DE176C05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/>
            <a:srcRect r="12518" b="23355"/>
            <a:stretch>
              <a:fillRect/>
            </a:stretch>
          </p:blipFill>
          <p:spPr bwMode="auto">
            <a:xfrm>
              <a:off x="742" y="890"/>
              <a:ext cx="1585" cy="521"/>
            </a:xfrm>
            <a:prstGeom prst="rect">
              <a:avLst/>
            </a:prstGeom>
            <a:noFill/>
          </p:spPr>
        </p:pic>
        <p:graphicFrame>
          <p:nvGraphicFramePr>
            <p:cNvPr id="48" name="Object 52">
              <a:extLst>
                <a:ext uri="{FF2B5EF4-FFF2-40B4-BE49-F238E27FC236}">
                  <a16:creationId xmlns:a16="http://schemas.microsoft.com/office/drawing/2014/main" id="{F7C9ABF5-BB6A-636D-9A5A-EF66FB46380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47" y="799"/>
            <a:ext cx="215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90440" imgH="279360" progId="Equation.3">
                    <p:embed/>
                  </p:oleObj>
                </mc:Choice>
                <mc:Fallback>
                  <p:oleObj name="Equation" r:id="rId12" imgW="190440" imgH="279360" progId="Equation.3">
                    <p:embed/>
                    <p:pic>
                      <p:nvPicPr>
                        <p:cNvPr id="685108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7" y="799"/>
                          <a:ext cx="215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9" name="Line 53">
              <a:extLst>
                <a:ext uri="{FF2B5EF4-FFF2-40B4-BE49-F238E27FC236}">
                  <a16:creationId xmlns:a16="http://schemas.microsoft.com/office/drawing/2014/main" id="{1AE780E5-21F3-EA8F-68C8-6A494A362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18" y="900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0" name="Line 54">
              <a:extLst>
                <a:ext uri="{FF2B5EF4-FFF2-40B4-BE49-F238E27FC236}">
                  <a16:creationId xmlns:a16="http://schemas.microsoft.com/office/drawing/2014/main" id="{450130BC-EF73-9E53-52D7-6E51FBB204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14" y="900"/>
              <a:ext cx="0" cy="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" name="Line 55">
              <a:extLst>
                <a:ext uri="{FF2B5EF4-FFF2-40B4-BE49-F238E27FC236}">
                  <a16:creationId xmlns:a16="http://schemas.microsoft.com/office/drawing/2014/main" id="{5789BA5F-681B-A8CC-865F-8861804507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2" y="944"/>
              <a:ext cx="1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2" name="Line 56">
              <a:extLst>
                <a:ext uri="{FF2B5EF4-FFF2-40B4-BE49-F238E27FC236}">
                  <a16:creationId xmlns:a16="http://schemas.microsoft.com/office/drawing/2014/main" id="{483EDD21-39EC-BA3E-9ABF-C4BCF66741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3" y="944"/>
              <a:ext cx="1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2264959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F19A5-E9ED-3227-5339-6639B0F36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8F608-F1ED-503B-E2E8-1E1288C9A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DSB-SC - Como Modular?</a:t>
            </a:r>
            <a:br>
              <a:rPr lang="pt-BR" dirty="0"/>
            </a:br>
            <a:r>
              <a:rPr lang="pt-BR" dirty="0"/>
              <a:t>Por chaveamento</a:t>
            </a:r>
          </a:p>
        </p:txBody>
      </p:sp>
      <p:grpSp>
        <p:nvGrpSpPr>
          <p:cNvPr id="4" name="Group 17">
            <a:extLst>
              <a:ext uri="{FF2B5EF4-FFF2-40B4-BE49-F238E27FC236}">
                <a16:creationId xmlns:a16="http://schemas.microsoft.com/office/drawing/2014/main" id="{52B982DF-6A30-99B1-FA01-6BF165B71E9F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1163638"/>
            <a:ext cx="7405688" cy="5168900"/>
            <a:chOff x="480" y="733"/>
            <a:chExt cx="4665" cy="325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EB573DF-104E-FCC1-7174-AB8924A5C4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733"/>
              <a:ext cx="4665" cy="3256"/>
              <a:chOff x="480" y="733"/>
              <a:chExt cx="4665" cy="3256"/>
            </a:xfrm>
          </p:grpSpPr>
          <p:pic>
            <p:nvPicPr>
              <p:cNvPr id="17" name="Picture 3" descr="fig4-4">
                <a:extLst>
                  <a:ext uri="{FF2B5EF4-FFF2-40B4-BE49-F238E27FC236}">
                    <a16:creationId xmlns:a16="http://schemas.microsoft.com/office/drawing/2014/main" id="{24884BED-AE8E-BB9F-20D0-32B74BA3E5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2449" b="9795"/>
              <a:stretch>
                <a:fillRect/>
              </a:stretch>
            </p:blipFill>
            <p:spPr bwMode="auto">
              <a:xfrm>
                <a:off x="480" y="733"/>
                <a:ext cx="4665" cy="3256"/>
              </a:xfrm>
              <a:prstGeom prst="rect">
                <a:avLst/>
              </a:prstGeom>
              <a:noFill/>
            </p:spPr>
          </p:pic>
          <p:grpSp>
            <p:nvGrpSpPr>
              <p:cNvPr id="19" name="Group 9">
                <a:extLst>
                  <a:ext uri="{FF2B5EF4-FFF2-40B4-BE49-F238E27FC236}">
                    <a16:creationId xmlns:a16="http://schemas.microsoft.com/office/drawing/2014/main" id="{013673AD-AF27-BAA5-5FDF-77CEB09084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0" y="1506"/>
                <a:ext cx="1812" cy="792"/>
                <a:chOff x="3010" y="1506"/>
                <a:chExt cx="1812" cy="792"/>
              </a:xfrm>
            </p:grpSpPr>
            <p:pic>
              <p:nvPicPr>
                <p:cNvPr id="24" name="Picture 5" descr="fig4-4e">
                  <a:extLst>
                    <a:ext uri="{FF2B5EF4-FFF2-40B4-BE49-F238E27FC236}">
                      <a16:creationId xmlns:a16="http://schemas.microsoft.com/office/drawing/2014/main" id="{68AE2DF7-DC82-1B7F-8208-8AC747C9A70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/>
                <a:srcRect/>
                <a:stretch>
                  <a:fillRect/>
                </a:stretch>
              </p:blipFill>
              <p:spPr bwMode="auto">
                <a:xfrm>
                  <a:off x="3010" y="1506"/>
                  <a:ext cx="1812" cy="792"/>
                </a:xfrm>
                <a:prstGeom prst="rect">
                  <a:avLst/>
                </a:prstGeom>
                <a:noFill/>
              </p:spPr>
            </p:pic>
            <p:sp>
              <p:nvSpPr>
                <p:cNvPr id="25" name="Line 6">
                  <a:extLst>
                    <a:ext uri="{FF2B5EF4-FFF2-40B4-BE49-F238E27FC236}">
                      <a16:creationId xmlns:a16="http://schemas.microsoft.com/office/drawing/2014/main" id="{A9DB3F79-1623-B68A-B4B4-8DCF914B3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146" y="1860"/>
                  <a:ext cx="0" cy="2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3" name="Line 7">
                  <a:extLst>
                    <a:ext uri="{FF2B5EF4-FFF2-40B4-BE49-F238E27FC236}">
                      <a16:creationId xmlns:a16="http://schemas.microsoft.com/office/drawing/2014/main" id="{FE1CE7D5-40ED-F8A7-6A91-393262BC079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19" y="1857"/>
                  <a:ext cx="0" cy="2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54" name="Line 8">
                  <a:extLst>
                    <a:ext uri="{FF2B5EF4-FFF2-40B4-BE49-F238E27FC236}">
                      <a16:creationId xmlns:a16="http://schemas.microsoft.com/office/drawing/2014/main" id="{974560E6-CB8C-BE02-E33E-304FD2B2C3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3828" y="1773"/>
                  <a:ext cx="1" cy="27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sm" len="med"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pic>
            <p:nvPicPr>
              <p:cNvPr id="20" name="Picture 11" descr="lixo">
                <a:extLst>
                  <a:ext uri="{FF2B5EF4-FFF2-40B4-BE49-F238E27FC236}">
                    <a16:creationId xmlns:a16="http://schemas.microsoft.com/office/drawing/2014/main" id="{F46C34DD-14B8-E0B6-BF00-67AF8BDBB34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2558" y="1792"/>
                <a:ext cx="452" cy="112"/>
              </a:xfrm>
              <a:prstGeom prst="rect">
                <a:avLst/>
              </a:prstGeom>
              <a:noFill/>
            </p:spPr>
          </p:pic>
        </p:grp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A91D8AE7-1962-FD3C-4F83-E5E2C8A1E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2610"/>
              <a:ext cx="1701" cy="231"/>
            </a:xfrm>
            <a:custGeom>
              <a:avLst/>
              <a:gdLst/>
              <a:ahLst/>
              <a:cxnLst>
                <a:cxn ang="0">
                  <a:pos x="0" y="228"/>
                </a:cxn>
                <a:cxn ang="0">
                  <a:pos x="357" y="228"/>
                </a:cxn>
                <a:cxn ang="0">
                  <a:pos x="357" y="0"/>
                </a:cxn>
                <a:cxn ang="0">
                  <a:pos x="683" y="2"/>
                </a:cxn>
                <a:cxn ang="0">
                  <a:pos x="684" y="228"/>
                </a:cxn>
                <a:cxn ang="0">
                  <a:pos x="1026" y="228"/>
                </a:cxn>
                <a:cxn ang="0">
                  <a:pos x="1026" y="0"/>
                </a:cxn>
                <a:cxn ang="0">
                  <a:pos x="1353" y="2"/>
                </a:cxn>
                <a:cxn ang="0">
                  <a:pos x="1355" y="230"/>
                </a:cxn>
                <a:cxn ang="0">
                  <a:pos x="1701" y="231"/>
                </a:cxn>
              </a:cxnLst>
              <a:rect l="0" t="0" r="r" b="b"/>
              <a:pathLst>
                <a:path w="1701" h="231">
                  <a:moveTo>
                    <a:pt x="0" y="228"/>
                  </a:moveTo>
                  <a:lnTo>
                    <a:pt x="357" y="228"/>
                  </a:lnTo>
                  <a:lnTo>
                    <a:pt x="357" y="0"/>
                  </a:lnTo>
                  <a:lnTo>
                    <a:pt x="683" y="2"/>
                  </a:lnTo>
                  <a:lnTo>
                    <a:pt x="684" y="228"/>
                  </a:lnTo>
                  <a:lnTo>
                    <a:pt x="1026" y="228"/>
                  </a:lnTo>
                  <a:lnTo>
                    <a:pt x="1026" y="0"/>
                  </a:lnTo>
                  <a:lnTo>
                    <a:pt x="1353" y="2"/>
                  </a:lnTo>
                  <a:lnTo>
                    <a:pt x="1355" y="230"/>
                  </a:lnTo>
                  <a:lnTo>
                    <a:pt x="1701" y="231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010263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34A1F5-D957-18A7-C0DA-B6D9BBFF3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 DSB+C</a:t>
            </a:r>
          </a:p>
        </p:txBody>
      </p:sp>
    </p:spTree>
    <p:extLst>
      <p:ext uri="{BB962C8B-B14F-4D97-AF65-F5344CB8AC3E}">
        <p14:creationId xmlns:p14="http://schemas.microsoft.com/office/powerpoint/2010/main" val="214686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6ABD7-AC05-8999-2E86-2EFF35199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Amplitude</a:t>
            </a:r>
            <a:br>
              <a:rPr lang="pt-BR" dirty="0"/>
            </a:br>
            <a:r>
              <a:rPr lang="pt-BR" dirty="0"/>
              <a:t>DSB+C (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carrier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047AC-8AD2-F58E-8B2C-440CAC3D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Demodulação AM precisa conhecer a portadora</a:t>
            </a:r>
          </a:p>
          <a:p>
            <a:pPr lvl="1"/>
            <a:r>
              <a:rPr lang="pt-BR" dirty="0"/>
              <a:t>Mas nenhum oscilador é igual a outro (transmissor e receptor são diferentes)</a:t>
            </a:r>
          </a:p>
          <a:p>
            <a:pPr lvl="1"/>
            <a:r>
              <a:rPr lang="pt-BR" dirty="0"/>
              <a:t>E fase varia com a distância</a:t>
            </a:r>
          </a:p>
          <a:p>
            <a:pPr lvl="1"/>
            <a:endParaRPr lang="pt-BR" dirty="0"/>
          </a:p>
          <a:p>
            <a:r>
              <a:rPr lang="pt-BR" dirty="0"/>
              <a:t>Solução:</a:t>
            </a:r>
          </a:p>
          <a:p>
            <a:pPr lvl="1"/>
            <a:r>
              <a:rPr lang="pt-BR" dirty="0"/>
              <a:t>Enviar a portadora junto com o sinal</a:t>
            </a:r>
          </a:p>
          <a:p>
            <a:pPr lvl="1"/>
            <a:endParaRPr lang="pt-BR" dirty="0"/>
          </a:p>
          <a:p>
            <a:r>
              <a:rPr lang="pt-BR" dirty="0"/>
              <a:t>O AM tradicional (de rádio) é o DSB+C</a:t>
            </a:r>
          </a:p>
        </p:txBody>
      </p:sp>
    </p:spTree>
    <p:extLst>
      <p:ext uri="{BB962C8B-B14F-4D97-AF65-F5344CB8AC3E}">
        <p14:creationId xmlns:p14="http://schemas.microsoft.com/office/powerpoint/2010/main" val="403229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4AC1A-83FA-B336-CA20-74C2D2A51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Amplitude</a:t>
            </a:r>
            <a:br>
              <a:rPr lang="pt-BR" dirty="0"/>
            </a:br>
            <a:r>
              <a:rPr lang="pt-BR" dirty="0"/>
              <a:t>DSB+C (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carrier</a:t>
            </a:r>
            <a:r>
              <a:rPr lang="pt-BR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00B19B-16D4-8498-773B-57DC957C12CA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1942307"/>
            <a:ext cx="3067050" cy="420687"/>
          </a:xfrm>
          <a:prstGeom prst="rect">
            <a:avLst/>
          </a:prstGeom>
        </p:spPr>
        <p:txBody>
          <a:bodyPr vert="horz" wrap="square" lIns="0" tIns="0" rIns="0" bIns="0" rtlCol="0" anchor="t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pt-BR" sz="2800" b="1" kern="1200" noProof="0" dirty="0">
                <a:solidFill>
                  <a:srgbClr val="383B7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defRPr>
            </a:lvl1pPr>
          </a:lstStyle>
          <a:p>
            <a:r>
              <a:rPr lang="pt-BR" dirty="0"/>
              <a:t>Sinal AM: definição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737355F0-055D-56C6-2869-5ECBE028C1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9701" y="1303339"/>
          <a:ext cx="43291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28600" progId="Equation.3">
                  <p:embed/>
                </p:oleObj>
              </mc:Choice>
              <mc:Fallback>
                <p:oleObj name="Equation" r:id="rId2" imgW="2095200" imgH="228600" progId="Equation.3">
                  <p:embed/>
                  <p:pic>
                    <p:nvPicPr>
                      <p:cNvPr id="69017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48" t="-7874" r="-1648" b="-7874"/>
                      <a:stretch>
                        <a:fillRect/>
                      </a:stretch>
                    </p:blipFill>
                    <p:spPr bwMode="auto">
                      <a:xfrm>
                        <a:off x="3949701" y="1303339"/>
                        <a:ext cx="4329113" cy="52863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9">
            <a:extLst>
              <a:ext uri="{FF2B5EF4-FFF2-40B4-BE49-F238E27FC236}">
                <a16:creationId xmlns:a16="http://schemas.microsoft.com/office/drawing/2014/main" id="{B4493FD2-0E06-EB9A-5EE8-E34AF4F95E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5325" y="2800350"/>
          <a:ext cx="57404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81000" imgH="228600" progId="Equation.3">
                  <p:embed/>
                </p:oleObj>
              </mc:Choice>
              <mc:Fallback>
                <p:oleObj name="Equation" r:id="rId4" imgW="2781000" imgH="228600" progId="Equation.3">
                  <p:embed/>
                  <p:pic>
                    <p:nvPicPr>
                      <p:cNvPr id="690245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02" t="-7874" r="-1602" b="-7874"/>
                      <a:stretch>
                        <a:fillRect/>
                      </a:stretch>
                    </p:blipFill>
                    <p:spPr bwMode="auto">
                      <a:xfrm>
                        <a:off x="3235325" y="2800350"/>
                        <a:ext cx="5740400" cy="52863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70">
            <a:extLst>
              <a:ext uri="{FF2B5EF4-FFF2-40B4-BE49-F238E27FC236}">
                <a16:creationId xmlns:a16="http://schemas.microsoft.com/office/drawing/2014/main" id="{D6DA1E73-A3C6-C40C-E416-DCAE13A5E4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9089" y="3568700"/>
            <a:ext cx="211704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8000" rIns="1800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b="1">
                <a:solidFill>
                  <a:srgbClr val="FF0000"/>
                </a:solidFill>
                <a:latin typeface="Arial Narrow" pitchFamily="34" charset="0"/>
              </a:rPr>
              <a:t>Portadora destacada</a:t>
            </a:r>
          </a:p>
        </p:txBody>
      </p:sp>
      <p:sp>
        <p:nvSpPr>
          <p:cNvPr id="7" name="AutoShape 71">
            <a:extLst>
              <a:ext uri="{FF2B5EF4-FFF2-40B4-BE49-F238E27FC236}">
                <a16:creationId xmlns:a16="http://schemas.microsoft.com/office/drawing/2014/main" id="{D3F4D06D-EC55-9169-A598-C8EF6B80AAC5}"/>
              </a:ext>
            </a:extLst>
          </p:cNvPr>
          <p:cNvSpPr>
            <a:spLocks/>
          </p:cNvSpPr>
          <p:nvPr/>
        </p:nvSpPr>
        <p:spPr bwMode="auto">
          <a:xfrm rot="16200000">
            <a:off x="5149057" y="2616994"/>
            <a:ext cx="60325" cy="1766888"/>
          </a:xfrm>
          <a:prstGeom prst="leftBracket">
            <a:avLst>
              <a:gd name="adj" fmla="val 244079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72">
            <a:extLst>
              <a:ext uri="{FF2B5EF4-FFF2-40B4-BE49-F238E27FC236}">
                <a16:creationId xmlns:a16="http://schemas.microsoft.com/office/drawing/2014/main" id="{AA86BC10-1AAF-DD72-346F-123A35E21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91125" y="3536951"/>
            <a:ext cx="1588" cy="682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9" name="Group 88">
            <a:extLst>
              <a:ext uri="{FF2B5EF4-FFF2-40B4-BE49-F238E27FC236}">
                <a16:creationId xmlns:a16="http://schemas.microsoft.com/office/drawing/2014/main" id="{7696F1FB-5131-5193-3445-F189F736DC67}"/>
              </a:ext>
            </a:extLst>
          </p:cNvPr>
          <p:cNvGrpSpPr>
            <a:grpSpLocks/>
          </p:cNvGrpSpPr>
          <p:nvPr/>
        </p:nvGrpSpPr>
        <p:grpSpPr bwMode="auto">
          <a:xfrm>
            <a:off x="6542089" y="3457576"/>
            <a:ext cx="2293937" cy="504825"/>
            <a:chOff x="3161" y="2178"/>
            <a:chExt cx="1445" cy="318"/>
          </a:xfrm>
        </p:grpSpPr>
        <p:sp>
          <p:nvSpPr>
            <p:cNvPr id="10" name="Text Box 73">
              <a:extLst>
                <a:ext uri="{FF2B5EF4-FFF2-40B4-BE49-F238E27FC236}">
                  <a16:creationId xmlns:a16="http://schemas.microsoft.com/office/drawing/2014/main" id="{E9C2A99B-B6A9-0E16-F039-50FE9D4E0F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7" y="2246"/>
              <a:ext cx="108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2000" b="1">
                  <a:solidFill>
                    <a:srgbClr val="FF0000"/>
                  </a:solidFill>
                  <a:latin typeface="Arial Narrow" pitchFamily="34" charset="0"/>
                </a:rPr>
                <a:t>Bandas laterais</a:t>
              </a:r>
            </a:p>
          </p:txBody>
        </p:sp>
        <p:sp>
          <p:nvSpPr>
            <p:cNvPr id="11" name="AutoShape 74">
              <a:extLst>
                <a:ext uri="{FF2B5EF4-FFF2-40B4-BE49-F238E27FC236}">
                  <a16:creationId xmlns:a16="http://schemas.microsoft.com/office/drawing/2014/main" id="{E028C395-CCCE-3AD1-6F5B-C900FCF45BDE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3862" y="1477"/>
              <a:ext cx="44" cy="1445"/>
            </a:xfrm>
            <a:prstGeom prst="leftBracket">
              <a:avLst>
                <a:gd name="adj" fmla="val 273674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75">
              <a:extLst>
                <a:ext uri="{FF2B5EF4-FFF2-40B4-BE49-F238E27FC236}">
                  <a16:creationId xmlns:a16="http://schemas.microsoft.com/office/drawing/2014/main" id="{4DC355B8-B531-2E99-1013-7D0DDAF38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" y="2226"/>
              <a:ext cx="1" cy="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13" name="AutoShape 76">
            <a:extLst>
              <a:ext uri="{FF2B5EF4-FFF2-40B4-BE49-F238E27FC236}">
                <a16:creationId xmlns:a16="http://schemas.microsoft.com/office/drawing/2014/main" id="{21F1EF9B-1BFA-6C45-7E73-63C0136F6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2650" y="2095501"/>
            <a:ext cx="266700" cy="517525"/>
          </a:xfrm>
          <a:prstGeom prst="downArrow">
            <a:avLst>
              <a:gd name="adj1" fmla="val 50000"/>
              <a:gd name="adj2" fmla="val 48512"/>
            </a:avLst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4" name="Object 77">
            <a:extLst>
              <a:ext uri="{FF2B5EF4-FFF2-40B4-BE49-F238E27FC236}">
                <a16:creationId xmlns:a16="http://schemas.microsoft.com/office/drawing/2014/main" id="{0F945FB0-7A7E-1A22-5A51-6AD6076AA7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49439" y="4875214"/>
          <a:ext cx="84915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14800" imgH="368280" progId="Equation.3">
                  <p:embed/>
                </p:oleObj>
              </mc:Choice>
              <mc:Fallback>
                <p:oleObj name="Equation" r:id="rId6" imgW="4114800" imgH="368280" progId="Equation.3">
                  <p:embed/>
                  <p:pic>
                    <p:nvPicPr>
                      <p:cNvPr id="690253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3" t="-7561" r="-1593" b="-7561"/>
                      <a:stretch>
                        <a:fillRect/>
                      </a:stretch>
                    </p:blipFill>
                    <p:spPr bwMode="auto">
                      <a:xfrm>
                        <a:off x="1849439" y="4875214"/>
                        <a:ext cx="8491537" cy="847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AutoShape 79">
            <a:extLst>
              <a:ext uri="{FF2B5EF4-FFF2-40B4-BE49-F238E27FC236}">
                <a16:creationId xmlns:a16="http://schemas.microsoft.com/office/drawing/2014/main" id="{C38EE922-9BBB-6CC2-623E-A989BEFE7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4103689"/>
            <a:ext cx="266700" cy="517525"/>
          </a:xfrm>
          <a:prstGeom prst="downArrow">
            <a:avLst>
              <a:gd name="adj1" fmla="val 50000"/>
              <a:gd name="adj2" fmla="val 48512"/>
            </a:avLst>
          </a:prstGeom>
          <a:solidFill>
            <a:schemeClr val="accent1"/>
          </a:solidFill>
          <a:ln w="9525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6" name="Group 89">
            <a:extLst>
              <a:ext uri="{FF2B5EF4-FFF2-40B4-BE49-F238E27FC236}">
                <a16:creationId xmlns:a16="http://schemas.microsoft.com/office/drawing/2014/main" id="{2302DCCE-92F6-A6BB-4C97-1FED59B947F7}"/>
              </a:ext>
            </a:extLst>
          </p:cNvPr>
          <p:cNvGrpSpPr>
            <a:grpSpLocks/>
          </p:cNvGrpSpPr>
          <p:nvPr/>
        </p:nvGrpSpPr>
        <p:grpSpPr bwMode="auto">
          <a:xfrm>
            <a:off x="3140075" y="5821363"/>
            <a:ext cx="3227388" cy="495300"/>
            <a:chOff x="1018" y="3667"/>
            <a:chExt cx="2033" cy="312"/>
          </a:xfrm>
        </p:grpSpPr>
        <p:sp>
          <p:nvSpPr>
            <p:cNvPr id="17" name="Text Box 80">
              <a:extLst>
                <a:ext uri="{FF2B5EF4-FFF2-40B4-BE49-F238E27FC236}">
                  <a16:creationId xmlns:a16="http://schemas.microsoft.com/office/drawing/2014/main" id="{7CD9BCEC-957D-0833-CBC6-F79F312C0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3729"/>
              <a:ext cx="1414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2000" b="1">
                  <a:solidFill>
                    <a:srgbClr val="FF0000"/>
                  </a:solidFill>
                  <a:latin typeface="Arial Narrow" pitchFamily="34" charset="0"/>
                </a:rPr>
                <a:t>Portadora destacada</a:t>
              </a:r>
            </a:p>
          </p:txBody>
        </p:sp>
        <p:sp>
          <p:nvSpPr>
            <p:cNvPr id="18" name="AutoShape 81">
              <a:extLst>
                <a:ext uri="{FF2B5EF4-FFF2-40B4-BE49-F238E27FC236}">
                  <a16:creationId xmlns:a16="http://schemas.microsoft.com/office/drawing/2014/main" id="{2A2C7F4D-4B19-AD4B-8B52-6E3EF9E0DBD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016" y="2669"/>
              <a:ext cx="38" cy="2033"/>
            </a:xfrm>
            <a:prstGeom prst="leftBracket">
              <a:avLst>
                <a:gd name="adj" fmla="val 445833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Line 82">
              <a:extLst>
                <a:ext uri="{FF2B5EF4-FFF2-40B4-BE49-F238E27FC236}">
                  <a16:creationId xmlns:a16="http://schemas.microsoft.com/office/drawing/2014/main" id="{BCBA9849-BAE5-79B6-064B-968E3118C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3" y="3709"/>
              <a:ext cx="1" cy="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0" name="Group 90">
            <a:extLst>
              <a:ext uri="{FF2B5EF4-FFF2-40B4-BE49-F238E27FC236}">
                <a16:creationId xmlns:a16="http://schemas.microsoft.com/office/drawing/2014/main" id="{B7804A0C-9930-D264-B694-24D8D87A55D1}"/>
              </a:ext>
            </a:extLst>
          </p:cNvPr>
          <p:cNvGrpSpPr>
            <a:grpSpLocks/>
          </p:cNvGrpSpPr>
          <p:nvPr/>
        </p:nvGrpSpPr>
        <p:grpSpPr bwMode="auto">
          <a:xfrm>
            <a:off x="6816725" y="5808664"/>
            <a:ext cx="3417888" cy="504825"/>
            <a:chOff x="3334" y="3659"/>
            <a:chExt cx="2153" cy="318"/>
          </a:xfrm>
        </p:grpSpPr>
        <p:sp>
          <p:nvSpPr>
            <p:cNvPr id="21" name="Text Box 83">
              <a:extLst>
                <a:ext uri="{FF2B5EF4-FFF2-40B4-BE49-F238E27FC236}">
                  <a16:creationId xmlns:a16="http://schemas.microsoft.com/office/drawing/2014/main" id="{DEA4E107-3C55-B70D-F9C2-58CB7ED7D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4" y="3727"/>
              <a:ext cx="108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2000" b="1">
                  <a:solidFill>
                    <a:srgbClr val="FF0000"/>
                  </a:solidFill>
                  <a:latin typeface="Arial Narrow" pitchFamily="34" charset="0"/>
                </a:rPr>
                <a:t>Bandas laterais</a:t>
              </a:r>
            </a:p>
          </p:txBody>
        </p:sp>
        <p:sp>
          <p:nvSpPr>
            <p:cNvPr id="22" name="AutoShape 84">
              <a:extLst>
                <a:ext uri="{FF2B5EF4-FFF2-40B4-BE49-F238E27FC236}">
                  <a16:creationId xmlns:a16="http://schemas.microsoft.com/office/drawing/2014/main" id="{79674E73-25A1-95FC-CFCE-59E721BADE7B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4389" y="2604"/>
              <a:ext cx="44" cy="2153"/>
            </a:xfrm>
            <a:prstGeom prst="leftBracket">
              <a:avLst>
                <a:gd name="adj" fmla="val 407765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3" name="Line 85">
              <a:extLst>
                <a:ext uri="{FF2B5EF4-FFF2-40B4-BE49-F238E27FC236}">
                  <a16:creationId xmlns:a16="http://schemas.microsoft.com/office/drawing/2014/main" id="{3665738E-9987-AED9-E849-C32D4AAC4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2" y="3707"/>
              <a:ext cx="1" cy="4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80077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F947-2307-03D1-A8AA-66588E5CA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2F5392-AC2C-1009-FA96-B688715B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em Amplitude</a:t>
            </a:r>
            <a:br>
              <a:rPr lang="pt-BR" dirty="0"/>
            </a:br>
            <a:r>
              <a:rPr lang="pt-BR" dirty="0"/>
              <a:t>Espectro de DSB+C </a:t>
            </a:r>
          </a:p>
        </p:txBody>
      </p:sp>
      <p:sp>
        <p:nvSpPr>
          <p:cNvPr id="24" name="Text Box 3">
            <a:extLst>
              <a:ext uri="{FF2B5EF4-FFF2-40B4-BE49-F238E27FC236}">
                <a16:creationId xmlns:a16="http://schemas.microsoft.com/office/drawing/2014/main" id="{15DCE3E3-CD5A-11F6-97CB-CFA9EFBE7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956" y="6041177"/>
            <a:ext cx="1455737" cy="369332"/>
          </a:xfrm>
          <a:prstGeom prst="rect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 i="1">
                <a:solidFill>
                  <a:srgbClr val="FF0000"/>
                </a:solidFill>
              </a:rPr>
              <a:t>B</a:t>
            </a:r>
            <a:r>
              <a:rPr lang="pt-BR" b="1" i="1" baseline="-25000">
                <a:solidFill>
                  <a:srgbClr val="FF0000"/>
                </a:solidFill>
              </a:rPr>
              <a:t>T </a:t>
            </a:r>
            <a:r>
              <a:rPr lang="pt-BR" b="1" i="1">
                <a:solidFill>
                  <a:srgbClr val="FF0000"/>
                </a:solidFill>
              </a:rPr>
              <a:t>= </a:t>
            </a:r>
            <a:r>
              <a:rPr lang="pt-BR" b="1">
                <a:solidFill>
                  <a:srgbClr val="FF0000"/>
                </a:solidFill>
              </a:rPr>
              <a:t>2</a:t>
            </a:r>
            <a:r>
              <a:rPr lang="pt-BR" b="1" i="1">
                <a:solidFill>
                  <a:srgbClr val="FF0000"/>
                </a:solidFill>
              </a:rPr>
              <a:t>B</a:t>
            </a:r>
            <a:r>
              <a:rPr lang="pt-BR" b="1" i="1" baseline="-25000">
                <a:solidFill>
                  <a:srgbClr val="FF0000"/>
                </a:solidFill>
              </a:rPr>
              <a:t>m</a:t>
            </a:r>
            <a:endParaRPr lang="pt-BR" b="1" i="1">
              <a:solidFill>
                <a:srgbClr val="FF0000"/>
              </a:solidFill>
            </a:endParaRPr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E33FCE40-679C-AA01-BEE1-EA56183FBCDD}"/>
              </a:ext>
            </a:extLst>
          </p:cNvPr>
          <p:cNvSpPr>
            <a:spLocks/>
          </p:cNvSpPr>
          <p:nvPr/>
        </p:nvSpPr>
        <p:spPr bwMode="auto">
          <a:xfrm>
            <a:off x="5155406" y="2540740"/>
            <a:ext cx="1781175" cy="760413"/>
          </a:xfrm>
          <a:custGeom>
            <a:avLst/>
            <a:gdLst/>
            <a:ahLst/>
            <a:cxnLst>
              <a:cxn ang="0">
                <a:pos x="0" y="432"/>
              </a:cxn>
              <a:cxn ang="0">
                <a:pos x="288" y="0"/>
              </a:cxn>
              <a:cxn ang="0">
                <a:pos x="576" y="432"/>
              </a:cxn>
            </a:cxnLst>
            <a:rect l="0" t="0" r="r" b="b"/>
            <a:pathLst>
              <a:path w="576" h="432">
                <a:moveTo>
                  <a:pt x="0" y="432"/>
                </a:moveTo>
                <a:cubicBezTo>
                  <a:pt x="96" y="216"/>
                  <a:pt x="192" y="0"/>
                  <a:pt x="288" y="0"/>
                </a:cubicBezTo>
                <a:cubicBezTo>
                  <a:pt x="384" y="0"/>
                  <a:pt x="480" y="216"/>
                  <a:pt x="576" y="432"/>
                </a:cubicBezTo>
              </a:path>
            </a:pathLst>
          </a:custGeom>
          <a:solidFill>
            <a:srgbClr val="FFCCCC"/>
          </a:solidFill>
          <a:ln w="57150" cmpd="sng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069EFF76-75A6-79F2-9C14-1E457E19F15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7067" y="3310677"/>
            <a:ext cx="8458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7" name="Text Box 7">
            <a:extLst>
              <a:ext uri="{FF2B5EF4-FFF2-40B4-BE49-F238E27FC236}">
                <a16:creationId xmlns:a16="http://schemas.microsoft.com/office/drawing/2014/main" id="{A60021C5-F260-0EDE-F3B0-E2A80F8EA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5692" y="3326553"/>
            <a:ext cx="4254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f  </a:t>
            </a:r>
            <a:r>
              <a:rPr lang="pt-BR" sz="1600" b="1">
                <a:solidFill>
                  <a:srgbClr val="0000CC"/>
                </a:solidFill>
                <a:sym typeface="Symbol" pitchFamily="18" charset="2"/>
              </a:rPr>
              <a:t>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28" name="Text Box 8">
            <a:extLst>
              <a:ext uri="{FF2B5EF4-FFF2-40B4-BE49-F238E27FC236}">
                <a16:creationId xmlns:a16="http://schemas.microsoft.com/office/drawing/2014/main" id="{E5222A4A-8199-7A36-662F-72E78DC6CA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1406" y="3326553"/>
            <a:ext cx="185737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f</a:t>
            </a:r>
            <a:r>
              <a:rPr lang="pt-BR" sz="1600" b="1" i="1" baseline="-25000">
                <a:solidFill>
                  <a:srgbClr val="0000CC"/>
                </a:solidFill>
              </a:rPr>
              <a:t>c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29" name="Text Box 9">
            <a:extLst>
              <a:ext uri="{FF2B5EF4-FFF2-40B4-BE49-F238E27FC236}">
                <a16:creationId xmlns:a16="http://schemas.microsoft.com/office/drawing/2014/main" id="{E63A9580-E4C0-C560-8965-07B1E9B9E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6742" y="3326553"/>
            <a:ext cx="279400" cy="244475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-f</a:t>
            </a:r>
            <a:r>
              <a:rPr lang="pt-BR" sz="1600" b="1" i="1" baseline="-25000">
                <a:solidFill>
                  <a:srgbClr val="0000CC"/>
                </a:solidFill>
              </a:rPr>
              <a:t>c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56A93A37-F499-733A-76F7-2C32822361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02792" y="3228128"/>
            <a:ext cx="0" cy="46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1" name="Line 11">
            <a:extLst>
              <a:ext uri="{FF2B5EF4-FFF2-40B4-BE49-F238E27FC236}">
                <a16:creationId xmlns:a16="http://schemas.microsoft.com/office/drawing/2014/main" id="{6AC0E92D-6181-9E9C-9B0F-BF50D53CD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789192" y="3228128"/>
            <a:ext cx="0" cy="46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2" name="Line 12">
            <a:extLst>
              <a:ext uri="{FF2B5EF4-FFF2-40B4-BE49-F238E27FC236}">
                <a16:creationId xmlns:a16="http://schemas.microsoft.com/office/drawing/2014/main" id="{B3DF8063-732C-B1AE-BE37-B861AAD0CC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07393" y="3293214"/>
            <a:ext cx="3190875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3" name="Line 13">
            <a:extLst>
              <a:ext uri="{FF2B5EF4-FFF2-40B4-BE49-F238E27FC236}">
                <a16:creationId xmlns:a16="http://schemas.microsoft.com/office/drawing/2014/main" id="{ABBCC2B8-4F8F-EDD4-3B63-77FF4DC92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912767" y="3293214"/>
            <a:ext cx="335915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4" name="Text Box 14">
            <a:extLst>
              <a:ext uri="{FF2B5EF4-FFF2-40B4-BE49-F238E27FC236}">
                <a16:creationId xmlns:a16="http://schemas.microsoft.com/office/drawing/2014/main" id="{31D31224-9CB0-6D3D-9DE4-F8FBCBE40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2493" y="3326553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solidFill>
                  <a:srgbClr val="0000CC"/>
                </a:solidFill>
              </a:rPr>
              <a:t>0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35" name="Text Box 15">
            <a:extLst>
              <a:ext uri="{FF2B5EF4-FFF2-40B4-BE49-F238E27FC236}">
                <a16:creationId xmlns:a16="http://schemas.microsoft.com/office/drawing/2014/main" id="{3D0981D3-2E4E-7808-A87B-110217363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042" y="3326553"/>
            <a:ext cx="3238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B</a:t>
            </a:r>
            <a:r>
              <a:rPr lang="pt-BR" sz="1600" b="1" i="1" baseline="-25000">
                <a:solidFill>
                  <a:srgbClr val="0000CC"/>
                </a:solidFill>
              </a:rPr>
              <a:t>m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36" name="Text Box 16">
            <a:extLst>
              <a:ext uri="{FF2B5EF4-FFF2-40B4-BE49-F238E27FC236}">
                <a16:creationId xmlns:a16="http://schemas.microsoft.com/office/drawing/2014/main" id="{44C3D93D-F8BC-96CF-BF61-255B6B989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5393" y="3326553"/>
            <a:ext cx="3143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-B</a:t>
            </a:r>
            <a:r>
              <a:rPr lang="pt-BR" sz="1600" b="1" i="1" baseline="-25000">
                <a:solidFill>
                  <a:srgbClr val="0000CC"/>
                </a:solidFill>
              </a:rPr>
              <a:t>m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37" name="Text Box 17">
            <a:extLst>
              <a:ext uri="{FF2B5EF4-FFF2-40B4-BE49-F238E27FC236}">
                <a16:creationId xmlns:a16="http://schemas.microsoft.com/office/drawing/2014/main" id="{BA526136-D565-1FBA-9831-49D95A5F7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0043" y="2150215"/>
            <a:ext cx="6127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 i="1">
                <a:solidFill>
                  <a:srgbClr val="0000CC"/>
                </a:solidFill>
              </a:rPr>
              <a:t>M</a:t>
            </a:r>
            <a:r>
              <a:rPr lang="pt-BR" sz="1600" b="1">
                <a:solidFill>
                  <a:srgbClr val="0000CC"/>
                </a:solidFill>
              </a:rPr>
              <a:t>( </a:t>
            </a:r>
            <a:r>
              <a:rPr lang="pt-BR" sz="1600" b="1" i="1">
                <a:solidFill>
                  <a:srgbClr val="0000CC"/>
                </a:solidFill>
              </a:rPr>
              <a:t>f </a:t>
            </a:r>
            <a:r>
              <a:rPr lang="pt-BR" sz="1600" b="1">
                <a:solidFill>
                  <a:srgbClr val="0000CC"/>
                </a:solidFill>
              </a:rPr>
              <a:t>)</a:t>
            </a:r>
            <a:r>
              <a:rPr lang="pt-BR" sz="1600" b="1" i="1">
                <a:solidFill>
                  <a:srgbClr val="0000CC"/>
                </a:solidFill>
              </a:rPr>
              <a:t>  </a:t>
            </a:r>
          </a:p>
        </p:txBody>
      </p:sp>
      <p:sp>
        <p:nvSpPr>
          <p:cNvPr id="38" name="Line 18">
            <a:extLst>
              <a:ext uri="{FF2B5EF4-FFF2-40B4-BE49-F238E27FC236}">
                <a16:creationId xmlns:a16="http://schemas.microsoft.com/office/drawing/2014/main" id="{E26158AB-EFCC-35F4-5AE6-7FC22AFDC1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45992" y="2183553"/>
            <a:ext cx="1588" cy="11715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39" name="Line 19">
            <a:extLst>
              <a:ext uri="{FF2B5EF4-FFF2-40B4-BE49-F238E27FC236}">
                <a16:creationId xmlns:a16="http://schemas.microsoft.com/office/drawing/2014/main" id="{F5EF9CA0-60A1-5D6E-B81E-D3A5F78606F3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4405" y="2542327"/>
            <a:ext cx="76200" cy="4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40" name="Text Box 20">
            <a:extLst>
              <a:ext uri="{FF2B5EF4-FFF2-40B4-BE49-F238E27FC236}">
                <a16:creationId xmlns:a16="http://schemas.microsoft.com/office/drawing/2014/main" id="{9AB6DE1F-A9B4-A6A1-73A4-708ADE4374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843" y="2269278"/>
            <a:ext cx="1428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600" b="1">
                <a:solidFill>
                  <a:srgbClr val="0000CC"/>
                </a:solidFill>
                <a:sym typeface="Symbol" pitchFamily="18" charset="2"/>
              </a:rPr>
              <a:t></a:t>
            </a:r>
            <a:endParaRPr lang="pt-BR" sz="1600" b="1" i="1">
              <a:solidFill>
                <a:srgbClr val="0000CC"/>
              </a:solidFill>
            </a:endParaRPr>
          </a:p>
        </p:txBody>
      </p:sp>
      <p:sp>
        <p:nvSpPr>
          <p:cNvPr id="41" name="Line 21">
            <a:extLst>
              <a:ext uri="{FF2B5EF4-FFF2-40B4-BE49-F238E27FC236}">
                <a16:creationId xmlns:a16="http://schemas.microsoft.com/office/drawing/2014/main" id="{707F7A87-27A5-1A3D-07E5-BDA0F40D02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2493" y="2521689"/>
            <a:ext cx="1238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42" name="Group 22">
            <a:extLst>
              <a:ext uri="{FF2B5EF4-FFF2-40B4-BE49-F238E27FC236}">
                <a16:creationId xmlns:a16="http://schemas.microsoft.com/office/drawing/2014/main" id="{3E49F374-1FA2-05FB-82BA-54BD75F61B2E}"/>
              </a:ext>
            </a:extLst>
          </p:cNvPr>
          <p:cNvGrpSpPr>
            <a:grpSpLocks/>
          </p:cNvGrpSpPr>
          <p:nvPr/>
        </p:nvGrpSpPr>
        <p:grpSpPr bwMode="auto">
          <a:xfrm>
            <a:off x="1734342" y="3856777"/>
            <a:ext cx="8686800" cy="2297112"/>
            <a:chOff x="132" y="2329"/>
            <a:chExt cx="5472" cy="1447"/>
          </a:xfrm>
        </p:grpSpPr>
        <p:sp>
          <p:nvSpPr>
            <p:cNvPr id="43" name="Line 23">
              <a:extLst>
                <a:ext uri="{FF2B5EF4-FFF2-40B4-BE49-F238E27FC236}">
                  <a16:creationId xmlns:a16="http://schemas.microsoft.com/office/drawing/2014/main" id="{7DAB30A9-3948-6E7A-42E4-44A921103F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1" y="3697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Line 24">
              <a:extLst>
                <a:ext uri="{FF2B5EF4-FFF2-40B4-BE49-F238E27FC236}">
                  <a16:creationId xmlns:a16="http://schemas.microsoft.com/office/drawing/2014/main" id="{28457803-1ED2-5DE4-CA4A-88D22DCC9A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32" y="3697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" name="Line 25">
              <a:extLst>
                <a:ext uri="{FF2B5EF4-FFF2-40B4-BE49-F238E27FC236}">
                  <a16:creationId xmlns:a16="http://schemas.microsoft.com/office/drawing/2014/main" id="{8EA7E2F1-E182-2CE6-043C-81DE64A0CB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11" y="3701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46" name="Group 26">
              <a:extLst>
                <a:ext uri="{FF2B5EF4-FFF2-40B4-BE49-F238E27FC236}">
                  <a16:creationId xmlns:a16="http://schemas.microsoft.com/office/drawing/2014/main" id="{02A5E7D0-BCDB-76CD-9F0D-1664FD5829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3" y="2856"/>
              <a:ext cx="4578" cy="570"/>
              <a:chOff x="589" y="2095"/>
              <a:chExt cx="4578" cy="801"/>
            </a:xfrm>
          </p:grpSpPr>
          <p:sp>
            <p:nvSpPr>
              <p:cNvPr id="83" name="Freeform 27">
                <a:extLst>
                  <a:ext uri="{FF2B5EF4-FFF2-40B4-BE49-F238E27FC236}">
                    <a16:creationId xmlns:a16="http://schemas.microsoft.com/office/drawing/2014/main" id="{BD0B5FBE-1233-8735-2747-602E479D6D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095"/>
                <a:ext cx="1122" cy="801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solidFill>
                <a:srgbClr val="CCFF99"/>
              </a:solidFill>
              <a:ln w="57150" cmpd="sng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84" name="Freeform 28">
                <a:extLst>
                  <a:ext uri="{FF2B5EF4-FFF2-40B4-BE49-F238E27FC236}">
                    <a16:creationId xmlns:a16="http://schemas.microsoft.com/office/drawing/2014/main" id="{18547424-AC24-3BE3-E813-C7CD5FD1C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2095"/>
                <a:ext cx="1122" cy="801"/>
              </a:xfrm>
              <a:custGeom>
                <a:avLst/>
                <a:gdLst/>
                <a:ahLst/>
                <a:cxnLst>
                  <a:cxn ang="0">
                    <a:pos x="0" y="432"/>
                  </a:cxn>
                  <a:cxn ang="0">
                    <a:pos x="288" y="0"/>
                  </a:cxn>
                  <a:cxn ang="0">
                    <a:pos x="576" y="432"/>
                  </a:cxn>
                </a:cxnLst>
                <a:rect l="0" t="0" r="r" b="b"/>
                <a:pathLst>
                  <a:path w="576" h="432">
                    <a:moveTo>
                      <a:pt x="0" y="432"/>
                    </a:moveTo>
                    <a:cubicBezTo>
                      <a:pt x="96" y="216"/>
                      <a:pt x="192" y="0"/>
                      <a:pt x="288" y="0"/>
                    </a:cubicBezTo>
                    <a:cubicBezTo>
                      <a:pt x="384" y="0"/>
                      <a:pt x="480" y="216"/>
                      <a:pt x="576" y="432"/>
                    </a:cubicBezTo>
                  </a:path>
                </a:pathLst>
              </a:custGeom>
              <a:solidFill>
                <a:srgbClr val="CCFF99"/>
              </a:solidFill>
              <a:ln w="57150" cmpd="sng">
                <a:solidFill>
                  <a:srgbClr val="00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47" name="Freeform 29" descr="80%">
              <a:extLst>
                <a:ext uri="{FF2B5EF4-FFF2-40B4-BE49-F238E27FC236}">
                  <a16:creationId xmlns:a16="http://schemas.microsoft.com/office/drawing/2014/main" id="{895353F3-3646-C1C2-B683-D09D775950C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74" y="2866"/>
              <a:ext cx="567" cy="570"/>
            </a:xfrm>
            <a:custGeom>
              <a:avLst/>
              <a:gdLst/>
              <a:ahLst/>
              <a:cxnLst>
                <a:cxn ang="0">
                  <a:pos x="29" y="671"/>
                </a:cxn>
                <a:cxn ang="0">
                  <a:pos x="29" y="575"/>
                </a:cxn>
                <a:cxn ang="0">
                  <a:pos x="29" y="89"/>
                </a:cxn>
                <a:cxn ang="0">
                  <a:pos x="29" y="41"/>
                </a:cxn>
                <a:cxn ang="0">
                  <a:pos x="29" y="5"/>
                </a:cxn>
                <a:cxn ang="0">
                  <a:pos x="80" y="20"/>
                </a:cxn>
                <a:cxn ang="0">
                  <a:pos x="167" y="77"/>
                </a:cxn>
                <a:cxn ang="0">
                  <a:pos x="266" y="191"/>
                </a:cxn>
                <a:cxn ang="0">
                  <a:pos x="362" y="329"/>
                </a:cxn>
                <a:cxn ang="0">
                  <a:pos x="431" y="452"/>
                </a:cxn>
                <a:cxn ang="0">
                  <a:pos x="467" y="518"/>
                </a:cxn>
                <a:cxn ang="0">
                  <a:pos x="545" y="662"/>
                </a:cxn>
                <a:cxn ang="0">
                  <a:pos x="494" y="668"/>
                </a:cxn>
                <a:cxn ang="0">
                  <a:pos x="380" y="671"/>
                </a:cxn>
                <a:cxn ang="0">
                  <a:pos x="203" y="671"/>
                </a:cxn>
                <a:cxn ang="0">
                  <a:pos x="29" y="671"/>
                </a:cxn>
              </a:cxnLst>
              <a:rect l="0" t="0" r="r" b="b"/>
              <a:pathLst>
                <a:path w="549" h="687">
                  <a:moveTo>
                    <a:pt x="29" y="671"/>
                  </a:moveTo>
                  <a:cubicBezTo>
                    <a:pt x="0" y="655"/>
                    <a:pt x="29" y="672"/>
                    <a:pt x="29" y="575"/>
                  </a:cubicBezTo>
                  <a:cubicBezTo>
                    <a:pt x="29" y="478"/>
                    <a:pt x="29" y="178"/>
                    <a:pt x="29" y="89"/>
                  </a:cubicBezTo>
                  <a:cubicBezTo>
                    <a:pt x="29" y="0"/>
                    <a:pt x="29" y="55"/>
                    <a:pt x="29" y="41"/>
                  </a:cubicBezTo>
                  <a:cubicBezTo>
                    <a:pt x="29" y="27"/>
                    <a:pt x="21" y="8"/>
                    <a:pt x="29" y="5"/>
                  </a:cubicBezTo>
                  <a:cubicBezTo>
                    <a:pt x="37" y="2"/>
                    <a:pt x="57" y="8"/>
                    <a:pt x="80" y="20"/>
                  </a:cubicBezTo>
                  <a:cubicBezTo>
                    <a:pt x="103" y="32"/>
                    <a:pt x="136" y="49"/>
                    <a:pt x="167" y="77"/>
                  </a:cubicBezTo>
                  <a:cubicBezTo>
                    <a:pt x="198" y="105"/>
                    <a:pt x="234" y="149"/>
                    <a:pt x="266" y="191"/>
                  </a:cubicBezTo>
                  <a:cubicBezTo>
                    <a:pt x="298" y="233"/>
                    <a:pt x="335" y="286"/>
                    <a:pt x="362" y="329"/>
                  </a:cubicBezTo>
                  <a:cubicBezTo>
                    <a:pt x="389" y="372"/>
                    <a:pt x="414" y="421"/>
                    <a:pt x="431" y="452"/>
                  </a:cubicBezTo>
                  <a:cubicBezTo>
                    <a:pt x="448" y="483"/>
                    <a:pt x="448" y="483"/>
                    <a:pt x="467" y="518"/>
                  </a:cubicBezTo>
                  <a:cubicBezTo>
                    <a:pt x="486" y="553"/>
                    <a:pt x="541" y="637"/>
                    <a:pt x="545" y="662"/>
                  </a:cubicBezTo>
                  <a:cubicBezTo>
                    <a:pt x="549" y="687"/>
                    <a:pt x="521" y="667"/>
                    <a:pt x="494" y="668"/>
                  </a:cubicBezTo>
                  <a:cubicBezTo>
                    <a:pt x="467" y="669"/>
                    <a:pt x="428" y="671"/>
                    <a:pt x="380" y="671"/>
                  </a:cubicBezTo>
                  <a:cubicBezTo>
                    <a:pt x="332" y="671"/>
                    <a:pt x="261" y="671"/>
                    <a:pt x="203" y="671"/>
                  </a:cubicBezTo>
                  <a:cubicBezTo>
                    <a:pt x="145" y="671"/>
                    <a:pt x="58" y="687"/>
                    <a:pt x="29" y="671"/>
                  </a:cubicBezTo>
                  <a:close/>
                </a:path>
              </a:pathLst>
            </a:custGeom>
            <a:pattFill prst="pct8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8" name="Text Box 30">
              <a:extLst>
                <a:ext uri="{FF2B5EF4-FFF2-40B4-BE49-F238E27FC236}">
                  <a16:creationId xmlns:a16="http://schemas.microsoft.com/office/drawing/2014/main" id="{DB6D9163-0336-5A1A-867B-BAFA6B9787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" y="3452"/>
              <a:ext cx="176" cy="154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-</a:t>
              </a:r>
              <a:r>
                <a:rPr lang="pt-BR" sz="1200" b="1" i="1" baseline="-25000">
                  <a:solidFill>
                    <a:srgbClr val="0000CC"/>
                  </a:solidFill>
                </a:rPr>
                <a:t> </a:t>
              </a:r>
              <a:r>
                <a:rPr lang="pt-BR" sz="1600" b="1" i="1">
                  <a:solidFill>
                    <a:srgbClr val="0000CC"/>
                  </a:solidFill>
                </a:rPr>
                <a:t>f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49" name="Text Box 31">
              <a:extLst>
                <a:ext uri="{FF2B5EF4-FFF2-40B4-BE49-F238E27FC236}">
                  <a16:creationId xmlns:a16="http://schemas.microsoft.com/office/drawing/2014/main" id="{E7DD116D-AAC7-CAAE-A6AE-C37D4B846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6" y="3458"/>
              <a:ext cx="268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f  </a:t>
              </a:r>
              <a:r>
                <a:rPr lang="pt-BR" sz="1600" b="1">
                  <a:solidFill>
                    <a:srgbClr val="0000CC"/>
                  </a:solidFill>
                  <a:sym typeface="Symbol" pitchFamily="18" charset="2"/>
                </a:rPr>
                <a:t>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50" name="Text Box 32">
              <a:extLst>
                <a:ext uri="{FF2B5EF4-FFF2-40B4-BE49-F238E27FC236}">
                  <a16:creationId xmlns:a16="http://schemas.microsoft.com/office/drawing/2014/main" id="{38E8B3A7-F1D3-46DD-BE04-E9751E0796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" y="3458"/>
              <a:ext cx="117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f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51" name="Line 33">
              <a:extLst>
                <a:ext uri="{FF2B5EF4-FFF2-40B4-BE49-F238E27FC236}">
                  <a16:creationId xmlns:a16="http://schemas.microsoft.com/office/drawing/2014/main" id="{362B579A-DAA2-CBD9-466C-69895EF02B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0" y="3389"/>
              <a:ext cx="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2" name="Text Box 34">
              <a:extLst>
                <a:ext uri="{FF2B5EF4-FFF2-40B4-BE49-F238E27FC236}">
                  <a16:creationId xmlns:a16="http://schemas.microsoft.com/office/drawing/2014/main" id="{CFB950D5-66C9-DC93-F7FC-1B04D742B3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8" y="3458"/>
              <a:ext cx="9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>
                  <a:solidFill>
                    <a:srgbClr val="0000CC"/>
                  </a:solidFill>
                </a:rPr>
                <a:t>0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53" name="Text Box 35">
              <a:extLst>
                <a:ext uri="{FF2B5EF4-FFF2-40B4-BE49-F238E27FC236}">
                  <a16:creationId xmlns:a16="http://schemas.microsoft.com/office/drawing/2014/main" id="{34410828-F501-0060-07F4-5BF1AB01ED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72" y="2329"/>
              <a:ext cx="386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S</a:t>
              </a:r>
              <a:r>
                <a:rPr lang="pt-BR" sz="1600" b="1">
                  <a:solidFill>
                    <a:srgbClr val="0000CC"/>
                  </a:solidFill>
                </a:rPr>
                <a:t>( </a:t>
              </a:r>
              <a:r>
                <a:rPr lang="pt-BR" sz="1600" b="1" i="1">
                  <a:solidFill>
                    <a:srgbClr val="0000CC"/>
                  </a:solidFill>
                </a:rPr>
                <a:t>f </a:t>
              </a:r>
              <a:r>
                <a:rPr lang="pt-BR" sz="1600" b="1">
                  <a:solidFill>
                    <a:srgbClr val="0000CC"/>
                  </a:solidFill>
                </a:rPr>
                <a:t>)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54" name="Freeform 36" descr="80%">
              <a:extLst>
                <a:ext uri="{FF2B5EF4-FFF2-40B4-BE49-F238E27FC236}">
                  <a16:creationId xmlns:a16="http://schemas.microsoft.com/office/drawing/2014/main" id="{C9F7C930-7A6B-2E93-F4E2-FF8EF72C9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" y="2871"/>
              <a:ext cx="549" cy="565"/>
            </a:xfrm>
            <a:custGeom>
              <a:avLst/>
              <a:gdLst/>
              <a:ahLst/>
              <a:cxnLst>
                <a:cxn ang="0">
                  <a:pos x="29" y="671"/>
                </a:cxn>
                <a:cxn ang="0">
                  <a:pos x="29" y="575"/>
                </a:cxn>
                <a:cxn ang="0">
                  <a:pos x="29" y="89"/>
                </a:cxn>
                <a:cxn ang="0">
                  <a:pos x="29" y="41"/>
                </a:cxn>
                <a:cxn ang="0">
                  <a:pos x="29" y="5"/>
                </a:cxn>
                <a:cxn ang="0">
                  <a:pos x="80" y="20"/>
                </a:cxn>
                <a:cxn ang="0">
                  <a:pos x="167" y="77"/>
                </a:cxn>
                <a:cxn ang="0">
                  <a:pos x="266" y="191"/>
                </a:cxn>
                <a:cxn ang="0">
                  <a:pos x="362" y="329"/>
                </a:cxn>
                <a:cxn ang="0">
                  <a:pos x="431" y="452"/>
                </a:cxn>
                <a:cxn ang="0">
                  <a:pos x="467" y="518"/>
                </a:cxn>
                <a:cxn ang="0">
                  <a:pos x="545" y="662"/>
                </a:cxn>
                <a:cxn ang="0">
                  <a:pos x="494" y="668"/>
                </a:cxn>
                <a:cxn ang="0">
                  <a:pos x="380" y="671"/>
                </a:cxn>
                <a:cxn ang="0">
                  <a:pos x="203" y="671"/>
                </a:cxn>
                <a:cxn ang="0">
                  <a:pos x="29" y="671"/>
                </a:cxn>
              </a:cxnLst>
              <a:rect l="0" t="0" r="r" b="b"/>
              <a:pathLst>
                <a:path w="549" h="687">
                  <a:moveTo>
                    <a:pt x="29" y="671"/>
                  </a:moveTo>
                  <a:cubicBezTo>
                    <a:pt x="0" y="655"/>
                    <a:pt x="29" y="672"/>
                    <a:pt x="29" y="575"/>
                  </a:cubicBezTo>
                  <a:cubicBezTo>
                    <a:pt x="29" y="478"/>
                    <a:pt x="29" y="178"/>
                    <a:pt x="29" y="89"/>
                  </a:cubicBezTo>
                  <a:cubicBezTo>
                    <a:pt x="29" y="0"/>
                    <a:pt x="29" y="55"/>
                    <a:pt x="29" y="41"/>
                  </a:cubicBezTo>
                  <a:cubicBezTo>
                    <a:pt x="29" y="27"/>
                    <a:pt x="21" y="8"/>
                    <a:pt x="29" y="5"/>
                  </a:cubicBezTo>
                  <a:cubicBezTo>
                    <a:pt x="37" y="2"/>
                    <a:pt x="57" y="8"/>
                    <a:pt x="80" y="20"/>
                  </a:cubicBezTo>
                  <a:cubicBezTo>
                    <a:pt x="103" y="32"/>
                    <a:pt x="136" y="49"/>
                    <a:pt x="167" y="77"/>
                  </a:cubicBezTo>
                  <a:cubicBezTo>
                    <a:pt x="198" y="105"/>
                    <a:pt x="234" y="149"/>
                    <a:pt x="266" y="191"/>
                  </a:cubicBezTo>
                  <a:cubicBezTo>
                    <a:pt x="298" y="233"/>
                    <a:pt x="335" y="286"/>
                    <a:pt x="362" y="329"/>
                  </a:cubicBezTo>
                  <a:cubicBezTo>
                    <a:pt x="389" y="372"/>
                    <a:pt x="414" y="421"/>
                    <a:pt x="431" y="452"/>
                  </a:cubicBezTo>
                  <a:cubicBezTo>
                    <a:pt x="448" y="483"/>
                    <a:pt x="448" y="483"/>
                    <a:pt x="467" y="518"/>
                  </a:cubicBezTo>
                  <a:cubicBezTo>
                    <a:pt x="486" y="553"/>
                    <a:pt x="541" y="637"/>
                    <a:pt x="545" y="662"/>
                  </a:cubicBezTo>
                  <a:cubicBezTo>
                    <a:pt x="549" y="687"/>
                    <a:pt x="521" y="667"/>
                    <a:pt x="494" y="668"/>
                  </a:cubicBezTo>
                  <a:cubicBezTo>
                    <a:pt x="467" y="669"/>
                    <a:pt x="428" y="671"/>
                    <a:pt x="380" y="671"/>
                  </a:cubicBezTo>
                  <a:cubicBezTo>
                    <a:pt x="332" y="671"/>
                    <a:pt x="261" y="671"/>
                    <a:pt x="203" y="671"/>
                  </a:cubicBezTo>
                  <a:cubicBezTo>
                    <a:pt x="145" y="671"/>
                    <a:pt x="58" y="687"/>
                    <a:pt x="29" y="671"/>
                  </a:cubicBezTo>
                  <a:close/>
                </a:path>
              </a:pathLst>
            </a:custGeom>
            <a:pattFill prst="pct80">
              <a:fgClr>
                <a:schemeClr val="accent1"/>
              </a:fgClr>
              <a:bgClr>
                <a:schemeClr val="bg1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5" name="Line 37">
              <a:extLst>
                <a:ext uri="{FF2B5EF4-FFF2-40B4-BE49-F238E27FC236}">
                  <a16:creationId xmlns:a16="http://schemas.microsoft.com/office/drawing/2014/main" id="{E0124319-8B18-39E8-F530-0619D23ED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" y="3423"/>
              <a:ext cx="276" cy="3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6" name="Line 38">
              <a:extLst>
                <a:ext uri="{FF2B5EF4-FFF2-40B4-BE49-F238E27FC236}">
                  <a16:creationId xmlns:a16="http://schemas.microsoft.com/office/drawing/2014/main" id="{724BCEEE-9A98-F13A-120C-CA3F28460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0" y="3424"/>
              <a:ext cx="2362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7" name="Line 39">
              <a:extLst>
                <a:ext uri="{FF2B5EF4-FFF2-40B4-BE49-F238E27FC236}">
                  <a16:creationId xmlns:a16="http://schemas.microsoft.com/office/drawing/2014/main" id="{BE6A5ACB-2381-599C-5DD3-D3A700533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8" y="3424"/>
              <a:ext cx="358" cy="0"/>
            </a:xfrm>
            <a:prstGeom prst="line">
              <a:avLst/>
            </a:prstGeom>
            <a:noFill/>
            <a:ln w="57150">
              <a:solidFill>
                <a:srgbClr val="0066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8" name="Line 40">
              <a:extLst>
                <a:ext uri="{FF2B5EF4-FFF2-40B4-BE49-F238E27FC236}">
                  <a16:creationId xmlns:a16="http://schemas.microsoft.com/office/drawing/2014/main" id="{F8FF4D93-C7FC-6CD0-A56C-AA6006C8D0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3487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9" name="Line 41">
              <a:extLst>
                <a:ext uri="{FF2B5EF4-FFF2-40B4-BE49-F238E27FC236}">
                  <a16:creationId xmlns:a16="http://schemas.microsoft.com/office/drawing/2014/main" id="{0593F169-A5F2-DA5C-C020-2015730C7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" y="3487"/>
              <a:ext cx="0" cy="2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0" name="Line 42">
              <a:extLst>
                <a:ext uri="{FF2B5EF4-FFF2-40B4-BE49-F238E27FC236}">
                  <a16:creationId xmlns:a16="http://schemas.microsoft.com/office/drawing/2014/main" id="{8E613E0B-83DD-4709-0B57-1B3ACF5E29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92" y="3701"/>
              <a:ext cx="435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1" name="Text Box 43">
              <a:extLst>
                <a:ext uri="{FF2B5EF4-FFF2-40B4-BE49-F238E27FC236}">
                  <a16:creationId xmlns:a16="http://schemas.microsoft.com/office/drawing/2014/main" id="{F6C09530-4B4E-B69B-8804-C6557F8FE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0" y="3622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>
                  <a:solidFill>
                    <a:srgbClr val="0000CC"/>
                  </a:solidFill>
                </a:rPr>
                <a:t>2</a:t>
              </a:r>
              <a:r>
                <a:rPr lang="pt-BR" sz="1600" b="1" i="1">
                  <a:solidFill>
                    <a:srgbClr val="0000CC"/>
                  </a:solidFill>
                </a:rPr>
                <a:t>B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m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62" name="Line 44">
              <a:extLst>
                <a:ext uri="{FF2B5EF4-FFF2-40B4-BE49-F238E27FC236}">
                  <a16:creationId xmlns:a16="http://schemas.microsoft.com/office/drawing/2014/main" id="{3BA51283-6A40-B42F-5378-61F0DDFFD2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" y="348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3" name="Line 45">
              <a:extLst>
                <a:ext uri="{FF2B5EF4-FFF2-40B4-BE49-F238E27FC236}">
                  <a16:creationId xmlns:a16="http://schemas.microsoft.com/office/drawing/2014/main" id="{2FBF4BEB-3E18-0451-0E0E-3611304A7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3481"/>
              <a:ext cx="0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4" name="Text Box 46">
              <a:extLst>
                <a:ext uri="{FF2B5EF4-FFF2-40B4-BE49-F238E27FC236}">
                  <a16:creationId xmlns:a16="http://schemas.microsoft.com/office/drawing/2014/main" id="{90FE3A10-559D-F8EF-3DF4-771BE318EA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4" y="3619"/>
              <a:ext cx="240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>
                  <a:solidFill>
                    <a:srgbClr val="0000CC"/>
                  </a:solidFill>
                </a:rPr>
                <a:t>2</a:t>
              </a:r>
              <a:r>
                <a:rPr lang="pt-BR" sz="1600" b="1" i="1">
                  <a:solidFill>
                    <a:srgbClr val="0000CC"/>
                  </a:solidFill>
                </a:rPr>
                <a:t>B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m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65" name="Line 47">
              <a:extLst>
                <a:ext uri="{FF2B5EF4-FFF2-40B4-BE49-F238E27FC236}">
                  <a16:creationId xmlns:a16="http://schemas.microsoft.com/office/drawing/2014/main" id="{02E89A37-6DD5-215E-E246-AE4312318F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48" y="2368"/>
              <a:ext cx="5" cy="11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6" name="Text Box 48">
              <a:extLst>
                <a:ext uri="{FF2B5EF4-FFF2-40B4-BE49-F238E27FC236}">
                  <a16:creationId xmlns:a16="http://schemas.microsoft.com/office/drawing/2014/main" id="{3CA56BFC-2BA2-1475-E1AE-030938C9C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4" y="2897"/>
              <a:ext cx="38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inferior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67" name="Line 49">
              <a:extLst>
                <a:ext uri="{FF2B5EF4-FFF2-40B4-BE49-F238E27FC236}">
                  <a16:creationId xmlns:a16="http://schemas.microsoft.com/office/drawing/2014/main" id="{BBFAE06F-0F1C-73C3-993F-05F853987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56" y="3096"/>
              <a:ext cx="348" cy="1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68" name="Text Box 50">
              <a:extLst>
                <a:ext uri="{FF2B5EF4-FFF2-40B4-BE49-F238E27FC236}">
                  <a16:creationId xmlns:a16="http://schemas.microsoft.com/office/drawing/2014/main" id="{F62752ED-CD82-4B07-657B-C4E58EE2B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2896"/>
              <a:ext cx="44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superior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69" name="Text Box 51">
              <a:extLst>
                <a:ext uri="{FF2B5EF4-FFF2-40B4-BE49-F238E27FC236}">
                  <a16:creationId xmlns:a16="http://schemas.microsoft.com/office/drawing/2014/main" id="{6FBDA995-B02F-E507-BBCF-E6118DE5A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3606" y="2896"/>
              <a:ext cx="38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inferior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70" name="Text Box 52">
              <a:extLst>
                <a:ext uri="{FF2B5EF4-FFF2-40B4-BE49-F238E27FC236}">
                  <a16:creationId xmlns:a16="http://schemas.microsoft.com/office/drawing/2014/main" id="{4681F2C4-80F6-F031-7E8A-A116D75ACC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132" y="2896"/>
              <a:ext cx="446" cy="4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pt-BR" sz="1600" b="1">
                  <a:solidFill>
                    <a:srgbClr val="0000CC"/>
                  </a:solidFill>
                  <a:latin typeface="Arial Narrow" pitchFamily="34" charset="0"/>
                </a:rPr>
                <a:t>Banda lateral superior</a:t>
              </a:r>
              <a:r>
                <a:rPr lang="pt-BR" sz="1600" b="1" i="1">
                  <a:solidFill>
                    <a:srgbClr val="0000CC"/>
                  </a:solidFill>
                </a:rPr>
                <a:t>  </a:t>
              </a:r>
            </a:p>
          </p:txBody>
        </p:sp>
        <p:sp>
          <p:nvSpPr>
            <p:cNvPr id="71" name="Line 53">
              <a:extLst>
                <a:ext uri="{FF2B5EF4-FFF2-40B4-BE49-F238E27FC236}">
                  <a16:creationId xmlns:a16="http://schemas.microsoft.com/office/drawing/2014/main" id="{CBB1F458-FB69-14DC-45D5-F7DA2FDA9E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" y="3137"/>
              <a:ext cx="312" cy="83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2" name="Line 54">
              <a:extLst>
                <a:ext uri="{FF2B5EF4-FFF2-40B4-BE49-F238E27FC236}">
                  <a16:creationId xmlns:a16="http://schemas.microsoft.com/office/drawing/2014/main" id="{5D2B7916-0147-56CB-7F01-694B47957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0" y="2855"/>
              <a:ext cx="6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3" name="Line 55">
              <a:extLst>
                <a:ext uri="{FF2B5EF4-FFF2-40B4-BE49-F238E27FC236}">
                  <a16:creationId xmlns:a16="http://schemas.microsoft.com/office/drawing/2014/main" id="{EF6B34FF-6F7A-DE29-1F63-193D76FFC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856"/>
              <a:ext cx="34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4" name="Line 56">
              <a:extLst>
                <a:ext uri="{FF2B5EF4-FFF2-40B4-BE49-F238E27FC236}">
                  <a16:creationId xmlns:a16="http://schemas.microsoft.com/office/drawing/2014/main" id="{27BA78BC-9DA5-A837-9B29-840CDE6655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" y="3389"/>
              <a:ext cx="0" cy="4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5" name="Line 57">
              <a:extLst>
                <a:ext uri="{FF2B5EF4-FFF2-40B4-BE49-F238E27FC236}">
                  <a16:creationId xmlns:a16="http://schemas.microsoft.com/office/drawing/2014/main" id="{DCA95C22-7224-3F43-0338-7825E3FE13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6" y="3430"/>
              <a:ext cx="5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6" name="Line 58">
              <a:extLst>
                <a:ext uri="{FF2B5EF4-FFF2-40B4-BE49-F238E27FC236}">
                  <a16:creationId xmlns:a16="http://schemas.microsoft.com/office/drawing/2014/main" id="{13E97A24-1B95-4879-C3E2-2AD122290D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2" y="3132"/>
              <a:ext cx="348" cy="136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7" name="Line 59">
              <a:extLst>
                <a:ext uri="{FF2B5EF4-FFF2-40B4-BE49-F238E27FC236}">
                  <a16:creationId xmlns:a16="http://schemas.microsoft.com/office/drawing/2014/main" id="{2B46A021-652F-B000-1D20-F5FD9C449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2" y="3137"/>
              <a:ext cx="324" cy="119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stealth" w="sm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8" name="Line 60">
              <a:extLst>
                <a:ext uri="{FF2B5EF4-FFF2-40B4-BE49-F238E27FC236}">
                  <a16:creationId xmlns:a16="http://schemas.microsoft.com/office/drawing/2014/main" id="{7C13243A-0118-231F-4DB9-8033384661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4" y="2568"/>
              <a:ext cx="0" cy="8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9" name="Line 61">
              <a:extLst>
                <a:ext uri="{FF2B5EF4-FFF2-40B4-BE49-F238E27FC236}">
                  <a16:creationId xmlns:a16="http://schemas.microsoft.com/office/drawing/2014/main" id="{B35585FC-56CC-8282-1F0E-8E5AA70922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22" y="2564"/>
              <a:ext cx="0" cy="86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0" name="Text Box 62">
              <a:extLst>
                <a:ext uri="{FF2B5EF4-FFF2-40B4-BE49-F238E27FC236}">
                  <a16:creationId xmlns:a16="http://schemas.microsoft.com/office/drawing/2014/main" id="{A7EAE2BF-CE8B-8ED5-138E-8A66A28B36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576"/>
              <a:ext cx="253" cy="15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A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r>
                <a:rPr lang="pt-BR" sz="1000" b="1" i="1">
                  <a:solidFill>
                    <a:srgbClr val="0000CC"/>
                  </a:solidFill>
                </a:rPr>
                <a:t> </a:t>
              </a:r>
              <a:r>
                <a:rPr lang="pt-BR" sz="1600" b="1">
                  <a:solidFill>
                    <a:srgbClr val="0000CC"/>
                  </a:solidFill>
                </a:rPr>
                <a:t>/2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sp>
          <p:nvSpPr>
            <p:cNvPr id="81" name="Text Box 63">
              <a:extLst>
                <a:ext uri="{FF2B5EF4-FFF2-40B4-BE49-F238E27FC236}">
                  <a16:creationId xmlns:a16="http://schemas.microsoft.com/office/drawing/2014/main" id="{FE558B81-1399-7452-8388-691FE438C8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0" y="2576"/>
              <a:ext cx="253" cy="155"/>
            </a:xfrm>
            <a:prstGeom prst="rect">
              <a:avLst/>
            </a:prstGeom>
            <a:noFill/>
            <a:ln w="57150">
              <a:noFill/>
              <a:miter lim="800000"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sz="1600" b="1" i="1">
                  <a:solidFill>
                    <a:srgbClr val="0000CC"/>
                  </a:solidFill>
                </a:rPr>
                <a:t>A</a:t>
              </a:r>
              <a:r>
                <a:rPr lang="pt-BR" sz="1600" b="1" i="1" baseline="-25000">
                  <a:solidFill>
                    <a:srgbClr val="0000CC"/>
                  </a:solidFill>
                </a:rPr>
                <a:t>c</a:t>
              </a:r>
              <a:r>
                <a:rPr lang="pt-BR" sz="1000" b="1" i="1">
                  <a:solidFill>
                    <a:srgbClr val="0000CC"/>
                  </a:solidFill>
                </a:rPr>
                <a:t> </a:t>
              </a:r>
              <a:r>
                <a:rPr lang="pt-BR" sz="1600" b="1">
                  <a:solidFill>
                    <a:srgbClr val="0000CC"/>
                  </a:solidFill>
                </a:rPr>
                <a:t>/2</a:t>
              </a:r>
              <a:endParaRPr lang="pt-BR" sz="1600" b="1" i="1">
                <a:solidFill>
                  <a:srgbClr val="0000CC"/>
                </a:solidFill>
              </a:endParaRPr>
            </a:p>
          </p:txBody>
        </p:sp>
        <p:graphicFrame>
          <p:nvGraphicFramePr>
            <p:cNvPr id="82" name="Object 64">
              <a:extLst>
                <a:ext uri="{FF2B5EF4-FFF2-40B4-BE49-F238E27FC236}">
                  <a16:creationId xmlns:a16="http://schemas.microsoft.com/office/drawing/2014/main" id="{FA2BE62D-7C80-7F4D-89F8-08413F9061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61" y="2670"/>
            <a:ext cx="372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19040" imgH="228600" progId="Equation.3">
                    <p:embed/>
                  </p:oleObj>
                </mc:Choice>
                <mc:Fallback>
                  <p:oleObj name="Equation" r:id="rId2" imgW="419040" imgH="228600" progId="Equation.3">
                    <p:embed/>
                    <p:pic>
                      <p:nvPicPr>
                        <p:cNvPr id="907328" name="Object 6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1" y="2670"/>
                          <a:ext cx="372" cy="2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" name="Object 65">
            <a:extLst>
              <a:ext uri="{FF2B5EF4-FFF2-40B4-BE49-F238E27FC236}">
                <a16:creationId xmlns:a16="http://schemas.microsoft.com/office/drawing/2014/main" id="{8D507D58-29F1-445F-42DC-D03F312522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368068"/>
              </p:ext>
            </p:extLst>
          </p:nvPr>
        </p:nvGraphicFramePr>
        <p:xfrm>
          <a:off x="1850231" y="1205653"/>
          <a:ext cx="84915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14800" imgH="368280" progId="Equation.3">
                  <p:embed/>
                </p:oleObj>
              </mc:Choice>
              <mc:Fallback>
                <p:oleObj name="Equation" r:id="rId4" imgW="4114800" imgH="368280" progId="Equation.3">
                  <p:embed/>
                  <p:pic>
                    <p:nvPicPr>
                      <p:cNvPr id="907329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3" t="-7561" r="-1593" b="-7561"/>
                      <a:stretch>
                        <a:fillRect/>
                      </a:stretch>
                    </p:blipFill>
                    <p:spPr bwMode="auto">
                      <a:xfrm>
                        <a:off x="1850231" y="1205653"/>
                        <a:ext cx="8491537" cy="84772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53882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9061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EF0A99-94A0-084E-3837-575884EA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</a:t>
            </a:r>
            <a:br>
              <a:rPr lang="pt-BR" dirty="0"/>
            </a:br>
            <a:r>
              <a:rPr lang="pt-BR" dirty="0"/>
              <a:t>Índice de Modulação</a:t>
            </a:r>
          </a:p>
        </p:txBody>
      </p:sp>
      <p:sp>
        <p:nvSpPr>
          <p:cNvPr id="3" name="Text Box 39">
            <a:extLst>
              <a:ext uri="{FF2B5EF4-FFF2-40B4-BE49-F238E27FC236}">
                <a16:creationId xmlns:a16="http://schemas.microsoft.com/office/drawing/2014/main" id="{E534CDC8-82DB-4E27-4856-AB1ECE01B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7158" y="1712728"/>
            <a:ext cx="1300356" cy="4468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15000"/>
              </a:lnSpc>
              <a:spcBef>
                <a:spcPct val="50000"/>
              </a:spcBef>
            </a:pPr>
            <a:r>
              <a:rPr lang="pt-BR" sz="2200" b="1" i="1" u="sng">
                <a:solidFill>
                  <a:srgbClr val="0000CC"/>
                </a:solidFill>
                <a:latin typeface="Arial Narrow" pitchFamily="34" charset="0"/>
              </a:rPr>
              <a:t>Definição:</a:t>
            </a:r>
          </a:p>
        </p:txBody>
      </p:sp>
      <p:sp>
        <p:nvSpPr>
          <p:cNvPr id="4" name="Text Box 45">
            <a:extLst>
              <a:ext uri="{FF2B5EF4-FFF2-40B4-BE49-F238E27FC236}">
                <a16:creationId xmlns:a16="http://schemas.microsoft.com/office/drawing/2014/main" id="{0FACABC1-73C0-4698-6983-0436F7E6F2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808" y="4855979"/>
            <a:ext cx="4705350" cy="4308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C0C0C0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200" b="1" i="1" dirty="0">
                <a:solidFill>
                  <a:srgbClr val="0000CC"/>
                </a:solidFill>
                <a:sym typeface="Symbol" pitchFamily="18" charset="2"/>
              </a:rPr>
              <a:t> </a:t>
            </a:r>
            <a:r>
              <a:rPr lang="pt-BR" sz="2200" b="1" dirty="0">
                <a:solidFill>
                  <a:srgbClr val="0000CC"/>
                </a:solidFill>
                <a:sym typeface="Symbol" pitchFamily="18" charset="2"/>
              </a:rPr>
              <a:t> &gt; 1  </a:t>
            </a:r>
            <a:r>
              <a:rPr lang="pt-BR" sz="2200" b="1" dirty="0">
                <a:solidFill>
                  <a:srgbClr val="0000CC"/>
                </a:solidFill>
                <a:sym typeface="Wingdings" pitchFamily="2" charset="2"/>
              </a:rPr>
              <a:t>  </a:t>
            </a: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  <a:sym typeface="Wingdings" pitchFamily="2" charset="2"/>
              </a:rPr>
              <a:t>sinal AM </a:t>
            </a:r>
            <a:r>
              <a:rPr lang="pt-BR" sz="2200" b="1" dirty="0" err="1">
                <a:solidFill>
                  <a:srgbClr val="0000CC"/>
                </a:solidFill>
                <a:latin typeface="Arial Narrow" pitchFamily="34" charset="0"/>
                <a:sym typeface="Wingdings" pitchFamily="2" charset="2"/>
              </a:rPr>
              <a:t>sobremodulado</a:t>
            </a:r>
            <a:endParaRPr lang="pt-BR" sz="2200" b="1" dirty="0">
              <a:solidFill>
                <a:srgbClr val="0000CC"/>
              </a:solidFill>
              <a:latin typeface="Arial Narrow" pitchFamily="34" charset="0"/>
              <a:sym typeface="Wingdings" pitchFamily="2" charset="2"/>
            </a:endParaRPr>
          </a:p>
        </p:txBody>
      </p:sp>
      <p:graphicFrame>
        <p:nvGraphicFramePr>
          <p:cNvPr id="5" name="Object 50">
            <a:extLst>
              <a:ext uri="{FF2B5EF4-FFF2-40B4-BE49-F238E27FC236}">
                <a16:creationId xmlns:a16="http://schemas.microsoft.com/office/drawing/2014/main" id="{CFD62E78-8F11-C8B7-C502-09C12F87C2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917094"/>
              </p:ext>
            </p:extLst>
          </p:nvPr>
        </p:nvGraphicFramePr>
        <p:xfrm>
          <a:off x="3115746" y="2215967"/>
          <a:ext cx="621030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060360" imgH="431640" progId="Equation.3">
                  <p:embed/>
                </p:oleObj>
              </mc:Choice>
              <mc:Fallback>
                <p:oleObj name="Equação" r:id="rId2" imgW="3060360" imgH="431640" progId="Equation.3">
                  <p:embed/>
                  <p:pic>
                    <p:nvPicPr>
                      <p:cNvPr id="703538" name="Object 50">
                        <a:extLst>
                          <a:ext uri="{FF2B5EF4-FFF2-40B4-BE49-F238E27FC236}">
                            <a16:creationId xmlns:a16="http://schemas.microsoft.com/office/drawing/2014/main" id="{9011265A-918E-0D95-6678-8D2DF037A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15" t="-7820" r="-815" b="-7820"/>
                      <a:stretch>
                        <a:fillRect/>
                      </a:stretch>
                    </p:blipFill>
                    <p:spPr bwMode="auto">
                      <a:xfrm>
                        <a:off x="3115746" y="2215967"/>
                        <a:ext cx="6210300" cy="9985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effectLst>
                        <a:outerShdw dist="107763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3">
            <a:extLst>
              <a:ext uri="{FF2B5EF4-FFF2-40B4-BE49-F238E27FC236}">
                <a16:creationId xmlns:a16="http://schemas.microsoft.com/office/drawing/2014/main" id="{69D2C8A9-0DA7-D9E3-E118-8E2F4B8B07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20483"/>
              </p:ext>
            </p:extLst>
          </p:nvPr>
        </p:nvGraphicFramePr>
        <p:xfrm>
          <a:off x="2309297" y="3393891"/>
          <a:ext cx="26828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320480" imgH="241200" progId="Equation.3">
                  <p:embed/>
                </p:oleObj>
              </mc:Choice>
              <mc:Fallback>
                <p:oleObj name="Equação" r:id="rId4" imgW="1320480" imgH="241200" progId="Equation.3">
                  <p:embed/>
                  <p:pic>
                    <p:nvPicPr>
                      <p:cNvPr id="703541" name="Object 53">
                        <a:extLst>
                          <a:ext uri="{FF2B5EF4-FFF2-40B4-BE49-F238E27FC236}">
                            <a16:creationId xmlns:a16="http://schemas.microsoft.com/office/drawing/2014/main" id="{701A5E53-9331-9497-A181-B4DB24761F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15" t="-7820" r="-815" b="-7820"/>
                      <a:stretch>
                        <a:fillRect/>
                      </a:stretch>
                    </p:blipFill>
                    <p:spPr bwMode="auto">
                      <a:xfrm>
                        <a:off x="2309297" y="3393891"/>
                        <a:ext cx="2682875" cy="5588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effectLst>
                        <a:outerShdw dist="107763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5">
            <a:extLst>
              <a:ext uri="{FF2B5EF4-FFF2-40B4-BE49-F238E27FC236}">
                <a16:creationId xmlns:a16="http://schemas.microsoft.com/office/drawing/2014/main" id="{D64465AD-7ADC-DE5D-A5E0-DD9FEF7F54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410120"/>
              </p:ext>
            </p:extLst>
          </p:nvPr>
        </p:nvGraphicFramePr>
        <p:xfrm>
          <a:off x="8108434" y="3382779"/>
          <a:ext cx="19589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965160" imgH="253800" progId="Equation.3">
                  <p:embed/>
                </p:oleObj>
              </mc:Choice>
              <mc:Fallback>
                <p:oleObj name="Equação" r:id="rId6" imgW="965160" imgH="253800" progId="Equation.3">
                  <p:embed/>
                  <p:pic>
                    <p:nvPicPr>
                      <p:cNvPr id="703543" name="Object 55">
                        <a:extLst>
                          <a:ext uri="{FF2B5EF4-FFF2-40B4-BE49-F238E27FC236}">
                            <a16:creationId xmlns:a16="http://schemas.microsoft.com/office/drawing/2014/main" id="{86152A3B-65D1-C708-D059-B58E5FCDDF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15" t="-7820" r="-815" b="-7820"/>
                      <a:stretch>
                        <a:fillRect/>
                      </a:stretch>
                    </p:blipFill>
                    <p:spPr bwMode="auto">
                      <a:xfrm>
                        <a:off x="8108434" y="3382779"/>
                        <a:ext cx="1958975" cy="5873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effectLst>
                        <a:outerShdw dist="89803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0573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8C33A-E970-9524-57FE-F97B885B7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</a:t>
            </a:r>
            <a:br>
              <a:rPr lang="pt-BR" dirty="0"/>
            </a:br>
            <a:r>
              <a:rPr lang="pt-BR" dirty="0"/>
              <a:t>Forma de Onda</a:t>
            </a:r>
          </a:p>
        </p:txBody>
      </p:sp>
      <p:pic>
        <p:nvPicPr>
          <p:cNvPr id="4" name="Picture 8" descr="AM-2">
            <a:extLst>
              <a:ext uri="{FF2B5EF4-FFF2-40B4-BE49-F238E27FC236}">
                <a16:creationId xmlns:a16="http://schemas.microsoft.com/office/drawing/2014/main" id="{50434E03-34A3-BB66-2DB2-49DBEAFA6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b="2029"/>
          <a:stretch>
            <a:fillRect/>
          </a:stretch>
        </p:blipFill>
        <p:spPr bwMode="auto">
          <a:xfrm>
            <a:off x="4192589" y="1096964"/>
            <a:ext cx="6416675" cy="5214937"/>
          </a:xfrm>
          <a:prstGeom prst="rect">
            <a:avLst/>
          </a:prstGeom>
          <a:noFill/>
        </p:spPr>
      </p:pic>
      <p:sp>
        <p:nvSpPr>
          <p:cNvPr id="6" name="Text Box 153">
            <a:extLst>
              <a:ext uri="{FF2B5EF4-FFF2-40B4-BE49-F238E27FC236}">
                <a16:creationId xmlns:a16="http://schemas.microsoft.com/office/drawing/2014/main" id="{ABF51555-38CE-07AD-59EA-8DCFD3A463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8575" y="2971801"/>
            <a:ext cx="571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sz="2000" i="1">
                <a:solidFill>
                  <a:srgbClr val="0000CC"/>
                </a:solidFill>
              </a:rPr>
              <a:t>s</a:t>
            </a:r>
            <a:r>
              <a:rPr lang="pt-BR" sz="2000">
                <a:solidFill>
                  <a:srgbClr val="0000CC"/>
                </a:solidFill>
              </a:rPr>
              <a:t>(</a:t>
            </a:r>
            <a:r>
              <a:rPr lang="pt-BR" sz="2000" i="1">
                <a:solidFill>
                  <a:srgbClr val="0000CC"/>
                </a:solidFill>
              </a:rPr>
              <a:t>t</a:t>
            </a:r>
            <a:r>
              <a:rPr lang="pt-BR" sz="2000">
                <a:solidFill>
                  <a:srgbClr val="0000CC"/>
                </a:solidFill>
              </a:rPr>
              <a:t>)</a:t>
            </a:r>
            <a:endParaRPr lang="pt-BR" sz="2000" i="1">
              <a:solidFill>
                <a:srgbClr val="0000CC"/>
              </a:solidFill>
            </a:endParaRPr>
          </a:p>
        </p:txBody>
      </p:sp>
      <p:sp>
        <p:nvSpPr>
          <p:cNvPr id="8" name="Text Box 154">
            <a:extLst>
              <a:ext uri="{FF2B5EF4-FFF2-40B4-BE49-F238E27FC236}">
                <a16:creationId xmlns:a16="http://schemas.microsoft.com/office/drawing/2014/main" id="{19BA4016-CE4F-A4C3-0508-3F0A9D58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4733926"/>
            <a:ext cx="571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sz="2000" i="1">
                <a:solidFill>
                  <a:srgbClr val="0000CC"/>
                </a:solidFill>
              </a:rPr>
              <a:t>s</a:t>
            </a:r>
            <a:r>
              <a:rPr lang="pt-BR" sz="2000">
                <a:solidFill>
                  <a:srgbClr val="0000CC"/>
                </a:solidFill>
              </a:rPr>
              <a:t>(</a:t>
            </a:r>
            <a:r>
              <a:rPr lang="pt-BR" sz="2000" i="1">
                <a:solidFill>
                  <a:srgbClr val="0000CC"/>
                </a:solidFill>
              </a:rPr>
              <a:t>t</a:t>
            </a:r>
            <a:r>
              <a:rPr lang="pt-BR" sz="2000">
                <a:solidFill>
                  <a:srgbClr val="0000CC"/>
                </a:solidFill>
              </a:rPr>
              <a:t>)</a:t>
            </a:r>
            <a:endParaRPr lang="pt-BR" sz="2000" i="1">
              <a:solidFill>
                <a:srgbClr val="0000CC"/>
              </a:solidFill>
            </a:endParaRPr>
          </a:p>
        </p:txBody>
      </p:sp>
      <p:sp>
        <p:nvSpPr>
          <p:cNvPr id="10" name="Text Box 155">
            <a:extLst>
              <a:ext uri="{FF2B5EF4-FFF2-40B4-BE49-F238E27FC236}">
                <a16:creationId xmlns:a16="http://schemas.microsoft.com/office/drawing/2014/main" id="{2C8D07B5-C2FB-6762-D71B-D335BAC87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0" y="2020889"/>
            <a:ext cx="5715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sz="2000" i="1">
                <a:solidFill>
                  <a:srgbClr val="006600"/>
                </a:solidFill>
              </a:rPr>
              <a:t>c</a:t>
            </a:r>
            <a:r>
              <a:rPr lang="pt-BR" sz="2000">
                <a:solidFill>
                  <a:srgbClr val="006600"/>
                </a:solidFill>
              </a:rPr>
              <a:t>(</a:t>
            </a:r>
            <a:r>
              <a:rPr lang="pt-BR" sz="2000" i="1">
                <a:solidFill>
                  <a:srgbClr val="006600"/>
                </a:solidFill>
              </a:rPr>
              <a:t>t</a:t>
            </a:r>
            <a:r>
              <a:rPr lang="pt-BR" sz="2000">
                <a:solidFill>
                  <a:srgbClr val="006600"/>
                </a:solidFill>
              </a:rPr>
              <a:t>)</a:t>
            </a:r>
            <a:endParaRPr lang="pt-BR" sz="2000" i="1">
              <a:solidFill>
                <a:srgbClr val="006600"/>
              </a:solidFill>
            </a:endParaRPr>
          </a:p>
        </p:txBody>
      </p:sp>
      <p:sp>
        <p:nvSpPr>
          <p:cNvPr id="12" name="Text Box 156">
            <a:extLst>
              <a:ext uri="{FF2B5EF4-FFF2-40B4-BE49-F238E27FC236}">
                <a16:creationId xmlns:a16="http://schemas.microsoft.com/office/drawing/2014/main" id="{78309569-68AF-4E6C-0618-CFC3F32B8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1144589"/>
            <a:ext cx="64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pt-BR" sz="2000" i="1">
                <a:solidFill>
                  <a:srgbClr val="FF0000"/>
                </a:solidFill>
              </a:rPr>
              <a:t>m</a:t>
            </a:r>
            <a:r>
              <a:rPr lang="pt-BR" sz="2000">
                <a:solidFill>
                  <a:srgbClr val="FF0000"/>
                </a:solidFill>
              </a:rPr>
              <a:t>(</a:t>
            </a:r>
            <a:r>
              <a:rPr lang="pt-BR" sz="2000" i="1">
                <a:solidFill>
                  <a:srgbClr val="FF0000"/>
                </a:solidFill>
              </a:rPr>
              <a:t>t</a:t>
            </a:r>
            <a:r>
              <a:rPr lang="pt-BR" sz="2000">
                <a:solidFill>
                  <a:srgbClr val="FF0000"/>
                </a:solidFill>
              </a:rPr>
              <a:t>)</a:t>
            </a:r>
            <a:endParaRPr lang="pt-BR" sz="2000" i="1">
              <a:solidFill>
                <a:srgbClr val="FF0000"/>
              </a:solidFill>
            </a:endParaRPr>
          </a:p>
        </p:txBody>
      </p:sp>
      <p:sp>
        <p:nvSpPr>
          <p:cNvPr id="14" name="Text Box 157">
            <a:extLst>
              <a:ext uri="{FF2B5EF4-FFF2-40B4-BE49-F238E27FC236}">
                <a16:creationId xmlns:a16="http://schemas.microsoft.com/office/drawing/2014/main" id="{FB8B7840-465B-09C4-F3E9-820088EAE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26" y="1392239"/>
            <a:ext cx="2000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i="1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16" name="Text Box 158">
            <a:extLst>
              <a:ext uri="{FF2B5EF4-FFF2-40B4-BE49-F238E27FC236}">
                <a16:creationId xmlns:a16="http://schemas.microsoft.com/office/drawing/2014/main" id="{9331E2FE-714D-443C-E8DB-B3DF7ED2A3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25" y="2343151"/>
            <a:ext cx="266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i="1">
                <a:solidFill>
                  <a:srgbClr val="006600"/>
                </a:solidFill>
              </a:rPr>
              <a:t>t</a:t>
            </a:r>
          </a:p>
        </p:txBody>
      </p:sp>
      <p:sp>
        <p:nvSpPr>
          <p:cNvPr id="18" name="Text Box 159">
            <a:extLst>
              <a:ext uri="{FF2B5EF4-FFF2-40B4-BE49-F238E27FC236}">
                <a16:creationId xmlns:a16="http://schemas.microsoft.com/office/drawing/2014/main" id="{A12C91F5-19E8-799B-A7A8-422C4A78D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4125" y="3714751"/>
            <a:ext cx="266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i="1">
                <a:solidFill>
                  <a:srgbClr val="0000CC"/>
                </a:solidFill>
              </a:rPr>
              <a:t>t</a:t>
            </a:r>
          </a:p>
        </p:txBody>
      </p:sp>
      <p:sp>
        <p:nvSpPr>
          <p:cNvPr id="20" name="Text Box 160">
            <a:extLst>
              <a:ext uri="{FF2B5EF4-FFF2-40B4-BE49-F238E27FC236}">
                <a16:creationId xmlns:a16="http://schemas.microsoft.com/office/drawing/2014/main" id="{8A042C11-0EBD-B550-5D09-BFDD53115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3175" y="5353051"/>
            <a:ext cx="266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 i="1">
                <a:solidFill>
                  <a:srgbClr val="0000CC"/>
                </a:solidFill>
              </a:rPr>
              <a:t>t</a:t>
            </a:r>
          </a:p>
        </p:txBody>
      </p:sp>
      <p:sp>
        <p:nvSpPr>
          <p:cNvPr id="22" name="Line 161">
            <a:extLst>
              <a:ext uri="{FF2B5EF4-FFF2-40B4-BE49-F238E27FC236}">
                <a16:creationId xmlns:a16="http://schemas.microsoft.com/office/drawing/2014/main" id="{54C7DDDB-DCF8-1D8B-6849-FAA4B0CB17A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40501" y="4856163"/>
            <a:ext cx="169863" cy="227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4" name="Object 162">
            <a:extLst>
              <a:ext uri="{FF2B5EF4-FFF2-40B4-BE49-F238E27FC236}">
                <a16:creationId xmlns:a16="http://schemas.microsoft.com/office/drawing/2014/main" id="{875B6B30-3683-3C5E-31C7-14E2CB180B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70676" y="3043239"/>
          <a:ext cx="2722563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42920" imgH="228600" progId="Equation.3">
                  <p:embed/>
                </p:oleObj>
              </mc:Choice>
              <mc:Fallback>
                <p:oleObj name="Equation" r:id="rId3" imgW="1942920" imgH="228600" progId="Equation.3">
                  <p:embed/>
                  <p:pic>
                    <p:nvPicPr>
                      <p:cNvPr id="697506" name="Object 1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0676" y="3043239"/>
                        <a:ext cx="2722563" cy="319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EC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Line 163">
            <a:extLst>
              <a:ext uri="{FF2B5EF4-FFF2-40B4-BE49-F238E27FC236}">
                <a16:creationId xmlns:a16="http://schemas.microsoft.com/office/drawing/2014/main" id="{DB1FE97C-77F5-7843-08BC-28888DD535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53200" y="3268664"/>
            <a:ext cx="115888" cy="180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8" name="Object 164">
            <a:extLst>
              <a:ext uri="{FF2B5EF4-FFF2-40B4-BE49-F238E27FC236}">
                <a16:creationId xmlns:a16="http://schemas.microsoft.com/office/drawing/2014/main" id="{19E39934-5EEE-F451-2487-DD0FD624D9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0364" y="4640263"/>
          <a:ext cx="27781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81080" imgH="253800" progId="Equation.3">
                  <p:embed/>
                </p:oleObj>
              </mc:Choice>
              <mc:Fallback>
                <p:oleObj name="Equation" r:id="rId5" imgW="1981080" imgH="253800" progId="Equation.3">
                  <p:embed/>
                  <p:pic>
                    <p:nvPicPr>
                      <p:cNvPr id="697508" name="Object 1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4" y="4640263"/>
                        <a:ext cx="277812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prstDash val="sysDot"/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65">
            <a:extLst>
              <a:ext uri="{FF2B5EF4-FFF2-40B4-BE49-F238E27FC236}">
                <a16:creationId xmlns:a16="http://schemas.microsoft.com/office/drawing/2014/main" id="{FAEE0B92-F056-A369-1017-ED1DDAB66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488" y="2365376"/>
            <a:ext cx="1371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b="1">
                <a:solidFill>
                  <a:schemeClr val="accent2"/>
                </a:solidFill>
                <a:latin typeface="Arial" charset="0"/>
              </a:rPr>
              <a:t>Portadora</a:t>
            </a:r>
          </a:p>
        </p:txBody>
      </p:sp>
      <p:sp>
        <p:nvSpPr>
          <p:cNvPr id="32" name="Text Box 166">
            <a:extLst>
              <a:ext uri="{FF2B5EF4-FFF2-40B4-BE49-F238E27FC236}">
                <a16:creationId xmlns:a16="http://schemas.microsoft.com/office/drawing/2014/main" id="{06FB547C-53D4-9E84-A7B0-C1ACB56EE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488" y="1238250"/>
            <a:ext cx="137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b="1">
                <a:solidFill>
                  <a:schemeClr val="accent2"/>
                </a:solidFill>
                <a:latin typeface="Arial" charset="0"/>
              </a:rPr>
              <a:t>Sinal modulante</a:t>
            </a:r>
          </a:p>
        </p:txBody>
      </p:sp>
      <p:sp>
        <p:nvSpPr>
          <p:cNvPr id="34" name="Text Box 167">
            <a:extLst>
              <a:ext uri="{FF2B5EF4-FFF2-40B4-BE49-F238E27FC236}">
                <a16:creationId xmlns:a16="http://schemas.microsoft.com/office/drawing/2014/main" id="{F3C80657-A39D-235A-2D51-47DAD15EB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488" y="3644900"/>
            <a:ext cx="13716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b="1">
                <a:solidFill>
                  <a:schemeClr val="accent2"/>
                </a:solidFill>
                <a:latin typeface="Arial" charset="0"/>
              </a:rPr>
              <a:t>Sinal AM para </a:t>
            </a:r>
            <a:r>
              <a:rPr lang="pt-BR" b="1" i="1">
                <a:solidFill>
                  <a:schemeClr val="accent2"/>
                </a:solidFill>
                <a:sym typeface="Symbol" pitchFamily="18" charset="2"/>
              </a:rPr>
              <a:t></a:t>
            </a:r>
            <a:r>
              <a:rPr lang="pt-BR" sz="900" b="1" i="1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pt-BR" b="1">
                <a:solidFill>
                  <a:schemeClr val="accent2"/>
                </a:solidFill>
                <a:sym typeface="Symbol" pitchFamily="18" charset="2"/>
              </a:rPr>
              <a:t>_</a:t>
            </a:r>
            <a:r>
              <a:rPr lang="pt-BR" b="1" i="1" baseline="-25000">
                <a:solidFill>
                  <a:schemeClr val="accent2"/>
                </a:solidFill>
                <a:sym typeface="Symbol" pitchFamily="18" charset="2"/>
              </a:rPr>
              <a:t> </a:t>
            </a:r>
            <a:r>
              <a:rPr lang="pt-BR" b="1">
                <a:solidFill>
                  <a:schemeClr val="accent2"/>
                </a:solidFill>
                <a:latin typeface="Arial" charset="0"/>
                <a:sym typeface="Symbol" pitchFamily="18" charset="2"/>
              </a:rPr>
              <a:t>&lt; 1</a:t>
            </a:r>
            <a:endParaRPr lang="pt-BR" b="1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36" name="Text Box 168">
            <a:extLst>
              <a:ext uri="{FF2B5EF4-FFF2-40B4-BE49-F238E27FC236}">
                <a16:creationId xmlns:a16="http://schemas.microsoft.com/office/drawing/2014/main" id="{EEA7EA0B-24F6-237E-2250-C1BFBC86B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1488" y="5154613"/>
            <a:ext cx="2546350" cy="93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000" rIns="18000">
            <a:spAutoFit/>
          </a:bodyPr>
          <a:lstStyle/>
          <a:p>
            <a:pPr algn="l">
              <a:lnSpc>
                <a:spcPct val="90000"/>
              </a:lnSpc>
            </a:pPr>
            <a:r>
              <a:rPr lang="pt-BR" b="1">
                <a:solidFill>
                  <a:schemeClr val="accent2"/>
                </a:solidFill>
                <a:latin typeface="Arial" charset="0"/>
              </a:rPr>
              <a:t>Sinal AM </a:t>
            </a:r>
          </a:p>
          <a:p>
            <a:pPr algn="l"/>
            <a:r>
              <a:rPr lang="pt-BR" b="1">
                <a:solidFill>
                  <a:schemeClr val="accent2"/>
                </a:solidFill>
                <a:latin typeface="Arial" charset="0"/>
              </a:rPr>
              <a:t>para </a:t>
            </a:r>
            <a:r>
              <a:rPr lang="pt-BR" b="1" i="1">
                <a:solidFill>
                  <a:schemeClr val="accent2"/>
                </a:solidFill>
                <a:sym typeface="Symbol" pitchFamily="18" charset="2"/>
              </a:rPr>
              <a:t></a:t>
            </a:r>
            <a:r>
              <a:rPr lang="pt-BR" b="1">
                <a:solidFill>
                  <a:schemeClr val="accent2"/>
                </a:solidFill>
                <a:sym typeface="Symbol" pitchFamily="18" charset="2"/>
              </a:rPr>
              <a:t>_</a:t>
            </a:r>
            <a:r>
              <a:rPr lang="pt-BR">
                <a:sym typeface="Symbol" pitchFamily="18" charset="2"/>
              </a:rPr>
              <a:t> </a:t>
            </a:r>
            <a:r>
              <a:rPr lang="pt-BR" b="1">
                <a:solidFill>
                  <a:schemeClr val="accent2"/>
                </a:solidFill>
                <a:latin typeface="Arial" charset="0"/>
                <a:sym typeface="Symbol" pitchFamily="18" charset="2"/>
              </a:rPr>
              <a:t>&gt; 1</a:t>
            </a:r>
          </a:p>
          <a:p>
            <a:pPr algn="l">
              <a:spcBef>
                <a:spcPct val="15000"/>
              </a:spcBef>
            </a:pPr>
            <a:r>
              <a:rPr lang="pt-BR" b="1">
                <a:solidFill>
                  <a:schemeClr val="accent2"/>
                </a:solidFill>
                <a:latin typeface="Arial" charset="0"/>
                <a:sym typeface="Symbol" pitchFamily="18" charset="2"/>
              </a:rPr>
              <a:t>(sinal sobremodulado)</a:t>
            </a:r>
          </a:p>
        </p:txBody>
      </p:sp>
    </p:spTree>
    <p:extLst>
      <p:ext uri="{BB962C8B-B14F-4D97-AF65-F5344CB8AC3E}">
        <p14:creationId xmlns:p14="http://schemas.microsoft.com/office/powerpoint/2010/main" val="14432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26DEA4-F929-6629-667D-31F698CF9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</a:t>
            </a:r>
            <a:br>
              <a:rPr lang="pt-BR" dirty="0"/>
            </a:br>
            <a:r>
              <a:rPr lang="pt-BR" dirty="0"/>
              <a:t>Sinais não </a:t>
            </a:r>
            <a:r>
              <a:rPr lang="pt-BR" dirty="0" err="1"/>
              <a:t>sobre-modulados</a:t>
            </a:r>
            <a:endParaRPr lang="pt-BR" dirty="0"/>
          </a:p>
        </p:txBody>
      </p:sp>
      <p:sp>
        <p:nvSpPr>
          <p:cNvPr id="3" name="Text Box 18">
            <a:extLst>
              <a:ext uri="{FF2B5EF4-FFF2-40B4-BE49-F238E27FC236}">
                <a16:creationId xmlns:a16="http://schemas.microsoft.com/office/drawing/2014/main" id="{994F0F84-9E47-77B5-AFD0-78919BC6E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2986089"/>
            <a:ext cx="29908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pt-BR" b="1">
                <a:latin typeface="Arial Narrow" pitchFamily="34" charset="0"/>
              </a:rPr>
              <a:t>Sinal AM não-sobremodulado com </a:t>
            </a:r>
            <a:r>
              <a:rPr lang="pt-BR" b="1" i="1">
                <a:latin typeface="Arial Narrow" pitchFamily="34" charset="0"/>
                <a:sym typeface="Symbol" pitchFamily="18" charset="2"/>
              </a:rPr>
              <a:t> </a:t>
            </a:r>
            <a:r>
              <a:rPr lang="pt-BR" b="1">
                <a:latin typeface="Arial Narrow" pitchFamily="34" charset="0"/>
                <a:sym typeface="Symbol" pitchFamily="18" charset="2"/>
              </a:rPr>
              <a:t>=</a:t>
            </a:r>
            <a:r>
              <a:rPr lang="pt-BR" b="1" i="1">
                <a:latin typeface="Arial Narrow" pitchFamily="34" charset="0"/>
                <a:sym typeface="Symbol" pitchFamily="18" charset="2"/>
              </a:rPr>
              <a:t> </a:t>
            </a:r>
            <a:r>
              <a:rPr lang="pt-BR" b="1">
                <a:latin typeface="Arial Narrow" pitchFamily="34" charset="0"/>
                <a:sym typeface="Symbol" pitchFamily="18" charset="2"/>
              </a:rPr>
              <a:t>0,5.</a:t>
            </a:r>
            <a:endParaRPr lang="pt-BR" b="1">
              <a:latin typeface="Arial Narrow" pitchFamily="34" charset="0"/>
            </a:endParaRPr>
          </a:p>
        </p:txBody>
      </p:sp>
      <p:sp>
        <p:nvSpPr>
          <p:cNvPr id="4" name="Text Box 32">
            <a:extLst>
              <a:ext uri="{FF2B5EF4-FFF2-40B4-BE49-F238E27FC236}">
                <a16:creationId xmlns:a16="http://schemas.microsoft.com/office/drawing/2014/main" id="{EEADA1F4-58CE-5F92-6270-91515C912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5091114"/>
            <a:ext cx="2990850" cy="58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pt-BR" b="1">
                <a:latin typeface="Arial Narrow" pitchFamily="34" charset="0"/>
              </a:rPr>
              <a:t>Sinal AM não-sobremodulado com </a:t>
            </a:r>
            <a:r>
              <a:rPr lang="pt-BR" b="1" i="1">
                <a:latin typeface="Arial Narrow" pitchFamily="34" charset="0"/>
                <a:sym typeface="Symbol" pitchFamily="18" charset="2"/>
              </a:rPr>
              <a:t> </a:t>
            </a:r>
            <a:r>
              <a:rPr lang="pt-BR" b="1">
                <a:latin typeface="Arial Narrow" pitchFamily="34" charset="0"/>
                <a:sym typeface="Symbol" pitchFamily="18" charset="2"/>
              </a:rPr>
              <a:t>=</a:t>
            </a:r>
            <a:r>
              <a:rPr lang="pt-BR" b="1" i="1">
                <a:latin typeface="Arial Narrow" pitchFamily="34" charset="0"/>
                <a:sym typeface="Symbol" pitchFamily="18" charset="2"/>
              </a:rPr>
              <a:t> </a:t>
            </a:r>
            <a:r>
              <a:rPr lang="pt-BR" b="1">
                <a:latin typeface="Arial Narrow" pitchFamily="34" charset="0"/>
                <a:sym typeface="Symbol" pitchFamily="18" charset="2"/>
              </a:rPr>
              <a:t>1,0.</a:t>
            </a:r>
            <a:endParaRPr lang="pt-BR" b="1">
              <a:latin typeface="Arial Narrow" pitchFamily="34" charset="0"/>
            </a:endParaRPr>
          </a:p>
        </p:txBody>
      </p:sp>
      <p:sp>
        <p:nvSpPr>
          <p:cNvPr id="5" name="Text Box 44">
            <a:extLst>
              <a:ext uri="{FF2B5EF4-FFF2-40B4-BE49-F238E27FC236}">
                <a16:creationId xmlns:a16="http://schemas.microsoft.com/office/drawing/2014/main" id="{46281DC5-E144-BE33-0A97-5682C5A9A0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4550" y="1385889"/>
            <a:ext cx="299085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pt-BR" b="1">
                <a:latin typeface="Arial Narrow" pitchFamily="34" charset="0"/>
              </a:rPr>
              <a:t>Sinal modulante tonal</a:t>
            </a:r>
          </a:p>
        </p:txBody>
      </p:sp>
      <p:grpSp>
        <p:nvGrpSpPr>
          <p:cNvPr id="6" name="Group 55">
            <a:extLst>
              <a:ext uri="{FF2B5EF4-FFF2-40B4-BE49-F238E27FC236}">
                <a16:creationId xmlns:a16="http://schemas.microsoft.com/office/drawing/2014/main" id="{ABEE2C03-47F8-5647-F353-E97B4C5121DD}"/>
              </a:ext>
            </a:extLst>
          </p:cNvPr>
          <p:cNvGrpSpPr>
            <a:grpSpLocks/>
          </p:cNvGrpSpPr>
          <p:nvPr/>
        </p:nvGrpSpPr>
        <p:grpSpPr bwMode="auto">
          <a:xfrm>
            <a:off x="5383214" y="2428875"/>
            <a:ext cx="4803775" cy="1682750"/>
            <a:chOff x="2431" y="1530"/>
            <a:chExt cx="3026" cy="1060"/>
          </a:xfrm>
        </p:grpSpPr>
        <p:sp>
          <p:nvSpPr>
            <p:cNvPr id="7" name="Line 5">
              <a:extLst>
                <a:ext uri="{FF2B5EF4-FFF2-40B4-BE49-F238E27FC236}">
                  <a16:creationId xmlns:a16="http://schemas.microsoft.com/office/drawing/2014/main" id="{C1B2799B-C913-CAA2-C481-A2EF2CD7E5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1630"/>
              <a:ext cx="38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C015A832-FE60-ECC9-408E-A219FAAD95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769"/>
              <a:ext cx="276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6DEB817-3ACD-019C-64EF-722795A70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324"/>
              <a:ext cx="27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0" name="Object 8">
              <a:extLst>
                <a:ext uri="{FF2B5EF4-FFF2-40B4-BE49-F238E27FC236}">
                  <a16:creationId xmlns:a16="http://schemas.microsoft.com/office/drawing/2014/main" id="{F0E96D15-31FB-2844-AFC5-F7D34EDF193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27" y="1697"/>
            <a:ext cx="15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90440" imgH="228600" progId="Equation.3">
                    <p:embed/>
                  </p:oleObj>
                </mc:Choice>
                <mc:Fallback>
                  <p:oleObj name="Equation" r:id="rId2" imgW="190440" imgH="228600" progId="Equation.3">
                    <p:embed/>
                    <p:pic>
                      <p:nvPicPr>
                        <p:cNvPr id="797704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7" y="1697"/>
                          <a:ext cx="156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>
              <a:extLst>
                <a:ext uri="{FF2B5EF4-FFF2-40B4-BE49-F238E27FC236}">
                  <a16:creationId xmlns:a16="http://schemas.microsoft.com/office/drawing/2014/main" id="{0E7A6561-CC20-C247-532E-7D21A0D410C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31" y="1530"/>
            <a:ext cx="24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04560" imgH="228600" progId="Equation.3">
                    <p:embed/>
                  </p:oleObj>
                </mc:Choice>
                <mc:Fallback>
                  <p:oleObj name="Equation" r:id="rId4" imgW="304560" imgH="228600" progId="Equation.3">
                    <p:embed/>
                    <p:pic>
                      <p:nvPicPr>
                        <p:cNvPr id="797705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1" y="1530"/>
                          <a:ext cx="249" cy="1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0">
              <a:extLst>
                <a:ext uri="{FF2B5EF4-FFF2-40B4-BE49-F238E27FC236}">
                  <a16:creationId xmlns:a16="http://schemas.microsoft.com/office/drawing/2014/main" id="{8278964F-9CCB-443E-F927-056AC9C4FA5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36" y="1834"/>
            <a:ext cx="22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79360" imgH="215640" progId="Equation.3">
                    <p:embed/>
                  </p:oleObj>
                </mc:Choice>
                <mc:Fallback>
                  <p:oleObj name="Equation" r:id="rId6" imgW="279360" imgH="215640" progId="Equation.3">
                    <p:embed/>
                    <p:pic>
                      <p:nvPicPr>
                        <p:cNvPr id="797706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6" y="1834"/>
                          <a:ext cx="229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1">
              <a:extLst>
                <a:ext uri="{FF2B5EF4-FFF2-40B4-BE49-F238E27FC236}">
                  <a16:creationId xmlns:a16="http://schemas.microsoft.com/office/drawing/2014/main" id="{1A6517EC-26DC-B6CE-E05D-DB3F1B176FA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64" y="2227"/>
            <a:ext cx="21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266400" imgH="228600" progId="Equation.3">
                    <p:embed/>
                  </p:oleObj>
                </mc:Choice>
                <mc:Fallback>
                  <p:oleObj name="Equation" r:id="rId8" imgW="266400" imgH="228600" progId="Equation.3">
                    <p:embed/>
                    <p:pic>
                      <p:nvPicPr>
                        <p:cNvPr id="797707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4" y="2227"/>
                          <a:ext cx="218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C5F4D252-B754-A9E1-692F-2B404E8122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" y="2425"/>
              <a:ext cx="627" cy="165"/>
              <a:chOff x="4182" y="2509"/>
              <a:chExt cx="627" cy="165"/>
            </a:xfrm>
          </p:grpSpPr>
          <p:graphicFrame>
            <p:nvGraphicFramePr>
              <p:cNvPr id="21" name="Object 13">
                <a:extLst>
                  <a:ext uri="{FF2B5EF4-FFF2-40B4-BE49-F238E27FC236}">
                    <a16:creationId xmlns:a16="http://schemas.microsoft.com/office/drawing/2014/main" id="{7B3D35A9-4783-0083-9488-461B3363A424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182" y="2509"/>
              <a:ext cx="354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431640" imgH="203040" progId="Equation.3">
                      <p:embed/>
                    </p:oleObj>
                  </mc:Choice>
                  <mc:Fallback>
                    <p:oleObj name="Equation" r:id="rId10" imgW="431640" imgH="203040" progId="Equation.3">
                      <p:embed/>
                      <p:pic>
                        <p:nvPicPr>
                          <p:cNvPr id="797709" name="Object 13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2" y="2509"/>
                            <a:ext cx="354" cy="1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Line 14">
                <a:extLst>
                  <a:ext uri="{FF2B5EF4-FFF2-40B4-BE49-F238E27FC236}">
                    <a16:creationId xmlns:a16="http://schemas.microsoft.com/office/drawing/2014/main" id="{0975920E-E5D6-D0E4-06C9-E6DF8E30C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5" y="2586"/>
                <a:ext cx="2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19476B3C-E6CD-5C38-6CD6-66FCE0DAF9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912"/>
              <a:ext cx="1055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16" name="Object 16">
              <a:extLst>
                <a:ext uri="{FF2B5EF4-FFF2-40B4-BE49-F238E27FC236}">
                  <a16:creationId xmlns:a16="http://schemas.microsoft.com/office/drawing/2014/main" id="{78BFC288-F4FC-739A-6067-50EE7E826DF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68" y="1988"/>
            <a:ext cx="114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126720" imgH="177480" progId="Equation.3">
                    <p:embed/>
                  </p:oleObj>
                </mc:Choice>
                <mc:Fallback>
                  <p:oleObj name="Equation" r:id="rId12" imgW="126720" imgH="177480" progId="Equation.3">
                    <p:embed/>
                    <p:pic>
                      <p:nvPicPr>
                        <p:cNvPr id="797712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1988"/>
                          <a:ext cx="114" cy="1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23089EC2-916A-C84A-6027-9FD2EEDC0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5" y="2048"/>
              <a:ext cx="271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8" name="Freeform 46">
              <a:extLst>
                <a:ext uri="{FF2B5EF4-FFF2-40B4-BE49-F238E27FC236}">
                  <a16:creationId xmlns:a16="http://schemas.microsoft.com/office/drawing/2014/main" id="{CB3BD8C0-6050-14A7-CDD6-0FEC91416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626"/>
              <a:ext cx="2612" cy="837"/>
            </a:xfrm>
            <a:custGeom>
              <a:avLst/>
              <a:gdLst/>
              <a:ahLst/>
              <a:cxnLst>
                <a:cxn ang="0">
                  <a:pos x="0" y="98"/>
                </a:cxn>
                <a:cxn ang="0">
                  <a:pos x="24" y="284"/>
                </a:cxn>
                <a:cxn ang="0">
                  <a:pos x="68" y="778"/>
                </a:cxn>
                <a:cxn ang="0">
                  <a:pos x="132" y="28"/>
                </a:cxn>
                <a:cxn ang="0">
                  <a:pos x="202" y="832"/>
                </a:cxn>
                <a:cxn ang="0">
                  <a:pos x="270" y="0"/>
                </a:cxn>
                <a:cxn ang="0">
                  <a:pos x="338" y="830"/>
                </a:cxn>
                <a:cxn ang="0">
                  <a:pos x="406" y="28"/>
                </a:cxn>
                <a:cxn ang="0">
                  <a:pos x="470" y="782"/>
                </a:cxn>
                <a:cxn ang="0">
                  <a:pos x="542" y="96"/>
                </a:cxn>
                <a:cxn ang="0">
                  <a:pos x="606" y="694"/>
                </a:cxn>
                <a:cxn ang="0">
                  <a:pos x="674" y="182"/>
                </a:cxn>
                <a:cxn ang="0">
                  <a:pos x="742" y="616"/>
                </a:cxn>
                <a:cxn ang="0">
                  <a:pos x="814" y="252"/>
                </a:cxn>
                <a:cxn ang="0">
                  <a:pos x="882" y="564"/>
                </a:cxn>
                <a:cxn ang="0">
                  <a:pos x="950" y="274"/>
                </a:cxn>
                <a:cxn ang="0">
                  <a:pos x="1016" y="568"/>
                </a:cxn>
                <a:cxn ang="0">
                  <a:pos x="1090" y="252"/>
                </a:cxn>
                <a:cxn ang="0">
                  <a:pos x="1158" y="616"/>
                </a:cxn>
                <a:cxn ang="0">
                  <a:pos x="1222" y="182"/>
                </a:cxn>
                <a:cxn ang="0">
                  <a:pos x="1290" y="696"/>
                </a:cxn>
                <a:cxn ang="0">
                  <a:pos x="1362" y="96"/>
                </a:cxn>
                <a:cxn ang="0">
                  <a:pos x="1424" y="774"/>
                </a:cxn>
                <a:cxn ang="0">
                  <a:pos x="1494" y="30"/>
                </a:cxn>
                <a:cxn ang="0">
                  <a:pos x="1562" y="826"/>
                </a:cxn>
                <a:cxn ang="0">
                  <a:pos x="1632" y="2"/>
                </a:cxn>
                <a:cxn ang="0">
                  <a:pos x="1698" y="828"/>
                </a:cxn>
                <a:cxn ang="0">
                  <a:pos x="1770" y="28"/>
                </a:cxn>
                <a:cxn ang="0">
                  <a:pos x="1834" y="782"/>
                </a:cxn>
                <a:cxn ang="0">
                  <a:pos x="1904" y="96"/>
                </a:cxn>
                <a:cxn ang="0">
                  <a:pos x="1966" y="702"/>
                </a:cxn>
                <a:cxn ang="0">
                  <a:pos x="2038" y="184"/>
                </a:cxn>
                <a:cxn ang="0">
                  <a:pos x="2106" y="614"/>
                </a:cxn>
                <a:cxn ang="0">
                  <a:pos x="2174" y="252"/>
                </a:cxn>
                <a:cxn ang="0">
                  <a:pos x="2238" y="570"/>
                </a:cxn>
                <a:cxn ang="0">
                  <a:pos x="2308" y="280"/>
                </a:cxn>
                <a:cxn ang="0">
                  <a:pos x="2378" y="564"/>
                </a:cxn>
                <a:cxn ang="0">
                  <a:pos x="2444" y="252"/>
                </a:cxn>
                <a:cxn ang="0">
                  <a:pos x="2512" y="614"/>
                </a:cxn>
                <a:cxn ang="0">
                  <a:pos x="2576" y="178"/>
                </a:cxn>
                <a:cxn ang="0">
                  <a:pos x="2612" y="334"/>
                </a:cxn>
              </a:cxnLst>
              <a:rect l="0" t="0" r="r" b="b"/>
              <a:pathLst>
                <a:path w="2612" h="837">
                  <a:moveTo>
                    <a:pt x="0" y="98"/>
                  </a:moveTo>
                  <a:cubicBezTo>
                    <a:pt x="4" y="129"/>
                    <a:pt x="13" y="171"/>
                    <a:pt x="24" y="284"/>
                  </a:cubicBezTo>
                  <a:cubicBezTo>
                    <a:pt x="35" y="397"/>
                    <a:pt x="50" y="821"/>
                    <a:pt x="68" y="778"/>
                  </a:cubicBezTo>
                  <a:cubicBezTo>
                    <a:pt x="86" y="735"/>
                    <a:pt x="110" y="19"/>
                    <a:pt x="132" y="28"/>
                  </a:cubicBezTo>
                  <a:cubicBezTo>
                    <a:pt x="154" y="37"/>
                    <a:pt x="179" y="837"/>
                    <a:pt x="202" y="832"/>
                  </a:cubicBezTo>
                  <a:cubicBezTo>
                    <a:pt x="225" y="827"/>
                    <a:pt x="247" y="0"/>
                    <a:pt x="270" y="0"/>
                  </a:cubicBezTo>
                  <a:cubicBezTo>
                    <a:pt x="293" y="0"/>
                    <a:pt x="315" y="825"/>
                    <a:pt x="338" y="830"/>
                  </a:cubicBezTo>
                  <a:cubicBezTo>
                    <a:pt x="361" y="835"/>
                    <a:pt x="384" y="36"/>
                    <a:pt x="406" y="28"/>
                  </a:cubicBezTo>
                  <a:cubicBezTo>
                    <a:pt x="428" y="20"/>
                    <a:pt x="447" y="771"/>
                    <a:pt x="470" y="782"/>
                  </a:cubicBezTo>
                  <a:cubicBezTo>
                    <a:pt x="493" y="793"/>
                    <a:pt x="519" y="111"/>
                    <a:pt x="542" y="96"/>
                  </a:cubicBezTo>
                  <a:cubicBezTo>
                    <a:pt x="565" y="81"/>
                    <a:pt x="584" y="680"/>
                    <a:pt x="606" y="694"/>
                  </a:cubicBezTo>
                  <a:cubicBezTo>
                    <a:pt x="628" y="708"/>
                    <a:pt x="651" y="195"/>
                    <a:pt x="674" y="182"/>
                  </a:cubicBezTo>
                  <a:cubicBezTo>
                    <a:pt x="697" y="169"/>
                    <a:pt x="719" y="604"/>
                    <a:pt x="742" y="616"/>
                  </a:cubicBezTo>
                  <a:cubicBezTo>
                    <a:pt x="765" y="628"/>
                    <a:pt x="791" y="261"/>
                    <a:pt x="814" y="252"/>
                  </a:cubicBezTo>
                  <a:cubicBezTo>
                    <a:pt x="837" y="243"/>
                    <a:pt x="859" y="560"/>
                    <a:pt x="882" y="564"/>
                  </a:cubicBezTo>
                  <a:cubicBezTo>
                    <a:pt x="905" y="568"/>
                    <a:pt x="928" y="273"/>
                    <a:pt x="950" y="274"/>
                  </a:cubicBezTo>
                  <a:cubicBezTo>
                    <a:pt x="972" y="275"/>
                    <a:pt x="993" y="572"/>
                    <a:pt x="1016" y="568"/>
                  </a:cubicBezTo>
                  <a:cubicBezTo>
                    <a:pt x="1039" y="564"/>
                    <a:pt x="1066" y="244"/>
                    <a:pt x="1090" y="252"/>
                  </a:cubicBezTo>
                  <a:cubicBezTo>
                    <a:pt x="1114" y="260"/>
                    <a:pt x="1136" y="628"/>
                    <a:pt x="1158" y="616"/>
                  </a:cubicBezTo>
                  <a:cubicBezTo>
                    <a:pt x="1180" y="604"/>
                    <a:pt x="1200" y="169"/>
                    <a:pt x="1222" y="182"/>
                  </a:cubicBezTo>
                  <a:cubicBezTo>
                    <a:pt x="1244" y="195"/>
                    <a:pt x="1267" y="710"/>
                    <a:pt x="1290" y="696"/>
                  </a:cubicBezTo>
                  <a:cubicBezTo>
                    <a:pt x="1313" y="682"/>
                    <a:pt x="1340" y="83"/>
                    <a:pt x="1362" y="96"/>
                  </a:cubicBezTo>
                  <a:cubicBezTo>
                    <a:pt x="1384" y="109"/>
                    <a:pt x="1402" y="785"/>
                    <a:pt x="1424" y="774"/>
                  </a:cubicBezTo>
                  <a:cubicBezTo>
                    <a:pt x="1446" y="763"/>
                    <a:pt x="1471" y="21"/>
                    <a:pt x="1494" y="30"/>
                  </a:cubicBezTo>
                  <a:cubicBezTo>
                    <a:pt x="1517" y="39"/>
                    <a:pt x="1539" y="831"/>
                    <a:pt x="1562" y="826"/>
                  </a:cubicBezTo>
                  <a:cubicBezTo>
                    <a:pt x="1585" y="821"/>
                    <a:pt x="1609" y="2"/>
                    <a:pt x="1632" y="2"/>
                  </a:cubicBezTo>
                  <a:cubicBezTo>
                    <a:pt x="1655" y="2"/>
                    <a:pt x="1675" y="824"/>
                    <a:pt x="1698" y="828"/>
                  </a:cubicBezTo>
                  <a:cubicBezTo>
                    <a:pt x="1721" y="832"/>
                    <a:pt x="1747" y="36"/>
                    <a:pt x="1770" y="28"/>
                  </a:cubicBezTo>
                  <a:cubicBezTo>
                    <a:pt x="1793" y="20"/>
                    <a:pt x="1812" y="771"/>
                    <a:pt x="1834" y="782"/>
                  </a:cubicBezTo>
                  <a:cubicBezTo>
                    <a:pt x="1856" y="793"/>
                    <a:pt x="1882" y="109"/>
                    <a:pt x="1904" y="96"/>
                  </a:cubicBezTo>
                  <a:cubicBezTo>
                    <a:pt x="1926" y="83"/>
                    <a:pt x="1944" y="687"/>
                    <a:pt x="1966" y="702"/>
                  </a:cubicBezTo>
                  <a:cubicBezTo>
                    <a:pt x="1988" y="717"/>
                    <a:pt x="2015" y="199"/>
                    <a:pt x="2038" y="184"/>
                  </a:cubicBezTo>
                  <a:cubicBezTo>
                    <a:pt x="2061" y="169"/>
                    <a:pt x="2083" y="603"/>
                    <a:pt x="2106" y="614"/>
                  </a:cubicBezTo>
                  <a:cubicBezTo>
                    <a:pt x="2129" y="625"/>
                    <a:pt x="2152" y="259"/>
                    <a:pt x="2174" y="252"/>
                  </a:cubicBezTo>
                  <a:cubicBezTo>
                    <a:pt x="2196" y="245"/>
                    <a:pt x="2216" y="565"/>
                    <a:pt x="2238" y="570"/>
                  </a:cubicBezTo>
                  <a:cubicBezTo>
                    <a:pt x="2260" y="575"/>
                    <a:pt x="2285" y="281"/>
                    <a:pt x="2308" y="280"/>
                  </a:cubicBezTo>
                  <a:cubicBezTo>
                    <a:pt x="2331" y="279"/>
                    <a:pt x="2355" y="569"/>
                    <a:pt x="2378" y="564"/>
                  </a:cubicBezTo>
                  <a:cubicBezTo>
                    <a:pt x="2401" y="559"/>
                    <a:pt x="2422" y="244"/>
                    <a:pt x="2444" y="252"/>
                  </a:cubicBezTo>
                  <a:cubicBezTo>
                    <a:pt x="2466" y="260"/>
                    <a:pt x="2490" y="626"/>
                    <a:pt x="2512" y="614"/>
                  </a:cubicBezTo>
                  <a:cubicBezTo>
                    <a:pt x="2534" y="602"/>
                    <a:pt x="2559" y="225"/>
                    <a:pt x="2576" y="178"/>
                  </a:cubicBezTo>
                  <a:cubicBezTo>
                    <a:pt x="2593" y="131"/>
                    <a:pt x="2605" y="302"/>
                    <a:pt x="2612" y="334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9" name="Freeform 47">
              <a:extLst>
                <a:ext uri="{FF2B5EF4-FFF2-40B4-BE49-F238E27FC236}">
                  <a16:creationId xmlns:a16="http://schemas.microsoft.com/office/drawing/2014/main" id="{4E98FA6B-F8AF-0A37-3C44-2B9161516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603"/>
              <a:ext cx="2612" cy="325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356" y="31"/>
                </a:cxn>
                <a:cxn ang="0">
                  <a:pos x="962" y="305"/>
                </a:cxn>
                <a:cxn ang="0">
                  <a:pos x="1634" y="23"/>
                </a:cxn>
                <a:cxn ang="0">
                  <a:pos x="2246" y="297"/>
                </a:cxn>
                <a:cxn ang="0">
                  <a:pos x="2612" y="191"/>
                </a:cxn>
              </a:cxnLst>
              <a:rect l="0" t="0" r="r" b="b"/>
              <a:pathLst>
                <a:path w="2612" h="325">
                  <a:moveTo>
                    <a:pt x="0" y="119"/>
                  </a:moveTo>
                  <a:cubicBezTo>
                    <a:pt x="59" y="104"/>
                    <a:pt x="196" y="0"/>
                    <a:pt x="356" y="31"/>
                  </a:cubicBezTo>
                  <a:cubicBezTo>
                    <a:pt x="516" y="62"/>
                    <a:pt x="749" y="306"/>
                    <a:pt x="962" y="305"/>
                  </a:cubicBezTo>
                  <a:cubicBezTo>
                    <a:pt x="1175" y="304"/>
                    <a:pt x="1420" y="24"/>
                    <a:pt x="1634" y="23"/>
                  </a:cubicBezTo>
                  <a:cubicBezTo>
                    <a:pt x="1848" y="22"/>
                    <a:pt x="2083" y="269"/>
                    <a:pt x="2246" y="297"/>
                  </a:cubicBezTo>
                  <a:cubicBezTo>
                    <a:pt x="2409" y="325"/>
                    <a:pt x="2536" y="213"/>
                    <a:pt x="2612" y="191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dash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Freeform 48">
              <a:extLst>
                <a:ext uri="{FF2B5EF4-FFF2-40B4-BE49-F238E27FC236}">
                  <a16:creationId xmlns:a16="http://schemas.microsoft.com/office/drawing/2014/main" id="{49FFEBC4-CB8A-ABF2-4724-61DE86FA912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7" y="2168"/>
              <a:ext cx="2612" cy="325"/>
            </a:xfrm>
            <a:custGeom>
              <a:avLst/>
              <a:gdLst/>
              <a:ahLst/>
              <a:cxnLst>
                <a:cxn ang="0">
                  <a:pos x="0" y="119"/>
                </a:cxn>
                <a:cxn ang="0">
                  <a:pos x="356" y="31"/>
                </a:cxn>
                <a:cxn ang="0">
                  <a:pos x="962" y="305"/>
                </a:cxn>
                <a:cxn ang="0">
                  <a:pos x="1634" y="23"/>
                </a:cxn>
                <a:cxn ang="0">
                  <a:pos x="2246" y="297"/>
                </a:cxn>
                <a:cxn ang="0">
                  <a:pos x="2612" y="191"/>
                </a:cxn>
              </a:cxnLst>
              <a:rect l="0" t="0" r="r" b="b"/>
              <a:pathLst>
                <a:path w="2612" h="325">
                  <a:moveTo>
                    <a:pt x="0" y="119"/>
                  </a:moveTo>
                  <a:cubicBezTo>
                    <a:pt x="59" y="104"/>
                    <a:pt x="196" y="0"/>
                    <a:pt x="356" y="31"/>
                  </a:cubicBezTo>
                  <a:cubicBezTo>
                    <a:pt x="516" y="62"/>
                    <a:pt x="749" y="306"/>
                    <a:pt x="962" y="305"/>
                  </a:cubicBezTo>
                  <a:cubicBezTo>
                    <a:pt x="1175" y="304"/>
                    <a:pt x="1420" y="24"/>
                    <a:pt x="1634" y="23"/>
                  </a:cubicBezTo>
                  <a:cubicBezTo>
                    <a:pt x="1848" y="22"/>
                    <a:pt x="2083" y="269"/>
                    <a:pt x="2246" y="297"/>
                  </a:cubicBezTo>
                  <a:cubicBezTo>
                    <a:pt x="2409" y="325"/>
                    <a:pt x="2536" y="213"/>
                    <a:pt x="2612" y="191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dash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3" name="Group 56">
            <a:extLst>
              <a:ext uri="{FF2B5EF4-FFF2-40B4-BE49-F238E27FC236}">
                <a16:creationId xmlns:a16="http://schemas.microsoft.com/office/drawing/2014/main" id="{CA92B0D7-3E31-C95B-9DC7-437321D71B00}"/>
              </a:ext>
            </a:extLst>
          </p:cNvPr>
          <p:cNvGrpSpPr>
            <a:grpSpLocks/>
          </p:cNvGrpSpPr>
          <p:nvPr/>
        </p:nvGrpSpPr>
        <p:grpSpPr bwMode="auto">
          <a:xfrm>
            <a:off x="5419726" y="1112838"/>
            <a:ext cx="4767263" cy="1141412"/>
            <a:chOff x="2454" y="701"/>
            <a:chExt cx="3003" cy="719"/>
          </a:xfrm>
        </p:grpSpPr>
        <p:sp>
          <p:nvSpPr>
            <p:cNvPr id="24" name="Line 35">
              <a:extLst>
                <a:ext uri="{FF2B5EF4-FFF2-40B4-BE49-F238E27FC236}">
                  <a16:creationId xmlns:a16="http://schemas.microsoft.com/office/drawing/2014/main" id="{AF6D485B-E9CF-C22D-B2F9-440A254D7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788"/>
              <a:ext cx="276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Line 36">
              <a:extLst>
                <a:ext uri="{FF2B5EF4-FFF2-40B4-BE49-F238E27FC236}">
                  <a16:creationId xmlns:a16="http://schemas.microsoft.com/office/drawing/2014/main" id="{C27E027E-78A0-5BE8-92D3-97555D4D01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226"/>
              <a:ext cx="27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26" name="Object 37">
              <a:extLst>
                <a:ext uri="{FF2B5EF4-FFF2-40B4-BE49-F238E27FC236}">
                  <a16:creationId xmlns:a16="http://schemas.microsoft.com/office/drawing/2014/main" id="{473BB405-0845-9559-BF31-65D9D5DB84A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17" y="701"/>
            <a:ext cx="177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215640" imgH="228600" progId="Equation.3">
                    <p:embed/>
                  </p:oleObj>
                </mc:Choice>
                <mc:Fallback>
                  <p:oleObj name="Equation" r:id="rId14" imgW="215640" imgH="228600" progId="Equation.3">
                    <p:embed/>
                    <p:pic>
                      <p:nvPicPr>
                        <p:cNvPr id="797733" name="Object 3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7" y="701"/>
                          <a:ext cx="177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8">
              <a:extLst>
                <a:ext uri="{FF2B5EF4-FFF2-40B4-BE49-F238E27FC236}">
                  <a16:creationId xmlns:a16="http://schemas.microsoft.com/office/drawing/2014/main" id="{E43E8336-5E48-DDC7-EB96-006467818BE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54" y="1123"/>
            <a:ext cx="23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291960" imgH="228600" progId="Equation.3">
                    <p:embed/>
                  </p:oleObj>
                </mc:Choice>
                <mc:Fallback>
                  <p:oleObj name="Equation" r:id="rId16" imgW="291960" imgH="228600" progId="Equation.3">
                    <p:embed/>
                    <p:pic>
                      <p:nvPicPr>
                        <p:cNvPr id="797734" name="Object 3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4" y="1123"/>
                          <a:ext cx="238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" name="Group 39">
              <a:extLst>
                <a:ext uri="{FF2B5EF4-FFF2-40B4-BE49-F238E27FC236}">
                  <a16:creationId xmlns:a16="http://schemas.microsoft.com/office/drawing/2014/main" id="{B1481C37-5E6E-BEFE-AEB9-B8DCB3D7D0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0" y="1255"/>
              <a:ext cx="627" cy="165"/>
              <a:chOff x="4182" y="2509"/>
              <a:chExt cx="627" cy="165"/>
            </a:xfrm>
          </p:grpSpPr>
          <p:graphicFrame>
            <p:nvGraphicFramePr>
              <p:cNvPr id="32" name="Object 40">
                <a:extLst>
                  <a:ext uri="{FF2B5EF4-FFF2-40B4-BE49-F238E27FC236}">
                    <a16:creationId xmlns:a16="http://schemas.microsoft.com/office/drawing/2014/main" id="{13E8F02A-66B8-2B83-9D40-AEC2049E62A6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182" y="2509"/>
              <a:ext cx="354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8" imgW="431640" imgH="203040" progId="Equation.3">
                      <p:embed/>
                    </p:oleObj>
                  </mc:Choice>
                  <mc:Fallback>
                    <p:oleObj name="Equation" r:id="rId18" imgW="431640" imgH="203040" progId="Equation.3">
                      <p:embed/>
                      <p:pic>
                        <p:nvPicPr>
                          <p:cNvPr id="797736" name="Object 40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2" y="2509"/>
                            <a:ext cx="354" cy="1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3" name="Line 41">
                <a:extLst>
                  <a:ext uri="{FF2B5EF4-FFF2-40B4-BE49-F238E27FC236}">
                    <a16:creationId xmlns:a16="http://schemas.microsoft.com/office/drawing/2014/main" id="{630011B0-3364-0D64-D0CE-06479FC26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5" y="2586"/>
                <a:ext cx="2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graphicFrame>
          <p:nvGraphicFramePr>
            <p:cNvPr id="29" name="Object 42">
              <a:extLst>
                <a:ext uri="{FF2B5EF4-FFF2-40B4-BE49-F238E27FC236}">
                  <a16:creationId xmlns:a16="http://schemas.microsoft.com/office/drawing/2014/main" id="{150D86A3-C027-7779-37B9-DAEC4B15A95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68" y="944"/>
            <a:ext cx="114" cy="1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26720" imgH="177480" progId="Equation.3">
                    <p:embed/>
                  </p:oleObj>
                </mc:Choice>
                <mc:Fallback>
                  <p:oleObj name="Equation" r:id="rId20" imgW="126720" imgH="177480" progId="Equation.3">
                    <p:embed/>
                    <p:pic>
                      <p:nvPicPr>
                        <p:cNvPr id="797738" name="Object 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944"/>
                          <a:ext cx="114" cy="1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Line 43">
              <a:extLst>
                <a:ext uri="{FF2B5EF4-FFF2-40B4-BE49-F238E27FC236}">
                  <a16:creationId xmlns:a16="http://schemas.microsoft.com/office/drawing/2014/main" id="{3B5CC2EB-2E44-6565-126E-A6594C41A0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5" y="1004"/>
              <a:ext cx="271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1" name="Freeform 49">
              <a:extLst>
                <a:ext uri="{FF2B5EF4-FFF2-40B4-BE49-F238E27FC236}">
                  <a16:creationId xmlns:a16="http://schemas.microsoft.com/office/drawing/2014/main" id="{90B1A4ED-BDFB-AFAE-88D4-FB5DA3EED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751"/>
              <a:ext cx="2668" cy="504"/>
            </a:xfrm>
            <a:custGeom>
              <a:avLst/>
              <a:gdLst/>
              <a:ahLst/>
              <a:cxnLst>
                <a:cxn ang="0">
                  <a:pos x="0" y="186"/>
                </a:cxn>
                <a:cxn ang="0">
                  <a:pos x="342" y="47"/>
                </a:cxn>
                <a:cxn ang="0">
                  <a:pos x="948" y="470"/>
                </a:cxn>
                <a:cxn ang="0">
                  <a:pos x="1626" y="41"/>
                </a:cxn>
                <a:cxn ang="0">
                  <a:pos x="2253" y="461"/>
                </a:cxn>
                <a:cxn ang="0">
                  <a:pos x="2613" y="299"/>
                </a:cxn>
                <a:cxn ang="0">
                  <a:pos x="2583" y="319"/>
                </a:cxn>
              </a:cxnLst>
              <a:rect l="0" t="0" r="r" b="b"/>
              <a:pathLst>
                <a:path w="2668" h="504">
                  <a:moveTo>
                    <a:pt x="0" y="186"/>
                  </a:moveTo>
                  <a:cubicBezTo>
                    <a:pt x="57" y="163"/>
                    <a:pt x="184" y="0"/>
                    <a:pt x="342" y="47"/>
                  </a:cubicBezTo>
                  <a:cubicBezTo>
                    <a:pt x="500" y="94"/>
                    <a:pt x="734" y="471"/>
                    <a:pt x="948" y="470"/>
                  </a:cubicBezTo>
                  <a:cubicBezTo>
                    <a:pt x="1162" y="469"/>
                    <a:pt x="1409" y="42"/>
                    <a:pt x="1626" y="41"/>
                  </a:cubicBezTo>
                  <a:cubicBezTo>
                    <a:pt x="1843" y="40"/>
                    <a:pt x="2089" y="418"/>
                    <a:pt x="2253" y="461"/>
                  </a:cubicBezTo>
                  <a:cubicBezTo>
                    <a:pt x="2417" y="504"/>
                    <a:pt x="2558" y="323"/>
                    <a:pt x="2613" y="299"/>
                  </a:cubicBezTo>
                  <a:cubicBezTo>
                    <a:pt x="2668" y="275"/>
                    <a:pt x="2589" y="315"/>
                    <a:pt x="2583" y="319"/>
                  </a:cubicBezTo>
                </a:path>
              </a:pathLst>
            </a:custGeom>
            <a:noFill/>
            <a:ln w="28575" cap="flat" cmpd="sng">
              <a:solidFill>
                <a:srgbClr val="0000CC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34" name="Group 54">
            <a:extLst>
              <a:ext uri="{FF2B5EF4-FFF2-40B4-BE49-F238E27FC236}">
                <a16:creationId xmlns:a16="http://schemas.microsoft.com/office/drawing/2014/main" id="{EFDC0599-C015-52E2-539A-22E200492993}"/>
              </a:ext>
            </a:extLst>
          </p:cNvPr>
          <p:cNvGrpSpPr>
            <a:grpSpLocks/>
          </p:cNvGrpSpPr>
          <p:nvPr/>
        </p:nvGrpSpPr>
        <p:grpSpPr bwMode="auto">
          <a:xfrm>
            <a:off x="5380039" y="4259264"/>
            <a:ext cx="4803775" cy="1990725"/>
            <a:chOff x="2429" y="2683"/>
            <a:chExt cx="3026" cy="1254"/>
          </a:xfrm>
        </p:grpSpPr>
        <p:sp>
          <p:nvSpPr>
            <p:cNvPr id="35" name="Line 21">
              <a:extLst>
                <a:ext uri="{FF2B5EF4-FFF2-40B4-BE49-F238E27FC236}">
                  <a16:creationId xmlns:a16="http://schemas.microsoft.com/office/drawing/2014/main" id="{E2C7AA69-EDD9-4AFB-9BF6-9C5F9168A2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2783"/>
              <a:ext cx="38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Line 22">
              <a:extLst>
                <a:ext uri="{FF2B5EF4-FFF2-40B4-BE49-F238E27FC236}">
                  <a16:creationId xmlns:a16="http://schemas.microsoft.com/office/drawing/2014/main" id="{1195E863-D8E6-6432-C9BF-BA881D8B1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3059"/>
              <a:ext cx="276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Line 23">
              <a:extLst>
                <a:ext uri="{FF2B5EF4-FFF2-40B4-BE49-F238E27FC236}">
                  <a16:creationId xmlns:a16="http://schemas.microsoft.com/office/drawing/2014/main" id="{A53EF4BD-1012-5F9F-3C20-870394AD0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6" y="3615"/>
              <a:ext cx="2760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prstDash val="dash"/>
              <a:round/>
              <a:headEnd/>
              <a:tailEnd type="none" w="med" len="lg"/>
            </a:ln>
            <a:effectLst/>
          </p:spPr>
          <p:txBody>
            <a:bodyPr/>
            <a:lstStyle/>
            <a:p>
              <a:endParaRPr lang="pt-BR"/>
            </a:p>
          </p:txBody>
        </p:sp>
        <p:graphicFrame>
          <p:nvGraphicFramePr>
            <p:cNvPr id="38" name="Object 24">
              <a:extLst>
                <a:ext uri="{FF2B5EF4-FFF2-40B4-BE49-F238E27FC236}">
                  <a16:creationId xmlns:a16="http://schemas.microsoft.com/office/drawing/2014/main" id="{2E08DA9A-239A-3EBB-14D8-B9C6CED010F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25" y="2967"/>
            <a:ext cx="156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190440" imgH="228600" progId="Equation.3">
                    <p:embed/>
                  </p:oleObj>
                </mc:Choice>
                <mc:Fallback>
                  <p:oleObj name="Equation" r:id="rId22" imgW="190440" imgH="228600" progId="Equation.3">
                    <p:embed/>
                    <p:pic>
                      <p:nvPicPr>
                        <p:cNvPr id="797720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5" y="2967"/>
                          <a:ext cx="156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9" name="Object 25">
              <a:extLst>
                <a:ext uri="{FF2B5EF4-FFF2-40B4-BE49-F238E27FC236}">
                  <a16:creationId xmlns:a16="http://schemas.microsoft.com/office/drawing/2014/main" id="{529DEB4F-2190-0F51-8FFB-7355FEBE9B8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29" y="2683"/>
            <a:ext cx="249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04560" imgH="228600" progId="Equation.3">
                    <p:embed/>
                  </p:oleObj>
                </mc:Choice>
                <mc:Fallback>
                  <p:oleObj name="Equation" r:id="rId24" imgW="304560" imgH="228600" progId="Equation.3">
                    <p:embed/>
                    <p:pic>
                      <p:nvPicPr>
                        <p:cNvPr id="797721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29" y="2683"/>
                          <a:ext cx="249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26">
              <a:extLst>
                <a:ext uri="{FF2B5EF4-FFF2-40B4-BE49-F238E27FC236}">
                  <a16:creationId xmlns:a16="http://schemas.microsoft.com/office/drawing/2014/main" id="{9B709AF6-9DFB-F0F2-E2B9-80722122BEE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34" y="3237"/>
            <a:ext cx="229" cy="1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279360" imgH="215640" progId="Equation.3">
                    <p:embed/>
                  </p:oleObj>
                </mc:Choice>
                <mc:Fallback>
                  <p:oleObj name="Equation" r:id="rId26" imgW="279360" imgH="215640" progId="Equation.3">
                    <p:embed/>
                    <p:pic>
                      <p:nvPicPr>
                        <p:cNvPr id="797722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34" y="3237"/>
                          <a:ext cx="229" cy="1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27">
              <a:extLst>
                <a:ext uri="{FF2B5EF4-FFF2-40B4-BE49-F238E27FC236}">
                  <a16:creationId xmlns:a16="http://schemas.microsoft.com/office/drawing/2014/main" id="{4AA6C95A-D1A1-A284-AFBA-F77CABF539C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62" y="3515"/>
            <a:ext cx="218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266400" imgH="228600" progId="Equation.3">
                    <p:embed/>
                  </p:oleObj>
                </mc:Choice>
                <mc:Fallback>
                  <p:oleObj name="Equation" r:id="rId28" imgW="266400" imgH="228600" progId="Equation.3">
                    <p:embed/>
                    <p:pic>
                      <p:nvPicPr>
                        <p:cNvPr id="797723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2" y="3515"/>
                          <a:ext cx="218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2" name="Group 28">
              <a:extLst>
                <a:ext uri="{FF2B5EF4-FFF2-40B4-BE49-F238E27FC236}">
                  <a16:creationId xmlns:a16="http://schemas.microsoft.com/office/drawing/2014/main" id="{887FA15E-6C18-ED63-7F64-DA29A6ABF6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28" y="3720"/>
              <a:ext cx="627" cy="165"/>
              <a:chOff x="4180" y="3744"/>
              <a:chExt cx="627" cy="165"/>
            </a:xfrm>
          </p:grpSpPr>
          <p:graphicFrame>
            <p:nvGraphicFramePr>
              <p:cNvPr id="47" name="Object 29">
                <a:extLst>
                  <a:ext uri="{FF2B5EF4-FFF2-40B4-BE49-F238E27FC236}">
                    <a16:creationId xmlns:a16="http://schemas.microsoft.com/office/drawing/2014/main" id="{6BA1F519-8046-81C0-3F03-F01D620C1BAF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4180" y="3744"/>
              <a:ext cx="354" cy="16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0" imgW="431640" imgH="203040" progId="Equation.3">
                      <p:embed/>
                    </p:oleObj>
                  </mc:Choice>
                  <mc:Fallback>
                    <p:oleObj name="Equation" r:id="rId30" imgW="431640" imgH="203040" progId="Equation.3">
                      <p:embed/>
                      <p:pic>
                        <p:nvPicPr>
                          <p:cNvPr id="797725" name="Object 29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0" y="3744"/>
                            <a:ext cx="354" cy="1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" name="Line 30">
                <a:extLst>
                  <a:ext uri="{FF2B5EF4-FFF2-40B4-BE49-F238E27FC236}">
                    <a16:creationId xmlns:a16="http://schemas.microsoft.com/office/drawing/2014/main" id="{91990360-CB7D-B60B-991C-71B28EB5D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3" y="3821"/>
                <a:ext cx="2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stealth" w="med" len="lg"/>
              </a:ln>
              <a:effectLst/>
            </p:spPr>
            <p:txBody>
              <a:bodyPr/>
              <a:lstStyle/>
              <a:p>
                <a:endParaRPr lang="pt-BR"/>
              </a:p>
            </p:txBody>
          </p:sp>
        </p:grpSp>
        <p:sp>
          <p:nvSpPr>
            <p:cNvPr id="43" name="Line 31">
              <a:extLst>
                <a:ext uri="{FF2B5EF4-FFF2-40B4-BE49-F238E27FC236}">
                  <a16:creationId xmlns:a16="http://schemas.microsoft.com/office/drawing/2014/main" id="{12E161EC-13DC-5C95-7107-C934DE1DF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3" y="3338"/>
              <a:ext cx="2714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4" name="Freeform 50">
              <a:extLst>
                <a:ext uri="{FF2B5EF4-FFF2-40B4-BE49-F238E27FC236}">
                  <a16:creationId xmlns:a16="http://schemas.microsoft.com/office/drawing/2014/main" id="{EEE6CFDE-5C05-079C-DC80-73B00CC4B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773"/>
              <a:ext cx="2610" cy="1106"/>
            </a:xfrm>
            <a:custGeom>
              <a:avLst/>
              <a:gdLst/>
              <a:ahLst/>
              <a:cxnLst>
                <a:cxn ang="0">
                  <a:pos x="0" y="197"/>
                </a:cxn>
                <a:cxn ang="0">
                  <a:pos x="23" y="430"/>
                </a:cxn>
                <a:cxn ang="0">
                  <a:pos x="63" y="983"/>
                </a:cxn>
                <a:cxn ang="0">
                  <a:pos x="132" y="59"/>
                </a:cxn>
                <a:cxn ang="0">
                  <a:pos x="195" y="1082"/>
                </a:cxn>
                <a:cxn ang="0">
                  <a:pos x="267" y="8"/>
                </a:cxn>
                <a:cxn ang="0">
                  <a:pos x="336" y="1097"/>
                </a:cxn>
                <a:cxn ang="0">
                  <a:pos x="405" y="56"/>
                </a:cxn>
                <a:cxn ang="0">
                  <a:pos x="468" y="998"/>
                </a:cxn>
                <a:cxn ang="0">
                  <a:pos x="534" y="215"/>
                </a:cxn>
                <a:cxn ang="0">
                  <a:pos x="602" y="838"/>
                </a:cxn>
                <a:cxn ang="0">
                  <a:pos x="672" y="362"/>
                </a:cxn>
                <a:cxn ang="0">
                  <a:pos x="737" y="673"/>
                </a:cxn>
                <a:cxn ang="0">
                  <a:pos x="804" y="503"/>
                </a:cxn>
                <a:cxn ang="0">
                  <a:pos x="863" y="574"/>
                </a:cxn>
                <a:cxn ang="0">
                  <a:pos x="950" y="556"/>
                </a:cxn>
                <a:cxn ang="0">
                  <a:pos x="1037" y="575"/>
                </a:cxn>
                <a:cxn ang="0">
                  <a:pos x="1092" y="503"/>
                </a:cxn>
                <a:cxn ang="0">
                  <a:pos x="1161" y="680"/>
                </a:cxn>
                <a:cxn ang="0">
                  <a:pos x="1224" y="365"/>
                </a:cxn>
                <a:cxn ang="0">
                  <a:pos x="1302" y="827"/>
                </a:cxn>
                <a:cxn ang="0">
                  <a:pos x="1353" y="200"/>
                </a:cxn>
                <a:cxn ang="0">
                  <a:pos x="1425" y="977"/>
                </a:cxn>
                <a:cxn ang="0">
                  <a:pos x="1491" y="68"/>
                </a:cxn>
                <a:cxn ang="0">
                  <a:pos x="1560" y="1085"/>
                </a:cxn>
                <a:cxn ang="0">
                  <a:pos x="1629" y="2"/>
                </a:cxn>
                <a:cxn ang="0">
                  <a:pos x="1695" y="1097"/>
                </a:cxn>
                <a:cxn ang="0">
                  <a:pos x="1764" y="59"/>
                </a:cxn>
                <a:cxn ang="0">
                  <a:pos x="1833" y="1004"/>
                </a:cxn>
                <a:cxn ang="0">
                  <a:pos x="1902" y="200"/>
                </a:cxn>
                <a:cxn ang="0">
                  <a:pos x="1968" y="863"/>
                </a:cxn>
                <a:cxn ang="0">
                  <a:pos x="2034" y="359"/>
                </a:cxn>
                <a:cxn ang="0">
                  <a:pos x="2100" y="695"/>
                </a:cxn>
                <a:cxn ang="0">
                  <a:pos x="2163" y="505"/>
                </a:cxn>
                <a:cxn ang="0">
                  <a:pos x="2226" y="578"/>
                </a:cxn>
                <a:cxn ang="0">
                  <a:pos x="2313" y="557"/>
                </a:cxn>
                <a:cxn ang="0">
                  <a:pos x="2399" y="577"/>
                </a:cxn>
                <a:cxn ang="0">
                  <a:pos x="2456" y="503"/>
                </a:cxn>
                <a:cxn ang="0">
                  <a:pos x="2517" y="674"/>
                </a:cxn>
                <a:cxn ang="0">
                  <a:pos x="2571" y="374"/>
                </a:cxn>
                <a:cxn ang="0">
                  <a:pos x="2610" y="479"/>
                </a:cxn>
              </a:cxnLst>
              <a:rect l="0" t="0" r="r" b="b"/>
              <a:pathLst>
                <a:path w="2610" h="1106">
                  <a:moveTo>
                    <a:pt x="0" y="197"/>
                  </a:moveTo>
                  <a:cubicBezTo>
                    <a:pt x="4" y="236"/>
                    <a:pt x="12" y="299"/>
                    <a:pt x="23" y="430"/>
                  </a:cubicBezTo>
                  <a:cubicBezTo>
                    <a:pt x="34" y="561"/>
                    <a:pt x="45" y="1045"/>
                    <a:pt x="63" y="983"/>
                  </a:cubicBezTo>
                  <a:cubicBezTo>
                    <a:pt x="81" y="921"/>
                    <a:pt x="110" y="43"/>
                    <a:pt x="132" y="59"/>
                  </a:cubicBezTo>
                  <a:cubicBezTo>
                    <a:pt x="154" y="75"/>
                    <a:pt x="173" y="1090"/>
                    <a:pt x="195" y="1082"/>
                  </a:cubicBezTo>
                  <a:cubicBezTo>
                    <a:pt x="217" y="1074"/>
                    <a:pt x="244" y="5"/>
                    <a:pt x="267" y="8"/>
                  </a:cubicBezTo>
                  <a:cubicBezTo>
                    <a:pt x="290" y="11"/>
                    <a:pt x="313" y="1089"/>
                    <a:pt x="336" y="1097"/>
                  </a:cubicBezTo>
                  <a:cubicBezTo>
                    <a:pt x="359" y="1105"/>
                    <a:pt x="383" y="72"/>
                    <a:pt x="405" y="56"/>
                  </a:cubicBezTo>
                  <a:cubicBezTo>
                    <a:pt x="427" y="40"/>
                    <a:pt x="447" y="972"/>
                    <a:pt x="468" y="998"/>
                  </a:cubicBezTo>
                  <a:cubicBezTo>
                    <a:pt x="489" y="1024"/>
                    <a:pt x="512" y="242"/>
                    <a:pt x="534" y="215"/>
                  </a:cubicBezTo>
                  <a:cubicBezTo>
                    <a:pt x="556" y="188"/>
                    <a:pt x="579" y="814"/>
                    <a:pt x="602" y="838"/>
                  </a:cubicBezTo>
                  <a:cubicBezTo>
                    <a:pt x="625" y="862"/>
                    <a:pt x="650" y="389"/>
                    <a:pt x="672" y="362"/>
                  </a:cubicBezTo>
                  <a:cubicBezTo>
                    <a:pt x="694" y="335"/>
                    <a:pt x="715" y="649"/>
                    <a:pt x="737" y="673"/>
                  </a:cubicBezTo>
                  <a:cubicBezTo>
                    <a:pt x="759" y="697"/>
                    <a:pt x="783" y="519"/>
                    <a:pt x="804" y="503"/>
                  </a:cubicBezTo>
                  <a:cubicBezTo>
                    <a:pt x="825" y="487"/>
                    <a:pt x="839" y="565"/>
                    <a:pt x="863" y="574"/>
                  </a:cubicBezTo>
                  <a:cubicBezTo>
                    <a:pt x="887" y="583"/>
                    <a:pt x="921" y="556"/>
                    <a:pt x="950" y="556"/>
                  </a:cubicBezTo>
                  <a:cubicBezTo>
                    <a:pt x="979" y="556"/>
                    <a:pt x="1013" y="584"/>
                    <a:pt x="1037" y="575"/>
                  </a:cubicBezTo>
                  <a:cubicBezTo>
                    <a:pt x="1061" y="566"/>
                    <a:pt x="1071" y="485"/>
                    <a:pt x="1092" y="503"/>
                  </a:cubicBezTo>
                  <a:cubicBezTo>
                    <a:pt x="1113" y="521"/>
                    <a:pt x="1139" y="703"/>
                    <a:pt x="1161" y="680"/>
                  </a:cubicBezTo>
                  <a:cubicBezTo>
                    <a:pt x="1183" y="657"/>
                    <a:pt x="1201" y="341"/>
                    <a:pt x="1224" y="365"/>
                  </a:cubicBezTo>
                  <a:cubicBezTo>
                    <a:pt x="1247" y="389"/>
                    <a:pt x="1280" y="855"/>
                    <a:pt x="1302" y="827"/>
                  </a:cubicBezTo>
                  <a:cubicBezTo>
                    <a:pt x="1324" y="799"/>
                    <a:pt x="1332" y="175"/>
                    <a:pt x="1353" y="200"/>
                  </a:cubicBezTo>
                  <a:cubicBezTo>
                    <a:pt x="1374" y="225"/>
                    <a:pt x="1402" y="999"/>
                    <a:pt x="1425" y="977"/>
                  </a:cubicBezTo>
                  <a:cubicBezTo>
                    <a:pt x="1448" y="955"/>
                    <a:pt x="1469" y="50"/>
                    <a:pt x="1491" y="68"/>
                  </a:cubicBezTo>
                  <a:cubicBezTo>
                    <a:pt x="1513" y="86"/>
                    <a:pt x="1537" y="1096"/>
                    <a:pt x="1560" y="1085"/>
                  </a:cubicBezTo>
                  <a:cubicBezTo>
                    <a:pt x="1583" y="1074"/>
                    <a:pt x="1607" y="0"/>
                    <a:pt x="1629" y="2"/>
                  </a:cubicBezTo>
                  <a:cubicBezTo>
                    <a:pt x="1651" y="4"/>
                    <a:pt x="1673" y="1088"/>
                    <a:pt x="1695" y="1097"/>
                  </a:cubicBezTo>
                  <a:cubicBezTo>
                    <a:pt x="1717" y="1106"/>
                    <a:pt x="1741" y="74"/>
                    <a:pt x="1764" y="59"/>
                  </a:cubicBezTo>
                  <a:cubicBezTo>
                    <a:pt x="1787" y="44"/>
                    <a:pt x="1810" y="981"/>
                    <a:pt x="1833" y="1004"/>
                  </a:cubicBezTo>
                  <a:cubicBezTo>
                    <a:pt x="1856" y="1027"/>
                    <a:pt x="1880" y="223"/>
                    <a:pt x="1902" y="200"/>
                  </a:cubicBezTo>
                  <a:cubicBezTo>
                    <a:pt x="1924" y="177"/>
                    <a:pt x="1946" y="837"/>
                    <a:pt x="1968" y="863"/>
                  </a:cubicBezTo>
                  <a:cubicBezTo>
                    <a:pt x="1990" y="889"/>
                    <a:pt x="2012" y="387"/>
                    <a:pt x="2034" y="359"/>
                  </a:cubicBezTo>
                  <a:cubicBezTo>
                    <a:pt x="2056" y="331"/>
                    <a:pt x="2079" y="671"/>
                    <a:pt x="2100" y="695"/>
                  </a:cubicBezTo>
                  <a:cubicBezTo>
                    <a:pt x="2121" y="719"/>
                    <a:pt x="2142" y="525"/>
                    <a:pt x="2163" y="505"/>
                  </a:cubicBezTo>
                  <a:cubicBezTo>
                    <a:pt x="2184" y="485"/>
                    <a:pt x="2201" y="569"/>
                    <a:pt x="2226" y="578"/>
                  </a:cubicBezTo>
                  <a:cubicBezTo>
                    <a:pt x="2251" y="587"/>
                    <a:pt x="2284" y="557"/>
                    <a:pt x="2313" y="557"/>
                  </a:cubicBezTo>
                  <a:cubicBezTo>
                    <a:pt x="2342" y="557"/>
                    <a:pt x="2375" y="586"/>
                    <a:pt x="2399" y="577"/>
                  </a:cubicBezTo>
                  <a:cubicBezTo>
                    <a:pt x="2423" y="568"/>
                    <a:pt x="2436" y="487"/>
                    <a:pt x="2456" y="503"/>
                  </a:cubicBezTo>
                  <a:cubicBezTo>
                    <a:pt x="2476" y="519"/>
                    <a:pt x="2498" y="695"/>
                    <a:pt x="2517" y="674"/>
                  </a:cubicBezTo>
                  <a:cubicBezTo>
                    <a:pt x="2536" y="653"/>
                    <a:pt x="2556" y="407"/>
                    <a:pt x="2571" y="374"/>
                  </a:cubicBezTo>
                  <a:cubicBezTo>
                    <a:pt x="2586" y="341"/>
                    <a:pt x="2602" y="457"/>
                    <a:pt x="2610" y="479"/>
                  </a:cubicBezTo>
                </a:path>
              </a:pathLst>
            </a:custGeom>
            <a:noFill/>
            <a:ln w="28575" cap="flat" cmpd="sng">
              <a:solidFill>
                <a:srgbClr val="FF3300"/>
              </a:solidFill>
              <a:prstDash val="solid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5" name="Freeform 52">
              <a:extLst>
                <a:ext uri="{FF2B5EF4-FFF2-40B4-BE49-F238E27FC236}">
                  <a16:creationId xmlns:a16="http://schemas.microsoft.com/office/drawing/2014/main" id="{AF8891C4-0420-B729-8AEE-1F811B66C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9" y="2727"/>
              <a:ext cx="2627" cy="647"/>
            </a:xfrm>
            <a:custGeom>
              <a:avLst/>
              <a:gdLst/>
              <a:ahLst/>
              <a:cxnLst>
                <a:cxn ang="0">
                  <a:pos x="0" y="236"/>
                </a:cxn>
                <a:cxn ang="0">
                  <a:pos x="361" y="61"/>
                </a:cxn>
                <a:cxn ang="0">
                  <a:pos x="962" y="601"/>
                </a:cxn>
                <a:cxn ang="0">
                  <a:pos x="1649" y="49"/>
                </a:cxn>
                <a:cxn ang="0">
                  <a:pos x="2261" y="591"/>
                </a:cxn>
                <a:cxn ang="0">
                  <a:pos x="2627" y="383"/>
                </a:cxn>
              </a:cxnLst>
              <a:rect l="0" t="0" r="r" b="b"/>
              <a:pathLst>
                <a:path w="2627" h="647">
                  <a:moveTo>
                    <a:pt x="0" y="236"/>
                  </a:moveTo>
                  <a:cubicBezTo>
                    <a:pt x="60" y="207"/>
                    <a:pt x="201" y="0"/>
                    <a:pt x="361" y="61"/>
                  </a:cubicBezTo>
                  <a:cubicBezTo>
                    <a:pt x="521" y="122"/>
                    <a:pt x="747" y="603"/>
                    <a:pt x="962" y="601"/>
                  </a:cubicBezTo>
                  <a:cubicBezTo>
                    <a:pt x="1177" y="599"/>
                    <a:pt x="1433" y="51"/>
                    <a:pt x="1649" y="49"/>
                  </a:cubicBezTo>
                  <a:cubicBezTo>
                    <a:pt x="1865" y="47"/>
                    <a:pt x="2098" y="535"/>
                    <a:pt x="2261" y="591"/>
                  </a:cubicBezTo>
                  <a:cubicBezTo>
                    <a:pt x="2424" y="647"/>
                    <a:pt x="2551" y="426"/>
                    <a:pt x="2627" y="383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dash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6" name="Freeform 53">
              <a:extLst>
                <a:ext uri="{FF2B5EF4-FFF2-40B4-BE49-F238E27FC236}">
                  <a16:creationId xmlns:a16="http://schemas.microsoft.com/office/drawing/2014/main" id="{825BD367-23B6-3E14-47DB-A9B2F3899D40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696" y="3290"/>
              <a:ext cx="2627" cy="647"/>
            </a:xfrm>
            <a:custGeom>
              <a:avLst/>
              <a:gdLst/>
              <a:ahLst/>
              <a:cxnLst>
                <a:cxn ang="0">
                  <a:pos x="0" y="236"/>
                </a:cxn>
                <a:cxn ang="0">
                  <a:pos x="361" y="61"/>
                </a:cxn>
                <a:cxn ang="0">
                  <a:pos x="962" y="601"/>
                </a:cxn>
                <a:cxn ang="0">
                  <a:pos x="1649" y="49"/>
                </a:cxn>
                <a:cxn ang="0">
                  <a:pos x="2261" y="591"/>
                </a:cxn>
                <a:cxn ang="0">
                  <a:pos x="2627" y="383"/>
                </a:cxn>
              </a:cxnLst>
              <a:rect l="0" t="0" r="r" b="b"/>
              <a:pathLst>
                <a:path w="2627" h="647">
                  <a:moveTo>
                    <a:pt x="0" y="236"/>
                  </a:moveTo>
                  <a:cubicBezTo>
                    <a:pt x="60" y="207"/>
                    <a:pt x="201" y="0"/>
                    <a:pt x="361" y="61"/>
                  </a:cubicBezTo>
                  <a:cubicBezTo>
                    <a:pt x="521" y="122"/>
                    <a:pt x="747" y="603"/>
                    <a:pt x="962" y="601"/>
                  </a:cubicBezTo>
                  <a:cubicBezTo>
                    <a:pt x="1177" y="599"/>
                    <a:pt x="1433" y="51"/>
                    <a:pt x="1649" y="49"/>
                  </a:cubicBezTo>
                  <a:cubicBezTo>
                    <a:pt x="1865" y="47"/>
                    <a:pt x="2098" y="535"/>
                    <a:pt x="2261" y="591"/>
                  </a:cubicBezTo>
                  <a:cubicBezTo>
                    <a:pt x="2424" y="647"/>
                    <a:pt x="2551" y="426"/>
                    <a:pt x="2627" y="383"/>
                  </a:cubicBezTo>
                </a:path>
              </a:pathLst>
            </a:custGeom>
            <a:noFill/>
            <a:ln w="9525" cap="flat" cmpd="sng">
              <a:solidFill>
                <a:srgbClr val="0000CC"/>
              </a:solidFill>
              <a:prstDash val="dash"/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76710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CE9C45-C378-DBAD-4640-04E3CA12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Geração de Sinais AM</a:t>
            </a:r>
          </a:p>
        </p:txBody>
      </p:sp>
      <p:grpSp>
        <p:nvGrpSpPr>
          <p:cNvPr id="3" name="Group 22">
            <a:extLst>
              <a:ext uri="{FF2B5EF4-FFF2-40B4-BE49-F238E27FC236}">
                <a16:creationId xmlns:a16="http://schemas.microsoft.com/office/drawing/2014/main" id="{171BAD65-072E-E1F8-33C7-55FC4324B553}"/>
              </a:ext>
            </a:extLst>
          </p:cNvPr>
          <p:cNvGrpSpPr>
            <a:grpSpLocks/>
          </p:cNvGrpSpPr>
          <p:nvPr/>
        </p:nvGrpSpPr>
        <p:grpSpPr bwMode="auto">
          <a:xfrm>
            <a:off x="1547000" y="2220914"/>
            <a:ext cx="4522788" cy="1577975"/>
            <a:chOff x="0" y="1399"/>
            <a:chExt cx="2849" cy="994"/>
          </a:xfrm>
        </p:grpSpPr>
        <p:pic>
          <p:nvPicPr>
            <p:cNvPr id="4" name="Picture 15" descr="fig4-4b">
              <a:extLst>
                <a:ext uri="{FF2B5EF4-FFF2-40B4-BE49-F238E27FC236}">
                  <a16:creationId xmlns:a16="http://schemas.microsoft.com/office/drawing/2014/main" id="{3269F9E8-0C97-C277-954A-88348E89DB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 r="12518" b="23355"/>
            <a:stretch>
              <a:fillRect/>
            </a:stretch>
          </p:blipFill>
          <p:spPr bwMode="auto">
            <a:xfrm>
              <a:off x="0" y="1399"/>
              <a:ext cx="2849" cy="994"/>
            </a:xfrm>
            <a:prstGeom prst="rect">
              <a:avLst/>
            </a:prstGeom>
            <a:noFill/>
          </p:spPr>
        </p:pic>
        <p:graphicFrame>
          <p:nvGraphicFramePr>
            <p:cNvPr id="5" name="Object 16">
              <a:extLst>
                <a:ext uri="{FF2B5EF4-FFF2-40B4-BE49-F238E27FC236}">
                  <a16:creationId xmlns:a16="http://schemas.microsoft.com/office/drawing/2014/main" id="{B8F36B79-45AF-4055-65BE-D67131AD22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13" y="1405"/>
            <a:ext cx="216" cy="3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90440" imgH="279360" progId="Equation.3">
                    <p:embed/>
                  </p:oleObj>
                </mc:Choice>
                <mc:Fallback>
                  <p:oleObj name="Equation" r:id="rId3" imgW="190440" imgH="279360" progId="Equation.3">
                    <p:embed/>
                    <p:pic>
                      <p:nvPicPr>
                        <p:cNvPr id="71067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3" y="1405"/>
                          <a:ext cx="216" cy="3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21">
              <a:extLst>
                <a:ext uri="{FF2B5EF4-FFF2-40B4-BE49-F238E27FC236}">
                  <a16:creationId xmlns:a16="http://schemas.microsoft.com/office/drawing/2014/main" id="{2120059B-0C2B-5A6A-90A5-3EF4E5F5F05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0" y="1493"/>
              <a:ext cx="172" cy="199"/>
              <a:chOff x="1632" y="1554"/>
              <a:chExt cx="172" cy="138"/>
            </a:xfrm>
          </p:grpSpPr>
          <p:sp>
            <p:nvSpPr>
              <p:cNvPr id="9" name="Line 17">
                <a:extLst>
                  <a:ext uri="{FF2B5EF4-FFF2-40B4-BE49-F238E27FC236}">
                    <a16:creationId xmlns:a16="http://schemas.microsoft.com/office/drawing/2014/main" id="{A102E247-A0DB-6CDB-14A9-CEFB050815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32" y="1554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10" name="Line 18">
                <a:extLst>
                  <a:ext uri="{FF2B5EF4-FFF2-40B4-BE49-F238E27FC236}">
                    <a16:creationId xmlns:a16="http://schemas.microsoft.com/office/drawing/2014/main" id="{0A6E391C-CBFA-A58A-D341-F7D8F54C8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04" y="1554"/>
                <a:ext cx="0" cy="1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7" name="Line 19">
              <a:extLst>
                <a:ext uri="{FF2B5EF4-FFF2-40B4-BE49-F238E27FC236}">
                  <a16:creationId xmlns:a16="http://schemas.microsoft.com/office/drawing/2014/main" id="{D7DD419E-D986-0484-16CF-2FADE592B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4" y="1550"/>
              <a:ext cx="1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20">
              <a:extLst>
                <a:ext uri="{FF2B5EF4-FFF2-40B4-BE49-F238E27FC236}">
                  <a16:creationId xmlns:a16="http://schemas.microsoft.com/office/drawing/2014/main" id="{14C092A6-E8EC-4458-A40F-B69E04504E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79" y="1550"/>
              <a:ext cx="1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pic>
        <p:nvPicPr>
          <p:cNvPr id="11" name="Picture 4" descr="fig166">
            <a:extLst>
              <a:ext uri="{FF2B5EF4-FFF2-40B4-BE49-F238E27FC236}">
                <a16:creationId xmlns:a16="http://schemas.microsoft.com/office/drawing/2014/main" id="{EEF0B56D-1A40-5888-BFEE-A552F8A34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676900" y="1150939"/>
            <a:ext cx="5048250" cy="261937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8DA47926-808F-9C76-7399-93F3EB1CE352}"/>
                  </a:ext>
                </a:extLst>
              </p:cNvPr>
              <p:cNvSpPr txBox="1"/>
              <p:nvPr/>
            </p:nvSpPr>
            <p:spPr bwMode="auto">
              <a:xfrm>
                <a:off x="1876424" y="4130675"/>
                <a:ext cx="9213333" cy="68580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  +  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)  −  </m:t>
                          </m:r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)  +  </m:t>
                          </m:r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func>
                            <m:funcPr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)  −  …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12" name="Object 11">
                <a:extLst>
                  <a:ext uri="{FF2B5EF4-FFF2-40B4-BE49-F238E27FC236}">
                    <a16:creationId xmlns:a16="http://schemas.microsoft.com/office/drawing/2014/main" id="{8DA47926-808F-9C76-7399-93F3EB1CE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6424" y="4130675"/>
                <a:ext cx="9213333" cy="685800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DC90B15D-DD8D-F1DD-49A6-5F6F03986AA9}"/>
                  </a:ext>
                </a:extLst>
              </p:cNvPr>
              <p:cNvSpPr txBox="1"/>
              <p:nvPr/>
            </p:nvSpPr>
            <p:spPr bwMode="auto">
              <a:xfrm>
                <a:off x="1876425" y="5026025"/>
                <a:ext cx="9213332" cy="1027113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limLow>
                        <m:limLow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unc>
                                <m:funcPr>
                                  <m:ctrl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)  +  </m:t>
                              </m:r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func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AM</m:t>
                          </m:r>
                        </m:lim>
                      </m:limLow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  +  </m:t>
                      </m:r>
                      <m:limLow>
                        <m:limLow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nor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outros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termos</m:t>
                              </m:r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eliminados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pelo</m:t>
                              </m:r>
                            </m: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m:rPr>
                                  <m:nor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filtro</m:t>
                              </m:r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 </m:t>
                              </m:r>
                              <m:r>
                                <m:rPr>
                                  <m:nor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passa−faixa</m:t>
                              </m:r>
                            </m:e>
                          </m:eqArr>
                        </m:lim>
                      </m:limLow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13" name="Object 12">
                <a:extLst>
                  <a:ext uri="{FF2B5EF4-FFF2-40B4-BE49-F238E27FC236}">
                    <a16:creationId xmlns:a16="http://schemas.microsoft.com/office/drawing/2014/main" id="{DC90B15D-DD8D-F1DD-49A6-5F6F0398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6425" y="5026025"/>
                <a:ext cx="9213332" cy="1027113"/>
              </a:xfrm>
              <a:prstGeom prst="rect">
                <a:avLst/>
              </a:prstGeom>
              <a:blipFill>
                <a:blip r:embed="rId7"/>
                <a:stretch>
                  <a:fillRect b="-82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2A3B2470-FC0B-E684-98DC-E8AAAF02E48A}"/>
                  </a:ext>
                </a:extLst>
              </p:cNvPr>
              <p:cNvSpPr txBox="1"/>
              <p:nvPr/>
            </p:nvSpPr>
            <p:spPr bwMode="auto">
              <a:xfrm>
                <a:off x="1227267" y="1416846"/>
                <a:ext cx="4769367" cy="623887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)  ≅  </m:t>
                      </m:r>
                      <m:d>
                        <m:dPr>
                          <m:begChr m:val="["/>
                          <m:endChr m:val="]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func>
                            <m:funcPr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2A3B2470-FC0B-E684-98DC-E8AAAF02E4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7267" y="1416846"/>
                <a:ext cx="4769367" cy="623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7428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CCBB9-52FE-C2BB-7E81-8878EF05D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</a:t>
            </a:r>
            <a:br>
              <a:rPr lang="pt-BR" dirty="0"/>
            </a:br>
            <a:r>
              <a:rPr lang="pt-BR" dirty="0"/>
              <a:t>Detector de Envoltória</a:t>
            </a:r>
          </a:p>
        </p:txBody>
      </p:sp>
      <p:pic>
        <p:nvPicPr>
          <p:cNvPr id="3" name="Picture 2" descr="fig168a">
            <a:extLst>
              <a:ext uri="{FF2B5EF4-FFF2-40B4-BE49-F238E27FC236}">
                <a16:creationId xmlns:a16="http://schemas.microsoft.com/office/drawing/2014/main" id="{16E817AB-88A8-A0B0-6913-0D24E82A0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85686" y="1234766"/>
            <a:ext cx="5562600" cy="1751012"/>
          </a:xfrm>
          <a:prstGeom prst="rect">
            <a:avLst/>
          </a:prstGeom>
          <a:noFill/>
        </p:spPr>
      </p:pic>
      <p:sp>
        <p:nvSpPr>
          <p:cNvPr id="4" name="Rectangle 8">
            <a:extLst>
              <a:ext uri="{FF2B5EF4-FFF2-40B4-BE49-F238E27FC236}">
                <a16:creationId xmlns:a16="http://schemas.microsoft.com/office/drawing/2014/main" id="{22C6CF28-E15B-1E27-8F78-4F6FA508B6D2}"/>
              </a:ext>
            </a:extLst>
          </p:cNvPr>
          <p:cNvSpPr>
            <a:spLocks noChangeArrowheads="1"/>
          </p:cNvSpPr>
          <p:nvPr/>
        </p:nvSpPr>
        <p:spPr bwMode="gray">
          <a:xfrm>
            <a:off x="5914361" y="6585630"/>
            <a:ext cx="476250" cy="280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" name="Freeform 9">
            <a:extLst>
              <a:ext uri="{FF2B5EF4-FFF2-40B4-BE49-F238E27FC236}">
                <a16:creationId xmlns:a16="http://schemas.microsoft.com/office/drawing/2014/main" id="{32A22FC6-03FC-B20E-B74E-376FE66CF995}"/>
              </a:ext>
            </a:extLst>
          </p:cNvPr>
          <p:cNvSpPr>
            <a:spLocks/>
          </p:cNvSpPr>
          <p:nvPr/>
        </p:nvSpPr>
        <p:spPr bwMode="auto">
          <a:xfrm>
            <a:off x="3015587" y="3724956"/>
            <a:ext cx="6365875" cy="3260725"/>
          </a:xfrm>
          <a:custGeom>
            <a:avLst/>
            <a:gdLst/>
            <a:ahLst/>
            <a:cxnLst>
              <a:cxn ang="0">
                <a:pos x="0" y="986"/>
              </a:cxn>
              <a:cxn ang="0">
                <a:pos x="56" y="1898"/>
              </a:cxn>
              <a:cxn ang="0">
                <a:pos x="124" y="50"/>
              </a:cxn>
              <a:cxn ang="0">
                <a:pos x="220" y="1940"/>
              </a:cxn>
              <a:cxn ang="0">
                <a:pos x="294" y="22"/>
              </a:cxn>
              <a:cxn ang="0">
                <a:pos x="388" y="1954"/>
              </a:cxn>
              <a:cxn ang="0">
                <a:pos x="460" y="28"/>
              </a:cxn>
              <a:cxn ang="0">
                <a:pos x="554" y="1930"/>
              </a:cxn>
              <a:cxn ang="0">
                <a:pos x="626" y="66"/>
              </a:cxn>
              <a:cxn ang="0">
                <a:pos x="722" y="1876"/>
              </a:cxn>
              <a:cxn ang="0">
                <a:pos x="792" y="136"/>
              </a:cxn>
              <a:cxn ang="0">
                <a:pos x="884" y="1802"/>
              </a:cxn>
              <a:cxn ang="0">
                <a:pos x="962" y="218"/>
              </a:cxn>
              <a:cxn ang="0">
                <a:pos x="1056" y="1706"/>
              </a:cxn>
              <a:cxn ang="0">
                <a:pos x="1128" y="308"/>
              </a:cxn>
              <a:cxn ang="0">
                <a:pos x="1218" y="1610"/>
              </a:cxn>
              <a:cxn ang="0">
                <a:pos x="1296" y="410"/>
              </a:cxn>
              <a:cxn ang="0">
                <a:pos x="1388" y="1514"/>
              </a:cxn>
              <a:cxn ang="0">
                <a:pos x="1464" y="492"/>
              </a:cxn>
              <a:cxn ang="0">
                <a:pos x="1552" y="1428"/>
              </a:cxn>
              <a:cxn ang="0">
                <a:pos x="1630" y="570"/>
              </a:cxn>
              <a:cxn ang="0">
                <a:pos x="1720" y="1360"/>
              </a:cxn>
              <a:cxn ang="0">
                <a:pos x="1800" y="622"/>
              </a:cxn>
              <a:cxn ang="0">
                <a:pos x="1886" y="1318"/>
              </a:cxn>
              <a:cxn ang="0">
                <a:pos x="1964" y="654"/>
              </a:cxn>
              <a:cxn ang="0">
                <a:pos x="2052" y="1306"/>
              </a:cxn>
              <a:cxn ang="0">
                <a:pos x="2132" y="646"/>
              </a:cxn>
              <a:cxn ang="0">
                <a:pos x="2224" y="1326"/>
              </a:cxn>
              <a:cxn ang="0">
                <a:pos x="2298" y="606"/>
              </a:cxn>
              <a:cxn ang="0">
                <a:pos x="2388" y="1378"/>
              </a:cxn>
              <a:cxn ang="0">
                <a:pos x="2464" y="542"/>
              </a:cxn>
              <a:cxn ang="0">
                <a:pos x="2558" y="1448"/>
              </a:cxn>
              <a:cxn ang="0">
                <a:pos x="2636" y="466"/>
              </a:cxn>
              <a:cxn ang="0">
                <a:pos x="2728" y="1540"/>
              </a:cxn>
              <a:cxn ang="0">
                <a:pos x="2800" y="370"/>
              </a:cxn>
              <a:cxn ang="0">
                <a:pos x="2892" y="1620"/>
              </a:cxn>
              <a:cxn ang="0">
                <a:pos x="2968" y="274"/>
              </a:cxn>
              <a:cxn ang="0">
                <a:pos x="3060" y="1722"/>
              </a:cxn>
              <a:cxn ang="0">
                <a:pos x="3132" y="168"/>
              </a:cxn>
              <a:cxn ang="0">
                <a:pos x="3228" y="1826"/>
              </a:cxn>
              <a:cxn ang="0">
                <a:pos x="3302" y="88"/>
              </a:cxn>
              <a:cxn ang="0">
                <a:pos x="3400" y="1884"/>
              </a:cxn>
              <a:cxn ang="0">
                <a:pos x="3468" y="38"/>
              </a:cxn>
              <a:cxn ang="0">
                <a:pos x="3564" y="1928"/>
              </a:cxn>
              <a:cxn ang="0">
                <a:pos x="3634" y="6"/>
              </a:cxn>
              <a:cxn ang="0">
                <a:pos x="3728" y="1934"/>
              </a:cxn>
              <a:cxn ang="0">
                <a:pos x="3794" y="4"/>
              </a:cxn>
              <a:cxn ang="0">
                <a:pos x="3884" y="1912"/>
              </a:cxn>
              <a:cxn ang="0">
                <a:pos x="3948" y="40"/>
              </a:cxn>
              <a:cxn ang="0">
                <a:pos x="4010" y="1868"/>
              </a:cxn>
            </a:cxnLst>
            <a:rect l="0" t="0" r="r" b="b"/>
            <a:pathLst>
              <a:path w="4010" h="2054">
                <a:moveTo>
                  <a:pt x="0" y="986"/>
                </a:moveTo>
                <a:cubicBezTo>
                  <a:pt x="9" y="1138"/>
                  <a:pt x="35" y="2054"/>
                  <a:pt x="56" y="1898"/>
                </a:cubicBezTo>
                <a:cubicBezTo>
                  <a:pt x="77" y="1742"/>
                  <a:pt x="97" y="43"/>
                  <a:pt x="124" y="50"/>
                </a:cubicBezTo>
                <a:cubicBezTo>
                  <a:pt x="151" y="57"/>
                  <a:pt x="192" y="1945"/>
                  <a:pt x="220" y="1940"/>
                </a:cubicBezTo>
                <a:cubicBezTo>
                  <a:pt x="248" y="1935"/>
                  <a:pt x="266" y="20"/>
                  <a:pt x="294" y="22"/>
                </a:cubicBezTo>
                <a:cubicBezTo>
                  <a:pt x="322" y="24"/>
                  <a:pt x="360" y="1953"/>
                  <a:pt x="388" y="1954"/>
                </a:cubicBezTo>
                <a:cubicBezTo>
                  <a:pt x="416" y="1955"/>
                  <a:pt x="432" y="32"/>
                  <a:pt x="460" y="28"/>
                </a:cubicBezTo>
                <a:cubicBezTo>
                  <a:pt x="488" y="24"/>
                  <a:pt x="526" y="1924"/>
                  <a:pt x="554" y="1930"/>
                </a:cubicBezTo>
                <a:cubicBezTo>
                  <a:pt x="582" y="1936"/>
                  <a:pt x="598" y="75"/>
                  <a:pt x="626" y="66"/>
                </a:cubicBezTo>
                <a:cubicBezTo>
                  <a:pt x="654" y="57"/>
                  <a:pt x="694" y="1864"/>
                  <a:pt x="722" y="1876"/>
                </a:cubicBezTo>
                <a:cubicBezTo>
                  <a:pt x="750" y="1888"/>
                  <a:pt x="765" y="148"/>
                  <a:pt x="792" y="136"/>
                </a:cubicBezTo>
                <a:cubicBezTo>
                  <a:pt x="819" y="124"/>
                  <a:pt x="856" y="1788"/>
                  <a:pt x="884" y="1802"/>
                </a:cubicBezTo>
                <a:cubicBezTo>
                  <a:pt x="912" y="1816"/>
                  <a:pt x="933" y="234"/>
                  <a:pt x="962" y="218"/>
                </a:cubicBezTo>
                <a:cubicBezTo>
                  <a:pt x="991" y="202"/>
                  <a:pt x="1028" y="1691"/>
                  <a:pt x="1056" y="1706"/>
                </a:cubicBezTo>
                <a:cubicBezTo>
                  <a:pt x="1084" y="1721"/>
                  <a:pt x="1101" y="324"/>
                  <a:pt x="1128" y="308"/>
                </a:cubicBezTo>
                <a:cubicBezTo>
                  <a:pt x="1155" y="292"/>
                  <a:pt x="1190" y="1593"/>
                  <a:pt x="1218" y="1610"/>
                </a:cubicBezTo>
                <a:cubicBezTo>
                  <a:pt x="1246" y="1627"/>
                  <a:pt x="1268" y="426"/>
                  <a:pt x="1296" y="410"/>
                </a:cubicBezTo>
                <a:cubicBezTo>
                  <a:pt x="1324" y="394"/>
                  <a:pt x="1360" y="1500"/>
                  <a:pt x="1388" y="1514"/>
                </a:cubicBezTo>
                <a:cubicBezTo>
                  <a:pt x="1416" y="1528"/>
                  <a:pt x="1437" y="506"/>
                  <a:pt x="1464" y="492"/>
                </a:cubicBezTo>
                <a:cubicBezTo>
                  <a:pt x="1491" y="478"/>
                  <a:pt x="1524" y="1415"/>
                  <a:pt x="1552" y="1428"/>
                </a:cubicBezTo>
                <a:cubicBezTo>
                  <a:pt x="1580" y="1441"/>
                  <a:pt x="1602" y="581"/>
                  <a:pt x="1630" y="570"/>
                </a:cubicBezTo>
                <a:cubicBezTo>
                  <a:pt x="1658" y="559"/>
                  <a:pt x="1692" y="1351"/>
                  <a:pt x="1720" y="1360"/>
                </a:cubicBezTo>
                <a:cubicBezTo>
                  <a:pt x="1748" y="1369"/>
                  <a:pt x="1772" y="629"/>
                  <a:pt x="1800" y="622"/>
                </a:cubicBezTo>
                <a:cubicBezTo>
                  <a:pt x="1828" y="615"/>
                  <a:pt x="1859" y="1313"/>
                  <a:pt x="1886" y="1318"/>
                </a:cubicBezTo>
                <a:cubicBezTo>
                  <a:pt x="1913" y="1323"/>
                  <a:pt x="1936" y="656"/>
                  <a:pt x="1964" y="654"/>
                </a:cubicBezTo>
                <a:cubicBezTo>
                  <a:pt x="1992" y="652"/>
                  <a:pt x="2024" y="1307"/>
                  <a:pt x="2052" y="1306"/>
                </a:cubicBezTo>
                <a:cubicBezTo>
                  <a:pt x="2080" y="1305"/>
                  <a:pt x="2103" y="643"/>
                  <a:pt x="2132" y="646"/>
                </a:cubicBezTo>
                <a:cubicBezTo>
                  <a:pt x="2161" y="649"/>
                  <a:pt x="2196" y="1333"/>
                  <a:pt x="2224" y="1326"/>
                </a:cubicBezTo>
                <a:cubicBezTo>
                  <a:pt x="2252" y="1319"/>
                  <a:pt x="2271" y="597"/>
                  <a:pt x="2298" y="606"/>
                </a:cubicBezTo>
                <a:cubicBezTo>
                  <a:pt x="2325" y="615"/>
                  <a:pt x="2360" y="1389"/>
                  <a:pt x="2388" y="1378"/>
                </a:cubicBezTo>
                <a:cubicBezTo>
                  <a:pt x="2416" y="1367"/>
                  <a:pt x="2436" y="530"/>
                  <a:pt x="2464" y="542"/>
                </a:cubicBezTo>
                <a:cubicBezTo>
                  <a:pt x="2492" y="554"/>
                  <a:pt x="2529" y="1461"/>
                  <a:pt x="2558" y="1448"/>
                </a:cubicBezTo>
                <a:cubicBezTo>
                  <a:pt x="2587" y="1435"/>
                  <a:pt x="2608" y="451"/>
                  <a:pt x="2636" y="466"/>
                </a:cubicBezTo>
                <a:cubicBezTo>
                  <a:pt x="2664" y="481"/>
                  <a:pt x="2701" y="1556"/>
                  <a:pt x="2728" y="1540"/>
                </a:cubicBezTo>
                <a:cubicBezTo>
                  <a:pt x="2755" y="1524"/>
                  <a:pt x="2773" y="357"/>
                  <a:pt x="2800" y="370"/>
                </a:cubicBezTo>
                <a:cubicBezTo>
                  <a:pt x="2827" y="383"/>
                  <a:pt x="2864" y="1636"/>
                  <a:pt x="2892" y="1620"/>
                </a:cubicBezTo>
                <a:cubicBezTo>
                  <a:pt x="2920" y="1604"/>
                  <a:pt x="2940" y="257"/>
                  <a:pt x="2968" y="274"/>
                </a:cubicBezTo>
                <a:cubicBezTo>
                  <a:pt x="2996" y="291"/>
                  <a:pt x="3033" y="1740"/>
                  <a:pt x="3060" y="1722"/>
                </a:cubicBezTo>
                <a:cubicBezTo>
                  <a:pt x="3087" y="1704"/>
                  <a:pt x="3104" y="151"/>
                  <a:pt x="3132" y="168"/>
                </a:cubicBezTo>
                <a:cubicBezTo>
                  <a:pt x="3160" y="185"/>
                  <a:pt x="3200" y="1839"/>
                  <a:pt x="3228" y="1826"/>
                </a:cubicBezTo>
                <a:cubicBezTo>
                  <a:pt x="3256" y="1813"/>
                  <a:pt x="3273" y="78"/>
                  <a:pt x="3302" y="88"/>
                </a:cubicBezTo>
                <a:cubicBezTo>
                  <a:pt x="3331" y="98"/>
                  <a:pt x="3372" y="1892"/>
                  <a:pt x="3400" y="1884"/>
                </a:cubicBezTo>
                <a:cubicBezTo>
                  <a:pt x="3428" y="1876"/>
                  <a:pt x="3441" y="31"/>
                  <a:pt x="3468" y="38"/>
                </a:cubicBezTo>
                <a:cubicBezTo>
                  <a:pt x="3495" y="45"/>
                  <a:pt x="3536" y="1933"/>
                  <a:pt x="3564" y="1928"/>
                </a:cubicBezTo>
                <a:cubicBezTo>
                  <a:pt x="3592" y="1923"/>
                  <a:pt x="3607" y="5"/>
                  <a:pt x="3634" y="6"/>
                </a:cubicBezTo>
                <a:cubicBezTo>
                  <a:pt x="3661" y="7"/>
                  <a:pt x="3701" y="1934"/>
                  <a:pt x="3728" y="1934"/>
                </a:cubicBezTo>
                <a:cubicBezTo>
                  <a:pt x="3755" y="1934"/>
                  <a:pt x="3768" y="8"/>
                  <a:pt x="3794" y="4"/>
                </a:cubicBezTo>
                <a:cubicBezTo>
                  <a:pt x="3820" y="0"/>
                  <a:pt x="3858" y="1906"/>
                  <a:pt x="3884" y="1912"/>
                </a:cubicBezTo>
                <a:cubicBezTo>
                  <a:pt x="3910" y="1918"/>
                  <a:pt x="3927" y="47"/>
                  <a:pt x="3948" y="40"/>
                </a:cubicBezTo>
                <a:cubicBezTo>
                  <a:pt x="3969" y="33"/>
                  <a:pt x="3997" y="1487"/>
                  <a:pt x="4010" y="1868"/>
                </a:cubicBez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3AF1887C-9610-6D4A-41E2-36201D61A634}"/>
              </a:ext>
            </a:extLst>
          </p:cNvPr>
          <p:cNvSpPr>
            <a:spLocks/>
          </p:cNvSpPr>
          <p:nvPr/>
        </p:nvSpPr>
        <p:spPr bwMode="auto">
          <a:xfrm>
            <a:off x="3156874" y="3731306"/>
            <a:ext cx="6215062" cy="1558925"/>
          </a:xfrm>
          <a:custGeom>
            <a:avLst/>
            <a:gdLst/>
            <a:ahLst/>
            <a:cxnLst>
              <a:cxn ang="0">
                <a:pos x="14" y="276"/>
              </a:cxn>
              <a:cxn ang="0">
                <a:pos x="33" y="46"/>
              </a:cxn>
              <a:cxn ang="0">
                <a:pos x="194" y="67"/>
              </a:cxn>
              <a:cxn ang="0">
                <a:pos x="357" y="126"/>
              </a:cxn>
              <a:cxn ang="0">
                <a:pos x="369" y="25"/>
              </a:cxn>
              <a:cxn ang="0">
                <a:pos x="528" y="58"/>
              </a:cxn>
              <a:cxn ang="0">
                <a:pos x="698" y="130"/>
              </a:cxn>
              <a:cxn ang="0">
                <a:pos x="870" y="214"/>
              </a:cxn>
              <a:cxn ang="0">
                <a:pos x="1043" y="307"/>
              </a:cxn>
              <a:cxn ang="0">
                <a:pos x="1205" y="402"/>
              </a:cxn>
              <a:cxn ang="0">
                <a:pos x="1374" y="492"/>
              </a:cxn>
              <a:cxn ang="0">
                <a:pos x="1541" y="568"/>
              </a:cxn>
              <a:cxn ang="0">
                <a:pos x="1712" y="622"/>
              </a:cxn>
              <a:cxn ang="0">
                <a:pos x="1877" y="651"/>
              </a:cxn>
              <a:cxn ang="0">
                <a:pos x="2034" y="658"/>
              </a:cxn>
              <a:cxn ang="0">
                <a:pos x="2198" y="705"/>
              </a:cxn>
              <a:cxn ang="0">
                <a:pos x="2207" y="603"/>
              </a:cxn>
              <a:cxn ang="0">
                <a:pos x="2363" y="577"/>
              </a:cxn>
              <a:cxn ang="0">
                <a:pos x="2528" y="592"/>
              </a:cxn>
              <a:cxn ang="0">
                <a:pos x="2544" y="466"/>
              </a:cxn>
              <a:cxn ang="0">
                <a:pos x="2702" y="396"/>
              </a:cxn>
              <a:cxn ang="0">
                <a:pos x="2862" y="444"/>
              </a:cxn>
              <a:cxn ang="0">
                <a:pos x="2874" y="270"/>
              </a:cxn>
              <a:cxn ang="0">
                <a:pos x="3035" y="205"/>
              </a:cxn>
              <a:cxn ang="0">
                <a:pos x="3198" y="273"/>
              </a:cxn>
              <a:cxn ang="0">
                <a:pos x="3215" y="87"/>
              </a:cxn>
              <a:cxn ang="0">
                <a:pos x="3363" y="76"/>
              </a:cxn>
              <a:cxn ang="0">
                <a:pos x="3531" y="139"/>
              </a:cxn>
              <a:cxn ang="0">
                <a:pos x="3545" y="3"/>
              </a:cxn>
              <a:cxn ang="0">
                <a:pos x="3695" y="37"/>
              </a:cxn>
              <a:cxn ang="0">
                <a:pos x="3846" y="108"/>
              </a:cxn>
              <a:cxn ang="0">
                <a:pos x="3915" y="88"/>
              </a:cxn>
            </a:cxnLst>
            <a:rect l="0" t="0" r="r" b="b"/>
            <a:pathLst>
              <a:path w="3915" h="982">
                <a:moveTo>
                  <a:pt x="0" y="982"/>
                </a:moveTo>
                <a:lnTo>
                  <a:pt x="14" y="276"/>
                </a:lnTo>
                <a:lnTo>
                  <a:pt x="27" y="123"/>
                </a:lnTo>
                <a:lnTo>
                  <a:pt x="33" y="46"/>
                </a:lnTo>
                <a:lnTo>
                  <a:pt x="189" y="148"/>
                </a:lnTo>
                <a:lnTo>
                  <a:pt x="194" y="67"/>
                </a:lnTo>
                <a:lnTo>
                  <a:pt x="201" y="22"/>
                </a:lnTo>
                <a:lnTo>
                  <a:pt x="357" y="126"/>
                </a:lnTo>
                <a:lnTo>
                  <a:pt x="362" y="61"/>
                </a:lnTo>
                <a:lnTo>
                  <a:pt x="369" y="25"/>
                </a:lnTo>
                <a:lnTo>
                  <a:pt x="524" y="130"/>
                </a:lnTo>
                <a:lnTo>
                  <a:pt x="528" y="58"/>
                </a:lnTo>
                <a:lnTo>
                  <a:pt x="695" y="175"/>
                </a:lnTo>
                <a:lnTo>
                  <a:pt x="698" y="130"/>
                </a:lnTo>
                <a:lnTo>
                  <a:pt x="861" y="243"/>
                </a:lnTo>
                <a:lnTo>
                  <a:pt x="870" y="214"/>
                </a:lnTo>
                <a:lnTo>
                  <a:pt x="1029" y="331"/>
                </a:lnTo>
                <a:lnTo>
                  <a:pt x="1043" y="307"/>
                </a:lnTo>
                <a:lnTo>
                  <a:pt x="1200" y="430"/>
                </a:lnTo>
                <a:lnTo>
                  <a:pt x="1205" y="402"/>
                </a:lnTo>
                <a:lnTo>
                  <a:pt x="1364" y="523"/>
                </a:lnTo>
                <a:lnTo>
                  <a:pt x="1374" y="492"/>
                </a:lnTo>
                <a:lnTo>
                  <a:pt x="1532" y="598"/>
                </a:lnTo>
                <a:lnTo>
                  <a:pt x="1541" y="568"/>
                </a:lnTo>
                <a:lnTo>
                  <a:pt x="1700" y="675"/>
                </a:lnTo>
                <a:lnTo>
                  <a:pt x="1712" y="622"/>
                </a:lnTo>
                <a:lnTo>
                  <a:pt x="1865" y="723"/>
                </a:lnTo>
                <a:lnTo>
                  <a:pt x="1877" y="651"/>
                </a:lnTo>
                <a:lnTo>
                  <a:pt x="2033" y="709"/>
                </a:lnTo>
                <a:lnTo>
                  <a:pt x="2034" y="658"/>
                </a:lnTo>
                <a:lnTo>
                  <a:pt x="2043" y="645"/>
                </a:lnTo>
                <a:lnTo>
                  <a:pt x="2198" y="705"/>
                </a:lnTo>
                <a:lnTo>
                  <a:pt x="2198" y="631"/>
                </a:lnTo>
                <a:lnTo>
                  <a:pt x="2207" y="603"/>
                </a:lnTo>
                <a:lnTo>
                  <a:pt x="2363" y="658"/>
                </a:lnTo>
                <a:lnTo>
                  <a:pt x="2363" y="577"/>
                </a:lnTo>
                <a:lnTo>
                  <a:pt x="2373" y="543"/>
                </a:lnTo>
                <a:lnTo>
                  <a:pt x="2528" y="592"/>
                </a:lnTo>
                <a:lnTo>
                  <a:pt x="2534" y="498"/>
                </a:lnTo>
                <a:lnTo>
                  <a:pt x="2544" y="466"/>
                </a:lnTo>
                <a:lnTo>
                  <a:pt x="2696" y="535"/>
                </a:lnTo>
                <a:lnTo>
                  <a:pt x="2702" y="396"/>
                </a:lnTo>
                <a:lnTo>
                  <a:pt x="2709" y="369"/>
                </a:lnTo>
                <a:lnTo>
                  <a:pt x="2862" y="444"/>
                </a:lnTo>
                <a:lnTo>
                  <a:pt x="2871" y="298"/>
                </a:lnTo>
                <a:lnTo>
                  <a:pt x="2874" y="270"/>
                </a:lnTo>
                <a:lnTo>
                  <a:pt x="3029" y="361"/>
                </a:lnTo>
                <a:lnTo>
                  <a:pt x="3035" y="205"/>
                </a:lnTo>
                <a:lnTo>
                  <a:pt x="3044" y="169"/>
                </a:lnTo>
                <a:lnTo>
                  <a:pt x="3198" y="273"/>
                </a:lnTo>
                <a:lnTo>
                  <a:pt x="3206" y="120"/>
                </a:lnTo>
                <a:lnTo>
                  <a:pt x="3215" y="87"/>
                </a:lnTo>
                <a:lnTo>
                  <a:pt x="3366" y="187"/>
                </a:lnTo>
                <a:lnTo>
                  <a:pt x="3363" y="76"/>
                </a:lnTo>
                <a:lnTo>
                  <a:pt x="3374" y="34"/>
                </a:lnTo>
                <a:lnTo>
                  <a:pt x="3531" y="139"/>
                </a:lnTo>
                <a:lnTo>
                  <a:pt x="3534" y="51"/>
                </a:lnTo>
                <a:lnTo>
                  <a:pt x="3545" y="3"/>
                </a:lnTo>
                <a:lnTo>
                  <a:pt x="3692" y="105"/>
                </a:lnTo>
                <a:lnTo>
                  <a:pt x="3695" y="37"/>
                </a:lnTo>
                <a:lnTo>
                  <a:pt x="3707" y="0"/>
                </a:lnTo>
                <a:lnTo>
                  <a:pt x="3846" y="108"/>
                </a:lnTo>
                <a:lnTo>
                  <a:pt x="3849" y="27"/>
                </a:lnTo>
                <a:lnTo>
                  <a:pt x="3915" y="88"/>
                </a:ln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Line 11">
            <a:extLst>
              <a:ext uri="{FF2B5EF4-FFF2-40B4-BE49-F238E27FC236}">
                <a16:creationId xmlns:a16="http://schemas.microsoft.com/office/drawing/2014/main" id="{965B83E6-FCBB-B309-4631-D7D7F88CD53C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312" y="3823380"/>
            <a:ext cx="3186113" cy="70008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Freeform 12">
            <a:extLst>
              <a:ext uri="{FF2B5EF4-FFF2-40B4-BE49-F238E27FC236}">
                <a16:creationId xmlns:a16="http://schemas.microsoft.com/office/drawing/2014/main" id="{90F37002-F884-A054-F1FA-E232BDEF95C3}"/>
              </a:ext>
            </a:extLst>
          </p:cNvPr>
          <p:cNvSpPr>
            <a:spLocks/>
          </p:cNvSpPr>
          <p:nvPr/>
        </p:nvSpPr>
        <p:spPr bwMode="auto">
          <a:xfrm>
            <a:off x="2999712" y="3624943"/>
            <a:ext cx="6448425" cy="1136650"/>
          </a:xfrm>
          <a:custGeom>
            <a:avLst/>
            <a:gdLst/>
            <a:ahLst/>
            <a:cxnLst>
              <a:cxn ang="0">
                <a:pos x="0" y="149"/>
              </a:cxn>
              <a:cxn ang="0">
                <a:pos x="594" y="113"/>
              </a:cxn>
              <a:cxn ang="0">
                <a:pos x="2046" y="713"/>
              </a:cxn>
              <a:cxn ang="0">
                <a:pos x="3470" y="97"/>
              </a:cxn>
              <a:cxn ang="0">
                <a:pos x="4062" y="131"/>
              </a:cxn>
            </a:cxnLst>
            <a:rect l="0" t="0" r="r" b="b"/>
            <a:pathLst>
              <a:path w="4062" h="716">
                <a:moveTo>
                  <a:pt x="0" y="149"/>
                </a:moveTo>
                <a:cubicBezTo>
                  <a:pt x="99" y="143"/>
                  <a:pt x="253" y="19"/>
                  <a:pt x="594" y="113"/>
                </a:cubicBezTo>
                <a:cubicBezTo>
                  <a:pt x="935" y="207"/>
                  <a:pt x="1567" y="716"/>
                  <a:pt x="2046" y="713"/>
                </a:cubicBezTo>
                <a:cubicBezTo>
                  <a:pt x="2525" y="710"/>
                  <a:pt x="3134" y="194"/>
                  <a:pt x="3470" y="97"/>
                </a:cubicBezTo>
                <a:cubicBezTo>
                  <a:pt x="3806" y="0"/>
                  <a:pt x="3939" y="124"/>
                  <a:pt x="4062" y="131"/>
                </a:cubicBezTo>
              </a:path>
            </a:pathLst>
          </a:custGeom>
          <a:noFill/>
          <a:ln w="28575" cap="flat" cmpd="sng">
            <a:solidFill>
              <a:srgbClr val="CC00CC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Freeform 16">
            <a:extLst>
              <a:ext uri="{FF2B5EF4-FFF2-40B4-BE49-F238E27FC236}">
                <a16:creationId xmlns:a16="http://schemas.microsoft.com/office/drawing/2014/main" id="{7C0B50C9-5178-DF92-15A1-35F65ACFE1C8}"/>
              </a:ext>
            </a:extLst>
          </p:cNvPr>
          <p:cNvSpPr>
            <a:spLocks/>
          </p:cNvSpPr>
          <p:nvPr/>
        </p:nvSpPr>
        <p:spPr bwMode="auto">
          <a:xfrm>
            <a:off x="3001299" y="5787119"/>
            <a:ext cx="6411912" cy="1133475"/>
          </a:xfrm>
          <a:custGeom>
            <a:avLst/>
            <a:gdLst/>
            <a:ahLst/>
            <a:cxnLst>
              <a:cxn ang="0">
                <a:pos x="0" y="582"/>
              </a:cxn>
              <a:cxn ang="0">
                <a:pos x="594" y="618"/>
              </a:cxn>
              <a:cxn ang="0">
                <a:pos x="2035" y="3"/>
              </a:cxn>
              <a:cxn ang="0">
                <a:pos x="3463" y="599"/>
              </a:cxn>
              <a:cxn ang="0">
                <a:pos x="4039" y="567"/>
              </a:cxn>
            </a:cxnLst>
            <a:rect l="0" t="0" r="r" b="b"/>
            <a:pathLst>
              <a:path w="4039" h="714">
                <a:moveTo>
                  <a:pt x="0" y="582"/>
                </a:moveTo>
                <a:cubicBezTo>
                  <a:pt x="99" y="588"/>
                  <a:pt x="255" y="714"/>
                  <a:pt x="594" y="618"/>
                </a:cubicBezTo>
                <a:cubicBezTo>
                  <a:pt x="933" y="522"/>
                  <a:pt x="1557" y="6"/>
                  <a:pt x="2035" y="3"/>
                </a:cubicBezTo>
                <a:cubicBezTo>
                  <a:pt x="2513" y="0"/>
                  <a:pt x="3129" y="505"/>
                  <a:pt x="3463" y="599"/>
                </a:cubicBezTo>
                <a:cubicBezTo>
                  <a:pt x="3797" y="693"/>
                  <a:pt x="3919" y="574"/>
                  <a:pt x="4039" y="567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DC25679E-5562-AEA3-0F03-51859BFE13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55261" y="5241018"/>
            <a:ext cx="6464300" cy="5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C5CC11CB-3B3C-3638-45E3-49864991D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925" y="3513818"/>
            <a:ext cx="15128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 i="1">
                <a:solidFill>
                  <a:srgbClr val="0000CC"/>
                </a:solidFill>
              </a:rPr>
              <a:t>RC</a:t>
            </a:r>
            <a:r>
              <a:rPr lang="pt-BR" sz="1400" b="1">
                <a:solidFill>
                  <a:srgbClr val="0000CC"/>
                </a:solidFill>
              </a:rPr>
              <a:t> </a:t>
            </a:r>
            <a:r>
              <a:rPr lang="pt-BR" sz="1400" b="1">
                <a:solidFill>
                  <a:srgbClr val="0000CC"/>
                </a:solidFill>
                <a:latin typeface="Arial" charset="0"/>
              </a:rPr>
              <a:t>muito grande</a:t>
            </a:r>
          </a:p>
        </p:txBody>
      </p:sp>
      <p:sp>
        <p:nvSpPr>
          <p:cNvPr id="12" name="Text Box 19">
            <a:extLst>
              <a:ext uri="{FF2B5EF4-FFF2-40B4-BE49-F238E27FC236}">
                <a16:creationId xmlns:a16="http://schemas.microsoft.com/office/drawing/2014/main" id="{55EF355E-222B-47C0-C373-7F3F3DE5B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761" y="3772581"/>
            <a:ext cx="83040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CC00CC"/>
                </a:solidFill>
                <a:latin typeface="Arial Narrow" pitchFamily="34" charset="0"/>
              </a:rPr>
              <a:t>Envoltória</a:t>
            </a:r>
          </a:p>
        </p:txBody>
      </p:sp>
      <p:sp>
        <p:nvSpPr>
          <p:cNvPr id="13" name="Text Box 20">
            <a:extLst>
              <a:ext uri="{FF2B5EF4-FFF2-40B4-BE49-F238E27FC236}">
                <a16:creationId xmlns:a16="http://schemas.microsoft.com/office/drawing/2014/main" id="{6428764A-E850-93E3-0D99-33D8B6BFDE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5986" y="3305856"/>
            <a:ext cx="2306772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54000" rIns="54000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  <a:latin typeface="Arial Narrow" pitchFamily="34" charset="0"/>
              </a:rPr>
              <a:t>Saída do detector de envoltória</a:t>
            </a:r>
          </a:p>
        </p:txBody>
      </p:sp>
      <p:sp>
        <p:nvSpPr>
          <p:cNvPr id="14" name="Freeform 21">
            <a:extLst>
              <a:ext uri="{FF2B5EF4-FFF2-40B4-BE49-F238E27FC236}">
                <a16:creationId xmlns:a16="http://schemas.microsoft.com/office/drawing/2014/main" id="{44175ACE-9F2F-5868-5981-C849AB6A60A0}"/>
              </a:ext>
            </a:extLst>
          </p:cNvPr>
          <p:cNvSpPr>
            <a:spLocks/>
          </p:cNvSpPr>
          <p:nvPr/>
        </p:nvSpPr>
        <p:spPr bwMode="auto">
          <a:xfrm>
            <a:off x="4504662" y="3666218"/>
            <a:ext cx="200025" cy="258762"/>
          </a:xfrm>
          <a:custGeom>
            <a:avLst/>
            <a:gdLst/>
            <a:ahLst/>
            <a:cxnLst>
              <a:cxn ang="0">
                <a:pos x="126" y="0"/>
              </a:cxn>
              <a:cxn ang="0">
                <a:pos x="54" y="30"/>
              </a:cxn>
              <a:cxn ang="0">
                <a:pos x="0" y="163"/>
              </a:cxn>
            </a:cxnLst>
            <a:rect l="0" t="0" r="r" b="b"/>
            <a:pathLst>
              <a:path w="126" h="163">
                <a:moveTo>
                  <a:pt x="126" y="0"/>
                </a:moveTo>
                <a:cubicBezTo>
                  <a:pt x="114" y="5"/>
                  <a:pt x="75" y="3"/>
                  <a:pt x="54" y="30"/>
                </a:cubicBezTo>
                <a:cubicBezTo>
                  <a:pt x="33" y="57"/>
                  <a:pt x="11" y="135"/>
                  <a:pt x="0" y="163"/>
                </a:cubicBezTo>
              </a:path>
            </a:pathLst>
          </a:custGeom>
          <a:noFill/>
          <a:ln w="9525" cap="flat" cmpd="sng">
            <a:solidFill>
              <a:srgbClr val="0000CC"/>
            </a:solidFill>
            <a:prstDash val="solid"/>
            <a:round/>
            <a:headEnd type="none" w="med" len="med"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Freeform 22">
            <a:extLst>
              <a:ext uri="{FF2B5EF4-FFF2-40B4-BE49-F238E27FC236}">
                <a16:creationId xmlns:a16="http://schemas.microsoft.com/office/drawing/2014/main" id="{EAB530C4-6022-2F74-FB1F-DBE86CF118B1}"/>
              </a:ext>
            </a:extLst>
          </p:cNvPr>
          <p:cNvSpPr>
            <a:spLocks/>
          </p:cNvSpPr>
          <p:nvPr/>
        </p:nvSpPr>
        <p:spPr bwMode="auto">
          <a:xfrm>
            <a:off x="7646324" y="3936094"/>
            <a:ext cx="220662" cy="13493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4" y="22"/>
              </a:cxn>
              <a:cxn ang="0">
                <a:pos x="139" y="85"/>
              </a:cxn>
            </a:cxnLst>
            <a:rect l="0" t="0" r="r" b="b"/>
            <a:pathLst>
              <a:path w="139" h="85">
                <a:moveTo>
                  <a:pt x="0" y="0"/>
                </a:moveTo>
                <a:cubicBezTo>
                  <a:pt x="11" y="4"/>
                  <a:pt x="41" y="8"/>
                  <a:pt x="64" y="22"/>
                </a:cubicBezTo>
                <a:cubicBezTo>
                  <a:pt x="87" y="36"/>
                  <a:pt x="123" y="72"/>
                  <a:pt x="139" y="85"/>
                </a:cubicBezTo>
              </a:path>
            </a:pathLst>
          </a:custGeom>
          <a:noFill/>
          <a:ln w="9525" cap="flat" cmpd="sng">
            <a:solidFill>
              <a:srgbClr val="CC00CC"/>
            </a:solidFill>
            <a:prstDash val="solid"/>
            <a:round/>
            <a:headEnd type="none" w="med" len="med"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Freeform 23">
            <a:extLst>
              <a:ext uri="{FF2B5EF4-FFF2-40B4-BE49-F238E27FC236}">
                <a16:creationId xmlns:a16="http://schemas.microsoft.com/office/drawing/2014/main" id="{46EA959A-D823-F8BE-F515-8751E5C1D1E8}"/>
              </a:ext>
            </a:extLst>
          </p:cNvPr>
          <p:cNvSpPr>
            <a:spLocks/>
          </p:cNvSpPr>
          <p:nvPr/>
        </p:nvSpPr>
        <p:spPr bwMode="auto">
          <a:xfrm>
            <a:off x="8468650" y="3485244"/>
            <a:ext cx="193675" cy="376237"/>
          </a:xfrm>
          <a:custGeom>
            <a:avLst/>
            <a:gdLst/>
            <a:ahLst/>
            <a:cxnLst>
              <a:cxn ang="0">
                <a:pos x="0" y="4"/>
              </a:cxn>
              <a:cxn ang="0">
                <a:pos x="86" y="39"/>
              </a:cxn>
              <a:cxn ang="0">
                <a:pos x="122" y="237"/>
              </a:cxn>
            </a:cxnLst>
            <a:rect l="0" t="0" r="r" b="b"/>
            <a:pathLst>
              <a:path w="122" h="237">
                <a:moveTo>
                  <a:pt x="0" y="4"/>
                </a:moveTo>
                <a:cubicBezTo>
                  <a:pt x="14" y="10"/>
                  <a:pt x="66" y="0"/>
                  <a:pt x="86" y="39"/>
                </a:cubicBezTo>
                <a:cubicBezTo>
                  <a:pt x="106" y="78"/>
                  <a:pt x="115" y="196"/>
                  <a:pt x="122" y="237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sm" len="med"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7" name="Object 2">
            <a:extLst>
              <a:ext uri="{FF2B5EF4-FFF2-40B4-BE49-F238E27FC236}">
                <a16:creationId xmlns:a16="http://schemas.microsoft.com/office/drawing/2014/main" id="{B95488B0-5CD5-45A9-0DD5-B3A4E05AE2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6832451"/>
              </p:ext>
            </p:extLst>
          </p:nvPr>
        </p:nvGraphicFramePr>
        <p:xfrm>
          <a:off x="1864712" y="2547937"/>
          <a:ext cx="267017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368280" progId="Equation.3">
                  <p:embed/>
                </p:oleObj>
              </mc:Choice>
              <mc:Fallback>
                <p:oleObj name="Equation" r:id="rId3" imgW="1333440" imgH="368280" progId="Equation.3">
                  <p:embed/>
                  <p:pic>
                    <p:nvPicPr>
                      <p:cNvPr id="21197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712" y="2547937"/>
                        <a:ext cx="2670175" cy="73660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0689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/>
      <p:bldP spid="13" grpId="0"/>
      <p:bldP spid="14" grpId="0" animBg="1"/>
      <p:bldP spid="1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5613E-3A54-13D1-584A-F7B7195E7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AM</a:t>
            </a:r>
            <a:br>
              <a:rPr lang="pt-BR" dirty="0"/>
            </a:br>
            <a:r>
              <a:rPr lang="pt-BR" dirty="0"/>
              <a:t>Demodulação por envoltória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48D1E6CD-749A-166C-EEFF-C815F687D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640911"/>
              </p:ext>
            </p:extLst>
          </p:nvPr>
        </p:nvGraphicFramePr>
        <p:xfrm>
          <a:off x="1322352" y="2313542"/>
          <a:ext cx="7408863" cy="1273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987720" imgH="736560" progId="Equation.3">
                  <p:embed/>
                </p:oleObj>
              </mc:Choice>
              <mc:Fallback>
                <p:oleObj name="Equation" r:id="rId2" imgW="3987720" imgH="736560" progId="Equation.3">
                  <p:embed/>
                  <p:pic>
                    <p:nvPicPr>
                      <p:cNvPr id="7014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05" t="1955" r="-1605" b="1955"/>
                      <a:stretch>
                        <a:fillRect/>
                      </a:stretch>
                    </p:blipFill>
                    <p:spPr bwMode="auto">
                      <a:xfrm>
                        <a:off x="1322352" y="2313542"/>
                        <a:ext cx="7408863" cy="12731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1">
            <a:extLst>
              <a:ext uri="{FF2B5EF4-FFF2-40B4-BE49-F238E27FC236}">
                <a16:creationId xmlns:a16="http://schemas.microsoft.com/office/drawing/2014/main" id="{65460924-77AE-25FE-80C0-7B01A017BAB2}"/>
              </a:ext>
            </a:extLst>
          </p:cNvPr>
          <p:cNvGrpSpPr>
            <a:grpSpLocks/>
          </p:cNvGrpSpPr>
          <p:nvPr/>
        </p:nvGrpSpPr>
        <p:grpSpPr bwMode="auto">
          <a:xfrm>
            <a:off x="2554251" y="5380592"/>
            <a:ext cx="1485900" cy="822325"/>
            <a:chOff x="1530" y="3098"/>
            <a:chExt cx="936" cy="722"/>
          </a:xfrm>
        </p:grpSpPr>
        <p:sp>
          <p:nvSpPr>
            <p:cNvPr id="6" name="Line 16">
              <a:extLst>
                <a:ext uri="{FF2B5EF4-FFF2-40B4-BE49-F238E27FC236}">
                  <a16:creationId xmlns:a16="http://schemas.microsoft.com/office/drawing/2014/main" id="{FF966B96-374E-9DFB-C364-4FD94A14D0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30" y="3100"/>
              <a:ext cx="0" cy="72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" name="Line 23">
              <a:extLst>
                <a:ext uri="{FF2B5EF4-FFF2-40B4-BE49-F238E27FC236}">
                  <a16:creationId xmlns:a16="http://schemas.microsoft.com/office/drawing/2014/main" id="{74186536-CF49-E782-68B5-E9440BD41B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6" y="3098"/>
              <a:ext cx="0" cy="72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8" name="Text Box 12">
            <a:extLst>
              <a:ext uri="{FF2B5EF4-FFF2-40B4-BE49-F238E27FC236}">
                <a16:creationId xmlns:a16="http://schemas.microsoft.com/office/drawing/2014/main" id="{2A1465FC-BF99-61C8-77C8-F1C978162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9026" y="5301216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9" name="Text Box 13">
            <a:extLst>
              <a:ext uri="{FF2B5EF4-FFF2-40B4-BE49-F238E27FC236}">
                <a16:creationId xmlns:a16="http://schemas.microsoft.com/office/drawing/2014/main" id="{9DED6501-57A1-7B29-C060-12796D5C0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3452" y="5834616"/>
            <a:ext cx="695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</a:rPr>
              <a:t>– </a:t>
            </a:r>
          </a:p>
        </p:txBody>
      </p:sp>
      <p:sp>
        <p:nvSpPr>
          <p:cNvPr id="10" name="AutoShape 14">
            <a:extLst>
              <a:ext uri="{FF2B5EF4-FFF2-40B4-BE49-F238E27FC236}">
                <a16:creationId xmlns:a16="http://schemas.microsoft.com/office/drawing/2014/main" id="{FED07F46-4A0C-BCF6-609B-585D62E26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39" y="5193266"/>
            <a:ext cx="1484312" cy="12001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pt-BR" sz="2000" b="1">
                <a:solidFill>
                  <a:schemeClr val="accent2"/>
                </a:solidFill>
                <a:latin typeface="Arial Narrow" pitchFamily="34" charset="0"/>
              </a:rPr>
              <a:t>Detector de </a:t>
            </a:r>
          </a:p>
          <a:p>
            <a:pPr>
              <a:lnSpc>
                <a:spcPct val="90000"/>
              </a:lnSpc>
            </a:pPr>
            <a:r>
              <a:rPr lang="pt-BR" sz="2000" b="1">
                <a:solidFill>
                  <a:schemeClr val="accent2"/>
                </a:solidFill>
                <a:latin typeface="Arial Narrow" pitchFamily="34" charset="0"/>
              </a:rPr>
              <a:t>envoltória</a:t>
            </a:r>
          </a:p>
          <a:p>
            <a:pPr>
              <a:lnSpc>
                <a:spcPct val="90000"/>
              </a:lnSpc>
            </a:pPr>
            <a:r>
              <a:rPr lang="pt-BR" sz="2000" b="1">
                <a:solidFill>
                  <a:schemeClr val="accent2"/>
                </a:solidFill>
                <a:latin typeface="Arial Narrow" pitchFamily="34" charset="0"/>
              </a:rPr>
              <a:t>(ideal)</a:t>
            </a:r>
            <a:endParaRPr lang="pt-BR" sz="2000" b="1" i="1">
              <a:solidFill>
                <a:schemeClr val="accent2"/>
              </a:solidFill>
              <a:sym typeface="Symbol" pitchFamily="18" charset="2"/>
            </a:endParaRPr>
          </a:p>
        </p:txBody>
      </p:sp>
      <p:graphicFrame>
        <p:nvGraphicFramePr>
          <p:cNvPr id="11" name="Object 15">
            <a:extLst>
              <a:ext uri="{FF2B5EF4-FFF2-40B4-BE49-F238E27FC236}">
                <a16:creationId xmlns:a16="http://schemas.microsoft.com/office/drawing/2014/main" id="{F4447994-F315-064D-3F50-26190183B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572770"/>
              </p:ext>
            </p:extLst>
          </p:nvPr>
        </p:nvGraphicFramePr>
        <p:xfrm>
          <a:off x="1444590" y="5671105"/>
          <a:ext cx="446087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9360" imgH="203040" progId="Equation.3">
                  <p:embed/>
                </p:oleObj>
              </mc:Choice>
              <mc:Fallback>
                <p:oleObj name="Equation" r:id="rId4" imgW="279360" imgH="203040" progId="Equation.3">
                  <p:embed/>
                  <p:pic>
                    <p:nvPicPr>
                      <p:cNvPr id="70145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590" y="5671105"/>
                        <a:ext cx="446087" cy="325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17">
            <a:extLst>
              <a:ext uri="{FF2B5EF4-FFF2-40B4-BE49-F238E27FC236}">
                <a16:creationId xmlns:a16="http://schemas.microsoft.com/office/drawing/2014/main" id="{68F9F965-B81C-2514-4C3C-8349E2BC93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49376" y="5344080"/>
            <a:ext cx="71438" cy="71437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13" name="AutoShape 18">
            <a:extLst>
              <a:ext uri="{FF2B5EF4-FFF2-40B4-BE49-F238E27FC236}">
                <a16:creationId xmlns:a16="http://schemas.microsoft.com/office/drawing/2014/main" id="{D563E846-2463-76A6-DBFD-720DEE532F2B}"/>
              </a:ext>
            </a:extLst>
          </p:cNvPr>
          <p:cNvCxnSpPr>
            <a:cxnSpLocks noChangeShapeType="1"/>
            <a:stCxn id="12" idx="6"/>
            <a:endCxn id="6" idx="1"/>
          </p:cNvCxnSpPr>
          <p:nvPr/>
        </p:nvCxnSpPr>
        <p:spPr bwMode="auto">
          <a:xfrm>
            <a:off x="1735101" y="5380592"/>
            <a:ext cx="819150" cy="3175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</p:cxnSp>
      <p:sp>
        <p:nvSpPr>
          <p:cNvPr id="14" name="AutoShape 19">
            <a:extLst>
              <a:ext uri="{FF2B5EF4-FFF2-40B4-BE49-F238E27FC236}">
                <a16:creationId xmlns:a16="http://schemas.microsoft.com/office/drawing/2014/main" id="{601F7B67-49BF-8D29-CC49-59582C6E6B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50965" y="6161641"/>
            <a:ext cx="71437" cy="71438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15" name="AutoShape 20">
            <a:extLst>
              <a:ext uri="{FF2B5EF4-FFF2-40B4-BE49-F238E27FC236}">
                <a16:creationId xmlns:a16="http://schemas.microsoft.com/office/drawing/2014/main" id="{0AA6AD19-1C19-922A-367C-A73F2C1D45C0}"/>
              </a:ext>
            </a:extLst>
          </p:cNvPr>
          <p:cNvCxnSpPr>
            <a:cxnSpLocks noChangeShapeType="1"/>
            <a:stCxn id="14" idx="6"/>
            <a:endCxn id="6" idx="0"/>
          </p:cNvCxnSpPr>
          <p:nvPr/>
        </p:nvCxnSpPr>
        <p:spPr bwMode="auto">
          <a:xfrm>
            <a:off x="1736689" y="6198154"/>
            <a:ext cx="817562" cy="6350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</p:cxnSp>
      <p:sp>
        <p:nvSpPr>
          <p:cNvPr id="16" name="Text Box 21">
            <a:extLst>
              <a:ext uri="{FF2B5EF4-FFF2-40B4-BE49-F238E27FC236}">
                <a16:creationId xmlns:a16="http://schemas.microsoft.com/office/drawing/2014/main" id="{7EBB964B-F3C3-FF8D-D0B4-A01B391E1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6501" y="5313916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17" name="Text Box 22">
            <a:extLst>
              <a:ext uri="{FF2B5EF4-FFF2-40B4-BE49-F238E27FC236}">
                <a16:creationId xmlns:a16="http://schemas.microsoft.com/office/drawing/2014/main" id="{C29D916F-8A9A-EDB0-B699-8A25A8982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777" y="5825091"/>
            <a:ext cx="51117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</a:rPr>
              <a:t>– </a:t>
            </a:r>
          </a:p>
        </p:txBody>
      </p:sp>
      <p:cxnSp>
        <p:nvCxnSpPr>
          <p:cNvPr id="18" name="AutoShape 24">
            <a:extLst>
              <a:ext uri="{FF2B5EF4-FFF2-40B4-BE49-F238E27FC236}">
                <a16:creationId xmlns:a16="http://schemas.microsoft.com/office/drawing/2014/main" id="{2AF30BBA-0362-EE9D-5CF4-D99810E24DC7}"/>
              </a:ext>
            </a:extLst>
          </p:cNvPr>
          <p:cNvCxnSpPr>
            <a:cxnSpLocks noChangeShapeType="1"/>
            <a:endCxn id="7" idx="1"/>
          </p:cNvCxnSpPr>
          <p:nvPr/>
        </p:nvCxnSpPr>
        <p:spPr bwMode="auto">
          <a:xfrm flipH="1">
            <a:off x="4040152" y="5382179"/>
            <a:ext cx="2614613" cy="0"/>
          </a:xfrm>
          <a:prstGeom prst="straightConnector1">
            <a:avLst/>
          </a:prstGeom>
          <a:noFill/>
          <a:ln w="38100">
            <a:solidFill>
              <a:srgbClr val="3333CC"/>
            </a:solidFill>
            <a:round/>
            <a:headEnd/>
            <a:tailEnd/>
          </a:ln>
          <a:effectLst/>
        </p:spPr>
      </p:cxnSp>
      <p:graphicFrame>
        <p:nvGraphicFramePr>
          <p:cNvPr id="19" name="Object 25">
            <a:extLst>
              <a:ext uri="{FF2B5EF4-FFF2-40B4-BE49-F238E27FC236}">
                <a16:creationId xmlns:a16="http://schemas.microsoft.com/office/drawing/2014/main" id="{B6D75DE1-8191-3F2C-4175-4CE3A94578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298789"/>
              </p:ext>
            </p:extLst>
          </p:nvPr>
        </p:nvGraphicFramePr>
        <p:xfrm>
          <a:off x="4640227" y="5596491"/>
          <a:ext cx="15287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2200" imgH="253800" progId="Equation.3">
                  <p:embed/>
                </p:oleObj>
              </mc:Choice>
              <mc:Fallback>
                <p:oleObj name="Equation" r:id="rId6" imgW="952200" imgH="253800" progId="Equation.3">
                  <p:embed/>
                  <p:pic>
                    <p:nvPicPr>
                      <p:cNvPr id="70146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0227" y="5596491"/>
                        <a:ext cx="1528763" cy="406400"/>
                      </a:xfrm>
                      <a:prstGeom prst="rect">
                        <a:avLst/>
                      </a:prstGeom>
                      <a:solidFill>
                        <a:srgbClr val="FF9F89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3">
            <a:extLst>
              <a:ext uri="{FF2B5EF4-FFF2-40B4-BE49-F238E27FC236}">
                <a16:creationId xmlns:a16="http://schemas.microsoft.com/office/drawing/2014/main" id="{D67ED516-46AE-2508-AF5D-E808842062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0848769"/>
              </p:ext>
            </p:extLst>
          </p:nvPr>
        </p:nvGraphicFramePr>
        <p:xfrm>
          <a:off x="7615202" y="5656816"/>
          <a:ext cx="6445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080" imgH="203040" progId="Equation.3">
                  <p:embed/>
                </p:oleObj>
              </mc:Choice>
              <mc:Fallback>
                <p:oleObj name="Equation" r:id="rId8" imgW="406080" imgH="203040" progId="Equation.3">
                  <p:embed/>
                  <p:pic>
                    <p:nvPicPr>
                      <p:cNvPr id="701473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5202" y="5656816"/>
                        <a:ext cx="644525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34">
            <a:extLst>
              <a:ext uri="{FF2B5EF4-FFF2-40B4-BE49-F238E27FC236}">
                <a16:creationId xmlns:a16="http://schemas.microsoft.com/office/drawing/2014/main" id="{00FE7FCD-C4D1-96F4-27FE-7ABD47BA5A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81901" y="5344080"/>
            <a:ext cx="71438" cy="71437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22" name="AutoShape 35">
            <a:extLst>
              <a:ext uri="{FF2B5EF4-FFF2-40B4-BE49-F238E27FC236}">
                <a16:creationId xmlns:a16="http://schemas.microsoft.com/office/drawing/2014/main" id="{DD1EE6BD-3399-46CA-19D0-E35CF3786C55}"/>
              </a:ext>
            </a:extLst>
          </p:cNvPr>
          <p:cNvCxnSpPr>
            <a:cxnSpLocks noChangeShapeType="1"/>
            <a:stCxn id="21" idx="2"/>
          </p:cNvCxnSpPr>
          <p:nvPr/>
        </p:nvCxnSpPr>
        <p:spPr bwMode="auto">
          <a:xfrm flipH="1">
            <a:off x="6807164" y="5380591"/>
            <a:ext cx="1060450" cy="1588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</p:cxnSp>
      <p:sp>
        <p:nvSpPr>
          <p:cNvPr id="23" name="AutoShape 36">
            <a:extLst>
              <a:ext uri="{FF2B5EF4-FFF2-40B4-BE49-F238E27FC236}">
                <a16:creationId xmlns:a16="http://schemas.microsoft.com/office/drawing/2014/main" id="{AC246647-5265-089A-ECFD-6F186FDE44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83490" y="6171166"/>
            <a:ext cx="71437" cy="71438"/>
          </a:xfrm>
          <a:prstGeom prst="flowChartConnector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cxnSp>
        <p:nvCxnSpPr>
          <p:cNvPr id="24" name="AutoShape 37">
            <a:extLst>
              <a:ext uri="{FF2B5EF4-FFF2-40B4-BE49-F238E27FC236}">
                <a16:creationId xmlns:a16="http://schemas.microsoft.com/office/drawing/2014/main" id="{A8D46BA9-5D70-2E65-CB7F-D75F627FA31D}"/>
              </a:ext>
            </a:extLst>
          </p:cNvPr>
          <p:cNvCxnSpPr>
            <a:cxnSpLocks noChangeShapeType="1"/>
            <a:stCxn id="23" idx="2"/>
            <a:endCxn id="7" idx="0"/>
          </p:cNvCxnSpPr>
          <p:nvPr/>
        </p:nvCxnSpPr>
        <p:spPr bwMode="auto">
          <a:xfrm flipH="1" flipV="1">
            <a:off x="4040151" y="6202917"/>
            <a:ext cx="3829050" cy="4763"/>
          </a:xfrm>
          <a:prstGeom prst="straightConnector1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</p:spPr>
      </p:cxnSp>
      <p:sp>
        <p:nvSpPr>
          <p:cNvPr id="25" name="Text Box 40">
            <a:extLst>
              <a:ext uri="{FF2B5EF4-FFF2-40B4-BE49-F238E27FC236}">
                <a16:creationId xmlns:a16="http://schemas.microsoft.com/office/drawing/2014/main" id="{A4DCB403-0945-CB66-145D-077B4C3824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551" y="5278991"/>
            <a:ext cx="36195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</a:rPr>
              <a:t>+</a:t>
            </a:r>
          </a:p>
        </p:txBody>
      </p:sp>
      <p:sp>
        <p:nvSpPr>
          <p:cNvPr id="26" name="Text Box 41">
            <a:extLst>
              <a:ext uri="{FF2B5EF4-FFF2-40B4-BE49-F238E27FC236}">
                <a16:creationId xmlns:a16="http://schemas.microsoft.com/office/drawing/2014/main" id="{DB2847C8-9C2F-9813-EFE1-A6E0ABE99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6977" y="5840966"/>
            <a:ext cx="6953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</a:rPr>
              <a:t>– </a:t>
            </a:r>
          </a:p>
        </p:txBody>
      </p:sp>
      <p:graphicFrame>
        <p:nvGraphicFramePr>
          <p:cNvPr id="27" name="Object 43">
            <a:extLst>
              <a:ext uri="{FF2B5EF4-FFF2-40B4-BE49-F238E27FC236}">
                <a16:creationId xmlns:a16="http://schemas.microsoft.com/office/drawing/2014/main" id="{0DA25842-424E-2E62-7C37-1A2902E88366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9544568"/>
              </p:ext>
            </p:extLst>
          </p:nvPr>
        </p:nvGraphicFramePr>
        <p:xfrm>
          <a:off x="1471576" y="1211816"/>
          <a:ext cx="428625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57400" imgH="457200" progId="Equation.3">
                  <p:embed/>
                </p:oleObj>
              </mc:Choice>
              <mc:Fallback>
                <p:oleObj name="Equation" r:id="rId10" imgW="2057400" imgH="457200" progId="Equation.3">
                  <p:embed/>
                  <p:pic>
                    <p:nvPicPr>
                      <p:cNvPr id="701483" name="Object 4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20" t="-7874" r="-1620" b="-7874"/>
                      <a:stretch>
                        <a:fillRect/>
                      </a:stretch>
                    </p:blipFill>
                    <p:spPr bwMode="auto">
                      <a:xfrm>
                        <a:off x="1471576" y="1211816"/>
                        <a:ext cx="428625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AutoShape 46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30D6B044-BDDB-D73C-3ACF-D75BD9681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93276" y="4729716"/>
            <a:ext cx="266700" cy="285750"/>
          </a:xfrm>
          <a:prstGeom prst="actionButtonBackPrevious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9" name="Object 49">
            <a:extLst>
              <a:ext uri="{FF2B5EF4-FFF2-40B4-BE49-F238E27FC236}">
                <a16:creationId xmlns:a16="http://schemas.microsoft.com/office/drawing/2014/main" id="{EB2A3B3C-4441-5670-4A8F-82D6506927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011117"/>
              </p:ext>
            </p:extLst>
          </p:nvPr>
        </p:nvGraphicFramePr>
        <p:xfrm>
          <a:off x="1198526" y="3845479"/>
          <a:ext cx="69469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733560" imgH="482400" progId="Equation.3">
                  <p:embed/>
                </p:oleObj>
              </mc:Choice>
              <mc:Fallback>
                <p:oleObj name="Equation" r:id="rId13" imgW="3733560" imgH="482400" progId="Equation.3">
                  <p:embed/>
                  <p:pic>
                    <p:nvPicPr>
                      <p:cNvPr id="70148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25" r="-1625"/>
                      <a:stretch>
                        <a:fillRect/>
                      </a:stretch>
                    </p:blipFill>
                    <p:spPr bwMode="auto">
                      <a:xfrm>
                        <a:off x="1198526" y="3845479"/>
                        <a:ext cx="6946900" cy="868362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50">
            <a:extLst>
              <a:ext uri="{FF2B5EF4-FFF2-40B4-BE49-F238E27FC236}">
                <a16:creationId xmlns:a16="http://schemas.microsoft.com/office/drawing/2014/main" id="{48A041DC-0D8C-0A0A-FB6B-EEBAD87BE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6376" y="3815317"/>
            <a:ext cx="226695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000" rIns="18000"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pt-BR" sz="2000" b="1">
                <a:solidFill>
                  <a:srgbClr val="0000CC"/>
                </a:solidFill>
                <a:latin typeface="Arial Narrow" pitchFamily="34" charset="0"/>
              </a:rPr>
              <a:t>A informação, </a:t>
            </a:r>
            <a:r>
              <a:rPr lang="pt-BR" sz="2000" b="1" i="1">
                <a:solidFill>
                  <a:srgbClr val="0000CC"/>
                </a:solidFill>
              </a:rPr>
              <a:t>m</a:t>
            </a:r>
            <a:r>
              <a:rPr lang="pt-BR" sz="2000" b="1">
                <a:solidFill>
                  <a:srgbClr val="0000CC"/>
                </a:solidFill>
              </a:rPr>
              <a:t>(</a:t>
            </a:r>
            <a:r>
              <a:rPr lang="pt-BR" sz="2000" b="1" i="1">
                <a:solidFill>
                  <a:srgbClr val="0000CC"/>
                </a:solidFill>
              </a:rPr>
              <a:t>t</a:t>
            </a:r>
            <a:r>
              <a:rPr lang="pt-BR" sz="2000" b="1">
                <a:solidFill>
                  <a:srgbClr val="0000CC"/>
                </a:solidFill>
              </a:rPr>
              <a:t>),</a:t>
            </a:r>
            <a:r>
              <a:rPr lang="pt-BR" sz="2000" b="1">
                <a:solidFill>
                  <a:srgbClr val="0000CC"/>
                </a:solidFill>
                <a:latin typeface="Arial Narrow" pitchFamily="34" charset="0"/>
              </a:rPr>
              <a:t> está contida apenas na envoltória</a:t>
            </a:r>
          </a:p>
        </p:txBody>
      </p:sp>
      <p:graphicFrame>
        <p:nvGraphicFramePr>
          <p:cNvPr id="31" name="Object 57">
            <a:extLst>
              <a:ext uri="{FF2B5EF4-FFF2-40B4-BE49-F238E27FC236}">
                <a16:creationId xmlns:a16="http://schemas.microsoft.com/office/drawing/2014/main" id="{3DA90666-00D9-90DC-6DAF-C998BA25AF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65268"/>
              </p:ext>
            </p:extLst>
          </p:nvPr>
        </p:nvGraphicFramePr>
        <p:xfrm>
          <a:off x="4140164" y="5634591"/>
          <a:ext cx="468312" cy="325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91960" imgH="203040" progId="Equation.3">
                  <p:embed/>
                </p:oleObj>
              </mc:Choice>
              <mc:Fallback>
                <p:oleObj name="Equation" r:id="rId15" imgW="291960" imgH="203040" progId="Equation.3">
                  <p:embed/>
                  <p:pic>
                    <p:nvPicPr>
                      <p:cNvPr id="701497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164" y="5634591"/>
                        <a:ext cx="468312" cy="325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AutoShape 58">
            <a:extLst>
              <a:ext uri="{FF2B5EF4-FFF2-40B4-BE49-F238E27FC236}">
                <a16:creationId xmlns:a16="http://schemas.microsoft.com/office/drawing/2014/main" id="{5D956E89-0785-BFBF-9290-436B540FC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0452" y="5201204"/>
            <a:ext cx="1065213" cy="1200150"/>
          </a:xfrm>
          <a:prstGeom prst="flowChartProcess">
            <a:avLst/>
          </a:prstGeom>
          <a:solidFill>
            <a:srgbClr val="CCFFFF"/>
          </a:solidFill>
          <a:ln w="381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pt-BR" sz="2000" b="1">
                <a:solidFill>
                  <a:schemeClr val="accent2"/>
                </a:solidFill>
                <a:latin typeface="Arial Narrow" pitchFamily="34" charset="0"/>
              </a:rPr>
              <a:t>?</a:t>
            </a:r>
            <a:endParaRPr lang="pt-BR" sz="2000" b="1" i="1">
              <a:solidFill>
                <a:schemeClr val="accent2"/>
              </a:solidFill>
              <a:sym typeface="Symbol" pitchFamily="18" charset="2"/>
            </a:endParaRPr>
          </a:p>
        </p:txBody>
      </p:sp>
      <p:grpSp>
        <p:nvGrpSpPr>
          <p:cNvPr id="33" name="Group 75">
            <a:extLst>
              <a:ext uri="{FF2B5EF4-FFF2-40B4-BE49-F238E27FC236}">
                <a16:creationId xmlns:a16="http://schemas.microsoft.com/office/drawing/2014/main" id="{756D8D37-97C8-94DF-704C-F1D833121801}"/>
              </a:ext>
            </a:extLst>
          </p:cNvPr>
          <p:cNvGrpSpPr>
            <a:grpSpLocks/>
          </p:cNvGrpSpPr>
          <p:nvPr/>
        </p:nvGrpSpPr>
        <p:grpSpPr bwMode="auto">
          <a:xfrm>
            <a:off x="6278526" y="5261529"/>
            <a:ext cx="1320800" cy="952500"/>
            <a:chOff x="3876" y="3215"/>
            <a:chExt cx="832" cy="600"/>
          </a:xfrm>
        </p:grpSpPr>
        <p:grpSp>
          <p:nvGrpSpPr>
            <p:cNvPr id="34" name="Group 60">
              <a:extLst>
                <a:ext uri="{FF2B5EF4-FFF2-40B4-BE49-F238E27FC236}">
                  <a16:creationId xmlns:a16="http://schemas.microsoft.com/office/drawing/2014/main" id="{716CCDD2-3E09-5E91-66D1-B67A73BE1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2" y="3215"/>
              <a:ext cx="108" cy="150"/>
              <a:chOff x="3957" y="1920"/>
              <a:chExt cx="108" cy="150"/>
            </a:xfrm>
          </p:grpSpPr>
          <p:grpSp>
            <p:nvGrpSpPr>
              <p:cNvPr id="42" name="Group 61">
                <a:extLst>
                  <a:ext uri="{FF2B5EF4-FFF2-40B4-BE49-F238E27FC236}">
                    <a16:creationId xmlns:a16="http://schemas.microsoft.com/office/drawing/2014/main" id="{2A0AC48D-C81A-AC0E-AFC0-24FC1E3DDF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984" y="1920"/>
                <a:ext cx="54" cy="150"/>
                <a:chOff x="3984" y="1920"/>
                <a:chExt cx="51" cy="129"/>
              </a:xfrm>
            </p:grpSpPr>
            <p:sp>
              <p:nvSpPr>
                <p:cNvPr id="45" name="Line 62">
                  <a:extLst>
                    <a:ext uri="{FF2B5EF4-FFF2-40B4-BE49-F238E27FC236}">
                      <a16:creationId xmlns:a16="http://schemas.microsoft.com/office/drawing/2014/main" id="{DAD6D9F1-F061-99D5-BBAC-D5B1F79B154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84" y="1920"/>
                  <a:ext cx="0" cy="129"/>
                </a:xfrm>
                <a:prstGeom prst="line">
                  <a:avLst/>
                </a:prstGeom>
                <a:noFill/>
                <a:ln w="3810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  <p:sp>
              <p:nvSpPr>
                <p:cNvPr id="46" name="Line 63">
                  <a:extLst>
                    <a:ext uri="{FF2B5EF4-FFF2-40B4-BE49-F238E27FC236}">
                      <a16:creationId xmlns:a16="http://schemas.microsoft.com/office/drawing/2014/main" id="{7086F134-481E-2703-E007-68FDA0254A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035" y="1920"/>
                  <a:ext cx="0" cy="129"/>
                </a:xfrm>
                <a:prstGeom prst="line">
                  <a:avLst/>
                </a:prstGeom>
                <a:noFill/>
                <a:ln w="38100">
                  <a:solidFill>
                    <a:srgbClr val="0000CC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pt-BR"/>
                </a:p>
              </p:txBody>
            </p:sp>
          </p:grpSp>
          <p:sp>
            <p:nvSpPr>
              <p:cNvPr id="43" name="Line 64">
                <a:extLst>
                  <a:ext uri="{FF2B5EF4-FFF2-40B4-BE49-F238E27FC236}">
                    <a16:creationId xmlns:a16="http://schemas.microsoft.com/office/drawing/2014/main" id="{D697C11C-98D0-C48E-2BE4-13DB374CF6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57" y="1995"/>
                <a:ext cx="27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4" name="Line 65">
                <a:extLst>
                  <a:ext uri="{FF2B5EF4-FFF2-40B4-BE49-F238E27FC236}">
                    <a16:creationId xmlns:a16="http://schemas.microsoft.com/office/drawing/2014/main" id="{687AAE07-23FE-25A1-00D0-CABB9A2A3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38" y="1995"/>
                <a:ext cx="27" cy="0"/>
              </a:xfrm>
              <a:prstGeom prst="line">
                <a:avLst/>
              </a:prstGeom>
              <a:noFill/>
              <a:ln w="9525">
                <a:solidFill>
                  <a:srgbClr val="00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35" name="Group 71">
              <a:extLst>
                <a:ext uri="{FF2B5EF4-FFF2-40B4-BE49-F238E27FC236}">
                  <a16:creationId xmlns:a16="http://schemas.microsoft.com/office/drawing/2014/main" id="{F6B0E1F1-FC3C-5FA3-70E0-4B6F273398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4" y="3281"/>
              <a:ext cx="114" cy="534"/>
              <a:chOff x="4546" y="3281"/>
              <a:chExt cx="114" cy="534"/>
            </a:xfrm>
          </p:grpSpPr>
          <p:sp>
            <p:nvSpPr>
              <p:cNvPr id="39" name="Freeform 59">
                <a:extLst>
                  <a:ext uri="{FF2B5EF4-FFF2-40B4-BE49-F238E27FC236}">
                    <a16:creationId xmlns:a16="http://schemas.microsoft.com/office/drawing/2014/main" id="{369A5B6A-81A7-5279-D7D5-B37A1DA31D21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484" y="3500"/>
                <a:ext cx="237" cy="114"/>
              </a:xfrm>
              <a:custGeom>
                <a:avLst/>
                <a:gdLst/>
                <a:ahLst/>
                <a:cxnLst>
                  <a:cxn ang="0">
                    <a:pos x="0" y="74"/>
                  </a:cxn>
                  <a:cxn ang="0">
                    <a:pos x="36" y="141"/>
                  </a:cxn>
                  <a:cxn ang="0">
                    <a:pos x="110" y="0"/>
                  </a:cxn>
                  <a:cxn ang="0">
                    <a:pos x="184" y="142"/>
                  </a:cxn>
                  <a:cxn ang="0">
                    <a:pos x="260" y="0"/>
                  </a:cxn>
                  <a:cxn ang="0">
                    <a:pos x="332" y="142"/>
                  </a:cxn>
                  <a:cxn ang="0">
                    <a:pos x="404" y="0"/>
                  </a:cxn>
                  <a:cxn ang="0">
                    <a:pos x="482" y="142"/>
                  </a:cxn>
                  <a:cxn ang="0">
                    <a:pos x="554" y="0"/>
                  </a:cxn>
                  <a:cxn ang="0">
                    <a:pos x="588" y="78"/>
                  </a:cxn>
                </a:cxnLst>
                <a:rect l="0" t="0" r="r" b="b"/>
                <a:pathLst>
                  <a:path w="588" h="142">
                    <a:moveTo>
                      <a:pt x="0" y="74"/>
                    </a:moveTo>
                    <a:lnTo>
                      <a:pt x="36" y="141"/>
                    </a:lnTo>
                    <a:lnTo>
                      <a:pt x="110" y="0"/>
                    </a:lnTo>
                    <a:lnTo>
                      <a:pt x="184" y="142"/>
                    </a:lnTo>
                    <a:lnTo>
                      <a:pt x="260" y="0"/>
                    </a:lnTo>
                    <a:lnTo>
                      <a:pt x="332" y="142"/>
                    </a:lnTo>
                    <a:lnTo>
                      <a:pt x="404" y="0"/>
                    </a:lnTo>
                    <a:lnTo>
                      <a:pt x="482" y="142"/>
                    </a:lnTo>
                    <a:lnTo>
                      <a:pt x="554" y="0"/>
                    </a:lnTo>
                    <a:lnTo>
                      <a:pt x="588" y="78"/>
                    </a:lnTo>
                  </a:path>
                </a:pathLst>
              </a:custGeom>
              <a:noFill/>
              <a:ln w="38100" cap="flat" cmpd="sng">
                <a:solidFill>
                  <a:srgbClr val="0000C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0" name="Line 69">
                <a:extLst>
                  <a:ext uri="{FF2B5EF4-FFF2-40B4-BE49-F238E27FC236}">
                    <a16:creationId xmlns:a16="http://schemas.microsoft.com/office/drawing/2014/main" id="{E0A8CD77-7C4A-B4FC-364D-BCB0B15694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9" y="3667"/>
                <a:ext cx="0" cy="14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41" name="Line 70">
                <a:extLst>
                  <a:ext uri="{FF2B5EF4-FFF2-40B4-BE49-F238E27FC236}">
                    <a16:creationId xmlns:a16="http://schemas.microsoft.com/office/drawing/2014/main" id="{0918ED49-10D7-3E0F-9CC5-311387F11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1" y="3281"/>
                <a:ext cx="0" cy="168"/>
              </a:xfrm>
              <a:prstGeom prst="line">
                <a:avLst/>
              </a:prstGeom>
              <a:noFill/>
              <a:ln w="38100">
                <a:solidFill>
                  <a:srgbClr val="0000CC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36" name="Line 72">
              <a:extLst>
                <a:ext uri="{FF2B5EF4-FFF2-40B4-BE49-F238E27FC236}">
                  <a16:creationId xmlns:a16="http://schemas.microsoft.com/office/drawing/2014/main" id="{283EC007-D8EE-A5C6-9D73-EB70F2A596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76" y="3287"/>
              <a:ext cx="312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7" name="Line 73">
              <a:extLst>
                <a:ext uri="{FF2B5EF4-FFF2-40B4-BE49-F238E27FC236}">
                  <a16:creationId xmlns:a16="http://schemas.microsoft.com/office/drawing/2014/main" id="{A383225B-F492-D406-6AC4-F0FF078816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7" y="3287"/>
              <a:ext cx="408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38" name="Line 74">
              <a:extLst>
                <a:ext uri="{FF2B5EF4-FFF2-40B4-BE49-F238E27FC236}">
                  <a16:creationId xmlns:a16="http://schemas.microsoft.com/office/drawing/2014/main" id="{00AA4A9D-B8D7-BD34-E97E-4DBDFAD68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58" y="3809"/>
              <a:ext cx="750" cy="0"/>
            </a:xfrm>
            <a:prstGeom prst="line">
              <a:avLst/>
            </a:prstGeom>
            <a:noFill/>
            <a:ln w="38100">
              <a:solidFill>
                <a:srgbClr val="33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7" name="Rectangle 76">
            <a:extLst>
              <a:ext uri="{FF2B5EF4-FFF2-40B4-BE49-F238E27FC236}">
                <a16:creationId xmlns:a16="http://schemas.microsoft.com/office/drawing/2014/main" id="{907CB0D7-2ED4-BE94-8F40-A9472BE33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927" y="5615542"/>
            <a:ext cx="295275" cy="333375"/>
          </a:xfrm>
          <a:prstGeom prst="rect">
            <a:avLst/>
          </a:prstGeom>
          <a:solidFill>
            <a:srgbClr val="CC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48" name="Object 77">
            <a:extLst>
              <a:ext uri="{FF2B5EF4-FFF2-40B4-BE49-F238E27FC236}">
                <a16:creationId xmlns:a16="http://schemas.microsoft.com/office/drawing/2014/main" id="{496D6A1E-BDE5-8CF5-C9C9-F13705C3BA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1537572"/>
              </p:ext>
            </p:extLst>
          </p:nvPr>
        </p:nvGraphicFramePr>
        <p:xfrm>
          <a:off x="8643902" y="5386941"/>
          <a:ext cx="163036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28520" imgH="545760" progId="Equation.3">
                  <p:embed/>
                </p:oleObj>
              </mc:Choice>
              <mc:Fallback>
                <p:oleObj name="Equation" r:id="rId17" imgW="1028520" imgH="545760" progId="Equation.3">
                  <p:embed/>
                  <p:pic>
                    <p:nvPicPr>
                      <p:cNvPr id="701517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3902" y="5386941"/>
                        <a:ext cx="1630363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AutoShape 78">
            <a:extLst>
              <a:ext uri="{FF2B5EF4-FFF2-40B4-BE49-F238E27FC236}">
                <a16:creationId xmlns:a16="http://schemas.microsoft.com/office/drawing/2014/main" id="{83E403C2-4722-AA82-D4AC-02E563742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59739" y="5777466"/>
            <a:ext cx="209550" cy="95250"/>
          </a:xfrm>
          <a:prstGeom prst="leftArrow">
            <a:avLst>
              <a:gd name="adj1" fmla="val 50000"/>
              <a:gd name="adj2" fmla="val 55000"/>
            </a:avLst>
          </a:prstGeom>
          <a:solidFill>
            <a:srgbClr val="FFCCCC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21ED3231-FD9A-9F66-5892-91CC0B8870A1}"/>
              </a:ext>
            </a:extLst>
          </p:cNvPr>
          <p:cNvSpPr txBox="1"/>
          <p:nvPr/>
        </p:nvSpPr>
        <p:spPr>
          <a:xfrm>
            <a:off x="6376292" y="6436280"/>
            <a:ext cx="1193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DC </a:t>
            </a:r>
            <a:r>
              <a:rPr lang="pt-BR" dirty="0" err="1"/>
              <a:t>Blocker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8420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/>
      <p:bldP spid="47" grpId="0" animBg="1"/>
      <p:bldP spid="4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4A32F-E721-456D-3405-2FEFCDA5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AAAE42-84E0-4F00-3B1B-3A416DC8E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Modulação AM</a:t>
            </a:r>
            <a:br>
              <a:rPr lang="pt-BR" dirty="0"/>
            </a:br>
            <a:r>
              <a:rPr lang="pt-BR" dirty="0"/>
              <a:t>Índice de Modulação</a:t>
            </a:r>
          </a:p>
        </p:txBody>
      </p:sp>
      <p:sp>
        <p:nvSpPr>
          <p:cNvPr id="4" name="Text Box 45">
            <a:extLst>
              <a:ext uri="{FF2B5EF4-FFF2-40B4-BE49-F238E27FC236}">
                <a16:creationId xmlns:a16="http://schemas.microsoft.com/office/drawing/2014/main" id="{0E977C19-5B7C-8490-75EA-68E8ED55CC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9808" y="3984109"/>
            <a:ext cx="4705350" cy="4308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C0C0C0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200" b="1" i="1" dirty="0">
                <a:solidFill>
                  <a:srgbClr val="0000CC"/>
                </a:solidFill>
                <a:sym typeface="Symbol" pitchFamily="18" charset="2"/>
              </a:rPr>
              <a:t> </a:t>
            </a:r>
            <a:r>
              <a:rPr lang="pt-BR" sz="2200" b="1" dirty="0">
                <a:solidFill>
                  <a:srgbClr val="0000CC"/>
                </a:solidFill>
                <a:sym typeface="Symbol" pitchFamily="18" charset="2"/>
              </a:rPr>
              <a:t> &gt; 1  </a:t>
            </a:r>
            <a:r>
              <a:rPr lang="pt-BR" sz="2200" b="1" dirty="0">
                <a:solidFill>
                  <a:srgbClr val="0000CC"/>
                </a:solidFill>
                <a:sym typeface="Wingdings" pitchFamily="2" charset="2"/>
              </a:rPr>
              <a:t>  </a:t>
            </a: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  <a:sym typeface="Wingdings" pitchFamily="2" charset="2"/>
              </a:rPr>
              <a:t>sinal AM </a:t>
            </a:r>
            <a:r>
              <a:rPr lang="pt-BR" sz="2200" b="1" dirty="0" err="1">
                <a:solidFill>
                  <a:srgbClr val="0000CC"/>
                </a:solidFill>
                <a:latin typeface="Arial Narrow" pitchFamily="34" charset="0"/>
                <a:sym typeface="Wingdings" pitchFamily="2" charset="2"/>
              </a:rPr>
              <a:t>sobremodulado</a:t>
            </a:r>
            <a:endParaRPr lang="pt-BR" sz="2200" b="1" dirty="0">
              <a:solidFill>
                <a:srgbClr val="0000CC"/>
              </a:solidFill>
              <a:latin typeface="Arial Narrow" pitchFamily="34" charset="0"/>
              <a:sym typeface="Wingdings" pitchFamily="2" charset="2"/>
            </a:endParaRPr>
          </a:p>
        </p:txBody>
      </p:sp>
      <p:graphicFrame>
        <p:nvGraphicFramePr>
          <p:cNvPr id="5" name="Object 50">
            <a:extLst>
              <a:ext uri="{FF2B5EF4-FFF2-40B4-BE49-F238E27FC236}">
                <a16:creationId xmlns:a16="http://schemas.microsoft.com/office/drawing/2014/main" id="{7BDB4719-62D9-B280-FC43-69CCC3CEE2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470631"/>
              </p:ext>
            </p:extLst>
          </p:nvPr>
        </p:nvGraphicFramePr>
        <p:xfrm>
          <a:off x="3115746" y="1344097"/>
          <a:ext cx="6210300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2" imgW="3060360" imgH="431640" progId="Equation.3">
                  <p:embed/>
                </p:oleObj>
              </mc:Choice>
              <mc:Fallback>
                <p:oleObj name="Equação" r:id="rId2" imgW="3060360" imgH="431640" progId="Equation.3">
                  <p:embed/>
                  <p:pic>
                    <p:nvPicPr>
                      <p:cNvPr id="5" name="Object 50">
                        <a:extLst>
                          <a:ext uri="{FF2B5EF4-FFF2-40B4-BE49-F238E27FC236}">
                            <a16:creationId xmlns:a16="http://schemas.microsoft.com/office/drawing/2014/main" id="{CFD62E78-8F11-C8B7-C502-09C12F87C2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15" t="-7820" r="-815" b="-7820"/>
                      <a:stretch>
                        <a:fillRect/>
                      </a:stretch>
                    </p:blipFill>
                    <p:spPr bwMode="auto">
                      <a:xfrm>
                        <a:off x="3115746" y="1344097"/>
                        <a:ext cx="6210300" cy="99853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effectLst>
                        <a:outerShdw dist="107763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3">
            <a:extLst>
              <a:ext uri="{FF2B5EF4-FFF2-40B4-BE49-F238E27FC236}">
                <a16:creationId xmlns:a16="http://schemas.microsoft.com/office/drawing/2014/main" id="{06B179D5-F5D7-B198-E006-B096ACBA3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6163917"/>
              </p:ext>
            </p:extLst>
          </p:nvPr>
        </p:nvGraphicFramePr>
        <p:xfrm>
          <a:off x="2309297" y="2522021"/>
          <a:ext cx="268287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4" imgW="1320480" imgH="241200" progId="Equation.3">
                  <p:embed/>
                </p:oleObj>
              </mc:Choice>
              <mc:Fallback>
                <p:oleObj name="Equação" r:id="rId4" imgW="1320480" imgH="241200" progId="Equation.3">
                  <p:embed/>
                  <p:pic>
                    <p:nvPicPr>
                      <p:cNvPr id="7" name="Object 53">
                        <a:extLst>
                          <a:ext uri="{FF2B5EF4-FFF2-40B4-BE49-F238E27FC236}">
                            <a16:creationId xmlns:a16="http://schemas.microsoft.com/office/drawing/2014/main" id="{69D2C8A9-0DA7-D9E3-E118-8E2F4B8B07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15" t="-7820" r="-815" b="-7820"/>
                      <a:stretch>
                        <a:fillRect/>
                      </a:stretch>
                    </p:blipFill>
                    <p:spPr bwMode="auto">
                      <a:xfrm>
                        <a:off x="2309297" y="2522021"/>
                        <a:ext cx="2682875" cy="55880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effectLst>
                        <a:outerShdw dist="107763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5">
            <a:extLst>
              <a:ext uri="{FF2B5EF4-FFF2-40B4-BE49-F238E27FC236}">
                <a16:creationId xmlns:a16="http://schemas.microsoft.com/office/drawing/2014/main" id="{7513CAA2-4B4B-2EF8-5395-88F8A30B53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775223"/>
              </p:ext>
            </p:extLst>
          </p:nvPr>
        </p:nvGraphicFramePr>
        <p:xfrm>
          <a:off x="8108434" y="2510909"/>
          <a:ext cx="1958975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ção" r:id="rId6" imgW="965160" imgH="253800" progId="Equation.3">
                  <p:embed/>
                </p:oleObj>
              </mc:Choice>
              <mc:Fallback>
                <p:oleObj name="Equação" r:id="rId6" imgW="965160" imgH="253800" progId="Equation.3">
                  <p:embed/>
                  <p:pic>
                    <p:nvPicPr>
                      <p:cNvPr id="9" name="Object 55">
                        <a:extLst>
                          <a:ext uri="{FF2B5EF4-FFF2-40B4-BE49-F238E27FC236}">
                            <a16:creationId xmlns:a16="http://schemas.microsoft.com/office/drawing/2014/main" id="{D64465AD-7ADC-DE5D-A5E0-DD9FEF7F54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815" t="-7820" r="-815" b="-7820"/>
                      <a:stretch>
                        <a:fillRect/>
                      </a:stretch>
                    </p:blipFill>
                    <p:spPr bwMode="auto">
                      <a:xfrm>
                        <a:off x="8108434" y="2510909"/>
                        <a:ext cx="1958975" cy="587375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effectLst>
                        <a:outerShdw dist="89803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45">
            <a:extLst>
              <a:ext uri="{FF2B5EF4-FFF2-40B4-BE49-F238E27FC236}">
                <a16:creationId xmlns:a16="http://schemas.microsoft.com/office/drawing/2014/main" id="{5DFB6101-6659-24DA-B84B-03D99635A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375" y="5313179"/>
            <a:ext cx="4705350" cy="4308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C0C0C0"/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200" b="1" i="1" dirty="0">
                <a:solidFill>
                  <a:srgbClr val="0000CC"/>
                </a:solidFill>
                <a:sym typeface="Symbol" pitchFamily="18" charset="2"/>
              </a:rPr>
              <a:t> </a:t>
            </a:r>
            <a:r>
              <a:rPr lang="pt-BR" sz="2200" b="1" dirty="0">
                <a:solidFill>
                  <a:srgbClr val="0000CC"/>
                </a:solidFill>
                <a:sym typeface="Symbol" pitchFamily="18" charset="2"/>
              </a:rPr>
              <a:t> &gt; 1  </a:t>
            </a:r>
            <a:r>
              <a:rPr lang="pt-BR" sz="2200" b="1" dirty="0">
                <a:solidFill>
                  <a:srgbClr val="0000CC"/>
                </a:solidFill>
                <a:sym typeface="Wingdings" pitchFamily="2" charset="2"/>
              </a:rPr>
              <a:t>  </a:t>
            </a: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  <a:sym typeface="Wingdings" pitchFamily="2" charset="2"/>
              </a:rPr>
              <a:t>sinal AM </a:t>
            </a:r>
            <a:r>
              <a:rPr lang="pt-BR" sz="2200" b="1" dirty="0" err="1">
                <a:solidFill>
                  <a:srgbClr val="0000CC"/>
                </a:solidFill>
                <a:latin typeface="Arial Narrow" pitchFamily="34" charset="0"/>
                <a:sym typeface="Wingdings" pitchFamily="2" charset="2"/>
              </a:rPr>
              <a:t>sobremodulado</a:t>
            </a:r>
            <a:endParaRPr lang="pt-BR" sz="2200" b="1" dirty="0">
              <a:solidFill>
                <a:srgbClr val="0000CC"/>
              </a:solidFill>
              <a:latin typeface="Arial Narrow" pitchFamily="34" charset="0"/>
              <a:sym typeface="Wingdings" pitchFamily="2" charset="2"/>
            </a:endParaRPr>
          </a:p>
        </p:txBody>
      </p:sp>
      <p:sp>
        <p:nvSpPr>
          <p:cNvPr id="8" name="Text Box 52">
            <a:extLst>
              <a:ext uri="{FF2B5EF4-FFF2-40B4-BE49-F238E27FC236}">
                <a16:creationId xmlns:a16="http://schemas.microsoft.com/office/drawing/2014/main" id="{D6279A89-8F72-1826-5DF1-818CCB9F4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4665479"/>
            <a:ext cx="8667750" cy="430887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rgbClr val="C0C0C0"/>
            </a:outerShdw>
          </a:effec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</a:rPr>
              <a:t>Condição para o uso do detector de envoltória:   </a:t>
            </a:r>
            <a:r>
              <a:rPr lang="pt-BR" sz="2200" b="1" i="1" dirty="0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</a:t>
            </a:r>
            <a:r>
              <a:rPr lang="pt-BR" sz="2200" b="1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 1</a:t>
            </a:r>
            <a:r>
              <a:rPr lang="pt-BR" sz="2200" b="1" i="1" dirty="0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  </a:t>
            </a: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 </a:t>
            </a:r>
            <a:r>
              <a:rPr lang="pt-BR" sz="2200" b="1" i="1" dirty="0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 </a:t>
            </a:r>
            <a:r>
              <a:rPr lang="pt-BR" sz="2200" b="1" dirty="0">
                <a:solidFill>
                  <a:srgbClr val="0000CC"/>
                </a:solidFill>
                <a:sym typeface="Symbol" pitchFamily="18" charset="2"/>
              </a:rPr>
              <a:t>%</a:t>
            </a:r>
            <a:r>
              <a:rPr lang="pt-BR" sz="2200" b="1" baseline="-25000" dirty="0">
                <a:solidFill>
                  <a:srgbClr val="0000CC"/>
                </a:solidFill>
                <a:sym typeface="Symbol" pitchFamily="18" charset="2"/>
              </a:rPr>
              <a:t> </a:t>
            </a:r>
            <a:r>
              <a:rPr lang="pt-BR" sz="2200" b="1" dirty="0" err="1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mod</a:t>
            </a:r>
            <a:r>
              <a:rPr lang="pt-BR" sz="2200" b="1" baseline="-25000" dirty="0">
                <a:solidFill>
                  <a:srgbClr val="0000CC"/>
                </a:solidFill>
                <a:latin typeface="Arial Narrow" pitchFamily="34" charset="0"/>
                <a:sym typeface="Symbol" pitchFamily="18" charset="2"/>
              </a:rPr>
              <a:t>–</a:t>
            </a:r>
            <a:r>
              <a:rPr lang="pt-BR" sz="2200" b="1" dirty="0">
                <a:solidFill>
                  <a:srgbClr val="0000CC"/>
                </a:solidFill>
                <a:sym typeface="Symbol" pitchFamily="18" charset="2"/>
              </a:rPr>
              <a:t> 100%</a:t>
            </a:r>
            <a:r>
              <a:rPr lang="pt-BR" sz="2200" b="1" dirty="0">
                <a:solidFill>
                  <a:srgbClr val="0000CC"/>
                </a:solidFill>
                <a:latin typeface="Arial Narrow" pitchFamily="34" charset="0"/>
              </a:rPr>
              <a:t> </a:t>
            </a:r>
          </a:p>
        </p:txBody>
      </p:sp>
      <p:sp>
        <p:nvSpPr>
          <p:cNvPr id="10" name="AutoShape 54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058ABAA1-BE06-9A44-4417-076846FEA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2725" y="5579878"/>
            <a:ext cx="266700" cy="285750"/>
          </a:xfrm>
          <a:prstGeom prst="actionButtonBackPrevious">
            <a:avLst/>
          </a:prstGeom>
          <a:solidFill>
            <a:srgbClr val="00C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02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77373-55D7-93D0-CBF2-DCFC11165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Potência da Modulação AM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C710B4C0-8435-2EE2-4CA0-D9EC9A939C69}"/>
                  </a:ext>
                </a:extLst>
              </p:cNvPr>
              <p:cNvSpPr txBox="1"/>
              <p:nvPr/>
            </p:nvSpPr>
            <p:spPr bwMode="auto">
              <a:xfrm>
                <a:off x="3273793" y="1190624"/>
                <a:ext cx="5934333" cy="474663"/>
              </a:xfrm>
              <a:prstGeom prst="rect">
                <a:avLst/>
              </a:prstGeom>
              <a:noFill/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)  =  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)  +  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20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pt-BR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C710B4C0-8435-2EE2-4CA0-D9EC9A939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3793" y="1190624"/>
                <a:ext cx="5934333" cy="47466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4">
            <a:extLst>
              <a:ext uri="{FF2B5EF4-FFF2-40B4-BE49-F238E27FC236}">
                <a16:creationId xmlns:a16="http://schemas.microsoft.com/office/drawing/2014/main" id="{80B57EB9-15E9-F576-7829-AED9E441F0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150" y="1693861"/>
            <a:ext cx="2116137" cy="32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pt-BR" b="1">
                <a:solidFill>
                  <a:srgbClr val="FF0000"/>
                </a:solidFill>
                <a:latin typeface="Arial Narrow" pitchFamily="34" charset="0"/>
              </a:rPr>
              <a:t>portadora destacada </a:t>
            </a:r>
            <a:r>
              <a:rPr lang="pt-BR" b="1" i="1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pt-BR" b="1">
                <a:solidFill>
                  <a:srgbClr val="FF0000"/>
                </a:solidFill>
                <a:latin typeface="Arial Narrow" pitchFamily="34" charset="0"/>
              </a:rPr>
              <a:t> 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A2F393FE-93FF-5E9F-F62F-5AB9AF7C9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5100" y="1681161"/>
            <a:ext cx="1768475" cy="325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pt-BR" b="1">
                <a:solidFill>
                  <a:srgbClr val="FF0000"/>
                </a:solidFill>
                <a:latin typeface="Arial Narrow" pitchFamily="34" charset="0"/>
              </a:rPr>
              <a:t>bandas laterais</a:t>
            </a:r>
            <a:r>
              <a:rPr lang="pt-BR" b="1" i="1">
                <a:solidFill>
                  <a:srgbClr val="FF0000"/>
                </a:solidFill>
                <a:latin typeface="Arial Narrow" pitchFamily="34" charset="0"/>
              </a:rPr>
              <a:t> </a:t>
            </a:r>
            <a:r>
              <a:rPr lang="pt-BR" b="1">
                <a:solidFill>
                  <a:srgbClr val="FF0000"/>
                </a:solidFill>
                <a:latin typeface="Arial Narrow" pitchFamily="34" charset="0"/>
              </a:rPr>
              <a:t> 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208A4C58-6F06-1536-841B-4AF8BF141741}"/>
              </a:ext>
            </a:extLst>
          </p:cNvPr>
          <p:cNvSpPr>
            <a:spLocks/>
          </p:cNvSpPr>
          <p:nvPr/>
        </p:nvSpPr>
        <p:spPr bwMode="auto">
          <a:xfrm rot="16200000">
            <a:off x="5173442" y="891955"/>
            <a:ext cx="173039" cy="1567302"/>
          </a:xfrm>
          <a:prstGeom prst="leftBrace">
            <a:avLst>
              <a:gd name="adj1" fmla="val 89583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AF4BE6D5-CC7B-4EF6-323C-885739D8B9B4}"/>
              </a:ext>
            </a:extLst>
          </p:cNvPr>
          <p:cNvSpPr>
            <a:spLocks/>
          </p:cNvSpPr>
          <p:nvPr/>
        </p:nvSpPr>
        <p:spPr bwMode="auto">
          <a:xfrm rot="16200000">
            <a:off x="7327106" y="756443"/>
            <a:ext cx="130175" cy="1751013"/>
          </a:xfrm>
          <a:prstGeom prst="leftBrace">
            <a:avLst>
              <a:gd name="adj1" fmla="val 112094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09ACD010-2C46-9DFB-3198-6CF93D2FB64E}"/>
                  </a:ext>
                </a:extLst>
              </p:cNvPr>
              <p:cNvSpPr txBox="1"/>
              <p:nvPr/>
            </p:nvSpPr>
            <p:spPr bwMode="auto">
              <a:xfrm>
                <a:off x="1404937" y="1971675"/>
                <a:ext cx="10652383" cy="2052638"/>
              </a:xfrm>
              <a:prstGeom prst="rect">
                <a:avLst/>
              </a:prstGeom>
              <a:noFill/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m:rPr>
                          <m:aln/>
                        </m:rP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  =  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pt-BR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t-BR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func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)+</m:t>
                                  </m:r>
                                  <m:sSub>
                                    <m:sSubPr>
                                      <m:ctrlP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d>
                                    <m:dPr>
                                      <m:ctrlP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func>
                                    <m:funcPr>
                                      <m:ctrlPr>
                                        <a:rPr lang="pt-BR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t-BR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func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>
                      <m:r>
                        <m:rPr>
                          <m:aln/>
                        </m:rP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pt-BR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pt-BR" sz="20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pt-BR" sz="20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</m:e>
                                  </m:func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pt-BR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20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pt-BR"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(2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pt-BR" sz="20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d>
                    </m:oMath>
                    <m:oMath>
                      <m:r>
                        <m:rPr>
                          <m:aln/>
                        </m:rP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  +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  +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  +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  +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⟨"/>
                          <m:endChr m:val="⟩"/>
                          <m:ctrlP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func>
                            <m:funcPr>
                              <m:ctrl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sz="20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pt-BR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func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pt-BR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pt-BR" sz="20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pt-BR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>
          <p:sp>
            <p:nvSpPr>
              <p:cNvPr id="8" name="Object 8">
                <a:extLst>
                  <a:ext uri="{FF2B5EF4-FFF2-40B4-BE49-F238E27FC236}">
                    <a16:creationId xmlns:a16="http://schemas.microsoft.com/office/drawing/2014/main" id="{09ACD010-2C46-9DFB-3198-6CF93D2FB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4937" y="1971675"/>
                <a:ext cx="10652383" cy="20526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/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E32F9FF8-036D-3C19-9B57-60A503332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0913716"/>
              </p:ext>
            </p:extLst>
          </p:nvPr>
        </p:nvGraphicFramePr>
        <p:xfrm>
          <a:off x="3868736" y="4791075"/>
          <a:ext cx="409733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09680" imgH="368280" progId="Equation.3">
                  <p:embed/>
                </p:oleObj>
              </mc:Choice>
              <mc:Fallback>
                <p:oleObj name="Equation" r:id="rId4" imgW="2209680" imgH="368280" progId="Equation.3">
                  <p:embed/>
                  <p:pic>
                    <p:nvPicPr>
                      <p:cNvPr id="9134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77" t="-7820" r="-1677" b="-7820"/>
                      <a:stretch>
                        <a:fillRect/>
                      </a:stretch>
                    </p:blipFill>
                    <p:spPr bwMode="auto">
                      <a:xfrm>
                        <a:off x="3868736" y="4791075"/>
                        <a:ext cx="4097338" cy="7651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18">
            <a:extLst>
              <a:ext uri="{FF2B5EF4-FFF2-40B4-BE49-F238E27FC236}">
                <a16:creationId xmlns:a16="http://schemas.microsoft.com/office/drawing/2014/main" id="{5D984253-C8D8-151D-1E7D-C7AFDBB2EB71}"/>
              </a:ext>
            </a:extLst>
          </p:cNvPr>
          <p:cNvGrpSpPr>
            <a:grpSpLocks/>
          </p:cNvGrpSpPr>
          <p:nvPr/>
        </p:nvGrpSpPr>
        <p:grpSpPr bwMode="auto">
          <a:xfrm>
            <a:off x="2609850" y="5726111"/>
            <a:ext cx="7361237" cy="979488"/>
            <a:chOff x="679" y="3398"/>
            <a:chExt cx="4637" cy="617"/>
          </a:xfrm>
        </p:grpSpPr>
        <p:graphicFrame>
          <p:nvGraphicFramePr>
            <p:cNvPr id="11" name="Object 11">
              <a:extLst>
                <a:ext uri="{FF2B5EF4-FFF2-40B4-BE49-F238E27FC236}">
                  <a16:creationId xmlns:a16="http://schemas.microsoft.com/office/drawing/2014/main" id="{22ECD9FF-CB77-21A4-D6FC-F0B3AA4846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10" y="3423"/>
            <a:ext cx="1336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143000" imgH="368280" progId="Equation.3">
                    <p:embed/>
                  </p:oleObj>
                </mc:Choice>
                <mc:Fallback>
                  <p:oleObj name="Equation" r:id="rId6" imgW="1143000" imgH="368280" progId="Equation.3">
                    <p:embed/>
                    <p:pic>
                      <p:nvPicPr>
                        <p:cNvPr id="913419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677" t="-7820" r="-1677" b="-7820"/>
                        <a:stretch>
                          <a:fillRect/>
                        </a:stretch>
                      </p:blipFill>
                      <p:spPr bwMode="auto">
                        <a:xfrm>
                          <a:off x="2910" y="3423"/>
                          <a:ext cx="1336" cy="482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effectLst>
                          <a:outerShdw dist="35921" dir="2700000" algn="ctr" rotWithShape="0">
                            <a:srgbClr val="C0C0C0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2">
              <a:extLst>
                <a:ext uri="{FF2B5EF4-FFF2-40B4-BE49-F238E27FC236}">
                  <a16:creationId xmlns:a16="http://schemas.microsoft.com/office/drawing/2014/main" id="{0DD6707E-8321-7DBE-51DD-7CAD87F5FEE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79" y="3398"/>
            <a:ext cx="756" cy="5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640" imgH="406080" progId="Equation.3">
                    <p:embed/>
                  </p:oleObj>
                </mc:Choice>
                <mc:Fallback>
                  <p:oleObj name="Equation" r:id="rId8" imgW="647640" imgH="406080" progId="Equation.3">
                    <p:embed/>
                    <p:pic>
                      <p:nvPicPr>
                        <p:cNvPr id="91342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677" t="-7820" r="-1677" b="-7820"/>
                        <a:stretch>
                          <a:fillRect/>
                        </a:stretch>
                      </p:blipFill>
                      <p:spPr bwMode="auto">
                        <a:xfrm>
                          <a:off x="679" y="3398"/>
                          <a:ext cx="756" cy="532"/>
                        </a:xfrm>
                        <a:prstGeom prst="rect">
                          <a:avLst/>
                        </a:prstGeom>
                        <a:solidFill>
                          <a:srgbClr val="FFFF99"/>
                        </a:solidFill>
                        <a:effectLst>
                          <a:outerShdw dist="35921" dir="2700000" algn="ctr" rotWithShape="0">
                            <a:srgbClr val="C0C0C0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C036979A-5A07-409F-36DE-F8B982062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38"/>
              <a:ext cx="816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b="1">
                  <a:solidFill>
                    <a:srgbClr val="0000CC"/>
                  </a:solidFill>
                  <a:latin typeface="Arial Narrow" pitchFamily="34" charset="0"/>
                </a:rPr>
                <a:t>Potência da portadora destacada</a:t>
              </a:r>
            </a:p>
          </p:txBody>
        </p:sp>
        <p:sp>
          <p:nvSpPr>
            <p:cNvPr id="14" name="Text Box 14">
              <a:extLst>
                <a:ext uri="{FF2B5EF4-FFF2-40B4-BE49-F238E27FC236}">
                  <a16:creationId xmlns:a16="http://schemas.microsoft.com/office/drawing/2014/main" id="{31AB267F-5E76-465F-686E-5E6B4EFF72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3462"/>
              <a:ext cx="98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l">
                <a:spcBef>
                  <a:spcPct val="50000"/>
                </a:spcBef>
              </a:pPr>
              <a:r>
                <a:rPr lang="pt-BR" b="1">
                  <a:solidFill>
                    <a:srgbClr val="0000CC"/>
                  </a:solidFill>
                  <a:latin typeface="Arial Narrow" pitchFamily="34" charset="0"/>
                </a:rPr>
                <a:t>Potência das bandas laterais</a:t>
              </a:r>
            </a:p>
          </p:txBody>
        </p:sp>
      </p:grpSp>
      <p:graphicFrame>
        <p:nvGraphicFramePr>
          <p:cNvPr id="15" name="Object 16">
            <a:extLst>
              <a:ext uri="{FF2B5EF4-FFF2-40B4-BE49-F238E27FC236}">
                <a16:creationId xmlns:a16="http://schemas.microsoft.com/office/drawing/2014/main" id="{AFCCA7B6-BB5C-454C-88D8-7E0ED99D8F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875305"/>
              </p:ext>
            </p:extLst>
          </p:nvPr>
        </p:nvGraphicFramePr>
        <p:xfrm>
          <a:off x="1549399" y="4922836"/>
          <a:ext cx="16494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88840" imgH="241200" progId="Equation.3">
                  <p:embed/>
                </p:oleObj>
              </mc:Choice>
              <mc:Fallback>
                <p:oleObj name="Equation" r:id="rId10" imgW="888840" imgH="241200" progId="Equation.3">
                  <p:embed/>
                  <p:pic>
                    <p:nvPicPr>
                      <p:cNvPr id="9134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7990" r="-1595" b="-7990"/>
                      <a:stretch>
                        <a:fillRect/>
                      </a:stretch>
                    </p:blipFill>
                    <p:spPr bwMode="auto">
                      <a:xfrm>
                        <a:off x="1549399" y="4922836"/>
                        <a:ext cx="1649412" cy="5032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AutoShape 17">
            <a:extLst>
              <a:ext uri="{FF2B5EF4-FFF2-40B4-BE49-F238E27FC236}">
                <a16:creationId xmlns:a16="http://schemas.microsoft.com/office/drawing/2014/main" id="{60F6C065-0F4A-950B-F0EB-71EEF8EDA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0736" y="4992686"/>
            <a:ext cx="361950" cy="3619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7" name="Object 19">
            <a:extLst>
              <a:ext uri="{FF2B5EF4-FFF2-40B4-BE49-F238E27FC236}">
                <a16:creationId xmlns:a16="http://schemas.microsoft.com/office/drawing/2014/main" id="{B4095CB8-2BAC-842C-8C3A-5753C066F6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350032"/>
              </p:ext>
            </p:extLst>
          </p:nvPr>
        </p:nvGraphicFramePr>
        <p:xfrm>
          <a:off x="8791574" y="4937124"/>
          <a:ext cx="16954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228600" progId="Equation.3">
                  <p:embed/>
                </p:oleObj>
              </mc:Choice>
              <mc:Fallback>
                <p:oleObj name="Equation" r:id="rId12" imgW="914400" imgH="228600" progId="Equation.3">
                  <p:embed/>
                  <p:pic>
                    <p:nvPicPr>
                      <p:cNvPr id="9134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77" t="-7820" r="-1677" b="-7820"/>
                      <a:stretch>
                        <a:fillRect/>
                      </a:stretch>
                    </p:blipFill>
                    <p:spPr bwMode="auto">
                      <a:xfrm>
                        <a:off x="8791574" y="4937124"/>
                        <a:ext cx="1695450" cy="474662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AutoShape 20">
            <a:extLst>
              <a:ext uri="{FF2B5EF4-FFF2-40B4-BE49-F238E27FC236}">
                <a16:creationId xmlns:a16="http://schemas.microsoft.com/office/drawing/2014/main" id="{4729BB15-DFF4-397E-D98C-5E55D8418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6424" y="4992686"/>
            <a:ext cx="361950" cy="3619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9" name="Object 21">
            <a:extLst>
              <a:ext uri="{FF2B5EF4-FFF2-40B4-BE49-F238E27FC236}">
                <a16:creationId xmlns:a16="http://schemas.microsoft.com/office/drawing/2014/main" id="{6365BEAC-D33F-3BCF-5DED-C78FE08DD2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4197964"/>
              </p:ext>
            </p:extLst>
          </p:nvPr>
        </p:nvGraphicFramePr>
        <p:xfrm>
          <a:off x="3870325" y="3865562"/>
          <a:ext cx="5792787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24080" imgH="368280" progId="Equation.3">
                  <p:embed/>
                </p:oleObj>
              </mc:Choice>
              <mc:Fallback>
                <p:oleObj name="Equation" r:id="rId14" imgW="3124080" imgH="368280" progId="Equation.3">
                  <p:embed/>
                  <p:pic>
                    <p:nvPicPr>
                      <p:cNvPr id="91342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77" t="-7820" r="-1677" b="-7820"/>
                      <a:stretch>
                        <a:fillRect/>
                      </a:stretch>
                    </p:blipFill>
                    <p:spPr bwMode="auto">
                      <a:xfrm>
                        <a:off x="3870325" y="3865562"/>
                        <a:ext cx="5792787" cy="7651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2">
            <a:extLst>
              <a:ext uri="{FF2B5EF4-FFF2-40B4-BE49-F238E27FC236}">
                <a16:creationId xmlns:a16="http://schemas.microsoft.com/office/drawing/2014/main" id="{97AB4FBE-0C95-3F5D-5994-10E725AFD5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076587"/>
              </p:ext>
            </p:extLst>
          </p:nvPr>
        </p:nvGraphicFramePr>
        <p:xfrm>
          <a:off x="1660524" y="4008436"/>
          <a:ext cx="1485900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99920" imgH="228600" progId="Equation.3">
                  <p:embed/>
                </p:oleObj>
              </mc:Choice>
              <mc:Fallback>
                <p:oleObj name="Equation" r:id="rId16" imgW="799920" imgH="228600" progId="Equation.3">
                  <p:embed/>
                  <p:pic>
                    <p:nvPicPr>
                      <p:cNvPr id="91343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7990" r="-1595" b="-7990"/>
                      <a:stretch>
                        <a:fillRect/>
                      </a:stretch>
                    </p:blipFill>
                    <p:spPr bwMode="auto">
                      <a:xfrm>
                        <a:off x="1660524" y="4008436"/>
                        <a:ext cx="1485900" cy="4778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AutoShape 23">
            <a:extLst>
              <a:ext uri="{FF2B5EF4-FFF2-40B4-BE49-F238E27FC236}">
                <a16:creationId xmlns:a16="http://schemas.microsoft.com/office/drawing/2014/main" id="{E9A27689-1FCD-3701-8F96-7439D8178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749" y="4067174"/>
            <a:ext cx="361950" cy="361950"/>
          </a:xfrm>
          <a:prstGeom prst="rightArrow">
            <a:avLst>
              <a:gd name="adj1" fmla="val 50000"/>
              <a:gd name="adj2" fmla="val 25000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AutoShape 24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A0F3BD60-F8B8-96CA-6D73-CAC83BA94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3986" y="4084636"/>
            <a:ext cx="342900" cy="323850"/>
          </a:xfrm>
          <a:prstGeom prst="actionButtonForwardNex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7434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1" grpId="0" animBg="1"/>
      <p:bldP spid="2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E55DF-0975-1B34-8288-A808BA8D8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Eficiência da Modulação AM 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688122B-46AA-98EE-08D3-1AE03053AF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67200" y="1068388"/>
          <a:ext cx="6248400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77880" imgH="431640" progId="Equation.3">
                  <p:embed/>
                </p:oleObj>
              </mc:Choice>
              <mc:Fallback>
                <p:oleObj name="Equation" r:id="rId2" imgW="3377880" imgH="431640" progId="Equation.3">
                  <p:embed/>
                  <p:pic>
                    <p:nvPicPr>
                      <p:cNvPr id="8028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279" t="-6673" r="-1279" b="-6673"/>
                      <a:stretch>
                        <a:fillRect/>
                      </a:stretch>
                    </p:blipFill>
                    <p:spPr bwMode="auto">
                      <a:xfrm>
                        <a:off x="4267200" y="1068388"/>
                        <a:ext cx="6248400" cy="8810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B396AF91-B90A-1B70-5660-BCCB8879A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1050926"/>
            <a:ext cx="22098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pt-BR" sz="2000" b="1" i="1">
                <a:solidFill>
                  <a:schemeClr val="accent2"/>
                </a:solidFill>
                <a:latin typeface="Arial Narrow" pitchFamily="34" charset="0"/>
              </a:rPr>
              <a:t>Eficiência potencial </a:t>
            </a:r>
            <a:r>
              <a:rPr lang="pt-BR" sz="2000" b="1">
                <a:solidFill>
                  <a:schemeClr val="accent2"/>
                </a:solidFill>
                <a:latin typeface="Arial Narrow" pitchFamily="34" charset="0"/>
              </a:rPr>
              <a:t>de um processo de modulação</a:t>
            </a:r>
            <a:endParaRPr lang="pt-BR" sz="2000" b="1" i="1">
              <a:solidFill>
                <a:schemeClr val="accent2"/>
              </a:solidFill>
              <a:latin typeface="Arial Narrow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EE0B4E15-7574-79C5-A0EE-CE0327A8E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2850" y="1327150"/>
            <a:ext cx="209550" cy="361950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99CCFF"/>
          </a:solidFill>
          <a:ln w="9525">
            <a:solidFill>
              <a:srgbClr val="0000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1DC72A07-5400-1890-0BBD-08341957C454}"/>
              </a:ext>
            </a:extLst>
          </p:cNvPr>
          <p:cNvGrpSpPr>
            <a:grpSpLocks/>
          </p:cNvGrpSpPr>
          <p:nvPr/>
        </p:nvGrpSpPr>
        <p:grpSpPr bwMode="auto">
          <a:xfrm>
            <a:off x="1854201" y="2155825"/>
            <a:ext cx="4799013" cy="1993900"/>
            <a:chOff x="208" y="1430"/>
            <a:chExt cx="3023" cy="1256"/>
          </a:xfrm>
        </p:grpSpPr>
        <p:graphicFrame>
          <p:nvGraphicFramePr>
            <p:cNvPr id="7" name="Object 7">
              <a:extLst>
                <a:ext uri="{FF2B5EF4-FFF2-40B4-BE49-F238E27FC236}">
                  <a16:creationId xmlns:a16="http://schemas.microsoft.com/office/drawing/2014/main" id="{A85C0328-A468-8659-B85E-0C30668CFC7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" y="1430"/>
            <a:ext cx="3023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2590560" imgH="228600" progId="Equation.3">
                    <p:embed/>
                  </p:oleObj>
                </mc:Choice>
                <mc:Fallback>
                  <p:oleObj name="Equation" r:id="rId4" imgW="2590560" imgH="228600" progId="Equation.3">
                    <p:embed/>
                    <p:pic>
                      <p:nvPicPr>
                        <p:cNvPr id="802823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602" t="-7874" r="-1602" b="-7874"/>
                        <a:stretch>
                          <a:fillRect/>
                        </a:stretch>
                      </p:blipFill>
                      <p:spPr bwMode="auto">
                        <a:xfrm>
                          <a:off x="208" y="1430"/>
                          <a:ext cx="3023" cy="299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1586A1F0-E7C3-7996-CCD4-6C05DB2E93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749"/>
              <a:ext cx="1333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pt-BR" b="1">
                  <a:solidFill>
                    <a:srgbClr val="FF0000"/>
                  </a:solidFill>
                  <a:latin typeface="Arial Narrow" pitchFamily="34" charset="0"/>
                </a:rPr>
                <a:t>portadora destacada </a:t>
              </a:r>
              <a:r>
                <a:rPr lang="pt-BR" b="1" i="1">
                  <a:solidFill>
                    <a:srgbClr val="FF0000"/>
                  </a:solidFill>
                  <a:latin typeface="Arial Narrow" pitchFamily="34" charset="0"/>
                </a:rPr>
                <a:t> </a:t>
              </a:r>
              <a:r>
                <a:rPr lang="pt-BR" b="1">
                  <a:solidFill>
                    <a:srgbClr val="FF0000"/>
                  </a:solidFill>
                  <a:latin typeface="Arial Narrow" pitchFamily="34" charset="0"/>
                </a:rPr>
                <a:t> 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7D0D8FB0-AAB3-19A2-F6E8-6B7E80D3F3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2" y="1741"/>
              <a:ext cx="1114" cy="2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5000"/>
                </a:lnSpc>
                <a:spcBef>
                  <a:spcPct val="50000"/>
                </a:spcBef>
              </a:pPr>
              <a:r>
                <a:rPr lang="pt-BR" b="1">
                  <a:solidFill>
                    <a:srgbClr val="FF0000"/>
                  </a:solidFill>
                  <a:latin typeface="Arial Narrow" pitchFamily="34" charset="0"/>
                </a:rPr>
                <a:t>bandas laterais</a:t>
              </a:r>
              <a:r>
                <a:rPr lang="pt-BR" b="1" i="1">
                  <a:solidFill>
                    <a:srgbClr val="FF0000"/>
                  </a:solidFill>
                  <a:latin typeface="Arial Narrow" pitchFamily="34" charset="0"/>
                </a:rPr>
                <a:t> </a:t>
              </a:r>
              <a:r>
                <a:rPr lang="pt-BR" b="1">
                  <a:solidFill>
                    <a:srgbClr val="FF0000"/>
                  </a:solidFill>
                  <a:latin typeface="Arial Narrow" pitchFamily="34" charset="0"/>
                </a:rPr>
                <a:t> </a:t>
              </a:r>
            </a:p>
          </p:txBody>
        </p:sp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464805D1-0184-AF67-95E1-008D2F00D983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1156" y="1332"/>
              <a:ext cx="72" cy="774"/>
            </a:xfrm>
            <a:prstGeom prst="leftBrace">
              <a:avLst>
                <a:gd name="adj1" fmla="val 89583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15678E2C-7133-2118-95F5-9022B125DA3D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464" y="1046"/>
              <a:ext cx="76" cy="1334"/>
            </a:xfrm>
            <a:prstGeom prst="leftBrace">
              <a:avLst>
                <a:gd name="adj1" fmla="val 146272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aphicFrame>
          <p:nvGraphicFramePr>
            <p:cNvPr id="12" name="Object 12">
              <a:extLst>
                <a:ext uri="{FF2B5EF4-FFF2-40B4-BE49-F238E27FC236}">
                  <a16:creationId xmlns:a16="http://schemas.microsoft.com/office/drawing/2014/main" id="{FA9444DF-5D64-1E8F-10AA-E6A610837F6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36" y="2188"/>
            <a:ext cx="890" cy="4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61760" imgH="368280" progId="Equation.3">
                    <p:embed/>
                  </p:oleObj>
                </mc:Choice>
                <mc:Fallback>
                  <p:oleObj name="Equation" r:id="rId6" imgW="761760" imgH="368280" progId="Equation.3">
                    <p:embed/>
                    <p:pic>
                      <p:nvPicPr>
                        <p:cNvPr id="80282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677" t="-7820" r="-1677" b="-7820"/>
                        <a:stretch>
                          <a:fillRect/>
                        </a:stretch>
                      </p:blipFill>
                      <p:spPr bwMode="auto">
                        <a:xfrm>
                          <a:off x="1836" y="2188"/>
                          <a:ext cx="890" cy="481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3">
              <a:extLst>
                <a:ext uri="{FF2B5EF4-FFF2-40B4-BE49-F238E27FC236}">
                  <a16:creationId xmlns:a16="http://schemas.microsoft.com/office/drawing/2014/main" id="{D63D97BF-CFE3-9F56-1E69-68E4AA8F388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1" y="2171"/>
            <a:ext cx="652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558720" imgH="393480" progId="Equation.3">
                    <p:embed/>
                  </p:oleObj>
                </mc:Choice>
                <mc:Fallback>
                  <p:oleObj name="Equation" r:id="rId8" imgW="558720" imgH="393480" progId="Equation.3">
                    <p:embed/>
                    <p:pic>
                      <p:nvPicPr>
                        <p:cNvPr id="802829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677" t="-7820" r="-1677" b="-7820"/>
                        <a:stretch>
                          <a:fillRect/>
                        </a:stretch>
                      </p:blipFill>
                      <p:spPr bwMode="auto">
                        <a:xfrm>
                          <a:off x="851" y="2171"/>
                          <a:ext cx="652" cy="515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" name="AutoShape 14">
              <a:extLst>
                <a:ext uri="{FF2B5EF4-FFF2-40B4-BE49-F238E27FC236}">
                  <a16:creationId xmlns:a16="http://schemas.microsoft.com/office/drawing/2014/main" id="{756017AC-47DF-CFDD-3C74-D571717AC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6" y="1980"/>
              <a:ext cx="120" cy="180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5" name="AutoShape 15">
              <a:extLst>
                <a:ext uri="{FF2B5EF4-FFF2-40B4-BE49-F238E27FC236}">
                  <a16:creationId xmlns:a16="http://schemas.microsoft.com/office/drawing/2014/main" id="{EDC4C82D-64F5-0994-4E41-B943B7FF7E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1980"/>
              <a:ext cx="120" cy="180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aphicFrame>
        <p:nvGraphicFramePr>
          <p:cNvPr id="16" name="Object 17">
            <a:extLst>
              <a:ext uri="{FF2B5EF4-FFF2-40B4-BE49-F238E27FC236}">
                <a16:creationId xmlns:a16="http://schemas.microsoft.com/office/drawing/2014/main" id="{0FE26A43-0CB5-AB70-8BF1-9945B7BAB8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2339" y="4256089"/>
          <a:ext cx="25606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84200" imgH="406080" progId="Equation.3">
                  <p:embed/>
                </p:oleObj>
              </mc:Choice>
              <mc:Fallback>
                <p:oleObj name="Equation" r:id="rId10" imgW="1384200" imgH="406080" progId="Equation.3">
                  <p:embed/>
                  <p:pic>
                    <p:nvPicPr>
                      <p:cNvPr id="80283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279" t="-6673" r="-1279" b="-6673"/>
                      <a:stretch>
                        <a:fillRect/>
                      </a:stretch>
                    </p:blipFill>
                    <p:spPr bwMode="auto">
                      <a:xfrm>
                        <a:off x="3462339" y="4256089"/>
                        <a:ext cx="2560637" cy="828675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8">
            <a:extLst>
              <a:ext uri="{FF2B5EF4-FFF2-40B4-BE49-F238E27FC236}">
                <a16:creationId xmlns:a16="http://schemas.microsoft.com/office/drawing/2014/main" id="{072201C4-7ED4-BBC2-DD98-136BAABD7F1E}"/>
              </a:ext>
            </a:extLst>
          </p:cNvPr>
          <p:cNvGrpSpPr>
            <a:grpSpLocks/>
          </p:cNvGrpSpPr>
          <p:nvPr/>
        </p:nvGrpSpPr>
        <p:grpSpPr bwMode="auto">
          <a:xfrm>
            <a:off x="6610351" y="4359275"/>
            <a:ext cx="2117725" cy="547688"/>
            <a:chOff x="4080" y="3130"/>
            <a:chExt cx="1334" cy="345"/>
          </a:xfrm>
        </p:grpSpPr>
        <p:graphicFrame>
          <p:nvGraphicFramePr>
            <p:cNvPr id="18" name="Object 19">
              <a:extLst>
                <a:ext uri="{FF2B5EF4-FFF2-40B4-BE49-F238E27FC236}">
                  <a16:creationId xmlns:a16="http://schemas.microsoft.com/office/drawing/2014/main" id="{17024B0F-C2AE-3ADB-E07A-450074FF1CF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72" y="3130"/>
            <a:ext cx="942" cy="3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736560" imgH="203040" progId="Equation.3">
                    <p:embed/>
                  </p:oleObj>
                </mc:Choice>
                <mc:Fallback>
                  <p:oleObj name="Equation" r:id="rId12" imgW="736560" imgH="203040" progId="Equation.3">
                    <p:embed/>
                    <p:pic>
                      <p:nvPicPr>
                        <p:cNvPr id="802835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6354" t="-24823" r="-6354" b="-24823"/>
                        <a:stretch>
                          <a:fillRect/>
                        </a:stretch>
                      </p:blipFill>
                      <p:spPr bwMode="auto">
                        <a:xfrm>
                          <a:off x="4472" y="3130"/>
                          <a:ext cx="942" cy="345"/>
                        </a:xfrm>
                        <a:prstGeom prst="rect">
                          <a:avLst/>
                        </a:prstGeom>
                        <a:solidFill>
                          <a:srgbClr val="CCFFCC"/>
                        </a:solidFill>
                        <a:effectLst>
                          <a:outerShdw dist="35921" dir="2700000" algn="ctr" rotWithShape="0">
                            <a:srgbClr val="808080"/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AutoShape 20">
              <a:extLst>
                <a:ext uri="{FF2B5EF4-FFF2-40B4-BE49-F238E27FC236}">
                  <a16:creationId xmlns:a16="http://schemas.microsoft.com/office/drawing/2014/main" id="{F6FBB411-15D6-4FEC-7775-35EBF1214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216"/>
              <a:ext cx="288" cy="228"/>
            </a:xfrm>
            <a:prstGeom prst="rightArrow">
              <a:avLst>
                <a:gd name="adj1" fmla="val 50000"/>
                <a:gd name="adj2" fmla="val 31579"/>
              </a:avLst>
            </a:prstGeom>
            <a:solidFill>
              <a:schemeClr val="accent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20" name="Group 31">
            <a:extLst>
              <a:ext uri="{FF2B5EF4-FFF2-40B4-BE49-F238E27FC236}">
                <a16:creationId xmlns:a16="http://schemas.microsoft.com/office/drawing/2014/main" id="{03472E43-953C-8C79-B285-A35748F20A0C}"/>
              </a:ext>
            </a:extLst>
          </p:cNvPr>
          <p:cNvGrpSpPr>
            <a:grpSpLocks/>
          </p:cNvGrpSpPr>
          <p:nvPr/>
        </p:nvGrpSpPr>
        <p:grpSpPr bwMode="auto">
          <a:xfrm>
            <a:off x="7594600" y="2141538"/>
            <a:ext cx="2997200" cy="1928812"/>
            <a:chOff x="3824" y="1421"/>
            <a:chExt cx="1888" cy="1215"/>
          </a:xfrm>
        </p:grpSpPr>
        <p:graphicFrame>
          <p:nvGraphicFramePr>
            <p:cNvPr id="21" name="Object 16">
              <a:extLst>
                <a:ext uri="{FF2B5EF4-FFF2-40B4-BE49-F238E27FC236}">
                  <a16:creationId xmlns:a16="http://schemas.microsoft.com/office/drawing/2014/main" id="{29E6D31A-C46B-D017-B172-3D03F5B7294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54" y="2234"/>
            <a:ext cx="1823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562040" imgH="304560" progId="Equation.3">
                    <p:embed/>
                  </p:oleObj>
                </mc:Choice>
                <mc:Fallback>
                  <p:oleObj name="Equation" r:id="rId14" imgW="1562040" imgH="304560" progId="Equation.3">
                    <p:embed/>
                    <p:pic>
                      <p:nvPicPr>
                        <p:cNvPr id="802832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613" t="-8275" r="-1613" b="-8275"/>
                        <a:stretch>
                          <a:fillRect/>
                        </a:stretch>
                      </p:blipFill>
                      <p:spPr bwMode="auto">
                        <a:xfrm>
                          <a:off x="3854" y="2234"/>
                          <a:ext cx="1823" cy="40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4">
              <a:extLst>
                <a:ext uri="{FF2B5EF4-FFF2-40B4-BE49-F238E27FC236}">
                  <a16:creationId xmlns:a16="http://schemas.microsoft.com/office/drawing/2014/main" id="{A58FA66B-81D4-5ED7-D32D-5A3DD0A770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24" y="1421"/>
            <a:ext cx="1888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612800" imgH="469800" progId="Equation.3">
                    <p:embed/>
                  </p:oleObj>
                </mc:Choice>
                <mc:Fallback>
                  <p:oleObj name="Equation" r:id="rId16" imgW="1612800" imgH="469800" progId="Equation.3">
                    <p:embed/>
                    <p:pic>
                      <p:nvPicPr>
                        <p:cNvPr id="802840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7990" r="-1595" b="-7990"/>
                        <a:stretch>
                          <a:fillRect/>
                        </a:stretch>
                      </p:blipFill>
                      <p:spPr bwMode="auto">
                        <a:xfrm>
                          <a:off x="3824" y="1421"/>
                          <a:ext cx="1888" cy="618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" name="AutoShape 26">
              <a:extLst>
                <a:ext uri="{FF2B5EF4-FFF2-40B4-BE49-F238E27FC236}">
                  <a16:creationId xmlns:a16="http://schemas.microsoft.com/office/drawing/2014/main" id="{33D35C96-B71A-98AB-BA1D-462A28D6C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2056"/>
              <a:ext cx="120" cy="180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</p:grpSp>
      <p:graphicFrame>
        <p:nvGraphicFramePr>
          <p:cNvPr id="24" name="Object 34">
            <a:extLst>
              <a:ext uri="{FF2B5EF4-FFF2-40B4-BE49-F238E27FC236}">
                <a16:creationId xmlns:a16="http://schemas.microsoft.com/office/drawing/2014/main" id="{4EADFB46-62D1-2ABC-331F-E0CB0C2417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32776" y="5532438"/>
          <a:ext cx="1947863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54080" imgH="304560" progId="Equation.3">
                  <p:embed/>
                </p:oleObj>
              </mc:Choice>
              <mc:Fallback>
                <p:oleObj name="Equation" r:id="rId18" imgW="1054080" imgH="304560" progId="Equation.3">
                  <p:embed/>
                  <p:pic>
                    <p:nvPicPr>
                      <p:cNvPr id="8028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279" t="-6673" r="-1279" b="-6673"/>
                      <a:stretch>
                        <a:fillRect/>
                      </a:stretch>
                    </p:blipFill>
                    <p:spPr bwMode="auto">
                      <a:xfrm>
                        <a:off x="8232776" y="5532438"/>
                        <a:ext cx="1947863" cy="6223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5">
            <a:extLst>
              <a:ext uri="{FF2B5EF4-FFF2-40B4-BE49-F238E27FC236}">
                <a16:creationId xmlns:a16="http://schemas.microsoft.com/office/drawing/2014/main" id="{DA3844A9-5E05-FB67-1A85-D4AC3B7720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0738" y="5281614"/>
          <a:ext cx="1751012" cy="1004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761760" imgH="431640" progId="Equation.3">
                  <p:embed/>
                </p:oleObj>
              </mc:Choice>
              <mc:Fallback>
                <p:oleObj name="Equation" r:id="rId20" imgW="761760" imgH="431640" progId="Equation.3">
                  <p:embed/>
                  <p:pic>
                    <p:nvPicPr>
                      <p:cNvPr id="802851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7523" t="-8234" r="-7523" b="-8234"/>
                      <a:stretch>
                        <a:fillRect/>
                      </a:stretch>
                    </p:blipFill>
                    <p:spPr bwMode="auto">
                      <a:xfrm>
                        <a:off x="2090738" y="5281614"/>
                        <a:ext cx="1751012" cy="1004887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AutoShape 36">
            <a:extLst>
              <a:ext uri="{FF2B5EF4-FFF2-40B4-BE49-F238E27FC236}">
                <a16:creationId xmlns:a16="http://schemas.microsoft.com/office/drawing/2014/main" id="{61D54717-800A-7899-996B-99AAC7A92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9088" y="5667375"/>
            <a:ext cx="285750" cy="209550"/>
          </a:xfrm>
          <a:prstGeom prst="rightArrow">
            <a:avLst>
              <a:gd name="adj1" fmla="val 50000"/>
              <a:gd name="adj2" fmla="val 34091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27" name="Object 38">
            <a:extLst>
              <a:ext uri="{FF2B5EF4-FFF2-40B4-BE49-F238E27FC236}">
                <a16:creationId xmlns:a16="http://schemas.microsoft.com/office/drawing/2014/main" id="{2C1F26AD-35C6-8B2E-FAA8-6A4D32B205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4" y="5280025"/>
          <a:ext cx="3240087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409400" imgH="406080" progId="Equation.3">
                  <p:embed/>
                </p:oleObj>
              </mc:Choice>
              <mc:Fallback>
                <p:oleObj name="Equation" r:id="rId22" imgW="1409400" imgH="406080" progId="Equation.3">
                  <p:embed/>
                  <p:pic>
                    <p:nvPicPr>
                      <p:cNvPr id="80285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7523" t="-8234" r="-7523" b="-8234"/>
                      <a:stretch>
                        <a:fillRect/>
                      </a:stretch>
                    </p:blipFill>
                    <p:spPr bwMode="auto">
                      <a:xfrm>
                        <a:off x="4703764" y="5280025"/>
                        <a:ext cx="3240087" cy="94615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8482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87D24-36E0-600A-98AC-DB527EF90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AM</a:t>
            </a:r>
            <a:br>
              <a:rPr lang="pt-BR" dirty="0"/>
            </a:br>
            <a:r>
              <a:rPr lang="pt-BR" dirty="0"/>
              <a:t>Modulante Tonal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7AA70E06-1E16-5652-88A3-F43E514A6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2288" y="1824038"/>
          <a:ext cx="507365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30240" imgH="507960" progId="Equation.3">
                  <p:embed/>
                </p:oleObj>
              </mc:Choice>
              <mc:Fallback>
                <p:oleObj name="Equation" r:id="rId2" imgW="2730240" imgH="507960" progId="Equation.3">
                  <p:embed/>
                  <p:pic>
                    <p:nvPicPr>
                      <p:cNvPr id="80384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1792288" y="1824038"/>
                        <a:ext cx="5073650" cy="106680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">
            <a:extLst>
              <a:ext uri="{FF2B5EF4-FFF2-40B4-BE49-F238E27FC236}">
                <a16:creationId xmlns:a16="http://schemas.microsoft.com/office/drawing/2014/main" id="{8CA88801-26DF-5659-A31F-52A7C2EE65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1013" y="1104901"/>
          <a:ext cx="2832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228600" progId="Equation.3">
                  <p:embed/>
                </p:oleObj>
              </mc:Choice>
              <mc:Fallback>
                <p:oleObj name="Equation" r:id="rId4" imgW="1523880" imgH="228600" progId="Equation.3">
                  <p:embed/>
                  <p:pic>
                    <p:nvPicPr>
                      <p:cNvPr id="80384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1751013" y="1104901"/>
                        <a:ext cx="2832100" cy="4794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F5C72456-363E-913A-EA41-12E33C9F72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07288" y="2214564"/>
          <a:ext cx="2881312" cy="1385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080" imgH="660240" progId="Equation.3">
                  <p:embed/>
                </p:oleObj>
              </mc:Choice>
              <mc:Fallback>
                <p:oleObj name="Equation" r:id="rId6" imgW="1549080" imgH="660240" progId="Equation.3">
                  <p:embed/>
                  <p:pic>
                    <p:nvPicPr>
                      <p:cNvPr id="80384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7507288" y="2214564"/>
                        <a:ext cx="2881312" cy="138588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AutoShape 7">
            <a:extLst>
              <a:ext uri="{FF2B5EF4-FFF2-40B4-BE49-F238E27FC236}">
                <a16:creationId xmlns:a16="http://schemas.microsoft.com/office/drawing/2014/main" id="{141F41E3-924F-BDE6-BF41-5DA3904B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667000"/>
            <a:ext cx="228600" cy="609600"/>
          </a:xfrm>
          <a:prstGeom prst="curvedLeftArrow">
            <a:avLst>
              <a:gd name="adj1" fmla="val 53333"/>
              <a:gd name="adj2" fmla="val 106667"/>
              <a:gd name="adj3" fmla="val 33333"/>
            </a:avLst>
          </a:prstGeom>
          <a:solidFill>
            <a:schemeClr val="accent1"/>
          </a:soli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3F319D2B-EBB3-CE29-912E-23BB0FA922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4626" y="5311776"/>
          <a:ext cx="1274763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85800" imgH="368280" progId="Equation.3">
                  <p:embed/>
                </p:oleObj>
              </mc:Choice>
              <mc:Fallback>
                <p:oleObj name="Equation" r:id="rId8" imgW="685800" imgH="368280" progId="Equation.3">
                  <p:embed/>
                  <p:pic>
                    <p:nvPicPr>
                      <p:cNvPr id="8038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3984626" y="5311776"/>
                        <a:ext cx="1274763" cy="7731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7B4994EB-5843-CBFA-4C7C-248EFD506E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96039" y="5264150"/>
          <a:ext cx="12906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622080" imgH="406080" progId="Equation.3">
                  <p:embed/>
                </p:oleObj>
              </mc:Choice>
              <mc:Fallback>
                <p:oleObj name="Equation" r:id="rId10" imgW="622080" imgH="406080" progId="Equation.3">
                  <p:embed/>
                  <p:pic>
                    <p:nvPicPr>
                      <p:cNvPr id="80384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7523" t="-8865" r="-7523" b="-8865"/>
                      <a:stretch>
                        <a:fillRect/>
                      </a:stretch>
                    </p:blipFill>
                    <p:spPr bwMode="auto">
                      <a:xfrm>
                        <a:off x="6396039" y="5264150"/>
                        <a:ext cx="1290637" cy="8651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10">
            <a:extLst>
              <a:ext uri="{FF2B5EF4-FFF2-40B4-BE49-F238E27FC236}">
                <a16:creationId xmlns:a16="http://schemas.microsoft.com/office/drawing/2014/main" id="{95CE4075-7596-29C4-F495-1BEB28D6C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1650" y="5621338"/>
            <a:ext cx="590550" cy="152400"/>
          </a:xfrm>
          <a:prstGeom prst="rightArrow">
            <a:avLst>
              <a:gd name="adj1" fmla="val 50000"/>
              <a:gd name="adj2" fmla="val 96875"/>
            </a:avLst>
          </a:prstGeom>
          <a:solidFill>
            <a:schemeClr val="accent1"/>
          </a:soli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AC97DE01-9B75-59C8-9C0F-62D6F4226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3476" y="2981326"/>
          <a:ext cx="432117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323800" imgH="228600" progId="Equation.3">
                  <p:embed/>
                </p:oleObj>
              </mc:Choice>
              <mc:Fallback>
                <p:oleObj name="Equation" r:id="rId12" imgW="2323800" imgH="228600" progId="Equation.3">
                  <p:embed/>
                  <p:pic>
                    <p:nvPicPr>
                      <p:cNvPr id="8038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2403476" y="2981326"/>
                        <a:ext cx="4321175" cy="4794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2">
            <a:extLst>
              <a:ext uri="{FF2B5EF4-FFF2-40B4-BE49-F238E27FC236}">
                <a16:creationId xmlns:a16="http://schemas.microsoft.com/office/drawing/2014/main" id="{3D1BFE23-CF87-581D-2C88-AAD9E64A87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22513" y="4473576"/>
          <a:ext cx="774541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65560" imgH="228600" progId="Equation.3">
                  <p:embed/>
                </p:oleObj>
              </mc:Choice>
              <mc:Fallback>
                <p:oleObj name="Equation" r:id="rId14" imgW="4165560" imgH="228600" progId="Equation.3">
                  <p:embed/>
                  <p:pic>
                    <p:nvPicPr>
                      <p:cNvPr id="803852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2322513" y="4473576"/>
                        <a:ext cx="7745412" cy="4794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>
            <a:extLst>
              <a:ext uri="{FF2B5EF4-FFF2-40B4-BE49-F238E27FC236}">
                <a16:creationId xmlns:a16="http://schemas.microsoft.com/office/drawing/2014/main" id="{3D14C759-10F9-2E81-2A7B-FB2CA185D2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32039" y="3579813"/>
          <a:ext cx="8027987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7840" imgH="368280" progId="Equation.3">
                  <p:embed/>
                </p:oleObj>
              </mc:Choice>
              <mc:Fallback>
                <p:oleObj name="Equation" r:id="rId16" imgW="4317840" imgH="368280" progId="Equation.3">
                  <p:embed/>
                  <p:pic>
                    <p:nvPicPr>
                      <p:cNvPr id="803853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2332039" y="3579813"/>
                        <a:ext cx="8027987" cy="7731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0691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1B98A-7E05-A5A1-A2EA-BAD8D007C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327DE-0C89-6893-8CB4-869C9C87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AM</a:t>
            </a:r>
            <a:br>
              <a:rPr lang="pt-BR" dirty="0"/>
            </a:br>
            <a:r>
              <a:rPr lang="pt-BR" dirty="0"/>
              <a:t>Modulante Tonal</a:t>
            </a:r>
          </a:p>
        </p:txBody>
      </p:sp>
      <p:graphicFrame>
        <p:nvGraphicFramePr>
          <p:cNvPr id="13" name="Object 4">
            <a:extLst>
              <a:ext uri="{FF2B5EF4-FFF2-40B4-BE49-F238E27FC236}">
                <a16:creationId xmlns:a16="http://schemas.microsoft.com/office/drawing/2014/main" id="{E26C1045-7F4E-60C8-B834-A9A0209C24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1338" y="1885951"/>
          <a:ext cx="83312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83080" imgH="228600" progId="Equation.3">
                  <p:embed/>
                </p:oleObj>
              </mc:Choice>
              <mc:Fallback>
                <p:oleObj name="Equation" r:id="rId2" imgW="4483080" imgH="228600" progId="Equation.3">
                  <p:embed/>
                  <p:pic>
                    <p:nvPicPr>
                      <p:cNvPr id="8048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1811338" y="1885951"/>
                        <a:ext cx="8331200" cy="4794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">
            <a:extLst>
              <a:ext uri="{FF2B5EF4-FFF2-40B4-BE49-F238E27FC236}">
                <a16:creationId xmlns:a16="http://schemas.microsoft.com/office/drawing/2014/main" id="{FC88275D-4782-5B98-E1E1-D8923C8B7B7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98638" y="1314451"/>
          <a:ext cx="2832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3880" imgH="228600" progId="Equation.3">
                  <p:embed/>
                </p:oleObj>
              </mc:Choice>
              <mc:Fallback>
                <p:oleObj name="Equation" r:id="rId4" imgW="1523880" imgH="228600" progId="Equation.3">
                  <p:embed/>
                  <p:pic>
                    <p:nvPicPr>
                      <p:cNvPr id="8048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1798638" y="1314451"/>
                        <a:ext cx="2832100" cy="47942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6">
            <a:extLst>
              <a:ext uri="{FF2B5EF4-FFF2-40B4-BE49-F238E27FC236}">
                <a16:creationId xmlns:a16="http://schemas.microsoft.com/office/drawing/2014/main" id="{762A584C-15B8-864E-8846-55EE5AEE4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84376" y="2797176"/>
          <a:ext cx="1274763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85800" imgH="368280" progId="Equation.3">
                  <p:embed/>
                </p:oleObj>
              </mc:Choice>
              <mc:Fallback>
                <p:oleObj name="Equation" r:id="rId6" imgW="685800" imgH="368280" progId="Equation.3">
                  <p:embed/>
                  <p:pic>
                    <p:nvPicPr>
                      <p:cNvPr id="80487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595" t="-8102" r="-1595" b="-8102"/>
                      <a:stretch>
                        <a:fillRect/>
                      </a:stretch>
                    </p:blipFill>
                    <p:spPr bwMode="auto">
                      <a:xfrm>
                        <a:off x="1984376" y="2797176"/>
                        <a:ext cx="1274763" cy="7731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7">
            <a:extLst>
              <a:ext uri="{FF2B5EF4-FFF2-40B4-BE49-F238E27FC236}">
                <a16:creationId xmlns:a16="http://schemas.microsoft.com/office/drawing/2014/main" id="{BC659115-589A-C2DA-9138-F1B511C47E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95789" y="2749550"/>
          <a:ext cx="129063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622080" imgH="406080" progId="Equation.3">
                  <p:embed/>
                </p:oleObj>
              </mc:Choice>
              <mc:Fallback>
                <p:oleObj name="Equation" r:id="rId8" imgW="622080" imgH="406080" progId="Equation.3">
                  <p:embed/>
                  <p:pic>
                    <p:nvPicPr>
                      <p:cNvPr id="8048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7523" t="-8865" r="-7523" b="-8865"/>
                      <a:stretch>
                        <a:fillRect/>
                      </a:stretch>
                    </p:blipFill>
                    <p:spPr bwMode="auto">
                      <a:xfrm>
                        <a:off x="4395789" y="2749550"/>
                        <a:ext cx="1290637" cy="865188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rgbClr val="C0C0C0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8">
            <a:extLst>
              <a:ext uri="{FF2B5EF4-FFF2-40B4-BE49-F238E27FC236}">
                <a16:creationId xmlns:a16="http://schemas.microsoft.com/office/drawing/2014/main" id="{4E87D1AC-8E3A-F968-9A64-C04A5EE2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106738"/>
            <a:ext cx="590550" cy="152400"/>
          </a:xfrm>
          <a:prstGeom prst="rightArrow">
            <a:avLst>
              <a:gd name="adj1" fmla="val 50000"/>
              <a:gd name="adj2" fmla="val 96875"/>
            </a:avLst>
          </a:prstGeom>
          <a:solidFill>
            <a:schemeClr val="accent1"/>
          </a:solidFill>
          <a:ln w="9525">
            <a:solidFill>
              <a:srgbClr val="0066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D1F788F1-FA78-7A6E-5130-A450D28BFEF9}"/>
              </a:ext>
            </a:extLst>
          </p:cNvPr>
          <p:cNvGrpSpPr>
            <a:grpSpLocks/>
          </p:cNvGrpSpPr>
          <p:nvPr/>
        </p:nvGrpSpPr>
        <p:grpSpPr bwMode="auto">
          <a:xfrm>
            <a:off x="5295900" y="3670301"/>
            <a:ext cx="4838700" cy="2403475"/>
            <a:chOff x="1788" y="2144"/>
            <a:chExt cx="3048" cy="1514"/>
          </a:xfrm>
        </p:grpSpPr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1BE19E9E-7D1A-2820-A4FD-0802F8F5A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8" y="3373"/>
              <a:ext cx="30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31766902-F4A4-894E-3FD3-F3FCBBF4AD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42" y="2412"/>
              <a:ext cx="0" cy="96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none" w="sm" len="med"/>
            </a:ln>
            <a:effectLst/>
          </p:spPr>
          <p:txBody>
            <a:bodyPr wrap="none" anchor="ctr"/>
            <a:lstStyle/>
            <a:p>
              <a:endParaRPr lang="pt-BR"/>
            </a:p>
          </p:txBody>
        </p:sp>
        <p:grpSp>
          <p:nvGrpSpPr>
            <p:cNvPr id="21" name="Group 12">
              <a:extLst>
                <a:ext uri="{FF2B5EF4-FFF2-40B4-BE49-F238E27FC236}">
                  <a16:creationId xmlns:a16="http://schemas.microsoft.com/office/drawing/2014/main" id="{190C8ADE-3FD6-CF9E-9F37-B844DE74D7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4" y="2832"/>
              <a:ext cx="1716" cy="541"/>
              <a:chOff x="2484" y="2412"/>
              <a:chExt cx="1716" cy="961"/>
            </a:xfrm>
          </p:grpSpPr>
          <p:sp>
            <p:nvSpPr>
              <p:cNvPr id="28" name="Line 13">
                <a:extLst>
                  <a:ext uri="{FF2B5EF4-FFF2-40B4-BE49-F238E27FC236}">
                    <a16:creationId xmlns:a16="http://schemas.microsoft.com/office/drawing/2014/main" id="{397C3CC9-CC2A-1336-4367-92C389B60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00" y="2412"/>
                <a:ext cx="0" cy="96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9" name="Line 14">
                <a:extLst>
                  <a:ext uri="{FF2B5EF4-FFF2-40B4-BE49-F238E27FC236}">
                    <a16:creationId xmlns:a16="http://schemas.microsoft.com/office/drawing/2014/main" id="{7A484FE7-78C1-24A9-8621-5E06E19A7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84" y="2412"/>
                <a:ext cx="0" cy="96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med"/>
              </a:ln>
              <a:effectLst/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aphicFrame>
          <p:nvGraphicFramePr>
            <p:cNvPr id="22" name="Object 15">
              <a:extLst>
                <a:ext uri="{FF2B5EF4-FFF2-40B4-BE49-F238E27FC236}">
                  <a16:creationId xmlns:a16="http://schemas.microsoft.com/office/drawing/2014/main" id="{C26B8517-049B-0623-2E02-246FDBD2F7F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24" y="3350"/>
            <a:ext cx="52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444240" imgH="228600" progId="Equation.3">
                    <p:embed/>
                  </p:oleObj>
                </mc:Choice>
                <mc:Fallback>
                  <p:oleObj name="Equation" r:id="rId10" imgW="444240" imgH="228600" progId="Equation.3">
                    <p:embed/>
                    <p:pic>
                      <p:nvPicPr>
                        <p:cNvPr id="804879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8102" r="-1595" b="-8102"/>
                        <a:stretch>
                          <a:fillRect/>
                        </a:stretch>
                      </p:blipFill>
                      <p:spPr bwMode="auto">
                        <a:xfrm>
                          <a:off x="2224" y="3350"/>
                          <a:ext cx="521" cy="30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16">
              <a:extLst>
                <a:ext uri="{FF2B5EF4-FFF2-40B4-BE49-F238E27FC236}">
                  <a16:creationId xmlns:a16="http://schemas.microsoft.com/office/drawing/2014/main" id="{FD30420D-8803-5E8F-4DFB-F5956216E70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10" y="3350"/>
            <a:ext cx="581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5000" imgH="228600" progId="Equation.3">
                    <p:embed/>
                  </p:oleObj>
                </mc:Choice>
                <mc:Fallback>
                  <p:oleObj name="Equation" r:id="rId12" imgW="495000" imgH="228600" progId="Equation.3">
                    <p:embed/>
                    <p:pic>
                      <p:nvPicPr>
                        <p:cNvPr id="80488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8102" r="-1595" b="-8102"/>
                        <a:stretch>
                          <a:fillRect/>
                        </a:stretch>
                      </p:blipFill>
                      <p:spPr bwMode="auto">
                        <a:xfrm>
                          <a:off x="3910" y="3350"/>
                          <a:ext cx="581" cy="30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7">
              <a:extLst>
                <a:ext uri="{FF2B5EF4-FFF2-40B4-BE49-F238E27FC236}">
                  <a16:creationId xmlns:a16="http://schemas.microsoft.com/office/drawing/2014/main" id="{88E4CED0-CF10-CE71-7A64-DD0A8A58015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1" y="3356"/>
            <a:ext cx="223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90440" imgH="228600" progId="Equation.3">
                    <p:embed/>
                  </p:oleObj>
                </mc:Choice>
                <mc:Fallback>
                  <p:oleObj name="Equation" r:id="rId14" imgW="190440" imgH="228600" progId="Equation.3">
                    <p:embed/>
                    <p:pic>
                      <p:nvPicPr>
                        <p:cNvPr id="80488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8102" r="-1595" b="-8102"/>
                        <a:stretch>
                          <a:fillRect/>
                        </a:stretch>
                      </p:blipFill>
                      <p:spPr bwMode="auto">
                        <a:xfrm>
                          <a:off x="3231" y="3356"/>
                          <a:ext cx="223" cy="30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18">
              <a:extLst>
                <a:ext uri="{FF2B5EF4-FFF2-40B4-BE49-F238E27FC236}">
                  <a16:creationId xmlns:a16="http://schemas.microsoft.com/office/drawing/2014/main" id="{6E169D24-E436-DAAE-EF6B-6E3B1A60F32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84" y="2434"/>
            <a:ext cx="80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685800" imgH="368280" progId="Equation.3">
                    <p:embed/>
                  </p:oleObj>
                </mc:Choice>
                <mc:Fallback>
                  <p:oleObj name="Equation" r:id="rId16" imgW="685800" imgH="368280" progId="Equation.3">
                    <p:embed/>
                    <p:pic>
                      <p:nvPicPr>
                        <p:cNvPr id="80488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8102" r="-1595" b="-8102"/>
                        <a:stretch>
                          <a:fillRect/>
                        </a:stretch>
                      </p:blipFill>
                      <p:spPr bwMode="auto">
                        <a:xfrm>
                          <a:off x="2084" y="2434"/>
                          <a:ext cx="803" cy="48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9">
              <a:extLst>
                <a:ext uri="{FF2B5EF4-FFF2-40B4-BE49-F238E27FC236}">
                  <a16:creationId xmlns:a16="http://schemas.microsoft.com/office/drawing/2014/main" id="{5A167FC3-D566-66E3-26F4-DB38ADEDA14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00" y="2428"/>
            <a:ext cx="803" cy="4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685800" imgH="368280" progId="Equation.3">
                    <p:embed/>
                  </p:oleObj>
                </mc:Choice>
                <mc:Fallback>
                  <p:oleObj name="Equation" r:id="rId18" imgW="685800" imgH="368280" progId="Equation.3">
                    <p:embed/>
                    <p:pic>
                      <p:nvPicPr>
                        <p:cNvPr id="80488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8102" r="-1595" b="-8102"/>
                        <a:stretch>
                          <a:fillRect/>
                        </a:stretch>
                      </p:blipFill>
                      <p:spPr bwMode="auto">
                        <a:xfrm>
                          <a:off x="3800" y="2428"/>
                          <a:ext cx="803" cy="487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0">
              <a:extLst>
                <a:ext uri="{FF2B5EF4-FFF2-40B4-BE49-F238E27FC236}">
                  <a16:creationId xmlns:a16="http://schemas.microsoft.com/office/drawing/2014/main" id="{C5B1EDCD-6DDA-E739-5CC8-388C4522C53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0" y="2144"/>
            <a:ext cx="237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203040" imgH="228600" progId="Equation.3">
                    <p:embed/>
                  </p:oleObj>
                </mc:Choice>
                <mc:Fallback>
                  <p:oleObj name="Equation" r:id="rId19" imgW="203040" imgH="228600" progId="Equation.3">
                    <p:embed/>
                    <p:pic>
                      <p:nvPicPr>
                        <p:cNvPr id="804884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595" t="-8102" r="-1595" b="-8102"/>
                        <a:stretch>
                          <a:fillRect/>
                        </a:stretch>
                      </p:blipFill>
                      <p:spPr bwMode="auto">
                        <a:xfrm>
                          <a:off x="3230" y="2144"/>
                          <a:ext cx="237" cy="30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99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C0C0C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Text Box 21">
            <a:extLst>
              <a:ext uri="{FF2B5EF4-FFF2-40B4-BE49-F238E27FC236}">
                <a16:creationId xmlns:a16="http://schemas.microsoft.com/office/drawing/2014/main" id="{81D207FB-C2D0-44B8-15C0-FF45DD0F4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4150" y="4781551"/>
            <a:ext cx="2362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latin typeface="Arial Narrow" pitchFamily="34" charset="0"/>
              </a:rPr>
              <a:t>Espectro </a:t>
            </a:r>
            <a:r>
              <a:rPr lang="pt-BR" b="1" u="sng">
                <a:latin typeface="Arial Narrow" pitchFamily="34" charset="0"/>
              </a:rPr>
              <a:t>unilateral</a:t>
            </a:r>
            <a:r>
              <a:rPr lang="pt-BR" b="1">
                <a:latin typeface="Arial Narrow" pitchFamily="34" charset="0"/>
              </a:rPr>
              <a:t> de</a:t>
            </a:r>
            <a:r>
              <a:rPr lang="pt-BR" b="1"/>
              <a:t> </a:t>
            </a:r>
            <a:r>
              <a:rPr lang="pt-BR" b="1" i="1"/>
              <a:t>s</a:t>
            </a:r>
            <a:r>
              <a:rPr lang="pt-BR" b="1"/>
              <a:t>(</a:t>
            </a:r>
            <a:r>
              <a:rPr lang="pt-BR" b="1" i="1"/>
              <a:t>t</a:t>
            </a:r>
            <a:r>
              <a:rPr lang="pt-BR" b="1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9919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1ED14-6208-ED0A-B936-EAAC7AFE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Sinal AM - Modulante Tonal</a:t>
            </a:r>
            <a:br>
              <a:rPr lang="pt-BR" dirty="0"/>
            </a:br>
            <a:r>
              <a:rPr lang="pt-BR" dirty="0"/>
              <a:t>Eficiência</a:t>
            </a:r>
          </a:p>
        </p:txBody>
      </p:sp>
      <p:graphicFrame>
        <p:nvGraphicFramePr>
          <p:cNvPr id="3" name="Object 18">
            <a:extLst>
              <a:ext uri="{FF2B5EF4-FFF2-40B4-BE49-F238E27FC236}">
                <a16:creationId xmlns:a16="http://schemas.microsoft.com/office/drawing/2014/main" id="{74CD9897-C6CA-2850-E5A7-48BC9F4394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5063" y="2446338"/>
          <a:ext cx="237331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82680" imgH="457200" progId="Equation.3">
                  <p:embed/>
                </p:oleObj>
              </mc:Choice>
              <mc:Fallback>
                <p:oleObj name="Equation" r:id="rId2" imgW="1282680" imgH="457200" progId="Equation.3">
                  <p:embed/>
                  <p:pic>
                    <p:nvPicPr>
                      <p:cNvPr id="7076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279" t="-6673" r="-1279" b="-6673"/>
                      <a:stretch>
                        <a:fillRect/>
                      </a:stretch>
                    </p:blipFill>
                    <p:spPr bwMode="auto">
                      <a:xfrm>
                        <a:off x="7485063" y="2446338"/>
                        <a:ext cx="2373312" cy="933450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9">
            <a:extLst>
              <a:ext uri="{FF2B5EF4-FFF2-40B4-BE49-F238E27FC236}">
                <a16:creationId xmlns:a16="http://schemas.microsoft.com/office/drawing/2014/main" id="{BE689FFE-B660-DE27-4345-8016289F16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1" y="1049338"/>
          <a:ext cx="6786563" cy="93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288960" imgH="406080" progId="Equation.3">
                  <p:embed/>
                </p:oleObj>
              </mc:Choice>
              <mc:Fallback>
                <p:oleObj name="Equation" r:id="rId4" imgW="3288960" imgH="406080" progId="Equation.3">
                  <p:embed/>
                  <p:pic>
                    <p:nvPicPr>
                      <p:cNvPr id="7076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08" t="-7874" r="-1608" b="-7874"/>
                      <a:stretch>
                        <a:fillRect/>
                      </a:stretch>
                    </p:blipFill>
                    <p:spPr bwMode="auto">
                      <a:xfrm>
                        <a:off x="1955801" y="1049338"/>
                        <a:ext cx="6786563" cy="938212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9">
            <a:extLst>
              <a:ext uri="{FF2B5EF4-FFF2-40B4-BE49-F238E27FC236}">
                <a16:creationId xmlns:a16="http://schemas.microsoft.com/office/drawing/2014/main" id="{9893CB86-8DF9-45B3-1826-811F96B5AF5D}"/>
              </a:ext>
            </a:extLst>
          </p:cNvPr>
          <p:cNvGrpSpPr>
            <a:grpSpLocks/>
          </p:cNvGrpSpPr>
          <p:nvPr/>
        </p:nvGrpSpPr>
        <p:grpSpPr bwMode="auto">
          <a:xfrm>
            <a:off x="1878014" y="4225926"/>
            <a:ext cx="4713287" cy="633413"/>
            <a:chOff x="252" y="2194"/>
            <a:chExt cx="2969" cy="399"/>
          </a:xfrm>
        </p:grpSpPr>
        <p:sp>
          <p:nvSpPr>
            <p:cNvPr id="6" name="Text Box 20">
              <a:extLst>
                <a:ext uri="{FF2B5EF4-FFF2-40B4-BE49-F238E27FC236}">
                  <a16:creationId xmlns:a16="http://schemas.microsoft.com/office/drawing/2014/main" id="{710B5FCB-1C5A-F044-B5AD-A88D526A35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" y="2194"/>
              <a:ext cx="1476" cy="33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rgbClr val="FFFFCC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folHlink"/>
              </a:outerShdw>
            </a:effec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pt-BR" b="1">
                  <a:solidFill>
                    <a:srgbClr val="0000CC"/>
                  </a:solidFill>
                  <a:sym typeface="Symbol" pitchFamily="18" charset="2"/>
                </a:rPr>
                <a:t> </a:t>
              </a:r>
              <a:r>
                <a:rPr lang="pt-BR" sz="2800" b="1" i="1">
                  <a:solidFill>
                    <a:srgbClr val="0000CC"/>
                  </a:solidFill>
                  <a:sym typeface="Symbol" pitchFamily="18" charset="2"/>
                </a:rPr>
                <a:t>    </a:t>
              </a:r>
              <a:r>
                <a:rPr lang="pt-BR" sz="2800" b="1">
                  <a:solidFill>
                    <a:srgbClr val="0000CC"/>
                  </a:solidFill>
                  <a:sym typeface="Symbol" pitchFamily="18" charset="2"/>
                </a:rPr>
                <a:t></a:t>
              </a:r>
              <a:r>
                <a:rPr lang="pt-BR" sz="2800" b="1" i="1">
                  <a:solidFill>
                    <a:srgbClr val="0000CC"/>
                  </a:solidFill>
                  <a:sym typeface="Symbol" pitchFamily="18" charset="2"/>
                </a:rPr>
                <a:t>   </a:t>
              </a:r>
              <a:r>
                <a:rPr lang="pt-BR" b="1">
                  <a:solidFill>
                    <a:srgbClr val="0000CC"/>
                  </a:solidFill>
                  <a:sym typeface="Symbol" pitchFamily="18" charset="2"/>
                </a:rPr>
                <a:t> </a:t>
              </a:r>
              <a:r>
                <a:rPr lang="pt-BR" sz="2800" b="1" i="1">
                  <a:solidFill>
                    <a:srgbClr val="0000CC"/>
                  </a:solidFill>
                  <a:sym typeface="Symbol" pitchFamily="18" charset="2"/>
                </a:rPr>
                <a:t> </a:t>
              </a:r>
            </a:p>
          </p:txBody>
        </p:sp>
        <p:graphicFrame>
          <p:nvGraphicFramePr>
            <p:cNvPr id="7" name="Object 21">
              <a:extLst>
                <a:ext uri="{FF2B5EF4-FFF2-40B4-BE49-F238E27FC236}">
                  <a16:creationId xmlns:a16="http://schemas.microsoft.com/office/drawing/2014/main" id="{60F8D1FF-4919-B644-9C3E-14FFD63031A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94" y="2201"/>
            <a:ext cx="1227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054080" imgH="304560" progId="Equation.3">
                    <p:embed/>
                  </p:oleObj>
                </mc:Choice>
                <mc:Fallback>
                  <p:oleObj name="Equation" r:id="rId6" imgW="1054080" imgH="304560" progId="Equation.3">
                    <p:embed/>
                    <p:pic>
                      <p:nvPicPr>
                        <p:cNvPr id="707605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-1279" t="-6673" r="-1279" b="-6673"/>
                        <a:stretch>
                          <a:fillRect/>
                        </a:stretch>
                      </p:blipFill>
                      <p:spPr bwMode="auto">
                        <a:xfrm>
                          <a:off x="1994" y="2201"/>
                          <a:ext cx="1227" cy="392"/>
                        </a:xfrm>
                        <a:prstGeom prst="rect">
                          <a:avLst/>
                        </a:prstGeom>
                        <a:noFill/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24">
            <a:extLst>
              <a:ext uri="{FF2B5EF4-FFF2-40B4-BE49-F238E27FC236}">
                <a16:creationId xmlns:a16="http://schemas.microsoft.com/office/drawing/2014/main" id="{577C2D25-A76A-7014-F856-69879FEA2A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13626" y="4251326"/>
          <a:ext cx="2855913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11280" imgH="203040" progId="Equation.3">
                  <p:embed/>
                </p:oleObj>
              </mc:Choice>
              <mc:Fallback>
                <p:oleObj name="Equation" r:id="rId8" imgW="1511280" imgH="203040" progId="Equation.3">
                  <p:embed/>
                  <p:pic>
                    <p:nvPicPr>
                      <p:cNvPr id="70760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2382" t="-17731" r="-2382" b="-17731"/>
                      <a:stretch>
                        <a:fillRect/>
                      </a:stretch>
                    </p:blipFill>
                    <p:spPr bwMode="auto">
                      <a:xfrm>
                        <a:off x="7413626" y="4251326"/>
                        <a:ext cx="2855913" cy="493713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effectLst>
                        <a:outerShdw dist="35921" dir="2700000" algn="ctr" rotWithShape="0">
                          <a:schemeClr val="folHlink"/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27">
            <a:extLst>
              <a:ext uri="{FF2B5EF4-FFF2-40B4-BE49-F238E27FC236}">
                <a16:creationId xmlns:a16="http://schemas.microsoft.com/office/drawing/2014/main" id="{8E774BD9-6402-5DC1-4111-F82645730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5322889"/>
            <a:ext cx="8915400" cy="646331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lIns="0" rIns="0"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0000CC"/>
                </a:solidFill>
                <a:latin typeface="Comic Sans MS" pitchFamily="66" charset="0"/>
              </a:rPr>
              <a:t>Para sinais modulantes práticos, </a:t>
            </a:r>
            <a:r>
              <a:rPr lang="pt-BR" b="1" i="1">
                <a:solidFill>
                  <a:srgbClr val="0000CC"/>
                </a:solidFill>
                <a:sym typeface="Symbol" pitchFamily="18" charset="2"/>
              </a:rPr>
              <a:t> </a:t>
            </a:r>
            <a:r>
              <a:rPr lang="pt-BR" b="1">
                <a:solidFill>
                  <a:srgbClr val="0000CC"/>
                </a:solidFill>
                <a:latin typeface="Comic Sans MS" pitchFamily="66" charset="0"/>
                <a:sym typeface="Symbol" pitchFamily="18" charset="2"/>
              </a:rPr>
              <a:t>25% (ou menor) quando </a:t>
            </a:r>
            <a:r>
              <a:rPr lang="pt-BR" b="1" i="1">
                <a:solidFill>
                  <a:srgbClr val="0000CC"/>
                </a:solidFill>
                <a:sym typeface="Symbol" pitchFamily="18" charset="2"/>
              </a:rPr>
              <a:t> </a:t>
            </a:r>
            <a:r>
              <a:rPr lang="pt-BR" b="1">
                <a:solidFill>
                  <a:srgbClr val="0000CC"/>
                </a:solidFill>
                <a:latin typeface="Comic Sans MS" pitchFamily="66" charset="0"/>
                <a:sym typeface="Symbol" pitchFamily="18" charset="2"/>
              </a:rPr>
              <a:t>1. Esta é a principal desvantagem da modulação AM. </a:t>
            </a:r>
          </a:p>
        </p:txBody>
      </p:sp>
      <p:graphicFrame>
        <p:nvGraphicFramePr>
          <p:cNvPr id="10" name="Object 30">
            <a:extLst>
              <a:ext uri="{FF2B5EF4-FFF2-40B4-BE49-F238E27FC236}">
                <a16:creationId xmlns:a16="http://schemas.microsoft.com/office/drawing/2014/main" id="{C0045E0B-A753-FABE-7329-43F88FC195D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5814" y="2027239"/>
          <a:ext cx="25606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84200" imgH="406080" progId="Equation.3">
                  <p:embed/>
                </p:oleObj>
              </mc:Choice>
              <mc:Fallback>
                <p:oleObj name="Equation" r:id="rId10" imgW="1384200" imgH="406080" progId="Equation.3">
                  <p:embed/>
                  <p:pic>
                    <p:nvPicPr>
                      <p:cNvPr id="70761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279" t="-6673" r="-1279" b="-6673"/>
                      <a:stretch>
                        <a:fillRect/>
                      </a:stretch>
                    </p:blipFill>
                    <p:spPr bwMode="auto">
                      <a:xfrm>
                        <a:off x="2055814" y="2027239"/>
                        <a:ext cx="2560637" cy="8286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1">
            <a:extLst>
              <a:ext uri="{FF2B5EF4-FFF2-40B4-BE49-F238E27FC236}">
                <a16:creationId xmlns:a16="http://schemas.microsoft.com/office/drawing/2014/main" id="{DA87E0DC-5E64-A2BF-9B4F-92E50C0D4A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76450" y="2976564"/>
          <a:ext cx="383540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070000" imgH="368280" progId="Equation.3">
                  <p:embed/>
                </p:oleObj>
              </mc:Choice>
              <mc:Fallback>
                <p:oleObj name="Equation" r:id="rId12" imgW="2070000" imgH="368280" progId="Equation.3">
                  <p:embed/>
                  <p:pic>
                    <p:nvPicPr>
                      <p:cNvPr id="70761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-1677" t="-7820" r="-1677" b="-7820"/>
                      <a:stretch>
                        <a:fillRect/>
                      </a:stretch>
                    </p:blipFill>
                    <p:spPr bwMode="auto">
                      <a:xfrm>
                        <a:off x="2076450" y="2976564"/>
                        <a:ext cx="3835400" cy="765175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CC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07763" dir="2700000" algn="ctr" rotWithShape="0">
                                <a:srgbClr val="C0C0C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AutoShape 32">
            <a:extLst>
              <a:ext uri="{FF2B5EF4-FFF2-40B4-BE49-F238E27FC236}">
                <a16:creationId xmlns:a16="http://schemas.microsoft.com/office/drawing/2014/main" id="{A5265DF9-A6EE-A5E1-3E4D-71D6C3C3E248}"/>
              </a:ext>
            </a:extLst>
          </p:cNvPr>
          <p:cNvSpPr>
            <a:spLocks/>
          </p:cNvSpPr>
          <p:nvPr/>
        </p:nvSpPr>
        <p:spPr bwMode="auto">
          <a:xfrm>
            <a:off x="6172200" y="2076450"/>
            <a:ext cx="228600" cy="1657350"/>
          </a:xfrm>
          <a:prstGeom prst="rightBrace">
            <a:avLst>
              <a:gd name="adj1" fmla="val 60417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AutoShape 33">
            <a:extLst>
              <a:ext uri="{FF2B5EF4-FFF2-40B4-BE49-F238E27FC236}">
                <a16:creationId xmlns:a16="http://schemas.microsoft.com/office/drawing/2014/main" id="{76E37C90-080A-B769-9A56-6A5B1BA56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464" y="2762250"/>
            <a:ext cx="395287" cy="304800"/>
          </a:xfrm>
          <a:prstGeom prst="rightArrow">
            <a:avLst>
              <a:gd name="adj1" fmla="val 50000"/>
              <a:gd name="adj2" fmla="val 32422"/>
            </a:avLst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023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cks Attorneys - Brazil - Presentation EN.potx  -  versão 2.0: 06/01/2022 11:04  -  Somente Leitura" id="{A6674CF9-3814-4F73-9FDA-DA843D583E93}" vid="{DB5BBEE7-B585-4951-AEB8-B408A647032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  <Country_x0020_1 xmlns="95c025fe-a600-4cde-9b8b-77161b10ab73" xsi:nil="true"/>
    <TaxCatchAll xmlns="7338d0ee-48d0-42fd-8eee-cce9c16843bc" xsi:nil="true"/>
    <lcf76f155ced4ddcb4097134ff3c332f xmlns="95c025fe-a600-4cde-9b8b-77161b10ab7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6BCB7353188E4C9571C1B2EA1322FC" ma:contentTypeVersion="35" ma:contentTypeDescription="Crie um novo documento." ma:contentTypeScope="" ma:versionID="92c51d0239284ad1c813a13c01a4fe40">
  <xsd:schema xmlns:xsd="http://www.w3.org/2001/XMLSchema" xmlns:xs="http://www.w3.org/2001/XMLSchema" xmlns:p="http://schemas.microsoft.com/office/2006/metadata/properties" xmlns:ns1="http://schemas.microsoft.com/sharepoint/v3" xmlns:ns2="95c025fe-a600-4cde-9b8b-77161b10ab73" xmlns:ns3="7338d0ee-48d0-42fd-8eee-cce9c16843bc" targetNamespace="http://schemas.microsoft.com/office/2006/metadata/properties" ma:root="true" ma:fieldsID="6edbb47d3ff2f476a00cc06bb1101404" ns1:_="" ns2:_="" ns3:_="">
    <xsd:import namespace="http://schemas.microsoft.com/sharepoint/v3"/>
    <xsd:import namespace="95c025fe-a600-4cde-9b8b-77161b10ab73"/>
    <xsd:import namespace="7338d0ee-48d0-42fd-8eee-cce9c16843bc"/>
    <xsd:element name="properties">
      <xsd:complexType>
        <xsd:sequence>
          <xsd:element name="documentManagement">
            <xsd:complexType>
              <xsd:all>
                <xsd:element ref="ns2:Country_x0020_1" minOccurs="0"/>
                <xsd:element ref="ns1:PublishingStartDate" minOccurs="0"/>
                <xsd:element ref="ns1:PublishingExpirationDate" minOccurs="0"/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hidden="true" ma:internalName="PublishingStartDate" ma:readOnly="false">
      <xsd:simpleType>
        <xsd:restriction base="dms:Unknown"/>
      </xsd:simpleType>
    </xsd:element>
    <xsd:element name="PublishingExpirationDate" ma:index="9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c025fe-a600-4cde-9b8b-77161b10ab73" elementFormDefault="qualified">
    <xsd:import namespace="http://schemas.microsoft.com/office/2006/documentManagement/types"/>
    <xsd:import namespace="http://schemas.microsoft.com/office/infopath/2007/PartnerControls"/>
    <xsd:element name="Country_x0020_1" ma:index="2" nillable="true" ma:displayName="Country" ma:format="Dropdown" ma:internalName="Country_x0020_1" ma:readOnly="false">
      <xsd:simpleType>
        <xsd:restriction base="dms:Choice">
          <xsd:enumeration value="China"/>
          <xsd:enumeration value="France"/>
          <xsd:enumeration value="Germany"/>
          <xsd:enumeration value="Japan"/>
          <xsd:enumeration value="Netherlands"/>
          <xsd:enumeration value="UK"/>
          <xsd:enumeration value="USA"/>
        </xsd:restriction>
      </xsd:simpleType>
    </xsd:element>
    <xsd:element name="MediaServiceMetadata" ma:index="15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6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7" nillable="true" ma:displayName="MediaServiceAutoTags" ma:description="" ma:hidden="true" ma:internalName="MediaServiceAutoTags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MediaServiceLocation" ma:hidden="true" ma:internalName="MediaServiceLocation" ma:readOnly="true">
      <xsd:simpleType>
        <xsd:restriction base="dms:Text"/>
      </xsd:simpleType>
    </xsd:element>
    <xsd:element name="MediaServiceOCR" ma:index="20" nillable="true" ma:displayName="MediaServiceOCR" ma:hidden="true" ma:internalName="MediaServiceOCR" ma:readOnly="true">
      <xsd:simpleType>
        <xsd:restriction base="dms:Note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hidden="true" ma:internalName="MediaServiceKeyPoints" ma:readOnly="true">
      <xsd:simpleType>
        <xsd:restriction base="dms:Note"/>
      </xsd:simpleType>
    </xsd:element>
    <xsd:element name="MediaLengthInSeconds" ma:index="26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Marcações de imagem" ma:readOnly="false" ma:fieldId="{5cf76f15-5ced-4ddc-b409-7134ff3c332f}" ma:taxonomyMulti="true" ma:sspId="04e8a720-b6b8-4622-b52c-5ab72fdc0c0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38d0ee-48d0-42fd-8eee-cce9c16843b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1" nillable="true" ma:displayName="Hash de Dica de Compartilhamento" ma:hidden="true" ma:internalName="SharingHintHash" ma:readOnly="true">
      <xsd:simpleType>
        <xsd:restriction base="dms:Text"/>
      </xsd:simpleType>
    </xsd:element>
    <xsd:element name="SharedWithDetails" ma:index="12" nillable="true" ma:displayName="Detalhes de Compartilhado Com" ma:description="" ma:hidden="true" ma:internalName="SharedWithDetails" ma:readOnly="true">
      <xsd:simpleType>
        <xsd:restriction base="dms:Note"/>
      </xsd:simpleType>
    </xsd:element>
    <xsd:element name="LastSharedByUser" ma:index="13" nillable="true" ma:displayName="Último Compartilhamento Por Usuário" ma:description="" ma:hidden="true" ma:internalName="LastSharedByUser" ma:readOnly="true">
      <xsd:simpleType>
        <xsd:restriction base="dms:Note"/>
      </xsd:simpleType>
    </xsd:element>
    <xsd:element name="LastSharedByTime" ma:index="14" nillable="true" ma:displayName="Último Compartilhamento Por Tempo" ma:description="" ma:hidden="true" ma:internalName="LastSharedByTime" ma:readOnly="true">
      <xsd:simpleType>
        <xsd:restriction base="dms:DateTime"/>
      </xsd:simpleType>
    </xsd:element>
    <xsd:element name="TaxCatchAll" ma:index="29" nillable="true" ma:displayName="Taxonomy Catch All Column" ma:hidden="true" ma:list="{8971a6ca-946b-442e-a300-cc99d2254307}" ma:internalName="TaxCatchAll" ma:showField="CatchAllData" ma:web="7338d0ee-48d0-42fd-8eee-cce9c16843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9FE441-B5D8-464E-B272-E5E9701C444C}">
  <ds:schemaRefs>
    <ds:schemaRef ds:uri="http://purl.org/dc/elements/1.1/"/>
    <ds:schemaRef ds:uri="http://schemas.microsoft.com/sharepoint/v3"/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7338d0ee-48d0-42fd-8eee-cce9c16843bc"/>
    <ds:schemaRef ds:uri="95c025fe-a600-4cde-9b8b-77161b10ab73"/>
  </ds:schemaRefs>
</ds:datastoreItem>
</file>

<file path=customXml/itemProps2.xml><?xml version="1.0" encoding="utf-8"?>
<ds:datastoreItem xmlns:ds="http://schemas.openxmlformats.org/officeDocument/2006/customXml" ds:itemID="{82BDDB90-0A5B-4A8F-A01B-30AFB72EE556}">
  <ds:schemaRefs>
    <ds:schemaRef ds:uri="7338d0ee-48d0-42fd-8eee-cce9c16843bc"/>
    <ds:schemaRef ds:uri="95c025fe-a600-4cde-9b8b-77161b10ab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4FEC8D3-7B32-419B-A4A3-EBB3317EEE7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56163f3-60ab-41f6-93dc-6e1b6af775b3}" enabled="1" method="Privileged" siteId="{a5a01691-338c-4b57-812c-24d594995cd6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Licks Attorneys - Brazil - Presentation EN</Template>
  <TotalTime>13561</TotalTime>
  <Words>1318</Words>
  <Application>Microsoft Office PowerPoint</Application>
  <PresentationFormat>Widescreen</PresentationFormat>
  <Paragraphs>315</Paragraphs>
  <Slides>37</Slides>
  <Notes>1</Notes>
  <HiddenSlides>0</HiddenSlides>
  <MMClips>0</MMClips>
  <ScaleCrop>false</ScaleCrop>
  <HeadingPairs>
    <vt:vector size="8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3</vt:i4>
      </vt:variant>
      <vt:variant>
        <vt:lpstr>Títulos de slides</vt:lpstr>
      </vt:variant>
      <vt:variant>
        <vt:i4>37</vt:i4>
      </vt:variant>
    </vt:vector>
  </HeadingPairs>
  <TitlesOfParts>
    <vt:vector size="52" baseType="lpstr">
      <vt:lpstr>Arial</vt:lpstr>
      <vt:lpstr>Arial Narrow</vt:lpstr>
      <vt:lpstr>Calibri</vt:lpstr>
      <vt:lpstr>Calibri Light</vt:lpstr>
      <vt:lpstr>Cambria Math</vt:lpstr>
      <vt:lpstr>Comic Sans MS</vt:lpstr>
      <vt:lpstr>Nokia Sans Wide</vt:lpstr>
      <vt:lpstr>Segoe UI Black</vt:lpstr>
      <vt:lpstr>Symbol</vt:lpstr>
      <vt:lpstr>Times New Roman</vt:lpstr>
      <vt:lpstr>Wingdings</vt:lpstr>
      <vt:lpstr>Tema do Office</vt:lpstr>
      <vt:lpstr>Chart</vt:lpstr>
      <vt:lpstr>Equação</vt:lpstr>
      <vt:lpstr>Equation</vt:lpstr>
      <vt:lpstr>Modulação - Introdução</vt:lpstr>
      <vt:lpstr>Portadora (Carrier)</vt:lpstr>
      <vt:lpstr>Modulação</vt:lpstr>
      <vt:lpstr>Modulação Exemplos</vt:lpstr>
      <vt:lpstr>Modulação Analógica</vt:lpstr>
      <vt:lpstr>Modulação Digital</vt:lpstr>
      <vt:lpstr>Modulação - Para Que?</vt:lpstr>
      <vt:lpstr>Modulação Para Que? Multiplexação</vt:lpstr>
      <vt:lpstr>Modulação - Para Que? Duplexação</vt:lpstr>
      <vt:lpstr>Sinal em Banda Base</vt:lpstr>
      <vt:lpstr>Banda Base x Banda Passante</vt:lpstr>
      <vt:lpstr>Modulação em Amplitude </vt:lpstr>
      <vt:lpstr>Modulação AM DSB-SC </vt:lpstr>
      <vt:lpstr>Modulação AM – DSB/SC</vt:lpstr>
      <vt:lpstr>AM DSB-SC Demodulação</vt:lpstr>
      <vt:lpstr>AM DSB-SC Demodulação – na Frequência</vt:lpstr>
      <vt:lpstr>AM DSB-SC Demodulação Síncrona / Coerente</vt:lpstr>
      <vt:lpstr>AM DSB-SC Demodulação com Erro de Frequência</vt:lpstr>
      <vt:lpstr>AM DSB-SC - Como Modular? Não Linearidade</vt:lpstr>
      <vt:lpstr>AM DSB-SC - Como Modular? Por chaveamento</vt:lpstr>
      <vt:lpstr>AM DSB-SC - Como Modular? Por chaveamento</vt:lpstr>
      <vt:lpstr>AM DSB+C</vt:lpstr>
      <vt:lpstr>Modulação em Amplitude DSB+C (with carrier)</vt:lpstr>
      <vt:lpstr>Modulação em Amplitude DSB+C (with carrier)</vt:lpstr>
      <vt:lpstr>Modulação em Amplitude Espectro de DSB+C </vt:lpstr>
      <vt:lpstr>Modulação AM Índice de Modulação</vt:lpstr>
      <vt:lpstr>Modulação AM Forma de Onda</vt:lpstr>
      <vt:lpstr>Modulação AM Sinais não sobre-modulados</vt:lpstr>
      <vt:lpstr>Geração de Sinais AM</vt:lpstr>
      <vt:lpstr>AM Detector de Envoltória</vt:lpstr>
      <vt:lpstr>Sinal AM Demodulação por envoltória</vt:lpstr>
      <vt:lpstr>Modulação AM Índice de Modulação</vt:lpstr>
      <vt:lpstr>Potência da Modulação AM</vt:lpstr>
      <vt:lpstr>Eficiência da Modulação AM </vt:lpstr>
      <vt:lpstr>Sinal AM Modulante Tonal</vt:lpstr>
      <vt:lpstr>Sinal AM Modulante Tonal</vt:lpstr>
      <vt:lpstr>Sinal AM - Modulante Tonal Eficiência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June 29th, 2021</dc:title>
  <dc:creator>Sonia Ximenes</dc:creator>
  <cp:lastModifiedBy>André Barreto | Brazil | Licks Attorneys</cp:lastModifiedBy>
  <cp:revision>27</cp:revision>
  <cp:lastPrinted>2017-06-06T18:46:34Z</cp:lastPrinted>
  <dcterms:created xsi:type="dcterms:W3CDTF">2022-06-23T16:27:38Z</dcterms:created>
  <dcterms:modified xsi:type="dcterms:W3CDTF">2026-09-21T00:51:54Z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0x010100016BCB7353188E4C9571C1B2EA1322FC</vt:lpwstr>
  </property>
  <property fmtid="{D5CDD505-2E9C-101B-9397-08002B2CF9AE}" pid="3" name="MSIP_Label_8b38cb3f-a960-40d2-b589-fe5c7caef41b_Enabled">
    <vt:lpwstr>true</vt:lpwstr>
  </property>
  <property fmtid="{D5CDD505-2E9C-101B-9397-08002B2CF9AE}" pid="4" name="MSIP_Label_8b38cb3f-a960-40d2-b589-fe5c7caef41b_SetDate">
    <vt:lpwstr>2022-06-23T16:46:29Z</vt:lpwstr>
  </property>
  <property fmtid="{D5CDD505-2E9C-101B-9397-08002B2CF9AE}" pid="5" name="MSIP_Label_8b38cb3f-a960-40d2-b589-fe5c7caef41b_Method">
    <vt:lpwstr>Privileged</vt:lpwstr>
  </property>
  <property fmtid="{D5CDD505-2E9C-101B-9397-08002B2CF9AE}" pid="6" name="MSIP_Label_8b38cb3f-a960-40d2-b589-fe5c7caef41b_Name">
    <vt:lpwstr>CONFIDENTIAL</vt:lpwstr>
  </property>
  <property fmtid="{D5CDD505-2E9C-101B-9397-08002B2CF9AE}" pid="7" name="MSIP_Label_8b38cb3f-a960-40d2-b589-fe5c7caef41b_SiteId">
    <vt:lpwstr>a5a01691-338c-4b57-812c-24d594995cd6</vt:lpwstr>
  </property>
  <property fmtid="{D5CDD505-2E9C-101B-9397-08002B2CF9AE}" pid="8" name="MSIP_Label_8b38cb3f-a960-40d2-b589-fe5c7caef41b_ActionId">
    <vt:lpwstr>82308caf-a452-4fdc-9535-426c4b72816e</vt:lpwstr>
  </property>
  <property fmtid="{D5CDD505-2E9C-101B-9397-08002B2CF9AE}" pid="9" name="MSIP_Label_8b38cb3f-a960-40d2-b589-fe5c7caef41b_ContentBits">
    <vt:lpwstr>1</vt:lpwstr>
  </property>
  <property fmtid="{D5CDD505-2E9C-101B-9397-08002B2CF9AE}" pid="10" name="MediaServiceImageTags">
    <vt:lpwstr/>
  </property>
</Properties>
</file>